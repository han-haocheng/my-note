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79"/>
  </p:notesMasterIdLst>
  <p:handoutMasterIdLst>
    <p:handoutMasterId r:id="rId80"/>
  </p:handoutMasterIdLst>
  <p:sldIdLst>
    <p:sldId id="399" r:id="rId2"/>
    <p:sldId id="334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82" r:id="rId78"/>
  </p:sldIdLst>
  <p:sldSz cx="12192000" cy="6858000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99"/>
    <a:srgbClr val="99CCFF"/>
    <a:srgbClr val="808000"/>
    <a:srgbClr val="333300"/>
    <a:srgbClr val="003300"/>
    <a:srgbClr val="336699"/>
    <a:srgbClr val="0099CC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1491" autoAdjust="0"/>
  </p:normalViewPr>
  <p:slideViewPr>
    <p:cSldViewPr>
      <p:cViewPr varScale="1">
        <p:scale>
          <a:sx n="101" d="100"/>
          <a:sy n="101" d="100"/>
        </p:scale>
        <p:origin x="87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744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fld id="{6457A214-3559-4BD8-A032-319DD952FC9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3543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57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167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fld id="{5D5963AB-51D7-4B56-957C-52AD6A606A3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11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98CE0FE-27DC-4DCB-9CEE-268A3D231751}" type="slidenum">
              <a:rPr lang="zh-CN" altLang="en-US" sz="1200" b="0" smtClean="0">
                <a:latin typeface="Arial" charset="0"/>
              </a:rPr>
              <a:pPr eaLnBrk="1" hangingPunct="1"/>
              <a:t>3</a:t>
            </a:fld>
            <a:endParaRPr lang="en-US" altLang="zh-CN" sz="1200" b="0">
              <a:latin typeface="Arial" charset="0"/>
            </a:endParaRPr>
          </a:p>
        </p:txBody>
      </p:sp>
      <p:sp>
        <p:nvSpPr>
          <p:cNvPr id="8397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9B2D47A8-0F75-4BFD-8689-81C0EB00424F}" type="slidenum">
              <a:rPr lang="zh-CN" altLang="en-US" sz="1200" b="0">
                <a:latin typeface="Arial" charset="0"/>
              </a:rPr>
              <a:pPr algn="r" eaLnBrk="1" hangingPunct="1"/>
              <a:t>3</a:t>
            </a:fld>
            <a:endParaRPr lang="en-US" altLang="zh-CN" sz="1200" b="0">
              <a:latin typeface="Arial" charset="0"/>
            </a:endParaRPr>
          </a:p>
        </p:txBody>
      </p:sp>
      <p:sp>
        <p:nvSpPr>
          <p:cNvPr id="839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7642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67C1E32-D759-4FC8-94BC-0EFE260E5395}" type="slidenum">
              <a:rPr lang="zh-CN" altLang="en-US" sz="1200" b="0" smtClean="0">
                <a:latin typeface="Arial" charset="0"/>
              </a:rPr>
              <a:pPr eaLnBrk="1" hangingPunct="1"/>
              <a:t>6</a:t>
            </a:fld>
            <a:endParaRPr lang="en-US" altLang="zh-CN" sz="1200" b="0">
              <a:latin typeface="Arial" charset="0"/>
            </a:endParaRPr>
          </a:p>
        </p:txBody>
      </p:sp>
      <p:sp>
        <p:nvSpPr>
          <p:cNvPr id="8499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E84C459F-CCA0-4F49-B731-D58DD142F5BF}" type="slidenum">
              <a:rPr lang="zh-CN" altLang="en-US" sz="1200" b="0">
                <a:latin typeface="Arial" charset="0"/>
              </a:rPr>
              <a:pPr algn="r" eaLnBrk="1" hangingPunct="1"/>
              <a:t>6</a:t>
            </a:fld>
            <a:endParaRPr lang="en-US" altLang="zh-CN" sz="1200" b="0">
              <a:latin typeface="Arial" charset="0"/>
            </a:endParaRPr>
          </a:p>
        </p:txBody>
      </p:sp>
      <p:sp>
        <p:nvSpPr>
          <p:cNvPr id="849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4877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1008B41-211A-45D0-9BA3-610776C52B22}" type="slidenum">
              <a:rPr lang="zh-CN" altLang="en-US" sz="1200" b="0" smtClean="0">
                <a:latin typeface="Arial" charset="0"/>
              </a:rPr>
              <a:pPr eaLnBrk="1" hangingPunct="1"/>
              <a:t>19</a:t>
            </a:fld>
            <a:endParaRPr lang="en-US" altLang="zh-CN" sz="1200" b="0">
              <a:latin typeface="Arial" charset="0"/>
            </a:endParaRPr>
          </a:p>
        </p:txBody>
      </p:sp>
      <p:sp>
        <p:nvSpPr>
          <p:cNvPr id="8601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6C7E1092-F297-4621-B3AE-4B14C5D671F4}" type="slidenum">
              <a:rPr lang="zh-CN" altLang="en-US" sz="1200" b="0">
                <a:latin typeface="Arial" charset="0"/>
              </a:rPr>
              <a:pPr algn="r" eaLnBrk="1" hangingPunct="1"/>
              <a:t>19</a:t>
            </a:fld>
            <a:endParaRPr lang="en-US" altLang="zh-CN" sz="1200" b="0">
              <a:latin typeface="Arial" charset="0"/>
            </a:endParaRPr>
          </a:p>
        </p:txBody>
      </p:sp>
      <p:sp>
        <p:nvSpPr>
          <p:cNvPr id="860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9058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F49B752-8391-4FED-9852-717DAF7B68A5}" type="slidenum">
              <a:rPr lang="zh-CN" altLang="en-US" sz="1200" b="0" smtClean="0">
                <a:latin typeface="Arial" charset="0"/>
              </a:rPr>
              <a:pPr eaLnBrk="1" hangingPunct="1"/>
              <a:t>22</a:t>
            </a:fld>
            <a:endParaRPr lang="en-US" altLang="zh-CN" sz="1200" b="0">
              <a:latin typeface="Arial" charset="0"/>
            </a:endParaRPr>
          </a:p>
        </p:txBody>
      </p:sp>
      <p:sp>
        <p:nvSpPr>
          <p:cNvPr id="8704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52CEDBFA-1AC4-4A80-A465-8DFD31F84DA2}" type="slidenum">
              <a:rPr lang="zh-CN" altLang="en-US" sz="1200" b="0">
                <a:latin typeface="Arial" charset="0"/>
              </a:rPr>
              <a:pPr algn="r" eaLnBrk="1" hangingPunct="1"/>
              <a:t>22</a:t>
            </a:fld>
            <a:endParaRPr lang="en-US" altLang="zh-CN" sz="1200" b="0">
              <a:latin typeface="Arial" charset="0"/>
            </a:endParaRPr>
          </a:p>
        </p:txBody>
      </p:sp>
      <p:sp>
        <p:nvSpPr>
          <p:cNvPr id="870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ea typeface="宋体" pitchFamily="2" charset="-122"/>
              </a:rPr>
              <a:t>手、门</a:t>
            </a:r>
          </a:p>
        </p:txBody>
      </p:sp>
    </p:spTree>
    <p:extLst>
      <p:ext uri="{BB962C8B-B14F-4D97-AF65-F5344CB8AC3E}">
        <p14:creationId xmlns:p14="http://schemas.microsoft.com/office/powerpoint/2010/main" val="304127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17491C-07EE-4F6C-BEDA-10FCDCEB7467}" type="slidenum">
              <a:rPr lang="zh-CN" altLang="en-US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6447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3266C70-BB1D-4B51-B23C-44232D26172F}" type="slidenum">
              <a:rPr lang="zh-CN" altLang="en-US" sz="1200" b="0" smtClean="0">
                <a:latin typeface="Arial" charset="0"/>
              </a:rPr>
              <a:pPr eaLnBrk="1" hangingPunct="1"/>
              <a:t>64</a:t>
            </a:fld>
            <a:endParaRPr lang="en-US" altLang="zh-CN" sz="1200" b="0">
              <a:latin typeface="Arial" charset="0"/>
            </a:endParaRPr>
          </a:p>
        </p:txBody>
      </p:sp>
      <p:sp>
        <p:nvSpPr>
          <p:cNvPr id="8806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5E7FE2B0-CC50-4E8C-8F1B-0150B73A0439}" type="slidenum">
              <a:rPr lang="zh-CN" altLang="en-US" sz="1200" b="0">
                <a:latin typeface="Arial" charset="0"/>
              </a:rPr>
              <a:pPr algn="r" eaLnBrk="1" hangingPunct="1"/>
              <a:t>64</a:t>
            </a:fld>
            <a:endParaRPr lang="en-US" altLang="zh-CN" sz="1200" b="0">
              <a:latin typeface="Arial" charset="0"/>
            </a:endParaRPr>
          </a:p>
        </p:txBody>
      </p:sp>
      <p:sp>
        <p:nvSpPr>
          <p:cNvPr id="880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3362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logo_sma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680"/>
            <a:ext cx="3190875" cy="83820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6656388"/>
            <a:ext cx="12192000" cy="228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2400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4470400" y="63246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>
              <a:defRPr/>
            </a:pPr>
            <a:endParaRPr kumimoji="0" lang="en-US" altLang="zh-CN" sz="1400" b="0"/>
          </a:p>
        </p:txBody>
      </p:sp>
      <p:pic>
        <p:nvPicPr>
          <p:cNvPr id="7" name="Picture 9" descr="nbl12_1_1_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4417" y="5948366"/>
            <a:ext cx="2438400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2284" y="2565400"/>
            <a:ext cx="10363200" cy="1143000"/>
          </a:xfrm>
        </p:spPr>
        <p:txBody>
          <a:bodyPr/>
          <a:lstStyle>
            <a:lvl1pPr algn="ctr" fontAlgn="ctr">
              <a:defRPr sz="4800" baseline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608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5A6ACB9-5BFE-4EF3-B91C-463DEBBCCA8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8129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74C2F54C-52AD-47FC-B80B-56D32F7F9136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77349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D6E6B468-02A4-41FE-B3CE-B77921BD89DB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907607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07535" y="981076"/>
            <a:ext cx="5177367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88102" y="981076"/>
            <a:ext cx="5179484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313B5030-E818-4E33-B39F-291F5E9F4D7A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089399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3606F398-8D4B-4DEB-B16A-FAF288C18440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747415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032872BE-FA2C-46C2-A169-1F30EC6FAD64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600803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DFCFE3A8-A593-4639-BBAE-F87840FCABEA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3288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5B838669-9B40-452C-9C7C-05CE661747FF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701902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DF5EE5D7-DA54-4996-B04D-BEB0C65CB3ED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997555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013A5948-C572-4A45-8388-DE4E873D8B50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049967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51902" y="260350"/>
            <a:ext cx="2715684" cy="6121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98500" y="260350"/>
            <a:ext cx="7950200" cy="6121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EA087514-DBC3-4F18-B126-1E056A3FAD03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354309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8502" y="260350"/>
            <a:ext cx="10581217" cy="647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007533" y="981076"/>
            <a:ext cx="10560051" cy="54006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6479F1E9-65E1-40DC-A5C5-996A70B92A35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190901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8502" y="260350"/>
            <a:ext cx="10581217" cy="647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07533" y="981075"/>
            <a:ext cx="10560051" cy="26241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07533" y="3757616"/>
            <a:ext cx="10560051" cy="26241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ED612CAB-A7E8-42E7-B19B-FAF31ED16A78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86875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8502" y="260350"/>
            <a:ext cx="10581217" cy="647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07535" y="981076"/>
            <a:ext cx="5177367" cy="5400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88102" y="981076"/>
            <a:ext cx="5179484" cy="5400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6B3EEB90-CB8C-413F-818F-0FDB1445C3FE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70739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10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12177708" cy="262703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12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07153"/>
            <a:ext cx="121920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007533" y="260648"/>
            <a:ext cx="1006350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15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5401" y="981076"/>
            <a:ext cx="10872184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300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6" name="Rectangle 8"/>
          <p:cNvSpPr>
            <a:spLocks noChangeArrowheads="1"/>
          </p:cNvSpPr>
          <p:nvPr/>
        </p:nvSpPr>
        <p:spPr bwMode="auto">
          <a:xfrm>
            <a:off x="0" y="6656388"/>
            <a:ext cx="12192000" cy="228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2400"/>
          </a:p>
        </p:txBody>
      </p:sp>
      <p:sp>
        <p:nvSpPr>
          <p:cNvPr id="13005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408738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rgbClr val="4D4D4D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84D0465F-A6A2-4704-8971-06036326BA03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  <p:pic>
        <p:nvPicPr>
          <p:cNvPr id="6155" name="Picture 14"/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588" y="5734050"/>
            <a:ext cx="827027" cy="807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6" name="Picture 15"/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0141" y="5805491"/>
            <a:ext cx="2247567" cy="64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064" name="Text Box 16"/>
          <p:cNvSpPr txBox="1">
            <a:spLocks noChangeArrowheads="1"/>
          </p:cNvSpPr>
          <p:nvPr userDrawn="1"/>
        </p:nvSpPr>
        <p:spPr bwMode="auto">
          <a:xfrm>
            <a:off x="46569" y="6626225"/>
            <a:ext cx="427143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400" b="0">
                <a:latin typeface="Arial" charset="0"/>
              </a:rPr>
              <a:t>Copyright © thbin@buaa.edu.cn</a:t>
            </a:r>
          </a:p>
        </p:txBody>
      </p:sp>
      <p:sp>
        <p:nvSpPr>
          <p:cNvPr id="130065" name="Text Box 17"/>
          <p:cNvSpPr txBox="1">
            <a:spLocks noChangeArrowheads="1"/>
          </p:cNvSpPr>
          <p:nvPr userDrawn="1"/>
        </p:nvSpPr>
        <p:spPr bwMode="auto">
          <a:xfrm>
            <a:off x="7920569" y="6626225"/>
            <a:ext cx="427143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zh-CN" sz="1400" b="0" dirty="0">
                <a:latin typeface="Arial" charset="0"/>
              </a:rPr>
              <a:t>College of Software, BUAA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Tahoma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Tahoma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Tahoma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Tahoma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Tahoma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Tahoma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Tahoma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Tahoma" pitchFamily="34" charset="0"/>
          <a:ea typeface="幼圆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50021"/>
        </a:buClr>
        <a:buSzPct val="80000"/>
        <a:buFont typeface="Wingdings" pitchFamily="2" charset="2"/>
        <a:buChar char="þ"/>
        <a:defRPr kumimoji="1" sz="3200" b="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u"/>
        <a:defRPr kumimoji="1" sz="2800" b="0" baseline="0">
          <a:solidFill>
            <a:schemeClr val="tx1"/>
          </a:solidFill>
          <a:latin typeface="+mn-lt"/>
          <a:ea typeface="微软雅黑" panose="020B0503020204020204" pitchFamily="3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Ø"/>
        <a:defRPr kumimoji="1" sz="2400" b="0" baseline="0">
          <a:solidFill>
            <a:schemeClr val="tx1"/>
          </a:solidFill>
          <a:latin typeface="+mn-lt"/>
          <a:ea typeface="微软雅黑" panose="020B0503020204020204" pitchFamily="3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ü"/>
        <a:defRPr kumimoji="1" sz="2000" b="0" baseline="0">
          <a:solidFill>
            <a:schemeClr val="tx1"/>
          </a:solidFill>
          <a:latin typeface="+mn-lt"/>
          <a:ea typeface="微软雅黑" panose="020B0503020204020204" pitchFamily="3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kumimoji="1" sz="2000" b="0" baseline="0">
          <a:solidFill>
            <a:schemeClr val="tx1"/>
          </a:solidFill>
          <a:latin typeface="+mn-lt"/>
          <a:ea typeface="微软雅黑" panose="020B0503020204020204" pitchFamily="34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kumimoji="1"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kumimoji="1"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kumimoji="1"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kumimoji="1"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10" Type="http://schemas.openxmlformats.org/officeDocument/2006/relationships/image" Target="../media/image15.wmf"/><Relationship Id="rId4" Type="http://schemas.openxmlformats.org/officeDocument/2006/relationships/image" Target="../media/image9.wmf"/><Relationship Id="rId9" Type="http://schemas.openxmlformats.org/officeDocument/2006/relationships/image" Target="../media/image14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2132013"/>
            <a:ext cx="9144000" cy="17907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u="sng" dirty="0">
                <a:solidFill>
                  <a:srgbClr val="A50021"/>
                </a:solidFill>
                <a:latin typeface="华文楷体" pitchFamily="2" charset="-122"/>
                <a:ea typeface="华文楷体" pitchFamily="2" charset="-122"/>
              </a:rPr>
              <a:t>UML2</a:t>
            </a:r>
            <a:r>
              <a:rPr lang="zh-CN" altLang="en-US" u="sng" dirty="0">
                <a:solidFill>
                  <a:srgbClr val="A50021"/>
                </a:solidFill>
                <a:latin typeface="华文楷体" pitchFamily="2" charset="-122"/>
                <a:ea typeface="华文楷体" pitchFamily="2" charset="-122"/>
              </a:rPr>
              <a:t>面向对象分析与设计</a:t>
            </a:r>
            <a:br>
              <a:rPr lang="zh-CN" altLang="en-US" sz="4000" dirty="0"/>
            </a:br>
            <a:r>
              <a:rPr lang="en-US" altLang="zh-CN" sz="3200" i="1" dirty="0"/>
              <a:t>Object-Oriented Analysis &amp; Design with UML2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4340225"/>
            <a:ext cx="6400800" cy="1752600"/>
          </a:xfrm>
        </p:spPr>
        <p:txBody>
          <a:bodyPr/>
          <a:lstStyle/>
          <a:p>
            <a:pPr eaLnBrk="1" hangingPunct="1"/>
            <a:r>
              <a:rPr lang="zh-CN" altLang="en-US"/>
              <a:t>谭火彬</a:t>
            </a:r>
          </a:p>
        </p:txBody>
      </p:sp>
    </p:spTree>
    <p:extLst>
      <p:ext uri="{BB962C8B-B14F-4D97-AF65-F5344CB8AC3E}">
        <p14:creationId xmlns:p14="http://schemas.microsoft.com/office/powerpoint/2010/main" val="381240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17D0B68F-74AD-4D13-A40D-5FBCB387FA9F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学习路线图</a:t>
            </a:r>
            <a:endParaRPr lang="en-US" altLang="zh-CN"/>
          </a:p>
        </p:txBody>
      </p:sp>
      <p:grpSp>
        <p:nvGrpSpPr>
          <p:cNvPr id="4100" name="Group 3"/>
          <p:cNvGrpSpPr>
            <a:grpSpLocks/>
          </p:cNvGrpSpPr>
          <p:nvPr/>
        </p:nvGrpSpPr>
        <p:grpSpPr bwMode="auto">
          <a:xfrm>
            <a:off x="1703389" y="1774825"/>
            <a:ext cx="8713788" cy="3243262"/>
            <a:chOff x="113" y="1117"/>
            <a:chExt cx="5489" cy="2043"/>
          </a:xfrm>
        </p:grpSpPr>
        <p:sp>
          <p:nvSpPr>
            <p:cNvPr id="4103" name="Rectangle 5"/>
            <p:cNvSpPr>
              <a:spLocks noChangeArrowheads="1"/>
            </p:cNvSpPr>
            <p:nvPr/>
          </p:nvSpPr>
          <p:spPr bwMode="auto">
            <a:xfrm>
              <a:off x="158" y="1298"/>
              <a:ext cx="453" cy="317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u="sng">
                  <a:solidFill>
                    <a:srgbClr val="660066"/>
                  </a:solidFill>
                  <a:latin typeface="Monotype Corsiva" pitchFamily="66" charset="0"/>
                </a:rPr>
                <a:t>OO</a:t>
              </a:r>
            </a:p>
          </p:txBody>
        </p:sp>
        <p:sp>
          <p:nvSpPr>
            <p:cNvPr id="4104" name="Rectangle 6"/>
            <p:cNvSpPr>
              <a:spLocks noChangeArrowheads="1"/>
            </p:cNvSpPr>
            <p:nvPr/>
          </p:nvSpPr>
          <p:spPr bwMode="auto">
            <a:xfrm>
              <a:off x="158" y="1978"/>
              <a:ext cx="453" cy="317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0">
                  <a:solidFill>
                    <a:srgbClr val="660066"/>
                  </a:solidFill>
                  <a:latin typeface="Monotype Corsiva" pitchFamily="66" charset="0"/>
                </a:rPr>
                <a:t>UML</a:t>
              </a:r>
            </a:p>
          </p:txBody>
        </p:sp>
        <p:grpSp>
          <p:nvGrpSpPr>
            <p:cNvPr id="4105" name="Group 7"/>
            <p:cNvGrpSpPr>
              <a:grpSpLocks/>
            </p:cNvGrpSpPr>
            <p:nvPr/>
          </p:nvGrpSpPr>
          <p:grpSpPr bwMode="auto">
            <a:xfrm>
              <a:off x="1473" y="1615"/>
              <a:ext cx="1089" cy="540"/>
              <a:chOff x="1413" y="3657"/>
              <a:chExt cx="1089" cy="540"/>
            </a:xfrm>
          </p:grpSpPr>
          <p:sp>
            <p:nvSpPr>
              <p:cNvPr id="4144" name="Rectangle 8"/>
              <p:cNvSpPr>
                <a:spLocks noChangeArrowheads="1"/>
              </p:cNvSpPr>
              <p:nvPr/>
            </p:nvSpPr>
            <p:spPr bwMode="auto">
              <a:xfrm>
                <a:off x="1565" y="3657"/>
                <a:ext cx="635" cy="454"/>
              </a:xfrm>
              <a:prstGeom prst="rect">
                <a:avLst/>
              </a:prstGeom>
              <a:solidFill>
                <a:srgbClr val="808080"/>
              </a:solidFill>
              <a:ln w="9525">
                <a:solidFill>
                  <a:srgbClr val="3333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45" name="Picture 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3" y="3748"/>
                <a:ext cx="1089" cy="4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4106" name="AutoShape 10"/>
            <p:cNvCxnSpPr>
              <a:cxnSpLocks noChangeShapeType="1"/>
              <a:stCxn id="4103" idx="3"/>
              <a:endCxn id="4133" idx="1"/>
            </p:cNvCxnSpPr>
            <p:nvPr/>
          </p:nvCxnSpPr>
          <p:spPr bwMode="auto">
            <a:xfrm>
              <a:off x="611" y="1457"/>
              <a:ext cx="207" cy="385"/>
            </a:xfrm>
            <a:prstGeom prst="curvedConnector3">
              <a:avLst>
                <a:gd name="adj1" fmla="val 49759"/>
              </a:avLst>
            </a:prstGeom>
            <a:noFill/>
            <a:ln w="19050">
              <a:solidFill>
                <a:srgbClr val="800000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7" name="AutoShape 11"/>
            <p:cNvCxnSpPr>
              <a:cxnSpLocks noChangeShapeType="1"/>
              <a:stCxn id="4104" idx="3"/>
              <a:endCxn id="4133" idx="1"/>
            </p:cNvCxnSpPr>
            <p:nvPr/>
          </p:nvCxnSpPr>
          <p:spPr bwMode="auto">
            <a:xfrm flipV="1">
              <a:off x="611" y="1842"/>
              <a:ext cx="207" cy="295"/>
            </a:xfrm>
            <a:prstGeom prst="curvedConnector3">
              <a:avLst>
                <a:gd name="adj1" fmla="val 49759"/>
              </a:avLst>
            </a:prstGeom>
            <a:noFill/>
            <a:ln w="19050">
              <a:solidFill>
                <a:srgbClr val="800000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8" name="AutoShape 12"/>
            <p:cNvCxnSpPr>
              <a:cxnSpLocks noChangeShapeType="1"/>
              <a:stCxn id="4133" idx="3"/>
              <a:endCxn id="4144" idx="1"/>
            </p:cNvCxnSpPr>
            <p:nvPr/>
          </p:nvCxnSpPr>
          <p:spPr bwMode="auto">
            <a:xfrm>
              <a:off x="1453" y="1842"/>
              <a:ext cx="172" cy="0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9" name="AutoShape 13"/>
            <p:cNvCxnSpPr>
              <a:cxnSpLocks noChangeShapeType="1"/>
              <a:stCxn id="4141" idx="3"/>
              <a:endCxn id="4135" idx="1"/>
            </p:cNvCxnSpPr>
            <p:nvPr/>
          </p:nvCxnSpPr>
          <p:spPr bwMode="auto">
            <a:xfrm flipV="1">
              <a:off x="3244" y="1841"/>
              <a:ext cx="433" cy="1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66318" name="Text Box 14"/>
            <p:cNvSpPr txBox="1">
              <a:spLocks noChangeArrowheads="1"/>
            </p:cNvSpPr>
            <p:nvPr/>
          </p:nvSpPr>
          <p:spPr bwMode="auto">
            <a:xfrm>
              <a:off x="3153" y="1595"/>
              <a:ext cx="63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charset="-122"/>
                </a:rPr>
                <a:t>OOP</a:t>
              </a:r>
            </a:p>
          </p:txBody>
        </p:sp>
        <p:sp>
          <p:nvSpPr>
            <p:cNvPr id="866319" name="Text Box 15"/>
            <p:cNvSpPr txBox="1">
              <a:spLocks noChangeArrowheads="1"/>
            </p:cNvSpPr>
            <p:nvPr/>
          </p:nvSpPr>
          <p:spPr bwMode="auto">
            <a:xfrm>
              <a:off x="3153" y="1781"/>
              <a:ext cx="63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charset="-122"/>
                </a:rPr>
                <a:t>DP</a:t>
              </a:r>
            </a:p>
          </p:txBody>
        </p:sp>
        <p:sp>
          <p:nvSpPr>
            <p:cNvPr id="866320" name="Text Box 16"/>
            <p:cNvSpPr txBox="1">
              <a:spLocks noChangeArrowheads="1"/>
            </p:cNvSpPr>
            <p:nvPr/>
          </p:nvSpPr>
          <p:spPr bwMode="auto">
            <a:xfrm>
              <a:off x="2064" y="2477"/>
              <a:ext cx="140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/>
                  <a:ea typeface="宋体" charset="-122"/>
                </a:rPr>
                <a:t>…</a:t>
              </a: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charset="-122"/>
                </a:rPr>
                <a:t> </a:t>
              </a:r>
              <a:r>
                <a:rPr lang="zh-CN" altLang="en-US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charset="-122"/>
                </a:rPr>
                <a:t>教学案例</a:t>
              </a: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charset="-122"/>
                </a:rPr>
                <a:t> </a:t>
              </a: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/>
                  <a:ea typeface="宋体" charset="-122"/>
                </a:rPr>
                <a:t>…</a:t>
              </a:r>
              <a:endParaRPr lang="en-US" altLang="zh-CN" sz="1800" dirty="0">
                <a:solidFill>
                  <a:srgbClr val="33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endParaRPr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250" y="2447"/>
              <a:ext cx="4808" cy="212"/>
            </a:xfrm>
            <a:custGeom>
              <a:avLst/>
              <a:gdLst>
                <a:gd name="T0" fmla="*/ 0 w 4650"/>
                <a:gd name="T1" fmla="*/ 166 h 212"/>
                <a:gd name="T2" fmla="*/ 703 w 4650"/>
                <a:gd name="T3" fmla="*/ 30 h 212"/>
                <a:gd name="T4" fmla="*/ 4128 w 4650"/>
                <a:gd name="T5" fmla="*/ 30 h 212"/>
                <a:gd name="T6" fmla="*/ 4784 w 4650"/>
                <a:gd name="T7" fmla="*/ 212 h 2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50"/>
                <a:gd name="T13" fmla="*/ 0 h 212"/>
                <a:gd name="T14" fmla="*/ 4650 w 4650"/>
                <a:gd name="T15" fmla="*/ 212 h 2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50" h="212">
                  <a:moveTo>
                    <a:pt x="0" y="166"/>
                  </a:moveTo>
                  <a:cubicBezTo>
                    <a:pt x="7" y="109"/>
                    <a:pt x="15" y="53"/>
                    <a:pt x="680" y="30"/>
                  </a:cubicBezTo>
                  <a:cubicBezTo>
                    <a:pt x="1345" y="7"/>
                    <a:pt x="3334" y="0"/>
                    <a:pt x="3992" y="30"/>
                  </a:cubicBezTo>
                  <a:cubicBezTo>
                    <a:pt x="4650" y="60"/>
                    <a:pt x="4521" y="182"/>
                    <a:pt x="4627" y="212"/>
                  </a:cubicBezTo>
                </a:path>
              </a:pathLst>
            </a:custGeom>
            <a:noFill/>
            <a:ln w="25400">
              <a:solidFill>
                <a:schemeClr val="hlink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cxnSp>
          <p:nvCxnSpPr>
            <p:cNvPr id="4114" name="AutoShape 18"/>
            <p:cNvCxnSpPr>
              <a:cxnSpLocks noChangeShapeType="1"/>
              <a:endCxn id="4120" idx="0"/>
            </p:cNvCxnSpPr>
            <p:nvPr/>
          </p:nvCxnSpPr>
          <p:spPr bwMode="auto">
            <a:xfrm>
              <a:off x="5219" y="2108"/>
              <a:ext cx="88" cy="505"/>
            </a:xfrm>
            <a:prstGeom prst="curvedConnector2">
              <a:avLst/>
            </a:prstGeom>
            <a:noFill/>
            <a:ln w="19050">
              <a:solidFill>
                <a:srgbClr val="800000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66323" name="Text Box 19"/>
            <p:cNvSpPr txBox="1">
              <a:spLocks noChangeArrowheads="1"/>
            </p:cNvSpPr>
            <p:nvPr/>
          </p:nvSpPr>
          <p:spPr bwMode="auto">
            <a:xfrm>
              <a:off x="1384" y="2795"/>
              <a:ext cx="263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zh-CN" altLang="en-US" sz="3200" u="sng">
                  <a:solidFill>
                    <a:srgbClr val="66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学 习 路 线 图</a:t>
              </a:r>
            </a:p>
          </p:txBody>
        </p:sp>
        <p:grpSp>
          <p:nvGrpSpPr>
            <p:cNvPr id="4116" name="Group 20"/>
            <p:cNvGrpSpPr>
              <a:grpSpLocks/>
            </p:cNvGrpSpPr>
            <p:nvPr/>
          </p:nvGrpSpPr>
          <p:grpSpPr bwMode="auto">
            <a:xfrm>
              <a:off x="2381" y="1343"/>
              <a:ext cx="908" cy="998"/>
              <a:chOff x="2154" y="1253"/>
              <a:chExt cx="908" cy="998"/>
            </a:xfrm>
          </p:grpSpPr>
          <p:sp>
            <p:nvSpPr>
              <p:cNvPr id="4141" name="Rectangle 21"/>
              <p:cNvSpPr>
                <a:spLocks noChangeArrowheads="1"/>
              </p:cNvSpPr>
              <p:nvPr/>
            </p:nvSpPr>
            <p:spPr bwMode="auto">
              <a:xfrm>
                <a:off x="2200" y="1253"/>
                <a:ext cx="817" cy="998"/>
              </a:xfrm>
              <a:prstGeom prst="rect">
                <a:avLst/>
              </a:prstGeom>
              <a:solidFill>
                <a:srgbClr val="808080"/>
              </a:solidFill>
              <a:ln w="9525">
                <a:solidFill>
                  <a:srgbClr val="3333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42" name="Picture 2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0" y="1705"/>
                <a:ext cx="862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43" name="Picture 23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4" y="1253"/>
                <a:ext cx="816" cy="5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17" name="Group 24"/>
            <p:cNvGrpSpPr>
              <a:grpSpLocks/>
            </p:cNvGrpSpPr>
            <p:nvPr/>
          </p:nvGrpSpPr>
          <p:grpSpPr bwMode="auto">
            <a:xfrm>
              <a:off x="3676" y="1242"/>
              <a:ext cx="1543" cy="1198"/>
              <a:chOff x="3560" y="1152"/>
              <a:chExt cx="1543" cy="1198"/>
            </a:xfrm>
          </p:grpSpPr>
          <p:sp>
            <p:nvSpPr>
              <p:cNvPr id="4135" name="Rectangle 25"/>
              <p:cNvSpPr>
                <a:spLocks noChangeArrowheads="1"/>
              </p:cNvSpPr>
              <p:nvPr/>
            </p:nvSpPr>
            <p:spPr bwMode="auto">
              <a:xfrm>
                <a:off x="3561" y="1152"/>
                <a:ext cx="1542" cy="1198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6666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36" name="Picture 26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0" y="1207"/>
                <a:ext cx="544" cy="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7" name="Picture 27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32" y="1797"/>
                <a:ext cx="771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8" name="Picture 28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59" y="1253"/>
                <a:ext cx="544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9" name="Picture 29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59" y="1194"/>
                <a:ext cx="544" cy="4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40" name="Picture 30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1" y="1797"/>
                <a:ext cx="816" cy="5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4118" name="AutoShape 31"/>
            <p:cNvCxnSpPr>
              <a:cxnSpLocks noChangeShapeType="1"/>
              <a:stCxn id="4144" idx="3"/>
              <a:endCxn id="4141" idx="1"/>
            </p:cNvCxnSpPr>
            <p:nvPr/>
          </p:nvCxnSpPr>
          <p:spPr bwMode="auto">
            <a:xfrm>
              <a:off x="2260" y="1842"/>
              <a:ext cx="167" cy="0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119" name="Line 32"/>
            <p:cNvSpPr>
              <a:spLocks noChangeShapeType="1"/>
            </p:cNvSpPr>
            <p:nvPr/>
          </p:nvSpPr>
          <p:spPr bwMode="auto">
            <a:xfrm>
              <a:off x="3788" y="1842"/>
              <a:ext cx="1406" cy="0"/>
            </a:xfrm>
            <a:prstGeom prst="line">
              <a:avLst/>
            </a:prstGeom>
            <a:noFill/>
            <a:ln w="25400" cap="rnd">
              <a:solidFill>
                <a:srgbClr val="00808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20" name="Rectangle 33"/>
            <p:cNvSpPr>
              <a:spLocks noChangeArrowheads="1"/>
            </p:cNvSpPr>
            <p:nvPr/>
          </p:nvSpPr>
          <p:spPr bwMode="auto">
            <a:xfrm>
              <a:off x="5012" y="2613"/>
              <a:ext cx="590" cy="499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6666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50000"/>
                </a:lnSpc>
              </a:pPr>
              <a:r>
                <a:rPr lang="en-US" altLang="zh-CN" b="0">
                  <a:latin typeface="Times New Roman" pitchFamily="18" charset="0"/>
                </a:rPr>
                <a:t>……</a:t>
              </a:r>
              <a:br>
                <a:rPr lang="en-US" altLang="zh-CN" b="0"/>
              </a:br>
              <a:r>
                <a:rPr lang="en-US" altLang="zh-CN" b="0">
                  <a:latin typeface="Times New Roman" pitchFamily="18" charset="0"/>
                </a:rPr>
                <a:t>……</a:t>
              </a:r>
              <a:br>
                <a:rPr lang="en-US" altLang="zh-CN" b="0"/>
              </a:br>
              <a:r>
                <a:rPr lang="en-US" altLang="zh-CN" b="0">
                  <a:latin typeface="Times New Roman" pitchFamily="18" charset="0"/>
                </a:rPr>
                <a:t>……</a:t>
              </a:r>
              <a:br>
                <a:rPr lang="en-US" altLang="zh-CN" b="0"/>
              </a:br>
              <a:r>
                <a:rPr lang="en-US" altLang="zh-CN" b="0">
                  <a:latin typeface="Times New Roman" pitchFamily="18" charset="0"/>
                </a:rPr>
                <a:t>……</a:t>
              </a:r>
              <a:endParaRPr lang="en-US" altLang="zh-CN" b="0"/>
            </a:p>
          </p:txBody>
        </p:sp>
        <p:grpSp>
          <p:nvGrpSpPr>
            <p:cNvPr id="4121" name="Group 34"/>
            <p:cNvGrpSpPr>
              <a:grpSpLocks/>
            </p:cNvGrpSpPr>
            <p:nvPr/>
          </p:nvGrpSpPr>
          <p:grpSpPr bwMode="auto">
            <a:xfrm>
              <a:off x="784" y="1615"/>
              <a:ext cx="952" cy="454"/>
              <a:chOff x="784" y="1615"/>
              <a:chExt cx="952" cy="454"/>
            </a:xfrm>
          </p:grpSpPr>
          <p:sp>
            <p:nvSpPr>
              <p:cNvPr id="4133" name="Rectangle 35"/>
              <p:cNvSpPr>
                <a:spLocks noChangeArrowheads="1"/>
              </p:cNvSpPr>
              <p:nvPr/>
            </p:nvSpPr>
            <p:spPr bwMode="auto">
              <a:xfrm>
                <a:off x="818" y="1615"/>
                <a:ext cx="635" cy="454"/>
              </a:xfrm>
              <a:prstGeom prst="rect">
                <a:avLst/>
              </a:prstGeom>
              <a:solidFill>
                <a:srgbClr val="808080"/>
              </a:solidFill>
              <a:ln w="9525">
                <a:solidFill>
                  <a:srgbClr val="3333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34" name="Picture 36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4" y="1657"/>
                <a:ext cx="952" cy="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22" name="Group 37"/>
            <p:cNvGrpSpPr>
              <a:grpSpLocks/>
            </p:cNvGrpSpPr>
            <p:nvPr/>
          </p:nvGrpSpPr>
          <p:grpSpPr bwMode="auto">
            <a:xfrm>
              <a:off x="113" y="1117"/>
              <a:ext cx="5262" cy="1649"/>
              <a:chOff x="113" y="1117"/>
              <a:chExt cx="5262" cy="1649"/>
            </a:xfrm>
          </p:grpSpPr>
          <p:sp>
            <p:nvSpPr>
              <p:cNvPr id="866342" name="Text Box 38"/>
              <p:cNvSpPr txBox="1">
                <a:spLocks noChangeArrowheads="1"/>
              </p:cNvSpPr>
              <p:nvPr/>
            </p:nvSpPr>
            <p:spPr bwMode="auto">
              <a:xfrm>
                <a:off x="113" y="1162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866343" name="Text Box 39"/>
              <p:cNvSpPr txBox="1">
                <a:spLocks noChangeArrowheads="1"/>
              </p:cNvSpPr>
              <p:nvPr/>
            </p:nvSpPr>
            <p:spPr bwMode="auto">
              <a:xfrm>
                <a:off x="113" y="1827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2</a:t>
                </a:r>
              </a:p>
            </p:txBody>
          </p:sp>
          <p:sp>
            <p:nvSpPr>
              <p:cNvPr id="866344" name="Text Box 40"/>
              <p:cNvSpPr txBox="1">
                <a:spLocks noChangeArrowheads="1"/>
              </p:cNvSpPr>
              <p:nvPr/>
            </p:nvSpPr>
            <p:spPr bwMode="auto">
              <a:xfrm>
                <a:off x="884" y="1480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3</a:t>
                </a:r>
              </a:p>
            </p:txBody>
          </p:sp>
          <p:sp>
            <p:nvSpPr>
              <p:cNvPr id="866345" name="Text Box 41"/>
              <p:cNvSpPr txBox="1">
                <a:spLocks noChangeArrowheads="1"/>
              </p:cNvSpPr>
              <p:nvPr/>
            </p:nvSpPr>
            <p:spPr bwMode="auto">
              <a:xfrm>
                <a:off x="1701" y="1464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4</a:t>
                </a:r>
              </a:p>
            </p:txBody>
          </p:sp>
          <p:sp>
            <p:nvSpPr>
              <p:cNvPr id="866346" name="Text Box 42"/>
              <p:cNvSpPr txBox="1">
                <a:spLocks noChangeArrowheads="1"/>
              </p:cNvSpPr>
              <p:nvPr/>
            </p:nvSpPr>
            <p:spPr bwMode="auto">
              <a:xfrm>
                <a:off x="2472" y="1162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5</a:t>
                </a:r>
              </a:p>
            </p:txBody>
          </p:sp>
          <p:sp>
            <p:nvSpPr>
              <p:cNvPr id="866347" name="Text Box 43"/>
              <p:cNvSpPr txBox="1">
                <a:spLocks noChangeArrowheads="1"/>
              </p:cNvSpPr>
              <p:nvPr/>
            </p:nvSpPr>
            <p:spPr bwMode="auto">
              <a:xfrm>
                <a:off x="3334" y="1373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6</a:t>
                </a:r>
              </a:p>
            </p:txBody>
          </p:sp>
          <p:sp>
            <p:nvSpPr>
              <p:cNvPr id="866348" name="Text Box 44"/>
              <p:cNvSpPr txBox="1">
                <a:spLocks noChangeArrowheads="1"/>
              </p:cNvSpPr>
              <p:nvPr/>
            </p:nvSpPr>
            <p:spPr bwMode="auto">
              <a:xfrm>
                <a:off x="3334" y="1963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7</a:t>
                </a:r>
              </a:p>
            </p:txBody>
          </p:sp>
          <p:sp>
            <p:nvSpPr>
              <p:cNvPr id="866349" name="Text Box 45"/>
              <p:cNvSpPr txBox="1">
                <a:spLocks noChangeArrowheads="1"/>
              </p:cNvSpPr>
              <p:nvPr/>
            </p:nvSpPr>
            <p:spPr bwMode="auto">
              <a:xfrm>
                <a:off x="3833" y="1117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8</a:t>
                </a:r>
              </a:p>
            </p:txBody>
          </p:sp>
          <p:sp>
            <p:nvSpPr>
              <p:cNvPr id="866350" name="Text Box 46"/>
              <p:cNvSpPr txBox="1">
                <a:spLocks noChangeArrowheads="1"/>
              </p:cNvSpPr>
              <p:nvPr/>
            </p:nvSpPr>
            <p:spPr bwMode="auto">
              <a:xfrm>
                <a:off x="3833" y="2251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9</a:t>
                </a:r>
              </a:p>
            </p:txBody>
          </p:sp>
          <p:sp>
            <p:nvSpPr>
              <p:cNvPr id="866351" name="Text Box 47"/>
              <p:cNvSpPr txBox="1">
                <a:spLocks noChangeArrowheads="1"/>
              </p:cNvSpPr>
              <p:nvPr/>
            </p:nvSpPr>
            <p:spPr bwMode="auto">
              <a:xfrm>
                <a:off x="5012" y="2478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宋体" charset="-122"/>
                  </a:rPr>
                  <a:t>10</a:t>
                </a:r>
              </a:p>
            </p:txBody>
          </p:sp>
        </p:grpSp>
      </p:grpSp>
      <p:sp>
        <p:nvSpPr>
          <p:cNvPr id="866353" name="Rectangle 49"/>
          <p:cNvSpPr>
            <a:spLocks noChangeArrowheads="1"/>
          </p:cNvSpPr>
          <p:nvPr/>
        </p:nvSpPr>
        <p:spPr bwMode="auto">
          <a:xfrm>
            <a:off x="6672264" y="2276475"/>
            <a:ext cx="719137" cy="647700"/>
          </a:xfrm>
          <a:prstGeom prst="rect">
            <a:avLst/>
          </a:prstGeom>
          <a:noFill/>
          <a:ln w="3175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66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635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6AD6BFBD-BD6C-4E2C-B0F7-2B3E77DB588E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24932" name="Rectangle 4"/>
          <p:cNvSpPr>
            <a:spLocks noGrp="1" noChangeArrowheads="1"/>
          </p:cNvSpPr>
          <p:nvPr>
            <p:ph type="ctrTitle" idx="4294967295"/>
          </p:nvPr>
        </p:nvSpPr>
        <p:spPr>
          <a:xfrm>
            <a:off x="1775520" y="2565400"/>
            <a:ext cx="8784976" cy="1143000"/>
          </a:xfrm>
        </p:spPr>
        <p:txBody>
          <a:bodyPr/>
          <a:lstStyle/>
          <a:p>
            <a:pPr algn="ctr" eaLnBrk="1" fontAlgn="ctr" hangingPunct="1">
              <a:defRPr/>
            </a:pPr>
            <a:r>
              <a:rPr lang="zh-CN" altLang="en-US" sz="5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楷体" pitchFamily="2" charset="-122"/>
              </a:rPr>
              <a:t>第</a:t>
            </a:r>
            <a:r>
              <a:rPr lang="en-US" altLang="zh-CN" sz="5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楷体" pitchFamily="2" charset="-122"/>
              </a:rPr>
              <a:t>06</a:t>
            </a:r>
            <a:r>
              <a:rPr lang="zh-CN" altLang="en-US" sz="5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楷体" pitchFamily="2" charset="-122"/>
              </a:rPr>
              <a:t>章 面向对象的设计原则</a:t>
            </a:r>
            <a:endParaRPr lang="en-US" altLang="zh-CN" sz="540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华文楷体" pitchFamily="2" charset="-122"/>
            </a:endParaRPr>
          </a:p>
        </p:txBody>
      </p:sp>
      <p:sp>
        <p:nvSpPr>
          <p:cNvPr id="5124" name="Rectangle 5"/>
          <p:cNvSpPr>
            <a:spLocks noGrp="1" noChangeArrowheads="1"/>
          </p:cNvSpPr>
          <p:nvPr>
            <p:ph type="subTitle" idx="4294967295"/>
          </p:nvPr>
        </p:nvSpPr>
        <p:spPr>
          <a:xfrm>
            <a:off x="1524000" y="3860800"/>
            <a:ext cx="9144000" cy="1752600"/>
          </a:xfrm>
        </p:spPr>
        <p:txBody>
          <a:bodyPr/>
          <a:lstStyle/>
          <a:p>
            <a:pPr marL="0" indent="0" algn="ctr" eaLnBrk="1" hangingPunct="1">
              <a:buNone/>
            </a:pPr>
            <a:r>
              <a:rPr lang="en-US" altLang="zh-CN" sz="2800" i="1">
                <a:solidFill>
                  <a:srgbClr val="003399"/>
                </a:solidFill>
              </a:rPr>
              <a:t>Object-Oriented Design Principles</a:t>
            </a:r>
            <a:endParaRPr lang="zh-CN" altLang="en-US" sz="2800" i="1">
              <a:solidFill>
                <a:srgbClr val="00339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 dirty="0">
                <a:solidFill>
                  <a:srgbClr val="4D4D4D"/>
                </a:solidFill>
                <a:latin typeface="Arial" charset="0"/>
              </a:rPr>
              <a:t>-</a:t>
            </a:r>
            <a:fld id="{EF7C4877-01CA-45C4-BFF4-5F9CC17F46E2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</a:t>
            </a:fld>
            <a:r>
              <a:rPr lang="en-US" altLang="zh-CN" sz="1200" b="0" dirty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从问题开始！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矩形与正方形</a:t>
            </a:r>
          </a:p>
          <a:p>
            <a:pPr lvl="1" eaLnBrk="1" hangingPunct="1"/>
            <a:r>
              <a:rPr lang="zh-CN" altLang="en-US" dirty="0"/>
              <a:t>假如我们有一个类：矩形（</a:t>
            </a:r>
            <a:r>
              <a:rPr lang="en-US" altLang="zh-CN" dirty="0"/>
              <a:t>Rectangle</a:t>
            </a:r>
            <a:r>
              <a:rPr lang="zh-CN" altLang="en-US" dirty="0"/>
              <a:t>）</a:t>
            </a:r>
          </a:p>
          <a:p>
            <a:pPr lvl="1" eaLnBrk="1" hangingPunct="1"/>
            <a:r>
              <a:rPr lang="zh-CN" altLang="en-US" dirty="0"/>
              <a:t>我们需要一个新的类，正方形（</a:t>
            </a:r>
            <a:r>
              <a:rPr lang="en-US" altLang="zh-CN" dirty="0"/>
              <a:t>Square</a:t>
            </a:r>
            <a:r>
              <a:rPr lang="zh-CN" altLang="en-US" dirty="0"/>
              <a:t>）</a:t>
            </a:r>
          </a:p>
          <a:p>
            <a:pPr lvl="1" eaLnBrk="1" hangingPunct="1"/>
            <a:r>
              <a:rPr lang="zh-CN" altLang="en-US" dirty="0"/>
              <a:t>问：可否直接继承矩形？</a:t>
            </a:r>
          </a:p>
          <a:p>
            <a:pPr lvl="1" eaLnBrk="1" hangingPunct="1"/>
            <a:endParaRPr lang="zh-CN" altLang="en-US" dirty="0"/>
          </a:p>
        </p:txBody>
      </p:sp>
      <p:sp>
        <p:nvSpPr>
          <p:cNvPr id="140292" name="Text Box 4"/>
          <p:cNvSpPr txBox="1">
            <a:spLocks noChangeArrowheads="1"/>
          </p:cNvSpPr>
          <p:nvPr/>
        </p:nvSpPr>
        <p:spPr bwMode="auto">
          <a:xfrm>
            <a:off x="2207418" y="4365104"/>
            <a:ext cx="77771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没问题，因为数学上正方形就是矩形的子类！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40F8FC8C-6C51-41C2-BF7E-1719B91A1AD6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开始设计：正方形</a:t>
            </a:r>
          </a:p>
        </p:txBody>
      </p:sp>
      <p:sp>
        <p:nvSpPr>
          <p:cNvPr id="141315" name="Rectangle 3"/>
          <p:cNvSpPr>
            <a:spLocks noChangeArrowheads="1"/>
          </p:cNvSpPr>
          <p:nvPr/>
        </p:nvSpPr>
        <p:spPr bwMode="auto">
          <a:xfrm>
            <a:off x="4179839" y="1215778"/>
            <a:ext cx="3457575" cy="4031873"/>
          </a:xfrm>
          <a:prstGeom prst="rect">
            <a:avLst/>
          </a:prstGeom>
          <a:solidFill>
            <a:srgbClr val="CCFFFF"/>
          </a:solidFill>
          <a:ln w="9525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public class Rectangle {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private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length;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private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width;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public void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setLength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l) {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length = l;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public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getLength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() {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return length;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public void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setWidth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w) {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width = w;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public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getWidth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() {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return width;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41316" name="Rectangle 4"/>
          <p:cNvSpPr>
            <a:spLocks noChangeArrowheads="1"/>
          </p:cNvSpPr>
          <p:nvPr/>
        </p:nvSpPr>
        <p:spPr bwMode="auto">
          <a:xfrm>
            <a:off x="7024317" y="2708920"/>
            <a:ext cx="3672209" cy="3046988"/>
          </a:xfrm>
          <a:prstGeom prst="rect">
            <a:avLst/>
          </a:prstGeom>
          <a:solidFill>
            <a:srgbClr val="CCFFFF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public class Square </a:t>
            </a:r>
            <a:b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extends Rectangle {</a:t>
            </a:r>
          </a:p>
          <a:p>
            <a:pPr lvl="1"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public void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setSide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side){</a:t>
            </a:r>
          </a:p>
          <a:p>
            <a:pPr lvl="1"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super.setLength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(side);</a:t>
            </a:r>
          </a:p>
          <a:p>
            <a:pPr lvl="1"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super.setWidth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(side);	</a:t>
            </a:r>
          </a:p>
          <a:p>
            <a:pPr lvl="1"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  <a:p>
            <a:pPr lvl="1"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public void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setLength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len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 {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setSide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len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);}</a:t>
            </a:r>
          </a:p>
          <a:p>
            <a:pPr lvl="1"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public void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setWidth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wid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 {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setSide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wid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);}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74" y="1626122"/>
            <a:ext cx="2295417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 animBg="1"/>
      <p:bldP spid="141315" grpId="1" animBg="1"/>
      <p:bldP spid="1413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D66BCFDF-A327-44EE-B8AA-5B05C9C17A88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设计方案正确吗？</a:t>
            </a:r>
          </a:p>
        </p:txBody>
      </p:sp>
      <p:sp>
        <p:nvSpPr>
          <p:cNvPr id="142339" name="Rectangle 3"/>
          <p:cNvSpPr>
            <a:spLocks noChangeArrowheads="1"/>
          </p:cNvSpPr>
          <p:nvPr/>
        </p:nvSpPr>
        <p:spPr bwMode="auto">
          <a:xfrm>
            <a:off x="2640014" y="904652"/>
            <a:ext cx="7272337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public static void </a:t>
            </a:r>
            <a:r>
              <a:rPr kumimoji="0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resize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(Rectangle r) {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while (</a:t>
            </a:r>
            <a:r>
              <a:rPr kumimoji="0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r.getLength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() &lt;= </a:t>
            </a:r>
            <a:r>
              <a:rPr kumimoji="0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r.getWidth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()) {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    </a:t>
            </a:r>
            <a:r>
              <a:rPr kumimoji="0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r.setLength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kumimoji="0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r.getLength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() + 1);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}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</a:t>
            </a:r>
            <a:r>
              <a:rPr kumimoji="0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System.out.println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(“It’s OK.");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}</a:t>
            </a:r>
          </a:p>
        </p:txBody>
      </p:sp>
      <p:sp>
        <p:nvSpPr>
          <p:cNvPr id="142340" name="Rectangle 4"/>
          <p:cNvSpPr>
            <a:spLocks noChangeArrowheads="1"/>
          </p:cNvSpPr>
          <p:nvPr/>
        </p:nvSpPr>
        <p:spPr bwMode="auto">
          <a:xfrm>
            <a:off x="1919289" y="3068960"/>
            <a:ext cx="432117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Rectangle r1 = new Rectangle();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r1.setLength(5);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r1.setWidth(15);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resize(r1);</a:t>
            </a:r>
          </a:p>
        </p:txBody>
      </p:sp>
      <p:sp>
        <p:nvSpPr>
          <p:cNvPr id="142341" name="Rectangle 5"/>
          <p:cNvSpPr>
            <a:spLocks noChangeArrowheads="1"/>
          </p:cNvSpPr>
          <p:nvPr/>
        </p:nvSpPr>
        <p:spPr bwMode="auto">
          <a:xfrm>
            <a:off x="6348413" y="3068960"/>
            <a:ext cx="4068762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Rectangle r2 = new Square();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r2.setLength(5);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r2.setWidth(15);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resize(r2);</a:t>
            </a:r>
          </a:p>
        </p:txBody>
      </p:sp>
      <p:sp>
        <p:nvSpPr>
          <p:cNvPr id="142342" name="Rectangle 6"/>
          <p:cNvSpPr>
            <a:spLocks noChangeArrowheads="1"/>
          </p:cNvSpPr>
          <p:nvPr/>
        </p:nvSpPr>
        <p:spPr bwMode="auto">
          <a:xfrm>
            <a:off x="2855914" y="4994276"/>
            <a:ext cx="705802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Char char="ü"/>
              <a:defRPr/>
            </a:pPr>
            <a:r>
              <a:rPr kumimoji="0" lang="zh-CN" altLang="en-US" b="0" dirty="0">
                <a:solidFill>
                  <a:srgbClr val="000066"/>
                </a:solidFill>
                <a:ea typeface="微软雅黑" panose="020B0503020204020204" pitchFamily="34" charset="-122"/>
              </a:rPr>
              <a:t>使用父类（矩形）时，程序正常运行</a:t>
            </a:r>
          </a:p>
          <a:p>
            <a:pPr>
              <a:buFont typeface="Wingdings" pitchFamily="2" charset="2"/>
              <a:buChar char="ü"/>
              <a:defRPr/>
            </a:pPr>
            <a:r>
              <a:rPr kumimoji="0" lang="zh-CN" altLang="en-US" b="0" dirty="0">
                <a:solidFill>
                  <a:srgbClr val="000066"/>
                </a:solidFill>
                <a:ea typeface="微软雅黑" panose="020B0503020204020204" pitchFamily="34" charset="-122"/>
              </a:rPr>
              <a:t>使用子类（正方形）时，程序陷入死循环</a:t>
            </a:r>
          </a:p>
          <a:p>
            <a:pPr>
              <a:buFont typeface="Wingdings" pitchFamily="2" charset="2"/>
              <a:buChar char="ü"/>
              <a:defRPr/>
            </a:pPr>
            <a:r>
              <a:rPr kumimoji="0" lang="zh-CN" altLang="en-US" b="0" dirty="0">
                <a:solidFill>
                  <a:srgbClr val="000066"/>
                </a:solidFill>
                <a:ea typeface="微软雅黑" panose="020B0503020204020204" pitchFamily="34" charset="-122"/>
              </a:rPr>
              <a:t>设计出问题了？继承出问题了？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/>
      <p:bldP spid="142340" grpId="0"/>
      <p:bldP spid="142341" grpId="0"/>
      <p:bldP spid="1423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为什么会出现问题？</a:t>
            </a:r>
          </a:p>
        </p:txBody>
      </p:sp>
      <p:sp>
        <p:nvSpPr>
          <p:cNvPr id="921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EA8C2DA2-571D-4306-81BD-2B911DDC3589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7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44387" name="Text Box 3"/>
          <p:cNvSpPr txBox="1">
            <a:spLocks noChangeArrowheads="1"/>
          </p:cNvSpPr>
          <p:nvPr/>
        </p:nvSpPr>
        <p:spPr bwMode="auto">
          <a:xfrm>
            <a:off x="2782888" y="3068639"/>
            <a:ext cx="6985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4000" b="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违背了面向对象的设计原则！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154912E6-9156-4958-A92A-E9351B576EDA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8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面向对象的设计原则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面向对象的设计原则</a:t>
            </a:r>
          </a:p>
          <a:p>
            <a:pPr lvl="1" eaLnBrk="1" hangingPunct="1"/>
            <a:r>
              <a:rPr lang="zh-CN" altLang="en-US"/>
              <a:t>是面向对象设计的基本指导思想</a:t>
            </a:r>
          </a:p>
          <a:p>
            <a:pPr lvl="1" eaLnBrk="1" hangingPunct="1"/>
            <a:r>
              <a:rPr lang="zh-CN" altLang="en-US"/>
              <a:t>是评价面向对象设计的价值观体系</a:t>
            </a:r>
          </a:p>
          <a:p>
            <a:pPr lvl="1" eaLnBrk="1" hangingPunct="1"/>
            <a:r>
              <a:rPr lang="zh-CN" altLang="en-US"/>
              <a:t>是设计模式的出发点和归宿</a:t>
            </a:r>
          </a:p>
          <a:p>
            <a:pPr eaLnBrk="1" hangingPunct="1"/>
            <a:r>
              <a:rPr lang="zh-CN" altLang="en-US"/>
              <a:t>面向对象的设计原则是构造高质量软件的出发点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38526929-306D-4691-9836-D02D5F51B7B4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9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设计目标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构造出</a:t>
            </a:r>
            <a:r>
              <a:rPr lang="zh-CN" altLang="en-US" dirty="0">
                <a:solidFill>
                  <a:schemeClr val="hlink"/>
                </a:solidFill>
              </a:rPr>
              <a:t>高质量</a:t>
            </a:r>
            <a:r>
              <a:rPr lang="zh-CN" altLang="en-US" dirty="0"/>
              <a:t>软件，以保持系统稳定</a:t>
            </a:r>
          </a:p>
          <a:p>
            <a:pPr eaLnBrk="1" hangingPunct="1"/>
            <a:r>
              <a:rPr lang="zh-CN" altLang="en-US" dirty="0"/>
              <a:t>设计目标</a:t>
            </a:r>
          </a:p>
          <a:p>
            <a:pPr lvl="1" eaLnBrk="1" hangingPunct="1"/>
            <a:r>
              <a:rPr lang="zh-CN" altLang="en-US" dirty="0"/>
              <a:t>高可用性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高可靠性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高性能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高可支持性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……</a:t>
            </a: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DE9F9D79-26EB-4123-9790-0E9ABE359511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10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设计质量：培养灵敏的嗅觉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糟糕的设计总是散发出臭味，让人不悦</a:t>
            </a:r>
          </a:p>
          <a:p>
            <a:pPr lvl="1" eaLnBrk="1" hangingPunct="1"/>
            <a:r>
              <a:rPr lang="zh-CN" altLang="en-US"/>
              <a:t>判断一个设计的好坏，主观上能否让你的合作方感到心情愉悦，是最直观的标准</a:t>
            </a:r>
          </a:p>
          <a:p>
            <a:pPr eaLnBrk="1" hangingPunct="1"/>
            <a:r>
              <a:rPr lang="zh-CN" altLang="en-US"/>
              <a:t>设计开发人员要培养嗅觉，当你看到</a:t>
            </a:r>
            <a:r>
              <a:rPr lang="en-US" altLang="zh-CN"/>
              <a:t>UML</a:t>
            </a:r>
            <a:r>
              <a:rPr lang="zh-CN" altLang="en-US"/>
              <a:t>图或者代码，感到杂乱、繁琐、郁闷的时候，你可能正面对一个糟糕的设计</a:t>
            </a:r>
          </a:p>
          <a:p>
            <a:pPr eaLnBrk="1" hangingPunct="1"/>
            <a:r>
              <a:rPr lang="zh-CN" altLang="en-US"/>
              <a:t>这种嗅觉是在实践开发中培养起来的，而面向对象设计原则对此加以归纳和总结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8ABA1ED0-740E-40C8-B99E-4BF587F29FB0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11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设计质量：坏的设计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什么是坏的设计？</a:t>
            </a:r>
          </a:p>
          <a:p>
            <a:pPr lvl="1" eaLnBrk="1" hangingPunct="1"/>
            <a:r>
              <a:rPr lang="zh-CN" altLang="en-US" dirty="0"/>
              <a:t>僵硬性（</a:t>
            </a:r>
            <a:r>
              <a:rPr lang="en-US" altLang="zh-CN" dirty="0"/>
              <a:t>Rigidity</a:t>
            </a:r>
            <a:r>
              <a:rPr lang="zh-CN" altLang="en-US" dirty="0"/>
              <a:t>）：刚性，难以扩展</a:t>
            </a:r>
          </a:p>
          <a:p>
            <a:pPr lvl="1" eaLnBrk="1" hangingPunct="1"/>
            <a:r>
              <a:rPr lang="zh-CN" altLang="en-US" dirty="0"/>
              <a:t>脆弱性（</a:t>
            </a:r>
            <a:r>
              <a:rPr lang="en-US" altLang="zh-CN" dirty="0"/>
              <a:t>Fragility</a:t>
            </a:r>
            <a:r>
              <a:rPr lang="zh-CN" altLang="en-US" dirty="0"/>
              <a:t>）：易碎，难以修改</a:t>
            </a:r>
          </a:p>
          <a:p>
            <a:pPr lvl="1" eaLnBrk="1" hangingPunct="1"/>
            <a:r>
              <a:rPr lang="zh-CN" altLang="en-US" dirty="0"/>
              <a:t>牢固性（</a:t>
            </a:r>
            <a:r>
              <a:rPr lang="en-US" altLang="zh-CN" dirty="0"/>
              <a:t>Immobility</a:t>
            </a:r>
            <a:r>
              <a:rPr lang="zh-CN" altLang="en-US" dirty="0"/>
              <a:t>）：无法分解成可移植的组件</a:t>
            </a:r>
          </a:p>
          <a:p>
            <a:pPr lvl="1" eaLnBrk="1" hangingPunct="1"/>
            <a:r>
              <a:rPr lang="zh-CN" altLang="zh-CN" dirty="0"/>
              <a:t>粘滞性（</a:t>
            </a:r>
            <a:r>
              <a:rPr lang="en-US" altLang="zh-CN" dirty="0"/>
              <a:t>Viscosity</a:t>
            </a:r>
            <a:r>
              <a:rPr lang="zh-CN" altLang="zh-CN" dirty="0"/>
              <a:t>）</a:t>
            </a:r>
            <a:r>
              <a:rPr lang="zh-CN" altLang="en-US" dirty="0"/>
              <a:t>：设计和环境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不必要的复杂性（</a:t>
            </a:r>
            <a:r>
              <a:rPr lang="en-US" altLang="zh-CN" dirty="0"/>
              <a:t>Needless Repetition</a:t>
            </a:r>
            <a:r>
              <a:rPr lang="zh-CN" altLang="en-US" dirty="0"/>
              <a:t>）：</a:t>
            </a:r>
            <a:r>
              <a:rPr lang="en-US" altLang="zh-CN" dirty="0"/>
              <a:t>Ctrl C + Ctrl V</a:t>
            </a:r>
          </a:p>
          <a:p>
            <a:pPr lvl="1" eaLnBrk="1" hangingPunct="1"/>
            <a:r>
              <a:rPr lang="zh-CN" altLang="en-US" dirty="0"/>
              <a:t>晦涩性（</a:t>
            </a:r>
            <a:r>
              <a:rPr lang="en-US" altLang="zh-CN" dirty="0"/>
              <a:t>Opacity</a:t>
            </a:r>
            <a:r>
              <a:rPr lang="zh-CN" altLang="en-US" dirty="0"/>
              <a:t>）：不透明，很难看清设计者的真实意图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3EEC43C4-B09C-4585-A950-F668451C7460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12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设计质量：好的设计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什么是好的设计？</a:t>
            </a:r>
          </a:p>
          <a:p>
            <a:pPr lvl="1" eaLnBrk="1" hangingPunct="1"/>
            <a:r>
              <a:rPr lang="zh-CN" altLang="en-US"/>
              <a:t>容易理解</a:t>
            </a:r>
          </a:p>
          <a:p>
            <a:pPr lvl="1" eaLnBrk="1" hangingPunct="1"/>
            <a:r>
              <a:rPr lang="zh-CN" altLang="en-US"/>
              <a:t>容易修改和扩展</a:t>
            </a:r>
          </a:p>
          <a:p>
            <a:pPr lvl="1" eaLnBrk="1" hangingPunct="1"/>
            <a:r>
              <a:rPr lang="zh-CN" altLang="en-US"/>
              <a:t>容易复用</a:t>
            </a:r>
          </a:p>
          <a:p>
            <a:pPr lvl="1" eaLnBrk="1" hangingPunct="1"/>
            <a:r>
              <a:rPr lang="zh-CN" altLang="en-US"/>
              <a:t>容易实现与应用</a:t>
            </a:r>
          </a:p>
          <a:p>
            <a:pPr lvl="1" eaLnBrk="1" hangingPunct="1"/>
            <a:r>
              <a:rPr lang="zh-CN" altLang="en-US"/>
              <a:t>简单、紧凑、经济适用</a:t>
            </a:r>
          </a:p>
          <a:p>
            <a:pPr eaLnBrk="1" hangingPunct="1"/>
            <a:r>
              <a:rPr lang="zh-CN" altLang="en-US"/>
              <a:t>让人工作起来心情愉快的设计</a:t>
            </a:r>
          </a:p>
          <a:p>
            <a:pPr eaLnBrk="1" hangingPunct="1"/>
            <a:r>
              <a:rPr lang="zh-CN" altLang="en-US"/>
              <a:t>设计原则是提高设计质量的基本原则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3460A492-8F14-484E-A264-43D8F6E73EEE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13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面向对象的基本设计原则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solidFill>
                  <a:srgbClr val="FF3300"/>
                </a:solidFill>
              </a:rPr>
              <a:t>LSP</a:t>
            </a:r>
            <a:r>
              <a:rPr lang="zh-CN" altLang="en-US" sz="2800">
                <a:solidFill>
                  <a:srgbClr val="FF3300"/>
                </a:solidFill>
              </a:rPr>
              <a:t>：</a:t>
            </a:r>
            <a:r>
              <a:rPr lang="en-US" altLang="zh-CN" sz="2800">
                <a:solidFill>
                  <a:srgbClr val="FF3300"/>
                </a:solidFill>
              </a:rPr>
              <a:t>Liskov</a:t>
            </a:r>
            <a:r>
              <a:rPr lang="zh-CN" altLang="en-US" sz="2800">
                <a:solidFill>
                  <a:srgbClr val="FF3300"/>
                </a:solidFill>
              </a:rPr>
              <a:t>替换原则</a:t>
            </a:r>
          </a:p>
          <a:p>
            <a:pPr lvl="1" eaLnBrk="1" hangingPunct="1"/>
            <a:r>
              <a:rPr lang="en-US" altLang="zh-CN" sz="2400"/>
              <a:t>The Liskov Substitution Principle</a:t>
            </a:r>
          </a:p>
          <a:p>
            <a:pPr eaLnBrk="1" hangingPunct="1"/>
            <a:r>
              <a:rPr lang="en-US" altLang="zh-CN" sz="2800">
                <a:solidFill>
                  <a:srgbClr val="FF3300"/>
                </a:solidFill>
              </a:rPr>
              <a:t>OCP</a:t>
            </a:r>
            <a:r>
              <a:rPr lang="zh-CN" altLang="en-US" sz="2800">
                <a:solidFill>
                  <a:srgbClr val="FF3300"/>
                </a:solidFill>
              </a:rPr>
              <a:t>：开放</a:t>
            </a:r>
            <a:r>
              <a:rPr lang="en-US" altLang="zh-CN" sz="2800">
                <a:solidFill>
                  <a:srgbClr val="FF3300"/>
                </a:solidFill>
              </a:rPr>
              <a:t>-</a:t>
            </a:r>
            <a:r>
              <a:rPr lang="zh-CN" altLang="en-US" sz="2800">
                <a:solidFill>
                  <a:srgbClr val="FF3300"/>
                </a:solidFill>
              </a:rPr>
              <a:t>封闭原则</a:t>
            </a:r>
          </a:p>
          <a:p>
            <a:pPr lvl="1" eaLnBrk="1" hangingPunct="1"/>
            <a:r>
              <a:rPr lang="en-US" altLang="zh-CN" sz="2400"/>
              <a:t>The Open-Close Principle</a:t>
            </a:r>
          </a:p>
          <a:p>
            <a:pPr eaLnBrk="1" hangingPunct="1"/>
            <a:r>
              <a:rPr lang="en-US" altLang="zh-CN" sz="2800">
                <a:solidFill>
                  <a:srgbClr val="FF3300"/>
                </a:solidFill>
              </a:rPr>
              <a:t>SRP</a:t>
            </a:r>
            <a:r>
              <a:rPr lang="zh-CN" altLang="en-US" sz="2800">
                <a:solidFill>
                  <a:srgbClr val="FF3300"/>
                </a:solidFill>
              </a:rPr>
              <a:t>：单一职责原则</a:t>
            </a:r>
          </a:p>
          <a:p>
            <a:pPr lvl="1" eaLnBrk="1" hangingPunct="1"/>
            <a:r>
              <a:rPr lang="en-US" altLang="zh-CN" sz="2400"/>
              <a:t>The Single Responsibility Principle</a:t>
            </a:r>
          </a:p>
          <a:p>
            <a:pPr eaLnBrk="1" hangingPunct="1"/>
            <a:r>
              <a:rPr lang="en-US" altLang="zh-CN" sz="2800">
                <a:solidFill>
                  <a:srgbClr val="FF3300"/>
                </a:solidFill>
              </a:rPr>
              <a:t>ISP</a:t>
            </a:r>
            <a:r>
              <a:rPr lang="zh-CN" altLang="en-US" sz="2800">
                <a:solidFill>
                  <a:srgbClr val="FF3300"/>
                </a:solidFill>
              </a:rPr>
              <a:t>：接口隔离原则</a:t>
            </a:r>
          </a:p>
          <a:p>
            <a:pPr lvl="1" eaLnBrk="1" hangingPunct="1"/>
            <a:r>
              <a:rPr lang="en-US" altLang="zh-CN" sz="2400"/>
              <a:t>The Interface Segregation Principle</a:t>
            </a:r>
            <a:r>
              <a:rPr lang="en-US" altLang="zh-CN" sz="2400">
                <a:solidFill>
                  <a:srgbClr val="FF3300"/>
                </a:solidFill>
              </a:rPr>
              <a:t> </a:t>
            </a:r>
          </a:p>
          <a:p>
            <a:pPr eaLnBrk="1" hangingPunct="1"/>
            <a:r>
              <a:rPr lang="en-US" altLang="zh-CN" sz="2800">
                <a:solidFill>
                  <a:srgbClr val="FF3300"/>
                </a:solidFill>
              </a:rPr>
              <a:t>DIP</a:t>
            </a:r>
            <a:r>
              <a:rPr lang="zh-CN" altLang="en-US" sz="2800">
                <a:solidFill>
                  <a:srgbClr val="FF3300"/>
                </a:solidFill>
              </a:rPr>
              <a:t>：依赖倒置原则</a:t>
            </a:r>
          </a:p>
          <a:p>
            <a:pPr lvl="1" eaLnBrk="1" hangingPunct="1"/>
            <a:r>
              <a:rPr lang="en-US" altLang="zh-CN" sz="2400"/>
              <a:t>The Dependency Inversion Principle</a:t>
            </a:r>
          </a:p>
          <a:p>
            <a:pPr eaLnBrk="1" hangingPunct="1"/>
            <a:r>
              <a:rPr lang="en-US" altLang="zh-CN" sz="2800"/>
              <a:t>……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7B63DF05-044B-4F8D-AA6E-192107732335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LSP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LSP(The </a:t>
            </a:r>
            <a:r>
              <a:rPr lang="en-US" altLang="zh-CN" dirty="0" err="1"/>
              <a:t>Liskov</a:t>
            </a:r>
            <a:r>
              <a:rPr lang="en-US" altLang="zh-CN" dirty="0"/>
              <a:t> Substitution Principle, </a:t>
            </a:r>
            <a:r>
              <a:rPr lang="en-US" altLang="zh-CN" dirty="0" err="1"/>
              <a:t>Liskov</a:t>
            </a:r>
            <a:r>
              <a:rPr lang="zh-CN" altLang="en-US" dirty="0"/>
              <a:t>替换原则</a:t>
            </a:r>
            <a:r>
              <a:rPr lang="en-US" altLang="zh-CN" dirty="0"/>
              <a:t>)</a:t>
            </a:r>
          </a:p>
          <a:p>
            <a:pPr lvl="1" eaLnBrk="1" hangingPunct="1">
              <a:defRPr/>
            </a:pPr>
            <a:r>
              <a:rPr lang="zh-CN" altLang="en-US" dirty="0"/>
              <a:t>“若对于类型</a:t>
            </a:r>
            <a:r>
              <a:rPr lang="en-US" altLang="zh-CN" dirty="0"/>
              <a:t>S</a:t>
            </a:r>
            <a:r>
              <a:rPr lang="zh-CN" altLang="en-US" dirty="0"/>
              <a:t>的任一对象</a:t>
            </a:r>
            <a:r>
              <a:rPr lang="en-US" altLang="zh-CN" dirty="0"/>
              <a:t>o</a:t>
            </a:r>
            <a:r>
              <a:rPr lang="en-US" altLang="zh-CN" baseline="-25000" dirty="0"/>
              <a:t>1</a:t>
            </a:r>
            <a:r>
              <a:rPr lang="zh-CN" altLang="en-US" dirty="0"/>
              <a:t>，均有类型</a:t>
            </a:r>
            <a:r>
              <a:rPr lang="en-US" altLang="zh-CN" dirty="0"/>
              <a:t>T</a:t>
            </a:r>
            <a:r>
              <a:rPr lang="zh-CN" altLang="en-US" dirty="0"/>
              <a:t>的对象</a:t>
            </a:r>
            <a:r>
              <a:rPr lang="en-US" altLang="zh-CN" dirty="0"/>
              <a:t>o</a:t>
            </a:r>
            <a:r>
              <a:rPr lang="en-US" altLang="zh-CN" baseline="-25000" dirty="0"/>
              <a:t>2</a:t>
            </a:r>
            <a:r>
              <a:rPr lang="zh-CN" altLang="en-US" dirty="0"/>
              <a:t>存在，使得在</a:t>
            </a:r>
            <a:r>
              <a:rPr lang="en-US" altLang="zh-CN" dirty="0"/>
              <a:t>T</a:t>
            </a:r>
            <a:r>
              <a:rPr lang="zh-CN" altLang="en-US" dirty="0"/>
              <a:t>定义的所有程序</a:t>
            </a:r>
            <a:r>
              <a:rPr lang="en-US" altLang="zh-CN" dirty="0"/>
              <a:t>P</a:t>
            </a:r>
            <a:r>
              <a:rPr lang="zh-CN" altLang="en-US" dirty="0"/>
              <a:t>中，用</a:t>
            </a:r>
            <a:r>
              <a:rPr lang="en-US" altLang="zh-CN" dirty="0"/>
              <a:t>o</a:t>
            </a:r>
            <a:r>
              <a:rPr lang="en-US" altLang="zh-CN" baseline="-25000" dirty="0"/>
              <a:t>1</a:t>
            </a:r>
            <a:r>
              <a:rPr lang="zh-CN" altLang="en-US" dirty="0"/>
              <a:t>替换</a:t>
            </a:r>
            <a:r>
              <a:rPr lang="en-US" altLang="zh-CN" dirty="0"/>
              <a:t>o</a:t>
            </a:r>
            <a:r>
              <a:rPr lang="en-US" altLang="zh-CN" baseline="-25000" dirty="0"/>
              <a:t>2</a:t>
            </a:r>
            <a:r>
              <a:rPr lang="zh-CN" altLang="en-US" dirty="0"/>
              <a:t>之后，程序的行为不变，则</a:t>
            </a:r>
            <a:r>
              <a:rPr lang="en-US" altLang="zh-CN" dirty="0"/>
              <a:t>S</a:t>
            </a:r>
            <a:r>
              <a:rPr lang="zh-CN" altLang="en-US" dirty="0"/>
              <a:t>是</a:t>
            </a:r>
            <a:r>
              <a:rPr lang="en-US" altLang="zh-CN" dirty="0"/>
              <a:t>T</a:t>
            </a:r>
            <a:r>
              <a:rPr lang="zh-CN" altLang="en-US" dirty="0"/>
              <a:t>的子类型”</a:t>
            </a:r>
          </a:p>
          <a:p>
            <a:pPr lvl="1" eaLnBrk="1" hangingPunct="1">
              <a:defRPr/>
            </a:pPr>
            <a:r>
              <a:rPr lang="zh-CN" altLang="en-US" dirty="0"/>
              <a:t>如果在任何情况下，子类（或子类型）或实现类与基类都是可以互换的，那么继承的使用就是合适的。为了达到这一目标，</a:t>
            </a:r>
            <a:r>
              <a:rPr lang="zh-CN" alt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子类不能添加任何父类没有的附加约束</a:t>
            </a:r>
          </a:p>
          <a:p>
            <a:pPr lvl="1" eaLnBrk="1" hangingPunct="1">
              <a:defRPr/>
            </a:pPr>
            <a:r>
              <a:rPr lang="zh-CN" altLang="en-US" dirty="0"/>
              <a:t>“</a:t>
            </a:r>
            <a:r>
              <a:rPr lang="zh-CN" altLang="en-US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子类对象必须可以替换基类对象</a:t>
            </a:r>
            <a:r>
              <a:rPr lang="zh-CN" altLang="en-US" dirty="0"/>
              <a:t>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D788287F-5532-4C41-9303-83473FA9D477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15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违背</a:t>
            </a:r>
            <a:r>
              <a:rPr lang="en-US" altLang="zh-CN"/>
              <a:t>LSP</a:t>
            </a:r>
            <a:r>
              <a:rPr lang="zh-CN" altLang="en-US"/>
              <a:t>原则</a:t>
            </a:r>
          </a:p>
        </p:txBody>
      </p:sp>
      <p:sp>
        <p:nvSpPr>
          <p:cNvPr id="152579" name="Rectangle 3"/>
          <p:cNvSpPr>
            <a:spLocks noChangeArrowheads="1"/>
          </p:cNvSpPr>
          <p:nvPr/>
        </p:nvSpPr>
        <p:spPr bwMode="auto">
          <a:xfrm>
            <a:off x="4295774" y="1700214"/>
            <a:ext cx="6984801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  <a:defRPr/>
            </a:pPr>
            <a:r>
              <a:rPr kumimoji="0" lang="en-US" altLang="zh-CN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Square</a:t>
            </a:r>
            <a:r>
              <a:rPr kumimoji="0" lang="zh-CN" altLang="en-US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类针对</a:t>
            </a:r>
            <a:r>
              <a:rPr kumimoji="0" lang="en-US" altLang="zh-CN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length</a:t>
            </a:r>
            <a:r>
              <a:rPr kumimoji="0" lang="zh-CN" altLang="en-US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kumimoji="0" lang="en-US" altLang="zh-CN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width</a:t>
            </a:r>
            <a:r>
              <a:rPr kumimoji="0" lang="zh-CN" altLang="en-US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添加了</a:t>
            </a:r>
            <a:r>
              <a:rPr kumimoji="0" lang="en-US" altLang="zh-CN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Rectangle</a:t>
            </a:r>
            <a:r>
              <a:rPr kumimoji="0" lang="zh-CN" altLang="en-US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所没有的附加的约束（即要求</a:t>
            </a:r>
            <a:r>
              <a:rPr kumimoji="0" lang="en-US" altLang="zh-CN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length=width</a:t>
            </a:r>
            <a:r>
              <a:rPr kumimoji="0" lang="zh-CN" altLang="en-US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），这样</a:t>
            </a:r>
            <a:r>
              <a:rPr kumimoji="0" lang="en-US" altLang="zh-CN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Square</a:t>
            </a:r>
            <a:r>
              <a:rPr kumimoji="0" lang="zh-CN" altLang="en-US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类（子类）不能完全替换</a:t>
            </a:r>
            <a:r>
              <a:rPr kumimoji="0" lang="en-US" altLang="zh-CN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Rectangle</a:t>
            </a:r>
            <a:r>
              <a:rPr kumimoji="0" lang="zh-CN" altLang="en-US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（父类）</a:t>
            </a:r>
          </a:p>
          <a:p>
            <a:pPr>
              <a:buFont typeface="Wingdings" pitchFamily="2" charset="2"/>
              <a:buChar char="ü"/>
              <a:defRPr/>
            </a:pPr>
            <a:r>
              <a:rPr kumimoji="0" lang="zh-CN" altLang="en-US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违背了</a:t>
            </a:r>
            <a:r>
              <a:rPr kumimoji="0" lang="en-US" altLang="zh-CN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LSP</a:t>
            </a:r>
            <a:r>
              <a:rPr kumimoji="0" lang="zh-CN" altLang="en-US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原则</a:t>
            </a:r>
          </a:p>
          <a:p>
            <a:pPr>
              <a:buFont typeface="Wingdings" pitchFamily="2" charset="2"/>
              <a:buChar char="ü"/>
              <a:defRPr/>
            </a:pPr>
            <a:r>
              <a:rPr kumimoji="0" lang="zh-CN" altLang="en-US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带来潜在的设计问题（使用</a:t>
            </a:r>
            <a:r>
              <a:rPr kumimoji="0" lang="en-US" altLang="zh-CN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resize</a:t>
            </a:r>
            <a:r>
              <a:rPr kumimoji="0" lang="zh-CN" altLang="en-US" sz="2800" b="0" dirty="0">
                <a:solidFill>
                  <a:srgbClr val="66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方法时，子类出错！）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9" y="1824212"/>
            <a:ext cx="2295417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E6405A04-DCFF-4F52-8615-CE0B732063A0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怎么办？</a:t>
            </a:r>
          </a:p>
        </p:txBody>
      </p:sp>
      <p:pic>
        <p:nvPicPr>
          <p:cNvPr id="1843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1412876"/>
            <a:ext cx="1746250" cy="331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638" y="1557339"/>
            <a:ext cx="427831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05" name="Text Box 5"/>
          <p:cNvSpPr txBox="1">
            <a:spLocks noChangeArrowheads="1"/>
          </p:cNvSpPr>
          <p:nvPr/>
        </p:nvSpPr>
        <p:spPr bwMode="auto">
          <a:xfrm>
            <a:off x="1919288" y="5013325"/>
            <a:ext cx="79930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3200" b="0" dirty="0">
                <a:solidFill>
                  <a:srgbClr val="FF0000"/>
                </a:solidFill>
                <a:ea typeface="微软雅黑" panose="020B0503020204020204" pitchFamily="34" charset="-122"/>
              </a:rPr>
              <a:t>在可能的情况下，由抽象类（接口）继承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FAC6E57B-BCE8-43A8-B7D0-61AA30D52603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17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抽象类与具体类</a:t>
            </a:r>
          </a:p>
        </p:txBody>
      </p:sp>
      <p:pic>
        <p:nvPicPr>
          <p:cNvPr id="1946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765176"/>
            <a:ext cx="50038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628" name="Rectangle 4"/>
          <p:cNvSpPr>
            <a:spLocks noChangeArrowheads="1"/>
          </p:cNvSpPr>
          <p:nvPr/>
        </p:nvSpPr>
        <p:spPr bwMode="auto">
          <a:xfrm>
            <a:off x="4692651" y="4292600"/>
            <a:ext cx="6372225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Char char="ü"/>
              <a:defRPr/>
            </a:pPr>
            <a:r>
              <a:rPr kumimoji="0" lang="zh-CN" altLang="en-US" sz="2800" b="0" dirty="0">
                <a:solidFill>
                  <a:srgbClr val="660066"/>
                </a:solidFill>
                <a:ea typeface="微软雅黑" panose="020B0503020204020204" pitchFamily="34" charset="-122"/>
              </a:rPr>
              <a:t>只要有可能，不要从具体类继承</a:t>
            </a:r>
          </a:p>
          <a:p>
            <a:pPr>
              <a:buFont typeface="Wingdings" pitchFamily="2" charset="2"/>
              <a:buChar char="ü"/>
              <a:defRPr/>
            </a:pPr>
            <a:r>
              <a:rPr kumimoji="0" lang="zh-CN" altLang="en-US" sz="2800" b="0" dirty="0">
                <a:solidFill>
                  <a:srgbClr val="660066"/>
                </a:solidFill>
                <a:ea typeface="微软雅黑" panose="020B0503020204020204" pitchFamily="34" charset="-122"/>
              </a:rPr>
              <a:t>行为集中的方向是向上的（抽象类）</a:t>
            </a:r>
          </a:p>
          <a:p>
            <a:pPr>
              <a:buFont typeface="Wingdings" pitchFamily="2" charset="2"/>
              <a:buChar char="ü"/>
              <a:defRPr/>
            </a:pPr>
            <a:r>
              <a:rPr kumimoji="0" lang="zh-CN" altLang="en-US" sz="2800" b="0" dirty="0">
                <a:solidFill>
                  <a:srgbClr val="660066"/>
                </a:solidFill>
                <a:ea typeface="微软雅黑" panose="020B0503020204020204" pitchFamily="34" charset="-122"/>
              </a:rPr>
              <a:t>数据集中的方向是向下的（具体类）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6D0A9935-0D6D-4A90-9F3C-071AD7E605F6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18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解决方案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298" y="1293973"/>
            <a:ext cx="5588781" cy="55948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42F7221C-F2C9-4782-B028-11FA73441366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19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由</a:t>
            </a:r>
            <a:r>
              <a:rPr lang="en-US" altLang="zh-CN" dirty="0"/>
              <a:t>LSP</a:t>
            </a:r>
            <a:r>
              <a:rPr lang="zh-CN" altLang="en-US" dirty="0"/>
              <a:t>引发的思考</a:t>
            </a:r>
            <a:endParaRPr lang="en-US" altLang="zh-CN" dirty="0"/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如何评价设计质量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从</a:t>
            </a:r>
            <a:r>
              <a:rPr lang="en-US" altLang="zh-CN" dirty="0"/>
              <a:t>LSP</a:t>
            </a:r>
            <a:r>
              <a:rPr lang="zh-CN" altLang="en-US" dirty="0"/>
              <a:t>的判定规则可以看出，判断继承层次是否合适并不是从参与继承的类本身来判定的，而是从</a:t>
            </a:r>
            <a:r>
              <a:rPr lang="zh-CN" altLang="en-US" dirty="0">
                <a:solidFill>
                  <a:srgbClr val="FF0000"/>
                </a:solidFill>
              </a:rPr>
              <a:t>使用该继承层次的程序</a:t>
            </a:r>
            <a:r>
              <a:rPr lang="en-US" altLang="zh-CN" dirty="0">
                <a:solidFill>
                  <a:srgbClr val="FF0000"/>
                </a:solidFill>
              </a:rPr>
              <a:t>P</a:t>
            </a:r>
            <a:r>
              <a:rPr lang="zh-CN" altLang="en-US" dirty="0"/>
              <a:t>入手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评价一个设计方案的质量，不能完全孤立地看这个方案本身，应该根据</a:t>
            </a:r>
            <a:r>
              <a:rPr lang="zh-CN" altLang="en-US" dirty="0">
                <a:solidFill>
                  <a:srgbClr val="FF0000"/>
                </a:solidFill>
              </a:rPr>
              <a:t>设计使用者提出的合理假设</a:t>
            </a:r>
            <a:r>
              <a:rPr lang="zh-CN" altLang="en-US" dirty="0"/>
              <a:t>来审视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78046CEA-A12E-4BA7-8981-7F34464A0CA2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20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OCP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/>
              <a:t>OCP</a:t>
            </a:r>
            <a:r>
              <a:rPr lang="zh-CN" altLang="en-US" dirty="0"/>
              <a:t>（</a:t>
            </a:r>
            <a:r>
              <a:rPr lang="en-US" altLang="zh-CN" dirty="0"/>
              <a:t>The Open-Close Principle, </a:t>
            </a:r>
            <a:r>
              <a:rPr lang="zh-CN" altLang="en-US" dirty="0"/>
              <a:t>开放</a:t>
            </a:r>
            <a:r>
              <a:rPr lang="en-US" altLang="zh-CN" dirty="0"/>
              <a:t>-</a:t>
            </a:r>
            <a:r>
              <a:rPr lang="zh-CN" altLang="en-US" dirty="0"/>
              <a:t>封闭原则）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软件实体（类、模块、函数等）应该是可扩展的，但是不可修改的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特征：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对于扩展是开放的</a:t>
            </a:r>
            <a:r>
              <a:rPr lang="zh-CN" altLang="en-US" dirty="0"/>
              <a:t>（</a:t>
            </a:r>
            <a:r>
              <a:rPr lang="en-US" altLang="zh-CN" dirty="0"/>
              <a:t>Open for extension</a:t>
            </a:r>
            <a:r>
              <a:rPr lang="zh-CN" altLang="en-US" dirty="0"/>
              <a:t>）：模块的行为可以扩展，当应用的需求改变时，可以对模块进行扩展，以满足新的需求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对于更改是封闭的</a:t>
            </a:r>
            <a:r>
              <a:rPr lang="zh-CN" altLang="en-US" dirty="0"/>
              <a:t>（</a:t>
            </a:r>
            <a:r>
              <a:rPr lang="en-US" altLang="zh-CN" dirty="0"/>
              <a:t>Closed for modification</a:t>
            </a:r>
            <a:r>
              <a:rPr lang="zh-CN" altLang="en-US" dirty="0"/>
              <a:t>）：对模块行为扩展时，不必改动模块的源代码或二进制代码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OCP</a:t>
            </a:r>
            <a:r>
              <a:rPr lang="zh-CN" altLang="en-US"/>
              <a:t>的关键在于抽象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OCP</a:t>
            </a:r>
            <a:r>
              <a:rPr lang="zh-CN" altLang="en-US"/>
              <a:t>的关键在于抽象</a:t>
            </a:r>
          </a:p>
          <a:p>
            <a:pPr lvl="1" eaLnBrk="1" hangingPunct="1"/>
            <a:r>
              <a:rPr lang="zh-CN" altLang="en-US"/>
              <a:t>抽象技术：</a:t>
            </a:r>
            <a:r>
              <a:rPr lang="en-US" altLang="zh-CN"/>
              <a:t>abstract class, Interface</a:t>
            </a:r>
          </a:p>
          <a:p>
            <a:pPr lvl="1" eaLnBrk="1" hangingPunct="1"/>
            <a:r>
              <a:rPr lang="zh-CN" altLang="en-US"/>
              <a:t>抽象预见了可能的所有扩展（闭）</a:t>
            </a:r>
          </a:p>
          <a:p>
            <a:pPr lvl="1" eaLnBrk="1" hangingPunct="1"/>
            <a:r>
              <a:rPr lang="zh-CN" altLang="en-US"/>
              <a:t>由抽象可以随时导出新的类（开）</a:t>
            </a:r>
          </a:p>
        </p:txBody>
      </p:sp>
      <p:sp>
        <p:nvSpPr>
          <p:cNvPr id="2457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B52EE43B-F81B-4A41-845B-2417B25EDBD7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21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pic>
        <p:nvPicPr>
          <p:cNvPr id="2050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791" y="3662363"/>
            <a:ext cx="3762247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图片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0" y="3662363"/>
            <a:ext cx="3271024" cy="817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1368084C-B74A-471D-A327-536D38B59CA8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22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范例：手与门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如何在程序中模拟用手去开门和关门？</a:t>
            </a:r>
          </a:p>
          <a:p>
            <a:pPr eaLnBrk="1" hangingPunct="1"/>
            <a:r>
              <a:rPr lang="zh-CN" altLang="en-US" dirty="0"/>
              <a:t>行为：</a:t>
            </a:r>
          </a:p>
          <a:p>
            <a:pPr lvl="1" eaLnBrk="1" hangingPunct="1"/>
            <a:r>
              <a:rPr lang="zh-CN" altLang="en-US" dirty="0"/>
              <a:t>开门（</a:t>
            </a:r>
            <a:r>
              <a:rPr lang="en-US" altLang="zh-CN" dirty="0"/>
              <a:t>open</a:t>
            </a:r>
            <a:r>
              <a:rPr lang="zh-CN" altLang="en-US" dirty="0"/>
              <a:t>）</a:t>
            </a:r>
          </a:p>
          <a:p>
            <a:pPr lvl="1" eaLnBrk="1" hangingPunct="1"/>
            <a:r>
              <a:rPr lang="zh-CN" altLang="en-US" dirty="0"/>
              <a:t>关门（</a:t>
            </a:r>
            <a:r>
              <a:rPr lang="en-US" altLang="zh-CN" dirty="0"/>
              <a:t>close</a:t>
            </a:r>
            <a:r>
              <a:rPr lang="zh-CN" altLang="en-US" dirty="0"/>
              <a:t>）</a:t>
            </a:r>
          </a:p>
          <a:p>
            <a:pPr lvl="1" eaLnBrk="1" hangingPunct="1"/>
            <a:r>
              <a:rPr lang="zh-CN" altLang="en-US" dirty="0"/>
              <a:t>判断门的状态（</a:t>
            </a:r>
            <a:r>
              <a:rPr lang="en-US" altLang="zh-CN" dirty="0" err="1"/>
              <a:t>testOpen</a:t>
            </a:r>
            <a:r>
              <a:rPr lang="zh-CN" altLang="en-US" dirty="0"/>
              <a:t>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75605A4F-88EF-4F4F-A782-F18AAD7895DE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23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设计实现</a:t>
            </a:r>
          </a:p>
        </p:txBody>
      </p:sp>
      <p:sp>
        <p:nvSpPr>
          <p:cNvPr id="163844" name="Rectangle 4"/>
          <p:cNvSpPr>
            <a:spLocks noChangeArrowheads="1"/>
          </p:cNvSpPr>
          <p:nvPr/>
        </p:nvSpPr>
        <p:spPr bwMode="auto">
          <a:xfrm>
            <a:off x="1147118" y="2640623"/>
            <a:ext cx="4392218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public class Door 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private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boolean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isOpen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=false;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public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boolean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testOpen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(){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return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isOpen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public void open(){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isOpen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= true;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public void close(){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isOpen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= false;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63845" name="Rectangle 5"/>
          <p:cNvSpPr>
            <a:spLocks noChangeArrowheads="1"/>
          </p:cNvSpPr>
          <p:nvPr/>
        </p:nvSpPr>
        <p:spPr bwMode="auto">
          <a:xfrm>
            <a:off x="5511852" y="3084751"/>
            <a:ext cx="3023028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public class Hand 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</a:t>
            </a:r>
            <a:r>
              <a:rPr kumimoji="0" lang="en-US" altLang="zh-CN" sz="20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public Door </a:t>
            </a:r>
            <a:r>
              <a:rPr kumimoji="0" lang="en-US" altLang="zh-CN" sz="2000" dirty="0" err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door</a:t>
            </a:r>
            <a:r>
              <a:rPr kumimoji="0" lang="en-US" altLang="zh-CN" sz="20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void do() 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if (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door.testOpen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())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   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door.close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else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  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door.open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63846" name="Rectangle 6"/>
          <p:cNvSpPr>
            <a:spLocks noChangeArrowheads="1"/>
          </p:cNvSpPr>
          <p:nvPr/>
        </p:nvSpPr>
        <p:spPr bwMode="auto">
          <a:xfrm>
            <a:off x="5511852" y="775891"/>
            <a:ext cx="5761408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public class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SmartTest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public static void main(String[]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args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) 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Hand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myHand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= new Hand();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myHand.door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= new Door();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myHand.do();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}</a:t>
            </a:r>
          </a:p>
        </p:txBody>
      </p:sp>
      <p:pic>
        <p:nvPicPr>
          <p:cNvPr id="3074" name="图片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00" y="1322910"/>
            <a:ext cx="4186913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4" grpId="0"/>
      <p:bldP spid="163845" grpId="0"/>
      <p:bldP spid="16384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3E3C103A-C772-4BC9-90B0-622E93DACE34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新的需求</a:t>
            </a:r>
            <a:r>
              <a:rPr lang="en-US" altLang="zh-CN"/>
              <a:t>……</a:t>
            </a:r>
          </a:p>
        </p:txBody>
      </p:sp>
      <p:sp>
        <p:nvSpPr>
          <p:cNvPr id="164867" name="Text Box 3"/>
          <p:cNvSpPr txBox="1">
            <a:spLocks noChangeArrowheads="1"/>
          </p:cNvSpPr>
          <p:nvPr/>
        </p:nvSpPr>
        <p:spPr bwMode="auto">
          <a:xfrm>
            <a:off x="2782889" y="2492896"/>
            <a:ext cx="70564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zh-CN" sz="3600" b="0" i="1" dirty="0">
                <a:solidFill>
                  <a:schemeClr val="tx2"/>
                </a:solidFill>
                <a:ea typeface="微软雅黑" panose="020B0503020204020204" pitchFamily="34" charset="-122"/>
              </a:rPr>
              <a:t>需要手去开关冰箱</a:t>
            </a:r>
            <a:r>
              <a:rPr lang="zh-CN" altLang="en-US" sz="3600" b="0" i="1" dirty="0">
                <a:solidFill>
                  <a:schemeClr val="tx2"/>
                </a:solidFill>
                <a:ea typeface="微软雅黑" panose="020B0503020204020204" pitchFamily="34" charset="-122"/>
              </a:rPr>
              <a:t>，</a:t>
            </a:r>
            <a:r>
              <a:rPr lang="zh-CN" altLang="zh-CN" sz="3600" b="0" i="1" dirty="0">
                <a:solidFill>
                  <a:schemeClr val="tx2"/>
                </a:solidFill>
                <a:ea typeface="微软雅黑" panose="020B0503020204020204" pitchFamily="34" charset="-122"/>
              </a:rPr>
              <a:t>抽屉</a:t>
            </a:r>
            <a:r>
              <a:rPr lang="zh-CN" altLang="zh-CN" sz="3600" b="0" i="1" dirty="0">
                <a:solidFill>
                  <a:schemeClr val="tx2"/>
                </a:solidFill>
                <a:latin typeface="Times New Roman"/>
                <a:ea typeface="微软雅黑" panose="020B0503020204020204" pitchFamily="34" charset="-122"/>
              </a:rPr>
              <a:t>……</a:t>
            </a:r>
            <a:r>
              <a:rPr lang="zh-CN" altLang="zh-CN" sz="3600" b="0" i="1" dirty="0">
                <a:solidFill>
                  <a:schemeClr val="tx2"/>
                </a:solidFill>
                <a:ea typeface="微软雅黑" panose="020B0503020204020204" pitchFamily="34" charset="-122"/>
              </a:rPr>
              <a:t>?</a:t>
            </a:r>
          </a:p>
        </p:txBody>
      </p:sp>
      <p:sp>
        <p:nvSpPr>
          <p:cNvPr id="164868" name="Rectangle 4"/>
          <p:cNvSpPr>
            <a:spLocks noChangeArrowheads="1"/>
          </p:cNvSpPr>
          <p:nvPr/>
        </p:nvSpPr>
        <p:spPr bwMode="auto">
          <a:xfrm>
            <a:off x="3503613" y="3624784"/>
            <a:ext cx="451277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zh-CN" sz="3600" b="0" i="1">
                <a:solidFill>
                  <a:srgbClr val="FF0000"/>
                </a:solidFill>
                <a:ea typeface="微软雅黑" panose="020B0503020204020204" pitchFamily="34" charset="-122"/>
              </a:rPr>
              <a:t>我们只好去修改程序</a:t>
            </a:r>
            <a:r>
              <a:rPr lang="en-US" altLang="zh-CN" sz="3600" b="0" i="1">
                <a:solidFill>
                  <a:srgbClr val="FF0000"/>
                </a:solidFill>
                <a:ea typeface="微软雅黑" panose="020B0503020204020204" pitchFamily="34" charset="-122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/>
      <p:bldP spid="16486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C8A73AF6-5F3B-4C65-90C2-2988F3978123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25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解决新的需求：修改设计</a:t>
            </a:r>
          </a:p>
        </p:txBody>
      </p:sp>
      <p:sp>
        <p:nvSpPr>
          <p:cNvPr id="165891" name="Rectangle 3"/>
          <p:cNvSpPr>
            <a:spLocks noChangeArrowheads="1"/>
          </p:cNvSpPr>
          <p:nvPr/>
        </p:nvSpPr>
        <p:spPr bwMode="auto">
          <a:xfrm>
            <a:off x="6240016" y="795441"/>
            <a:ext cx="457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public class Hand 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public Door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door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public Refrigerator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refrigerator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</a:t>
            </a:r>
            <a:r>
              <a:rPr kumimoji="0" lang="en-US" altLang="zh-CN" sz="20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void do(</a:t>
            </a:r>
            <a:r>
              <a:rPr kumimoji="0" lang="en-US" altLang="zh-CN" sz="2000" dirty="0" err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int</a:t>
            </a:r>
            <a:r>
              <a:rPr kumimoji="0" lang="en-US" altLang="zh-CN" sz="20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item)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switch (item){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    case 1: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        if (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door.testOpen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())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           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door.close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        else 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door.open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        break;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	case 2: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	    if (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refrigerator.testOpen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())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            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refrigerator.close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         else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refrigerator.open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   break; 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}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65892" name="Rectangle 4"/>
          <p:cNvSpPr>
            <a:spLocks noChangeArrowheads="1"/>
          </p:cNvSpPr>
          <p:nvPr/>
        </p:nvSpPr>
        <p:spPr bwMode="auto">
          <a:xfrm>
            <a:off x="1127448" y="3275723"/>
            <a:ext cx="5688186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  <a:t>public class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  <a:t>SmartTest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  <a:t> 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  <a:t>    public static void main(String[]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  <a:t>args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  <a:t>) 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  <a:t>        Hand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  <a:t>myHand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  <a:t> = new Hand();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  <a:t>      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  <a:t>myHand.door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  <a:t> = new Door();</a:t>
            </a:r>
            <a:b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</a:b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  <a:t>      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  <a:t>myHand.refrigerator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  <a:t> = new Refrigerator();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  <a:t>        </a:t>
            </a:r>
            <a:r>
              <a:rPr kumimoji="0" lang="en-US" altLang="zh-CN" sz="20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  <a:t>myHand.do(1);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charset="-122"/>
              </a:rPr>
              <a:t>}</a:t>
            </a:r>
          </a:p>
        </p:txBody>
      </p:sp>
      <p:sp>
        <p:nvSpPr>
          <p:cNvPr id="165893" name="Rectangle 5"/>
          <p:cNvSpPr>
            <a:spLocks noChangeArrowheads="1"/>
          </p:cNvSpPr>
          <p:nvPr/>
        </p:nvSpPr>
        <p:spPr bwMode="auto">
          <a:xfrm>
            <a:off x="2000628" y="5532338"/>
            <a:ext cx="7167560" cy="864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zh-CN" altLang="zh-CN" sz="3200" b="0" i="1" dirty="0">
                <a:solidFill>
                  <a:srgbClr val="660066"/>
                </a:solidFill>
                <a:ea typeface="微软雅黑" panose="020B0503020204020204" pitchFamily="34" charset="-122"/>
              </a:rPr>
              <a:t>手被改了！</a:t>
            </a:r>
            <a:endParaRPr lang="zh-CN" altLang="en-US" sz="3200" b="0" i="1" dirty="0">
              <a:solidFill>
                <a:srgbClr val="660066"/>
              </a:solidFill>
              <a:ea typeface="微软雅黑" panose="020B0503020204020204" pitchFamily="34" charset="-12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zh-CN" altLang="en-US" sz="3200" b="0" i="1" dirty="0">
                <a:solidFill>
                  <a:srgbClr val="660066"/>
                </a:solidFill>
                <a:ea typeface="微软雅黑" panose="020B0503020204020204" pitchFamily="34" charset="-122"/>
              </a:rPr>
              <a:t>主（使用手）程序也被改了！</a:t>
            </a:r>
          </a:p>
        </p:txBody>
      </p:sp>
      <p:pic>
        <p:nvPicPr>
          <p:cNvPr id="4098" name="图片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689" y="1106315"/>
            <a:ext cx="4596719" cy="211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5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58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/>
      <p:bldP spid="16589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F0D45AC6-24D2-429B-9854-70F1CB8778D2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符合</a:t>
            </a:r>
            <a:r>
              <a:rPr lang="en-US" altLang="zh-CN"/>
              <a:t>OCP</a:t>
            </a:r>
            <a:r>
              <a:rPr lang="zh-CN" altLang="en-US"/>
              <a:t>的设计方案</a:t>
            </a:r>
          </a:p>
        </p:txBody>
      </p:sp>
      <p:sp>
        <p:nvSpPr>
          <p:cNvPr id="166916" name="Rectangle 4"/>
          <p:cNvSpPr>
            <a:spLocks noChangeArrowheads="1"/>
          </p:cNvSpPr>
          <p:nvPr/>
        </p:nvSpPr>
        <p:spPr bwMode="auto">
          <a:xfrm>
            <a:off x="3520793" y="3931472"/>
            <a:ext cx="4663439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public </a:t>
            </a:r>
            <a:r>
              <a:rPr kumimoji="0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interface</a:t>
            </a:r>
            <a:r>
              <a:rPr kumimoji="0"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Action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{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public </a:t>
            </a:r>
            <a:r>
              <a:rPr kumimoji="0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boolean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kumimoji="0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testOpen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();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public void open();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public void close();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}</a:t>
            </a:r>
          </a:p>
        </p:txBody>
      </p:sp>
      <p:pic>
        <p:nvPicPr>
          <p:cNvPr id="5122" name="图片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7" y="928720"/>
            <a:ext cx="5290425" cy="280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8A82CF3C-6BFB-4BA5-91D4-9E2437209745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27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新的实现</a:t>
            </a:r>
          </a:p>
        </p:txBody>
      </p:sp>
      <p:sp>
        <p:nvSpPr>
          <p:cNvPr id="167939" name="Rectangle 3"/>
          <p:cNvSpPr>
            <a:spLocks noChangeArrowheads="1"/>
          </p:cNvSpPr>
          <p:nvPr/>
        </p:nvSpPr>
        <p:spPr bwMode="auto">
          <a:xfrm>
            <a:off x="749672" y="908348"/>
            <a:ext cx="4572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public </a:t>
            </a:r>
            <a:r>
              <a:rPr kumimoji="0"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class Door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</a:t>
            </a:r>
            <a:r>
              <a:rPr kumimoji="0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implements Action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private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boolean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isOpen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= false;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public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boolean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testOpen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()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    return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isOpen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public void open()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   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isOpen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= true;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public void close()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   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isOpen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= false;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67940" name="Rectangle 4"/>
          <p:cNvSpPr>
            <a:spLocks noChangeArrowheads="1"/>
          </p:cNvSpPr>
          <p:nvPr/>
        </p:nvSpPr>
        <p:spPr bwMode="auto">
          <a:xfrm>
            <a:off x="3215680" y="3812347"/>
            <a:ext cx="2987675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public </a:t>
            </a:r>
            <a:r>
              <a:rPr kumimoji="0"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class Hand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public Action item;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</a:t>
            </a:r>
            <a:r>
              <a:rPr kumimoji="0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void do()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    if (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item.isOpen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())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       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item.close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();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    else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       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item.open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();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67941" name="Rectangle 5"/>
          <p:cNvSpPr>
            <a:spLocks noChangeArrowheads="1"/>
          </p:cNvSpPr>
          <p:nvPr/>
        </p:nvSpPr>
        <p:spPr bwMode="auto">
          <a:xfrm>
            <a:off x="5879976" y="584498"/>
            <a:ext cx="5041578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public </a:t>
            </a:r>
            <a:r>
              <a:rPr kumimoji="0"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class 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Refrigerator </a:t>
            </a:r>
            <a:r>
              <a:rPr kumimoji="0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implements Action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private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boolean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isOpen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= false;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public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boolean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testOpen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()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    return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isOpen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public void open()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   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isOpen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= true;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public void close()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   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isOpen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= false;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67942" name="Rectangle 6"/>
          <p:cNvSpPr>
            <a:spLocks noChangeArrowheads="1"/>
          </p:cNvSpPr>
          <p:nvPr/>
        </p:nvSpPr>
        <p:spPr bwMode="auto">
          <a:xfrm>
            <a:off x="7319963" y="3717032"/>
            <a:ext cx="457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public class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SmartTest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public static void main(String[]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args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    Hand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myHand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= new Hand();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   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myHand.item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= new Door();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    </a:t>
            </a:r>
            <a:r>
              <a:rPr kumimoji="0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myHand.do();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DBBAD653-B699-4DA1-A5A6-2CDF76FFC2C0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28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新的需求</a:t>
            </a:r>
            <a:r>
              <a:rPr lang="en-US" altLang="zh-CN"/>
              <a:t>……</a:t>
            </a:r>
          </a:p>
        </p:txBody>
      </p:sp>
      <p:sp>
        <p:nvSpPr>
          <p:cNvPr id="168963" name="Text Box 3"/>
          <p:cNvSpPr txBox="1">
            <a:spLocks noChangeArrowheads="1"/>
          </p:cNvSpPr>
          <p:nvPr/>
        </p:nvSpPr>
        <p:spPr bwMode="auto">
          <a:xfrm>
            <a:off x="2422526" y="987426"/>
            <a:ext cx="56165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zh-CN" sz="3600" b="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需要手去开关</a:t>
            </a:r>
            <a:r>
              <a:rPr lang="zh-CN" altLang="en-US" sz="3600" b="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抽屉</a:t>
            </a:r>
            <a:r>
              <a:rPr lang="zh-CN" altLang="zh-CN" sz="3600" b="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微软雅黑" panose="020B0503020204020204" pitchFamily="34" charset="-122"/>
              </a:rPr>
              <a:t>……</a:t>
            </a:r>
            <a:r>
              <a:rPr lang="zh-CN" altLang="zh-CN" sz="3600" b="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?</a:t>
            </a:r>
          </a:p>
        </p:txBody>
      </p:sp>
      <p:sp>
        <p:nvSpPr>
          <p:cNvPr id="168965" name="Rectangle 5"/>
          <p:cNvSpPr>
            <a:spLocks noChangeArrowheads="1"/>
          </p:cNvSpPr>
          <p:nvPr/>
        </p:nvSpPr>
        <p:spPr bwMode="auto">
          <a:xfrm>
            <a:off x="1185408" y="4678179"/>
            <a:ext cx="5875693" cy="1040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zh-CN" altLang="en-US" sz="2800" b="0" i="1" dirty="0">
                <a:solidFill>
                  <a:srgbClr val="FF0000"/>
                </a:solidFill>
                <a:ea typeface="微软雅黑" panose="020B0503020204020204" pitchFamily="34" charset="-122"/>
              </a:rPr>
              <a:t>为抽屉实现</a:t>
            </a:r>
            <a:r>
              <a:rPr lang="en-US" altLang="zh-CN" sz="2800" b="0" i="1" dirty="0">
                <a:solidFill>
                  <a:srgbClr val="FF0000"/>
                </a:solidFill>
                <a:ea typeface="微软雅黑" panose="020B0503020204020204" pitchFamily="34" charset="-122"/>
              </a:rPr>
              <a:t>Action</a:t>
            </a:r>
            <a:r>
              <a:rPr lang="zh-CN" altLang="en-US" sz="2800" b="0" i="1" dirty="0">
                <a:solidFill>
                  <a:srgbClr val="FF0000"/>
                </a:solidFill>
                <a:ea typeface="微软雅黑" panose="020B0503020204020204" pitchFamily="34" charset="-122"/>
              </a:rPr>
              <a:t>接口</a:t>
            </a:r>
          </a:p>
          <a:p>
            <a:pPr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zh-CN" altLang="en-US" sz="2800" b="0" i="1" dirty="0">
                <a:solidFill>
                  <a:srgbClr val="FF0000"/>
                </a:solidFill>
                <a:ea typeface="微软雅黑" panose="020B0503020204020204" pitchFamily="34" charset="-122"/>
              </a:rPr>
              <a:t>不需要修改任何原有的设计和代码</a:t>
            </a:r>
          </a:p>
        </p:txBody>
      </p:sp>
      <p:pic>
        <p:nvPicPr>
          <p:cNvPr id="6146" name="图片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456" y="1659678"/>
            <a:ext cx="5904656" cy="2615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8966" name="Rectangle 6"/>
          <p:cNvSpPr>
            <a:spLocks noChangeArrowheads="1"/>
          </p:cNvSpPr>
          <p:nvPr/>
        </p:nvSpPr>
        <p:spPr bwMode="auto">
          <a:xfrm>
            <a:off x="7032104" y="1571420"/>
            <a:ext cx="4752528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public </a:t>
            </a:r>
            <a:r>
              <a:rPr kumimoji="0"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class Drawer </a:t>
            </a:r>
            <a:r>
              <a:rPr kumimoji="0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implements Action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private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boolean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isOpen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= false;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public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boolean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testOpen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()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    return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isOpen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public void open()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   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isOpen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= true;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public void close()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    </a:t>
            </a:r>
            <a:r>
              <a:rPr kumimoji="0" lang="en-US" altLang="zh-CN" sz="2000" dirty="0" err="1">
                <a:latin typeface="Times New Roman" panose="02020603050405020304" pitchFamily="18" charset="0"/>
              </a:rPr>
              <a:t>isOpen</a:t>
            </a:r>
            <a:r>
              <a:rPr kumimoji="0" lang="en-US" altLang="zh-CN" sz="2000" dirty="0">
                <a:latin typeface="Times New Roman" panose="02020603050405020304" pitchFamily="18" charset="0"/>
              </a:rPr>
              <a:t> = false;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/>
      <p:bldP spid="168965" grpId="0"/>
      <p:bldP spid="16896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8C57E9D8-3654-4BEB-856C-D63EF2E92863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29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关于</a:t>
            </a:r>
            <a:r>
              <a:rPr lang="en-US" altLang="zh-CN"/>
              <a:t>OCP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OCP</a:t>
            </a:r>
            <a:r>
              <a:rPr lang="zh-CN" altLang="en-US" dirty="0"/>
              <a:t>是</a:t>
            </a:r>
            <a:r>
              <a:rPr lang="en-US" altLang="zh-CN" dirty="0"/>
              <a:t>OOD</a:t>
            </a:r>
            <a:r>
              <a:rPr lang="zh-CN" altLang="en-US" dirty="0"/>
              <a:t>中很多说法的核心</a:t>
            </a:r>
          </a:p>
          <a:p>
            <a:pPr lvl="1" eaLnBrk="1" hangingPunct="1"/>
            <a:r>
              <a:rPr lang="zh-CN" altLang="en-US" dirty="0"/>
              <a:t>如果这个原则应用得有效，应用程序就会具有更多的可维护性、可重用性以及可健壮性</a:t>
            </a:r>
          </a:p>
          <a:p>
            <a:pPr lvl="1" eaLnBrk="1" hangingPunct="1"/>
            <a:r>
              <a:rPr lang="zh-CN" altLang="en-US" dirty="0"/>
              <a:t>很多设计模式都是遵从这个原则而提出来的</a:t>
            </a:r>
          </a:p>
          <a:p>
            <a:pPr eaLnBrk="1" hangingPunct="1"/>
            <a:r>
              <a:rPr lang="en-US" altLang="zh-CN" dirty="0"/>
              <a:t>LSP</a:t>
            </a:r>
            <a:r>
              <a:rPr lang="zh-CN" altLang="en-US" dirty="0"/>
              <a:t>是</a:t>
            </a:r>
            <a:r>
              <a:rPr lang="en-US" altLang="zh-CN" dirty="0"/>
              <a:t>OCP</a:t>
            </a:r>
            <a:r>
              <a:rPr lang="zh-CN" altLang="en-US" dirty="0"/>
              <a:t>成为可能的主要原则之一</a:t>
            </a:r>
          </a:p>
          <a:p>
            <a:pPr lvl="1" eaLnBrk="1" hangingPunct="1"/>
            <a:r>
              <a:rPr lang="zh-CN" altLang="en-US" dirty="0"/>
              <a:t>正是</a:t>
            </a:r>
            <a:r>
              <a:rPr lang="zh-CN" altLang="en-US" dirty="0">
                <a:solidFill>
                  <a:srgbClr val="FF0000"/>
                </a:solidFill>
              </a:rPr>
              <a:t>子类型的可替换性</a:t>
            </a:r>
            <a:r>
              <a:rPr lang="zh-CN" altLang="en-US" dirty="0"/>
              <a:t>才使得使用基类类型的模块在无需修改的情况下就可以扩展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16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SRP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SRP</a:t>
            </a:r>
            <a:r>
              <a:rPr lang="zh-CN" altLang="en-US"/>
              <a:t>（</a:t>
            </a:r>
            <a:r>
              <a:rPr lang="en-US" altLang="zh-CN"/>
              <a:t>The Single Responsibility Principle, </a:t>
            </a:r>
            <a:r>
              <a:rPr lang="zh-CN" altLang="en-US"/>
              <a:t>单一职责原则）</a:t>
            </a:r>
          </a:p>
          <a:p>
            <a:pPr lvl="1" eaLnBrk="1" hangingPunct="1"/>
            <a:r>
              <a:rPr lang="zh-CN" altLang="en-US"/>
              <a:t>就一个类而言，应该仅有一个引起它变化的原因</a:t>
            </a:r>
          </a:p>
          <a:p>
            <a:pPr eaLnBrk="1" hangingPunct="1"/>
            <a:r>
              <a:rPr lang="zh-CN" altLang="en-US"/>
              <a:t>有关类的职责分配问题，是面向对象设计中最重要的基本原则</a:t>
            </a:r>
          </a:p>
        </p:txBody>
      </p:sp>
      <p:sp>
        <p:nvSpPr>
          <p:cNvPr id="3379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B8344C6E-0411-4975-9320-76447B405666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30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33798" name="Text Box 4"/>
          <p:cNvSpPr txBox="1">
            <a:spLocks noChangeArrowheads="1"/>
          </p:cNvSpPr>
          <p:nvPr/>
        </p:nvSpPr>
        <p:spPr bwMode="auto">
          <a:xfrm>
            <a:off x="1375724" y="3687887"/>
            <a:ext cx="9511538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lvl="1"/>
            <a:r>
              <a:rPr lang="zh-CN" altLang="en-US" sz="2800" dirty="0">
                <a:solidFill>
                  <a:srgbClr val="181A36"/>
                </a:solidFill>
                <a:latin typeface="Times New Roman" pitchFamily="18" charset="0"/>
              </a:rPr>
              <a:t>“</a:t>
            </a:r>
            <a:r>
              <a:rPr lang="en-US" altLang="zh-CN" sz="2800" dirty="0">
                <a:solidFill>
                  <a:srgbClr val="FF3300"/>
                </a:solidFill>
                <a:latin typeface="Times New Roman" pitchFamily="18" charset="0"/>
              </a:rPr>
              <a:t>A critical, fundamental ability in OOA/D is to skillfully assign responsibility to software components</a:t>
            </a:r>
            <a:r>
              <a:rPr lang="en-US" altLang="zh-CN" sz="2800" dirty="0">
                <a:solidFill>
                  <a:srgbClr val="181A36"/>
                </a:solidFill>
                <a:latin typeface="Times New Roman" pitchFamily="18" charset="0"/>
              </a:rPr>
              <a:t>.”</a:t>
            </a:r>
          </a:p>
          <a:p>
            <a:pPr lvl="4" algn="r"/>
            <a:r>
              <a:rPr lang="en-US" altLang="zh-CN" sz="2800" b="0" dirty="0">
                <a:latin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181A36"/>
                </a:solidFill>
                <a:latin typeface="Times New Roman" pitchFamily="18" charset="0"/>
              </a:rPr>
              <a:t>Craig </a:t>
            </a:r>
            <a:r>
              <a:rPr lang="en-US" altLang="zh-CN" sz="2800" dirty="0" err="1">
                <a:solidFill>
                  <a:srgbClr val="181A36"/>
                </a:solidFill>
                <a:latin typeface="Times New Roman" pitchFamily="18" charset="0"/>
              </a:rPr>
              <a:t>Larman</a:t>
            </a:r>
            <a:endParaRPr lang="en-US" altLang="zh-CN" sz="2800" dirty="0">
              <a:solidFill>
                <a:srgbClr val="181A36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C5239B2E-D2C1-4AF2-AACF-9E103084D31C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31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SRP</a:t>
            </a:r>
            <a:r>
              <a:rPr lang="zh-CN" altLang="en-US"/>
              <a:t>本质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/>
              <a:t>SRP</a:t>
            </a:r>
            <a:r>
              <a:rPr lang="zh-CN" altLang="en-US"/>
              <a:t>体现了内聚性（</a:t>
            </a:r>
            <a:r>
              <a:rPr lang="en-US" altLang="zh-CN"/>
              <a:t>Cohesion</a:t>
            </a:r>
            <a:r>
              <a:rPr lang="zh-CN" altLang="en-US"/>
              <a:t>）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内聚性：一个模块的组成元素之间的功能相关性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类的职责定义为“变化的原因”，每个职责都是变化的一个轴线；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当需求变化时，该变化会反映为类的职责的变化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如果一个类承担了多于一个的职责，那么引起它变化的原因就会有多个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9BE6BD5B-BFB7-4B84-9EAB-671820B88AD3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32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违反</a:t>
            </a:r>
            <a:r>
              <a:rPr lang="en-US" altLang="zh-CN"/>
              <a:t>SRP</a:t>
            </a:r>
            <a:r>
              <a:rPr lang="zh-CN" altLang="en-US"/>
              <a:t>的案例</a:t>
            </a:r>
          </a:p>
        </p:txBody>
      </p:sp>
      <p:sp>
        <p:nvSpPr>
          <p:cNvPr id="35845" name="Text Box 3"/>
          <p:cNvSpPr txBox="1">
            <a:spLocks noChangeArrowheads="1"/>
          </p:cNvSpPr>
          <p:nvPr/>
        </p:nvSpPr>
        <p:spPr bwMode="auto">
          <a:xfrm>
            <a:off x="695400" y="4005064"/>
            <a:ext cx="1116124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Rectangle</a:t>
            </a:r>
            <a:r>
              <a:rPr kumimoji="0" lang="zh-CN" altLang="en-US" sz="28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类会因为两方面的原因而变化：计算几何方面的原因和用户界面设计方面的原因。其中一个发生变化后，必须修改</a:t>
            </a:r>
            <a:r>
              <a:rPr kumimoji="0"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Rectangle</a:t>
            </a:r>
            <a:r>
              <a:rPr kumimoji="0" lang="zh-CN" altLang="en-US" sz="28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类，而这种修改则可能导致另一个应用程序出错；除此之外，违反</a:t>
            </a:r>
            <a:r>
              <a:rPr kumimoji="0"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SRP</a:t>
            </a:r>
            <a:r>
              <a:rPr kumimoji="0" lang="zh-CN" altLang="en-US" sz="28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还会带来物理依赖的缺点</a:t>
            </a:r>
          </a:p>
        </p:txBody>
      </p:sp>
      <p:pic>
        <p:nvPicPr>
          <p:cNvPr id="3584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551" y="1124744"/>
            <a:ext cx="6985000" cy="293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解决方案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6D658A0-332F-45A0-A7B4-2E56B93CB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181A36"/>
                </a:solidFill>
                <a:latin typeface="Arial" charset="0"/>
              </a:rPr>
              <a:t>增加新的类，使得每个类仅有一个职责</a:t>
            </a:r>
          </a:p>
          <a:p>
            <a:endParaRPr lang="zh-CN" altLang="en-US" dirty="0"/>
          </a:p>
        </p:txBody>
      </p:sp>
      <p:sp>
        <p:nvSpPr>
          <p:cNvPr id="3686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A926454D-75DF-4AAA-9013-B30B8A18A9C2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33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pic>
        <p:nvPicPr>
          <p:cNvPr id="81920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2204864"/>
            <a:ext cx="7273925" cy="322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97D1053D-5787-4B32-B760-72E9CAF6BC03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ISP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ISP(The Interface Segregation Principle</a:t>
            </a:r>
            <a:r>
              <a:rPr lang="zh-CN" altLang="en-US"/>
              <a:t>，接口隔离原则</a:t>
            </a:r>
            <a:r>
              <a:rPr lang="en-US" altLang="zh-CN"/>
              <a:t>)</a:t>
            </a:r>
          </a:p>
          <a:p>
            <a:pPr lvl="1" eaLnBrk="1" hangingPunct="1"/>
            <a:r>
              <a:rPr lang="zh-CN" altLang="en-US"/>
              <a:t>客户不应该依赖他们不用到的方法，只给每个客户它所需要的接口</a:t>
            </a:r>
          </a:p>
          <a:p>
            <a:pPr lvl="1" eaLnBrk="1" hangingPunct="1"/>
            <a:r>
              <a:rPr lang="zh-CN" altLang="en-US"/>
              <a:t>为了避免“肥接口</a:t>
            </a:r>
            <a:r>
              <a:rPr lang="en-US" altLang="zh-CN"/>
              <a:t>(fat interface)”</a:t>
            </a:r>
            <a:r>
              <a:rPr lang="zh-CN" altLang="en-US"/>
              <a:t>，应当以一个类实现多个接口，而各客户仅仅获知必须的接口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180B5ACC-3000-461F-AC18-BFE13E730A9C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35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接口污染</a:t>
            </a: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576" y="1052513"/>
            <a:ext cx="6696075" cy="516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解决方案：分离接口</a:t>
            </a:r>
          </a:p>
        </p:txBody>
      </p:sp>
      <p:sp>
        <p:nvSpPr>
          <p:cNvPr id="3994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使用委托分离接口</a:t>
            </a:r>
            <a:r>
              <a:rPr lang="en-US" altLang="zh-CN"/>
              <a:t>: Adapter</a:t>
            </a:r>
            <a:r>
              <a:rPr lang="zh-CN" altLang="en-US"/>
              <a:t>模式</a:t>
            </a:r>
          </a:p>
          <a:p>
            <a:pPr eaLnBrk="1" hangingPunct="1"/>
            <a:r>
              <a:rPr lang="zh-CN" altLang="en-US"/>
              <a:t>使用多重继承</a:t>
            </a:r>
            <a:r>
              <a:rPr lang="en-US" altLang="zh-CN"/>
              <a:t>(</a:t>
            </a:r>
            <a:r>
              <a:rPr lang="zh-CN" altLang="en-US"/>
              <a:t>实现</a:t>
            </a:r>
            <a:r>
              <a:rPr lang="en-US" altLang="zh-CN"/>
              <a:t>)</a:t>
            </a:r>
            <a:r>
              <a:rPr lang="zh-CN" altLang="en-US"/>
              <a:t>分离接口</a:t>
            </a:r>
          </a:p>
        </p:txBody>
      </p:sp>
      <p:sp>
        <p:nvSpPr>
          <p:cNvPr id="399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DE03998C-F016-4119-B47D-CE68E94F8224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pic>
        <p:nvPicPr>
          <p:cNvPr id="39942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2" y="2276872"/>
            <a:ext cx="4392613" cy="396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3BC1994D-CE37-48E9-A4CB-3B53613A9820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37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ISP</a:t>
            </a:r>
            <a:r>
              <a:rPr lang="zh-CN" altLang="en-US"/>
              <a:t>本质</a:t>
            </a: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使用多个专门的接口比使用单一的接口好</a:t>
            </a:r>
          </a:p>
          <a:p>
            <a:pPr eaLnBrk="1" hangingPunct="1"/>
            <a:r>
              <a:rPr lang="zh-CN" altLang="en-US"/>
              <a:t>一个类对另一个类的依赖性应当是建立在最小的接口上的</a:t>
            </a:r>
          </a:p>
          <a:p>
            <a:pPr eaLnBrk="1" hangingPunct="1"/>
            <a:r>
              <a:rPr lang="zh-CN" altLang="en-US"/>
              <a:t>避免接口污染</a:t>
            </a:r>
            <a:r>
              <a:rPr lang="en-US" altLang="zh-CN"/>
              <a:t>(Interface Pollution)</a:t>
            </a:r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0B17DB8D-ACE7-47DF-8724-958F3D772E69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38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DIP</a:t>
            </a:r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/>
              <a:t>DIP(</a:t>
            </a:r>
            <a:r>
              <a:rPr lang="zh-CN" altLang="en-US" sz="2800" dirty="0"/>
              <a:t>依赖倒置原则，</a:t>
            </a:r>
            <a:r>
              <a:rPr lang="en-US" altLang="zh-CN" sz="2800" dirty="0"/>
              <a:t>The Dependency Inversion Principle)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高层模块不依赖于低层模块，二者都依赖于抽象</a:t>
            </a:r>
          </a:p>
          <a:p>
            <a:pPr lvl="1" eaLnBrk="1" hangingPunct="1"/>
            <a:r>
              <a:rPr lang="zh-CN" altLang="en-US" sz="2400" dirty="0"/>
              <a:t>抽象不依赖于细节，细节依赖于抽象</a:t>
            </a:r>
          </a:p>
          <a:p>
            <a:pPr lvl="1" eaLnBrk="1" hangingPunct="1"/>
            <a:r>
              <a:rPr lang="zh-CN" altLang="en-US" sz="2400" dirty="0"/>
              <a:t>针对接口编程，不要针对实现编程</a:t>
            </a:r>
          </a:p>
          <a:p>
            <a:pPr lvl="1" eaLnBrk="1" hangingPunct="1"/>
            <a:r>
              <a:rPr lang="zh-CN" altLang="en-US" sz="2400" dirty="0"/>
              <a:t>又称控制反转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IoC</a:t>
            </a:r>
            <a:r>
              <a:rPr lang="zh-CN" altLang="en-US" sz="2400" dirty="0"/>
              <a:t>，</a:t>
            </a:r>
            <a:r>
              <a:rPr lang="en-US" altLang="zh-CN" dirty="0"/>
              <a:t>Inversion of Control</a:t>
            </a:r>
            <a:r>
              <a:rPr lang="en-US" altLang="zh-CN" sz="2400" dirty="0"/>
              <a:t>)</a:t>
            </a:r>
            <a:r>
              <a:rPr lang="zh-CN" altLang="en-US" sz="2400" dirty="0"/>
              <a:t>、依赖注入</a:t>
            </a:r>
          </a:p>
          <a:p>
            <a:pPr eaLnBrk="1" hangingPunct="1"/>
            <a:r>
              <a:rPr lang="en-US" altLang="zh-CN" sz="2800" dirty="0" err="1"/>
              <a:t>Booch</a:t>
            </a:r>
            <a:r>
              <a:rPr lang="zh-CN" altLang="en-US" sz="2800" dirty="0"/>
              <a:t>：所有结构良好的面向对象架构都具有清晰的层次定义，每个层次通过一个定义良好的、受控的接口向外提供了一组内聚的服务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1BBBCE46-E857-4D36-829B-D924DC66067D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39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传统的依赖关系</a:t>
            </a:r>
          </a:p>
        </p:txBody>
      </p:sp>
      <p:sp>
        <p:nvSpPr>
          <p:cNvPr id="180227" name="AutoShape 3"/>
          <p:cNvSpPr>
            <a:spLocks noChangeArrowheads="1"/>
          </p:cNvSpPr>
          <p:nvPr/>
        </p:nvSpPr>
        <p:spPr bwMode="auto">
          <a:xfrm>
            <a:off x="9623426" y="1906588"/>
            <a:ext cx="792163" cy="2952750"/>
          </a:xfrm>
          <a:prstGeom prst="downArrow">
            <a:avLst>
              <a:gd name="adj1" fmla="val 50000"/>
              <a:gd name="adj2" fmla="val 93186"/>
            </a:avLst>
          </a:prstGeom>
          <a:solidFill>
            <a:srgbClr val="CCFFFF">
              <a:alpha val="34000"/>
            </a:srgbClr>
          </a:solidFill>
          <a:ln w="9525">
            <a:solidFill>
              <a:srgbClr val="8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b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依</a:t>
            </a:r>
            <a:br>
              <a:rPr lang="zh-CN" altLang="en-US" b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</a:br>
            <a:r>
              <a:rPr lang="zh-CN" altLang="en-US" b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赖</a:t>
            </a:r>
            <a:br>
              <a:rPr lang="zh-CN" altLang="en-US" b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</a:br>
            <a:r>
              <a:rPr lang="zh-CN" altLang="en-US" b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的</a:t>
            </a:r>
            <a:br>
              <a:rPr lang="zh-CN" altLang="en-US" b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</a:br>
            <a:r>
              <a:rPr lang="zh-CN" altLang="en-US" b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方</a:t>
            </a:r>
            <a:br>
              <a:rPr lang="zh-CN" altLang="en-US" b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</a:br>
            <a:r>
              <a:rPr lang="zh-CN" altLang="en-US" b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向</a:t>
            </a:r>
          </a:p>
        </p:txBody>
      </p:sp>
      <p:pic>
        <p:nvPicPr>
          <p:cNvPr id="430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26" y="1052513"/>
            <a:ext cx="8283575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8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26D08D1F-2C53-4455-BC1D-13FECD1D42BC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40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符合</a:t>
            </a:r>
            <a:r>
              <a:rPr lang="en-US" altLang="zh-CN"/>
              <a:t>DIP</a:t>
            </a:r>
            <a:r>
              <a:rPr lang="zh-CN" altLang="en-US"/>
              <a:t>的系统</a:t>
            </a:r>
          </a:p>
        </p:txBody>
      </p:sp>
      <p:sp>
        <p:nvSpPr>
          <p:cNvPr id="181251" name="AutoShape 3"/>
          <p:cNvSpPr>
            <a:spLocks noChangeArrowheads="1"/>
          </p:cNvSpPr>
          <p:nvPr/>
        </p:nvSpPr>
        <p:spPr bwMode="auto">
          <a:xfrm>
            <a:off x="9552185" y="1628776"/>
            <a:ext cx="576263" cy="1871663"/>
          </a:xfrm>
          <a:prstGeom prst="downArrow">
            <a:avLst>
              <a:gd name="adj1" fmla="val 50000"/>
              <a:gd name="adj2" fmla="val 81198"/>
            </a:avLst>
          </a:prstGeom>
          <a:solidFill>
            <a:srgbClr val="CCFFFF">
              <a:alpha val="39999"/>
            </a:srgbClr>
          </a:solidFill>
          <a:ln w="9525">
            <a:solidFill>
              <a:srgbClr val="8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依</a:t>
            </a:r>
            <a:b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</a:b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赖</a:t>
            </a:r>
            <a:b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</a:b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的</a:t>
            </a:r>
            <a:b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</a:b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方</a:t>
            </a:r>
            <a:b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</a:b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向</a:t>
            </a:r>
          </a:p>
        </p:txBody>
      </p:sp>
      <p:sp>
        <p:nvSpPr>
          <p:cNvPr id="181252" name="AutoShape 4"/>
          <p:cNvSpPr>
            <a:spLocks noChangeArrowheads="1"/>
          </p:cNvSpPr>
          <p:nvPr/>
        </p:nvSpPr>
        <p:spPr bwMode="auto">
          <a:xfrm>
            <a:off x="9552185" y="3502026"/>
            <a:ext cx="576263" cy="1800225"/>
          </a:xfrm>
          <a:prstGeom prst="upArrow">
            <a:avLst>
              <a:gd name="adj1" fmla="val 50000"/>
              <a:gd name="adj2" fmla="val 78099"/>
            </a:avLst>
          </a:prstGeom>
          <a:solidFill>
            <a:srgbClr val="CCFFFF">
              <a:alpha val="39999"/>
            </a:srgbClr>
          </a:solidFill>
          <a:ln w="9525">
            <a:solidFill>
              <a:srgbClr val="8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依</a:t>
            </a:r>
            <a:b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</a:b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赖</a:t>
            </a:r>
            <a:b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</a:b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的</a:t>
            </a:r>
            <a:b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</a:b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方</a:t>
            </a:r>
            <a:b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</a:b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向</a:t>
            </a:r>
          </a:p>
        </p:txBody>
      </p:sp>
      <p:pic>
        <p:nvPicPr>
          <p:cNvPr id="4403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1196976"/>
            <a:ext cx="7880350" cy="437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1254" name="Line 6"/>
          <p:cNvSpPr>
            <a:spLocks noChangeShapeType="1"/>
          </p:cNvSpPr>
          <p:nvPr/>
        </p:nvSpPr>
        <p:spPr bwMode="auto">
          <a:xfrm>
            <a:off x="2135189" y="3573463"/>
            <a:ext cx="7272337" cy="0"/>
          </a:xfrm>
          <a:prstGeom prst="line">
            <a:avLst/>
          </a:prstGeom>
          <a:noFill/>
          <a:ln w="38100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8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8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1" grpId="0" animBg="1"/>
      <p:bldP spid="181252" grpId="0" animBg="1"/>
      <p:bldP spid="18125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38C81A12-2DB2-4466-9646-B63CAA2FF230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41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启发式原则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“依赖于抽象”</a:t>
            </a:r>
            <a:r>
              <a:rPr lang="en-US" altLang="zh-CN"/>
              <a:t>—</a:t>
            </a:r>
            <a:r>
              <a:rPr lang="zh-CN" altLang="en-US"/>
              <a:t>程序中所有依赖关系都应该终止于抽象类或者接口</a:t>
            </a:r>
          </a:p>
          <a:p>
            <a:pPr eaLnBrk="1" hangingPunct="1"/>
            <a:r>
              <a:rPr lang="zh-CN" altLang="en-US"/>
              <a:t>启发式原则：</a:t>
            </a:r>
          </a:p>
          <a:p>
            <a:pPr lvl="1" eaLnBrk="1" hangingPunct="1"/>
            <a:r>
              <a:rPr lang="zh-CN" altLang="en-US"/>
              <a:t>任何变量都不应该拥有指向具体类的指针或者引用</a:t>
            </a:r>
          </a:p>
          <a:p>
            <a:pPr lvl="1" eaLnBrk="1" hangingPunct="1"/>
            <a:r>
              <a:rPr lang="zh-CN" altLang="en-US"/>
              <a:t>任何类都不应该从具体类派生</a:t>
            </a:r>
          </a:p>
          <a:p>
            <a:pPr lvl="1" eaLnBrk="1" hangingPunct="1"/>
            <a:r>
              <a:rPr lang="zh-CN" altLang="en-US"/>
              <a:t>任何方法都不应该改写其任何基类中已经实现的方法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DIP</a:t>
            </a:r>
            <a:r>
              <a:rPr lang="zh-CN" altLang="en-US"/>
              <a:t>经典案例</a:t>
            </a:r>
            <a:r>
              <a:rPr lang="en-US" altLang="zh-CN"/>
              <a:t>-Mark IV</a:t>
            </a:r>
            <a:r>
              <a:rPr lang="zh-CN" altLang="en-US"/>
              <a:t>咖啡机</a:t>
            </a:r>
          </a:p>
        </p:txBody>
      </p:sp>
      <p:sp>
        <p:nvSpPr>
          <p:cNvPr id="4608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08CA6C19-9479-4D5B-964D-A49AF643C90F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42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46085" name="Rectangle 3"/>
          <p:cNvSpPr>
            <a:spLocks noChangeArrowheads="1"/>
          </p:cNvSpPr>
          <p:nvPr/>
        </p:nvSpPr>
        <p:spPr bwMode="auto">
          <a:xfrm>
            <a:off x="839416" y="1052736"/>
            <a:ext cx="8736922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r>
              <a:rPr kumimoji="0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Mark IV</a:t>
            </a:r>
            <a:r>
              <a:rPr kumimoji="0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咖啡机最多可以一次煮好</a:t>
            </a:r>
            <a:r>
              <a:rPr kumimoji="0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12</a:t>
            </a:r>
            <a:r>
              <a:rPr kumimoji="0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杯咖啡。使用者首先将滤网（</a:t>
            </a:r>
            <a:r>
              <a:rPr kumimoji="0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filter</a:t>
            </a:r>
            <a:r>
              <a:rPr kumimoji="0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）放入滤网支架（</a:t>
            </a:r>
            <a:r>
              <a:rPr kumimoji="0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filter holder</a:t>
            </a:r>
            <a:r>
              <a:rPr kumimoji="0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）中，将咖啡粉末放入滤网内，将滤网支架滑入托座中。然而，使用者向烧水壶（</a:t>
            </a:r>
            <a:r>
              <a:rPr kumimoji="0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boiler</a:t>
            </a:r>
            <a:r>
              <a:rPr kumimoji="0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）内加入最多</a:t>
            </a:r>
            <a:r>
              <a:rPr kumimoji="0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12</a:t>
            </a:r>
            <a:r>
              <a:rPr kumimoji="0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杯冷水，按下“加热（</a:t>
            </a:r>
            <a:r>
              <a:rPr kumimoji="0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Brew</a:t>
            </a:r>
            <a:r>
              <a:rPr kumimoji="0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）”键，水被加热至沸腾。蒸汽压力将迫使水漫过咖啡粉末，咖啡通过滤网的过滤，流入咖啡壶（</a:t>
            </a:r>
            <a:r>
              <a:rPr kumimoji="0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pot</a:t>
            </a:r>
            <a:r>
              <a:rPr kumimoji="0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）中。咖啡壶放在保温托盘（</a:t>
            </a:r>
            <a:r>
              <a:rPr kumimoji="0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warmer plate</a:t>
            </a:r>
            <a:r>
              <a:rPr kumimoji="0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）上，从而可以在一段时间内保持温度。只当壶中有咖啡时，保温托盘才处于工作状态。如果将壶从保温托盘上拿开，水流将立刻停止，这样煮沸的咖啡就不会溢出到保温托盘上</a:t>
            </a:r>
          </a:p>
        </p:txBody>
      </p:sp>
      <p:pic>
        <p:nvPicPr>
          <p:cNvPr id="46086" name="Picture 4" descr="j023711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4392" y="2599680"/>
            <a:ext cx="2035175" cy="211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523FEBBE-B028-40A6-B3F0-91C5EB90121E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43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硬件设施</a:t>
            </a:r>
          </a:p>
        </p:txBody>
      </p:sp>
      <p:sp>
        <p:nvSpPr>
          <p:cNvPr id="47109" name="Rectangle 4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kumimoji="0" lang="zh-CN" altLang="en-US" sz="2800"/>
              <a:t>用于烧水壶的加热部件。它可以被开启和关闭</a:t>
            </a:r>
          </a:p>
          <a:p>
            <a:pPr eaLnBrk="1" hangingPunct="1">
              <a:lnSpc>
                <a:spcPct val="90000"/>
              </a:lnSpc>
            </a:pPr>
            <a:r>
              <a:rPr kumimoji="0" lang="zh-CN" altLang="en-US" sz="2800"/>
              <a:t>保温托盘的加热部件。它可以被开启和关闭</a:t>
            </a:r>
          </a:p>
          <a:p>
            <a:pPr eaLnBrk="1" hangingPunct="1">
              <a:lnSpc>
                <a:spcPct val="90000"/>
              </a:lnSpc>
            </a:pPr>
            <a:r>
              <a:rPr kumimoji="0" lang="zh-CN" altLang="en-US" sz="2800"/>
              <a:t>保温托盘上的传感器。它有三个状态：</a:t>
            </a:r>
            <a:r>
              <a:rPr kumimoji="0" lang="en-US" altLang="zh-CN" sz="2800"/>
              <a:t>warmerEmpty, potEmpty</a:t>
            </a:r>
            <a:r>
              <a:rPr kumimoji="0" lang="zh-CN" altLang="en-US" sz="2800"/>
              <a:t>和</a:t>
            </a:r>
            <a:r>
              <a:rPr kumimoji="0" lang="en-US" altLang="zh-CN" sz="2800"/>
              <a:t>potNotEmpty</a:t>
            </a:r>
          </a:p>
          <a:p>
            <a:pPr eaLnBrk="1" hangingPunct="1">
              <a:lnSpc>
                <a:spcPct val="90000"/>
              </a:lnSpc>
            </a:pPr>
            <a:r>
              <a:rPr kumimoji="0" lang="zh-CN" altLang="en-US" sz="2800"/>
              <a:t>烧水壶中的传感器。它有两个状态：</a:t>
            </a:r>
            <a:r>
              <a:rPr kumimoji="0" lang="en-US" altLang="zh-CN" sz="2800"/>
              <a:t>boilerEmpty</a:t>
            </a:r>
            <a:r>
              <a:rPr kumimoji="0" lang="zh-CN" altLang="en-US" sz="2800"/>
              <a:t>和</a:t>
            </a:r>
            <a:r>
              <a:rPr kumimoji="0" lang="en-US" altLang="zh-CN" sz="2800"/>
              <a:t>boilerNotEmpty</a:t>
            </a:r>
          </a:p>
          <a:p>
            <a:pPr eaLnBrk="1" hangingPunct="1">
              <a:lnSpc>
                <a:spcPct val="90000"/>
              </a:lnSpc>
            </a:pPr>
            <a:r>
              <a:rPr kumimoji="0" lang="en-US" altLang="zh-CN" sz="2800"/>
              <a:t>“</a:t>
            </a:r>
            <a:r>
              <a:rPr kumimoji="0" lang="zh-CN" altLang="en-US" sz="2800"/>
              <a:t>加热”键。这个键指示加热过程。它上面有一个小指示灯，当加热过程结束，咖啡已经煮好之后，这个灯亮起来</a:t>
            </a:r>
          </a:p>
          <a:p>
            <a:pPr eaLnBrk="1" hangingPunct="1">
              <a:lnSpc>
                <a:spcPct val="90000"/>
              </a:lnSpc>
            </a:pPr>
            <a:r>
              <a:rPr kumimoji="0" lang="zh-CN" altLang="en-US" sz="2800"/>
              <a:t>一个压力阀门，当它开启时，烧水壶中的压力降低。压力下降，则经过滤网的水流立刻停止。该阀门可以处于“开启”和“关闭”状态。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3E3386E2-765E-439D-8100-ACF72ABBB055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相关</a:t>
            </a:r>
            <a:r>
              <a:rPr lang="en-US" altLang="zh-CN"/>
              <a:t>API-1</a:t>
            </a:r>
          </a:p>
        </p:txBody>
      </p:sp>
      <p:sp>
        <p:nvSpPr>
          <p:cNvPr id="48133" name="Text Box 3"/>
          <p:cNvSpPr txBox="1">
            <a:spLocks noChangeArrowheads="1"/>
          </p:cNvSpPr>
          <p:nvPr/>
        </p:nvSpPr>
        <p:spPr bwMode="auto">
          <a:xfrm>
            <a:off x="2279649" y="635596"/>
            <a:ext cx="8568877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/**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*@(#)CoffeeMakerAPI.java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*/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public interface 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CoffeeMakerAPI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{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public static 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CoffeeMakerAPI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api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= null; 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/**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* </a:t>
            </a:r>
            <a:r>
              <a:rPr kumimoji="0"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此函数返回保温托盘的传感器状态。该传感器判断</a:t>
            </a:r>
          </a:p>
          <a:p>
            <a:pPr eaLnBrk="1" hangingPunct="1"/>
            <a:r>
              <a:rPr kumimoji="0"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* 咖啡壶是否放置在其上，以及壶中是否有咖啡。</a:t>
            </a:r>
          </a:p>
          <a:p>
            <a:pPr eaLnBrk="1" hangingPunct="1"/>
            <a:r>
              <a:rPr kumimoji="0"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*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/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int 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getWarmerPlateStatus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();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static final int WARMER_EMPTY  = 0;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static final int POT_EMPTY      = 1;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static final int POT_NOT_EMPTY = 2;</a:t>
            </a:r>
          </a:p>
        </p:txBody>
      </p:sp>
      <p:sp>
        <p:nvSpPr>
          <p:cNvPr id="48134" name="Text Box 4"/>
          <p:cNvSpPr txBox="1">
            <a:spLocks noChangeArrowheads="1"/>
          </p:cNvSpPr>
          <p:nvPr/>
        </p:nvSpPr>
        <p:spPr bwMode="auto">
          <a:xfrm>
            <a:off x="2218924" y="4289028"/>
            <a:ext cx="869032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/**</a:t>
            </a:r>
          </a:p>
          <a:p>
            <a:pPr eaLnBrk="1" hangingPunct="1"/>
            <a:r>
              <a:rPr kumimoji="0"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* </a:t>
            </a:r>
            <a:r>
              <a:rPr kumimoji="0"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此函数返回烧水壶开关的状态。该开关是一个浮力</a:t>
            </a:r>
          </a:p>
          <a:p>
            <a:pPr eaLnBrk="1" hangingPunct="1"/>
            <a:r>
              <a:rPr kumimoji="0"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* 开关，可以检测到壶中的水是否还多于</a:t>
            </a:r>
            <a:r>
              <a:rPr kumimoji="0"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1/2</a:t>
            </a:r>
            <a:r>
              <a:rPr kumimoji="0"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杯。</a:t>
            </a:r>
          </a:p>
          <a:p>
            <a:pPr eaLnBrk="1" hangingPunct="1"/>
            <a:r>
              <a:rPr kumimoji="0"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*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/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int 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getBoilerStatus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();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static final int BOILER_EMPTY = 0;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static final int BOILER_NOT_EMPTY = 1;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9983838F-F582-47D3-8813-1D9ADA64CE1A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45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相关</a:t>
            </a:r>
            <a:r>
              <a:rPr lang="en-US" altLang="zh-CN"/>
              <a:t>API-2</a:t>
            </a:r>
          </a:p>
        </p:txBody>
      </p:sp>
      <p:sp>
        <p:nvSpPr>
          <p:cNvPr id="49157" name="Text Box 3"/>
          <p:cNvSpPr txBox="1">
            <a:spLocks noChangeArrowheads="1"/>
          </p:cNvSpPr>
          <p:nvPr/>
        </p:nvSpPr>
        <p:spPr bwMode="auto">
          <a:xfrm>
            <a:off x="2279650" y="908348"/>
            <a:ext cx="8904817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/**</a:t>
            </a:r>
          </a:p>
          <a:p>
            <a:pPr eaLnBrk="1" hangingPunct="1"/>
            <a:r>
              <a:rPr kumimoji="0"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* </a:t>
            </a:r>
            <a:r>
              <a:rPr kumimoji="0"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此函数返回加热按钮的状态。加热按钮是一个接触式</a:t>
            </a:r>
          </a:p>
          <a:p>
            <a:pPr eaLnBrk="1" hangingPunct="1"/>
            <a:r>
              <a:rPr kumimoji="0"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* 按钮，能够记住它自己的状态。调用这个函数将返回</a:t>
            </a:r>
          </a:p>
          <a:p>
            <a:pPr eaLnBrk="1" hangingPunct="1"/>
            <a:r>
              <a:rPr kumimoji="0"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* 其当前状态。然后将自己的状态恢复为</a:t>
            </a:r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BREW_BUTTON_NOT_PUSHED</a:t>
            </a:r>
            <a:r>
              <a:rPr kumimoji="0"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</a:p>
          <a:p>
            <a:pPr eaLnBrk="1" hangingPunct="1"/>
            <a:r>
              <a:rPr kumimoji="0"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*</a:t>
            </a:r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/</a:t>
            </a:r>
          </a:p>
          <a:p>
            <a:pPr eaLnBrk="1" hangingPunct="1"/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public int </a:t>
            </a:r>
            <a:r>
              <a:rPr kumimoji="0"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getBrewButtonStatus</a:t>
            </a:r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();</a:t>
            </a:r>
          </a:p>
          <a:p>
            <a:pPr eaLnBrk="1" hangingPunct="1"/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public static final </a:t>
            </a:r>
          </a:p>
          <a:p>
            <a:pPr eaLnBrk="1" hangingPunct="1"/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int BREW_BUTTON_PUSHED = 0;</a:t>
            </a:r>
          </a:p>
          <a:p>
            <a:pPr eaLnBrk="1" hangingPunct="1"/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public static final   int BREW_BUTTON_NOT_PUSHED = 1;</a:t>
            </a:r>
          </a:p>
        </p:txBody>
      </p:sp>
      <p:sp>
        <p:nvSpPr>
          <p:cNvPr id="49158" name="Text Box 4"/>
          <p:cNvSpPr txBox="1">
            <a:spLocks noChangeArrowheads="1"/>
          </p:cNvSpPr>
          <p:nvPr/>
        </p:nvSpPr>
        <p:spPr bwMode="auto">
          <a:xfrm>
            <a:off x="2279650" y="3770670"/>
            <a:ext cx="7548066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/**</a:t>
            </a:r>
          </a:p>
          <a:p>
            <a:pPr eaLnBrk="1" hangingPunct="1"/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* </a:t>
            </a:r>
            <a:r>
              <a:rPr kumimoji="0"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此函数开关烧水壶的加热器件</a:t>
            </a:r>
          </a:p>
          <a:p>
            <a:pPr eaLnBrk="1" hangingPunct="1"/>
            <a:r>
              <a:rPr kumimoji="0"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*</a:t>
            </a:r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/</a:t>
            </a:r>
          </a:p>
          <a:p>
            <a:pPr eaLnBrk="1" hangingPunct="1"/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public void </a:t>
            </a:r>
          </a:p>
          <a:p>
            <a:pPr eaLnBrk="1" hangingPunct="1"/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</a:t>
            </a:r>
            <a:r>
              <a:rPr kumimoji="0"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setBoilerState</a:t>
            </a:r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(int </a:t>
            </a:r>
            <a:r>
              <a:rPr kumimoji="0"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boilerStatus</a:t>
            </a:r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);</a:t>
            </a:r>
          </a:p>
          <a:p>
            <a:pPr eaLnBrk="1" hangingPunct="1"/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public static final int BOILER_ON  = 0;</a:t>
            </a:r>
          </a:p>
          <a:p>
            <a:pPr eaLnBrk="1" hangingPunct="1"/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public static final int BOILER_OFF = 1;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C4F3BFC8-2E99-4A8D-9D75-51622693AD1C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相关</a:t>
            </a:r>
            <a:r>
              <a:rPr lang="en-US" altLang="zh-CN"/>
              <a:t>API-3</a:t>
            </a:r>
          </a:p>
        </p:txBody>
      </p:sp>
      <p:sp>
        <p:nvSpPr>
          <p:cNvPr id="50181" name="Text Box 3"/>
          <p:cNvSpPr txBox="1">
            <a:spLocks noChangeArrowheads="1"/>
          </p:cNvSpPr>
          <p:nvPr/>
        </p:nvSpPr>
        <p:spPr bwMode="auto">
          <a:xfrm>
            <a:off x="2351584" y="620688"/>
            <a:ext cx="8425431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/**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* </a:t>
            </a:r>
            <a:r>
              <a:rPr kumimoji="0"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此函数开关保温托盘的加热器件</a:t>
            </a:r>
          </a:p>
          <a:p>
            <a:pPr eaLnBrk="1" hangingPunct="1"/>
            <a:r>
              <a:rPr kumimoji="0"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*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/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setWarmerPlateState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(int 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warmerState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);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static final int WARMER_ON  = 0;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static final int WARMER_OFF = 1;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/**</a:t>
            </a:r>
          </a:p>
          <a:p>
            <a:pPr eaLnBrk="1" hangingPunct="1"/>
            <a:r>
              <a:rPr kumimoji="0"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* </a:t>
            </a:r>
            <a:r>
              <a:rPr kumimoji="0"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此函数开关指示灯。该指示灯应当在加热结束后亮</a:t>
            </a:r>
          </a:p>
          <a:p>
            <a:pPr eaLnBrk="1" hangingPunct="1"/>
            <a:r>
              <a:rPr kumimoji="0"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* 起来，在用户按下加热键之后熄灭。</a:t>
            </a:r>
          </a:p>
          <a:p>
            <a:pPr eaLnBrk="1" hangingPunct="1"/>
            <a:r>
              <a:rPr kumimoji="0"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*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/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void 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setIndicatorState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(int 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indicatorState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);  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static final int INDICATOR_ON  = 0;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static final int INDICATOR_OFF = 1;</a:t>
            </a:r>
          </a:p>
        </p:txBody>
      </p:sp>
      <p:sp>
        <p:nvSpPr>
          <p:cNvPr id="50182" name="Text Box 4"/>
          <p:cNvSpPr txBox="1">
            <a:spLocks noChangeArrowheads="1"/>
          </p:cNvSpPr>
          <p:nvPr/>
        </p:nvSpPr>
        <p:spPr bwMode="auto">
          <a:xfrm>
            <a:off x="2423592" y="4221088"/>
            <a:ext cx="8970563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/**</a:t>
            </a:r>
          </a:p>
          <a:p>
            <a:pPr eaLnBrk="1" hangingPunct="1"/>
            <a:r>
              <a:rPr kumimoji="0"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* </a:t>
            </a:r>
            <a:r>
              <a:rPr kumimoji="0"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此函数控制压力阀门。当该阀门关闭，则烧水壶中的蒸汽</a:t>
            </a:r>
          </a:p>
          <a:p>
            <a:pPr eaLnBrk="1" hangingPunct="1"/>
            <a:r>
              <a:rPr kumimoji="0"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*压力增大，使热水漫过咖啡末。当阀门开启，蒸汽从阀门</a:t>
            </a:r>
          </a:p>
          <a:p>
            <a:pPr eaLnBrk="1" hangingPunct="1"/>
            <a:r>
              <a:rPr kumimoji="0"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* 中得到释放，烧水壶中的水就不会漫过咖啡 粉末了</a:t>
            </a:r>
          </a:p>
          <a:p>
            <a:pPr eaLnBrk="1" hangingPunct="1"/>
            <a:r>
              <a:rPr kumimoji="0"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*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/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void 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setReliefValveState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(int 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reliefValveState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);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static final int VALVE_OPEN    = 0;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static final int VALVE_CLOSED  = 1;</a:t>
            </a:r>
          </a:p>
          <a:p>
            <a:pPr eaLnBrk="1" hangingPunct="1"/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}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DABD0D17-4A46-4AE8-A77E-5649A4676A3C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47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5120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开始分析、设计工作</a:t>
            </a:r>
            <a:r>
              <a:rPr lang="en-US" altLang="zh-CN"/>
              <a:t>…</a:t>
            </a:r>
          </a:p>
        </p:txBody>
      </p:sp>
      <p:sp>
        <p:nvSpPr>
          <p:cNvPr id="188419" name="Rectangle 3"/>
          <p:cNvSpPr>
            <a:spLocks noChangeArrowheads="1"/>
          </p:cNvSpPr>
          <p:nvPr/>
        </p:nvSpPr>
        <p:spPr bwMode="auto">
          <a:xfrm>
            <a:off x="1812033" y="1989138"/>
            <a:ext cx="8523487" cy="2123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200000"/>
              </a:lnSpc>
              <a:defRPr/>
            </a:pPr>
            <a:r>
              <a:rPr kumimoji="0" lang="zh-CN" altLang="en-US" sz="36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您找到了哪些对象（只考虑实体对象）？</a:t>
            </a:r>
          </a:p>
          <a:p>
            <a:pPr algn="ctr">
              <a:lnSpc>
                <a:spcPct val="200000"/>
              </a:lnSpc>
              <a:defRPr/>
            </a:pPr>
            <a:r>
              <a:rPr kumimoji="0" lang="zh-CN" altLang="en-US" sz="36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您的基本设计想法是怎样的？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A0C35437-255C-4CBC-99D8-09588CD97CCD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48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常见的设计方案</a:t>
            </a:r>
          </a:p>
        </p:txBody>
      </p:sp>
      <p:pic>
        <p:nvPicPr>
          <p:cNvPr id="5222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692151"/>
            <a:ext cx="7920038" cy="572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F805153C-651A-4603-AF77-6EDBFF5EB019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49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这个设计存在问题？</a:t>
            </a:r>
          </a:p>
        </p:txBody>
      </p:sp>
      <p:sp>
        <p:nvSpPr>
          <p:cNvPr id="5325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泡泡类（</a:t>
            </a:r>
            <a:r>
              <a:rPr lang="en-US" altLang="zh-CN"/>
              <a:t>Vapor Classes</a:t>
            </a:r>
            <a:r>
              <a:rPr lang="zh-CN" altLang="en-US"/>
              <a:t>）</a:t>
            </a:r>
          </a:p>
          <a:p>
            <a:pPr eaLnBrk="1" hangingPunct="1"/>
            <a:r>
              <a:rPr lang="zh-CN" altLang="en-US"/>
              <a:t>无用的抽象</a:t>
            </a:r>
          </a:p>
          <a:p>
            <a:pPr eaLnBrk="1" hangingPunct="1"/>
            <a:r>
              <a:rPr lang="zh-CN" altLang="en-US"/>
              <a:t>上帝类（</a:t>
            </a:r>
            <a:r>
              <a:rPr lang="en-US" altLang="zh-CN"/>
              <a:t>God Classes</a:t>
            </a:r>
            <a:r>
              <a:rPr lang="zh-CN" altLang="en-US"/>
              <a:t>）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454E7B35-C026-4C1D-A0F3-87E9EC93682B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50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泡泡类（</a:t>
            </a:r>
            <a:r>
              <a:rPr lang="en-US" altLang="zh-CN" sz="3600"/>
              <a:t>Vapor Classes</a:t>
            </a:r>
            <a:r>
              <a:rPr lang="zh-CN" altLang="en-US" sz="3600"/>
              <a:t>）</a:t>
            </a: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所谓泡泡类，就是没有带来任何好处的类</a:t>
            </a:r>
          </a:p>
          <a:p>
            <a:pPr lvl="1" eaLnBrk="1" hangingPunct="1"/>
            <a:r>
              <a:rPr lang="zh-CN" altLang="en-US"/>
              <a:t>封装成类的目的是什么？</a:t>
            </a:r>
            <a:endParaRPr lang="en-US" altLang="zh-CN"/>
          </a:p>
          <a:p>
            <a:pPr eaLnBrk="1" hangingPunct="1"/>
            <a:r>
              <a:rPr lang="zh-CN" altLang="en-US"/>
              <a:t>考虑</a:t>
            </a:r>
            <a:r>
              <a:rPr lang="en-US" altLang="zh-CN"/>
              <a:t>Light</a:t>
            </a:r>
            <a:r>
              <a:rPr lang="zh-CN" altLang="en-US"/>
              <a:t>类：</a:t>
            </a:r>
          </a:p>
        </p:txBody>
      </p:sp>
      <p:sp>
        <p:nvSpPr>
          <p:cNvPr id="191492" name="Text Box 4"/>
          <p:cNvSpPr txBox="1">
            <a:spLocks noChangeArrowheads="1"/>
          </p:cNvSpPr>
          <p:nvPr/>
        </p:nvSpPr>
        <p:spPr bwMode="auto">
          <a:xfrm>
            <a:off x="1757136" y="2767112"/>
            <a:ext cx="8748713" cy="2678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public class </a:t>
            </a:r>
            <a:r>
              <a:rPr kumimoji="0" lang="en-US" altLang="zh-CN" sz="1800" dirty="0">
                <a:solidFill>
                  <a:schemeClr val="hlin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Light 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{</a:t>
            </a:r>
          </a:p>
          <a:p>
            <a:pPr>
              <a:spcBef>
                <a:spcPct val="20000"/>
              </a:spcBef>
              <a:defRPr/>
            </a:pP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void 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turnOn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() {</a:t>
            </a:r>
          </a:p>
          <a:p>
            <a:pPr>
              <a:spcBef>
                <a:spcPct val="20000"/>
              </a:spcBef>
              <a:defRPr/>
            </a:pP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CoffeeMakerAPI.api.setIndicatorState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CoffeeMakerAPI.INDICATOR_ON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);</a:t>
            </a:r>
          </a:p>
          <a:p>
            <a:pPr>
              <a:spcBef>
                <a:spcPct val="20000"/>
              </a:spcBef>
              <a:defRPr/>
            </a:pP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}</a:t>
            </a:r>
          </a:p>
          <a:p>
            <a:pPr>
              <a:spcBef>
                <a:spcPct val="20000"/>
              </a:spcBef>
              <a:defRPr/>
            </a:pP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void 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turnOff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() {</a:t>
            </a:r>
          </a:p>
          <a:p>
            <a:pPr>
              <a:spcBef>
                <a:spcPct val="20000"/>
              </a:spcBef>
              <a:defRPr/>
            </a:pP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CoffeeMakerAPI.api.setIndicatorState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CoffeeMakerAPI.INDICATOR_OFF</a:t>
            </a: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);</a:t>
            </a:r>
          </a:p>
          <a:p>
            <a:pPr>
              <a:spcBef>
                <a:spcPct val="20000"/>
              </a:spcBef>
              <a:defRPr/>
            </a:pP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}</a:t>
            </a:r>
          </a:p>
          <a:p>
            <a:pPr>
              <a:spcBef>
                <a:spcPct val="20000"/>
              </a:spcBef>
              <a:defRPr/>
            </a:pPr>
            <a:r>
              <a:rPr kumimoji="0"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} </a:t>
            </a:r>
            <a:endParaRPr kumimoji="0" lang="en-US" altLang="zh-CN" sz="1800" u="sng" dirty="0">
              <a:solidFill>
                <a:schemeClr val="tx2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91493" name="Rectangle 5"/>
          <p:cNvSpPr>
            <a:spLocks noChangeArrowheads="1"/>
          </p:cNvSpPr>
          <p:nvPr/>
        </p:nvSpPr>
        <p:spPr bwMode="auto">
          <a:xfrm>
            <a:off x="2034789" y="5283205"/>
            <a:ext cx="811953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0" lang="zh-CN" altLang="en-US" sz="2800" b="0" u="sng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这种类的存在似乎是只是让代码变得简洁好看一些</a:t>
            </a:r>
            <a:br>
              <a:rPr kumimoji="0" lang="zh-CN" altLang="en-US" sz="2800" b="0" u="sng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</a:br>
            <a:r>
              <a:rPr kumimoji="0" lang="zh-CN" altLang="en-US" sz="2800" b="0" u="sng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从实际作用来看，毫无价值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无用的抽象</a:t>
            </a:r>
          </a:p>
        </p:txBody>
      </p:sp>
      <p:sp>
        <p:nvSpPr>
          <p:cNvPr id="5530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考虑</a:t>
            </a:r>
            <a:r>
              <a:rPr lang="en-US" altLang="zh-CN"/>
              <a:t>UML</a:t>
            </a:r>
            <a:r>
              <a:rPr lang="zh-CN" altLang="en-US"/>
              <a:t>类图中的两个继承关系，试着为两个基类（或接口）写出代码</a:t>
            </a:r>
            <a:endParaRPr lang="en-US" altLang="zh-CN"/>
          </a:p>
        </p:txBody>
      </p:sp>
      <p:sp>
        <p:nvSpPr>
          <p:cNvPr id="5529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295A8217-61F7-4A5F-87D8-2514AA094F98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51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55302" name="Text Box 4"/>
          <p:cNvSpPr txBox="1">
            <a:spLocks noChangeArrowheads="1"/>
          </p:cNvSpPr>
          <p:nvPr/>
        </p:nvSpPr>
        <p:spPr bwMode="auto">
          <a:xfrm>
            <a:off x="2711624" y="2276872"/>
            <a:ext cx="6480175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public interface Heater {</a:t>
            </a:r>
          </a:p>
          <a:p>
            <a:pPr eaLnBrk="1" hangingPunct="1">
              <a:spcBef>
                <a:spcPct val="20000"/>
              </a:spcBef>
            </a:pPr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void </a:t>
            </a:r>
            <a:r>
              <a:rPr kumimoji="0"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turnOn</a:t>
            </a:r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();</a:t>
            </a:r>
          </a:p>
          <a:p>
            <a:pPr eaLnBrk="1" hangingPunct="1">
              <a:spcBef>
                <a:spcPct val="20000"/>
              </a:spcBef>
            </a:pPr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void </a:t>
            </a:r>
            <a:r>
              <a:rPr kumimoji="0"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turnOff</a:t>
            </a:r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();</a:t>
            </a:r>
          </a:p>
          <a:p>
            <a:pPr eaLnBrk="1" hangingPunct="1">
              <a:spcBef>
                <a:spcPct val="20000"/>
              </a:spcBef>
            </a:pPr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}</a:t>
            </a:r>
          </a:p>
          <a:p>
            <a:pPr eaLnBrk="1" hangingPunct="1">
              <a:spcBef>
                <a:spcPct val="20000"/>
              </a:spcBef>
            </a:pPr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public interface Sensor {</a:t>
            </a:r>
          </a:p>
          <a:p>
            <a:pPr eaLnBrk="1" hangingPunct="1">
              <a:spcBef>
                <a:spcPct val="20000"/>
              </a:spcBef>
            </a:pPr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public int sense();</a:t>
            </a:r>
          </a:p>
          <a:p>
            <a:pPr eaLnBrk="1" hangingPunct="1">
              <a:spcBef>
                <a:spcPct val="20000"/>
              </a:spcBef>
            </a:pPr>
            <a:r>
              <a:rPr kumimoji="0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} </a:t>
            </a:r>
          </a:p>
        </p:txBody>
      </p:sp>
      <p:sp>
        <p:nvSpPr>
          <p:cNvPr id="192517" name="Rectangle 5"/>
          <p:cNvSpPr>
            <a:spLocks noChangeArrowheads="1"/>
          </p:cNvSpPr>
          <p:nvPr/>
        </p:nvSpPr>
        <p:spPr bwMode="auto">
          <a:xfrm>
            <a:off x="2135189" y="5214938"/>
            <a:ext cx="80422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看上去似乎很不错，问题是：谁会使用这两个类？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7C331B2D-192C-4841-BFCC-1AAF69CCDAA8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52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上帝类</a:t>
            </a:r>
            <a:r>
              <a:rPr lang="en-US" altLang="zh-CN"/>
              <a:t>(God Classes)</a:t>
            </a:r>
          </a:p>
        </p:txBody>
      </p:sp>
      <p:sp>
        <p:nvSpPr>
          <p:cNvPr id="5632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全部逻辑都集中在</a:t>
            </a:r>
            <a:r>
              <a:rPr lang="en-US" altLang="zh-CN"/>
              <a:t>CoffeeMaker</a:t>
            </a:r>
            <a:r>
              <a:rPr lang="zh-CN" altLang="en-US"/>
              <a:t>类中，这个类就是整个程序，其他的类都是臆想出来的、没有用的、多余的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这种集中了程序全部或几乎全部逻辑的类，称为上帝类（</a:t>
            </a:r>
            <a:r>
              <a:rPr lang="en-US" altLang="zh-CN"/>
              <a:t>God Classes</a:t>
            </a:r>
            <a:r>
              <a:rPr lang="zh-CN" altLang="en-US"/>
              <a:t>）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如果你的设计中出现了上帝类，那说明设计得很糟糕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 问题出在哪里？</a:t>
            </a:r>
          </a:p>
        </p:txBody>
      </p:sp>
      <p:sp>
        <p:nvSpPr>
          <p:cNvPr id="5734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我们按照规范说明来寻找对象，根据对象间的关系来创作类图，这中间出了什么问题呢？</a:t>
            </a:r>
          </a:p>
          <a:p>
            <a:pPr eaLnBrk="1" hangingPunct="1"/>
            <a:r>
              <a:rPr lang="zh-CN" altLang="en-US" dirty="0"/>
              <a:t>即使我们按照 “用例</a:t>
            </a:r>
            <a:r>
              <a:rPr lang="zh-CN" altLang="en-US" dirty="0">
                <a:sym typeface="Wingdings" pitchFamily="2" charset="2"/>
              </a:rPr>
              <a:t>交互图类图”的步骤来设计，所得到的结果即使有所改善，也不会很明显</a:t>
            </a:r>
          </a:p>
        </p:txBody>
      </p:sp>
      <p:sp>
        <p:nvSpPr>
          <p:cNvPr id="5734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8198CEBE-32E6-488A-9650-6F7B17FC8E07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53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194564" name="Rectangle 4"/>
          <p:cNvSpPr>
            <a:spLocks noChangeArrowheads="1"/>
          </p:cNvSpPr>
          <p:nvPr/>
        </p:nvSpPr>
        <p:spPr bwMode="auto">
          <a:xfrm>
            <a:off x="4857985" y="4293096"/>
            <a:ext cx="204414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4000" b="0" i="1" u="sng" dirty="0">
                <a:solidFill>
                  <a:srgbClr val="FF0000"/>
                </a:solidFill>
                <a:ea typeface="微软雅黑" panose="020B0503020204020204" pitchFamily="34" charset="-122"/>
                <a:sym typeface="Wingdings" pitchFamily="2" charset="2"/>
              </a:rPr>
              <a:t>抽  象！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FA88D5B6-0182-4C62-9CC7-9AF25B14ABE4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关于抽象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在软件设计中，抽象有两层含义：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/>
              <a:t>提供下层机制的良好抽象，使高层次的操作无需顾及到下层的细节问题。比如</a:t>
            </a:r>
            <a:r>
              <a:rPr lang="en-US" altLang="zh-CN" dirty="0"/>
              <a:t>JVM</a:t>
            </a:r>
            <a:r>
              <a:rPr lang="zh-CN" altLang="en-US" dirty="0"/>
              <a:t>、比如</a:t>
            </a:r>
            <a:r>
              <a:rPr lang="en-US" altLang="zh-CN" dirty="0"/>
              <a:t>CORBA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/>
              <a:t>抓住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客观世界的本质</a:t>
            </a:r>
            <a:r>
              <a:rPr lang="zh-CN" altLang="en-US" dirty="0"/>
              <a:t>，把握和描述这个本质，建立抽象的概念，通过对这种概念的描述，隔离可能发生的变化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zh-CN" altLang="en-US" dirty="0"/>
              <a:t>在这个意义上，“面向对象”的多态机制提供了强大的工具，大大超越了“面向过程”和“基于对象”所能够达到的层次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2FA62364-0D14-453F-B5A1-D4849F787159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55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5939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抽象：把握现实世界的本质</a:t>
            </a:r>
          </a:p>
        </p:txBody>
      </p:sp>
      <p:sp>
        <p:nvSpPr>
          <p:cNvPr id="5939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抽象：透过现象看本质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抓住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客观世界的本质</a:t>
            </a:r>
            <a:r>
              <a:rPr lang="zh-CN" altLang="en-US" dirty="0"/>
              <a:t>，把握和描述这个本质，建立抽象的概念，通过对这种概念的描述，隔离可能发生的变化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如何认识世界，这是个哲学认识论的命题，在面向对象设计里却有着至关重要的地位</a:t>
            </a:r>
          </a:p>
          <a:p>
            <a:pPr eaLnBrk="1" hangingPunct="1"/>
            <a:r>
              <a:rPr lang="zh-CN" altLang="en-US" dirty="0"/>
              <a:t>面向对象的设计目标是提高系统的可维护能力，而如何找到系统的稳定状态呢？</a:t>
            </a:r>
          </a:p>
        </p:txBody>
      </p:sp>
      <p:sp>
        <p:nvSpPr>
          <p:cNvPr id="196612" name="Rectangle 4"/>
          <p:cNvSpPr>
            <a:spLocks noChangeArrowheads="1"/>
          </p:cNvSpPr>
          <p:nvPr/>
        </p:nvSpPr>
        <p:spPr bwMode="auto">
          <a:xfrm>
            <a:off x="2916283" y="4941168"/>
            <a:ext cx="635943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4000" b="0" i="1" u="sng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  <a:sym typeface="Wingdings" pitchFamily="2" charset="2"/>
              </a:rPr>
              <a:t>抽象：找到系统的本质特征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33C8BC0C-D1C0-4B46-95C7-D7FFCD113392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什么是真正的抽象？</a:t>
            </a:r>
          </a:p>
        </p:txBody>
      </p:sp>
      <p:sp>
        <p:nvSpPr>
          <p:cNvPr id="6042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复读机：实际上是两台相互协作的录音机</a:t>
            </a:r>
          </a:p>
          <a:p>
            <a:pPr eaLnBrk="1" hangingPunct="1"/>
            <a:r>
              <a:rPr lang="zh-CN" altLang="en-US"/>
              <a:t>洗衣机：水源、衣物、盆、搓衣板、洗衣粉</a:t>
            </a:r>
            <a:r>
              <a:rPr lang="en-US" altLang="zh-CN"/>
              <a:t>…</a:t>
            </a:r>
          </a:p>
          <a:p>
            <a:pPr eaLnBrk="1" hangingPunct="1"/>
            <a:r>
              <a:rPr lang="zh-CN" altLang="en-US"/>
              <a:t>电视机：信号源、转换和解释器、屏幕、音箱</a:t>
            </a:r>
          </a:p>
          <a:p>
            <a:pPr eaLnBrk="1" hangingPunct="1"/>
            <a:r>
              <a:rPr lang="zh-CN" altLang="en-US"/>
              <a:t>会计系统：会计人员、帐本、数字、记账规则</a:t>
            </a:r>
            <a:r>
              <a:rPr lang="en-US" altLang="zh-CN"/>
              <a:t>…</a:t>
            </a:r>
          </a:p>
          <a:p>
            <a:pPr eaLnBrk="1" hangingPunct="1"/>
            <a:r>
              <a:rPr lang="zh-CN" altLang="en-US"/>
              <a:t>平面排版系统：纸张、文字、图像、格式</a:t>
            </a:r>
            <a:r>
              <a:rPr lang="en-US" altLang="zh-CN"/>
              <a:t>…</a:t>
            </a:r>
          </a:p>
          <a:p>
            <a:pPr eaLnBrk="1" hangingPunct="1"/>
            <a:r>
              <a:rPr lang="zh-CN" altLang="en-US"/>
              <a:t>咖啡机：</a:t>
            </a:r>
            <a:r>
              <a:rPr lang="en-US" altLang="zh-CN"/>
              <a:t>…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064ACB26-3B97-48B7-8DBE-5587B27BB768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57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614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我们怎么冲咖啡？</a:t>
            </a:r>
          </a:p>
        </p:txBody>
      </p:sp>
      <p:sp>
        <p:nvSpPr>
          <p:cNvPr id="6144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最简单的冲咖啡方式：人工冲泡</a:t>
            </a:r>
          </a:p>
          <a:p>
            <a:pPr lvl="1" eaLnBrk="1" hangingPunct="1"/>
            <a:r>
              <a:rPr lang="zh-CN" altLang="en-US"/>
              <a:t>热水</a:t>
            </a:r>
          </a:p>
          <a:p>
            <a:pPr lvl="1" eaLnBrk="1" hangingPunct="1"/>
            <a:r>
              <a:rPr lang="zh-CN" altLang="en-US"/>
              <a:t>杯子</a:t>
            </a:r>
          </a:p>
          <a:p>
            <a:pPr eaLnBrk="1" hangingPunct="1"/>
            <a:r>
              <a:rPr lang="zh-CN" altLang="en-US"/>
              <a:t>最基本的对象：</a:t>
            </a:r>
          </a:p>
          <a:p>
            <a:pPr lvl="1" eaLnBrk="1" hangingPunct="1"/>
            <a:r>
              <a:rPr lang="en-US" altLang="zh-CN"/>
              <a:t>HotWaterSource – </a:t>
            </a:r>
            <a:r>
              <a:rPr lang="zh-CN" altLang="en-US"/>
              <a:t>提供热水</a:t>
            </a:r>
          </a:p>
          <a:p>
            <a:pPr lvl="1" eaLnBrk="1" hangingPunct="1"/>
            <a:r>
              <a:rPr lang="en-US" altLang="zh-CN"/>
              <a:t>ContainmentVessel – </a:t>
            </a:r>
            <a:r>
              <a:rPr lang="zh-CN" altLang="en-US"/>
              <a:t>容纳冲好的咖啡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有了</a:t>
            </a:r>
            <a:r>
              <a:rPr lang="en-US" altLang="zh-CN"/>
              <a:t>UI</a:t>
            </a:r>
            <a:r>
              <a:rPr lang="zh-CN" altLang="en-US"/>
              <a:t>的咖啡机</a:t>
            </a:r>
          </a:p>
        </p:txBody>
      </p:sp>
      <p:sp>
        <p:nvSpPr>
          <p:cNvPr id="6246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我们可以通过系统界面（</a:t>
            </a:r>
            <a:r>
              <a:rPr lang="en-US" altLang="zh-CN"/>
              <a:t>UI</a:t>
            </a:r>
            <a:r>
              <a:rPr lang="zh-CN" altLang="en-US"/>
              <a:t>）来完成工作。因此，我们得到最基本的三个对象</a:t>
            </a:r>
          </a:p>
        </p:txBody>
      </p:sp>
      <p:sp>
        <p:nvSpPr>
          <p:cNvPr id="6246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7F0969CE-7BB7-44E8-80D2-4A1A02A151B0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58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pic>
        <p:nvPicPr>
          <p:cNvPr id="6247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2864" y="2564904"/>
            <a:ext cx="6192837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B8C8CB50-F7B7-4131-AFAC-FE4C20D61CC3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59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这三个对象能解决需求吗？</a:t>
            </a:r>
            <a:endParaRPr lang="en-US" altLang="zh-CN"/>
          </a:p>
        </p:txBody>
      </p:sp>
      <p:sp>
        <p:nvSpPr>
          <p:cNvPr id="6349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该系统的需求是什么，用例？</a:t>
            </a:r>
            <a:endParaRPr lang="en-US" altLang="zh-CN"/>
          </a:p>
          <a:p>
            <a:pPr lvl="1" eaLnBrk="1" hangingPunct="1"/>
            <a:r>
              <a:rPr lang="zh-CN" altLang="en-US"/>
              <a:t>用例</a:t>
            </a:r>
            <a:r>
              <a:rPr lang="en-US" altLang="zh-CN"/>
              <a:t>1</a:t>
            </a:r>
            <a:r>
              <a:rPr lang="zh-CN" altLang="en-US"/>
              <a:t>：加热</a:t>
            </a:r>
            <a:r>
              <a:rPr lang="en-US" altLang="zh-CN"/>
              <a:t>-</a:t>
            </a:r>
            <a:r>
              <a:rPr lang="zh-CN" altLang="en-US"/>
              <a:t>基本路径</a:t>
            </a:r>
            <a:endParaRPr lang="en-US" altLang="zh-CN"/>
          </a:p>
          <a:p>
            <a:pPr lvl="2" eaLnBrk="1" hangingPunct="1"/>
            <a:r>
              <a:rPr lang="en-US" altLang="zh-CN"/>
              <a:t>1. </a:t>
            </a:r>
            <a:r>
              <a:rPr lang="zh-CN" altLang="en-US"/>
              <a:t>用例起始于用户按下加热键</a:t>
            </a:r>
          </a:p>
          <a:p>
            <a:pPr lvl="2" eaLnBrk="1" hangingPunct="1"/>
            <a:r>
              <a:rPr lang="en-US" altLang="zh-CN"/>
              <a:t>2. </a:t>
            </a:r>
            <a:r>
              <a:rPr lang="zh-CN" altLang="en-US"/>
              <a:t>系统开始检查水源、咖啡壶已经准备好</a:t>
            </a:r>
          </a:p>
          <a:p>
            <a:pPr lvl="2" eaLnBrk="1" hangingPunct="1"/>
            <a:r>
              <a:rPr kumimoji="0" lang="en-US" altLang="zh-CN"/>
              <a:t>3. </a:t>
            </a:r>
            <a:r>
              <a:rPr kumimoji="0" lang="zh-CN" altLang="en-US"/>
              <a:t>系统开始加热</a:t>
            </a:r>
            <a:endParaRPr lang="zh-CN" altLang="en-US"/>
          </a:p>
          <a:p>
            <a:pPr lvl="2" eaLnBrk="1" hangingPunct="1"/>
            <a:r>
              <a:rPr kumimoji="0" lang="en-US" altLang="zh-CN"/>
              <a:t>4. </a:t>
            </a:r>
            <a:r>
              <a:rPr kumimoji="0" lang="zh-CN" altLang="en-US"/>
              <a:t>加热完成后，系统显示指示灯，提醒用户</a:t>
            </a:r>
          </a:p>
          <a:p>
            <a:pPr lvl="2" eaLnBrk="1" hangingPunct="1"/>
            <a:r>
              <a:rPr kumimoji="0" lang="zh-CN" altLang="en-US"/>
              <a:t>异常路径：</a:t>
            </a:r>
            <a:r>
              <a:rPr kumimoji="0" lang="en-US" altLang="zh-CN"/>
              <a:t>3a.</a:t>
            </a:r>
            <a:r>
              <a:rPr kumimoji="0" lang="zh-CN" altLang="en-US"/>
              <a:t>加热过程中，用户拿走咖啡壶，则停止加热，同时停止供水</a:t>
            </a:r>
          </a:p>
          <a:p>
            <a:pPr lvl="1" eaLnBrk="1" hangingPunct="1"/>
            <a:r>
              <a:rPr lang="zh-CN" altLang="en-US"/>
              <a:t>用例</a:t>
            </a:r>
            <a:r>
              <a:rPr lang="en-US" altLang="zh-CN"/>
              <a:t>2</a:t>
            </a:r>
            <a:r>
              <a:rPr lang="zh-CN" altLang="en-US"/>
              <a:t>：保温</a:t>
            </a:r>
          </a:p>
          <a:p>
            <a:pPr lvl="2" eaLnBrk="1" hangingPunct="1"/>
            <a:r>
              <a:rPr lang="en-US" altLang="zh-CN"/>
              <a:t>…</a:t>
            </a:r>
            <a:endParaRPr lang="zh-CN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F9F9BB3C-2761-4D38-9169-4F1F5E52268A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60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 用例分析：“加热”用例</a:t>
            </a:r>
            <a:r>
              <a:rPr lang="en-US" altLang="zh-CN"/>
              <a:t>-1</a:t>
            </a:r>
          </a:p>
        </p:txBody>
      </p:sp>
      <p:sp>
        <p:nvSpPr>
          <p:cNvPr id="200707" name="Text Box 3"/>
          <p:cNvSpPr txBox="1">
            <a:spLocks noChangeArrowheads="1"/>
          </p:cNvSpPr>
          <p:nvPr/>
        </p:nvSpPr>
        <p:spPr bwMode="auto">
          <a:xfrm>
            <a:off x="695400" y="1052736"/>
            <a:ext cx="10513168" cy="144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0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基本路径：</a:t>
            </a:r>
            <a:r>
              <a:rPr kumimoji="0" lang="zh-CN" altLang="en-US" sz="2800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用户按下“加热”键</a:t>
            </a:r>
          </a:p>
          <a:p>
            <a:pPr>
              <a:spcBef>
                <a:spcPct val="50000"/>
              </a:spcBef>
              <a:defRPr/>
            </a:pPr>
            <a:r>
              <a:rPr kumimoji="0"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用户按下“加热”键，咖啡机要检查</a:t>
            </a:r>
            <a:r>
              <a:rPr kumimoji="0" lang="en-US" altLang="zh-CN" b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HotWaterSource</a:t>
            </a:r>
            <a:r>
              <a:rPr kumimoji="0"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kumimoji="0" lang="en-US" altLang="zh-CN" b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ContainmentVessel</a:t>
            </a:r>
            <a:r>
              <a:rPr kumimoji="0"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是否已经处于就位状态。如果两者都准备好了，可以要求</a:t>
            </a:r>
            <a:r>
              <a:rPr kumimoji="0" lang="en-US" altLang="zh-CN" b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HotWaterSource</a:t>
            </a:r>
            <a:r>
              <a:rPr kumimoji="0"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开始加热</a:t>
            </a:r>
          </a:p>
        </p:txBody>
      </p:sp>
      <p:pic>
        <p:nvPicPr>
          <p:cNvPr id="2007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688" y="2852936"/>
            <a:ext cx="5903912" cy="273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7804A574-F350-4163-999D-231AAAB6077E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61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6554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通信图</a:t>
            </a:r>
            <a:r>
              <a:rPr lang="en-US" altLang="zh-CN" sz="4000"/>
              <a:t>Communication</a:t>
            </a:r>
            <a:r>
              <a:rPr lang="en-US" altLang="zh-CN" sz="3200"/>
              <a:t> Diagram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通信图描述对象之间消息的连接关系，侧重说明哪些对象之间有消息传递</a:t>
            </a:r>
          </a:p>
          <a:p>
            <a:pPr lvl="1" eaLnBrk="1" hangingPunct="1">
              <a:defRPr/>
            </a:pPr>
            <a:r>
              <a:rPr lang="zh-CN" altLang="en-US"/>
              <a:t>通信图中对象用对象图符表示，箭头表示消息发送的方向，编号标明消息的执行顺序</a:t>
            </a:r>
          </a:p>
          <a:p>
            <a:pPr lvl="2" eaLnBrk="1" hangingPunct="1">
              <a:defRPr/>
            </a:pPr>
            <a:r>
              <a:rPr lang="zh-CN" altLang="en-US"/>
              <a:t>顺序法：简单编号方案，从</a:t>
            </a:r>
            <a:r>
              <a:rPr lang="en-US" altLang="zh-CN"/>
              <a:t>1</a:t>
            </a:r>
            <a:r>
              <a:rPr lang="zh-CN" altLang="en-US"/>
              <a:t>开始，由小到大，顺序排列</a:t>
            </a:r>
          </a:p>
          <a:p>
            <a:pPr lvl="2" eaLnBrk="1" hangingPunct="1">
              <a:defRPr/>
            </a:pPr>
            <a:r>
              <a:rPr lang="zh-CN" altLang="en-US"/>
              <a:t>层次法：小数点制编号方案</a:t>
            </a:r>
          </a:p>
          <a:p>
            <a:pPr lvl="1" eaLnBrk="1" hangingPunct="1">
              <a:defRPr/>
            </a:pPr>
            <a:r>
              <a:rPr lang="zh-CN" altLang="en-US"/>
              <a:t>与顺序图相比，通过编号来看消息的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执行顺序比较困难</a:t>
            </a:r>
            <a:r>
              <a:rPr lang="zh-CN" altLang="en-US"/>
              <a:t>，但通信图中对象间灵活的空间布局可以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更方便地展示动态连接关系</a:t>
            </a:r>
            <a:r>
              <a:rPr lang="zh-CN" altLang="en-US"/>
              <a:t>等有用信息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BD072D87-7358-4F3D-831C-26EFD829D180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62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通信图剖析</a:t>
            </a:r>
          </a:p>
        </p:txBody>
      </p:sp>
      <p:sp>
        <p:nvSpPr>
          <p:cNvPr id="218122" name="Rectangle 10"/>
          <p:cNvSpPr>
            <a:spLocks noChangeArrowheads="1"/>
          </p:cNvSpPr>
          <p:nvPr/>
        </p:nvSpPr>
        <p:spPr bwMode="auto">
          <a:xfrm>
            <a:off x="3287713" y="5297489"/>
            <a:ext cx="595227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0" dirty="0">
                <a:solidFill>
                  <a:schemeClr val="hlink"/>
                </a:solidFill>
                <a:ea typeface="微软雅黑" panose="020B0503020204020204" pitchFamily="34" charset="-122"/>
              </a:rPr>
              <a:t>与顺序图中的元素有什么差别？</a:t>
            </a:r>
            <a:endParaRPr lang="en-US" altLang="zh-CN" sz="3200" b="0" dirty="0">
              <a:solidFill>
                <a:schemeClr val="hlink"/>
              </a:solidFill>
              <a:ea typeface="微软雅黑" panose="020B0503020204020204" pitchFamily="34" charset="-122"/>
            </a:endParaRPr>
          </a:p>
        </p:txBody>
      </p:sp>
      <p:pic>
        <p:nvPicPr>
          <p:cNvPr id="6656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1" y="1196976"/>
            <a:ext cx="6481763" cy="374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EF3438C7-6F54-439D-931B-FBA1CCD8E6CB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63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6758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通信图</a:t>
            </a:r>
            <a:r>
              <a:rPr lang="en-US" altLang="zh-CN"/>
              <a:t>-</a:t>
            </a:r>
            <a:r>
              <a:rPr lang="zh-CN" altLang="en-US"/>
              <a:t>推荐的使用场合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通信图是一种交互图，而交互图主要用于</a:t>
            </a:r>
          </a:p>
          <a:p>
            <a:pPr lvl="1" eaLnBrk="1" hangingPunct="1">
              <a:defRPr/>
            </a:pPr>
            <a:r>
              <a:rPr lang="zh-CN" altLang="en-US"/>
              <a:t>描述对象之间的动态协作关系（通信图）以及协作过程中的行为次序（顺序图）</a:t>
            </a:r>
          </a:p>
          <a:p>
            <a:pPr lvl="1" eaLnBrk="1" hangingPunct="1">
              <a:defRPr/>
            </a:pPr>
            <a:r>
              <a:rPr lang="zh-CN" altLang="en-US"/>
              <a:t>常常用来描述一个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用例的行为</a:t>
            </a:r>
            <a:r>
              <a:rPr lang="zh-CN" altLang="en-US"/>
              <a:t>，显示该用例中所涉及的对象以及这些对象之间的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协作和消息传递</a:t>
            </a:r>
            <a:r>
              <a:rPr lang="zh-CN" altLang="en-US"/>
              <a:t>情况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通信图与顺序图对比</a:t>
            </a:r>
            <a:endParaRPr lang="en-US" altLang="zh-CN"/>
          </a:p>
        </p:txBody>
      </p:sp>
      <p:sp>
        <p:nvSpPr>
          <p:cNvPr id="6861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功能完全相同，可以利用工具进行互相转换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侧重点不同，根据实际情况选择一种合适的图进行用例分析和设计</a:t>
            </a:r>
            <a:endParaRPr lang="en-US" altLang="zh-CN" dirty="0"/>
          </a:p>
        </p:txBody>
      </p:sp>
      <p:sp>
        <p:nvSpPr>
          <p:cNvPr id="6861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A5A6610F-F5C5-40A8-BD30-F148166FA667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219143" name="Rectangle 7"/>
          <p:cNvSpPr>
            <a:spLocks noChangeArrowheads="1"/>
          </p:cNvSpPr>
          <p:nvPr/>
        </p:nvSpPr>
        <p:spPr bwMode="auto">
          <a:xfrm>
            <a:off x="1274007" y="2492896"/>
            <a:ext cx="4605969" cy="3744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rgbClr val="A50021"/>
              </a:buClr>
              <a:buSzPct val="80000"/>
              <a:defRPr/>
            </a:pPr>
            <a:r>
              <a:rPr lang="en-US" altLang="zh-CN" sz="2800" b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-</a:t>
            </a:r>
            <a:r>
              <a:rPr lang="zh-CN" altLang="en-US" sz="2800" b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顺序图</a:t>
            </a:r>
            <a:r>
              <a:rPr lang="en-US" altLang="zh-CN" sz="2800" b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-</a:t>
            </a:r>
          </a:p>
          <a:p>
            <a:pPr marL="342900" indent="-342900">
              <a:spcBef>
                <a:spcPct val="20000"/>
              </a:spcBef>
              <a:buClr>
                <a:srgbClr val="A50021"/>
              </a:buClr>
              <a:buSzPct val="80000"/>
              <a:buFont typeface="Wingdings" pitchFamily="2" charset="2"/>
              <a:buChar char="þ"/>
              <a:defRPr/>
            </a:pPr>
            <a:r>
              <a:rPr lang="zh-CN" altLang="en-US" sz="2800" b="0" dirty="0">
                <a:solidFill>
                  <a:srgbClr val="663300"/>
                </a:solidFill>
                <a:ea typeface="微软雅黑" panose="020B0503020204020204" pitchFamily="34" charset="-122"/>
              </a:rPr>
              <a:t>显示了消息的明确顺序</a:t>
            </a:r>
          </a:p>
          <a:p>
            <a:pPr marL="342900" indent="-342900">
              <a:spcBef>
                <a:spcPct val="20000"/>
              </a:spcBef>
              <a:buClr>
                <a:srgbClr val="A50021"/>
              </a:buClr>
              <a:buSzPct val="80000"/>
              <a:buFont typeface="Wingdings" pitchFamily="2" charset="2"/>
              <a:buChar char="þ"/>
              <a:defRPr/>
            </a:pPr>
            <a:r>
              <a:rPr lang="zh-CN" altLang="en-US" sz="2800" b="0" dirty="0">
                <a:solidFill>
                  <a:srgbClr val="663300"/>
                </a:solidFill>
                <a:ea typeface="微软雅黑" panose="020B0503020204020204" pitchFamily="34" charset="-122"/>
              </a:rPr>
              <a:t>更适用于全部流的可视化</a:t>
            </a:r>
          </a:p>
          <a:p>
            <a:pPr marL="342900" indent="-342900">
              <a:spcBef>
                <a:spcPct val="20000"/>
              </a:spcBef>
              <a:buClr>
                <a:srgbClr val="A50021"/>
              </a:buClr>
              <a:buSzPct val="80000"/>
              <a:buFont typeface="Wingdings" pitchFamily="2" charset="2"/>
              <a:buChar char="þ"/>
              <a:defRPr/>
            </a:pPr>
            <a:r>
              <a:rPr lang="zh-CN" altLang="en-US" sz="2800" b="0" dirty="0">
                <a:solidFill>
                  <a:srgbClr val="663300"/>
                </a:solidFill>
                <a:ea typeface="微软雅黑" panose="020B0503020204020204" pitchFamily="34" charset="-122"/>
              </a:rPr>
              <a:t>更适用于实时规约和复杂场景</a:t>
            </a:r>
            <a:endParaRPr lang="en-US" altLang="zh-CN" sz="2800" b="0" dirty="0">
              <a:solidFill>
                <a:srgbClr val="663300"/>
              </a:solidFill>
              <a:ea typeface="微软雅黑" panose="020B0503020204020204" pitchFamily="34" charset="-122"/>
            </a:endParaRPr>
          </a:p>
        </p:txBody>
      </p:sp>
      <p:sp>
        <p:nvSpPr>
          <p:cNvPr id="219144" name="Rectangle 8"/>
          <p:cNvSpPr>
            <a:spLocks noChangeArrowheads="1"/>
          </p:cNvSpPr>
          <p:nvPr/>
        </p:nvSpPr>
        <p:spPr bwMode="auto">
          <a:xfrm>
            <a:off x="6095999" y="2492399"/>
            <a:ext cx="4821993" cy="3744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rgbClr val="A50021"/>
              </a:buClr>
              <a:buSzPct val="80000"/>
              <a:defRPr/>
            </a:pPr>
            <a:r>
              <a:rPr lang="en-US" altLang="zh-CN" sz="2800" b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-</a:t>
            </a:r>
            <a:r>
              <a:rPr lang="zh-CN" altLang="en-US" sz="2800" b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通信图</a:t>
            </a:r>
            <a:r>
              <a:rPr lang="en-US" altLang="zh-CN" sz="2800" b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-</a:t>
            </a:r>
          </a:p>
          <a:p>
            <a:pPr marL="342900" indent="-342900">
              <a:spcBef>
                <a:spcPct val="20000"/>
              </a:spcBef>
              <a:buClr>
                <a:srgbClr val="A50021"/>
              </a:buClr>
              <a:buSzPct val="80000"/>
              <a:buFont typeface="Wingdings" pitchFamily="2" charset="2"/>
              <a:buChar char="þ"/>
              <a:defRPr/>
            </a:pPr>
            <a:r>
              <a:rPr lang="zh-CN" altLang="en-US" sz="2800" b="0" dirty="0">
                <a:solidFill>
                  <a:srgbClr val="660066"/>
                </a:solidFill>
                <a:ea typeface="微软雅黑" panose="020B0503020204020204" pitchFamily="34" charset="-122"/>
              </a:rPr>
              <a:t>显示除交互之外的关系</a:t>
            </a:r>
          </a:p>
          <a:p>
            <a:pPr marL="342900" indent="-342900">
              <a:spcBef>
                <a:spcPct val="20000"/>
              </a:spcBef>
              <a:buClr>
                <a:srgbClr val="A50021"/>
              </a:buClr>
              <a:buSzPct val="80000"/>
              <a:buFont typeface="Wingdings" pitchFamily="2" charset="2"/>
              <a:buChar char="þ"/>
              <a:defRPr/>
            </a:pPr>
            <a:r>
              <a:rPr lang="zh-CN" altLang="en-US" sz="2800" b="0" dirty="0">
                <a:solidFill>
                  <a:srgbClr val="660066"/>
                </a:solidFill>
                <a:ea typeface="微软雅黑" panose="020B0503020204020204" pitchFamily="34" charset="-122"/>
              </a:rPr>
              <a:t>更适用于协作模式的可视化</a:t>
            </a:r>
          </a:p>
          <a:p>
            <a:pPr marL="342900" indent="-342900">
              <a:spcBef>
                <a:spcPct val="20000"/>
              </a:spcBef>
              <a:buClr>
                <a:srgbClr val="A50021"/>
              </a:buClr>
              <a:buSzPct val="80000"/>
              <a:buFont typeface="Wingdings" pitchFamily="2" charset="2"/>
              <a:buChar char="þ"/>
              <a:defRPr/>
            </a:pPr>
            <a:r>
              <a:rPr lang="zh-CN" altLang="en-US" sz="2800" b="0" dirty="0">
                <a:solidFill>
                  <a:srgbClr val="660066"/>
                </a:solidFill>
                <a:ea typeface="微软雅黑" panose="020B0503020204020204" pitchFamily="34" charset="-122"/>
              </a:rPr>
              <a:t>更适用于一个既定对象上的所有效果的可视化</a:t>
            </a:r>
          </a:p>
          <a:p>
            <a:pPr marL="342900" indent="-342900">
              <a:spcBef>
                <a:spcPct val="20000"/>
              </a:spcBef>
              <a:buClr>
                <a:srgbClr val="A50021"/>
              </a:buClr>
              <a:buSzPct val="80000"/>
              <a:buFont typeface="Wingdings" pitchFamily="2" charset="2"/>
              <a:buChar char="þ"/>
              <a:defRPr/>
            </a:pPr>
            <a:r>
              <a:rPr lang="zh-CN" altLang="en-US" sz="2800" b="0" dirty="0">
                <a:solidFill>
                  <a:srgbClr val="660066"/>
                </a:solidFill>
                <a:ea typeface="微软雅黑" panose="020B0503020204020204" pitchFamily="34" charset="-122"/>
              </a:rPr>
              <a:t>更易于头脑风暴讨论使用</a:t>
            </a:r>
            <a:endParaRPr lang="en-US" altLang="zh-CN" sz="2800" b="0" dirty="0">
              <a:solidFill>
                <a:srgbClr val="660066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322D5D95-D7CF-476C-9947-0FC619A079AA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65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6963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用例分析：“加热”用例</a:t>
            </a:r>
            <a:r>
              <a:rPr lang="en-US" altLang="zh-CN"/>
              <a:t>-2</a:t>
            </a:r>
          </a:p>
        </p:txBody>
      </p:sp>
      <p:sp>
        <p:nvSpPr>
          <p:cNvPr id="204803" name="Text Box 3"/>
          <p:cNvSpPr txBox="1">
            <a:spLocks noChangeArrowheads="1"/>
          </p:cNvSpPr>
          <p:nvPr/>
        </p:nvSpPr>
        <p:spPr bwMode="auto">
          <a:xfrm>
            <a:off x="767408" y="981075"/>
            <a:ext cx="10303626" cy="23083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0"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“加热”步骤</a:t>
            </a:r>
            <a:r>
              <a:rPr kumimoji="0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4</a:t>
            </a:r>
            <a:r>
              <a:rPr kumimoji="0"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kumimoji="0" lang="zh-CN" altLang="en-US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加热结束</a:t>
            </a:r>
          </a:p>
          <a:p>
            <a:pPr>
              <a:spcBef>
                <a:spcPct val="50000"/>
              </a:spcBef>
              <a:defRPr/>
            </a:pPr>
            <a:r>
              <a:rPr kumimoji="0"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加热结束后，指示灯应当点亮，停止供应热水。加热结束的消息也应该让</a:t>
            </a:r>
            <a:r>
              <a:rPr kumimoji="0" lang="en-US" altLang="zh-CN" sz="2000" b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ContainmentVessel</a:t>
            </a:r>
            <a:r>
              <a:rPr kumimoji="0"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知道，因为当用户再次将空咖啡壶放到保温托盘上，它必须负责通知</a:t>
            </a:r>
            <a:r>
              <a:rPr kumimoji="0"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UI</a:t>
            </a:r>
            <a:r>
              <a:rPr kumimoji="0"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熄灭指示灯，表明无咖啡可供饮用。</a:t>
            </a:r>
          </a:p>
          <a:p>
            <a:pPr>
              <a:spcBef>
                <a:spcPct val="50000"/>
              </a:spcBef>
              <a:defRPr/>
            </a:pPr>
            <a:r>
              <a:rPr kumimoji="0" lang="en-US" altLang="zh-CN" sz="2000" b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HotWaterSource</a:t>
            </a:r>
            <a:r>
              <a:rPr kumimoji="0"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kumimoji="0" lang="en-US" altLang="zh-CN" sz="2000" b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ContainmentVessel</a:t>
            </a:r>
            <a:r>
              <a:rPr kumimoji="0"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都有责任通知其他对象加热结束。因为加热结束既有可能是因为烧水壶空了，也有可能是因为咖啡壶满了。</a:t>
            </a:r>
          </a:p>
        </p:txBody>
      </p:sp>
      <p:pic>
        <p:nvPicPr>
          <p:cNvPr id="2048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80" y="3554116"/>
            <a:ext cx="5256212" cy="229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C6B7EB80-3B4B-4FFA-9A65-E1E6D3BD290F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7066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用例分析：“加热”用例</a:t>
            </a:r>
            <a:r>
              <a:rPr lang="en-US" altLang="zh-CN"/>
              <a:t>-2</a:t>
            </a:r>
          </a:p>
        </p:txBody>
      </p:sp>
      <p:sp>
        <p:nvSpPr>
          <p:cNvPr id="203779" name="Text Box 3"/>
          <p:cNvSpPr txBox="1">
            <a:spLocks noChangeArrowheads="1"/>
          </p:cNvSpPr>
          <p:nvPr/>
        </p:nvSpPr>
        <p:spPr bwMode="auto">
          <a:xfrm>
            <a:off x="911424" y="1050925"/>
            <a:ext cx="10513167" cy="18158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0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异常路径</a:t>
            </a:r>
            <a:r>
              <a:rPr kumimoji="0" lang="en-US" altLang="zh-CN" sz="2800" b="0" dirty="0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: </a:t>
            </a:r>
            <a:r>
              <a:rPr kumimoji="0" lang="zh-CN" altLang="en-US" sz="2800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加热中拿走咖啡壶</a:t>
            </a:r>
          </a:p>
          <a:p>
            <a:pPr>
              <a:spcBef>
                <a:spcPct val="50000"/>
              </a:spcBef>
              <a:defRPr/>
            </a:pPr>
            <a:r>
              <a:rPr kumimoji="0"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在加热过程中，用户突然把咖啡壶从加热托盘上拿开。则</a:t>
            </a:r>
            <a:r>
              <a:rPr kumimoji="0" lang="en-US" altLang="zh-CN" b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ContainmentVessel</a:t>
            </a:r>
            <a:r>
              <a:rPr kumimoji="0"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应当立刻通知</a:t>
            </a:r>
            <a:r>
              <a:rPr kumimoji="0" lang="en-US" altLang="zh-CN" b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HotWaterSource</a:t>
            </a:r>
            <a:r>
              <a:rPr kumimoji="0"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停止继续供应热水（想象在冲咖啡的时候，突然有人把下面的杯子拿开，则你应当立刻停止倾倒热水）</a:t>
            </a:r>
          </a:p>
        </p:txBody>
      </p:sp>
      <p:pic>
        <p:nvPicPr>
          <p:cNvPr id="2037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019" y="3009384"/>
            <a:ext cx="2847975" cy="304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448CD001-4B51-4B53-BF1A-702E9A192A69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67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7168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用例分析：更多用例</a:t>
            </a:r>
            <a:r>
              <a:rPr lang="en-US" altLang="zh-CN"/>
              <a:t>……</a:t>
            </a:r>
          </a:p>
        </p:txBody>
      </p:sp>
      <p:pic>
        <p:nvPicPr>
          <p:cNvPr id="2058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9" y="2781301"/>
            <a:ext cx="6835775" cy="298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6" name="Text Box 4"/>
          <p:cNvSpPr txBox="1">
            <a:spLocks noChangeArrowheads="1"/>
          </p:cNvSpPr>
          <p:nvPr/>
        </p:nvSpPr>
        <p:spPr bwMode="auto">
          <a:xfrm>
            <a:off x="1919288" y="1052513"/>
            <a:ext cx="8424862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2800" b="0" dirty="0">
                <a:latin typeface="Arial" charset="0"/>
                <a:ea typeface="微软雅黑" panose="020B0503020204020204" pitchFamily="34" charset="-122"/>
              </a:rPr>
              <a:t>“</a:t>
            </a:r>
            <a:r>
              <a:rPr kumimoji="0" lang="zh-CN" altLang="en-US" sz="2800" b="0" dirty="0">
                <a:ea typeface="微软雅黑" panose="020B0503020204020204" pitchFamily="34" charset="-122"/>
              </a:rPr>
              <a:t>保温</a:t>
            </a:r>
            <a:r>
              <a:rPr kumimoji="0" lang="zh-CN" altLang="en-US" sz="2800" b="0" dirty="0">
                <a:latin typeface="Arial" charset="0"/>
                <a:ea typeface="微软雅黑" panose="020B0503020204020204" pitchFamily="34" charset="-122"/>
              </a:rPr>
              <a:t>”</a:t>
            </a:r>
            <a:r>
              <a:rPr kumimoji="0" lang="zh-CN" altLang="en-US" sz="2800" b="0" dirty="0">
                <a:ea typeface="微软雅黑" panose="020B0503020204020204" pitchFamily="34" charset="-122"/>
              </a:rPr>
              <a:t>用例中的备选路径：</a:t>
            </a:r>
            <a:r>
              <a:rPr kumimoji="0" lang="zh-CN" altLang="en-US" sz="2800" b="0" dirty="0">
                <a:solidFill>
                  <a:srgbClr val="FF0000"/>
                </a:solidFill>
                <a:ea typeface="微软雅黑" panose="020B0503020204020204" pitchFamily="34" charset="-122"/>
              </a:rPr>
              <a:t>咖啡耗尽</a:t>
            </a:r>
          </a:p>
          <a:p>
            <a:pPr eaLnBrk="1" hangingPunct="1">
              <a:spcBef>
                <a:spcPct val="50000"/>
              </a:spcBef>
            </a:pPr>
            <a:r>
              <a:rPr kumimoji="0" lang="zh-CN" altLang="en-US" b="0" dirty="0">
                <a:ea typeface="微软雅黑" panose="020B0503020204020204" pitchFamily="34" charset="-122"/>
              </a:rPr>
              <a:t>用户将咖啡壶中的咖啡倒光，然后将空咖啡壶放到保温托盘上，咖啡机应当将指示灯关闭，表示没有咖啡可供饮用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5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C3937A42-5D55-4C21-856C-AF2BC8C17F05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68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7270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由通信图产生类图</a:t>
            </a:r>
          </a:p>
        </p:txBody>
      </p:sp>
      <p:pic>
        <p:nvPicPr>
          <p:cNvPr id="7270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1" y="1268413"/>
            <a:ext cx="6697663" cy="265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852" name="Text Box 4"/>
          <p:cNvSpPr txBox="1">
            <a:spLocks noChangeArrowheads="1"/>
          </p:cNvSpPr>
          <p:nvPr/>
        </p:nvSpPr>
        <p:spPr bwMode="auto">
          <a:xfrm>
            <a:off x="1415480" y="4006850"/>
            <a:ext cx="9505056" cy="1600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kumimoji="0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这是一个非常理想的结构：责任被合理分配，各对象之间的消息平衡，没有泡泡类，协作图与类图相匹配</a:t>
            </a:r>
          </a:p>
          <a:p>
            <a:pPr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kumimoji="0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问题是：该程序能够运行在</a:t>
            </a:r>
            <a:r>
              <a:rPr kumimoji="0" lang="en-US" altLang="zh-CN" sz="2800" b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MarkIV</a:t>
            </a:r>
            <a:r>
              <a:rPr kumimoji="0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型的咖啡机上吗？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6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6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3B62A2C2-E635-4270-BE4E-8163936D80AD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69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7373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我们得到的是“咖啡机”</a:t>
            </a:r>
          </a:p>
        </p:txBody>
      </p:sp>
      <p:sp>
        <p:nvSpPr>
          <p:cNvPr id="7373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所有这三个类与“</a:t>
            </a:r>
            <a:r>
              <a:rPr lang="en-US" altLang="zh-CN"/>
              <a:t>Mark IV</a:t>
            </a:r>
            <a:r>
              <a:rPr lang="zh-CN" altLang="en-US"/>
              <a:t>咖啡机”这一特殊产品没有任何直接关系</a:t>
            </a:r>
          </a:p>
          <a:p>
            <a:pPr lvl="1" eaLnBrk="1" hangingPunct="1"/>
            <a:r>
              <a:rPr lang="zh-CN" altLang="en-US"/>
              <a:t>这正是我们所期望的</a:t>
            </a:r>
            <a:r>
              <a:rPr lang="en-US" altLang="zh-CN"/>
              <a:t>——</a:t>
            </a:r>
            <a:r>
              <a:rPr lang="zh-CN" altLang="en-US"/>
              <a:t>我们得到了真正的抽象，把握住了问题的本质</a:t>
            </a:r>
          </a:p>
          <a:p>
            <a:pPr eaLnBrk="1" hangingPunct="1"/>
            <a:r>
              <a:rPr lang="zh-CN" altLang="en-US"/>
              <a:t>下面要做的，是根据这个抽象来实现</a:t>
            </a:r>
            <a:r>
              <a:rPr lang="en-US" altLang="zh-CN"/>
              <a:t>Mark IV</a:t>
            </a:r>
            <a:r>
              <a:rPr lang="zh-CN" altLang="en-US"/>
              <a:t>咖啡机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122F1C96-7FA2-4347-AE4C-4CD6D4EAB840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70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7475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以</a:t>
            </a:r>
            <a:r>
              <a:rPr lang="en-US" altLang="zh-CN"/>
              <a:t>MarkIV</a:t>
            </a:r>
            <a:r>
              <a:rPr lang="zh-CN" altLang="en-US"/>
              <a:t>角度审视用例</a:t>
            </a:r>
          </a:p>
        </p:txBody>
      </p:sp>
      <p:sp>
        <p:nvSpPr>
          <p:cNvPr id="7475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“加热”用例的路径</a:t>
            </a:r>
            <a:r>
              <a:rPr lang="en-US" altLang="zh-CN"/>
              <a:t>“</a:t>
            </a:r>
            <a:r>
              <a:rPr lang="zh-CN" altLang="en-US"/>
              <a:t>开始加热”中，用户按下“加热”键，导致一系列动作，这些动作在</a:t>
            </a:r>
            <a:r>
              <a:rPr lang="en-US" altLang="zh-CN"/>
              <a:t>MarkIV</a:t>
            </a:r>
            <a:r>
              <a:rPr lang="zh-CN" altLang="en-US"/>
              <a:t>中如何实现？</a:t>
            </a:r>
          </a:p>
          <a:p>
            <a:pPr lvl="1" eaLnBrk="1" hangingPunct="1"/>
            <a:r>
              <a:rPr lang="en-US" altLang="zh-CN"/>
              <a:t>start(), isReady()</a:t>
            </a:r>
            <a:r>
              <a:rPr lang="zh-CN" altLang="en-US"/>
              <a:t>如何实现？</a:t>
            </a:r>
          </a:p>
        </p:txBody>
      </p:sp>
      <p:pic>
        <p:nvPicPr>
          <p:cNvPr id="7475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4" y="2944811"/>
            <a:ext cx="6335713" cy="293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5354E4C6-78A8-4AEF-9D5E-B7CE2D27B363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71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7578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添加操作后的系统类图</a:t>
            </a:r>
            <a:endParaRPr lang="en-US" altLang="zh-CN"/>
          </a:p>
        </p:txBody>
      </p:sp>
      <p:pic>
        <p:nvPicPr>
          <p:cNvPr id="1026" name="图片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2" y="1484784"/>
            <a:ext cx="8299116" cy="4139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1B09952F-8B17-4390-8324-D89ACCD03D1A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72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7680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操作如何实现具体？</a:t>
            </a:r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要是系统运行在</a:t>
            </a:r>
            <a:r>
              <a:rPr lang="en-US" altLang="zh-CN" sz="2800"/>
              <a:t>MarkIV</a:t>
            </a:r>
            <a:r>
              <a:rPr lang="zh-CN" altLang="en-US" sz="2800"/>
              <a:t>型咖啡机上，则必须调用相应的硬件接口！</a:t>
            </a:r>
            <a:endParaRPr lang="en-US" altLang="zh-CN" sz="2800"/>
          </a:p>
          <a:p>
            <a:pPr eaLnBrk="1" hangingPunct="1"/>
            <a:r>
              <a:rPr lang="en-US" altLang="zh-CN" sz="2800"/>
              <a:t>Start:</a:t>
            </a:r>
          </a:p>
          <a:p>
            <a:pPr lvl="1" eaLnBrk="1" hangingPunct="1"/>
            <a:r>
              <a:rPr lang="en-US" altLang="zh-CN" sz="2400"/>
              <a:t>UserInterface</a:t>
            </a:r>
            <a:r>
              <a:rPr lang="zh-CN" altLang="en-US" sz="2400"/>
              <a:t>如何知道“加热”键被按下？显然是通过调用</a:t>
            </a:r>
            <a:r>
              <a:rPr lang="en-US" altLang="zh-CN" sz="2400"/>
              <a:t>CoffeeMakerAPI. getBrewButtonStatus()</a:t>
            </a:r>
            <a:r>
              <a:rPr lang="zh-CN" altLang="en-US" sz="2400"/>
              <a:t>得到的</a:t>
            </a:r>
          </a:p>
          <a:p>
            <a:pPr eaLnBrk="1" hangingPunct="1"/>
            <a:r>
              <a:rPr lang="en-US" altLang="zh-CN" sz="2800"/>
              <a:t>IsReady</a:t>
            </a:r>
          </a:p>
          <a:p>
            <a:pPr lvl="1" eaLnBrk="1" hangingPunct="1"/>
            <a:r>
              <a:rPr lang="en-US" altLang="zh-CN" sz="2400"/>
              <a:t>HotWaterSource</a:t>
            </a:r>
            <a:r>
              <a:rPr lang="zh-CN" altLang="en-US" sz="2400"/>
              <a:t>和</a:t>
            </a:r>
            <a:r>
              <a:rPr lang="en-US" altLang="zh-CN" sz="2400"/>
              <a:t>ContainmentVessel</a:t>
            </a:r>
            <a:r>
              <a:rPr lang="zh-CN" altLang="en-US" sz="2400"/>
              <a:t>都不知道如何判断，所以其中</a:t>
            </a:r>
            <a:r>
              <a:rPr lang="en-US" altLang="zh-CN" sz="2400"/>
              <a:t>isReady</a:t>
            </a:r>
            <a:r>
              <a:rPr lang="zh-CN" altLang="en-US" sz="2400"/>
              <a:t>方法都只能是抽象方法</a:t>
            </a:r>
          </a:p>
          <a:p>
            <a:pPr eaLnBrk="1" hangingPunct="1"/>
            <a:r>
              <a:rPr lang="zh-CN" altLang="en-US" sz="2800"/>
              <a:t>为了实现这些操作，必须添加相应的硬件</a:t>
            </a:r>
            <a:r>
              <a:rPr lang="en-US" altLang="zh-CN" sz="2800"/>
              <a:t>API</a:t>
            </a:r>
            <a:r>
              <a:rPr lang="zh-CN" altLang="en-US" sz="2800"/>
              <a:t>代码，而这些代码实现应该放在何处？</a:t>
            </a:r>
            <a:endParaRPr lang="en-US" altLang="zh-CN" sz="28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D598EC3F-A38B-49FC-90AA-3330CABFDE36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73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7782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利用泛化</a:t>
            </a:r>
            <a:r>
              <a:rPr lang="en-US" altLang="zh-CN"/>
              <a:t>(</a:t>
            </a:r>
            <a:r>
              <a:rPr lang="zh-CN" altLang="en-US"/>
              <a:t>实现</a:t>
            </a:r>
            <a:r>
              <a:rPr lang="en-US" altLang="zh-CN"/>
              <a:t>)</a:t>
            </a:r>
            <a:r>
              <a:rPr lang="zh-CN" altLang="en-US"/>
              <a:t>关系添加细节</a:t>
            </a:r>
            <a:endParaRPr lang="en-US" altLang="zh-CN"/>
          </a:p>
        </p:txBody>
      </p:sp>
      <p:pic>
        <p:nvPicPr>
          <p:cNvPr id="7782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1" y="1341438"/>
            <a:ext cx="2454275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288" name="AutoShape 8"/>
          <p:cNvSpPr>
            <a:spLocks/>
          </p:cNvSpPr>
          <p:nvPr/>
        </p:nvSpPr>
        <p:spPr bwMode="auto">
          <a:xfrm>
            <a:off x="5303838" y="1485900"/>
            <a:ext cx="4895850" cy="1079500"/>
          </a:xfrm>
          <a:prstGeom prst="borderCallout2">
            <a:avLst>
              <a:gd name="adj1" fmla="val 10588"/>
              <a:gd name="adj2" fmla="val -1556"/>
              <a:gd name="adj3" fmla="val 10588"/>
              <a:gd name="adj4" fmla="val -20296"/>
              <a:gd name="adj5" fmla="val 108384"/>
              <a:gd name="adj6" fmla="val -39722"/>
            </a:avLst>
          </a:prstGeom>
          <a:noFill/>
          <a:ln w="25400">
            <a:solidFill>
              <a:srgbClr val="8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3200" b="0">
                <a:latin typeface="Times New Roman" panose="02020603050405020304" pitchFamily="18" charset="0"/>
                <a:ea typeface="微软雅黑" panose="020B0503020204020204" pitchFamily="34" charset="-122"/>
              </a:rPr>
              <a:t>抽象类的抽象操作，保持该类的稳定性，满足</a:t>
            </a:r>
            <a:r>
              <a:rPr lang="en-US" altLang="zh-CN" sz="3200" b="0">
                <a:latin typeface="Times New Roman" panose="02020603050405020304" pitchFamily="18" charset="0"/>
                <a:ea typeface="微软雅黑" panose="020B0503020204020204" pitchFamily="34" charset="-122"/>
              </a:rPr>
              <a:t>OCP</a:t>
            </a:r>
          </a:p>
        </p:txBody>
      </p:sp>
      <p:sp>
        <p:nvSpPr>
          <p:cNvPr id="225289" name="AutoShape 9"/>
          <p:cNvSpPr>
            <a:spLocks/>
          </p:cNvSpPr>
          <p:nvPr/>
        </p:nvSpPr>
        <p:spPr bwMode="auto">
          <a:xfrm>
            <a:off x="5303838" y="3716338"/>
            <a:ext cx="4895850" cy="1079500"/>
          </a:xfrm>
          <a:prstGeom prst="borderCallout2">
            <a:avLst>
              <a:gd name="adj1" fmla="val 10588"/>
              <a:gd name="adj2" fmla="val -1556"/>
              <a:gd name="adj3" fmla="val 10588"/>
              <a:gd name="adj4" fmla="val -16991"/>
              <a:gd name="adj5" fmla="val 139264"/>
              <a:gd name="adj6" fmla="val -33009"/>
            </a:avLst>
          </a:prstGeom>
          <a:noFill/>
          <a:ln w="25400">
            <a:solidFill>
              <a:srgbClr val="8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3200" b="0">
                <a:latin typeface="Times New Roman" panose="02020603050405020304" pitchFamily="18" charset="0"/>
                <a:ea typeface="微软雅黑" panose="020B0503020204020204" pitchFamily="34" charset="-122"/>
              </a:rPr>
              <a:t>具体的代码实现交由具体类来实现</a:t>
            </a:r>
            <a:endParaRPr lang="en-US" altLang="zh-CN" sz="3200" b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5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8" grpId="0" animBg="1"/>
      <p:bldP spid="22528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AD5ADB4A-8849-4E65-A97E-04021E0D8BF3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74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7885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解决方案</a:t>
            </a:r>
          </a:p>
        </p:txBody>
      </p:sp>
      <p:pic>
        <p:nvPicPr>
          <p:cNvPr id="2050" name="图片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824" y="1124744"/>
            <a:ext cx="8374976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824" y="1124744"/>
            <a:ext cx="8374976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2ABE41BD-1DB2-448F-A346-035B495387D2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75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7987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这就是</a:t>
            </a:r>
            <a:r>
              <a:rPr lang="en-US" altLang="zh-CN"/>
              <a:t>DIP</a:t>
            </a:r>
          </a:p>
        </p:txBody>
      </p:sp>
      <p:sp>
        <p:nvSpPr>
          <p:cNvPr id="211971" name="Freeform 3"/>
          <p:cNvSpPr>
            <a:spLocks/>
          </p:cNvSpPr>
          <p:nvPr/>
        </p:nvSpPr>
        <p:spPr bwMode="auto">
          <a:xfrm>
            <a:off x="2784476" y="980729"/>
            <a:ext cx="6696075" cy="3240087"/>
          </a:xfrm>
          <a:custGeom>
            <a:avLst/>
            <a:gdLst>
              <a:gd name="T0" fmla="*/ 34490239 w 4111"/>
              <a:gd name="T1" fmla="*/ 940898400 h 2102"/>
              <a:gd name="T2" fmla="*/ 254693525 w 4111"/>
              <a:gd name="T3" fmla="*/ 2147483647 h 2102"/>
              <a:gd name="T4" fmla="*/ 294488812 w 4111"/>
              <a:gd name="T5" fmla="*/ 2147483647 h 2102"/>
              <a:gd name="T6" fmla="*/ 374079387 w 4111"/>
              <a:gd name="T7" fmla="*/ 2147483647 h 2102"/>
              <a:gd name="T8" fmla="*/ 493466980 w 4111"/>
              <a:gd name="T9" fmla="*/ 2147483647 h 2102"/>
              <a:gd name="T10" fmla="*/ 769383905 w 4111"/>
              <a:gd name="T11" fmla="*/ 2147483647 h 2102"/>
              <a:gd name="T12" fmla="*/ 989587305 w 4111"/>
              <a:gd name="T13" fmla="*/ 2147483647 h 2102"/>
              <a:gd name="T14" fmla="*/ 1066526164 w 4111"/>
              <a:gd name="T15" fmla="*/ 2147483647 h 2102"/>
              <a:gd name="T16" fmla="*/ 1185913655 w 4111"/>
              <a:gd name="T17" fmla="*/ 2147483647 h 2102"/>
              <a:gd name="T18" fmla="*/ 1207138786 w 4111"/>
              <a:gd name="T19" fmla="*/ 2147483647 h 2102"/>
              <a:gd name="T20" fmla="*/ 1265505859 w 4111"/>
              <a:gd name="T21" fmla="*/ 2147483647 h 2102"/>
              <a:gd name="T22" fmla="*/ 1504279212 w 4111"/>
              <a:gd name="T23" fmla="*/ 2147483647 h 2102"/>
              <a:gd name="T24" fmla="*/ 1721829471 w 4111"/>
              <a:gd name="T25" fmla="*/ 2147483647 h 2102"/>
              <a:gd name="T26" fmla="*/ 1960604453 w 4111"/>
              <a:gd name="T27" fmla="*/ 2147483647 h 2102"/>
              <a:gd name="T28" fmla="*/ 2079991945 w 4111"/>
              <a:gd name="T29" fmla="*/ 2147483647 h 2102"/>
              <a:gd name="T30" fmla="*/ 2147483647 w 4111"/>
              <a:gd name="T31" fmla="*/ 2147483647 h 2102"/>
              <a:gd name="T32" fmla="*/ 2147483647 w 4111"/>
              <a:gd name="T33" fmla="*/ 2147483647 h 2102"/>
              <a:gd name="T34" fmla="*/ 2147483647 w 4111"/>
              <a:gd name="T35" fmla="*/ 2147483647 h 2102"/>
              <a:gd name="T36" fmla="*/ 2147483647 w 4111"/>
              <a:gd name="T37" fmla="*/ 2147483647 h 2102"/>
              <a:gd name="T38" fmla="*/ 2147483647 w 4111"/>
              <a:gd name="T39" fmla="*/ 2147483647 h 2102"/>
              <a:gd name="T40" fmla="*/ 2147483647 w 4111"/>
              <a:gd name="T41" fmla="*/ 2147483647 h 2102"/>
              <a:gd name="T42" fmla="*/ 2147483647 w 4111"/>
              <a:gd name="T43" fmla="*/ 2147483647 h 2102"/>
              <a:gd name="T44" fmla="*/ 2147483647 w 4111"/>
              <a:gd name="T45" fmla="*/ 2147483647 h 2102"/>
              <a:gd name="T46" fmla="*/ 2147483647 w 4111"/>
              <a:gd name="T47" fmla="*/ 2147483647 h 2102"/>
              <a:gd name="T48" fmla="*/ 2147483647 w 4111"/>
              <a:gd name="T49" fmla="*/ 2147483647 h 2102"/>
              <a:gd name="T50" fmla="*/ 2147483647 w 4111"/>
              <a:gd name="T51" fmla="*/ 2147483647 h 2102"/>
              <a:gd name="T52" fmla="*/ 2147483647 w 4111"/>
              <a:gd name="T53" fmla="*/ 2147483647 h 2102"/>
              <a:gd name="T54" fmla="*/ 2147483647 w 4111"/>
              <a:gd name="T55" fmla="*/ 2147483647 h 2102"/>
              <a:gd name="T56" fmla="*/ 2147483647 w 4111"/>
              <a:gd name="T57" fmla="*/ 2147483647 h 2102"/>
              <a:gd name="T58" fmla="*/ 2147483647 w 4111"/>
              <a:gd name="T59" fmla="*/ 2147483647 h 2102"/>
              <a:gd name="T60" fmla="*/ 2147483647 w 4111"/>
              <a:gd name="T61" fmla="*/ 2147483647 h 2102"/>
              <a:gd name="T62" fmla="*/ 2147483647 w 4111"/>
              <a:gd name="T63" fmla="*/ 1154739418 h 2102"/>
              <a:gd name="T64" fmla="*/ 2147483647 w 4111"/>
              <a:gd name="T65" fmla="*/ 924266372 h 2102"/>
              <a:gd name="T66" fmla="*/ 2147483647 w 4111"/>
              <a:gd name="T67" fmla="*/ 710426702 h 2102"/>
              <a:gd name="T68" fmla="*/ 2147483647 w 4111"/>
              <a:gd name="T69" fmla="*/ 408673317 h 2102"/>
              <a:gd name="T70" fmla="*/ 2147483647 w 4111"/>
              <a:gd name="T71" fmla="*/ 337392881 h 2102"/>
              <a:gd name="T72" fmla="*/ 2147483647 w 4111"/>
              <a:gd name="T73" fmla="*/ 282744569 h 2102"/>
              <a:gd name="T74" fmla="*/ 1106321451 w 4111"/>
              <a:gd name="T75" fmla="*/ 318385510 h 2102"/>
              <a:gd name="T76" fmla="*/ 729588617 w 4111"/>
              <a:gd name="T77" fmla="*/ 389665849 h 2102"/>
              <a:gd name="T78" fmla="*/ 432446562 w 4111"/>
              <a:gd name="T79" fmla="*/ 460944744 h 2102"/>
              <a:gd name="T80" fmla="*/ 374079387 w 4111"/>
              <a:gd name="T81" fmla="*/ 496585684 h 2102"/>
              <a:gd name="T82" fmla="*/ 313060598 w 4111"/>
              <a:gd name="T83" fmla="*/ 513217712 h 2102"/>
              <a:gd name="T84" fmla="*/ 175101270 w 4111"/>
              <a:gd name="T85" fmla="*/ 674785762 h 2102"/>
              <a:gd name="T86" fmla="*/ 74285539 w 4111"/>
              <a:gd name="T87" fmla="*/ 833978661 h 2102"/>
              <a:gd name="T88" fmla="*/ 34490239 w 4111"/>
              <a:gd name="T89" fmla="*/ 940898400 h 2102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4111"/>
              <a:gd name="T136" fmla="*/ 0 h 2102"/>
              <a:gd name="T137" fmla="*/ 4111 w 4111"/>
              <a:gd name="T138" fmla="*/ 2102 h 2102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4111" h="2102">
                <a:moveTo>
                  <a:pt x="13" y="396"/>
                </a:moveTo>
                <a:cubicBezTo>
                  <a:pt x="17" y="537"/>
                  <a:pt x="0" y="818"/>
                  <a:pt x="96" y="965"/>
                </a:cubicBezTo>
                <a:cubicBezTo>
                  <a:pt x="98" y="971"/>
                  <a:pt x="108" y="1004"/>
                  <a:pt x="111" y="1009"/>
                </a:cubicBezTo>
                <a:cubicBezTo>
                  <a:pt x="120" y="1025"/>
                  <a:pt x="141" y="1054"/>
                  <a:pt x="141" y="1054"/>
                </a:cubicBezTo>
                <a:cubicBezTo>
                  <a:pt x="150" y="1085"/>
                  <a:pt x="168" y="1117"/>
                  <a:pt x="186" y="1144"/>
                </a:cubicBezTo>
                <a:cubicBezTo>
                  <a:pt x="206" y="1211"/>
                  <a:pt x="252" y="1258"/>
                  <a:pt x="290" y="1316"/>
                </a:cubicBezTo>
                <a:cubicBezTo>
                  <a:pt x="315" y="1354"/>
                  <a:pt x="335" y="1396"/>
                  <a:pt x="373" y="1421"/>
                </a:cubicBezTo>
                <a:cubicBezTo>
                  <a:pt x="379" y="1433"/>
                  <a:pt x="392" y="1462"/>
                  <a:pt x="402" y="1473"/>
                </a:cubicBezTo>
                <a:cubicBezTo>
                  <a:pt x="416" y="1489"/>
                  <a:pt x="447" y="1518"/>
                  <a:pt x="447" y="1518"/>
                </a:cubicBezTo>
                <a:cubicBezTo>
                  <a:pt x="450" y="1528"/>
                  <a:pt x="449" y="1539"/>
                  <a:pt x="455" y="1548"/>
                </a:cubicBezTo>
                <a:cubicBezTo>
                  <a:pt x="460" y="1555"/>
                  <a:pt x="471" y="1557"/>
                  <a:pt x="477" y="1563"/>
                </a:cubicBezTo>
                <a:cubicBezTo>
                  <a:pt x="506" y="1592"/>
                  <a:pt x="529" y="1619"/>
                  <a:pt x="567" y="1638"/>
                </a:cubicBezTo>
                <a:cubicBezTo>
                  <a:pt x="586" y="1666"/>
                  <a:pt x="616" y="1695"/>
                  <a:pt x="649" y="1705"/>
                </a:cubicBezTo>
                <a:cubicBezTo>
                  <a:pt x="679" y="1724"/>
                  <a:pt x="708" y="1737"/>
                  <a:pt x="739" y="1757"/>
                </a:cubicBezTo>
                <a:cubicBezTo>
                  <a:pt x="752" y="1766"/>
                  <a:pt x="784" y="1772"/>
                  <a:pt x="784" y="1772"/>
                </a:cubicBezTo>
                <a:cubicBezTo>
                  <a:pt x="813" y="1802"/>
                  <a:pt x="864" y="1826"/>
                  <a:pt x="904" y="1840"/>
                </a:cubicBezTo>
                <a:cubicBezTo>
                  <a:pt x="985" y="1921"/>
                  <a:pt x="1156" y="1971"/>
                  <a:pt x="1270" y="1989"/>
                </a:cubicBezTo>
                <a:cubicBezTo>
                  <a:pt x="1355" y="2019"/>
                  <a:pt x="1462" y="2004"/>
                  <a:pt x="1554" y="2012"/>
                </a:cubicBezTo>
                <a:cubicBezTo>
                  <a:pt x="1621" y="2032"/>
                  <a:pt x="1690" y="2043"/>
                  <a:pt x="1756" y="2064"/>
                </a:cubicBezTo>
                <a:cubicBezTo>
                  <a:pt x="3346" y="2054"/>
                  <a:pt x="2456" y="2102"/>
                  <a:pt x="3036" y="2012"/>
                </a:cubicBezTo>
                <a:cubicBezTo>
                  <a:pt x="3108" y="1986"/>
                  <a:pt x="3186" y="1971"/>
                  <a:pt x="3260" y="1952"/>
                </a:cubicBezTo>
                <a:cubicBezTo>
                  <a:pt x="3310" y="1939"/>
                  <a:pt x="3359" y="1923"/>
                  <a:pt x="3410" y="1915"/>
                </a:cubicBezTo>
                <a:cubicBezTo>
                  <a:pt x="3456" y="1898"/>
                  <a:pt x="3498" y="1879"/>
                  <a:pt x="3544" y="1862"/>
                </a:cubicBezTo>
                <a:cubicBezTo>
                  <a:pt x="3581" y="1827"/>
                  <a:pt x="3557" y="1847"/>
                  <a:pt x="3612" y="1810"/>
                </a:cubicBezTo>
                <a:cubicBezTo>
                  <a:pt x="3619" y="1805"/>
                  <a:pt x="3634" y="1795"/>
                  <a:pt x="3634" y="1795"/>
                </a:cubicBezTo>
                <a:cubicBezTo>
                  <a:pt x="3661" y="1753"/>
                  <a:pt x="3704" y="1718"/>
                  <a:pt x="3746" y="1690"/>
                </a:cubicBezTo>
                <a:cubicBezTo>
                  <a:pt x="3779" y="1641"/>
                  <a:pt x="3740" y="1689"/>
                  <a:pt x="3784" y="1660"/>
                </a:cubicBezTo>
                <a:cubicBezTo>
                  <a:pt x="3816" y="1639"/>
                  <a:pt x="3804" y="1620"/>
                  <a:pt x="3844" y="1608"/>
                </a:cubicBezTo>
                <a:cubicBezTo>
                  <a:pt x="3863" y="1576"/>
                  <a:pt x="3895" y="1556"/>
                  <a:pt x="3918" y="1526"/>
                </a:cubicBezTo>
                <a:cubicBezTo>
                  <a:pt x="3982" y="1443"/>
                  <a:pt x="4018" y="1346"/>
                  <a:pt x="4053" y="1249"/>
                </a:cubicBezTo>
                <a:cubicBezTo>
                  <a:pt x="4065" y="1169"/>
                  <a:pt x="4084" y="1089"/>
                  <a:pt x="4098" y="1009"/>
                </a:cubicBezTo>
                <a:cubicBezTo>
                  <a:pt x="4111" y="780"/>
                  <a:pt x="4111" y="846"/>
                  <a:pt x="4098" y="486"/>
                </a:cubicBezTo>
                <a:cubicBezTo>
                  <a:pt x="4097" y="456"/>
                  <a:pt x="4048" y="413"/>
                  <a:pt x="4031" y="389"/>
                </a:cubicBezTo>
                <a:cubicBezTo>
                  <a:pt x="4007" y="354"/>
                  <a:pt x="3993" y="324"/>
                  <a:pt x="3956" y="299"/>
                </a:cubicBezTo>
                <a:cubicBezTo>
                  <a:pt x="3847" y="226"/>
                  <a:pt x="3658" y="184"/>
                  <a:pt x="3529" y="172"/>
                </a:cubicBezTo>
                <a:cubicBezTo>
                  <a:pt x="3056" y="0"/>
                  <a:pt x="2522" y="145"/>
                  <a:pt x="2018" y="142"/>
                </a:cubicBezTo>
                <a:cubicBezTo>
                  <a:pt x="1622" y="135"/>
                  <a:pt x="1225" y="134"/>
                  <a:pt x="829" y="119"/>
                </a:cubicBezTo>
                <a:cubicBezTo>
                  <a:pt x="704" y="100"/>
                  <a:pt x="541" y="130"/>
                  <a:pt x="417" y="134"/>
                </a:cubicBezTo>
                <a:cubicBezTo>
                  <a:pt x="369" y="145"/>
                  <a:pt x="323" y="157"/>
                  <a:pt x="275" y="164"/>
                </a:cubicBezTo>
                <a:cubicBezTo>
                  <a:pt x="240" y="181"/>
                  <a:pt x="163" y="194"/>
                  <a:pt x="163" y="194"/>
                </a:cubicBezTo>
                <a:cubicBezTo>
                  <a:pt x="156" y="199"/>
                  <a:pt x="149" y="205"/>
                  <a:pt x="141" y="209"/>
                </a:cubicBezTo>
                <a:cubicBezTo>
                  <a:pt x="134" y="213"/>
                  <a:pt x="124" y="210"/>
                  <a:pt x="118" y="216"/>
                </a:cubicBezTo>
                <a:cubicBezTo>
                  <a:pt x="98" y="236"/>
                  <a:pt x="86" y="263"/>
                  <a:pt x="66" y="284"/>
                </a:cubicBezTo>
                <a:cubicBezTo>
                  <a:pt x="57" y="308"/>
                  <a:pt x="28" y="351"/>
                  <a:pt x="28" y="351"/>
                </a:cubicBezTo>
                <a:cubicBezTo>
                  <a:pt x="19" y="381"/>
                  <a:pt x="24" y="366"/>
                  <a:pt x="13" y="396"/>
                </a:cubicBez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  <a:fld id="{CD884A08-6D7B-4955-91CB-561EF16F35D7}" type="slidenum">
              <a:rPr lang="en-US" altLang="zh-CN" sz="1200" b="0">
                <a:solidFill>
                  <a:srgbClr val="4D4D4D"/>
                </a:solidFill>
                <a:latin typeface="Arial" charset="0"/>
              </a:rPr>
              <a:pPr eaLnBrk="1" hangingPunct="1"/>
              <a:t>76</a:t>
            </a:fld>
            <a:r>
              <a:rPr lang="en-US" altLang="zh-CN" sz="1200" b="0">
                <a:solidFill>
                  <a:srgbClr val="4D4D4D"/>
                </a:solidFill>
                <a:latin typeface="Arial" charset="0"/>
              </a:rPr>
              <a:t>-</a:t>
            </a:r>
          </a:p>
        </p:txBody>
      </p:sp>
      <p:sp>
        <p:nvSpPr>
          <p:cNvPr id="8090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DIP</a:t>
            </a:r>
            <a:r>
              <a:rPr lang="zh-CN" altLang="en-US"/>
              <a:t>的本质</a:t>
            </a:r>
            <a:endParaRPr lang="en-US" altLang="zh-CN"/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通过</a:t>
            </a:r>
            <a:r>
              <a:rPr lang="zh-CN" altLang="en-US" dirty="0">
                <a:solidFill>
                  <a:srgbClr val="FF0000"/>
                </a:solidFill>
              </a:rPr>
              <a:t>抽象提取业务本质</a:t>
            </a:r>
            <a:r>
              <a:rPr lang="zh-CN" altLang="en-US" dirty="0"/>
              <a:t>，并建立一个稳定的结构描述这个本质</a:t>
            </a:r>
          </a:p>
          <a:p>
            <a:pPr eaLnBrk="1" hangingPunct="1"/>
            <a:r>
              <a:rPr lang="zh-CN" altLang="en-US" dirty="0"/>
              <a:t>对于具体的业务规则的处理是在这个本质的基础上的</a:t>
            </a:r>
            <a:r>
              <a:rPr lang="zh-CN" altLang="en-US" dirty="0">
                <a:solidFill>
                  <a:srgbClr val="FF0000"/>
                </a:solidFill>
              </a:rPr>
              <a:t>扩展</a:t>
            </a:r>
          </a:p>
          <a:p>
            <a:pPr eaLnBrk="1" hangingPunct="1"/>
            <a:r>
              <a:rPr lang="zh-CN" altLang="en-US" dirty="0"/>
              <a:t>技术、工具、意识形态等的发展可能使业务规则不断变化，但</a:t>
            </a:r>
            <a:r>
              <a:rPr lang="zh-CN" altLang="en-US" dirty="0">
                <a:solidFill>
                  <a:srgbClr val="FF0000"/>
                </a:solidFill>
              </a:rPr>
              <a:t>本质不变</a:t>
            </a:r>
            <a:r>
              <a:rPr lang="zh-CN" altLang="en-US" dirty="0"/>
              <a:t>；而</a:t>
            </a:r>
            <a:r>
              <a:rPr lang="en-US" altLang="zh-CN" dirty="0"/>
              <a:t>DIP</a:t>
            </a:r>
            <a:r>
              <a:rPr lang="zh-CN" altLang="en-US" dirty="0"/>
              <a:t>则帮助我们轻松的适应这些变更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6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7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6625" y="1928816"/>
            <a:ext cx="7772400" cy="1755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8800" dirty="0"/>
              <a:t>谢 谢</a:t>
            </a:r>
            <a:r>
              <a:rPr lang="en-US" altLang="zh-CN" sz="8800" dirty="0"/>
              <a:t>!</a:t>
            </a:r>
            <a:endParaRPr lang="zh-CN" altLang="en-US" sz="880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模板">
  <a:themeElements>
    <a:clrScheme name="模板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模板">
      <a:majorFont>
        <a:latin typeface="Tahoma"/>
        <a:ea typeface="幼圆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模板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1240</TotalTime>
  <Words>4911</Words>
  <Application>Microsoft Office PowerPoint</Application>
  <PresentationFormat>宽屏</PresentationFormat>
  <Paragraphs>632</Paragraphs>
  <Slides>77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88" baseType="lpstr">
      <vt:lpstr>华文楷体</vt:lpstr>
      <vt:lpstr>隶书</vt:lpstr>
      <vt:lpstr>宋体</vt:lpstr>
      <vt:lpstr>微软雅黑</vt:lpstr>
      <vt:lpstr>幼圆</vt:lpstr>
      <vt:lpstr>Arial</vt:lpstr>
      <vt:lpstr>Monotype Corsiva</vt:lpstr>
      <vt:lpstr>Tahoma</vt:lpstr>
      <vt:lpstr>Times New Roman</vt:lpstr>
      <vt:lpstr>Wingdings</vt:lpstr>
      <vt:lpstr>模板</vt:lpstr>
      <vt:lpstr>UML2面向对象分析与设计 Object-Oriented Analysis &amp; Design with UML2</vt:lpstr>
      <vt:lpstr>学习路线图</vt:lpstr>
      <vt:lpstr>第06章 面向对象的设计原则</vt:lpstr>
      <vt:lpstr>从问题开始！</vt:lpstr>
      <vt:lpstr>开始设计：正方形</vt:lpstr>
      <vt:lpstr>设计方案正确吗？</vt:lpstr>
      <vt:lpstr>为什么会出现问题？</vt:lpstr>
      <vt:lpstr>面向对象的设计原则</vt:lpstr>
      <vt:lpstr>设计目标</vt:lpstr>
      <vt:lpstr>设计质量：培养灵敏的嗅觉</vt:lpstr>
      <vt:lpstr>设计质量：坏的设计</vt:lpstr>
      <vt:lpstr>设计质量：好的设计</vt:lpstr>
      <vt:lpstr>面向对象的基本设计原则</vt:lpstr>
      <vt:lpstr>LSP</vt:lpstr>
      <vt:lpstr>违背LSP原则</vt:lpstr>
      <vt:lpstr>怎么办？</vt:lpstr>
      <vt:lpstr>抽象类与具体类</vt:lpstr>
      <vt:lpstr>解决方案</vt:lpstr>
      <vt:lpstr>由LSP引发的思考</vt:lpstr>
      <vt:lpstr>OCP</vt:lpstr>
      <vt:lpstr>OCP的关键在于抽象</vt:lpstr>
      <vt:lpstr>范例：手与门</vt:lpstr>
      <vt:lpstr>设计实现</vt:lpstr>
      <vt:lpstr>新的需求……</vt:lpstr>
      <vt:lpstr>解决新的需求：修改设计</vt:lpstr>
      <vt:lpstr>符合OCP的设计方案</vt:lpstr>
      <vt:lpstr>新的实现</vt:lpstr>
      <vt:lpstr>新的需求……</vt:lpstr>
      <vt:lpstr>关于OCP</vt:lpstr>
      <vt:lpstr>SRP</vt:lpstr>
      <vt:lpstr>SRP本质</vt:lpstr>
      <vt:lpstr>违反SRP的案例</vt:lpstr>
      <vt:lpstr>解决方案</vt:lpstr>
      <vt:lpstr>ISP</vt:lpstr>
      <vt:lpstr>接口污染</vt:lpstr>
      <vt:lpstr>解决方案：分离接口</vt:lpstr>
      <vt:lpstr>ISP本质</vt:lpstr>
      <vt:lpstr>DIP</vt:lpstr>
      <vt:lpstr>传统的依赖关系</vt:lpstr>
      <vt:lpstr>符合DIP的系统</vt:lpstr>
      <vt:lpstr>启发式原则</vt:lpstr>
      <vt:lpstr>DIP经典案例-Mark IV咖啡机</vt:lpstr>
      <vt:lpstr>硬件设施</vt:lpstr>
      <vt:lpstr>相关API-1</vt:lpstr>
      <vt:lpstr>相关API-2</vt:lpstr>
      <vt:lpstr>相关API-3</vt:lpstr>
      <vt:lpstr>开始分析、设计工作…</vt:lpstr>
      <vt:lpstr>常见的设计方案</vt:lpstr>
      <vt:lpstr>这个设计存在问题？</vt:lpstr>
      <vt:lpstr>泡泡类（Vapor Classes）</vt:lpstr>
      <vt:lpstr>无用的抽象</vt:lpstr>
      <vt:lpstr>上帝类(God Classes)</vt:lpstr>
      <vt:lpstr> 问题出在哪里？</vt:lpstr>
      <vt:lpstr>关于抽象</vt:lpstr>
      <vt:lpstr>抽象：把握现实世界的本质</vt:lpstr>
      <vt:lpstr>什么是真正的抽象？</vt:lpstr>
      <vt:lpstr>我们怎么冲咖啡？</vt:lpstr>
      <vt:lpstr>有了UI的咖啡机</vt:lpstr>
      <vt:lpstr>这三个对象能解决需求吗？</vt:lpstr>
      <vt:lpstr> 用例分析：“加热”用例-1</vt:lpstr>
      <vt:lpstr>通信图Communication Diagram</vt:lpstr>
      <vt:lpstr>通信图剖析</vt:lpstr>
      <vt:lpstr>通信图-推荐的使用场合</vt:lpstr>
      <vt:lpstr>通信图与顺序图对比</vt:lpstr>
      <vt:lpstr>用例分析：“加热”用例-2</vt:lpstr>
      <vt:lpstr>用例分析：“加热”用例-2</vt:lpstr>
      <vt:lpstr>用例分析：更多用例……</vt:lpstr>
      <vt:lpstr>由通信图产生类图</vt:lpstr>
      <vt:lpstr>我们得到的是“咖啡机”</vt:lpstr>
      <vt:lpstr>以MarkIV角度审视用例</vt:lpstr>
      <vt:lpstr>添加操作后的系统类图</vt:lpstr>
      <vt:lpstr>操作如何实现具体？</vt:lpstr>
      <vt:lpstr>利用泛化(实现)关系添加细节</vt:lpstr>
      <vt:lpstr>解决方案</vt:lpstr>
      <vt:lpstr>这就是DIP</vt:lpstr>
      <vt:lpstr>DIP的本质</vt:lpstr>
      <vt:lpstr>谢 谢!</vt:lpstr>
    </vt:vector>
  </TitlesOfParts>
  <Company>buaa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面向对象分析设计课程讲义</dc:title>
  <dc:creator>thbin</dc:creator>
  <cp:lastModifiedBy>Tan Huobin</cp:lastModifiedBy>
  <cp:revision>480</cp:revision>
  <cp:lastPrinted>1601-01-01T00:00:00Z</cp:lastPrinted>
  <dcterms:created xsi:type="dcterms:W3CDTF">2005-09-05T02:45:08Z</dcterms:created>
  <dcterms:modified xsi:type="dcterms:W3CDTF">2020-03-29T03:00:55Z</dcterms:modified>
  <cp:category>UML</cp:category>
</cp:coreProperties>
</file>