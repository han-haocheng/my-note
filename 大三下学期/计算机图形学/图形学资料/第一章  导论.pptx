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gif" ContentType="image/gi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0" r:id="rId3"/>
  </p:sldMasterIdLst>
  <p:notesMasterIdLst>
    <p:notesMasterId r:id="rId96"/>
  </p:notesMasterIdLst>
  <p:sldIdLst>
    <p:sldId id="257" r:id="rId4"/>
    <p:sldId id="524" r:id="rId5"/>
    <p:sldId id="260" r:id="rId6"/>
    <p:sldId id="292" r:id="rId7"/>
    <p:sldId id="374" r:id="rId8"/>
    <p:sldId id="486" r:id="rId9"/>
    <p:sldId id="494" r:id="rId10"/>
    <p:sldId id="516" r:id="rId11"/>
    <p:sldId id="485" r:id="rId12"/>
    <p:sldId id="375" r:id="rId13"/>
    <p:sldId id="380" r:id="rId14"/>
    <p:sldId id="385" r:id="rId15"/>
    <p:sldId id="398" r:id="rId16"/>
    <p:sldId id="273" r:id="rId17"/>
    <p:sldId id="450" r:id="rId18"/>
    <p:sldId id="274" r:id="rId19"/>
    <p:sldId id="275" r:id="rId20"/>
    <p:sldId id="399" r:id="rId21"/>
    <p:sldId id="487" r:id="rId22"/>
    <p:sldId id="457" r:id="rId23"/>
    <p:sldId id="488" r:id="rId24"/>
    <p:sldId id="462" r:id="rId25"/>
    <p:sldId id="461" r:id="rId26"/>
    <p:sldId id="459" r:id="rId27"/>
    <p:sldId id="460" r:id="rId28"/>
    <p:sldId id="521" r:id="rId29"/>
    <p:sldId id="466" r:id="rId30"/>
    <p:sldId id="456" r:id="rId31"/>
    <p:sldId id="454" r:id="rId32"/>
    <p:sldId id="522" r:id="rId33"/>
    <p:sldId id="523" r:id="rId34"/>
    <p:sldId id="455" r:id="rId35"/>
    <p:sldId id="404" r:id="rId36"/>
    <p:sldId id="508" r:id="rId37"/>
    <p:sldId id="303" r:id="rId38"/>
    <p:sldId id="304" r:id="rId39"/>
    <p:sldId id="269" r:id="rId40"/>
    <p:sldId id="481" r:id="rId41"/>
    <p:sldId id="515" r:id="rId42"/>
    <p:sldId id="482" r:id="rId43"/>
    <p:sldId id="492" r:id="rId44"/>
    <p:sldId id="493" r:id="rId45"/>
    <p:sldId id="272" r:id="rId46"/>
    <p:sldId id="520" r:id="rId47"/>
    <p:sldId id="469" r:id="rId48"/>
    <p:sldId id="394" r:id="rId49"/>
    <p:sldId id="395" r:id="rId50"/>
    <p:sldId id="406" r:id="rId51"/>
    <p:sldId id="408" r:id="rId52"/>
    <p:sldId id="409" r:id="rId53"/>
    <p:sldId id="412" r:id="rId54"/>
    <p:sldId id="527" r:id="rId55"/>
    <p:sldId id="434" r:id="rId56"/>
    <p:sldId id="435" r:id="rId57"/>
    <p:sldId id="436" r:id="rId58"/>
    <p:sldId id="437" r:id="rId59"/>
    <p:sldId id="438" r:id="rId60"/>
    <p:sldId id="433" r:id="rId61"/>
    <p:sldId id="413" r:id="rId62"/>
    <p:sldId id="525" r:id="rId63"/>
    <p:sldId id="414" r:id="rId64"/>
    <p:sldId id="440" r:id="rId65"/>
    <p:sldId id="514" r:id="rId66"/>
    <p:sldId id="441" r:id="rId67"/>
    <p:sldId id="495" r:id="rId68"/>
    <p:sldId id="497" r:id="rId69"/>
    <p:sldId id="499" r:id="rId70"/>
    <p:sldId id="500" r:id="rId71"/>
    <p:sldId id="501" r:id="rId72"/>
    <p:sldId id="526" r:id="rId73"/>
    <p:sldId id="498" r:id="rId74"/>
    <p:sldId id="446" r:id="rId75"/>
    <p:sldId id="513" r:id="rId76"/>
    <p:sldId id="447" r:id="rId77"/>
    <p:sldId id="510" r:id="rId78"/>
    <p:sldId id="511" r:id="rId79"/>
    <p:sldId id="512" r:id="rId80"/>
    <p:sldId id="502" r:id="rId81"/>
    <p:sldId id="448" r:id="rId82"/>
    <p:sldId id="503" r:id="rId83"/>
    <p:sldId id="449" r:id="rId84"/>
    <p:sldId id="519" r:id="rId85"/>
    <p:sldId id="430" r:id="rId86"/>
    <p:sldId id="517" r:id="rId87"/>
    <p:sldId id="464" r:id="rId88"/>
    <p:sldId id="518" r:id="rId89"/>
    <p:sldId id="472" r:id="rId90"/>
    <p:sldId id="483" r:id="rId91"/>
    <p:sldId id="504" r:id="rId92"/>
    <p:sldId id="506" r:id="rId93"/>
    <p:sldId id="505" r:id="rId94"/>
    <p:sldId id="507" r:id="rId95"/>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100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chemeClr val="tx1"/>
    </p:penClr>
    <p:extLst>
      <p:ext uri="{2FDB2607-1784-4EEB-B798-7EB5836EED8A}">
        <p14:showMediaCtrls xmlns:p14="http://schemas.microsoft.com/office/powerpoint/2010/main" val="1"/>
      </p:ext>
    </p:extLst>
  </p:showPr>
  <p:clrMru>
    <a:srgbClr val="004E00"/>
    <a:srgbClr val="424000"/>
    <a:srgbClr val="3366FF"/>
    <a:srgbClr val="99CC00"/>
    <a:srgbClr val="00FF99"/>
    <a:srgbClr val="993366"/>
    <a:srgbClr val="99009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108" d="100"/>
          <a:sy n="108" d="100"/>
        </p:scale>
        <p:origin x="1704" y="96"/>
      </p:cViewPr>
      <p:guideLst>
        <p:guide orient="horz" pos="2160"/>
        <p:guide pos="100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tableStyles" Target="tableStyles.xml"/><Relationship Id="rId98" Type="http://schemas.openxmlformats.org/officeDocument/2006/relationships/viewProps" Target="viewProps.xml"/><Relationship Id="rId97" Type="http://schemas.openxmlformats.org/officeDocument/2006/relationships/presProps" Target="presProps.xml"/><Relationship Id="rId96" Type="http://schemas.openxmlformats.org/officeDocument/2006/relationships/notesMaster" Target="notesMasters/notesMaster1.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9.emf"/><Relationship Id="rId1" Type="http://schemas.openxmlformats.org/officeDocument/2006/relationships/image" Target="../media/image7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0.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2.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05.emf"/><Relationship Id="rId1" Type="http://schemas.openxmlformats.org/officeDocument/2006/relationships/image" Target="../media/image10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07.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09.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1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1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13.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20.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3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58.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164.emf"/><Relationship Id="rId1" Type="http://schemas.openxmlformats.org/officeDocument/2006/relationships/image" Target="../media/image163.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7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noChangeArrowheads="1"/>
          </p:cNvSpPr>
          <p:nvPr>
            <p:ph type="hdr" sz="quarter"/>
          </p:nvPr>
        </p:nvSpPr>
        <p:spPr bwMode="auto">
          <a:xfrm>
            <a:off x="0" y="0"/>
            <a:ext cx="2971800" cy="457200"/>
          </a:xfrm>
          <a:prstGeom prst="rect">
            <a:avLst/>
          </a:prstGeom>
          <a:noFill/>
          <a:ln>
            <a:noFill/>
          </a:ln>
        </p:spPr>
        <p:txBody>
          <a:bodyPr vert="horz" wrap="square" lIns="91440" tIns="45720" rIns="91440" bIns="45720" numCol="1" anchor="t" anchorCtr="0" compatLnSpc="1"/>
          <a:lstStyle>
            <a:lvl1pPr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3886200" y="0"/>
            <a:ext cx="2971800" cy="457200"/>
          </a:xfrm>
          <a:prstGeom prst="rect">
            <a:avLst/>
          </a:prstGeom>
          <a:noFill/>
          <a:ln>
            <a:noFill/>
          </a:ln>
        </p:spPr>
        <p:txBody>
          <a:bodyPr vert="horz" wrap="square" lIns="91440" tIns="45720" rIns="91440" bIns="45720" numCol="1" anchor="t" anchorCtr="0" compatLnSpc="1"/>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76" name="Rectangle 4"/>
          <p:cNvSpPr>
            <a:spLocks noGrp="1"/>
          </p:cNvSpPr>
          <p:nvPr>
            <p:ph type="sldImg" idx="2"/>
          </p:nvPr>
        </p:nvSpPr>
        <p:spPr>
          <a:xfrm>
            <a:off x="1143000" y="685800"/>
            <a:ext cx="4572000" cy="3429000"/>
          </a:xfrm>
          <a:prstGeom prst="rect">
            <a:avLst/>
          </a:prstGeom>
          <a:noFill/>
          <a:ln w="9525">
            <a:noFill/>
          </a:ln>
        </p:spPr>
      </p:sp>
      <p:sp>
        <p:nvSpPr>
          <p:cNvPr id="3077" name="Rectangle 5"/>
          <p:cNvSpPr>
            <a:spLocks noGrp="1" noChangeArrowheads="1"/>
          </p:cNvSpPr>
          <p:nvPr>
            <p:ph type="body" sz="quarter" idx="3"/>
          </p:nvPr>
        </p:nvSpPr>
        <p:spPr bwMode="auto">
          <a:xfrm>
            <a:off x="914400" y="4343400"/>
            <a:ext cx="5029200" cy="4114800"/>
          </a:xfrm>
          <a:prstGeom prst="rect">
            <a:avLst/>
          </a:prstGeom>
          <a:noFill/>
          <a:ln>
            <a:noFill/>
          </a:ln>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8" name="Rectangle 6"/>
          <p:cNvSpPr>
            <a:spLocks noGrp="1" noChangeArrowheads="1"/>
          </p:cNvSpPr>
          <p:nvPr>
            <p:ph type="ftr" sz="quarter" idx="4"/>
          </p:nvPr>
        </p:nvSpPr>
        <p:spPr bwMode="auto">
          <a:xfrm>
            <a:off x="0" y="8686800"/>
            <a:ext cx="2971800" cy="457200"/>
          </a:xfrm>
          <a:prstGeom prst="rect">
            <a:avLst/>
          </a:prstGeom>
          <a:noFill/>
          <a:ln>
            <a:noFill/>
          </a:ln>
        </p:spPr>
        <p:txBody>
          <a:bodyPr vert="horz" wrap="square" lIns="91440" tIns="45720" rIns="91440" bIns="45720" numCol="1" anchor="b" anchorCtr="0" compatLnSpc="1"/>
          <a:lstStyle>
            <a:lvl1pPr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a:noFill/>
          </a:ln>
        </p:spPr>
        <p:txBody>
          <a:bodyPr vert="horz" wrap="square" lIns="91440" tIns="45720" rIns="91440" bIns="45720" numCol="1" anchor="b" anchorCtr="0" compatLnSpc="1"/>
          <a:lstStyle>
            <a:lvl1pPr algn="r" eaLnBrk="1" hangingPunct="1">
              <a:buFont typeface="Arial" panose="020B0604020202020204" pitchFamily="34" charset="0"/>
              <a:buNone/>
              <a:defRPr sz="1200" smtClean="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B7D5353-C0D5-47E2-A7EA-5A85D81B40BD}" type="slidenum">
              <a:rPr kumimoji="0" lang="zh-CN" alt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B82C898-82A1-4E84-95BB-7192D33F6E7C}"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B82C898-82A1-4E84-95BB-7192D33F6E7C}"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B82C898-82A1-4E84-95BB-7192D33F6E7C}"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182688" y="1447800"/>
            <a:ext cx="3810000" cy="46847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5145088" y="1447800"/>
            <a:ext cx="3810000" cy="46847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B82C898-82A1-4E84-95BB-7192D33F6E7C}"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B82C898-82A1-4E84-95BB-7192D33F6E7C}"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B82C898-82A1-4E84-95BB-7192D33F6E7C}"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B82C898-82A1-4E84-95BB-7192D33F6E7C}"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B82C898-82A1-4E84-95BB-7192D33F6E7C}"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336600"/>
              </a:buClr>
              <a:buSzPct val="60000"/>
              <a:buFont typeface="Wingdings" panose="05000000000000000000" pitchFamily="2" charset="2"/>
              <a:buNone/>
              <a:defRPr/>
            </a:pPr>
            <a:endParaRPr kumimoji="0" lang="zh-CN" altLang="en-US" sz="3200" b="0" i="0" u="none" strike="noStrike" kern="0" cap="none" spc="0" normalizeH="0" baseline="0" noProof="0" smtClean="0">
              <a:ln>
                <a:noFill/>
              </a:ln>
              <a:solidFill>
                <a:srgbClr val="A5002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B82C898-82A1-4E84-95BB-7192D33F6E7C}"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B82C898-82A1-4E84-95BB-7192D33F6E7C}"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11988" y="304800"/>
            <a:ext cx="1943100" cy="5827713"/>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182688" y="304800"/>
            <a:ext cx="5676900" cy="5827713"/>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B82C898-82A1-4E84-95BB-7192D33F6E7C}"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D224B93-D34F-4A23-9B04-F247DE962A33}" type="datetime1">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rPr>
            </a:fld>
            <a:endParaRPr kumimoji="0" 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9F15683-4E45-4985-B9B6-43845AA2A991}" type="slidenum">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D224B93-D34F-4A23-9B04-F247DE962A33}" type="datetime1">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rPr>
            </a:fld>
            <a:endParaRPr kumimoji="0" 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9F15683-4E45-4985-B9B6-43845AA2A991}" type="slidenum">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D224B93-D34F-4A23-9B04-F247DE962A33}" type="datetime1">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rPr>
            </a:fld>
            <a:endParaRPr kumimoji="0" 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9F15683-4E45-4985-B9B6-43845AA2A991}" type="slidenum">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182688" y="1447800"/>
            <a:ext cx="3810000" cy="46847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5145088" y="1447800"/>
            <a:ext cx="3810000" cy="46847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D224B93-D34F-4A23-9B04-F247DE962A33}" type="datetime1">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rPr>
            </a:fld>
            <a:endParaRPr kumimoji="0" 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9F15683-4E45-4985-B9B6-43845AA2A991}" type="slidenum">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D224B93-D34F-4A23-9B04-F247DE962A33}" type="datetime1">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rPr>
            </a:fld>
            <a:endParaRPr kumimoji="0" 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9F15683-4E45-4985-B9B6-43845AA2A991}" type="slidenum">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D224B93-D34F-4A23-9B04-F247DE962A33}" type="datetime1">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rPr>
            </a:fld>
            <a:endParaRPr kumimoji="0" 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9F15683-4E45-4985-B9B6-43845AA2A991}" type="slidenum">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D224B93-D34F-4A23-9B04-F247DE962A33}" type="datetime1">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rPr>
            </a:fld>
            <a:endParaRPr kumimoji="0" 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9F15683-4E45-4985-B9B6-43845AA2A991}" type="slidenum">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D224B93-D34F-4A23-9B04-F247DE962A33}" type="datetime1">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rPr>
            </a:fld>
            <a:endParaRPr kumimoji="0" 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9F15683-4E45-4985-B9B6-43845AA2A991}" type="slidenum">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336600"/>
              </a:buClr>
              <a:buSzPct val="60000"/>
              <a:buFont typeface="Wingdings" panose="05000000000000000000" pitchFamily="2" charset="2"/>
              <a:buNone/>
              <a:defRPr/>
            </a:pPr>
            <a:endParaRPr kumimoji="0" lang="zh-CN" altLang="en-US" sz="3200" b="0" i="0" u="none" strike="noStrike" kern="0" cap="none" spc="0" normalizeH="0" baseline="0" noProof="0" smtClean="0">
              <a:ln>
                <a:noFill/>
              </a:ln>
              <a:solidFill>
                <a:srgbClr val="A5002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D224B93-D34F-4A23-9B04-F247DE962A33}" type="datetime1">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rPr>
            </a:fld>
            <a:endParaRPr kumimoji="0" 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9F15683-4E45-4985-B9B6-43845AA2A991}" type="slidenum">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D224B93-D34F-4A23-9B04-F247DE962A33}" type="datetime1">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rPr>
            </a:fld>
            <a:endParaRPr kumimoji="0" 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9F15683-4E45-4985-B9B6-43845AA2A991}" type="slidenum">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11988" y="304800"/>
            <a:ext cx="1943100" cy="5827713"/>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182688" y="304800"/>
            <a:ext cx="5676900" cy="5827713"/>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D224B93-D34F-4A23-9B04-F247DE962A33}" type="datetime1">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rPr>
            </a:fld>
            <a:endParaRPr kumimoji="0" 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9F15683-4E45-4985-B9B6-43845AA2A991}" type="slidenum">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4" Type="http://schemas.openxmlformats.org/officeDocument/2006/relationships/theme" Target="../theme/theme2.xml"/><Relationship Id="rId13" Type="http://schemas.openxmlformats.org/officeDocument/2006/relationships/hyperlink" Target="&#22270;&#24418;&#23398;&#35838;&#20214;\&#22899;&#20154;&#26159;&#32769;&#34382;.avi" TargetMode="External"/><Relationship Id="rId12" Type="http://schemas.openxmlformats.org/officeDocument/2006/relationships/image" Target="../media/image1.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stretch>
            <a:fillRect/>
          </a:stretch>
        </a:blipFill>
        <a:effectLst/>
      </p:bgPr>
    </p:bg>
    <p:spTree>
      <p:nvGrpSpPr>
        <p:cNvPr id="1" name=""/>
        <p:cNvGrpSpPr/>
        <p:nvPr/>
      </p:nvGrpSpPr>
      <p:grpSpPr/>
      <p:sp>
        <p:nvSpPr>
          <p:cNvPr id="1026" name="Rectangle 2"/>
          <p:cNvSpPr>
            <a:spLocks noGrp="1"/>
          </p:cNvSpPr>
          <p:nvPr>
            <p:ph type="title"/>
          </p:nvPr>
        </p:nvSpPr>
        <p:spPr>
          <a:xfrm>
            <a:off x="1219200" y="304800"/>
            <a:ext cx="6553200" cy="685800"/>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1027" name="Rectangle 3"/>
          <p:cNvSpPr>
            <a:spLocks noGrp="1"/>
          </p:cNvSpPr>
          <p:nvPr>
            <p:ph type="body" idx="1"/>
          </p:nvPr>
        </p:nvSpPr>
        <p:spPr>
          <a:xfrm>
            <a:off x="1182688" y="1447800"/>
            <a:ext cx="7772400" cy="4684713"/>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Rectangle 4"/>
          <p:cNvSpPr>
            <a:spLocks noGrp="1" noChangeArrowheads="1"/>
          </p:cNvSpPr>
          <p:nvPr>
            <p:ph type="dt" sz="half" idx="2"/>
          </p:nvPr>
        </p:nvSpPr>
        <p:spPr bwMode="auto">
          <a:xfrm>
            <a:off x="914400" y="6324600"/>
            <a:ext cx="1905000" cy="457200"/>
          </a:xfrm>
          <a:prstGeom prst="rect">
            <a:avLst/>
          </a:prstGeom>
          <a:noFill/>
          <a:ln>
            <a:noFill/>
          </a:ln>
        </p:spPr>
        <p:txBody>
          <a:bodyPr vert="horz" wrap="square" lIns="91440" tIns="45720" rIns="91440" bIns="45720" numCol="1" anchor="b" anchorCtr="0" compatLnSpc="1"/>
          <a:lstStyle>
            <a:lvl1pPr eaLnBrk="1" hangingPunct="1">
              <a:buFont typeface="Arial" panose="020B0604020202020204" pitchFamily="34" charset="0"/>
              <a:buNone/>
              <a:defRPr sz="14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B82C898-82A1-4E84-95BB-7192D33F6E7C}"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352800" y="6324600"/>
            <a:ext cx="2895600" cy="457200"/>
          </a:xfrm>
          <a:prstGeom prst="rect">
            <a:avLst/>
          </a:prstGeom>
          <a:noFill/>
          <a:ln>
            <a:noFill/>
          </a:ln>
        </p:spPr>
        <p:txBody>
          <a:bodyPr vert="horz" wrap="square" lIns="91440" tIns="45720" rIns="91440" bIns="45720" numCol="1" anchor="b" anchorCtr="0" compatLnSpc="1"/>
          <a:lstStyle>
            <a:lvl1pPr algn="ctr" eaLnBrk="1" hangingPunct="1">
              <a:buFont typeface="Arial" panose="020B0604020202020204" pitchFamily="34" charset="0"/>
              <a:buNone/>
              <a:defRPr sz="1400"/>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hf sldNum="0" hdr="0" ftr="0" dt="0"/>
  <p:txStyles>
    <p:titleStyle>
      <a:lvl1pPr algn="ctr" rtl="0" eaLnBrk="0" fontAlgn="base" hangingPunct="0">
        <a:spcBef>
          <a:spcPct val="0"/>
        </a:spcBef>
        <a:spcAft>
          <a:spcPct val="0"/>
        </a:spcAft>
        <a:defRPr sz="3600" b="1">
          <a:solidFill>
            <a:srgbClr val="FF3300"/>
          </a:solidFill>
          <a:latin typeface="+mj-lt"/>
          <a:ea typeface="+mj-ea"/>
          <a:cs typeface="+mj-cs"/>
        </a:defRPr>
      </a:lvl1pPr>
      <a:lvl2pPr algn="ctr" rtl="0" eaLnBrk="0" fontAlgn="base" hangingPunct="0">
        <a:spcBef>
          <a:spcPct val="0"/>
        </a:spcBef>
        <a:spcAft>
          <a:spcPct val="0"/>
        </a:spcAft>
        <a:defRPr sz="3600" b="1">
          <a:solidFill>
            <a:srgbClr val="FF3300"/>
          </a:solidFill>
          <a:latin typeface="Tahoma" panose="020B0604030504040204" pitchFamily="34" charset="0"/>
          <a:ea typeface="宋体" panose="02010600030101010101" pitchFamily="2" charset="-122"/>
        </a:defRPr>
      </a:lvl2pPr>
      <a:lvl3pPr algn="ctr" rtl="0" eaLnBrk="0" fontAlgn="base" hangingPunct="0">
        <a:spcBef>
          <a:spcPct val="0"/>
        </a:spcBef>
        <a:spcAft>
          <a:spcPct val="0"/>
        </a:spcAft>
        <a:defRPr sz="3600" b="1">
          <a:solidFill>
            <a:srgbClr val="FF3300"/>
          </a:solidFill>
          <a:latin typeface="Tahoma" panose="020B0604030504040204" pitchFamily="34" charset="0"/>
          <a:ea typeface="宋体" panose="02010600030101010101" pitchFamily="2" charset="-122"/>
        </a:defRPr>
      </a:lvl3pPr>
      <a:lvl4pPr algn="ctr" rtl="0" eaLnBrk="0" fontAlgn="base" hangingPunct="0">
        <a:spcBef>
          <a:spcPct val="0"/>
        </a:spcBef>
        <a:spcAft>
          <a:spcPct val="0"/>
        </a:spcAft>
        <a:defRPr sz="3600" b="1">
          <a:solidFill>
            <a:srgbClr val="FF3300"/>
          </a:solidFill>
          <a:latin typeface="Tahoma" panose="020B0604030504040204" pitchFamily="34" charset="0"/>
          <a:ea typeface="宋体" panose="02010600030101010101" pitchFamily="2" charset="-122"/>
        </a:defRPr>
      </a:lvl4pPr>
      <a:lvl5pPr algn="ctr" rtl="0" eaLnBrk="0" fontAlgn="base" hangingPunct="0">
        <a:spcBef>
          <a:spcPct val="0"/>
        </a:spcBef>
        <a:spcAft>
          <a:spcPct val="0"/>
        </a:spcAft>
        <a:defRPr sz="3600" b="1">
          <a:solidFill>
            <a:srgbClr val="FF3300"/>
          </a:solidFill>
          <a:latin typeface="Tahoma" panose="020B0604030504040204" pitchFamily="34" charset="0"/>
          <a:ea typeface="宋体" panose="02010600030101010101" pitchFamily="2" charset="-122"/>
        </a:defRPr>
      </a:lvl5pPr>
      <a:lvl6pPr marL="457200" algn="ctr" rtl="0" eaLnBrk="0" fontAlgn="base" hangingPunct="0">
        <a:spcBef>
          <a:spcPct val="0"/>
        </a:spcBef>
        <a:spcAft>
          <a:spcPct val="0"/>
        </a:spcAft>
        <a:defRPr sz="3600" b="1">
          <a:solidFill>
            <a:srgbClr val="FF3300"/>
          </a:solidFill>
          <a:latin typeface="Tahoma" panose="020B0604030504040204" pitchFamily="34" charset="0"/>
          <a:ea typeface="宋体" panose="02010600030101010101" pitchFamily="2" charset="-122"/>
        </a:defRPr>
      </a:lvl6pPr>
      <a:lvl7pPr marL="914400" algn="ctr" rtl="0" eaLnBrk="0" fontAlgn="base" hangingPunct="0">
        <a:spcBef>
          <a:spcPct val="0"/>
        </a:spcBef>
        <a:spcAft>
          <a:spcPct val="0"/>
        </a:spcAft>
        <a:defRPr sz="3600" b="1">
          <a:solidFill>
            <a:srgbClr val="FF3300"/>
          </a:solidFill>
          <a:latin typeface="Tahoma" panose="020B0604030504040204" pitchFamily="34" charset="0"/>
          <a:ea typeface="宋体" panose="02010600030101010101" pitchFamily="2" charset="-122"/>
        </a:defRPr>
      </a:lvl7pPr>
      <a:lvl8pPr marL="1371600" algn="ctr" rtl="0" eaLnBrk="0" fontAlgn="base" hangingPunct="0">
        <a:spcBef>
          <a:spcPct val="0"/>
        </a:spcBef>
        <a:spcAft>
          <a:spcPct val="0"/>
        </a:spcAft>
        <a:defRPr sz="3600" b="1">
          <a:solidFill>
            <a:srgbClr val="FF3300"/>
          </a:solidFill>
          <a:latin typeface="Tahoma" panose="020B0604030504040204" pitchFamily="34" charset="0"/>
          <a:ea typeface="宋体" panose="02010600030101010101" pitchFamily="2" charset="-122"/>
        </a:defRPr>
      </a:lvl8pPr>
      <a:lvl9pPr marL="1828800" algn="ctr" rtl="0" eaLnBrk="0" fontAlgn="base" hangingPunct="0">
        <a:spcBef>
          <a:spcPct val="0"/>
        </a:spcBef>
        <a:spcAft>
          <a:spcPct val="0"/>
        </a:spcAft>
        <a:defRPr sz="3600" b="1">
          <a:solidFill>
            <a:srgbClr val="FF3300"/>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vl6pPr marL="25146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6pPr>
      <a:lvl7pPr marL="29718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7pPr>
      <a:lvl8pPr marL="34290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8pPr>
      <a:lvl9pPr marL="3886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stretch>
            <a:fillRect/>
          </a:stretch>
        </a:blipFill>
        <a:effectLst/>
      </p:bgPr>
    </p:bg>
    <p:spTree>
      <p:nvGrpSpPr>
        <p:cNvPr id="1" name=""/>
        <p:cNvGrpSpPr/>
        <p:nvPr/>
      </p:nvGrpSpPr>
      <p:grpSpPr/>
      <p:grpSp>
        <p:nvGrpSpPr>
          <p:cNvPr id="2050" name="Group 2"/>
          <p:cNvGrpSpPr/>
          <p:nvPr/>
        </p:nvGrpSpPr>
        <p:grpSpPr>
          <a:xfrm>
            <a:off x="0" y="2438400"/>
            <a:ext cx="9009063" cy="1052513"/>
            <a:chOff x="0" y="0"/>
            <a:chExt cx="5675" cy="663"/>
          </a:xfrm>
        </p:grpSpPr>
        <p:grpSp>
          <p:nvGrpSpPr>
            <p:cNvPr id="2057" name="Group 3"/>
            <p:cNvGrpSpPr/>
            <p:nvPr/>
          </p:nvGrpSpPr>
          <p:grpSpPr>
            <a:xfrm>
              <a:off x="185" y="68"/>
              <a:ext cx="449" cy="299"/>
              <a:chOff x="0" y="0"/>
              <a:chExt cx="624" cy="432"/>
            </a:xfrm>
          </p:grpSpPr>
          <p:sp>
            <p:nvSpPr>
              <p:cNvPr id="2" name="Rectangle 4"/>
              <p:cNvSpPr>
                <a:spLocks noChangeArrowheads="1"/>
              </p:cNvSpPr>
              <p:nvPr/>
            </p:nvSpPr>
            <p:spPr bwMode="auto">
              <a:xfrm>
                <a:off x="0" y="0"/>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3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Rectangle 5"/>
              <p:cNvSpPr>
                <a:spLocks noChangeArrowheads="1"/>
              </p:cNvSpPr>
              <p:nvPr/>
            </p:nvSpPr>
            <p:spPr bwMode="auto">
              <a:xfrm>
                <a:off x="336" y="0"/>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3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grpSp>
        <p:grpSp>
          <p:nvGrpSpPr>
            <p:cNvPr id="2058" name="Group 6"/>
            <p:cNvGrpSpPr/>
            <p:nvPr/>
          </p:nvGrpSpPr>
          <p:grpSpPr>
            <a:xfrm>
              <a:off x="263" y="334"/>
              <a:ext cx="466" cy="299"/>
              <a:chOff x="0" y="0"/>
              <a:chExt cx="672" cy="432"/>
            </a:xfrm>
          </p:grpSpPr>
          <p:sp>
            <p:nvSpPr>
              <p:cNvPr id="2062" name="Rectangle 7"/>
              <p:cNvSpPr>
                <a:spLocks noChangeArrowheads="1"/>
              </p:cNvSpPr>
              <p:nvPr/>
            </p:nvSpPr>
            <p:spPr bwMode="auto">
              <a:xfrm>
                <a:off x="0" y="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3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Rectangle 8"/>
              <p:cNvSpPr>
                <a:spLocks noChangeArrowheads="1"/>
              </p:cNvSpPr>
              <p:nvPr/>
            </p:nvSpPr>
            <p:spPr bwMode="auto">
              <a:xfrm>
                <a:off x="336" y="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3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2059" name="Rectangle 9"/>
            <p:cNvSpPr>
              <a:spLocks noChangeArrowheads="1"/>
            </p:cNvSpPr>
            <p:nvPr/>
          </p:nvSpPr>
          <p:spPr bwMode="auto">
            <a:xfrm>
              <a:off x="0" y="288"/>
              <a:ext cx="353" cy="266"/>
            </a:xfrm>
            <a:prstGeom prst="rect">
              <a:avLst/>
            </a:prstGeom>
            <a:gradFill rotWithShape="0">
              <a:gsLst>
                <a:gs pos="0">
                  <a:schemeClr val="bg1"/>
                </a:gs>
                <a:gs pos="100000">
                  <a:schemeClr val="hlink"/>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3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060" name="Rectangle 10"/>
            <p:cNvSpPr>
              <a:spLocks noChangeArrowheads="1"/>
            </p:cNvSpPr>
            <p:nvPr/>
          </p:nvSpPr>
          <p:spPr bwMode="auto">
            <a:xfrm>
              <a:off x="400" y="0"/>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3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061" name="Rectangle 11"/>
            <p:cNvSpPr>
              <a:spLocks noChangeArrowheads="1"/>
            </p:cNvSpPr>
            <p:nvPr/>
          </p:nvSpPr>
          <p:spPr bwMode="auto">
            <a:xfrm flipV="1">
              <a:off x="199" y="518"/>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3200" b="0" i="0" u="none" strike="noStrike" kern="1200" cap="none" spc="0" normalizeH="0" baseline="0" noProof="0" smtClean="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2051" name="Rectangle 17">
            <a:hlinkClick r:id="rId13" action="ppaction://hlinkshowjump?jump=nextslide"/>
          </p:cNvPr>
          <p:cNvSpPr>
            <a:spLocks noChangeArrowheads="1"/>
          </p:cNvSpPr>
          <p:nvPr/>
        </p:nvSpPr>
        <p:spPr bwMode="auto">
          <a:xfrm>
            <a:off x="8001000" y="6664325"/>
            <a:ext cx="835025" cy="193675"/>
          </a:xfrm>
          <a:prstGeom prst="rect">
            <a:avLst/>
          </a:prstGeom>
          <a:solidFill>
            <a:srgbClr val="00FF00"/>
          </a:solidFill>
          <a:ln>
            <a:noFill/>
          </a:ln>
          <a:effectLst>
            <a:prstShdw prst="shdw17" dist="17961" dir="2700000">
              <a:srgbClr val="009900"/>
            </a:prstShdw>
          </a:effectLst>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1pPr>
            <a:lvl2pPr marL="742950" indent="-285750">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2pPr>
            <a:lvl3pPr marL="1143000" indent="-228600">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3pPr>
            <a:lvl4pPr marL="1600200" indent="-228600">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4pPr>
            <a:lvl5pPr marL="2057400" indent="-228600">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200" b="0" i="0" u="none" strike="noStrike" kern="1200" cap="none" spc="0" normalizeH="0" baseline="0" noProof="0" smtClean="0">
                <a:ln>
                  <a:noFill/>
                </a:ln>
                <a:solidFill>
                  <a:srgbClr val="FF3300"/>
                </a:solidFill>
                <a:effectLst/>
                <a:uLnTx/>
                <a:uFillTx/>
                <a:latin typeface="Arial" panose="020B0604020202020204" pitchFamily="34" charset="0"/>
                <a:ea typeface="宋体" panose="02010600030101010101" pitchFamily="2" charset="-122"/>
                <a:cs typeface="+mn-cs"/>
              </a:rPr>
              <a:t>下一张</a:t>
            </a:r>
            <a:endParaRPr kumimoji="0" lang="zh-CN" altLang="en-US" sz="2400" b="0" i="0" u="none" strike="noStrike" kern="1200" cap="none" spc="0" normalizeH="0" baseline="0" noProof="0" smtClean="0">
              <a:ln>
                <a:noFill/>
              </a:ln>
              <a:solidFill>
                <a:srgbClr val="FF3300"/>
              </a:solidFill>
              <a:effectLst/>
              <a:uLnTx/>
              <a:uFillTx/>
              <a:latin typeface="Arial" panose="020B0604020202020204" pitchFamily="34" charset="0"/>
              <a:ea typeface="宋体" panose="02010600030101010101" pitchFamily="2" charset="-122"/>
              <a:cs typeface="+mn-cs"/>
            </a:endParaRPr>
          </a:p>
        </p:txBody>
      </p:sp>
      <p:sp>
        <p:nvSpPr>
          <p:cNvPr id="2052" name="Rectangle 2"/>
          <p:cNvSpPr>
            <a:spLocks noGrp="1"/>
          </p:cNvSpPr>
          <p:nvPr>
            <p:ph type="title"/>
          </p:nvPr>
        </p:nvSpPr>
        <p:spPr>
          <a:xfrm>
            <a:off x="1219200" y="304800"/>
            <a:ext cx="6553200" cy="685800"/>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2053" name="Rectangle 3"/>
          <p:cNvSpPr>
            <a:spLocks noGrp="1"/>
          </p:cNvSpPr>
          <p:nvPr>
            <p:ph type="body" idx="1"/>
          </p:nvPr>
        </p:nvSpPr>
        <p:spPr>
          <a:xfrm>
            <a:off x="1182688" y="1447800"/>
            <a:ext cx="7772400" cy="4684713"/>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063" name="Rectangle 14"/>
          <p:cNvSpPr>
            <a:spLocks noGrp="1" noChangeArrowheads="1"/>
          </p:cNvSpPr>
          <p:nvPr>
            <p:ph type="dt" sz="half" idx="2"/>
          </p:nvPr>
        </p:nvSpPr>
        <p:spPr bwMode="auto">
          <a:xfrm>
            <a:off x="990600" y="6248400"/>
            <a:ext cx="1905000" cy="457200"/>
          </a:xfrm>
          <a:prstGeom prst="rect">
            <a:avLst/>
          </a:prstGeom>
          <a:noFill/>
          <a:ln>
            <a:noFill/>
          </a:ln>
        </p:spPr>
        <p:txBody>
          <a:bodyPr vert="horz" wrap="square" lIns="91440" tIns="45720" rIns="91440" bIns="45720" numCol="1" anchor="b" anchorCtr="0" compatLnSpc="1"/>
          <a:lstStyle>
            <a:lvl1pPr eaLnBrk="1" hangingPunct="1">
              <a:buFont typeface="Arial" panose="020B0604020202020204" pitchFamily="34" charset="0"/>
              <a:buNone/>
              <a:defRPr sz="1400">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D224B93-D34F-4A23-9B04-F247DE962A33}" type="datetime1">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rPr>
            </a:fld>
            <a:endParaRPr kumimoji="0" 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2064" name="Rectangle 15"/>
          <p:cNvSpPr>
            <a:spLocks noGrp="1" noChangeArrowheads="1"/>
          </p:cNvSpPr>
          <p:nvPr>
            <p:ph type="ftr" sz="quarter" idx="3"/>
          </p:nvPr>
        </p:nvSpPr>
        <p:spPr bwMode="auto">
          <a:xfrm>
            <a:off x="3429000" y="6248400"/>
            <a:ext cx="2895600" cy="457200"/>
          </a:xfrm>
          <a:prstGeom prst="rect">
            <a:avLst/>
          </a:prstGeom>
          <a:noFill/>
          <a:ln>
            <a:noFill/>
          </a:ln>
        </p:spPr>
        <p:txBody>
          <a:bodyPr vert="horz" wrap="square" lIns="91440" tIns="45720" rIns="91440" bIns="45720" numCol="1" anchor="b" anchorCtr="0" compatLnSpc="1"/>
          <a:lstStyle>
            <a:lvl1pPr algn="ctr" eaLnBrk="1" hangingPunct="1">
              <a:buFont typeface="Arial" panose="020B0604020202020204" pitchFamily="34" charset="0"/>
              <a:buNone/>
              <a:defRPr sz="1400">
                <a:solidFill>
                  <a:schemeClr val="bg2"/>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2065" name="Rectangle 16"/>
          <p:cNvSpPr>
            <a:spLocks noGrp="1" noChangeArrowheads="1"/>
          </p:cNvSpPr>
          <p:nvPr>
            <p:ph type="sldNum" sz="quarter" idx="4"/>
          </p:nvPr>
        </p:nvSpPr>
        <p:spPr bwMode="auto">
          <a:xfrm>
            <a:off x="6858000" y="6248400"/>
            <a:ext cx="1905000" cy="457200"/>
          </a:xfrm>
          <a:prstGeom prst="rect">
            <a:avLst/>
          </a:prstGeom>
          <a:noFill/>
          <a:ln>
            <a:noFill/>
          </a:ln>
        </p:spPr>
        <p:txBody>
          <a:bodyPr vert="horz" wrap="square" lIns="91440" tIns="45720" rIns="91440" bIns="45720" numCol="1" anchor="b" anchorCtr="0" compatLnSpc="1"/>
          <a:lstStyle>
            <a:lvl1pPr algn="r" eaLnBrk="1" hangingPunct="1">
              <a:buFont typeface="Arial" panose="020B0604020202020204" pitchFamily="34" charset="0"/>
              <a:buNone/>
              <a:defRPr sz="1400" smtClean="0">
                <a:solidFill>
                  <a:schemeClr val="bg2"/>
                </a:solidFill>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9F15683-4E45-4985-B9B6-43845AA2A991}" type="slidenum">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hf sldNum="0" hdr="0" ftr="0" dt="0"/>
  <p:txStyles>
    <p:titleStyle>
      <a:lvl1pPr algn="ctr" rtl="0" eaLnBrk="0" fontAlgn="base" hangingPunct="0">
        <a:spcBef>
          <a:spcPct val="0"/>
        </a:spcBef>
        <a:spcAft>
          <a:spcPct val="0"/>
        </a:spcAft>
        <a:defRPr sz="3600" b="1">
          <a:solidFill>
            <a:srgbClr val="FF3300"/>
          </a:solidFill>
          <a:latin typeface="+mj-lt"/>
          <a:ea typeface="+mj-ea"/>
          <a:cs typeface="+mj-cs"/>
        </a:defRPr>
      </a:lvl1pPr>
      <a:lvl2pPr algn="ctr" rtl="0" eaLnBrk="0" fontAlgn="base" hangingPunct="0">
        <a:spcBef>
          <a:spcPct val="0"/>
        </a:spcBef>
        <a:spcAft>
          <a:spcPct val="0"/>
        </a:spcAft>
        <a:defRPr sz="3600" b="1">
          <a:solidFill>
            <a:srgbClr val="FF3300"/>
          </a:solidFill>
          <a:latin typeface="Tahoma" panose="020B0604030504040204" pitchFamily="34" charset="0"/>
          <a:ea typeface="宋体" panose="02010600030101010101" pitchFamily="2" charset="-122"/>
        </a:defRPr>
      </a:lvl2pPr>
      <a:lvl3pPr algn="ctr" rtl="0" eaLnBrk="0" fontAlgn="base" hangingPunct="0">
        <a:spcBef>
          <a:spcPct val="0"/>
        </a:spcBef>
        <a:spcAft>
          <a:spcPct val="0"/>
        </a:spcAft>
        <a:defRPr sz="3600" b="1">
          <a:solidFill>
            <a:srgbClr val="FF3300"/>
          </a:solidFill>
          <a:latin typeface="Tahoma" panose="020B0604030504040204" pitchFamily="34" charset="0"/>
          <a:ea typeface="宋体" panose="02010600030101010101" pitchFamily="2" charset="-122"/>
        </a:defRPr>
      </a:lvl3pPr>
      <a:lvl4pPr algn="ctr" rtl="0" eaLnBrk="0" fontAlgn="base" hangingPunct="0">
        <a:spcBef>
          <a:spcPct val="0"/>
        </a:spcBef>
        <a:spcAft>
          <a:spcPct val="0"/>
        </a:spcAft>
        <a:defRPr sz="3600" b="1">
          <a:solidFill>
            <a:srgbClr val="FF3300"/>
          </a:solidFill>
          <a:latin typeface="Tahoma" panose="020B0604030504040204" pitchFamily="34" charset="0"/>
          <a:ea typeface="宋体" panose="02010600030101010101" pitchFamily="2" charset="-122"/>
        </a:defRPr>
      </a:lvl4pPr>
      <a:lvl5pPr algn="ctr" rtl="0" eaLnBrk="0" fontAlgn="base" hangingPunct="0">
        <a:spcBef>
          <a:spcPct val="0"/>
        </a:spcBef>
        <a:spcAft>
          <a:spcPct val="0"/>
        </a:spcAft>
        <a:defRPr sz="3600" b="1">
          <a:solidFill>
            <a:srgbClr val="FF3300"/>
          </a:solidFill>
          <a:latin typeface="Tahoma" panose="020B0604030504040204" pitchFamily="34" charset="0"/>
          <a:ea typeface="宋体" panose="02010600030101010101" pitchFamily="2" charset="-122"/>
        </a:defRPr>
      </a:lvl5pPr>
      <a:lvl6pPr marL="457200" algn="ctr" rtl="0" eaLnBrk="0" fontAlgn="base" hangingPunct="0">
        <a:spcBef>
          <a:spcPct val="0"/>
        </a:spcBef>
        <a:spcAft>
          <a:spcPct val="0"/>
        </a:spcAft>
        <a:defRPr sz="3600" b="1">
          <a:solidFill>
            <a:srgbClr val="FF3300"/>
          </a:solidFill>
          <a:latin typeface="Tahoma" panose="020B0604030504040204" pitchFamily="34" charset="0"/>
          <a:ea typeface="宋体" panose="02010600030101010101" pitchFamily="2" charset="-122"/>
        </a:defRPr>
      </a:lvl6pPr>
      <a:lvl7pPr marL="914400" algn="ctr" rtl="0" eaLnBrk="0" fontAlgn="base" hangingPunct="0">
        <a:spcBef>
          <a:spcPct val="0"/>
        </a:spcBef>
        <a:spcAft>
          <a:spcPct val="0"/>
        </a:spcAft>
        <a:defRPr sz="3600" b="1">
          <a:solidFill>
            <a:srgbClr val="FF3300"/>
          </a:solidFill>
          <a:latin typeface="Tahoma" panose="020B0604030504040204" pitchFamily="34" charset="0"/>
          <a:ea typeface="宋体" panose="02010600030101010101" pitchFamily="2" charset="-122"/>
        </a:defRPr>
      </a:lvl7pPr>
      <a:lvl8pPr marL="1371600" algn="ctr" rtl="0" eaLnBrk="0" fontAlgn="base" hangingPunct="0">
        <a:spcBef>
          <a:spcPct val="0"/>
        </a:spcBef>
        <a:spcAft>
          <a:spcPct val="0"/>
        </a:spcAft>
        <a:defRPr sz="3600" b="1">
          <a:solidFill>
            <a:srgbClr val="FF3300"/>
          </a:solidFill>
          <a:latin typeface="Tahoma" panose="020B0604030504040204" pitchFamily="34" charset="0"/>
          <a:ea typeface="宋体" panose="02010600030101010101" pitchFamily="2" charset="-122"/>
        </a:defRPr>
      </a:lvl8pPr>
      <a:lvl9pPr marL="1828800" algn="ctr" rtl="0" eaLnBrk="0" fontAlgn="base" hangingPunct="0">
        <a:spcBef>
          <a:spcPct val="0"/>
        </a:spcBef>
        <a:spcAft>
          <a:spcPct val="0"/>
        </a:spcAft>
        <a:defRPr sz="3600" b="1">
          <a:solidFill>
            <a:srgbClr val="FF3300"/>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vl6pPr marL="25146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6pPr>
      <a:lvl7pPr marL="29718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7pPr>
      <a:lvl8pPr marL="34290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8pPr>
      <a:lvl9pPr marL="3886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jpeg"/><Relationship Id="rId4" Type="http://schemas.openxmlformats.org/officeDocument/2006/relationships/image" Target="../media/image10.jpe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hyperlink" Target="&#37030;&#24503;&#19982;&#37030;&#24503;&#22899;&#37070;.avi" TargetMode="External"/><Relationship Id="rId7" Type="http://schemas.openxmlformats.org/officeDocument/2006/relationships/hyperlink" Target="&#21464;&#33080;.avi" TargetMode="External"/><Relationship Id="rId6" Type="http://schemas.openxmlformats.org/officeDocument/2006/relationships/image" Target="../media/image24.png"/><Relationship Id="rId5" Type="http://schemas.openxmlformats.org/officeDocument/2006/relationships/image" Target="../media/image23.jpeg"/><Relationship Id="rId4" Type="http://schemas.openxmlformats.org/officeDocument/2006/relationships/image" Target="../media/image22.jpeg"/><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image" Target="../media/image19.png"/></Relationships>
</file>

<file path=ppt/slides/_rels/slide15.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hyperlink" Target="&#25105;&#30340;&#21464;&#33080;.avi" TargetMode="Externa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image" Target="../media/image25.jpeg"/></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33.jpeg"/><Relationship Id="rId4" Type="http://schemas.openxmlformats.org/officeDocument/2006/relationships/image" Target="../media/image32.jpeg"/><Relationship Id="rId3" Type="http://schemas.openxmlformats.org/officeDocument/2006/relationships/hyperlink" Target="&#29483;&#21464;&#34382;.avi" TargetMode="External"/><Relationship Id="rId2" Type="http://schemas.openxmlformats.org/officeDocument/2006/relationships/hyperlink" Target="&#22899;&#20154;&#26159;&#32769;&#34382;.avi" TargetMode="External"/><Relationship Id="rId1" Type="http://schemas.openxmlformats.org/officeDocument/2006/relationships/image" Target="../media/image31.png"/></Relationships>
</file>

<file path=ppt/slides/_rels/slide17.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jpeg"/><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34.jpeg"/></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2.jpeg"/><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hyperlink" Target="&#28023;&#32501;.exe" TargetMode="External"/></Relationships>
</file>

<file path=ppt/slides/_rels/slide19.xml.rels><?xml version="1.0" encoding="UTF-8" standalone="yes"?>
<Relationships xmlns="http://schemas.openxmlformats.org/package/2006/relationships"><Relationship Id="rId9" Type="http://schemas.openxmlformats.org/officeDocument/2006/relationships/image" Target="../media/image50.png"/><Relationship Id="rId8" Type="http://schemas.openxmlformats.org/officeDocument/2006/relationships/image" Target="../media/image49.png"/><Relationship Id="rId7" Type="http://schemas.openxmlformats.org/officeDocument/2006/relationships/image" Target="../media/image48.png"/><Relationship Id="rId6" Type="http://schemas.openxmlformats.org/officeDocument/2006/relationships/hyperlink" Target="&#28023;&#32501;.exe" TargetMode="External"/><Relationship Id="rId5" Type="http://schemas.openxmlformats.org/officeDocument/2006/relationships/image" Target="../media/image47.jpeg"/><Relationship Id="rId4" Type="http://schemas.openxmlformats.org/officeDocument/2006/relationships/image" Target="../media/image46.jpeg"/><Relationship Id="rId3" Type="http://schemas.openxmlformats.org/officeDocument/2006/relationships/image" Target="../media/image45.jpeg"/><Relationship Id="rId2" Type="http://schemas.openxmlformats.org/officeDocument/2006/relationships/image" Target="../media/image44.jpeg"/><Relationship Id="rId13" Type="http://schemas.openxmlformats.org/officeDocument/2006/relationships/slideLayout" Target="../slideLayouts/slideLayout7.xml"/><Relationship Id="rId12" Type="http://schemas.openxmlformats.org/officeDocument/2006/relationships/hyperlink" Target="&#27491;&#22235;&#38754;&#20307;&#38210;&#22443;.exe" TargetMode="External"/><Relationship Id="rId11" Type="http://schemas.openxmlformats.org/officeDocument/2006/relationships/image" Target="../media/image52.png"/><Relationship Id="rId10" Type="http://schemas.openxmlformats.org/officeDocument/2006/relationships/image" Target="../media/image51.png"/><Relationship Id="rId1" Type="http://schemas.openxmlformats.org/officeDocument/2006/relationships/image" Target="../media/image43.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9" Type="http://schemas.openxmlformats.org/officeDocument/2006/relationships/image" Target="../media/image60.png"/><Relationship Id="rId8" Type="http://schemas.openxmlformats.org/officeDocument/2006/relationships/image" Target="../media/image59.png"/><Relationship Id="rId7" Type="http://schemas.openxmlformats.org/officeDocument/2006/relationships/image" Target="../media/image58.png"/><Relationship Id="rId6" Type="http://schemas.openxmlformats.org/officeDocument/2006/relationships/image" Target="../media/image57.jpeg"/><Relationship Id="rId5" Type="http://schemas.openxmlformats.org/officeDocument/2006/relationships/hyperlink" Target="&#26207;&#40857;&#33457;&#22253;&#20840;&#26223;&#28459;&#28216;.exe" TargetMode="External"/><Relationship Id="rId4" Type="http://schemas.openxmlformats.org/officeDocument/2006/relationships/image" Target="../media/image56.jpeg"/><Relationship Id="rId3" Type="http://schemas.openxmlformats.org/officeDocument/2006/relationships/image" Target="../media/image55.jpeg"/><Relationship Id="rId2" Type="http://schemas.openxmlformats.org/officeDocument/2006/relationships/image" Target="../media/image54.png"/><Relationship Id="rId11" Type="http://schemas.openxmlformats.org/officeDocument/2006/relationships/slideLayout" Target="../slideLayouts/slideLayout7.xml"/><Relationship Id="rId10" Type="http://schemas.openxmlformats.org/officeDocument/2006/relationships/hyperlink" Target="&#21351;&#23460;.avi" TargetMode="External"/><Relationship Id="rId1" Type="http://schemas.openxmlformats.org/officeDocument/2006/relationships/image" Target="../media/image53.png"/></Relationships>
</file>

<file path=ppt/slides/_rels/slide22.xml.rels><?xml version="1.0" encoding="UTF-8" standalone="yes"?>
<Relationships xmlns="http://schemas.openxmlformats.org/package/2006/relationships"><Relationship Id="rId9" Type="http://schemas.openxmlformats.org/officeDocument/2006/relationships/hyperlink" Target="&#21338;&#21019;&#30740;&#31350;&#25152;&#28459;&#28216;.avi" TargetMode="External"/><Relationship Id="rId8" Type="http://schemas.openxmlformats.org/officeDocument/2006/relationships/image" Target="../media/image68.png"/><Relationship Id="rId7" Type="http://schemas.openxmlformats.org/officeDocument/2006/relationships/image" Target="../media/image67.png"/><Relationship Id="rId6" Type="http://schemas.openxmlformats.org/officeDocument/2006/relationships/image" Target="../media/image66.jpeg"/><Relationship Id="rId5" Type="http://schemas.openxmlformats.org/officeDocument/2006/relationships/image" Target="../media/image65.png"/><Relationship Id="rId4" Type="http://schemas.openxmlformats.org/officeDocument/2006/relationships/image" Target="../media/image64.png"/><Relationship Id="rId3" Type="http://schemas.openxmlformats.org/officeDocument/2006/relationships/image" Target="../media/image63.png"/><Relationship Id="rId2" Type="http://schemas.openxmlformats.org/officeDocument/2006/relationships/image" Target="../media/image62.png"/><Relationship Id="rId10" Type="http://schemas.openxmlformats.org/officeDocument/2006/relationships/slideLayout" Target="../slideLayouts/slideLayout7.xml"/><Relationship Id="rId1" Type="http://schemas.openxmlformats.org/officeDocument/2006/relationships/image" Target="../media/image6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hyperlink" Target="CRT.exe" TargetMode="External"/><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image" Target="../media/image6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77.png"/><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image" Target="../media/image7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7.xml"/><Relationship Id="rId4" Type="http://schemas.openxmlformats.org/officeDocument/2006/relationships/image" Target="../media/image79.emf"/><Relationship Id="rId3" Type="http://schemas.openxmlformats.org/officeDocument/2006/relationships/oleObject" Target="../embeddings/oleObject2.bin"/><Relationship Id="rId2" Type="http://schemas.openxmlformats.org/officeDocument/2006/relationships/image" Target="../media/image78.emf"/><Relationship Id="rId1" Type="http://schemas.openxmlformats.org/officeDocument/2006/relationships/oleObject" Target="../embeddings/oleObject1.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0.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1.png"/></Relationships>
</file>

<file path=ppt/slides/_rels/slide32.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82.emf"/><Relationship Id="rId1" Type="http://schemas.openxmlformats.org/officeDocument/2006/relationships/oleObject" Target="../embeddings/oleObject3.bin"/></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Sketchpad%20Ivan%20Sutherland%201963_&#26631;&#28165;.mp4" TargetMode="Externa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3.png"/><Relationship Id="rId1" Type="http://schemas.openxmlformats.org/officeDocument/2006/relationships/hyperlink" Target="Ivan%20Sutherland%20-%20The%20Sword%20of%20Damocles%201968_&#26631;&#28165;.mp4"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hyperlink" Target="&#38543;&#26426;&#25195;&#25551;&#26174;&#31034;&#22120;.exe" TargetMode="External"/><Relationship Id="rId4" Type="http://schemas.openxmlformats.org/officeDocument/2006/relationships/image" Target="../media/image88.jpeg"/><Relationship Id="rId3" Type="http://schemas.openxmlformats.org/officeDocument/2006/relationships/image" Target="../media/image87.jpeg"/><Relationship Id="rId2" Type="http://schemas.openxmlformats.org/officeDocument/2006/relationships/image" Target="../media/image86.jpeg"/><Relationship Id="rId1" Type="http://schemas.openxmlformats.org/officeDocument/2006/relationships/image" Target="../media/image85.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92.jpeg"/><Relationship Id="rId4" Type="http://schemas.openxmlformats.org/officeDocument/2006/relationships/image" Target="../media/image91.jpeg"/><Relationship Id="rId3" Type="http://schemas.openxmlformats.org/officeDocument/2006/relationships/image" Target="../media/image90.jpeg"/><Relationship Id="rId2" Type="http://schemas.openxmlformats.org/officeDocument/2006/relationships/image" Target="../media/image89.jpeg"/><Relationship Id="rId1" Type="http://schemas.openxmlformats.org/officeDocument/2006/relationships/hyperlink" Target="&#30452;&#35270;&#23384;&#20648;&#31649;&#26174;&#31034;&#22120;.exe" TargetMode="Externa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3.jpe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5.png"/><Relationship Id="rId1" Type="http://schemas.openxmlformats.org/officeDocument/2006/relationships/image" Target="../media/image9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7.xml"/><Relationship Id="rId3" Type="http://schemas.openxmlformats.org/officeDocument/2006/relationships/image" Target="../media/image97.png"/><Relationship Id="rId2" Type="http://schemas.openxmlformats.org/officeDocument/2006/relationships/image" Target="../media/image96.emf"/><Relationship Id="rId1" Type="http://schemas.openxmlformats.org/officeDocument/2006/relationships/oleObject" Target="../embeddings/oleObject4.bin"/></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9.png"/><Relationship Id="rId1" Type="http://schemas.openxmlformats.org/officeDocument/2006/relationships/image" Target="../media/image98.png"/></Relationships>
</file>

<file path=ppt/slides/_rels/slide48.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100.emf"/><Relationship Id="rId1" Type="http://schemas.openxmlformats.org/officeDocument/2006/relationships/oleObject" Target="../embeddings/oleObject5.bin"/></Relationships>
</file>

<file path=ppt/slides/_rels/slide49.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101.emf"/><Relationship Id="rId1" Type="http://schemas.openxmlformats.org/officeDocument/2006/relationships/oleObject" Target="../embeddings/oleObject6.bin"/></Relationships>
</file>

<file path=ppt/slides/_rels/slide50.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102.emf"/><Relationship Id="rId1" Type="http://schemas.openxmlformats.org/officeDocument/2006/relationships/oleObject" Target="../embeddings/oleObject7.bin"/></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3.jpeg"/></Relationships>
</file>

<file path=ppt/slides/_rels/slide52.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7.xml"/><Relationship Id="rId4" Type="http://schemas.openxmlformats.org/officeDocument/2006/relationships/image" Target="../media/image105.emf"/><Relationship Id="rId3" Type="http://schemas.openxmlformats.org/officeDocument/2006/relationships/oleObject" Target="../embeddings/oleObject9.bin"/><Relationship Id="rId2" Type="http://schemas.openxmlformats.org/officeDocument/2006/relationships/image" Target="../media/image104.emf"/><Relationship Id="rId1" Type="http://schemas.openxmlformats.org/officeDocument/2006/relationships/oleObject" Target="../embeddings/oleObject8.bin"/></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6.png"/></Relationships>
</file>

<file path=ppt/slides/_rels/slide54.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7.xml"/><Relationship Id="rId2" Type="http://schemas.openxmlformats.org/officeDocument/2006/relationships/image" Target="../media/image107.emf"/><Relationship Id="rId1" Type="http://schemas.openxmlformats.org/officeDocument/2006/relationships/oleObject" Target="../embeddings/oleObject10.bin"/></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8.png"/></Relationships>
</file>

<file path=ppt/slides/_rels/slide56.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7.xml"/><Relationship Id="rId2" Type="http://schemas.openxmlformats.org/officeDocument/2006/relationships/image" Target="../media/image109.emf"/><Relationship Id="rId1" Type="http://schemas.openxmlformats.org/officeDocument/2006/relationships/oleObject" Target="../embeddings/oleObject11.bin"/></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0.png"/></Relationships>
</file>

<file path=ppt/slides/_rels/slide58.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7.xml"/><Relationship Id="rId2" Type="http://schemas.openxmlformats.org/officeDocument/2006/relationships/image" Target="../media/image111.emf"/><Relationship Id="rId1" Type="http://schemas.openxmlformats.org/officeDocument/2006/relationships/oleObject" Target="../embeddings/oleObject12.bin"/></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7.xml"/><Relationship Id="rId2" Type="http://schemas.openxmlformats.org/officeDocument/2006/relationships/image" Target="../media/image112.emf"/><Relationship Id="rId1" Type="http://schemas.openxmlformats.org/officeDocument/2006/relationships/oleObject" Target="../embeddings/oleObject13.bin"/></Relationships>
</file>

<file path=ppt/slides/_rels/slide61.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7.xml"/><Relationship Id="rId2" Type="http://schemas.openxmlformats.org/officeDocument/2006/relationships/image" Target="../media/image113.emf"/><Relationship Id="rId1" Type="http://schemas.openxmlformats.org/officeDocument/2006/relationships/oleObject" Target="../embeddings/oleObject14.bin"/></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15.jpeg"/><Relationship Id="rId1" Type="http://schemas.openxmlformats.org/officeDocument/2006/relationships/image" Target="../media/image114.jpeg"/></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17.GIF"/><Relationship Id="rId1" Type="http://schemas.openxmlformats.org/officeDocument/2006/relationships/image" Target="../media/image116.GIF"/></Relationships>
</file>

<file path=ppt/slides/_rels/slide64.xml.rels><?xml version="1.0" encoding="UTF-8" standalone="yes"?>
<Relationships xmlns="http://schemas.openxmlformats.org/package/2006/relationships"><Relationship Id="rId6" Type="http://schemas.openxmlformats.org/officeDocument/2006/relationships/vmlDrawing" Target="../drawings/vmlDrawing13.vml"/><Relationship Id="rId5" Type="http://schemas.openxmlformats.org/officeDocument/2006/relationships/slideLayout" Target="../slideLayouts/slideLayout7.xml"/><Relationship Id="rId4" Type="http://schemas.openxmlformats.org/officeDocument/2006/relationships/image" Target="../media/image120.emf"/><Relationship Id="rId3" Type="http://schemas.openxmlformats.org/officeDocument/2006/relationships/oleObject" Target="../embeddings/oleObject15.bin"/><Relationship Id="rId2" Type="http://schemas.openxmlformats.org/officeDocument/2006/relationships/image" Target="../media/image119.png"/><Relationship Id="rId1" Type="http://schemas.openxmlformats.org/officeDocument/2006/relationships/image" Target="../media/image118.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1.pn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3.jpeg"/><Relationship Id="rId1" Type="http://schemas.openxmlformats.org/officeDocument/2006/relationships/image" Target="../media/image122.jpeg"/></Relationships>
</file>

<file path=ppt/slides/_rels/slide67.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28.png"/><Relationship Id="rId4" Type="http://schemas.openxmlformats.org/officeDocument/2006/relationships/image" Target="../media/image127.jpeg"/><Relationship Id="rId3" Type="http://schemas.openxmlformats.org/officeDocument/2006/relationships/image" Target="../media/image126.png"/><Relationship Id="rId2" Type="http://schemas.openxmlformats.org/officeDocument/2006/relationships/image" Target="../media/image125.jpeg"/><Relationship Id="rId1" Type="http://schemas.openxmlformats.org/officeDocument/2006/relationships/image" Target="../media/image124.png"/></Relationships>
</file>

<file path=ppt/slides/_rels/slide68.xml.rels><?xml version="1.0" encoding="UTF-8" standalone="yes"?>
<Relationships xmlns="http://schemas.openxmlformats.org/package/2006/relationships"><Relationship Id="rId7" Type="http://schemas.openxmlformats.org/officeDocument/2006/relationships/vmlDrawing" Target="../drawings/vmlDrawing14.vml"/><Relationship Id="rId6" Type="http://schemas.openxmlformats.org/officeDocument/2006/relationships/slideLayout" Target="../slideLayouts/slideLayout7.xml"/><Relationship Id="rId5" Type="http://schemas.openxmlformats.org/officeDocument/2006/relationships/image" Target="../media/image132.png"/><Relationship Id="rId4" Type="http://schemas.openxmlformats.org/officeDocument/2006/relationships/image" Target="../media/image131.emf"/><Relationship Id="rId3" Type="http://schemas.openxmlformats.org/officeDocument/2006/relationships/oleObject" Target="../embeddings/oleObject16.bin"/><Relationship Id="rId2" Type="http://schemas.openxmlformats.org/officeDocument/2006/relationships/image" Target="../media/image130.jpeg"/><Relationship Id="rId1" Type="http://schemas.openxmlformats.org/officeDocument/2006/relationships/image" Target="../media/image129.jpeg"/></Relationships>
</file>

<file path=ppt/slides/_rels/slide6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35.jpeg"/><Relationship Id="rId2" Type="http://schemas.openxmlformats.org/officeDocument/2006/relationships/image" Target="../media/image134.jpeg"/><Relationship Id="rId1" Type="http://schemas.openxmlformats.org/officeDocument/2006/relationships/image" Target="../media/image133.jpeg"/></Relationships>
</file>

<file path=ppt/slides/_rels/slide7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39.jpeg"/><Relationship Id="rId3" Type="http://schemas.openxmlformats.org/officeDocument/2006/relationships/image" Target="../media/image138.jpeg"/><Relationship Id="rId2" Type="http://schemas.openxmlformats.org/officeDocument/2006/relationships/image" Target="../media/image137.jpeg"/><Relationship Id="rId1" Type="http://schemas.openxmlformats.org/officeDocument/2006/relationships/image" Target="../media/image136.jpeg"/></Relationships>
</file>

<file path=ppt/slides/_rels/slide71.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44.GIF"/><Relationship Id="rId4" Type="http://schemas.openxmlformats.org/officeDocument/2006/relationships/image" Target="../media/image143.GIF"/><Relationship Id="rId3" Type="http://schemas.openxmlformats.org/officeDocument/2006/relationships/image" Target="../media/image142.jpeg"/><Relationship Id="rId2" Type="http://schemas.openxmlformats.org/officeDocument/2006/relationships/image" Target="../media/image141.jpeg"/><Relationship Id="rId1" Type="http://schemas.openxmlformats.org/officeDocument/2006/relationships/image" Target="../media/image140.GIF"/></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5.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6.jpeg"/></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4.png"/><Relationship Id="rId1" Type="http://schemas.openxmlformats.org/officeDocument/2006/relationships/image" Target="../media/image147.jpe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8.png"/></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50.jpeg"/><Relationship Id="rId1" Type="http://schemas.openxmlformats.org/officeDocument/2006/relationships/image" Target="../media/image149.jpe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1.jpeg"/></Relationships>
</file>

<file path=ppt/slides/_rels/slide78.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56.jpeg"/><Relationship Id="rId4" Type="http://schemas.openxmlformats.org/officeDocument/2006/relationships/image" Target="../media/image155.jpeg"/><Relationship Id="rId3" Type="http://schemas.openxmlformats.org/officeDocument/2006/relationships/image" Target="../media/image154.GIF"/><Relationship Id="rId2" Type="http://schemas.openxmlformats.org/officeDocument/2006/relationships/image" Target="../media/image153.png"/><Relationship Id="rId1" Type="http://schemas.openxmlformats.org/officeDocument/2006/relationships/image" Target="../media/image152.jpe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7.jpeg"/></Relationships>
</file>

<file path=ppt/slides/_rels/slide80.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7.xml"/><Relationship Id="rId2" Type="http://schemas.openxmlformats.org/officeDocument/2006/relationships/image" Target="../media/image158.emf"/><Relationship Id="rId1" Type="http://schemas.openxmlformats.org/officeDocument/2006/relationships/oleObject" Target="../embeddings/oleObject17.bin"/></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60.jpeg"/><Relationship Id="rId1" Type="http://schemas.openxmlformats.org/officeDocument/2006/relationships/image" Target="../media/image159.jpeg"/></Relationships>
</file>

<file path=ppt/slides/_rels/slide83.xml.rels><?xml version="1.0" encoding="UTF-8" standalone="yes"?>
<Relationships xmlns="http://schemas.openxmlformats.org/package/2006/relationships"><Relationship Id="rId8" Type="http://schemas.openxmlformats.org/officeDocument/2006/relationships/vmlDrawing" Target="../drawings/vmlDrawing16.vml"/><Relationship Id="rId7" Type="http://schemas.openxmlformats.org/officeDocument/2006/relationships/slideLayout" Target="../slideLayouts/slideLayout7.xml"/><Relationship Id="rId6" Type="http://schemas.openxmlformats.org/officeDocument/2006/relationships/image" Target="../media/image164.emf"/><Relationship Id="rId5" Type="http://schemas.openxmlformats.org/officeDocument/2006/relationships/oleObject" Target="../embeddings/oleObject19.bin"/><Relationship Id="rId4" Type="http://schemas.openxmlformats.org/officeDocument/2006/relationships/image" Target="../media/image163.emf"/><Relationship Id="rId3" Type="http://schemas.openxmlformats.org/officeDocument/2006/relationships/oleObject" Target="../embeddings/oleObject18.bin"/><Relationship Id="rId2" Type="http://schemas.openxmlformats.org/officeDocument/2006/relationships/image" Target="../media/image162.png"/><Relationship Id="rId1" Type="http://schemas.openxmlformats.org/officeDocument/2006/relationships/image" Target="../media/image16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9" Type="http://schemas.openxmlformats.org/officeDocument/2006/relationships/image" Target="../media/image173.png"/><Relationship Id="rId8" Type="http://schemas.openxmlformats.org/officeDocument/2006/relationships/image" Target="../media/image172.png"/><Relationship Id="rId7" Type="http://schemas.openxmlformats.org/officeDocument/2006/relationships/image" Target="../media/image171.png"/><Relationship Id="rId6" Type="http://schemas.openxmlformats.org/officeDocument/2006/relationships/image" Target="../media/image170.png"/><Relationship Id="rId5" Type="http://schemas.openxmlformats.org/officeDocument/2006/relationships/image" Target="../media/image169.png"/><Relationship Id="rId4" Type="http://schemas.openxmlformats.org/officeDocument/2006/relationships/image" Target="../media/image168.png"/><Relationship Id="rId3" Type="http://schemas.openxmlformats.org/officeDocument/2006/relationships/image" Target="../media/image167.png"/><Relationship Id="rId2" Type="http://schemas.openxmlformats.org/officeDocument/2006/relationships/image" Target="../media/image166.png"/><Relationship Id="rId14" Type="http://schemas.openxmlformats.org/officeDocument/2006/relationships/slideLayout" Target="../slideLayouts/slideLayout7.xml"/><Relationship Id="rId13" Type="http://schemas.openxmlformats.org/officeDocument/2006/relationships/image" Target="../media/image176.jpeg"/><Relationship Id="rId12" Type="http://schemas.openxmlformats.org/officeDocument/2006/relationships/slide" Target="slide86.xml"/><Relationship Id="rId11" Type="http://schemas.openxmlformats.org/officeDocument/2006/relationships/image" Target="../media/image175.png"/><Relationship Id="rId10" Type="http://schemas.openxmlformats.org/officeDocument/2006/relationships/image" Target="../media/image174.png"/><Relationship Id="rId1" Type="http://schemas.openxmlformats.org/officeDocument/2006/relationships/image" Target="../media/image165.png"/></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77.png"/><Relationship Id="rId1" Type="http://schemas.openxmlformats.org/officeDocument/2006/relationships/slide" Target="slide85.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9" Type="http://schemas.openxmlformats.org/officeDocument/2006/relationships/hyperlink" Target="&#20116;&#36793;&#24418;&#21464;&#20116;&#35282;&#26143;.exe" TargetMode="External"/><Relationship Id="rId8" Type="http://schemas.openxmlformats.org/officeDocument/2006/relationships/image" Target="../media/image184.png"/><Relationship Id="rId7" Type="http://schemas.openxmlformats.org/officeDocument/2006/relationships/image" Target="../media/image183.png"/><Relationship Id="rId6" Type="http://schemas.openxmlformats.org/officeDocument/2006/relationships/image" Target="../media/image182.png"/><Relationship Id="rId5" Type="http://schemas.openxmlformats.org/officeDocument/2006/relationships/image" Target="../media/image181.png"/><Relationship Id="rId4" Type="http://schemas.openxmlformats.org/officeDocument/2006/relationships/image" Target="../media/image180.png"/><Relationship Id="rId3" Type="http://schemas.openxmlformats.org/officeDocument/2006/relationships/image" Target="../media/image179.png"/><Relationship Id="rId2" Type="http://schemas.openxmlformats.org/officeDocument/2006/relationships/image" Target="../media/image178.wmf"/><Relationship Id="rId11" Type="http://schemas.openxmlformats.org/officeDocument/2006/relationships/vmlDrawing" Target="../drawings/vmlDrawing17.vml"/><Relationship Id="rId10" Type="http://schemas.openxmlformats.org/officeDocument/2006/relationships/slideLayout" Target="../slideLayouts/slideLayout7.xml"/><Relationship Id="rId1" Type="http://schemas.openxmlformats.org/officeDocument/2006/relationships/oleObject" Target="../embeddings/oleObject20.bin"/></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5.pn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6.png"/></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8.png"/><Relationship Id="rId1" Type="http://schemas.openxmlformats.org/officeDocument/2006/relationships/image" Target="../media/image187.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122" name="AutoShape 6" descr="新闻纸"/>
          <p:cNvSpPr/>
          <p:nvPr/>
        </p:nvSpPr>
        <p:spPr>
          <a:xfrm>
            <a:off x="1042988" y="0"/>
            <a:ext cx="3097212" cy="1412875"/>
          </a:xfrm>
          <a:prstGeom prst="diamond">
            <a:avLst/>
          </a:prstGeom>
          <a:blipFill rotWithShape="0">
            <a:blip r:embed="rId1"/>
          </a:blipFill>
          <a:ln w="9525">
            <a:noFill/>
          </a:ln>
          <a:effectLst>
            <a:prstShdw prst="shdw17" dist="17961" dir="2699999">
              <a:srgbClr val="959595"/>
            </a:prstShdw>
          </a:effectLst>
        </p:spPr>
        <p:txBody>
          <a:bodyPr tIns="0"/>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ctr">
              <a:lnSpc>
                <a:spcPct val="150000"/>
              </a:lnSpc>
              <a:spcBef>
                <a:spcPct val="0"/>
              </a:spcBef>
              <a:buClrTx/>
              <a:buSzTx/>
              <a:buFont typeface="Arial" panose="020B0604020202020204" pitchFamily="34" charset="0"/>
              <a:buNone/>
            </a:pPr>
            <a:r>
              <a:rPr lang="zh-CN" altLang="en-US" sz="2400" b="1" dirty="0">
                <a:solidFill>
                  <a:srgbClr val="3366FF"/>
                </a:solidFill>
                <a:latin typeface="Times New Roman" panose="02020603050405020304" pitchFamily="18" charset="0"/>
              </a:rPr>
              <a:t>第一章</a:t>
            </a:r>
            <a:endParaRPr lang="zh-CN" altLang="en-US" sz="2400" b="1" dirty="0">
              <a:solidFill>
                <a:srgbClr val="3366FF"/>
              </a:solidFill>
              <a:latin typeface="幼圆" panose="02010509060101010101" pitchFamily="49" charset="-122"/>
            </a:endParaRPr>
          </a:p>
        </p:txBody>
      </p:sp>
      <p:grpSp>
        <p:nvGrpSpPr>
          <p:cNvPr id="5123" name="Group 4"/>
          <p:cNvGrpSpPr/>
          <p:nvPr/>
        </p:nvGrpSpPr>
        <p:grpSpPr>
          <a:xfrm>
            <a:off x="3492500" y="3933825"/>
            <a:ext cx="3810000" cy="519113"/>
            <a:chOff x="0" y="0"/>
            <a:chExt cx="5675" cy="663"/>
          </a:xfrm>
        </p:grpSpPr>
        <p:grpSp>
          <p:nvGrpSpPr>
            <p:cNvPr id="5125" name="Group 5"/>
            <p:cNvGrpSpPr/>
            <p:nvPr/>
          </p:nvGrpSpPr>
          <p:grpSpPr>
            <a:xfrm>
              <a:off x="183" y="68"/>
              <a:ext cx="448" cy="299"/>
              <a:chOff x="0" y="0"/>
              <a:chExt cx="624" cy="432"/>
            </a:xfrm>
          </p:grpSpPr>
          <p:sp>
            <p:nvSpPr>
              <p:cNvPr id="5132" name="Rectangle 21"/>
              <p:cNvSpPr/>
              <p:nvPr/>
            </p:nvSpPr>
            <p:spPr>
              <a:xfrm>
                <a:off x="0" y="0"/>
                <a:ext cx="384" cy="432"/>
              </a:xfrm>
              <a:prstGeom prst="rect">
                <a:avLst/>
              </a:prstGeom>
              <a:solidFill>
                <a:schemeClr val="folHlink"/>
              </a:solidFill>
              <a:ln w="9525">
                <a:noFill/>
              </a:ln>
            </p:spPr>
            <p:txBody>
              <a:bodyPr wrap="none" anchor="ctr" anchorCtr="0"/>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3200" dirty="0">
                  <a:solidFill>
                    <a:schemeClr val="tx1"/>
                  </a:solidFill>
                  <a:ea typeface="宋体" panose="02010600030101010101" pitchFamily="2" charset="-122"/>
                </a:endParaRPr>
              </a:p>
            </p:txBody>
          </p:sp>
          <p:sp>
            <p:nvSpPr>
              <p:cNvPr id="5133" name="Rectangle 22"/>
              <p:cNvSpPr/>
              <p:nvPr/>
            </p:nvSpPr>
            <p:spPr>
              <a:xfrm>
                <a:off x="336" y="0"/>
                <a:ext cx="288" cy="432"/>
              </a:xfrm>
              <a:prstGeom prst="rect">
                <a:avLst/>
              </a:prstGeom>
              <a:gradFill rotWithShape="0">
                <a:gsLst>
                  <a:gs pos="0">
                    <a:schemeClr val="folHlink"/>
                  </a:gs>
                  <a:gs pos="100000">
                    <a:schemeClr val="bg1"/>
                  </a:gs>
                </a:gsLst>
                <a:lin ang="0" scaled="1"/>
                <a:tileRect/>
              </a:gradFill>
              <a:ln w="9525">
                <a:noFill/>
              </a:ln>
            </p:spPr>
            <p:txBody>
              <a:bodyPr wrap="none" anchor="ctr" anchorCtr="0"/>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3200" dirty="0">
                  <a:solidFill>
                    <a:schemeClr val="tx1"/>
                  </a:solidFill>
                  <a:ea typeface="宋体" panose="02010600030101010101" pitchFamily="2" charset="-122"/>
                </a:endParaRPr>
              </a:p>
            </p:txBody>
          </p:sp>
        </p:grpSp>
        <p:grpSp>
          <p:nvGrpSpPr>
            <p:cNvPr id="5126" name="Group 8"/>
            <p:cNvGrpSpPr/>
            <p:nvPr/>
          </p:nvGrpSpPr>
          <p:grpSpPr>
            <a:xfrm>
              <a:off x="261" y="334"/>
              <a:ext cx="465" cy="299"/>
              <a:chOff x="0" y="0"/>
              <a:chExt cx="672" cy="432"/>
            </a:xfrm>
          </p:grpSpPr>
          <p:sp>
            <p:nvSpPr>
              <p:cNvPr id="5130" name="Rectangle 24"/>
              <p:cNvSpPr/>
              <p:nvPr/>
            </p:nvSpPr>
            <p:spPr>
              <a:xfrm>
                <a:off x="0" y="0"/>
                <a:ext cx="384" cy="432"/>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3200" dirty="0">
                  <a:solidFill>
                    <a:schemeClr val="tx1"/>
                  </a:solidFill>
                  <a:ea typeface="宋体" panose="02010600030101010101" pitchFamily="2" charset="-122"/>
                </a:endParaRPr>
              </a:p>
            </p:txBody>
          </p:sp>
          <p:sp>
            <p:nvSpPr>
              <p:cNvPr id="5131" name="Rectangle 25"/>
              <p:cNvSpPr/>
              <p:nvPr/>
            </p:nvSpPr>
            <p:spPr>
              <a:xfrm>
                <a:off x="336" y="0"/>
                <a:ext cx="336" cy="432"/>
              </a:xfrm>
              <a:prstGeom prst="rect">
                <a:avLst/>
              </a:prstGeom>
              <a:gradFill rotWithShape="0">
                <a:gsLst>
                  <a:gs pos="0">
                    <a:schemeClr val="accent2"/>
                  </a:gs>
                  <a:gs pos="100000">
                    <a:schemeClr val="bg1"/>
                  </a:gs>
                </a:gsLst>
                <a:lin ang="0" scaled="1"/>
                <a:tileRect/>
              </a:gradFill>
              <a:ln w="9525">
                <a:noFill/>
              </a:ln>
            </p:spPr>
            <p:txBody>
              <a:bodyPr wrap="none" anchor="ctr" anchorCtr="0"/>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3200" dirty="0">
                  <a:solidFill>
                    <a:schemeClr val="tx1"/>
                  </a:solidFill>
                  <a:ea typeface="宋体" panose="02010600030101010101" pitchFamily="2" charset="-122"/>
                </a:endParaRPr>
              </a:p>
            </p:txBody>
          </p:sp>
        </p:grpSp>
        <p:sp>
          <p:nvSpPr>
            <p:cNvPr id="5127" name="Rectangle 26"/>
            <p:cNvSpPr/>
            <p:nvPr/>
          </p:nvSpPr>
          <p:spPr>
            <a:xfrm>
              <a:off x="0" y="288"/>
              <a:ext cx="353" cy="266"/>
            </a:xfrm>
            <a:prstGeom prst="rect">
              <a:avLst/>
            </a:prstGeom>
            <a:gradFill rotWithShape="0">
              <a:gsLst>
                <a:gs pos="0">
                  <a:schemeClr val="bg1"/>
                </a:gs>
                <a:gs pos="100000">
                  <a:schemeClr val="hlink"/>
                </a:gs>
              </a:gsLst>
              <a:lin ang="2700000" scaled="1"/>
              <a:tileRect/>
            </a:gradFill>
            <a:ln w="9525">
              <a:noFill/>
            </a:ln>
          </p:spPr>
          <p:txBody>
            <a:bodyPr wrap="none" anchor="ctr" anchorCtr="0"/>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3200" dirty="0">
                <a:solidFill>
                  <a:schemeClr val="tx1"/>
                </a:solidFill>
                <a:ea typeface="宋体" panose="02010600030101010101" pitchFamily="2" charset="-122"/>
              </a:endParaRPr>
            </a:p>
          </p:txBody>
        </p:sp>
        <p:sp>
          <p:nvSpPr>
            <p:cNvPr id="5128" name="Rectangle 27"/>
            <p:cNvSpPr/>
            <p:nvPr/>
          </p:nvSpPr>
          <p:spPr>
            <a:xfrm>
              <a:off x="400" y="0"/>
              <a:ext cx="20" cy="663"/>
            </a:xfrm>
            <a:prstGeom prst="rect">
              <a:avLst/>
            </a:prstGeom>
            <a:solidFill>
              <a:schemeClr val="bg2"/>
            </a:solidFill>
            <a:ln w="9525">
              <a:noFill/>
            </a:ln>
          </p:spPr>
          <p:txBody>
            <a:bodyPr wrap="none" anchor="ctr" anchorCtr="0"/>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3200" dirty="0">
                <a:solidFill>
                  <a:schemeClr val="tx1"/>
                </a:solidFill>
                <a:ea typeface="宋体" panose="02010600030101010101" pitchFamily="2" charset="-122"/>
              </a:endParaRPr>
            </a:p>
          </p:txBody>
        </p:sp>
        <p:sp>
          <p:nvSpPr>
            <p:cNvPr id="5129" name="Rectangle 28"/>
            <p:cNvSpPr/>
            <p:nvPr/>
          </p:nvSpPr>
          <p:spPr>
            <a:xfrm flipV="1">
              <a:off x="199" y="518"/>
              <a:ext cx="5476" cy="35"/>
            </a:xfrm>
            <a:prstGeom prst="rect">
              <a:avLst/>
            </a:prstGeom>
            <a:gradFill rotWithShape="0">
              <a:gsLst>
                <a:gs pos="0">
                  <a:schemeClr val="bg2"/>
                </a:gs>
                <a:gs pos="100000">
                  <a:schemeClr val="bg1"/>
                </a:gs>
              </a:gsLst>
              <a:lin ang="0" scaled="1"/>
              <a:tileRect/>
            </a:gradFill>
            <a:ln w="9525">
              <a:noFill/>
            </a:ln>
          </p:spPr>
          <p:txBody>
            <a:bodyPr wrap="none" anchor="ctr" anchorCtr="0"/>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3200" dirty="0">
                <a:solidFill>
                  <a:schemeClr val="tx1"/>
                </a:solidFill>
                <a:ea typeface="宋体" panose="02010600030101010101" pitchFamily="2" charset="-122"/>
              </a:endParaRPr>
            </a:p>
          </p:txBody>
        </p:sp>
      </p:grpSp>
      <p:sp>
        <p:nvSpPr>
          <p:cNvPr id="5124" name="WordArt 33"/>
          <p:cNvSpPr>
            <a:spLocks noTextEdit="1"/>
          </p:cNvSpPr>
          <p:nvPr/>
        </p:nvSpPr>
        <p:spPr>
          <a:xfrm>
            <a:off x="4356100" y="3644900"/>
            <a:ext cx="1655763" cy="649288"/>
          </a:xfrm>
          <a:prstGeom prst="rect">
            <a:avLst/>
          </a:prstGeom>
        </p:spPr>
        <p:txBody>
          <a:bodyPr wrap="none" fromWordArt="1">
            <a:prstTxWarp prst="textPlain">
              <a:avLst>
                <a:gd name="adj" fmla="val 50000"/>
              </a:avLst>
            </a:prstTxWarp>
            <a:normAutofit/>
          </a:bodyPr>
          <a:p>
            <a:pPr algn="ctr"/>
            <a:r>
              <a:rPr lang="zh-CN" altLang="en-US" sz="3200">
                <a:ln w="12700" cap="flat" cmpd="sng">
                  <a:solidFill>
                    <a:schemeClr val="tx1"/>
                  </a:solidFill>
                  <a:prstDash val="solid"/>
                  <a:headEnd type="none" w="med" len="med"/>
                  <a:tailEnd type="none" w="med" len="med"/>
                </a:ln>
                <a:solidFill>
                  <a:schemeClr val="tx1">
                    <a:alpha val="74901"/>
                  </a:schemeClr>
                </a:solidFill>
                <a:effectLst>
                  <a:outerShdw dist="45791" dir="2021404" algn="ctr" rotWithShape="0">
                    <a:srgbClr val="9999FF"/>
                  </a:outerShdw>
                </a:effectLst>
                <a:latin typeface="华文隶书" panose="02010800040101010101" charset="-122"/>
                <a:ea typeface="华文隶书" panose="02010800040101010101" charset="-122"/>
              </a:rPr>
              <a:t>导论</a:t>
            </a:r>
            <a:endParaRPr lang="zh-CN" altLang="en-US" sz="3200">
              <a:ln w="12700" cap="flat" cmpd="sng">
                <a:solidFill>
                  <a:schemeClr val="tx1"/>
                </a:solidFill>
                <a:prstDash val="solid"/>
                <a:headEnd type="none" w="med" len="med"/>
                <a:tailEnd type="none" w="med" len="med"/>
              </a:ln>
              <a:solidFill>
                <a:schemeClr val="tx1">
                  <a:alpha val="74901"/>
                </a:schemeClr>
              </a:solidFill>
              <a:effectLst>
                <a:outerShdw dist="45791" dir="2021404" algn="ctr" rotWithShape="0">
                  <a:srgbClr val="9999FF"/>
                </a:outerShdw>
              </a:effectLst>
              <a:latin typeface="华文隶书" panose="02010800040101010101" charset="-122"/>
              <a:ea typeface="华文隶书" panose="02010800040101010101"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146" name="Picture 2" descr="E:\精品资源共享课\flash\孔令德资源效果图.gif"/>
          <p:cNvPicPr>
            <a:picLocks noChangeAspect="1"/>
          </p:cNvPicPr>
          <p:nvPr/>
        </p:nvPicPr>
        <p:blipFill>
          <a:blip r:embed="rId1"/>
          <a:stretch>
            <a:fillRect/>
          </a:stretch>
        </p:blipFill>
        <p:spPr>
          <a:xfrm>
            <a:off x="1643063" y="642938"/>
            <a:ext cx="6757987" cy="4857750"/>
          </a:xfrm>
          <a:prstGeom prst="rect">
            <a:avLst/>
          </a:prstGeom>
          <a:noFill/>
          <a:ln w="9525">
            <a:noFill/>
          </a:ln>
        </p:spPr>
      </p:pic>
      <p:sp>
        <p:nvSpPr>
          <p:cNvPr id="6147" name="Text Box 13"/>
          <p:cNvSpPr txBox="1"/>
          <p:nvPr/>
        </p:nvSpPr>
        <p:spPr>
          <a:xfrm>
            <a:off x="2786063" y="5929313"/>
            <a:ext cx="4319587"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ctr" eaLnBrk="1" hangingPunct="1">
              <a:spcBef>
                <a:spcPct val="50000"/>
              </a:spcBef>
              <a:buClrTx/>
              <a:buSzTx/>
              <a:buFont typeface="Arial" panose="020B0604020202020204" pitchFamily="34" charset="0"/>
              <a:buNone/>
            </a:pPr>
            <a:r>
              <a:rPr lang="zh-CN" altLang="en-US" sz="2400" dirty="0">
                <a:solidFill>
                  <a:schemeClr val="tx1"/>
                </a:solidFill>
                <a:latin typeface="楷体_GB2312" pitchFamily="49" charset="-122"/>
              </a:rPr>
              <a:t>学习本课程后，你能学会制作</a:t>
            </a:r>
            <a:endParaRPr lang="zh-CN" altLang="en-US" sz="2400" dirty="0">
              <a:solidFill>
                <a:schemeClr val="tx1"/>
              </a:solidFill>
              <a:latin typeface="楷体_GB2312" pitchFamily="49" charset="-122"/>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9218" name="Rectangle 9"/>
          <p:cNvSpPr>
            <a:spLocks noGrp="1"/>
          </p:cNvSpPr>
          <p:nvPr>
            <p:ph type="body" idx="4294967295"/>
          </p:nvPr>
        </p:nvSpPr>
        <p:spPr>
          <a:xfrm>
            <a:off x="1908175" y="1196975"/>
            <a:ext cx="6840538" cy="4895850"/>
          </a:xfrm>
          <a:ln/>
        </p:spPr>
        <p:txBody>
          <a:bodyPr vert="horz" wrap="square" lIns="91440" tIns="45720" rIns="91440" bIns="45720" anchor="t" anchorCtr="0"/>
          <a:p>
            <a:pPr eaLnBrk="1" hangingPunct="1"/>
            <a:r>
              <a:rPr lang="en-US" altLang="zh-CN" b="1" dirty="0">
                <a:solidFill>
                  <a:schemeClr val="tx1"/>
                </a:solidFill>
                <a:latin typeface="隶书" panose="02010509060101010101" pitchFamily="49" charset="-122"/>
                <a:ea typeface="隶书" panose="02010509060101010101" pitchFamily="49" charset="-122"/>
              </a:rPr>
              <a:t>1.1  </a:t>
            </a:r>
            <a:r>
              <a:rPr lang="zh-CN" altLang="en-US" b="1" dirty="0">
                <a:solidFill>
                  <a:schemeClr val="tx1"/>
                </a:solidFill>
                <a:latin typeface="隶书" panose="02010509060101010101" pitchFamily="49" charset="-122"/>
                <a:ea typeface="隶书" panose="02010509060101010101" pitchFamily="49" charset="-122"/>
              </a:rPr>
              <a:t>计算机图形学的应用领域</a:t>
            </a:r>
            <a:endParaRPr lang="zh-CN" altLang="en-US" b="1" dirty="0">
              <a:solidFill>
                <a:schemeClr val="tx1"/>
              </a:solidFill>
              <a:latin typeface="隶书" panose="02010509060101010101" pitchFamily="49" charset="-122"/>
              <a:ea typeface="隶书" panose="02010509060101010101" pitchFamily="49" charset="-122"/>
            </a:endParaRPr>
          </a:p>
          <a:p>
            <a:pPr eaLnBrk="1" hangingPunct="1"/>
            <a:r>
              <a:rPr lang="en-US" altLang="zh-CN" b="1" dirty="0">
                <a:solidFill>
                  <a:schemeClr val="tx1"/>
                </a:solidFill>
                <a:latin typeface="隶书" panose="02010509060101010101" pitchFamily="49" charset="-122"/>
                <a:ea typeface="隶书" panose="02010509060101010101" pitchFamily="49" charset="-122"/>
              </a:rPr>
              <a:t>1.2  </a:t>
            </a:r>
            <a:r>
              <a:rPr lang="zh-CN" altLang="en-US" b="1" dirty="0">
                <a:solidFill>
                  <a:schemeClr val="tx1"/>
                </a:solidFill>
                <a:latin typeface="隶书" panose="02010509060101010101" pitchFamily="49" charset="-122"/>
                <a:ea typeface="隶书" panose="02010509060101010101" pitchFamily="49" charset="-122"/>
              </a:rPr>
              <a:t>计算机图形学的概念</a:t>
            </a:r>
            <a:endParaRPr lang="zh-CN" altLang="en-US" b="1" dirty="0">
              <a:solidFill>
                <a:schemeClr val="tx1"/>
              </a:solidFill>
              <a:latin typeface="隶书" panose="02010509060101010101" pitchFamily="49" charset="-122"/>
              <a:ea typeface="隶书" panose="02010509060101010101" pitchFamily="49" charset="-122"/>
            </a:endParaRPr>
          </a:p>
          <a:p>
            <a:pPr eaLnBrk="1" hangingPunct="1"/>
            <a:r>
              <a:rPr lang="en-US" altLang="zh-CN" b="1" dirty="0">
                <a:solidFill>
                  <a:schemeClr val="tx1"/>
                </a:solidFill>
                <a:latin typeface="隶书" panose="02010509060101010101" pitchFamily="49" charset="-122"/>
                <a:ea typeface="隶书" panose="02010509060101010101" pitchFamily="49" charset="-122"/>
              </a:rPr>
              <a:t>1.3  </a:t>
            </a:r>
            <a:r>
              <a:rPr lang="zh-CN" altLang="en-US" b="1" dirty="0">
                <a:solidFill>
                  <a:schemeClr val="tx1"/>
                </a:solidFill>
                <a:latin typeface="隶书" panose="02010509060101010101" pitchFamily="49" charset="-122"/>
                <a:ea typeface="隶书" panose="02010509060101010101" pitchFamily="49" charset="-122"/>
              </a:rPr>
              <a:t>计算机图形学的相关学科</a:t>
            </a:r>
            <a:endParaRPr lang="zh-CN" altLang="en-US" b="1" dirty="0">
              <a:solidFill>
                <a:schemeClr val="tx1"/>
              </a:solidFill>
              <a:latin typeface="隶书" panose="02010509060101010101" pitchFamily="49" charset="-122"/>
              <a:ea typeface="隶书" panose="02010509060101010101" pitchFamily="49" charset="-122"/>
            </a:endParaRPr>
          </a:p>
          <a:p>
            <a:pPr eaLnBrk="1" hangingPunct="1"/>
            <a:r>
              <a:rPr lang="en-US" altLang="zh-CN" b="1" dirty="0">
                <a:solidFill>
                  <a:schemeClr val="tx1"/>
                </a:solidFill>
                <a:latin typeface="隶书" panose="02010509060101010101" pitchFamily="49" charset="-122"/>
                <a:ea typeface="隶书" panose="02010509060101010101" pitchFamily="49" charset="-122"/>
              </a:rPr>
              <a:t>1.4  </a:t>
            </a:r>
            <a:r>
              <a:rPr lang="zh-CN" altLang="en-US" b="1" dirty="0">
                <a:solidFill>
                  <a:schemeClr val="tx1"/>
                </a:solidFill>
                <a:latin typeface="隶书" panose="02010509060101010101" pitchFamily="49" charset="-122"/>
                <a:ea typeface="隶书" panose="02010509060101010101" pitchFamily="49" charset="-122"/>
              </a:rPr>
              <a:t>计算机图形学的确立与发展</a:t>
            </a:r>
            <a:endParaRPr lang="zh-CN" altLang="en-US" b="1" dirty="0">
              <a:solidFill>
                <a:schemeClr val="tx1"/>
              </a:solidFill>
              <a:latin typeface="隶书" panose="02010509060101010101" pitchFamily="49" charset="-122"/>
              <a:ea typeface="隶书" panose="02010509060101010101" pitchFamily="49" charset="-122"/>
            </a:endParaRPr>
          </a:p>
          <a:p>
            <a:pPr eaLnBrk="1" hangingPunct="1"/>
            <a:r>
              <a:rPr lang="en-US" altLang="zh-CN" b="1" dirty="0">
                <a:solidFill>
                  <a:schemeClr val="tx1"/>
                </a:solidFill>
                <a:latin typeface="隶书" panose="02010509060101010101" pitchFamily="49" charset="-122"/>
                <a:ea typeface="隶书" panose="02010509060101010101" pitchFamily="49" charset="-122"/>
              </a:rPr>
              <a:t>1.5  </a:t>
            </a:r>
            <a:r>
              <a:rPr lang="zh-CN" altLang="en-US" b="1" dirty="0">
                <a:solidFill>
                  <a:schemeClr val="tx1"/>
                </a:solidFill>
                <a:latin typeface="隶书" panose="02010509060101010101" pitchFamily="49" charset="-122"/>
                <a:ea typeface="隶书" panose="02010509060101010101" pitchFamily="49" charset="-122"/>
              </a:rPr>
              <a:t>图形显示器的发展及其工作原理</a:t>
            </a:r>
            <a:endParaRPr lang="zh-CN" altLang="en-US" b="1" dirty="0">
              <a:solidFill>
                <a:schemeClr val="tx1"/>
              </a:solidFill>
              <a:latin typeface="隶书" panose="02010509060101010101" pitchFamily="49" charset="-122"/>
              <a:ea typeface="隶书" panose="02010509060101010101" pitchFamily="49" charset="-122"/>
            </a:endParaRPr>
          </a:p>
          <a:p>
            <a:pPr eaLnBrk="1" hangingPunct="1"/>
            <a:r>
              <a:rPr lang="en-US" altLang="zh-CN" b="1" dirty="0">
                <a:solidFill>
                  <a:schemeClr val="tx1"/>
                </a:solidFill>
                <a:latin typeface="隶书" panose="02010509060101010101" pitchFamily="49" charset="-122"/>
                <a:ea typeface="隶书" panose="02010509060101010101" pitchFamily="49" charset="-122"/>
              </a:rPr>
              <a:t>1.6  </a:t>
            </a:r>
            <a:r>
              <a:rPr lang="zh-CN" altLang="en-US" b="1" dirty="0">
                <a:solidFill>
                  <a:schemeClr val="tx1"/>
                </a:solidFill>
                <a:latin typeface="隶书" panose="02010509060101010101" pitchFamily="49" charset="-122"/>
                <a:ea typeface="隶书" panose="02010509060101010101" pitchFamily="49" charset="-122"/>
              </a:rPr>
              <a:t>图形软件标准的形成</a:t>
            </a:r>
            <a:endParaRPr lang="zh-CN" altLang="en-US" b="1" dirty="0">
              <a:solidFill>
                <a:schemeClr val="tx1"/>
              </a:solidFill>
              <a:latin typeface="隶书" panose="02010509060101010101" pitchFamily="49" charset="-122"/>
              <a:ea typeface="隶书" panose="02010509060101010101" pitchFamily="49" charset="-122"/>
            </a:endParaRPr>
          </a:p>
          <a:p>
            <a:pPr eaLnBrk="1" hangingPunct="1"/>
            <a:r>
              <a:rPr lang="en-US" altLang="zh-CN" b="1" dirty="0">
                <a:solidFill>
                  <a:schemeClr val="tx1"/>
                </a:solidFill>
                <a:latin typeface="隶书" panose="02010509060101010101" pitchFamily="49" charset="-122"/>
                <a:ea typeface="隶书" panose="02010509060101010101" pitchFamily="49" charset="-122"/>
              </a:rPr>
              <a:t>1.7  </a:t>
            </a:r>
            <a:r>
              <a:rPr lang="zh-CN" altLang="en-US" b="1" dirty="0">
                <a:solidFill>
                  <a:schemeClr val="tx1"/>
                </a:solidFill>
                <a:latin typeface="隶书" panose="02010509060101010101" pitchFamily="49" charset="-122"/>
                <a:ea typeface="隶书" panose="02010509060101010101" pitchFamily="49" charset="-122"/>
              </a:rPr>
              <a:t>计算机图形学研究的热点技术</a:t>
            </a:r>
            <a:endParaRPr lang="zh-CN" altLang="en-US" b="1" dirty="0">
              <a:solidFill>
                <a:schemeClr val="tx1"/>
              </a:solidFill>
              <a:latin typeface="隶书" panose="02010509060101010101" pitchFamily="49" charset="-122"/>
              <a:ea typeface="隶书" panose="02010509060101010101" pitchFamily="49" charset="-122"/>
            </a:endParaRPr>
          </a:p>
          <a:p>
            <a:pPr eaLnBrk="1" hangingPunct="1"/>
            <a:r>
              <a:rPr lang="en-US" altLang="zh-CN" b="1" dirty="0">
                <a:solidFill>
                  <a:schemeClr val="tx1"/>
                </a:solidFill>
                <a:latin typeface="隶书" panose="02010509060101010101" pitchFamily="49" charset="-122"/>
                <a:ea typeface="隶书" panose="02010509060101010101" pitchFamily="49" charset="-122"/>
              </a:rPr>
              <a:t>1.8  </a:t>
            </a:r>
            <a:r>
              <a:rPr lang="zh-CN" altLang="en-US" b="1" dirty="0">
                <a:solidFill>
                  <a:schemeClr val="tx1"/>
                </a:solidFill>
                <a:latin typeface="隶书" panose="02010509060101010101" pitchFamily="49" charset="-122"/>
                <a:ea typeface="隶书" panose="02010509060101010101" pitchFamily="49" charset="-122"/>
              </a:rPr>
              <a:t>本章小结</a:t>
            </a:r>
            <a:endParaRPr lang="zh-CN" altLang="en-US" b="1" dirty="0">
              <a:solidFill>
                <a:schemeClr val="tx1"/>
              </a:solidFill>
              <a:latin typeface="隶书" panose="02010509060101010101" pitchFamily="49" charset="-122"/>
              <a:ea typeface="隶书" panose="02010509060101010101" pitchFamily="49" charset="-122"/>
            </a:endParaRPr>
          </a:p>
          <a:p>
            <a:pPr eaLnBrk="1" hangingPunct="1"/>
            <a:r>
              <a:rPr lang="zh-CN" altLang="en-US" b="1" dirty="0">
                <a:solidFill>
                  <a:schemeClr val="tx1"/>
                </a:solidFill>
                <a:latin typeface="隶书" panose="02010509060101010101" pitchFamily="49" charset="-122"/>
                <a:ea typeface="隶书" panose="02010509060101010101" pitchFamily="49" charset="-122"/>
              </a:rPr>
              <a:t>习题</a:t>
            </a:r>
            <a:r>
              <a:rPr lang="en-US" altLang="zh-CN" b="1" dirty="0">
                <a:solidFill>
                  <a:schemeClr val="tx1"/>
                </a:solidFill>
                <a:latin typeface="隶书" panose="02010509060101010101" pitchFamily="49" charset="-122"/>
                <a:ea typeface="隶书" panose="02010509060101010101" pitchFamily="49" charset="-122"/>
              </a:rPr>
              <a:t>1</a:t>
            </a:r>
            <a:endParaRPr lang="en-US" altLang="zh-CN" b="1" dirty="0">
              <a:solidFill>
                <a:schemeClr val="tx1"/>
              </a:solidFill>
              <a:latin typeface="隶书" panose="02010509060101010101" pitchFamily="49" charset="-122"/>
              <a:ea typeface="隶书" panose="02010509060101010101" pitchFamily="49" charset="-122"/>
            </a:endParaRPr>
          </a:p>
        </p:txBody>
      </p:sp>
      <p:sp>
        <p:nvSpPr>
          <p:cNvPr id="7171" name="Text Box 10"/>
          <p:cNvSpPr txBox="1"/>
          <p:nvPr/>
        </p:nvSpPr>
        <p:spPr>
          <a:xfrm>
            <a:off x="1547813" y="404813"/>
            <a:ext cx="2087562" cy="5794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50000"/>
              </a:spcBef>
              <a:buClrTx/>
              <a:buSzTx/>
              <a:buFont typeface="Arial" panose="020B0604020202020204" pitchFamily="34" charset="0"/>
              <a:buNone/>
            </a:pPr>
            <a:r>
              <a:rPr lang="zh-CN" altLang="en-US" sz="3200" b="1" dirty="0">
                <a:solidFill>
                  <a:schemeClr val="tx1"/>
                </a:solidFill>
                <a:ea typeface="宋体" panose="02010600030101010101" pitchFamily="2" charset="-122"/>
              </a:rPr>
              <a:t>本章内容</a:t>
            </a:r>
            <a:endParaRPr lang="zh-CN" altLang="en-US" sz="3200" b="1" dirty="0">
              <a:solidFill>
                <a:schemeClr val="tx1"/>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18">
                                            <p:txEl>
                                              <p:charRg st="0" end="1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218">
                                            <p:txEl>
                                              <p:charRg st="17" end="3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218">
                                            <p:txEl>
                                              <p:charRg st="32" end="4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218">
                                            <p:txEl>
                                              <p:charRg st="49" end="6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218">
                                            <p:txEl>
                                              <p:charRg st="67" end="8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218">
                                            <p:txEl>
                                              <p:charRg st="87" end="10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218">
                                            <p:txEl>
                                              <p:charRg st="102" end="12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218">
                                            <p:txEl>
                                              <p:charRg st="121" end="13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218">
                                            <p:txEl>
                                              <p:charRg st="131" end="13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build="p"/>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8194" name="Rectangle 6"/>
          <p:cNvSpPr/>
          <p:nvPr/>
        </p:nvSpPr>
        <p:spPr>
          <a:xfrm>
            <a:off x="1187450" y="333375"/>
            <a:ext cx="6264275" cy="57943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en-US" altLang="zh-CN" sz="3200" b="1" dirty="0">
                <a:solidFill>
                  <a:schemeClr val="tx1"/>
                </a:solidFill>
                <a:latin typeface="楷体_GB2312" pitchFamily="49" charset="-122"/>
              </a:rPr>
              <a:t>1.1 </a:t>
            </a:r>
            <a:r>
              <a:rPr lang="zh-CN" altLang="en-US" sz="3200" b="1" dirty="0">
                <a:solidFill>
                  <a:schemeClr val="tx1"/>
                </a:solidFill>
                <a:latin typeface="楷体_GB2312" pitchFamily="49" charset="-122"/>
              </a:rPr>
              <a:t>计算机图形学的应用领域</a:t>
            </a:r>
            <a:endParaRPr lang="zh-CN" altLang="en-US" sz="3200" b="1" dirty="0">
              <a:solidFill>
                <a:schemeClr val="tx1"/>
              </a:solidFill>
              <a:latin typeface="楷体_GB2312" pitchFamily="49" charset="-122"/>
            </a:endParaRPr>
          </a:p>
        </p:txBody>
      </p:sp>
      <p:sp>
        <p:nvSpPr>
          <p:cNvPr id="8195" name="Rectangle 7"/>
          <p:cNvSpPr>
            <a:spLocks noGrp="1"/>
          </p:cNvSpPr>
          <p:nvPr>
            <p:ph type="body" idx="4294967295"/>
          </p:nvPr>
        </p:nvSpPr>
        <p:spPr>
          <a:xfrm>
            <a:off x="1500188" y="1000125"/>
            <a:ext cx="7500937" cy="5572125"/>
          </a:xfrm>
          <a:ln/>
        </p:spPr>
        <p:txBody>
          <a:bodyPr vert="horz" wrap="square" lIns="91440" tIns="45720" rIns="91440" bIns="45720" anchor="t" anchorCtr="0"/>
          <a:p>
            <a:pPr marL="0" indent="0" eaLnBrk="1" hangingPunct="1">
              <a:lnSpc>
                <a:spcPct val="160000"/>
              </a:lnSpc>
              <a:buNone/>
            </a:pPr>
            <a:r>
              <a:rPr lang="zh-CN" altLang="en-US" dirty="0">
                <a:solidFill>
                  <a:schemeClr val="tx1"/>
                </a:solidFill>
                <a:latin typeface="楷体_GB2312" pitchFamily="49" charset="-122"/>
                <a:ea typeface="宋体-18030" pitchFamily="49" charset="-122"/>
              </a:rPr>
              <a:t>   </a:t>
            </a:r>
            <a:r>
              <a:rPr lang="zh-CN" altLang="en-US" sz="2400" dirty="0">
                <a:solidFill>
                  <a:schemeClr val="tx1"/>
                </a:solidFill>
                <a:latin typeface="Arial" panose="020B0604020202020204" pitchFamily="34" charset="0"/>
              </a:rPr>
              <a:t>“</a:t>
            </a:r>
            <a:r>
              <a:rPr lang="en-US" altLang="zh-CN" sz="2400" dirty="0">
                <a:solidFill>
                  <a:schemeClr val="tx1"/>
                </a:solidFill>
                <a:latin typeface="楷体_GB2312" pitchFamily="49" charset="-122"/>
              </a:rPr>
              <a:t>CG</a:t>
            </a:r>
            <a:r>
              <a:rPr lang="en-US" altLang="zh-CN" sz="2400" dirty="0">
                <a:solidFill>
                  <a:schemeClr val="tx1"/>
                </a:solidFill>
                <a:latin typeface="Arial" panose="020B0604020202020204" pitchFamily="34" charset="0"/>
              </a:rPr>
              <a:t>”</a:t>
            </a:r>
            <a:r>
              <a:rPr lang="zh-CN" altLang="en-US" sz="2400" dirty="0">
                <a:solidFill>
                  <a:schemeClr val="tx1"/>
                </a:solidFill>
                <a:latin typeface="楷体_GB2312" pitchFamily="49" charset="-122"/>
              </a:rPr>
              <a:t>是计算机图形学（</a:t>
            </a:r>
            <a:r>
              <a:rPr lang="en-US" altLang="zh-CN" sz="2400" dirty="0">
                <a:solidFill>
                  <a:schemeClr val="tx1"/>
                </a:solidFill>
                <a:latin typeface="楷体_GB2312" pitchFamily="49" charset="-122"/>
              </a:rPr>
              <a:t>Computer Graphics</a:t>
            </a:r>
            <a:r>
              <a:rPr lang="zh-CN" altLang="en-US" sz="2400" dirty="0">
                <a:solidFill>
                  <a:schemeClr val="tx1"/>
                </a:solidFill>
                <a:latin typeface="楷体_GB2312" pitchFamily="49" charset="-122"/>
              </a:rPr>
              <a:t>）的缩写。</a:t>
            </a:r>
            <a:r>
              <a:rPr lang="en-US" altLang="zh-CN" sz="2400" dirty="0">
                <a:solidFill>
                  <a:schemeClr val="tx1"/>
                </a:solidFill>
                <a:latin typeface="楷体_GB2312" pitchFamily="49" charset="-122"/>
              </a:rPr>
              <a:t>Windows</a:t>
            </a:r>
            <a:r>
              <a:rPr lang="zh-CN" altLang="en-US" sz="2400" dirty="0">
                <a:solidFill>
                  <a:schemeClr val="tx1"/>
                </a:solidFill>
                <a:latin typeface="楷体_GB2312" pitchFamily="49" charset="-122"/>
              </a:rPr>
              <a:t>操作系统的是图形化的人机交互界面是计算机图形学带来的最直接的感受。</a:t>
            </a:r>
            <a:endParaRPr lang="zh-CN" altLang="en-US" sz="2400" dirty="0">
              <a:solidFill>
                <a:schemeClr val="tx1"/>
              </a:solidFill>
              <a:latin typeface="楷体_GB2312" pitchFamily="49" charset="-122"/>
            </a:endParaRPr>
          </a:p>
          <a:p>
            <a:pPr marL="0" indent="0" eaLnBrk="1" hangingPunct="1">
              <a:lnSpc>
                <a:spcPct val="160000"/>
              </a:lnSpc>
              <a:buNone/>
            </a:pPr>
            <a:r>
              <a:rPr lang="zh-CN" altLang="en-US" sz="2400" dirty="0">
                <a:solidFill>
                  <a:schemeClr val="tx1"/>
                </a:solidFill>
                <a:latin typeface="楷体_GB2312" pitchFamily="49" charset="-122"/>
              </a:rPr>
              <a:t>    人类</a:t>
            </a:r>
            <a:r>
              <a:rPr lang="en-US" altLang="zh-CN" sz="2400" dirty="0">
                <a:solidFill>
                  <a:schemeClr val="tx1"/>
                </a:solidFill>
                <a:latin typeface="楷体_GB2312" pitchFamily="49" charset="-122"/>
              </a:rPr>
              <a:t>80%</a:t>
            </a:r>
            <a:r>
              <a:rPr lang="zh-CN" altLang="en-US" sz="2400" dirty="0">
                <a:solidFill>
                  <a:schemeClr val="tx1"/>
                </a:solidFill>
                <a:latin typeface="楷体_GB2312" pitchFamily="49" charset="-122"/>
              </a:rPr>
              <a:t>的信息是由视觉获得。百闻不如一见说的就是这个道理。</a:t>
            </a:r>
            <a:endParaRPr lang="zh-CN" altLang="en-US" sz="2400" dirty="0">
              <a:solidFill>
                <a:schemeClr val="tx1"/>
              </a:solidFill>
              <a:latin typeface="楷体_GB2312" pitchFamily="49" charset="-122"/>
            </a:endParaRPr>
          </a:p>
          <a:p>
            <a:pPr marL="0" indent="0" eaLnBrk="1" hangingPunct="1">
              <a:lnSpc>
                <a:spcPct val="160000"/>
              </a:lnSpc>
              <a:buNone/>
            </a:pPr>
            <a:r>
              <a:rPr lang="zh-CN" altLang="en-US" sz="2400" dirty="0">
                <a:solidFill>
                  <a:schemeClr val="tx1"/>
                </a:solidFill>
                <a:latin typeface="楷体_GB2312" pitchFamily="49" charset="-122"/>
              </a:rPr>
              <a:t>    计算机图形学是计算机技术与电视技术、图形图像处理技术相互融合的结果。近年来，计算机图形学已经在游戏、电影、科学、艺术、商业、广告、教学、培训和军事等领域获得了广泛的应用。</a:t>
            </a:r>
            <a:endParaRPr lang="zh-CN" altLang="en-US" sz="2400" dirty="0">
              <a:solidFill>
                <a:schemeClr val="tx1"/>
              </a:solidFill>
              <a:latin typeface="楷体_GB2312" pitchFamily="49" charset="-122"/>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9218" name="Rectangle 3"/>
          <p:cNvSpPr>
            <a:spLocks noGrp="1"/>
          </p:cNvSpPr>
          <p:nvPr>
            <p:ph type="body" idx="4294967295"/>
          </p:nvPr>
        </p:nvSpPr>
        <p:spPr>
          <a:xfrm>
            <a:off x="1476375" y="1125538"/>
            <a:ext cx="7488238" cy="5327650"/>
          </a:xfrm>
          <a:ln/>
        </p:spPr>
        <p:txBody>
          <a:bodyPr vert="horz" wrap="square" lIns="91440" tIns="45720" rIns="91440" bIns="45720" anchor="t" anchorCtr="0"/>
          <a:p>
            <a:pPr marL="0" indent="0" algn="just" eaLnBrk="1" hangingPunct="1">
              <a:lnSpc>
                <a:spcPct val="120000"/>
              </a:lnSpc>
              <a:buNone/>
            </a:pPr>
            <a:r>
              <a:rPr lang="zh-CN" altLang="en-US" sz="2400" dirty="0">
                <a:solidFill>
                  <a:schemeClr val="tx1"/>
                </a:solidFill>
                <a:latin typeface="宋体-18030" pitchFamily="49" charset="-122"/>
                <a:ea typeface="宋体-18030" pitchFamily="49" charset="-122"/>
              </a:rPr>
              <a:t>    </a:t>
            </a:r>
            <a:r>
              <a:rPr lang="zh-CN" altLang="en-US" sz="2400" dirty="0">
                <a:solidFill>
                  <a:schemeClr val="tx1"/>
                </a:solidFill>
                <a:latin typeface="楷体_GB2312" pitchFamily="49" charset="-122"/>
              </a:rPr>
              <a:t>计算机游戏的核心技术来自于计算机图形学，如多分辨率地形、角色动画、天空盒、碰撞检测、粒子系统等。人们学习计算机图形学的一个潜在目的就是从事游戏开发。计算机游戏主要包括单机游戏、网络游戏和网页游戏等几种类型。</a:t>
            </a:r>
            <a:endParaRPr lang="zh-CN" altLang="en-US" sz="2400" dirty="0">
              <a:solidFill>
                <a:schemeClr val="tx1"/>
              </a:solidFill>
              <a:latin typeface="楷体_GB2312" pitchFamily="49" charset="-122"/>
            </a:endParaRPr>
          </a:p>
          <a:p>
            <a:pPr marL="0" indent="0" algn="just" eaLnBrk="1" hangingPunct="1">
              <a:lnSpc>
                <a:spcPct val="120000"/>
              </a:lnSpc>
              <a:buNone/>
            </a:pPr>
            <a:r>
              <a:rPr lang="zh-CN" altLang="en-US" sz="2400" dirty="0">
                <a:solidFill>
                  <a:schemeClr val="tx1"/>
                </a:solidFill>
                <a:latin typeface="楷体_GB2312" pitchFamily="49" charset="-122"/>
              </a:rPr>
              <a:t>    单机游戏是指仅使用一台计算机或者在局域网内可以独立运行的电子游戏。英国</a:t>
            </a:r>
            <a:r>
              <a:rPr lang="en-US" altLang="zh-CN" sz="2400" dirty="0">
                <a:solidFill>
                  <a:schemeClr val="tx1"/>
                </a:solidFill>
                <a:latin typeface="楷体_GB2312" pitchFamily="49" charset="-122"/>
              </a:rPr>
              <a:t>Eidos</a:t>
            </a:r>
            <a:r>
              <a:rPr lang="zh-CN" altLang="en-US" sz="2400" dirty="0">
                <a:solidFill>
                  <a:schemeClr val="tx1"/>
                </a:solidFill>
                <a:latin typeface="楷体_GB2312" pitchFamily="49" charset="-122"/>
              </a:rPr>
              <a:t>公司推出的动作冒险系列游戏</a:t>
            </a:r>
            <a:r>
              <a:rPr lang="en-US" altLang="zh-CN" sz="2400" dirty="0">
                <a:solidFill>
                  <a:schemeClr val="tx1"/>
                </a:solidFill>
                <a:latin typeface="楷体_GB2312" pitchFamily="49" charset="-122"/>
              </a:rPr>
              <a:t>《</a:t>
            </a:r>
            <a:r>
              <a:rPr lang="zh-CN" altLang="en-US" sz="2400" dirty="0">
                <a:solidFill>
                  <a:schemeClr val="tx1"/>
                </a:solidFill>
                <a:latin typeface="楷体_GB2312" pitchFamily="49" charset="-122"/>
              </a:rPr>
              <a:t>古墓丽影</a:t>
            </a:r>
            <a:r>
              <a:rPr lang="en-US" altLang="zh-CN" sz="2400" dirty="0">
                <a:solidFill>
                  <a:schemeClr val="tx1"/>
                </a:solidFill>
                <a:latin typeface="楷体_GB2312" pitchFamily="49" charset="-122"/>
              </a:rPr>
              <a:t>》</a:t>
            </a:r>
            <a:r>
              <a:rPr lang="zh-CN" altLang="en-US" sz="2400" dirty="0">
                <a:solidFill>
                  <a:schemeClr val="tx1"/>
                </a:solidFill>
                <a:latin typeface="楷体_GB2312" pitchFamily="49" charset="-122"/>
              </a:rPr>
              <a:t>就是一款著名的单机游戏。图</a:t>
            </a:r>
            <a:r>
              <a:rPr lang="en-US" altLang="zh-CN" sz="2400" dirty="0">
                <a:solidFill>
                  <a:schemeClr val="tx1"/>
                </a:solidFill>
                <a:latin typeface="楷体_GB2312" pitchFamily="49" charset="-122"/>
              </a:rPr>
              <a:t>1-1</a:t>
            </a:r>
            <a:r>
              <a:rPr lang="zh-CN" altLang="en-US" sz="2400" dirty="0">
                <a:solidFill>
                  <a:schemeClr val="tx1"/>
                </a:solidFill>
                <a:latin typeface="楷体_GB2312" pitchFamily="49" charset="-122"/>
              </a:rPr>
              <a:t>（</a:t>
            </a:r>
            <a:r>
              <a:rPr lang="en-US" altLang="zh-CN" sz="2400" dirty="0">
                <a:solidFill>
                  <a:schemeClr val="tx1"/>
                </a:solidFill>
                <a:latin typeface="楷体_GB2312" pitchFamily="49" charset="-122"/>
              </a:rPr>
              <a:t>a</a:t>
            </a:r>
            <a:r>
              <a:rPr lang="zh-CN" altLang="en-US" sz="2400" dirty="0">
                <a:solidFill>
                  <a:schemeClr val="tx1"/>
                </a:solidFill>
                <a:latin typeface="楷体_GB2312" pitchFamily="49" charset="-122"/>
              </a:rPr>
              <a:t>）为</a:t>
            </a:r>
            <a:r>
              <a:rPr lang="en-US" altLang="zh-CN" sz="2400" dirty="0">
                <a:solidFill>
                  <a:schemeClr val="tx1"/>
                </a:solidFill>
                <a:latin typeface="楷体_GB2312" pitchFamily="49" charset="-122"/>
              </a:rPr>
              <a:t>《</a:t>
            </a:r>
            <a:r>
              <a:rPr lang="zh-CN" altLang="en-US" sz="2400" dirty="0">
                <a:solidFill>
                  <a:schemeClr val="tx1"/>
                </a:solidFill>
                <a:latin typeface="楷体_GB2312" pitchFamily="49" charset="-122"/>
              </a:rPr>
              <a:t>古墓丽影</a:t>
            </a:r>
            <a:r>
              <a:rPr lang="en-US" altLang="zh-CN" sz="2400" dirty="0">
                <a:solidFill>
                  <a:schemeClr val="tx1"/>
                </a:solidFill>
                <a:latin typeface="楷体_GB2312" pitchFamily="49" charset="-122"/>
              </a:rPr>
              <a:t>》</a:t>
            </a:r>
            <a:r>
              <a:rPr lang="zh-CN" altLang="en-US" sz="2400" dirty="0">
                <a:solidFill>
                  <a:schemeClr val="tx1"/>
                </a:solidFill>
                <a:latin typeface="楷体_GB2312" pitchFamily="49" charset="-122"/>
              </a:rPr>
              <a:t>游戏截图。网络游戏是指通过互联网进行的多人游戏，基于浏览器的网络游戏通常也称为网页游戏。网页游戏无需下载客户端，只需打开网页就可以进入游戏。</a:t>
            </a:r>
            <a:endParaRPr lang="zh-CN" altLang="en-US" sz="2400" dirty="0">
              <a:solidFill>
                <a:schemeClr val="tx1"/>
              </a:solidFill>
              <a:latin typeface="楷体_GB2312" pitchFamily="49" charset="-122"/>
            </a:endParaRPr>
          </a:p>
        </p:txBody>
      </p:sp>
      <p:sp>
        <p:nvSpPr>
          <p:cNvPr id="11267" name="Text Box 7"/>
          <p:cNvSpPr txBox="1">
            <a:spLocks noChangeArrowheads="1"/>
          </p:cNvSpPr>
          <p:nvPr/>
        </p:nvSpPr>
        <p:spPr bwMode="auto">
          <a:xfrm>
            <a:off x="1331913" y="365125"/>
            <a:ext cx="6524625" cy="579438"/>
          </a:xfrm>
          <a:prstGeom prst="rect">
            <a:avLst/>
          </a:prstGeom>
          <a:noFill/>
          <a:ln>
            <a:noFill/>
          </a:ln>
        </p:spPr>
        <p:txBody>
          <a:bodyPr wrap="none">
            <a:spAutoFit/>
          </a:bodyPr>
          <a:lstStyle>
            <a:lvl1pPr eaLnBrk="0" hangingPunct="0">
              <a:defRPr sz="3200">
                <a:solidFill>
                  <a:schemeClr val="tx1"/>
                </a:solidFill>
                <a:latin typeface="Tahoma" panose="020B0604030504040204" pitchFamily="34" charset="0"/>
                <a:ea typeface="宋体" panose="02010600030101010101" pitchFamily="2" charset="-122"/>
              </a:defRPr>
            </a:lvl1pPr>
            <a:lvl2pPr marL="742950" indent="-285750" eaLnBrk="0" hangingPunct="0">
              <a:defRPr sz="3200">
                <a:solidFill>
                  <a:schemeClr val="tx1"/>
                </a:solidFill>
                <a:latin typeface="Tahoma" panose="020B0604030504040204" pitchFamily="34" charset="0"/>
                <a:ea typeface="宋体" panose="02010600030101010101" pitchFamily="2" charset="-122"/>
              </a:defRPr>
            </a:lvl2pPr>
            <a:lvl3pPr marL="1143000" indent="-228600" eaLnBrk="0" hangingPunct="0">
              <a:defRPr sz="3200">
                <a:solidFill>
                  <a:schemeClr val="tx1"/>
                </a:solidFill>
                <a:latin typeface="Tahoma" panose="020B0604030504040204" pitchFamily="34" charset="0"/>
                <a:ea typeface="宋体" panose="02010600030101010101" pitchFamily="2" charset="-122"/>
              </a:defRPr>
            </a:lvl3pPr>
            <a:lvl4pPr marL="1600200" indent="-228600" eaLnBrk="0" hangingPunct="0">
              <a:defRPr sz="3200">
                <a:solidFill>
                  <a:schemeClr val="tx1"/>
                </a:solidFill>
                <a:latin typeface="Tahoma" panose="020B0604030504040204" pitchFamily="34" charset="0"/>
                <a:ea typeface="宋体" panose="02010600030101010101" pitchFamily="2" charset="-122"/>
              </a:defRPr>
            </a:lvl4pPr>
            <a:lvl5pPr marL="2057400" indent="-228600" eaLnBrk="0" hangingPunct="0">
              <a:defRPr sz="32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sz="32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n-cs"/>
              </a:rPr>
              <a:t>1.1.1 </a:t>
            </a:r>
            <a:r>
              <a:rPr kumimoji="0" lang="zh-CN" altLang="en-US" sz="32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n-cs"/>
              </a:rPr>
              <a:t>计算机游戏</a:t>
            </a:r>
            <a:r>
              <a:rPr kumimoji="0" lang="en-US" sz="32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n-cs"/>
              </a:rPr>
              <a:t>(Computer Game)</a:t>
            </a:r>
            <a:endParaRPr kumimoji="0" lang="zh-CN" altLang="en-US" sz="32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n-cs"/>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2" name="Picture 7" descr="20310008"/>
          <p:cNvPicPr>
            <a:picLocks noChangeAspect="1"/>
          </p:cNvPicPr>
          <p:nvPr/>
        </p:nvPicPr>
        <p:blipFill>
          <a:blip r:embed="rId1"/>
          <a:stretch>
            <a:fillRect/>
          </a:stretch>
        </p:blipFill>
        <p:spPr>
          <a:xfrm>
            <a:off x="2843213" y="188913"/>
            <a:ext cx="4465637" cy="2790825"/>
          </a:xfrm>
          <a:prstGeom prst="rect">
            <a:avLst/>
          </a:prstGeom>
          <a:noFill/>
          <a:ln w="9525">
            <a:noFill/>
          </a:ln>
        </p:spPr>
      </p:pic>
      <p:pic>
        <p:nvPicPr>
          <p:cNvPr id="10243" name="Picture 12" descr="200711021310562149"/>
          <p:cNvPicPr>
            <a:picLocks noChangeAspect="1"/>
          </p:cNvPicPr>
          <p:nvPr/>
        </p:nvPicPr>
        <p:blipFill>
          <a:blip r:embed="rId2"/>
          <a:stretch>
            <a:fillRect/>
          </a:stretch>
        </p:blipFill>
        <p:spPr>
          <a:xfrm>
            <a:off x="5076825" y="3141663"/>
            <a:ext cx="4067175" cy="2541587"/>
          </a:xfrm>
          <a:prstGeom prst="rect">
            <a:avLst/>
          </a:prstGeom>
          <a:noFill/>
          <a:ln w="9525">
            <a:noFill/>
          </a:ln>
        </p:spPr>
      </p:pic>
      <p:sp>
        <p:nvSpPr>
          <p:cNvPr id="10244" name="Text Box 13"/>
          <p:cNvSpPr txBox="1"/>
          <p:nvPr/>
        </p:nvSpPr>
        <p:spPr>
          <a:xfrm>
            <a:off x="2987675" y="6165850"/>
            <a:ext cx="4319588"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ctr" eaLnBrk="1" hangingPunct="1">
              <a:spcBef>
                <a:spcPct val="50000"/>
              </a:spcBef>
              <a:buClrTx/>
              <a:buSzTx/>
              <a:buFont typeface="Arial" panose="020B0604020202020204" pitchFamily="34" charset="0"/>
              <a:buNone/>
            </a:pPr>
            <a:r>
              <a:rPr lang="zh-CN" altLang="en-US" sz="2400" dirty="0">
                <a:solidFill>
                  <a:schemeClr val="tx1"/>
                </a:solidFill>
                <a:latin typeface="楷体_GB2312" pitchFamily="49" charset="-122"/>
              </a:rPr>
              <a:t>单机游戏“古墓丽影”</a:t>
            </a:r>
            <a:endParaRPr lang="zh-CN" altLang="en-US" sz="2400" dirty="0">
              <a:solidFill>
                <a:schemeClr val="tx1"/>
              </a:solidFill>
              <a:latin typeface="楷体_GB2312" pitchFamily="49" charset="-122"/>
            </a:endParaRPr>
          </a:p>
        </p:txBody>
      </p:sp>
      <p:pic>
        <p:nvPicPr>
          <p:cNvPr id="10245" name="Picture 15" descr="20090430075636924"/>
          <p:cNvPicPr>
            <a:picLocks noChangeAspect="1"/>
          </p:cNvPicPr>
          <p:nvPr/>
        </p:nvPicPr>
        <p:blipFill>
          <a:blip r:embed="rId3"/>
          <a:stretch>
            <a:fillRect/>
          </a:stretch>
        </p:blipFill>
        <p:spPr>
          <a:xfrm>
            <a:off x="1187450" y="3141663"/>
            <a:ext cx="4121150" cy="2573337"/>
          </a:xfrm>
          <a:prstGeom prst="rect">
            <a:avLst/>
          </a:prstGeom>
          <a:noFill/>
          <a:ln w="9525">
            <a:noFill/>
          </a:ln>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Text Box 5"/>
          <p:cNvSpPr txBox="1"/>
          <p:nvPr/>
        </p:nvSpPr>
        <p:spPr>
          <a:xfrm>
            <a:off x="2843213" y="6400800"/>
            <a:ext cx="4319587"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ctr" eaLnBrk="1" hangingPunct="1">
              <a:spcBef>
                <a:spcPct val="50000"/>
              </a:spcBef>
              <a:buClrTx/>
              <a:buSzTx/>
              <a:buFont typeface="Arial" panose="020B0604020202020204" pitchFamily="34" charset="0"/>
              <a:buNone/>
            </a:pPr>
            <a:r>
              <a:rPr lang="zh-CN" altLang="en-US" sz="2400" dirty="0">
                <a:solidFill>
                  <a:schemeClr val="tx1"/>
                </a:solidFill>
                <a:latin typeface="楷体_GB2312" pitchFamily="49" charset="-122"/>
              </a:rPr>
              <a:t>历代劳拉形象对比图</a:t>
            </a:r>
            <a:endParaRPr lang="zh-CN" altLang="en-US" sz="2400" dirty="0">
              <a:solidFill>
                <a:schemeClr val="tx1"/>
              </a:solidFill>
              <a:latin typeface="楷体_GB2312" pitchFamily="49" charset="-122"/>
            </a:endParaRPr>
          </a:p>
        </p:txBody>
      </p:sp>
      <p:pic>
        <p:nvPicPr>
          <p:cNvPr id="11267" name="Picture 6" descr="53763605g5ff700c8a86f"/>
          <p:cNvPicPr>
            <a:picLocks noChangeAspect="1"/>
          </p:cNvPicPr>
          <p:nvPr/>
        </p:nvPicPr>
        <p:blipFill>
          <a:blip r:embed="rId1"/>
          <a:stretch>
            <a:fillRect/>
          </a:stretch>
        </p:blipFill>
        <p:spPr>
          <a:xfrm>
            <a:off x="4573588" y="152400"/>
            <a:ext cx="1511300" cy="3635375"/>
          </a:xfrm>
          <a:prstGeom prst="rect">
            <a:avLst/>
          </a:prstGeom>
          <a:noFill/>
          <a:ln w="9525">
            <a:noFill/>
          </a:ln>
        </p:spPr>
      </p:pic>
      <p:pic>
        <p:nvPicPr>
          <p:cNvPr id="11268" name="Picture 8" descr="1"/>
          <p:cNvPicPr>
            <a:picLocks noChangeAspect="1"/>
          </p:cNvPicPr>
          <p:nvPr/>
        </p:nvPicPr>
        <p:blipFill>
          <a:blip r:embed="rId2"/>
          <a:stretch>
            <a:fillRect/>
          </a:stretch>
        </p:blipFill>
        <p:spPr>
          <a:xfrm>
            <a:off x="1403350" y="152400"/>
            <a:ext cx="1490663" cy="3538538"/>
          </a:xfrm>
          <a:prstGeom prst="rect">
            <a:avLst/>
          </a:prstGeom>
          <a:noFill/>
          <a:ln w="9525">
            <a:noFill/>
          </a:ln>
        </p:spPr>
      </p:pic>
      <p:pic>
        <p:nvPicPr>
          <p:cNvPr id="11269" name="Picture 9" descr="aa"/>
          <p:cNvPicPr>
            <a:picLocks noChangeAspect="1"/>
          </p:cNvPicPr>
          <p:nvPr/>
        </p:nvPicPr>
        <p:blipFill>
          <a:blip r:embed="rId3"/>
          <a:srcRect l="14217" r="20398"/>
          <a:stretch>
            <a:fillRect/>
          </a:stretch>
        </p:blipFill>
        <p:spPr>
          <a:xfrm>
            <a:off x="6053138" y="152400"/>
            <a:ext cx="1543050" cy="3600450"/>
          </a:xfrm>
          <a:prstGeom prst="rect">
            <a:avLst/>
          </a:prstGeom>
          <a:noFill/>
          <a:ln w="9525">
            <a:noFill/>
          </a:ln>
        </p:spPr>
      </p:pic>
      <p:pic>
        <p:nvPicPr>
          <p:cNvPr id="11270" name="Picture 10" descr="20101213101305f9749"/>
          <p:cNvPicPr>
            <a:picLocks noChangeAspect="1"/>
          </p:cNvPicPr>
          <p:nvPr/>
        </p:nvPicPr>
        <p:blipFill>
          <a:blip r:embed="rId4"/>
          <a:srcRect l="10381" r="9924"/>
          <a:stretch>
            <a:fillRect/>
          </a:stretch>
        </p:blipFill>
        <p:spPr>
          <a:xfrm>
            <a:off x="2914650" y="152400"/>
            <a:ext cx="1657350" cy="3600450"/>
          </a:xfrm>
          <a:prstGeom prst="rect">
            <a:avLst/>
          </a:prstGeom>
          <a:noFill/>
          <a:ln w="9525">
            <a:noFill/>
          </a:ln>
        </p:spPr>
      </p:pic>
      <p:pic>
        <p:nvPicPr>
          <p:cNvPr id="11271" name="Picture 13" descr="4"/>
          <p:cNvPicPr>
            <a:picLocks noChangeAspect="1"/>
          </p:cNvPicPr>
          <p:nvPr/>
        </p:nvPicPr>
        <p:blipFill>
          <a:blip r:embed="rId5"/>
          <a:srcRect l="4799" r="13539"/>
          <a:stretch>
            <a:fillRect/>
          </a:stretch>
        </p:blipFill>
        <p:spPr>
          <a:xfrm>
            <a:off x="7631113" y="115888"/>
            <a:ext cx="1512887" cy="3600450"/>
          </a:xfrm>
          <a:prstGeom prst="rect">
            <a:avLst/>
          </a:prstGeom>
          <a:noFill/>
          <a:ln w="9525">
            <a:noFill/>
          </a:ln>
        </p:spPr>
      </p:pic>
      <p:pic>
        <p:nvPicPr>
          <p:cNvPr id="11272" name="Picture 14" descr="2"/>
          <p:cNvPicPr>
            <a:picLocks noChangeAspect="1"/>
          </p:cNvPicPr>
          <p:nvPr/>
        </p:nvPicPr>
        <p:blipFill>
          <a:blip r:embed="rId6"/>
          <a:stretch>
            <a:fillRect/>
          </a:stretch>
        </p:blipFill>
        <p:spPr>
          <a:xfrm>
            <a:off x="1547813" y="3789363"/>
            <a:ext cx="7561262" cy="2281237"/>
          </a:xfrm>
          <a:prstGeom prst="rect">
            <a:avLst/>
          </a:prstGeom>
          <a:noFill/>
          <a:ln w="9525">
            <a:noFill/>
          </a:ln>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Text Box 5"/>
          <p:cNvSpPr txBox="1"/>
          <p:nvPr/>
        </p:nvSpPr>
        <p:spPr>
          <a:xfrm>
            <a:off x="2857500" y="3071813"/>
            <a:ext cx="4429125" cy="4619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ctr" eaLnBrk="1" hangingPunct="1">
              <a:spcBef>
                <a:spcPct val="50000"/>
              </a:spcBef>
              <a:buClrTx/>
              <a:buSzTx/>
              <a:buFont typeface="Arial" panose="020B0604020202020204" pitchFamily="34" charset="0"/>
              <a:buNone/>
            </a:pPr>
            <a:r>
              <a:rPr lang="zh-CN" altLang="en-US" sz="2400" dirty="0">
                <a:solidFill>
                  <a:schemeClr val="tx1"/>
                </a:solidFill>
                <a:ea typeface="宋体" panose="02010600030101010101" pitchFamily="2" charset="-122"/>
              </a:rPr>
              <a:t>网页游戏 “</a:t>
            </a:r>
            <a:r>
              <a:rPr lang="en-US" altLang="zh-CN" sz="2400" dirty="0">
                <a:solidFill>
                  <a:schemeClr val="tx1"/>
                </a:solidFill>
                <a:ea typeface="宋体" panose="02010600030101010101" pitchFamily="2" charset="-122"/>
              </a:rPr>
              <a:t>QQ</a:t>
            </a:r>
            <a:r>
              <a:rPr lang="zh-CN" altLang="en-US" sz="2400" dirty="0">
                <a:solidFill>
                  <a:schemeClr val="tx1"/>
                </a:solidFill>
                <a:ea typeface="宋体" panose="02010600030101010101" pitchFamily="2" charset="-122"/>
              </a:rPr>
              <a:t>农场和</a:t>
            </a:r>
            <a:r>
              <a:rPr lang="en-US" altLang="zh-CN" sz="2400" dirty="0">
                <a:solidFill>
                  <a:schemeClr val="tx1"/>
                </a:solidFill>
                <a:ea typeface="宋体" panose="02010600030101010101" pitchFamily="2" charset="-122"/>
              </a:rPr>
              <a:t>QQ</a:t>
            </a:r>
            <a:r>
              <a:rPr lang="zh-CN" altLang="en-US" sz="2400" dirty="0">
                <a:solidFill>
                  <a:schemeClr val="tx1"/>
                </a:solidFill>
                <a:ea typeface="宋体" panose="02010600030101010101" pitchFamily="2" charset="-122"/>
              </a:rPr>
              <a:t>牧场”</a:t>
            </a:r>
            <a:endParaRPr lang="zh-CN" altLang="en-US" sz="2400" dirty="0">
              <a:solidFill>
                <a:schemeClr val="tx1"/>
              </a:solidFill>
              <a:ea typeface="宋体" panose="02010600030101010101" pitchFamily="2" charset="-122"/>
            </a:endParaRPr>
          </a:p>
        </p:txBody>
      </p:sp>
      <p:pic>
        <p:nvPicPr>
          <p:cNvPr id="12291" name="Picture 14"/>
          <p:cNvPicPr>
            <a:picLocks noChangeAspect="1"/>
          </p:cNvPicPr>
          <p:nvPr/>
        </p:nvPicPr>
        <p:blipFill>
          <a:blip r:embed="rId1"/>
          <a:stretch>
            <a:fillRect/>
          </a:stretch>
        </p:blipFill>
        <p:spPr>
          <a:xfrm>
            <a:off x="2928938" y="3786188"/>
            <a:ext cx="4000500" cy="2306637"/>
          </a:xfrm>
          <a:prstGeom prst="rect">
            <a:avLst/>
          </a:prstGeom>
          <a:noFill/>
          <a:ln w="9525">
            <a:noFill/>
          </a:ln>
        </p:spPr>
      </p:pic>
      <p:pic>
        <p:nvPicPr>
          <p:cNvPr id="12292" name="Picture 15"/>
          <p:cNvPicPr>
            <a:picLocks noChangeAspect="1"/>
          </p:cNvPicPr>
          <p:nvPr/>
        </p:nvPicPr>
        <p:blipFill>
          <a:blip r:embed="rId2"/>
          <a:stretch>
            <a:fillRect/>
          </a:stretch>
        </p:blipFill>
        <p:spPr>
          <a:xfrm>
            <a:off x="1714500" y="285750"/>
            <a:ext cx="3467100" cy="2513013"/>
          </a:xfrm>
          <a:prstGeom prst="rect">
            <a:avLst/>
          </a:prstGeom>
          <a:noFill/>
          <a:ln w="9525">
            <a:noFill/>
          </a:ln>
          <a:effectLst>
            <a:prstShdw prst="shdw17" dist="17961" dir="2699999">
              <a:srgbClr val="008965"/>
            </a:prstShdw>
          </a:effectLst>
        </p:spPr>
      </p:pic>
      <p:sp>
        <p:nvSpPr>
          <p:cNvPr id="12293" name="Text Box 5"/>
          <p:cNvSpPr txBox="1"/>
          <p:nvPr/>
        </p:nvSpPr>
        <p:spPr>
          <a:xfrm>
            <a:off x="2928938" y="6215063"/>
            <a:ext cx="4319587"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ctr" eaLnBrk="1" hangingPunct="1">
              <a:spcBef>
                <a:spcPct val="50000"/>
              </a:spcBef>
              <a:buClrTx/>
              <a:buSzTx/>
              <a:buFont typeface="Arial" panose="020B0604020202020204" pitchFamily="34" charset="0"/>
              <a:buNone/>
            </a:pPr>
            <a:r>
              <a:rPr lang="zh-CN" altLang="en-US" sz="2400" dirty="0">
                <a:solidFill>
                  <a:schemeClr val="tx1"/>
                </a:solidFill>
                <a:ea typeface="宋体" panose="02010600030101010101" pitchFamily="2" charset="-122"/>
              </a:rPr>
              <a:t>网页游戏 “红警大战”</a:t>
            </a:r>
            <a:endParaRPr lang="zh-CN" altLang="en-US" sz="2400" dirty="0">
              <a:solidFill>
                <a:schemeClr val="tx1"/>
              </a:solidFill>
              <a:ea typeface="宋体" panose="02010600030101010101" pitchFamily="2" charset="-122"/>
            </a:endParaRPr>
          </a:p>
        </p:txBody>
      </p:sp>
      <p:pic>
        <p:nvPicPr>
          <p:cNvPr id="12294" name="Picture 16"/>
          <p:cNvPicPr>
            <a:picLocks noChangeAspect="1"/>
          </p:cNvPicPr>
          <p:nvPr/>
        </p:nvPicPr>
        <p:blipFill>
          <a:blip r:embed="rId3"/>
          <a:stretch>
            <a:fillRect/>
          </a:stretch>
        </p:blipFill>
        <p:spPr>
          <a:xfrm>
            <a:off x="5357813" y="285750"/>
            <a:ext cx="3451225" cy="2500313"/>
          </a:xfrm>
          <a:prstGeom prst="rect">
            <a:avLst/>
          </a:prstGeom>
          <a:noFill/>
          <a:ln w="9525">
            <a:noFill/>
          </a:ln>
          <a:effectLst>
            <a:prstShdw prst="shdw17" dist="17961" dir="2699999">
              <a:srgbClr val="008965"/>
            </a:prstShdw>
          </a:effectLst>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p:cNvSpPr>
          <p:nvPr>
            <p:ph type="body" idx="4294967295"/>
          </p:nvPr>
        </p:nvSpPr>
        <p:spPr>
          <a:xfrm>
            <a:off x="1331913" y="1125538"/>
            <a:ext cx="7632700" cy="5399087"/>
          </a:xfrm>
          <a:ln/>
        </p:spPr>
        <p:txBody>
          <a:bodyPr vert="horz" wrap="square" lIns="91440" tIns="45720" rIns="91440" bIns="45720" anchor="t" anchorCtr="0"/>
          <a:p>
            <a:pPr marL="0" indent="0" algn="just" eaLnBrk="1" hangingPunct="1">
              <a:lnSpc>
                <a:spcPct val="140000"/>
              </a:lnSpc>
              <a:buNone/>
            </a:pPr>
            <a:r>
              <a:rPr lang="zh-CN" altLang="en-US" b="1" dirty="0">
                <a:solidFill>
                  <a:srgbClr val="3366FF"/>
                </a:solidFill>
                <a:latin typeface="楷体_GB2312" pitchFamily="49" charset="-122"/>
              </a:rPr>
              <a:t>    </a:t>
            </a:r>
            <a:r>
              <a:rPr lang="zh-CN" altLang="en-US" sz="2400" dirty="0">
                <a:solidFill>
                  <a:schemeClr val="tx1"/>
                </a:solidFill>
                <a:latin typeface="楷体_GB2312" pitchFamily="49" charset="-122"/>
              </a:rPr>
              <a:t>计算机辅助设计（</a:t>
            </a:r>
            <a:r>
              <a:rPr lang="en-US" altLang="zh-CN" sz="2400" dirty="0">
                <a:solidFill>
                  <a:schemeClr val="tx1"/>
                </a:solidFill>
                <a:latin typeface="楷体_GB2312" pitchFamily="49" charset="-122"/>
              </a:rPr>
              <a:t>Computer Aided Design</a:t>
            </a:r>
            <a:r>
              <a:rPr lang="zh-CN" altLang="en-US" sz="2400" dirty="0">
                <a:solidFill>
                  <a:schemeClr val="tx1"/>
                </a:solidFill>
                <a:latin typeface="楷体_GB2312" pitchFamily="49" charset="-122"/>
              </a:rPr>
              <a:t>，</a:t>
            </a:r>
            <a:r>
              <a:rPr lang="en-US" altLang="zh-CN" sz="2400" dirty="0">
                <a:solidFill>
                  <a:schemeClr val="tx1"/>
                </a:solidFill>
                <a:latin typeface="楷体_GB2312" pitchFamily="49" charset="-122"/>
              </a:rPr>
              <a:t>CAD</a:t>
            </a:r>
            <a:r>
              <a:rPr lang="zh-CN" altLang="en-US" sz="2400" dirty="0">
                <a:solidFill>
                  <a:schemeClr val="tx1"/>
                </a:solidFill>
                <a:latin typeface="楷体_GB2312" pitchFamily="49" charset="-122"/>
              </a:rPr>
              <a:t>）和计算机辅助制造（</a:t>
            </a:r>
            <a:r>
              <a:rPr lang="en-US" altLang="zh-CN" sz="2400" dirty="0">
                <a:solidFill>
                  <a:schemeClr val="tx1"/>
                </a:solidFill>
                <a:latin typeface="楷体_GB2312" pitchFamily="49" charset="-122"/>
              </a:rPr>
              <a:t>Computer Aided Manufacture</a:t>
            </a:r>
            <a:r>
              <a:rPr lang="zh-CN" altLang="en-US" sz="2400" dirty="0">
                <a:solidFill>
                  <a:schemeClr val="tx1"/>
                </a:solidFill>
                <a:latin typeface="楷体_GB2312" pitchFamily="49" charset="-122"/>
              </a:rPr>
              <a:t>，</a:t>
            </a:r>
            <a:r>
              <a:rPr lang="en-US" altLang="zh-CN" sz="2400" dirty="0">
                <a:solidFill>
                  <a:schemeClr val="tx1"/>
                </a:solidFill>
                <a:latin typeface="楷体_GB2312" pitchFamily="49" charset="-122"/>
              </a:rPr>
              <a:t>CAM</a:t>
            </a:r>
            <a:r>
              <a:rPr lang="zh-CN" altLang="en-US" sz="2400" dirty="0">
                <a:solidFill>
                  <a:schemeClr val="tx1"/>
                </a:solidFill>
                <a:latin typeface="楷体_GB2312" pitchFamily="49" charset="-122"/>
              </a:rPr>
              <a:t>）是计算机图形学最早应用的领域，也是当前计算机图形学最成熟的应用领域，典型的代表产品为</a:t>
            </a:r>
            <a:r>
              <a:rPr lang="en-US" altLang="zh-CN" sz="2400" dirty="0">
                <a:solidFill>
                  <a:schemeClr val="tx1"/>
                </a:solidFill>
                <a:latin typeface="楷体_GB2312" pitchFamily="49" charset="-122"/>
              </a:rPr>
              <a:t>AutoCAD</a:t>
            </a:r>
            <a:r>
              <a:rPr lang="zh-CN" altLang="en-US" sz="2400" dirty="0">
                <a:solidFill>
                  <a:schemeClr val="tx1"/>
                </a:solidFill>
                <a:latin typeface="楷体_GB2312" pitchFamily="49" charset="-122"/>
              </a:rPr>
              <a:t>系统软件。现在建筑、机械、飞机、汽车、轮船、电子器件等产品的开发几乎都使用</a:t>
            </a:r>
            <a:r>
              <a:rPr lang="en-US" altLang="zh-CN" sz="2400" dirty="0">
                <a:solidFill>
                  <a:schemeClr val="tx1"/>
                </a:solidFill>
                <a:latin typeface="楷体_GB2312" pitchFamily="49" charset="-122"/>
              </a:rPr>
              <a:t>AutoCAD</a:t>
            </a:r>
            <a:r>
              <a:rPr lang="zh-CN" altLang="en-US" sz="2400" dirty="0">
                <a:solidFill>
                  <a:schemeClr val="tx1"/>
                </a:solidFill>
                <a:latin typeface="楷体_GB2312" pitchFamily="49" charset="-122"/>
              </a:rPr>
              <a:t>进行设计。</a:t>
            </a:r>
            <a:endParaRPr lang="zh-CN" altLang="en-US" sz="2400" dirty="0">
              <a:solidFill>
                <a:schemeClr val="tx1"/>
              </a:solidFill>
              <a:latin typeface="楷体_GB2312" pitchFamily="49" charset="-122"/>
            </a:endParaRPr>
          </a:p>
          <a:p>
            <a:pPr marL="0" indent="0" algn="just" eaLnBrk="1" hangingPunct="1">
              <a:lnSpc>
                <a:spcPct val="140000"/>
              </a:lnSpc>
              <a:buNone/>
            </a:pPr>
            <a:r>
              <a:rPr lang="en-US" altLang="zh-CN" sz="2400" dirty="0">
                <a:solidFill>
                  <a:schemeClr val="tx1"/>
                </a:solidFill>
                <a:latin typeface="楷体_GB2312" pitchFamily="49" charset="-122"/>
              </a:rPr>
              <a:t>    Autodesk</a:t>
            </a:r>
            <a:r>
              <a:rPr lang="zh-CN" altLang="en-US" sz="2400" dirty="0">
                <a:solidFill>
                  <a:schemeClr val="tx1"/>
                </a:solidFill>
                <a:latin typeface="楷体_GB2312" pitchFamily="49" charset="-122"/>
              </a:rPr>
              <a:t>公司出版的另外两个三维建模、动画和渲染软件是</a:t>
            </a:r>
            <a:r>
              <a:rPr lang="en-US" altLang="zh-CN" sz="2400" dirty="0">
                <a:solidFill>
                  <a:schemeClr val="tx1"/>
                </a:solidFill>
                <a:latin typeface="楷体_GB2312" pitchFamily="49" charset="-122"/>
              </a:rPr>
              <a:t>3ds max</a:t>
            </a:r>
            <a:r>
              <a:rPr lang="zh-CN" altLang="en-US" sz="2400" dirty="0">
                <a:solidFill>
                  <a:schemeClr val="tx1"/>
                </a:solidFill>
                <a:latin typeface="楷体_GB2312" pitchFamily="49" charset="-122"/>
              </a:rPr>
              <a:t>和</a:t>
            </a:r>
            <a:r>
              <a:rPr lang="en-US" altLang="zh-CN" sz="2400" dirty="0">
                <a:solidFill>
                  <a:schemeClr val="tx1"/>
                </a:solidFill>
                <a:latin typeface="楷体_GB2312" pitchFamily="49" charset="-122"/>
              </a:rPr>
              <a:t>Maya</a:t>
            </a:r>
            <a:r>
              <a:rPr lang="zh-CN" altLang="en-US" sz="2400" dirty="0">
                <a:solidFill>
                  <a:schemeClr val="tx1"/>
                </a:solidFill>
                <a:latin typeface="楷体_GB2312" pitchFamily="49" charset="-122"/>
              </a:rPr>
              <a:t>，前者主要用于建筑物建模，后者主要用于角色建模。 </a:t>
            </a:r>
            <a:endParaRPr lang="zh-CN" altLang="en-US" sz="2400" dirty="0">
              <a:solidFill>
                <a:schemeClr val="tx1"/>
              </a:solidFill>
              <a:latin typeface="楷体_GB2312" pitchFamily="49" charset="-122"/>
            </a:endParaRPr>
          </a:p>
        </p:txBody>
      </p:sp>
      <p:sp>
        <p:nvSpPr>
          <p:cNvPr id="15363" name="Text Box 3"/>
          <p:cNvSpPr txBox="1">
            <a:spLocks noChangeArrowheads="1"/>
          </p:cNvSpPr>
          <p:nvPr/>
        </p:nvSpPr>
        <p:spPr bwMode="auto">
          <a:xfrm>
            <a:off x="1331913" y="365125"/>
            <a:ext cx="6111875" cy="579438"/>
          </a:xfrm>
          <a:prstGeom prst="rect">
            <a:avLst/>
          </a:prstGeom>
          <a:noFill/>
          <a:ln>
            <a:noFill/>
          </a:ln>
        </p:spPr>
        <p:txBody>
          <a:bodyPr wrap="none">
            <a:spAutoFit/>
          </a:bodyPr>
          <a:lstStyle>
            <a:lvl1pPr eaLnBrk="0" hangingPunct="0">
              <a:defRPr sz="3200">
                <a:solidFill>
                  <a:schemeClr val="tx1"/>
                </a:solidFill>
                <a:latin typeface="Tahoma" panose="020B0604030504040204" pitchFamily="34" charset="0"/>
                <a:ea typeface="宋体" panose="02010600030101010101" pitchFamily="2" charset="-122"/>
              </a:defRPr>
            </a:lvl1pPr>
            <a:lvl2pPr marL="742950" indent="-285750" eaLnBrk="0" hangingPunct="0">
              <a:defRPr sz="3200">
                <a:solidFill>
                  <a:schemeClr val="tx1"/>
                </a:solidFill>
                <a:latin typeface="Tahoma" panose="020B0604030504040204" pitchFamily="34" charset="0"/>
                <a:ea typeface="宋体" panose="02010600030101010101" pitchFamily="2" charset="-122"/>
              </a:defRPr>
            </a:lvl2pPr>
            <a:lvl3pPr marL="1143000" indent="-228600" eaLnBrk="0" hangingPunct="0">
              <a:defRPr sz="3200">
                <a:solidFill>
                  <a:schemeClr val="tx1"/>
                </a:solidFill>
                <a:latin typeface="Tahoma" panose="020B0604030504040204" pitchFamily="34" charset="0"/>
                <a:ea typeface="宋体" panose="02010600030101010101" pitchFamily="2" charset="-122"/>
              </a:defRPr>
            </a:lvl3pPr>
            <a:lvl4pPr marL="1600200" indent="-228600" eaLnBrk="0" hangingPunct="0">
              <a:defRPr sz="3200">
                <a:solidFill>
                  <a:schemeClr val="tx1"/>
                </a:solidFill>
                <a:latin typeface="Tahoma" panose="020B0604030504040204" pitchFamily="34" charset="0"/>
                <a:ea typeface="宋体" panose="02010600030101010101" pitchFamily="2" charset="-122"/>
              </a:defRPr>
            </a:lvl4pPr>
            <a:lvl5pPr marL="2057400" indent="-228600" eaLnBrk="0" hangingPunct="0">
              <a:defRPr sz="32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sz="32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n-cs"/>
              </a:rPr>
              <a:t>1.1.2 </a:t>
            </a:r>
            <a:r>
              <a:rPr kumimoji="0" lang="zh-CN" altLang="en-US" sz="32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n-cs"/>
              </a:rPr>
              <a:t>计算机辅助设计</a:t>
            </a:r>
            <a:r>
              <a:rPr kumimoji="0" lang="en-US" sz="32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n-cs"/>
              </a:rPr>
              <a:t>(CAD/CAM)</a:t>
            </a:r>
            <a:endParaRPr kumimoji="0" lang="zh-CN" altLang="en-US" sz="32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n-cs"/>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4338" name="Rectangle 7"/>
          <p:cNvSpPr>
            <a:spLocks noGrp="1"/>
          </p:cNvSpPr>
          <p:nvPr>
            <p:ph type="body" idx="4294967295"/>
          </p:nvPr>
        </p:nvSpPr>
        <p:spPr>
          <a:xfrm>
            <a:off x="1619250" y="1484313"/>
            <a:ext cx="6551613" cy="3060700"/>
          </a:xfrm>
          <a:ln/>
        </p:spPr>
        <p:txBody>
          <a:bodyPr vert="horz" wrap="square" lIns="91440" tIns="45720" rIns="91440" bIns="45720" anchor="t" anchorCtr="0"/>
          <a:p>
            <a:pPr eaLnBrk="1" hangingPunct="1">
              <a:buNone/>
            </a:pPr>
            <a:r>
              <a:rPr lang="en-US" altLang="zh-CN" sz="4000" dirty="0"/>
              <a:t>       </a:t>
            </a:r>
            <a:r>
              <a:rPr lang="zh-CN" altLang="en-US" sz="3200" dirty="0">
                <a:solidFill>
                  <a:schemeClr val="tx1"/>
                </a:solidFill>
                <a:ea typeface="隶书" panose="02010509060101010101" pitchFamily="49" charset="-122"/>
              </a:rPr>
              <a:t>具体设计时，先使用线框模型将三维物体内部特征展示出来，然后采用真实光照模型和曲面绘制技术产生最终效果图。</a:t>
            </a:r>
            <a:endParaRPr lang="zh-CN" altLang="en-US" sz="4000" b="1" dirty="0">
              <a:solidFill>
                <a:schemeClr val="tx1"/>
              </a:solidFill>
            </a:endParaRPr>
          </a:p>
        </p:txBody>
      </p:sp>
      <p:pic>
        <p:nvPicPr>
          <p:cNvPr id="16387" name="Picture 9" descr="未标题-3 拷贝"/>
          <p:cNvPicPr>
            <a:picLocks noChangeAspect="1"/>
          </p:cNvPicPr>
          <p:nvPr/>
        </p:nvPicPr>
        <p:blipFill>
          <a:blip r:embed="rId1"/>
          <a:stretch>
            <a:fillRect/>
          </a:stretch>
        </p:blipFill>
        <p:spPr>
          <a:xfrm>
            <a:off x="1979613" y="765175"/>
            <a:ext cx="6192837" cy="5354638"/>
          </a:xfrm>
          <a:prstGeom prst="rect">
            <a:avLst/>
          </a:prstGeom>
          <a:noFill/>
          <a:ln w="9525">
            <a:noFill/>
          </a:ln>
        </p:spPr>
      </p:pic>
      <p:sp>
        <p:nvSpPr>
          <p:cNvPr id="16388" name="Text Box 10"/>
          <p:cNvSpPr txBox="1"/>
          <p:nvPr/>
        </p:nvSpPr>
        <p:spPr>
          <a:xfrm>
            <a:off x="3348038" y="6165850"/>
            <a:ext cx="360045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ctr" eaLnBrk="1" hangingPunct="1">
              <a:spcBef>
                <a:spcPct val="50000"/>
              </a:spcBef>
              <a:buClrTx/>
              <a:buSzTx/>
              <a:buFont typeface="Arial" panose="020B0604020202020204" pitchFamily="34" charset="0"/>
              <a:buNone/>
            </a:pPr>
            <a:r>
              <a:rPr lang="zh-CN" altLang="en-US" sz="2400" dirty="0">
                <a:solidFill>
                  <a:schemeClr val="tx1"/>
                </a:solidFill>
                <a:latin typeface="楷体_GB2312" pitchFamily="49" charset="-122"/>
              </a:rPr>
              <a:t>旋耕刀辊设计图</a:t>
            </a:r>
            <a:endParaRPr lang="zh-CN" altLang="en-US" sz="2400" dirty="0">
              <a:solidFill>
                <a:schemeClr val="tx1"/>
              </a:solidFill>
              <a:latin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6388"/>
                                        </p:tgtEl>
                                        <p:attrNameLst>
                                          <p:attrName>style.visibility</p:attrName>
                                        </p:attrNameLst>
                                      </p:cBhvr>
                                      <p:to>
                                        <p:strVal val="visible"/>
                                      </p:to>
                                    </p:set>
                                    <p:anim calcmode="lin" valueType="num">
                                      <p:cBhvr additive="base">
                                        <p:cTn id="11" dur="500" fill="hold"/>
                                        <p:tgtEl>
                                          <p:spTgt spid="16388"/>
                                        </p:tgtEl>
                                        <p:attrNameLst>
                                          <p:attrName>ppt_x</p:attrName>
                                        </p:attrNameLst>
                                      </p:cBhvr>
                                      <p:tavLst>
                                        <p:tav tm="0">
                                          <p:val>
                                            <p:strVal val="#ppt_x"/>
                                          </p:val>
                                        </p:tav>
                                        <p:tav tm="100000">
                                          <p:val>
                                            <p:strVal val="#ppt_x"/>
                                          </p:val>
                                        </p:tav>
                                      </p:tavLst>
                                    </p:anim>
                                    <p:anim calcmode="lin" valueType="num">
                                      <p:cBhvr additive="base">
                                        <p:cTn id="12" dur="500" fill="hold"/>
                                        <p:tgtEl>
                                          <p:spTgt spid="163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5362" name="Rectangle 7"/>
          <p:cNvSpPr>
            <a:spLocks noGrp="1"/>
          </p:cNvSpPr>
          <p:nvPr>
            <p:ph type="body" idx="4294967295"/>
          </p:nvPr>
        </p:nvSpPr>
        <p:spPr>
          <a:ln/>
        </p:spPr>
        <p:txBody>
          <a:bodyPr vert="horz" wrap="square" lIns="91440" tIns="45720" rIns="91440" bIns="45720" anchor="t" anchorCtr="0"/>
          <a:p>
            <a:pPr marL="533400" indent="-533400" eaLnBrk="1" hangingPunct="1">
              <a:buClr>
                <a:srgbClr val="000066"/>
              </a:buClr>
              <a:buNone/>
            </a:pPr>
            <a:endParaRPr lang="en-US" altLang="zh-CN" dirty="0"/>
          </a:p>
          <a:p>
            <a:pPr marL="533400" indent="-533400" eaLnBrk="1" hangingPunct="1">
              <a:buClr>
                <a:srgbClr val="000066"/>
              </a:buClr>
              <a:buFont typeface="Wingdings" panose="05000000000000000000" pitchFamily="2" charset="2"/>
              <a:buChar char="n"/>
            </a:pPr>
            <a:endParaRPr lang="zh-CN" altLang="en-US" dirty="0">
              <a:latin typeface="隶书" panose="02010509060101010101" pitchFamily="49" charset="-122"/>
              <a:ea typeface="隶书" panose="02010509060101010101" pitchFamily="49" charset="-122"/>
            </a:endParaRPr>
          </a:p>
        </p:txBody>
      </p:sp>
      <p:sp>
        <p:nvSpPr>
          <p:cNvPr id="15363" name="Text Box 11"/>
          <p:cNvSpPr txBox="1"/>
          <p:nvPr/>
        </p:nvSpPr>
        <p:spPr>
          <a:xfrm>
            <a:off x="2843213" y="5949950"/>
            <a:ext cx="4176712"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ctr" eaLnBrk="1" hangingPunct="1">
              <a:spcBef>
                <a:spcPct val="0"/>
              </a:spcBef>
              <a:buClrTx/>
              <a:buSzTx/>
              <a:buFont typeface="Arial" panose="020B0604020202020204" pitchFamily="34" charset="0"/>
              <a:buNone/>
            </a:pPr>
            <a:r>
              <a:rPr lang="zh-CN" altLang="en-US" sz="2400" dirty="0">
                <a:solidFill>
                  <a:schemeClr val="tx1"/>
                </a:solidFill>
                <a:latin typeface="楷体_GB2312" pitchFamily="49" charset="-122"/>
              </a:rPr>
              <a:t>博创研究所所长办公室效果图</a:t>
            </a:r>
            <a:endParaRPr lang="zh-CN" altLang="en-US" sz="2400" dirty="0">
              <a:solidFill>
                <a:schemeClr val="tx1"/>
              </a:solidFill>
              <a:latin typeface="楷体_GB2312" pitchFamily="49" charset="-122"/>
            </a:endParaRPr>
          </a:p>
        </p:txBody>
      </p:sp>
      <p:pic>
        <p:nvPicPr>
          <p:cNvPr id="15364" name="Picture 13" descr="BGS渲染图"/>
          <p:cNvPicPr>
            <a:picLocks noChangeAspect="1"/>
          </p:cNvPicPr>
          <p:nvPr/>
        </p:nvPicPr>
        <p:blipFill>
          <a:blip r:embed="rId1"/>
          <a:stretch>
            <a:fillRect/>
          </a:stretch>
        </p:blipFill>
        <p:spPr>
          <a:xfrm>
            <a:off x="1763713" y="404813"/>
            <a:ext cx="6911975" cy="5187950"/>
          </a:xfrm>
          <a:prstGeom prst="rect">
            <a:avLst/>
          </a:prstGeom>
          <a:noFill/>
          <a:ln w="9525">
            <a:noFill/>
          </a:ln>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6386" name="Text Box 11"/>
          <p:cNvSpPr txBox="1"/>
          <p:nvPr/>
        </p:nvSpPr>
        <p:spPr>
          <a:xfrm>
            <a:off x="1089025" y="3649663"/>
            <a:ext cx="18415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just" eaLnBrk="1" hangingPunct="1">
              <a:spcBef>
                <a:spcPct val="50000"/>
              </a:spcBef>
              <a:buClr>
                <a:schemeClr val="accent1"/>
              </a:buClr>
              <a:buSzPct val="90000"/>
              <a:buFont typeface="Monotype Sorts" charset="2"/>
              <a:buNone/>
            </a:pPr>
            <a:r>
              <a:rPr lang="zh-CN" altLang="en-US" sz="2000" dirty="0">
                <a:solidFill>
                  <a:schemeClr val="tx1"/>
                </a:solidFill>
                <a:latin typeface="Times New Roman" panose="02020603050405020304" pitchFamily="18" charset="0"/>
                <a:ea typeface="宋体" panose="02010600030101010101" pitchFamily="2" charset="-122"/>
              </a:rPr>
              <a:t>  </a:t>
            </a:r>
            <a:endParaRPr lang="zh-CN" altLang="en-US" sz="2000" dirty="0">
              <a:solidFill>
                <a:schemeClr val="tx1"/>
              </a:solidFill>
              <a:latin typeface="Times New Roman" panose="02020603050405020304" pitchFamily="18" charset="0"/>
              <a:ea typeface="宋体" panose="02010600030101010101" pitchFamily="2" charset="-122"/>
            </a:endParaRPr>
          </a:p>
        </p:txBody>
      </p:sp>
      <p:sp>
        <p:nvSpPr>
          <p:cNvPr id="16387" name="Text Box 12"/>
          <p:cNvSpPr txBox="1"/>
          <p:nvPr/>
        </p:nvSpPr>
        <p:spPr>
          <a:xfrm>
            <a:off x="838200" y="3048000"/>
            <a:ext cx="1525588"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just" eaLnBrk="1" hangingPunct="1">
              <a:buClr>
                <a:schemeClr val="accent1"/>
              </a:buClr>
              <a:buSzPct val="90000"/>
              <a:buFont typeface="Monotype Sorts" charset="2"/>
              <a:buNone/>
            </a:pPr>
            <a:r>
              <a:rPr lang="zh-CN" altLang="en-US" sz="2000" dirty="0">
                <a:solidFill>
                  <a:schemeClr val="tx1"/>
                </a:solidFill>
                <a:latin typeface="Times New Roman" panose="02020603050405020304" pitchFamily="18" charset="0"/>
                <a:ea typeface="宋体" panose="02010600030101010101" pitchFamily="2" charset="-122"/>
              </a:rPr>
              <a:t> </a:t>
            </a:r>
            <a:endParaRPr lang="zh-CN" altLang="en-US" sz="2000" dirty="0">
              <a:solidFill>
                <a:srgbClr val="663300"/>
              </a:solidFill>
              <a:latin typeface="Times New Roman" panose="02020603050405020304" pitchFamily="18" charset="0"/>
              <a:ea typeface="宋体" panose="02010600030101010101" pitchFamily="2" charset="-122"/>
            </a:endParaRPr>
          </a:p>
        </p:txBody>
      </p:sp>
      <p:sp>
        <p:nvSpPr>
          <p:cNvPr id="16388" name="Text Box 13"/>
          <p:cNvSpPr txBox="1"/>
          <p:nvPr/>
        </p:nvSpPr>
        <p:spPr>
          <a:xfrm>
            <a:off x="1089025" y="3802063"/>
            <a:ext cx="18415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just" eaLnBrk="1" hangingPunct="1">
              <a:spcBef>
                <a:spcPct val="50000"/>
              </a:spcBef>
              <a:buClr>
                <a:schemeClr val="accent1"/>
              </a:buClr>
              <a:buSzPct val="90000"/>
              <a:buFont typeface="Monotype Sorts" charset="2"/>
              <a:buNone/>
            </a:pPr>
            <a:r>
              <a:rPr lang="zh-CN" altLang="en-US" sz="2000" dirty="0">
                <a:solidFill>
                  <a:schemeClr val="tx1"/>
                </a:solidFill>
                <a:latin typeface="Times New Roman" panose="02020603050405020304" pitchFamily="18" charset="0"/>
                <a:ea typeface="宋体" panose="02010600030101010101" pitchFamily="2" charset="-122"/>
              </a:rPr>
              <a:t> </a:t>
            </a:r>
            <a:endParaRPr lang="zh-CN" altLang="en-US" sz="2000" dirty="0">
              <a:solidFill>
                <a:schemeClr val="tx1"/>
              </a:solidFill>
              <a:latin typeface="Times New Roman" panose="02020603050405020304" pitchFamily="18" charset="0"/>
              <a:ea typeface="宋体" panose="02010600030101010101" pitchFamily="2" charset="-122"/>
            </a:endParaRPr>
          </a:p>
        </p:txBody>
      </p:sp>
      <p:sp>
        <p:nvSpPr>
          <p:cNvPr id="16389" name="Text Box 34"/>
          <p:cNvSpPr txBox="1"/>
          <p:nvPr/>
        </p:nvSpPr>
        <p:spPr>
          <a:xfrm>
            <a:off x="4067175" y="6021388"/>
            <a:ext cx="23177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zh-CN" altLang="en-US" sz="2400" dirty="0">
                <a:solidFill>
                  <a:schemeClr val="tx1"/>
                </a:solidFill>
                <a:latin typeface="楷体_GB2312" pitchFamily="49" charset="-122"/>
              </a:rPr>
              <a:t>学生宿舍效果图</a:t>
            </a:r>
            <a:endParaRPr lang="zh-CN" altLang="en-US" sz="2400" dirty="0">
              <a:solidFill>
                <a:schemeClr val="tx1"/>
              </a:solidFill>
              <a:latin typeface="楷体_GB2312" pitchFamily="49" charset="-122"/>
            </a:endParaRPr>
          </a:p>
        </p:txBody>
      </p:sp>
      <p:pic>
        <p:nvPicPr>
          <p:cNvPr id="16390" name="Picture 35" descr="未标题-1 拷贝"/>
          <p:cNvPicPr>
            <a:picLocks noChangeAspect="1"/>
          </p:cNvPicPr>
          <p:nvPr/>
        </p:nvPicPr>
        <p:blipFill>
          <a:blip r:embed="rId1"/>
          <a:stretch>
            <a:fillRect/>
          </a:stretch>
        </p:blipFill>
        <p:spPr>
          <a:xfrm>
            <a:off x="1547813" y="836613"/>
            <a:ext cx="7273925" cy="4364037"/>
          </a:xfrm>
          <a:prstGeom prst="rect">
            <a:avLst/>
          </a:prstGeom>
          <a:noFill/>
          <a:ln w="9525">
            <a:noFill/>
          </a:ln>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7410" name="Rectangle 6"/>
          <p:cNvSpPr>
            <a:spLocks noGrp="1"/>
          </p:cNvSpPr>
          <p:nvPr>
            <p:ph type="body" idx="4294967295"/>
          </p:nvPr>
        </p:nvSpPr>
        <p:spPr>
          <a:xfrm>
            <a:off x="1116013" y="1916113"/>
            <a:ext cx="7772400" cy="3771900"/>
          </a:xfrm>
          <a:ln/>
        </p:spPr>
        <p:txBody>
          <a:bodyPr vert="horz" wrap="square" lIns="91440" tIns="45720" rIns="91440" bIns="45720" anchor="t" anchorCtr="0"/>
          <a:p>
            <a:pPr eaLnBrk="1" hangingPunct="1">
              <a:lnSpc>
                <a:spcPct val="150000"/>
              </a:lnSpc>
              <a:buNone/>
            </a:pPr>
            <a:r>
              <a:rPr lang="zh-CN" altLang="en-US" sz="2400" dirty="0">
                <a:solidFill>
                  <a:srgbClr val="3366FF"/>
                </a:solidFill>
                <a:latin typeface="楷体_GB2312" pitchFamily="49" charset="-122"/>
              </a:rPr>
              <a:t>     </a:t>
            </a:r>
            <a:r>
              <a:rPr lang="zh-CN" altLang="en-US" sz="2400" dirty="0">
                <a:solidFill>
                  <a:schemeClr val="tx1"/>
                </a:solidFill>
                <a:latin typeface="楷体_GB2312" pitchFamily="49" charset="-122"/>
              </a:rPr>
              <a:t>计算机图形学广泛应用于美术设计中，称为计算机艺术（</a:t>
            </a:r>
            <a:r>
              <a:rPr lang="en-US" altLang="zh-CN" sz="2400" dirty="0">
                <a:solidFill>
                  <a:schemeClr val="tx1"/>
                </a:solidFill>
                <a:latin typeface="楷体_GB2312" pitchFamily="49" charset="-122"/>
              </a:rPr>
              <a:t>Computer Art</a:t>
            </a:r>
            <a:r>
              <a:rPr lang="zh-CN" altLang="en-US" sz="2400" dirty="0">
                <a:solidFill>
                  <a:schemeClr val="tx1"/>
                </a:solidFill>
                <a:latin typeface="楷体_GB2312" pitchFamily="49" charset="-122"/>
              </a:rPr>
              <a:t>，</a:t>
            </a:r>
            <a:r>
              <a:rPr lang="en-US" altLang="zh-CN" sz="2400" dirty="0">
                <a:solidFill>
                  <a:schemeClr val="tx1"/>
                </a:solidFill>
                <a:latin typeface="楷体_GB2312" pitchFamily="49" charset="-122"/>
              </a:rPr>
              <a:t>CA</a:t>
            </a:r>
            <a:r>
              <a:rPr lang="zh-CN" altLang="en-US" sz="2400" dirty="0">
                <a:solidFill>
                  <a:schemeClr val="tx1"/>
                </a:solidFill>
                <a:latin typeface="楷体_GB2312" pitchFamily="49" charset="-122"/>
              </a:rPr>
              <a:t>），动画设计是其典型代表。目前</a:t>
            </a:r>
            <a:r>
              <a:rPr lang="en-US" altLang="zh-CN" sz="2400" dirty="0">
                <a:solidFill>
                  <a:schemeClr val="tx1"/>
                </a:solidFill>
                <a:latin typeface="楷体_GB2312" pitchFamily="49" charset="-122"/>
              </a:rPr>
              <a:t>,</a:t>
            </a:r>
            <a:r>
              <a:rPr lang="zh-CN" altLang="en-US" sz="2400" dirty="0">
                <a:solidFill>
                  <a:schemeClr val="tx1"/>
                </a:solidFill>
                <a:latin typeface="楷体_GB2312" pitchFamily="49" charset="-122"/>
              </a:rPr>
              <a:t>计算机动画已经广泛应用于影视特技、商业广告、游戏、计算机辅助教学等领域。</a:t>
            </a:r>
            <a:endParaRPr lang="zh-CN" altLang="en-US" sz="2400" dirty="0">
              <a:solidFill>
                <a:schemeClr val="tx1"/>
              </a:solidFill>
              <a:latin typeface="楷体_GB2312" pitchFamily="49" charset="-122"/>
            </a:endParaRPr>
          </a:p>
          <a:p>
            <a:pPr eaLnBrk="1" hangingPunct="1">
              <a:lnSpc>
                <a:spcPct val="150000"/>
              </a:lnSpc>
              <a:buNone/>
            </a:pPr>
            <a:r>
              <a:rPr lang="zh-CN" altLang="en-US" sz="2400" dirty="0">
                <a:solidFill>
                  <a:schemeClr val="tx1"/>
                </a:solidFill>
                <a:latin typeface="楷体_GB2312" pitchFamily="49" charset="-122"/>
              </a:rPr>
              <a:t>      许多商业广告中还用到变形（</a:t>
            </a:r>
            <a:r>
              <a:rPr lang="en-US" altLang="zh-CN" sz="2400" dirty="0">
                <a:solidFill>
                  <a:schemeClr val="tx1"/>
                </a:solidFill>
                <a:latin typeface="楷体_GB2312" pitchFamily="49" charset="-122"/>
              </a:rPr>
              <a:t>Morph</a:t>
            </a:r>
            <a:r>
              <a:rPr lang="zh-CN" altLang="en-US" sz="2400" dirty="0">
                <a:solidFill>
                  <a:schemeClr val="tx1"/>
                </a:solidFill>
                <a:latin typeface="楷体_GB2312" pitchFamily="49" charset="-122"/>
              </a:rPr>
              <a:t>）的图形处理方法，可以将一个人的脸变成另一个人的脸。</a:t>
            </a:r>
            <a:endParaRPr lang="zh-CN" altLang="en-US" sz="2400" dirty="0">
              <a:solidFill>
                <a:schemeClr val="tx1"/>
              </a:solidFill>
              <a:latin typeface="楷体_GB2312" pitchFamily="49" charset="-122"/>
            </a:endParaRPr>
          </a:p>
        </p:txBody>
      </p:sp>
      <p:sp>
        <p:nvSpPr>
          <p:cNvPr id="19459" name="Rectangle 7"/>
          <p:cNvSpPr>
            <a:spLocks noChangeArrowheads="1"/>
          </p:cNvSpPr>
          <p:nvPr/>
        </p:nvSpPr>
        <p:spPr bwMode="auto">
          <a:xfrm>
            <a:off x="1692275" y="560388"/>
            <a:ext cx="4678363" cy="579438"/>
          </a:xfrm>
          <a:prstGeom prst="rect">
            <a:avLst/>
          </a:prstGeom>
          <a:noFill/>
          <a:ln>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sz="3200" b="1" i="0" u="none" strike="noStrike" kern="1200" cap="none" spc="0" normalizeH="0" baseline="0" noProof="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n-cs"/>
              </a:rPr>
              <a:t>1.1.3 </a:t>
            </a:r>
            <a:r>
              <a:rPr kumimoji="0" lang="zh-CN" altLang="en-US" sz="3200" b="1" i="0" u="none" strike="noStrike" kern="1200" cap="none" spc="0" normalizeH="0" baseline="0" noProof="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n-cs"/>
              </a:rPr>
              <a:t>计算机艺术（</a:t>
            </a:r>
            <a:r>
              <a:rPr kumimoji="0" lang="en-US" sz="3200" b="1" i="0" u="none" strike="noStrike" kern="1200" cap="none" spc="0" normalizeH="0" baseline="0" noProof="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n-cs"/>
              </a:rPr>
              <a:t>CA</a:t>
            </a:r>
            <a:r>
              <a:rPr kumimoji="0" lang="zh-CN" altLang="en-US" sz="3200" b="1" i="0" u="none" strike="noStrike" kern="1200" cap="none" spc="0" normalizeH="0" baseline="0" noProof="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n-cs"/>
              </a:rPr>
              <a:t>）</a:t>
            </a:r>
            <a:endParaRPr kumimoji="0" lang="zh-CN" altLang="en-US" sz="3200" b="1" i="0" u="none" strike="noStrike" kern="1200" cap="none" spc="0" normalizeH="0" baseline="0" noProof="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n-cs"/>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20482" name="Picture 11" descr="man"/>
          <p:cNvPicPr>
            <a:picLocks noChangeAspect="1"/>
          </p:cNvPicPr>
          <p:nvPr/>
        </p:nvPicPr>
        <p:blipFill>
          <a:blip r:embed="rId1"/>
          <a:stretch>
            <a:fillRect/>
          </a:stretch>
        </p:blipFill>
        <p:spPr>
          <a:xfrm>
            <a:off x="1116013" y="0"/>
            <a:ext cx="1336675" cy="1582738"/>
          </a:xfrm>
          <a:prstGeom prst="rect">
            <a:avLst/>
          </a:prstGeom>
          <a:noFill/>
          <a:ln w="9525">
            <a:noFill/>
          </a:ln>
        </p:spPr>
      </p:pic>
      <p:pic>
        <p:nvPicPr>
          <p:cNvPr id="20483" name="Picture 12" descr="0"/>
          <p:cNvPicPr>
            <a:picLocks noChangeAspect="1"/>
          </p:cNvPicPr>
          <p:nvPr/>
        </p:nvPicPr>
        <p:blipFill>
          <a:blip r:embed="rId2"/>
          <a:stretch>
            <a:fillRect/>
          </a:stretch>
        </p:blipFill>
        <p:spPr>
          <a:xfrm>
            <a:off x="2339975" y="908050"/>
            <a:ext cx="1354138" cy="1800225"/>
          </a:xfrm>
          <a:prstGeom prst="rect">
            <a:avLst/>
          </a:prstGeom>
          <a:noFill/>
          <a:ln w="9525">
            <a:noFill/>
          </a:ln>
        </p:spPr>
      </p:pic>
      <p:pic>
        <p:nvPicPr>
          <p:cNvPr id="20484" name="Picture 13" descr="mw"/>
          <p:cNvPicPr>
            <a:picLocks noChangeAspect="1"/>
          </p:cNvPicPr>
          <p:nvPr/>
        </p:nvPicPr>
        <p:blipFill>
          <a:blip r:embed="rId3"/>
          <a:stretch>
            <a:fillRect/>
          </a:stretch>
        </p:blipFill>
        <p:spPr>
          <a:xfrm>
            <a:off x="3492500" y="1628775"/>
            <a:ext cx="1533525" cy="1943100"/>
          </a:xfrm>
          <a:prstGeom prst="rect">
            <a:avLst/>
          </a:prstGeom>
          <a:noFill/>
          <a:ln w="9525">
            <a:noFill/>
          </a:ln>
        </p:spPr>
      </p:pic>
      <p:pic>
        <p:nvPicPr>
          <p:cNvPr id="20485" name="Picture 14" descr="2"/>
          <p:cNvPicPr>
            <a:picLocks noChangeAspect="1"/>
          </p:cNvPicPr>
          <p:nvPr/>
        </p:nvPicPr>
        <p:blipFill>
          <a:blip r:embed="rId4"/>
          <a:stretch>
            <a:fillRect/>
          </a:stretch>
        </p:blipFill>
        <p:spPr>
          <a:xfrm>
            <a:off x="4859338" y="2565400"/>
            <a:ext cx="1508125" cy="1871663"/>
          </a:xfrm>
          <a:prstGeom prst="rect">
            <a:avLst/>
          </a:prstGeom>
          <a:noFill/>
          <a:ln w="9525">
            <a:noFill/>
          </a:ln>
        </p:spPr>
      </p:pic>
      <p:pic>
        <p:nvPicPr>
          <p:cNvPr id="20486" name="Picture 15" descr="3"/>
          <p:cNvPicPr>
            <a:picLocks noChangeAspect="1"/>
          </p:cNvPicPr>
          <p:nvPr/>
        </p:nvPicPr>
        <p:blipFill>
          <a:blip r:embed="rId5"/>
          <a:stretch>
            <a:fillRect/>
          </a:stretch>
        </p:blipFill>
        <p:spPr>
          <a:xfrm>
            <a:off x="6300788" y="3644900"/>
            <a:ext cx="1433512" cy="1800225"/>
          </a:xfrm>
          <a:prstGeom prst="rect">
            <a:avLst/>
          </a:prstGeom>
          <a:noFill/>
          <a:ln w="9525">
            <a:noFill/>
          </a:ln>
        </p:spPr>
      </p:pic>
      <p:pic>
        <p:nvPicPr>
          <p:cNvPr id="20487" name="Picture 16" descr="w"/>
          <p:cNvPicPr>
            <a:picLocks noChangeAspect="1"/>
          </p:cNvPicPr>
          <p:nvPr/>
        </p:nvPicPr>
        <p:blipFill>
          <a:blip r:embed="rId6"/>
          <a:stretch>
            <a:fillRect/>
          </a:stretch>
        </p:blipFill>
        <p:spPr>
          <a:xfrm>
            <a:off x="7651750" y="4941888"/>
            <a:ext cx="1492250" cy="1773237"/>
          </a:xfrm>
          <a:prstGeom prst="rect">
            <a:avLst/>
          </a:prstGeom>
          <a:noFill/>
          <a:ln w="9525">
            <a:noFill/>
          </a:ln>
        </p:spPr>
      </p:pic>
      <p:sp>
        <p:nvSpPr>
          <p:cNvPr id="20488" name="Rectangle 17">
            <a:hlinkClick r:id="rId7" action="ppaction://hlinkfile"/>
          </p:cNvPr>
          <p:cNvSpPr/>
          <p:nvPr/>
        </p:nvSpPr>
        <p:spPr>
          <a:xfrm>
            <a:off x="3779838" y="6015038"/>
            <a:ext cx="23177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50000"/>
              </a:spcBef>
              <a:buClrTx/>
              <a:buSzTx/>
              <a:buFont typeface="Arial" panose="020B0604020202020204" pitchFamily="34" charset="0"/>
              <a:buNone/>
            </a:pPr>
            <a:r>
              <a:rPr lang="zh-CN" altLang="en-US" sz="2400" dirty="0">
                <a:solidFill>
                  <a:schemeClr val="tx1"/>
                </a:solidFill>
                <a:latin typeface="楷体_GB2312" pitchFamily="49" charset="-122"/>
                <a:hlinkClick r:id="rId8" action="ppaction://hlinkfile"/>
              </a:rPr>
              <a:t>邦德与邦德女郎</a:t>
            </a:r>
            <a:endParaRPr lang="zh-CN" altLang="en-US" sz="2400" dirty="0">
              <a:solidFill>
                <a:schemeClr val="tx1"/>
              </a:solidFill>
              <a:latin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482"/>
                                        </p:tgtEl>
                                        <p:attrNameLst>
                                          <p:attrName>style.visibility</p:attrName>
                                        </p:attrNameLst>
                                      </p:cBhvr>
                                      <p:to>
                                        <p:strVal val="visible"/>
                                      </p:to>
                                    </p:set>
                                    <p:anim calcmode="lin" valueType="num">
                                      <p:cBhvr additive="base">
                                        <p:cTn id="7" dur="500" fill="hold"/>
                                        <p:tgtEl>
                                          <p:spTgt spid="20482"/>
                                        </p:tgtEl>
                                        <p:attrNameLst>
                                          <p:attrName>ppt_x</p:attrName>
                                        </p:attrNameLst>
                                      </p:cBhvr>
                                      <p:tavLst>
                                        <p:tav tm="0">
                                          <p:val>
                                            <p:strVal val="#ppt_x"/>
                                          </p:val>
                                        </p:tav>
                                        <p:tav tm="100000">
                                          <p:val>
                                            <p:strVal val="#ppt_x"/>
                                          </p:val>
                                        </p:tav>
                                      </p:tavLst>
                                    </p:anim>
                                    <p:anim calcmode="lin" valueType="num">
                                      <p:cBhvr additive="base">
                                        <p:cTn id="8" dur="500" fill="hold"/>
                                        <p:tgtEl>
                                          <p:spTgt spid="2048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483"/>
                                        </p:tgtEl>
                                        <p:attrNameLst>
                                          <p:attrName>style.visibility</p:attrName>
                                        </p:attrNameLst>
                                      </p:cBhvr>
                                      <p:to>
                                        <p:strVal val="visible"/>
                                      </p:to>
                                    </p:set>
                                    <p:anim calcmode="lin" valueType="num">
                                      <p:cBhvr additive="base">
                                        <p:cTn id="13" dur="500" fill="hold"/>
                                        <p:tgtEl>
                                          <p:spTgt spid="20483"/>
                                        </p:tgtEl>
                                        <p:attrNameLst>
                                          <p:attrName>ppt_x</p:attrName>
                                        </p:attrNameLst>
                                      </p:cBhvr>
                                      <p:tavLst>
                                        <p:tav tm="0">
                                          <p:val>
                                            <p:strVal val="#ppt_x"/>
                                          </p:val>
                                        </p:tav>
                                        <p:tav tm="100000">
                                          <p:val>
                                            <p:strVal val="#ppt_x"/>
                                          </p:val>
                                        </p:tav>
                                      </p:tavLst>
                                    </p:anim>
                                    <p:anim calcmode="lin" valueType="num">
                                      <p:cBhvr additive="base">
                                        <p:cTn id="14" dur="500" fill="hold"/>
                                        <p:tgtEl>
                                          <p:spTgt spid="2048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0484"/>
                                        </p:tgtEl>
                                        <p:attrNameLst>
                                          <p:attrName>style.visibility</p:attrName>
                                        </p:attrNameLst>
                                      </p:cBhvr>
                                      <p:to>
                                        <p:strVal val="visible"/>
                                      </p:to>
                                    </p:set>
                                    <p:anim calcmode="lin" valueType="num">
                                      <p:cBhvr additive="base">
                                        <p:cTn id="19" dur="500" fill="hold"/>
                                        <p:tgtEl>
                                          <p:spTgt spid="20484"/>
                                        </p:tgtEl>
                                        <p:attrNameLst>
                                          <p:attrName>ppt_x</p:attrName>
                                        </p:attrNameLst>
                                      </p:cBhvr>
                                      <p:tavLst>
                                        <p:tav tm="0">
                                          <p:val>
                                            <p:strVal val="#ppt_x"/>
                                          </p:val>
                                        </p:tav>
                                        <p:tav tm="100000">
                                          <p:val>
                                            <p:strVal val="#ppt_x"/>
                                          </p:val>
                                        </p:tav>
                                      </p:tavLst>
                                    </p:anim>
                                    <p:anim calcmode="lin" valueType="num">
                                      <p:cBhvr additive="base">
                                        <p:cTn id="20" dur="500" fill="hold"/>
                                        <p:tgtEl>
                                          <p:spTgt spid="2048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0485"/>
                                        </p:tgtEl>
                                        <p:attrNameLst>
                                          <p:attrName>style.visibility</p:attrName>
                                        </p:attrNameLst>
                                      </p:cBhvr>
                                      <p:to>
                                        <p:strVal val="visible"/>
                                      </p:to>
                                    </p:set>
                                    <p:anim calcmode="lin" valueType="num">
                                      <p:cBhvr additive="base">
                                        <p:cTn id="25" dur="500" fill="hold"/>
                                        <p:tgtEl>
                                          <p:spTgt spid="20485"/>
                                        </p:tgtEl>
                                        <p:attrNameLst>
                                          <p:attrName>ppt_x</p:attrName>
                                        </p:attrNameLst>
                                      </p:cBhvr>
                                      <p:tavLst>
                                        <p:tav tm="0">
                                          <p:val>
                                            <p:strVal val="#ppt_x"/>
                                          </p:val>
                                        </p:tav>
                                        <p:tav tm="100000">
                                          <p:val>
                                            <p:strVal val="#ppt_x"/>
                                          </p:val>
                                        </p:tav>
                                      </p:tavLst>
                                    </p:anim>
                                    <p:anim calcmode="lin" valueType="num">
                                      <p:cBhvr additive="base">
                                        <p:cTn id="26" dur="500" fill="hold"/>
                                        <p:tgtEl>
                                          <p:spTgt spid="2048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0486"/>
                                        </p:tgtEl>
                                        <p:attrNameLst>
                                          <p:attrName>style.visibility</p:attrName>
                                        </p:attrNameLst>
                                      </p:cBhvr>
                                      <p:to>
                                        <p:strVal val="visible"/>
                                      </p:to>
                                    </p:set>
                                    <p:anim calcmode="lin" valueType="num">
                                      <p:cBhvr additive="base">
                                        <p:cTn id="31" dur="500" fill="hold"/>
                                        <p:tgtEl>
                                          <p:spTgt spid="20486"/>
                                        </p:tgtEl>
                                        <p:attrNameLst>
                                          <p:attrName>ppt_x</p:attrName>
                                        </p:attrNameLst>
                                      </p:cBhvr>
                                      <p:tavLst>
                                        <p:tav tm="0">
                                          <p:val>
                                            <p:strVal val="#ppt_x"/>
                                          </p:val>
                                        </p:tav>
                                        <p:tav tm="100000">
                                          <p:val>
                                            <p:strVal val="#ppt_x"/>
                                          </p:val>
                                        </p:tav>
                                      </p:tavLst>
                                    </p:anim>
                                    <p:anim calcmode="lin" valueType="num">
                                      <p:cBhvr additive="base">
                                        <p:cTn id="32" dur="500" fill="hold"/>
                                        <p:tgtEl>
                                          <p:spTgt spid="2048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0487"/>
                                        </p:tgtEl>
                                        <p:attrNameLst>
                                          <p:attrName>style.visibility</p:attrName>
                                        </p:attrNameLst>
                                      </p:cBhvr>
                                      <p:to>
                                        <p:strVal val="visible"/>
                                      </p:to>
                                    </p:set>
                                    <p:anim calcmode="lin" valueType="num">
                                      <p:cBhvr additive="base">
                                        <p:cTn id="37" dur="500" fill="hold"/>
                                        <p:tgtEl>
                                          <p:spTgt spid="20487"/>
                                        </p:tgtEl>
                                        <p:attrNameLst>
                                          <p:attrName>ppt_x</p:attrName>
                                        </p:attrNameLst>
                                      </p:cBhvr>
                                      <p:tavLst>
                                        <p:tav tm="0">
                                          <p:val>
                                            <p:strVal val="#ppt_x"/>
                                          </p:val>
                                        </p:tav>
                                        <p:tav tm="100000">
                                          <p:val>
                                            <p:strVal val="#ppt_x"/>
                                          </p:val>
                                        </p:tav>
                                      </p:tavLst>
                                    </p:anim>
                                    <p:anim calcmode="lin" valueType="num">
                                      <p:cBhvr additive="base">
                                        <p:cTn id="38" dur="500" fill="hold"/>
                                        <p:tgtEl>
                                          <p:spTgt spid="20487"/>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0488"/>
                                        </p:tgtEl>
                                        <p:attrNameLst>
                                          <p:attrName>style.visibility</p:attrName>
                                        </p:attrNameLst>
                                      </p:cBhvr>
                                      <p:to>
                                        <p:strVal val="visible"/>
                                      </p:to>
                                    </p:set>
                                    <p:anim calcmode="lin" valueType="num">
                                      <p:cBhvr additive="base">
                                        <p:cTn id="43" dur="500" fill="hold"/>
                                        <p:tgtEl>
                                          <p:spTgt spid="20488"/>
                                        </p:tgtEl>
                                        <p:attrNameLst>
                                          <p:attrName>ppt_x</p:attrName>
                                        </p:attrNameLst>
                                      </p:cBhvr>
                                      <p:tavLst>
                                        <p:tav tm="0">
                                          <p:val>
                                            <p:strVal val="#ppt_x"/>
                                          </p:val>
                                        </p:tav>
                                        <p:tav tm="100000">
                                          <p:val>
                                            <p:strVal val="#ppt_x"/>
                                          </p:val>
                                        </p:tav>
                                      </p:tavLst>
                                    </p:anim>
                                    <p:anim calcmode="lin" valueType="num">
                                      <p:cBhvr additive="base">
                                        <p:cTn id="44" dur="500" fill="hold"/>
                                        <p:tgtEl>
                                          <p:spTgt spid="204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8"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21506" name="Picture 6" descr="1"/>
          <p:cNvPicPr>
            <a:picLocks noChangeAspect="1"/>
          </p:cNvPicPr>
          <p:nvPr/>
        </p:nvPicPr>
        <p:blipFill>
          <a:blip r:embed="rId1"/>
          <a:stretch>
            <a:fillRect/>
          </a:stretch>
        </p:blipFill>
        <p:spPr>
          <a:xfrm>
            <a:off x="1187450" y="0"/>
            <a:ext cx="1419225" cy="2205038"/>
          </a:xfrm>
          <a:prstGeom prst="rect">
            <a:avLst/>
          </a:prstGeom>
          <a:noFill/>
          <a:ln w="9525">
            <a:noFill/>
          </a:ln>
        </p:spPr>
      </p:pic>
      <p:pic>
        <p:nvPicPr>
          <p:cNvPr id="21507" name="Picture 7" descr="2"/>
          <p:cNvPicPr>
            <a:picLocks noChangeAspect="1"/>
          </p:cNvPicPr>
          <p:nvPr/>
        </p:nvPicPr>
        <p:blipFill>
          <a:blip r:embed="rId2"/>
          <a:stretch>
            <a:fillRect/>
          </a:stretch>
        </p:blipFill>
        <p:spPr>
          <a:xfrm>
            <a:off x="2627313" y="1412875"/>
            <a:ext cx="1333500" cy="2160588"/>
          </a:xfrm>
          <a:prstGeom prst="rect">
            <a:avLst/>
          </a:prstGeom>
          <a:noFill/>
          <a:ln w="9525">
            <a:noFill/>
          </a:ln>
        </p:spPr>
      </p:pic>
      <p:pic>
        <p:nvPicPr>
          <p:cNvPr id="21508" name="Picture 8" descr="3"/>
          <p:cNvPicPr>
            <a:picLocks noChangeAspect="1"/>
          </p:cNvPicPr>
          <p:nvPr/>
        </p:nvPicPr>
        <p:blipFill>
          <a:blip r:embed="rId3"/>
          <a:stretch>
            <a:fillRect/>
          </a:stretch>
        </p:blipFill>
        <p:spPr>
          <a:xfrm>
            <a:off x="3995738" y="2205038"/>
            <a:ext cx="1273175" cy="1978025"/>
          </a:xfrm>
          <a:prstGeom prst="rect">
            <a:avLst/>
          </a:prstGeom>
          <a:noFill/>
          <a:ln w="9525">
            <a:noFill/>
          </a:ln>
        </p:spPr>
      </p:pic>
      <p:pic>
        <p:nvPicPr>
          <p:cNvPr id="21509" name="Picture 9" descr="4"/>
          <p:cNvPicPr>
            <a:picLocks noChangeAspect="1"/>
          </p:cNvPicPr>
          <p:nvPr/>
        </p:nvPicPr>
        <p:blipFill>
          <a:blip r:embed="rId4"/>
          <a:stretch>
            <a:fillRect/>
          </a:stretch>
        </p:blipFill>
        <p:spPr>
          <a:xfrm>
            <a:off x="5292725" y="2997200"/>
            <a:ext cx="1273175" cy="1978025"/>
          </a:xfrm>
          <a:prstGeom prst="rect">
            <a:avLst/>
          </a:prstGeom>
          <a:noFill/>
          <a:ln w="9525">
            <a:noFill/>
          </a:ln>
        </p:spPr>
      </p:pic>
      <p:pic>
        <p:nvPicPr>
          <p:cNvPr id="21510" name="Picture 10" descr="5"/>
          <p:cNvPicPr>
            <a:picLocks noChangeAspect="1"/>
          </p:cNvPicPr>
          <p:nvPr/>
        </p:nvPicPr>
        <p:blipFill>
          <a:blip r:embed="rId5"/>
          <a:stretch>
            <a:fillRect/>
          </a:stretch>
        </p:blipFill>
        <p:spPr>
          <a:xfrm>
            <a:off x="6659563" y="3716338"/>
            <a:ext cx="1223962" cy="1833562"/>
          </a:xfrm>
          <a:prstGeom prst="rect">
            <a:avLst/>
          </a:prstGeom>
          <a:noFill/>
          <a:ln w="9525">
            <a:noFill/>
          </a:ln>
        </p:spPr>
      </p:pic>
      <p:pic>
        <p:nvPicPr>
          <p:cNvPr id="21511" name="Picture 11" descr="6"/>
          <p:cNvPicPr>
            <a:picLocks noChangeAspect="1"/>
          </p:cNvPicPr>
          <p:nvPr/>
        </p:nvPicPr>
        <p:blipFill>
          <a:blip r:embed="rId6"/>
          <a:stretch>
            <a:fillRect/>
          </a:stretch>
        </p:blipFill>
        <p:spPr>
          <a:xfrm>
            <a:off x="7894638" y="4914900"/>
            <a:ext cx="1249362" cy="1943100"/>
          </a:xfrm>
          <a:prstGeom prst="rect">
            <a:avLst/>
          </a:prstGeom>
          <a:noFill/>
          <a:ln w="9525">
            <a:noFill/>
          </a:ln>
        </p:spPr>
      </p:pic>
      <p:sp>
        <p:nvSpPr>
          <p:cNvPr id="21512" name="Rectangle 12">
            <a:hlinkClick r:id="rId7" action="ppaction://hlinkfile"/>
          </p:cNvPr>
          <p:cNvSpPr/>
          <p:nvPr/>
        </p:nvSpPr>
        <p:spPr>
          <a:xfrm>
            <a:off x="3924300" y="5805488"/>
            <a:ext cx="187325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ctr" eaLnBrk="1" hangingPunct="1">
              <a:spcBef>
                <a:spcPct val="50000"/>
              </a:spcBef>
              <a:buClrTx/>
              <a:buSzTx/>
              <a:buFont typeface="Arial" panose="020B0604020202020204" pitchFamily="34" charset="0"/>
              <a:buNone/>
            </a:pPr>
            <a:r>
              <a:rPr lang="zh-CN" altLang="en-US" sz="2400" dirty="0">
                <a:solidFill>
                  <a:schemeClr val="tx1"/>
                </a:solidFill>
                <a:latin typeface="楷体_GB2312" pitchFamily="49" charset="-122"/>
                <a:hlinkClick r:id="rId7" action="ppaction://hlinkfile"/>
              </a:rPr>
              <a:t>我的变脸</a:t>
            </a:r>
            <a:endParaRPr lang="zh-CN" altLang="en-US" sz="2400" dirty="0">
              <a:solidFill>
                <a:schemeClr val="tx1"/>
              </a:solidFill>
              <a:latin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506"/>
                                        </p:tgtEl>
                                        <p:attrNameLst>
                                          <p:attrName>style.visibility</p:attrName>
                                        </p:attrNameLst>
                                      </p:cBhvr>
                                      <p:to>
                                        <p:strVal val="visible"/>
                                      </p:to>
                                    </p:set>
                                    <p:anim calcmode="lin" valueType="num">
                                      <p:cBhvr additive="base">
                                        <p:cTn id="7" dur="500" fill="hold"/>
                                        <p:tgtEl>
                                          <p:spTgt spid="21506"/>
                                        </p:tgtEl>
                                        <p:attrNameLst>
                                          <p:attrName>ppt_x</p:attrName>
                                        </p:attrNameLst>
                                      </p:cBhvr>
                                      <p:tavLst>
                                        <p:tav tm="0">
                                          <p:val>
                                            <p:strVal val="#ppt_x"/>
                                          </p:val>
                                        </p:tav>
                                        <p:tav tm="100000">
                                          <p:val>
                                            <p:strVal val="#ppt_x"/>
                                          </p:val>
                                        </p:tav>
                                      </p:tavLst>
                                    </p:anim>
                                    <p:anim calcmode="lin" valueType="num">
                                      <p:cBhvr additive="base">
                                        <p:cTn id="8" dur="500" fill="hold"/>
                                        <p:tgtEl>
                                          <p:spTgt spid="2150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1507"/>
                                        </p:tgtEl>
                                        <p:attrNameLst>
                                          <p:attrName>style.visibility</p:attrName>
                                        </p:attrNameLst>
                                      </p:cBhvr>
                                      <p:to>
                                        <p:strVal val="visible"/>
                                      </p:to>
                                    </p:set>
                                    <p:anim calcmode="lin" valueType="num">
                                      <p:cBhvr additive="base">
                                        <p:cTn id="13" dur="500" fill="hold"/>
                                        <p:tgtEl>
                                          <p:spTgt spid="21507"/>
                                        </p:tgtEl>
                                        <p:attrNameLst>
                                          <p:attrName>ppt_x</p:attrName>
                                        </p:attrNameLst>
                                      </p:cBhvr>
                                      <p:tavLst>
                                        <p:tav tm="0">
                                          <p:val>
                                            <p:strVal val="#ppt_x"/>
                                          </p:val>
                                        </p:tav>
                                        <p:tav tm="100000">
                                          <p:val>
                                            <p:strVal val="#ppt_x"/>
                                          </p:val>
                                        </p:tav>
                                      </p:tavLst>
                                    </p:anim>
                                    <p:anim calcmode="lin" valueType="num">
                                      <p:cBhvr additive="base">
                                        <p:cTn id="14" dur="500" fill="hold"/>
                                        <p:tgtEl>
                                          <p:spTgt spid="2150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1508"/>
                                        </p:tgtEl>
                                        <p:attrNameLst>
                                          <p:attrName>style.visibility</p:attrName>
                                        </p:attrNameLst>
                                      </p:cBhvr>
                                      <p:to>
                                        <p:strVal val="visible"/>
                                      </p:to>
                                    </p:set>
                                    <p:anim calcmode="lin" valueType="num">
                                      <p:cBhvr additive="base">
                                        <p:cTn id="19" dur="500" fill="hold"/>
                                        <p:tgtEl>
                                          <p:spTgt spid="21508"/>
                                        </p:tgtEl>
                                        <p:attrNameLst>
                                          <p:attrName>ppt_x</p:attrName>
                                        </p:attrNameLst>
                                      </p:cBhvr>
                                      <p:tavLst>
                                        <p:tav tm="0">
                                          <p:val>
                                            <p:strVal val="#ppt_x"/>
                                          </p:val>
                                        </p:tav>
                                        <p:tav tm="100000">
                                          <p:val>
                                            <p:strVal val="#ppt_x"/>
                                          </p:val>
                                        </p:tav>
                                      </p:tavLst>
                                    </p:anim>
                                    <p:anim calcmode="lin" valueType="num">
                                      <p:cBhvr additive="base">
                                        <p:cTn id="20" dur="500" fill="hold"/>
                                        <p:tgtEl>
                                          <p:spTgt spid="2150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1509"/>
                                        </p:tgtEl>
                                        <p:attrNameLst>
                                          <p:attrName>style.visibility</p:attrName>
                                        </p:attrNameLst>
                                      </p:cBhvr>
                                      <p:to>
                                        <p:strVal val="visible"/>
                                      </p:to>
                                    </p:set>
                                    <p:anim calcmode="lin" valueType="num">
                                      <p:cBhvr additive="base">
                                        <p:cTn id="25" dur="500" fill="hold"/>
                                        <p:tgtEl>
                                          <p:spTgt spid="21509"/>
                                        </p:tgtEl>
                                        <p:attrNameLst>
                                          <p:attrName>ppt_x</p:attrName>
                                        </p:attrNameLst>
                                      </p:cBhvr>
                                      <p:tavLst>
                                        <p:tav tm="0">
                                          <p:val>
                                            <p:strVal val="#ppt_x"/>
                                          </p:val>
                                        </p:tav>
                                        <p:tav tm="100000">
                                          <p:val>
                                            <p:strVal val="#ppt_x"/>
                                          </p:val>
                                        </p:tav>
                                      </p:tavLst>
                                    </p:anim>
                                    <p:anim calcmode="lin" valueType="num">
                                      <p:cBhvr additive="base">
                                        <p:cTn id="26" dur="500" fill="hold"/>
                                        <p:tgtEl>
                                          <p:spTgt spid="2150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1510"/>
                                        </p:tgtEl>
                                        <p:attrNameLst>
                                          <p:attrName>style.visibility</p:attrName>
                                        </p:attrNameLst>
                                      </p:cBhvr>
                                      <p:to>
                                        <p:strVal val="visible"/>
                                      </p:to>
                                    </p:set>
                                    <p:anim calcmode="lin" valueType="num">
                                      <p:cBhvr additive="base">
                                        <p:cTn id="31" dur="500" fill="hold"/>
                                        <p:tgtEl>
                                          <p:spTgt spid="21510"/>
                                        </p:tgtEl>
                                        <p:attrNameLst>
                                          <p:attrName>ppt_x</p:attrName>
                                        </p:attrNameLst>
                                      </p:cBhvr>
                                      <p:tavLst>
                                        <p:tav tm="0">
                                          <p:val>
                                            <p:strVal val="#ppt_x"/>
                                          </p:val>
                                        </p:tav>
                                        <p:tav tm="100000">
                                          <p:val>
                                            <p:strVal val="#ppt_x"/>
                                          </p:val>
                                        </p:tav>
                                      </p:tavLst>
                                    </p:anim>
                                    <p:anim calcmode="lin" valueType="num">
                                      <p:cBhvr additive="base">
                                        <p:cTn id="32" dur="500" fill="hold"/>
                                        <p:tgtEl>
                                          <p:spTgt spid="2151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1511"/>
                                        </p:tgtEl>
                                        <p:attrNameLst>
                                          <p:attrName>style.visibility</p:attrName>
                                        </p:attrNameLst>
                                      </p:cBhvr>
                                      <p:to>
                                        <p:strVal val="visible"/>
                                      </p:to>
                                    </p:set>
                                    <p:anim calcmode="lin" valueType="num">
                                      <p:cBhvr additive="base">
                                        <p:cTn id="37" dur="500" fill="hold"/>
                                        <p:tgtEl>
                                          <p:spTgt spid="21511"/>
                                        </p:tgtEl>
                                        <p:attrNameLst>
                                          <p:attrName>ppt_x</p:attrName>
                                        </p:attrNameLst>
                                      </p:cBhvr>
                                      <p:tavLst>
                                        <p:tav tm="0">
                                          <p:val>
                                            <p:strVal val="#ppt_x"/>
                                          </p:val>
                                        </p:tav>
                                        <p:tav tm="100000">
                                          <p:val>
                                            <p:strVal val="#ppt_x"/>
                                          </p:val>
                                        </p:tav>
                                      </p:tavLst>
                                    </p:anim>
                                    <p:anim calcmode="lin" valueType="num">
                                      <p:cBhvr additive="base">
                                        <p:cTn id="38" dur="500" fill="hold"/>
                                        <p:tgtEl>
                                          <p:spTgt spid="2151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1512"/>
                                        </p:tgtEl>
                                        <p:attrNameLst>
                                          <p:attrName>style.visibility</p:attrName>
                                        </p:attrNameLst>
                                      </p:cBhvr>
                                      <p:to>
                                        <p:strVal val="visible"/>
                                      </p:to>
                                    </p:set>
                                    <p:anim calcmode="lin" valueType="num">
                                      <p:cBhvr additive="base">
                                        <p:cTn id="43" dur="500" fill="hold"/>
                                        <p:tgtEl>
                                          <p:spTgt spid="21512"/>
                                        </p:tgtEl>
                                        <p:attrNameLst>
                                          <p:attrName>ppt_x</p:attrName>
                                        </p:attrNameLst>
                                      </p:cBhvr>
                                      <p:tavLst>
                                        <p:tav tm="0">
                                          <p:val>
                                            <p:strVal val="#ppt_x"/>
                                          </p:val>
                                        </p:tav>
                                        <p:tav tm="100000">
                                          <p:val>
                                            <p:strVal val="#ppt_x"/>
                                          </p:val>
                                        </p:tav>
                                      </p:tavLst>
                                    </p:anim>
                                    <p:anim calcmode="lin" valueType="num">
                                      <p:cBhvr additive="base">
                                        <p:cTn id="44" dur="500" fill="hold"/>
                                        <p:tgtEl>
                                          <p:spTgt spid="215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2" grpId="0"/>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20482" name="Picture 7"/>
          <p:cNvPicPr>
            <a:picLocks noChangeAspect="1"/>
          </p:cNvPicPr>
          <p:nvPr/>
        </p:nvPicPr>
        <p:blipFill>
          <a:blip r:embed="rId1"/>
          <a:stretch>
            <a:fillRect/>
          </a:stretch>
        </p:blipFill>
        <p:spPr>
          <a:xfrm>
            <a:off x="2411413" y="1665288"/>
            <a:ext cx="5688012" cy="4427537"/>
          </a:xfrm>
          <a:prstGeom prst="rect">
            <a:avLst/>
          </a:prstGeom>
          <a:noFill/>
          <a:ln w="9525">
            <a:noFill/>
          </a:ln>
        </p:spPr>
      </p:pic>
      <p:sp>
        <p:nvSpPr>
          <p:cNvPr id="20483" name="Text Box 9"/>
          <p:cNvSpPr txBox="1"/>
          <p:nvPr/>
        </p:nvSpPr>
        <p:spPr>
          <a:xfrm>
            <a:off x="4716463" y="549275"/>
            <a:ext cx="252095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ctr" eaLnBrk="1" hangingPunct="1">
              <a:buNone/>
            </a:pPr>
            <a:r>
              <a:rPr lang="zh-CN" altLang="en-US" sz="2400" dirty="0">
                <a:solidFill>
                  <a:schemeClr val="tx1"/>
                </a:solidFill>
                <a:latin typeface="楷体_GB2312" pitchFamily="49" charset="-122"/>
                <a:hlinkClick r:id="rId2" action="ppaction://hlinkfile"/>
              </a:rPr>
              <a:t>女人是老虎</a:t>
            </a:r>
            <a:endParaRPr lang="zh-CN" altLang="en-US" sz="2400" dirty="0">
              <a:solidFill>
                <a:schemeClr val="tx1"/>
              </a:solidFill>
              <a:latin typeface="楷体_GB2312" pitchFamily="49" charset="-122"/>
            </a:endParaRPr>
          </a:p>
        </p:txBody>
      </p:sp>
      <p:sp>
        <p:nvSpPr>
          <p:cNvPr id="20484" name="Rectangle 10"/>
          <p:cNvSpPr/>
          <p:nvPr/>
        </p:nvSpPr>
        <p:spPr>
          <a:xfrm>
            <a:off x="1476375" y="549275"/>
            <a:ext cx="1871663"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ctr" eaLnBrk="1" hangingPunct="1">
              <a:spcBef>
                <a:spcPct val="50000"/>
              </a:spcBef>
              <a:buClrTx/>
              <a:buSzTx/>
              <a:buFont typeface="Arial" panose="020B0604020202020204" pitchFamily="34" charset="0"/>
              <a:buNone/>
            </a:pPr>
            <a:r>
              <a:rPr lang="zh-CN" altLang="en-US" sz="2400" dirty="0">
                <a:solidFill>
                  <a:schemeClr val="tx1"/>
                </a:solidFill>
                <a:latin typeface="楷体_GB2312" pitchFamily="49" charset="-122"/>
                <a:hlinkClick r:id="rId3" action="ppaction://hlinkfile"/>
              </a:rPr>
              <a:t>猫变虎</a:t>
            </a:r>
            <a:endParaRPr lang="zh-CN" altLang="en-US" sz="2400" dirty="0">
              <a:solidFill>
                <a:schemeClr val="tx1"/>
              </a:solidFill>
              <a:latin typeface="楷体_GB2312" pitchFamily="49" charset="-122"/>
            </a:endParaRPr>
          </a:p>
        </p:txBody>
      </p:sp>
      <p:sp>
        <p:nvSpPr>
          <p:cNvPr id="20485" name="Text Box 11"/>
          <p:cNvSpPr txBox="1"/>
          <p:nvPr/>
        </p:nvSpPr>
        <p:spPr>
          <a:xfrm>
            <a:off x="3348038" y="6092825"/>
            <a:ext cx="345757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ctr" eaLnBrk="1" hangingPunct="1">
              <a:spcBef>
                <a:spcPct val="50000"/>
              </a:spcBef>
              <a:buClrTx/>
              <a:buSzTx/>
              <a:buFont typeface="Arial" panose="020B0604020202020204" pitchFamily="34" charset="0"/>
              <a:buNone/>
            </a:pPr>
            <a:r>
              <a:rPr lang="zh-CN" altLang="en-US" sz="2400" dirty="0">
                <a:solidFill>
                  <a:schemeClr val="tx1"/>
                </a:solidFill>
                <a:latin typeface="楷体_GB2312" pitchFamily="49" charset="-122"/>
              </a:rPr>
              <a:t>制作软件</a:t>
            </a:r>
            <a:r>
              <a:rPr lang="en-US" altLang="zh-CN" sz="2400" dirty="0">
                <a:solidFill>
                  <a:schemeClr val="tx1"/>
                </a:solidFill>
                <a:latin typeface="楷体_GB2312" pitchFamily="49" charset="-122"/>
              </a:rPr>
              <a:t>Fun Morph</a:t>
            </a:r>
            <a:endParaRPr lang="en-US" altLang="zh-CN" sz="2400" dirty="0">
              <a:solidFill>
                <a:schemeClr val="tx1"/>
              </a:solidFill>
              <a:latin typeface="楷体_GB2312" pitchFamily="49" charset="-122"/>
            </a:endParaRPr>
          </a:p>
        </p:txBody>
      </p:sp>
      <p:pic>
        <p:nvPicPr>
          <p:cNvPr id="20486" name="Picture 12" descr="MyPhoto"/>
          <p:cNvPicPr>
            <a:picLocks noChangeAspect="1"/>
          </p:cNvPicPr>
          <p:nvPr/>
        </p:nvPicPr>
        <p:blipFill>
          <a:blip r:embed="rId4"/>
          <a:stretch>
            <a:fillRect/>
          </a:stretch>
        </p:blipFill>
        <p:spPr>
          <a:xfrm>
            <a:off x="3203575" y="260350"/>
            <a:ext cx="1100138" cy="1152525"/>
          </a:xfrm>
          <a:prstGeom prst="rect">
            <a:avLst/>
          </a:prstGeom>
          <a:noFill/>
          <a:ln w="9525">
            <a:noFill/>
          </a:ln>
        </p:spPr>
      </p:pic>
      <p:pic>
        <p:nvPicPr>
          <p:cNvPr id="20487" name="Picture 14" descr="女人变老虎"/>
          <p:cNvPicPr>
            <a:picLocks noChangeAspect="1"/>
          </p:cNvPicPr>
          <p:nvPr/>
        </p:nvPicPr>
        <p:blipFill>
          <a:blip r:embed="rId5"/>
          <a:stretch>
            <a:fillRect/>
          </a:stretch>
        </p:blipFill>
        <p:spPr>
          <a:xfrm>
            <a:off x="7164388" y="260350"/>
            <a:ext cx="1152525" cy="1103313"/>
          </a:xfrm>
          <a:prstGeom prst="rect">
            <a:avLst/>
          </a:prstGeom>
          <a:noFill/>
          <a:ln w="9525">
            <a:noFill/>
          </a:ln>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21506" name="Picture 2087" descr="~temp1"/>
          <p:cNvPicPr>
            <a:picLocks noChangeAspect="1"/>
          </p:cNvPicPr>
          <p:nvPr/>
        </p:nvPicPr>
        <p:blipFill>
          <a:blip r:embed="rId1"/>
          <a:stretch>
            <a:fillRect/>
          </a:stretch>
        </p:blipFill>
        <p:spPr>
          <a:xfrm>
            <a:off x="1189038" y="404813"/>
            <a:ext cx="2335212" cy="2449512"/>
          </a:xfrm>
          <a:prstGeom prst="rect">
            <a:avLst/>
          </a:prstGeom>
          <a:noFill/>
          <a:ln w="9525">
            <a:noFill/>
          </a:ln>
        </p:spPr>
      </p:pic>
      <p:pic>
        <p:nvPicPr>
          <p:cNvPr id="21507" name="Picture 2086" descr="catdot"/>
          <p:cNvPicPr>
            <a:picLocks noChangeAspect="1"/>
          </p:cNvPicPr>
          <p:nvPr/>
        </p:nvPicPr>
        <p:blipFill>
          <a:blip r:embed="rId2"/>
          <a:stretch>
            <a:fillRect/>
          </a:stretch>
        </p:blipFill>
        <p:spPr>
          <a:xfrm>
            <a:off x="3708400" y="404813"/>
            <a:ext cx="2368550" cy="2449512"/>
          </a:xfrm>
          <a:prstGeom prst="rect">
            <a:avLst/>
          </a:prstGeom>
          <a:noFill/>
          <a:ln w="9525">
            <a:noFill/>
          </a:ln>
        </p:spPr>
      </p:pic>
      <p:pic>
        <p:nvPicPr>
          <p:cNvPr id="21508" name="Picture 2085" descr="cat"/>
          <p:cNvPicPr>
            <a:picLocks noChangeAspect="1"/>
          </p:cNvPicPr>
          <p:nvPr/>
        </p:nvPicPr>
        <p:blipFill>
          <a:blip r:embed="rId3"/>
          <a:stretch>
            <a:fillRect/>
          </a:stretch>
        </p:blipFill>
        <p:spPr>
          <a:xfrm>
            <a:off x="6288088" y="406400"/>
            <a:ext cx="2390775" cy="2447925"/>
          </a:xfrm>
          <a:prstGeom prst="rect">
            <a:avLst/>
          </a:prstGeom>
          <a:noFill/>
          <a:ln w="9525">
            <a:noFill/>
          </a:ln>
        </p:spPr>
      </p:pic>
      <p:pic>
        <p:nvPicPr>
          <p:cNvPr id="21509" name="Picture 2084" descr="~temp"/>
          <p:cNvPicPr>
            <a:picLocks noChangeAspect="1"/>
          </p:cNvPicPr>
          <p:nvPr/>
        </p:nvPicPr>
        <p:blipFill>
          <a:blip r:embed="rId4"/>
          <a:stretch>
            <a:fillRect/>
          </a:stretch>
        </p:blipFill>
        <p:spPr>
          <a:xfrm>
            <a:off x="1331913" y="3717925"/>
            <a:ext cx="2335212" cy="2447925"/>
          </a:xfrm>
          <a:prstGeom prst="rect">
            <a:avLst/>
          </a:prstGeom>
          <a:noFill/>
          <a:ln w="9525">
            <a:noFill/>
          </a:ln>
        </p:spPr>
      </p:pic>
      <p:pic>
        <p:nvPicPr>
          <p:cNvPr id="21510" name="Picture 2083" descr="tigardot"/>
          <p:cNvPicPr>
            <a:picLocks noChangeAspect="1"/>
          </p:cNvPicPr>
          <p:nvPr/>
        </p:nvPicPr>
        <p:blipFill>
          <a:blip r:embed="rId5"/>
          <a:stretch>
            <a:fillRect/>
          </a:stretch>
        </p:blipFill>
        <p:spPr>
          <a:xfrm>
            <a:off x="3851275" y="3717925"/>
            <a:ext cx="2393950" cy="2447925"/>
          </a:xfrm>
          <a:prstGeom prst="rect">
            <a:avLst/>
          </a:prstGeom>
          <a:noFill/>
          <a:ln w="9525">
            <a:noFill/>
          </a:ln>
        </p:spPr>
      </p:pic>
      <p:pic>
        <p:nvPicPr>
          <p:cNvPr id="21511" name="Picture 2082" descr="tigar"/>
          <p:cNvPicPr>
            <a:picLocks noChangeAspect="1"/>
          </p:cNvPicPr>
          <p:nvPr/>
        </p:nvPicPr>
        <p:blipFill>
          <a:blip r:embed="rId6"/>
          <a:stretch>
            <a:fillRect/>
          </a:stretch>
        </p:blipFill>
        <p:spPr>
          <a:xfrm>
            <a:off x="6516688" y="3717925"/>
            <a:ext cx="2306637" cy="2441575"/>
          </a:xfrm>
          <a:prstGeom prst="rect">
            <a:avLst/>
          </a:prstGeom>
          <a:noFill/>
          <a:ln w="9525">
            <a:noFill/>
          </a:ln>
        </p:spPr>
      </p:pic>
      <p:sp>
        <p:nvSpPr>
          <p:cNvPr id="21512" name="Rectangle 2088"/>
          <p:cNvSpPr/>
          <p:nvPr/>
        </p:nvSpPr>
        <p:spPr>
          <a:xfrm>
            <a:off x="0" y="176213"/>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3200" dirty="0">
              <a:solidFill>
                <a:schemeClr val="tx1"/>
              </a:solidFill>
              <a:ea typeface="宋体" panose="02010600030101010101" pitchFamily="2" charset="-122"/>
            </a:endParaRPr>
          </a:p>
        </p:txBody>
      </p:sp>
      <p:sp>
        <p:nvSpPr>
          <p:cNvPr id="21513" name="Rectangle 2089"/>
          <p:cNvSpPr/>
          <p:nvPr/>
        </p:nvSpPr>
        <p:spPr>
          <a:xfrm>
            <a:off x="0" y="1004888"/>
            <a:ext cx="215900" cy="244475"/>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zh-CN" altLang="en-US" sz="1000" dirty="0">
                <a:solidFill>
                  <a:schemeClr val="tx1"/>
                </a:solidFill>
                <a:latin typeface="Times New Roman" panose="02020603050405020304" pitchFamily="18" charset="0"/>
                <a:ea typeface="宋体" panose="02010600030101010101" pitchFamily="2" charset="-122"/>
              </a:rPr>
              <a:t> </a:t>
            </a:r>
            <a:endParaRPr lang="zh-CN" altLang="en-US" sz="2400" dirty="0">
              <a:solidFill>
                <a:schemeClr val="tx1"/>
              </a:solidFill>
              <a:latin typeface="Arial" panose="020B0604020202020204" pitchFamily="34" charset="0"/>
              <a:ea typeface="宋体" panose="02010600030101010101" pitchFamily="2" charset="-122"/>
            </a:endParaRPr>
          </a:p>
        </p:txBody>
      </p:sp>
      <p:sp>
        <p:nvSpPr>
          <p:cNvPr id="21514" name="Rectangle 2090"/>
          <p:cNvSpPr/>
          <p:nvPr/>
        </p:nvSpPr>
        <p:spPr>
          <a:xfrm>
            <a:off x="0" y="2087563"/>
            <a:ext cx="215900" cy="244475"/>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zh-CN" altLang="en-US" sz="1000" dirty="0">
                <a:solidFill>
                  <a:schemeClr val="tx1"/>
                </a:solidFill>
                <a:latin typeface="Times New Roman" panose="02020603050405020304" pitchFamily="18" charset="0"/>
                <a:ea typeface="宋体" panose="02010600030101010101" pitchFamily="2" charset="-122"/>
              </a:rPr>
              <a:t> </a:t>
            </a:r>
            <a:endParaRPr lang="zh-CN" altLang="en-US" sz="2400" dirty="0">
              <a:solidFill>
                <a:schemeClr val="tx1"/>
              </a:solidFill>
              <a:latin typeface="Arial" panose="020B0604020202020204" pitchFamily="34" charset="0"/>
              <a:ea typeface="宋体" panose="02010600030101010101" pitchFamily="2" charset="-122"/>
            </a:endParaRPr>
          </a:p>
        </p:txBody>
      </p:sp>
      <p:sp>
        <p:nvSpPr>
          <p:cNvPr id="21515" name="Rectangle 2091"/>
          <p:cNvSpPr/>
          <p:nvPr/>
        </p:nvSpPr>
        <p:spPr>
          <a:xfrm>
            <a:off x="0" y="3170238"/>
            <a:ext cx="215900" cy="244475"/>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zh-CN" altLang="en-US" sz="1000" dirty="0">
                <a:solidFill>
                  <a:schemeClr val="tx1"/>
                </a:solidFill>
                <a:latin typeface="Times New Roman" panose="02020603050405020304" pitchFamily="18" charset="0"/>
                <a:ea typeface="宋体" panose="02010600030101010101" pitchFamily="2" charset="-122"/>
              </a:rPr>
              <a:t> </a:t>
            </a:r>
            <a:endParaRPr lang="zh-CN" altLang="en-US" sz="2400" dirty="0">
              <a:solidFill>
                <a:schemeClr val="tx1"/>
              </a:solidFill>
              <a:latin typeface="Arial" panose="020B0604020202020204" pitchFamily="34" charset="0"/>
              <a:ea typeface="宋体" panose="02010600030101010101" pitchFamily="2" charset="-122"/>
            </a:endParaRPr>
          </a:p>
        </p:txBody>
      </p:sp>
      <p:sp>
        <p:nvSpPr>
          <p:cNvPr id="21516" name="Rectangle 2092"/>
          <p:cNvSpPr/>
          <p:nvPr/>
        </p:nvSpPr>
        <p:spPr>
          <a:xfrm>
            <a:off x="0" y="4243388"/>
            <a:ext cx="215900" cy="244475"/>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zh-CN" altLang="en-US" sz="1000" dirty="0">
                <a:solidFill>
                  <a:schemeClr val="tx1"/>
                </a:solidFill>
                <a:latin typeface="Times New Roman" panose="02020603050405020304" pitchFamily="18" charset="0"/>
                <a:ea typeface="宋体" panose="02010600030101010101" pitchFamily="2" charset="-122"/>
              </a:rPr>
              <a:t> </a:t>
            </a:r>
            <a:endParaRPr lang="zh-CN" altLang="en-US" sz="2400" dirty="0">
              <a:solidFill>
                <a:schemeClr val="tx1"/>
              </a:solidFill>
              <a:latin typeface="Arial" panose="020B0604020202020204" pitchFamily="34" charset="0"/>
              <a:ea typeface="宋体" panose="02010600030101010101" pitchFamily="2" charset="-122"/>
            </a:endParaRPr>
          </a:p>
        </p:txBody>
      </p:sp>
      <p:sp>
        <p:nvSpPr>
          <p:cNvPr id="21517" name="Rectangle 2093"/>
          <p:cNvSpPr/>
          <p:nvPr/>
        </p:nvSpPr>
        <p:spPr>
          <a:xfrm>
            <a:off x="0" y="5335588"/>
            <a:ext cx="215900" cy="244475"/>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zh-CN" altLang="en-US" sz="1000" dirty="0">
                <a:solidFill>
                  <a:schemeClr val="tx1"/>
                </a:solidFill>
                <a:latin typeface="Times New Roman" panose="02020603050405020304" pitchFamily="18" charset="0"/>
                <a:ea typeface="宋体" panose="02010600030101010101" pitchFamily="2" charset="-122"/>
              </a:rPr>
              <a:t> </a:t>
            </a:r>
            <a:endParaRPr lang="zh-CN" altLang="en-US" sz="2400" dirty="0">
              <a:solidFill>
                <a:schemeClr val="tx1"/>
              </a:solidFill>
              <a:latin typeface="Arial" panose="020B0604020202020204" pitchFamily="34" charset="0"/>
              <a:ea typeface="宋体" panose="02010600030101010101" pitchFamily="2" charset="-122"/>
            </a:endParaRPr>
          </a:p>
        </p:txBody>
      </p:sp>
      <p:sp>
        <p:nvSpPr>
          <p:cNvPr id="21518" name="Rectangle 2094"/>
          <p:cNvSpPr/>
          <p:nvPr/>
        </p:nvSpPr>
        <p:spPr>
          <a:xfrm>
            <a:off x="0" y="6437313"/>
            <a:ext cx="215900" cy="244475"/>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zh-CN" altLang="en-US" sz="1000" dirty="0">
                <a:solidFill>
                  <a:schemeClr val="tx1"/>
                </a:solidFill>
                <a:latin typeface="Times New Roman" panose="02020603050405020304" pitchFamily="18" charset="0"/>
                <a:ea typeface="宋体" panose="02010600030101010101" pitchFamily="2" charset="-122"/>
              </a:rPr>
              <a:t> </a:t>
            </a:r>
            <a:endParaRPr lang="zh-CN" altLang="en-US" sz="2400" dirty="0">
              <a:solidFill>
                <a:schemeClr val="tx1"/>
              </a:solidFill>
              <a:latin typeface="Arial" panose="020B0604020202020204" pitchFamily="34" charset="0"/>
              <a:ea typeface="宋体" panose="02010600030101010101" pitchFamily="2" charset="-122"/>
            </a:endParaRPr>
          </a:p>
        </p:txBody>
      </p:sp>
      <p:sp>
        <p:nvSpPr>
          <p:cNvPr id="21519" name="Text Box 2095"/>
          <p:cNvSpPr txBox="1"/>
          <p:nvPr/>
        </p:nvSpPr>
        <p:spPr>
          <a:xfrm>
            <a:off x="1763713" y="3070225"/>
            <a:ext cx="1008062"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50000"/>
              </a:spcBef>
              <a:buClrTx/>
              <a:buSzTx/>
              <a:buFont typeface="Arial" panose="020B0604020202020204" pitchFamily="34" charset="0"/>
              <a:buNone/>
            </a:pPr>
            <a:r>
              <a:rPr lang="zh-CN" altLang="en-US" sz="2400" dirty="0">
                <a:solidFill>
                  <a:schemeClr val="tx1"/>
                </a:solidFill>
                <a:latin typeface="楷体_GB2312" pitchFamily="49" charset="-122"/>
              </a:rPr>
              <a:t>源图</a:t>
            </a:r>
            <a:endParaRPr lang="zh-CN" altLang="en-US" sz="2400" dirty="0">
              <a:solidFill>
                <a:schemeClr val="tx1"/>
              </a:solidFill>
              <a:latin typeface="楷体_GB2312" pitchFamily="49" charset="-122"/>
            </a:endParaRPr>
          </a:p>
        </p:txBody>
      </p:sp>
      <p:sp>
        <p:nvSpPr>
          <p:cNvPr id="21520" name="Text Box 2096"/>
          <p:cNvSpPr txBox="1"/>
          <p:nvPr/>
        </p:nvSpPr>
        <p:spPr>
          <a:xfrm>
            <a:off x="1979613" y="6237288"/>
            <a:ext cx="136842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50000"/>
              </a:spcBef>
              <a:buClrTx/>
              <a:buSzTx/>
              <a:buFont typeface="Arial" panose="020B0604020202020204" pitchFamily="34" charset="0"/>
              <a:buNone/>
            </a:pPr>
            <a:r>
              <a:rPr lang="zh-CN" altLang="en-US" sz="2400" dirty="0">
                <a:solidFill>
                  <a:schemeClr val="tx1"/>
                </a:solidFill>
                <a:latin typeface="楷体_GB2312" pitchFamily="49" charset="-122"/>
              </a:rPr>
              <a:t>目标图</a:t>
            </a:r>
            <a:endParaRPr lang="zh-CN" altLang="en-US" sz="2400" dirty="0">
              <a:solidFill>
                <a:schemeClr val="tx1"/>
              </a:solidFill>
              <a:latin typeface="楷体_GB2312" pitchFamily="49" charset="-122"/>
            </a:endParaRPr>
          </a:p>
        </p:txBody>
      </p:sp>
      <p:sp>
        <p:nvSpPr>
          <p:cNvPr id="21521" name="Text Box 2097"/>
          <p:cNvSpPr txBox="1"/>
          <p:nvPr/>
        </p:nvSpPr>
        <p:spPr>
          <a:xfrm>
            <a:off x="4284663" y="2997200"/>
            <a:ext cx="136842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50000"/>
              </a:spcBef>
              <a:buClrTx/>
              <a:buSzTx/>
              <a:buFont typeface="Arial" panose="020B0604020202020204" pitchFamily="34" charset="0"/>
              <a:buNone/>
            </a:pPr>
            <a:r>
              <a:rPr lang="zh-CN" altLang="en-US" sz="2400" dirty="0">
                <a:solidFill>
                  <a:schemeClr val="tx1"/>
                </a:solidFill>
                <a:latin typeface="楷体_GB2312" pitchFamily="49" charset="-122"/>
              </a:rPr>
              <a:t>控制点</a:t>
            </a:r>
            <a:endParaRPr lang="zh-CN" altLang="en-US" sz="2400" dirty="0">
              <a:solidFill>
                <a:schemeClr val="tx1"/>
              </a:solidFill>
              <a:latin typeface="楷体_GB2312" pitchFamily="49" charset="-122"/>
            </a:endParaRPr>
          </a:p>
        </p:txBody>
      </p:sp>
      <p:sp>
        <p:nvSpPr>
          <p:cNvPr id="21522" name="Text Box 2098"/>
          <p:cNvSpPr txBox="1"/>
          <p:nvPr/>
        </p:nvSpPr>
        <p:spPr>
          <a:xfrm>
            <a:off x="4284663" y="6237288"/>
            <a:ext cx="136842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50000"/>
              </a:spcBef>
              <a:buClrTx/>
              <a:buSzTx/>
              <a:buFont typeface="Arial" panose="020B0604020202020204" pitchFamily="34" charset="0"/>
              <a:buNone/>
            </a:pPr>
            <a:r>
              <a:rPr lang="zh-CN" altLang="en-US" sz="2400" dirty="0">
                <a:solidFill>
                  <a:schemeClr val="tx1"/>
                </a:solidFill>
                <a:latin typeface="楷体_GB2312" pitchFamily="49" charset="-122"/>
              </a:rPr>
              <a:t>控制点</a:t>
            </a:r>
            <a:endParaRPr lang="zh-CN" altLang="en-US" sz="2400" dirty="0">
              <a:solidFill>
                <a:schemeClr val="tx1"/>
              </a:solidFill>
              <a:latin typeface="楷体_GB2312" pitchFamily="49" charset="-122"/>
            </a:endParaRPr>
          </a:p>
        </p:txBody>
      </p:sp>
      <p:sp>
        <p:nvSpPr>
          <p:cNvPr id="21523" name="Text Box 2099"/>
          <p:cNvSpPr txBox="1"/>
          <p:nvPr/>
        </p:nvSpPr>
        <p:spPr>
          <a:xfrm>
            <a:off x="6732588" y="2997200"/>
            <a:ext cx="1871662"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50000"/>
              </a:spcBef>
              <a:buClrTx/>
              <a:buSzTx/>
              <a:buFont typeface="Arial" panose="020B0604020202020204" pitchFamily="34" charset="0"/>
              <a:buNone/>
            </a:pPr>
            <a:r>
              <a:rPr lang="zh-CN" altLang="en-US" sz="2400" dirty="0">
                <a:solidFill>
                  <a:schemeClr val="tx1"/>
                </a:solidFill>
                <a:latin typeface="楷体_GB2312" pitchFamily="49" charset="-122"/>
              </a:rPr>
              <a:t>三角形网格</a:t>
            </a:r>
            <a:endParaRPr lang="zh-CN" altLang="en-US" sz="2400" dirty="0">
              <a:solidFill>
                <a:schemeClr val="tx1"/>
              </a:solidFill>
              <a:latin typeface="楷体_GB2312" pitchFamily="49" charset="-122"/>
            </a:endParaRPr>
          </a:p>
        </p:txBody>
      </p:sp>
      <p:sp>
        <p:nvSpPr>
          <p:cNvPr id="21524" name="Text Box 2100"/>
          <p:cNvSpPr txBox="1"/>
          <p:nvPr/>
        </p:nvSpPr>
        <p:spPr>
          <a:xfrm>
            <a:off x="6732588" y="6237288"/>
            <a:ext cx="1871662"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50000"/>
              </a:spcBef>
              <a:buClrTx/>
              <a:buSzTx/>
              <a:buFont typeface="Arial" panose="020B0604020202020204" pitchFamily="34" charset="0"/>
              <a:buNone/>
            </a:pPr>
            <a:r>
              <a:rPr lang="zh-CN" altLang="en-US" sz="2400" dirty="0">
                <a:solidFill>
                  <a:schemeClr val="tx1"/>
                </a:solidFill>
                <a:latin typeface="楷体_GB2312" pitchFamily="49" charset="-122"/>
              </a:rPr>
              <a:t>三角形网格</a:t>
            </a:r>
            <a:endParaRPr lang="zh-CN" altLang="en-US" sz="2400" dirty="0">
              <a:solidFill>
                <a:schemeClr val="tx1"/>
              </a:solidFill>
              <a:latin typeface="楷体_GB2312" pitchFamily="49" charset="-122"/>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2530" name="Rectangle 6"/>
          <p:cNvSpPr>
            <a:spLocks noGrp="1"/>
          </p:cNvSpPr>
          <p:nvPr>
            <p:ph type="body" idx="4294967295"/>
          </p:nvPr>
        </p:nvSpPr>
        <p:spPr>
          <a:xfrm>
            <a:off x="1547813" y="836613"/>
            <a:ext cx="7159625" cy="3024187"/>
          </a:xfrm>
          <a:ln/>
        </p:spPr>
        <p:txBody>
          <a:bodyPr vert="horz" wrap="square" lIns="91440" tIns="45720" rIns="91440" bIns="45720" anchor="t" anchorCtr="0"/>
          <a:p>
            <a:pPr marL="0" indent="355600" eaLnBrk="1" hangingPunct="1">
              <a:lnSpc>
                <a:spcPct val="150000"/>
              </a:lnSpc>
              <a:buNone/>
            </a:pPr>
            <a:r>
              <a:rPr lang="zh-CN" altLang="en-US" dirty="0">
                <a:solidFill>
                  <a:schemeClr val="tx1"/>
                </a:solidFill>
                <a:latin typeface="宋体-18030" pitchFamily="49" charset="-122"/>
                <a:ea typeface="宋体-18030" pitchFamily="49" charset="-122"/>
              </a:rPr>
              <a:t> </a:t>
            </a:r>
            <a:r>
              <a:rPr lang="zh-CN" altLang="en-US" sz="2400" dirty="0">
                <a:solidFill>
                  <a:schemeClr val="tx1"/>
                </a:solidFill>
                <a:latin typeface="楷体_GB2312" pitchFamily="49" charset="-122"/>
              </a:rPr>
              <a:t>分形几何学和计算机图形学相结合的一门边缘学科。分形通过递归实现复杂的图形结构，主要用于描述欧几里得几何学无法描述的自然世界。不借助于计算机图形学技术，</a:t>
            </a:r>
            <a:r>
              <a:rPr lang="en-US" altLang="zh-CN" sz="2400" dirty="0">
                <a:solidFill>
                  <a:schemeClr val="tx1"/>
                </a:solidFill>
                <a:latin typeface="楷体_GB2312" pitchFamily="49" charset="-122"/>
              </a:rPr>
              <a:t>Menger</a:t>
            </a:r>
            <a:r>
              <a:rPr lang="zh-CN" altLang="en-US" sz="2400" dirty="0">
                <a:solidFill>
                  <a:schemeClr val="tx1"/>
                </a:solidFill>
                <a:latin typeface="楷体_GB2312" pitchFamily="49" charset="-122"/>
              </a:rPr>
              <a:t>海绵和</a:t>
            </a:r>
            <a:r>
              <a:rPr lang="en-US" altLang="zh-CN" sz="2400" dirty="0">
                <a:solidFill>
                  <a:schemeClr val="tx1"/>
                </a:solidFill>
                <a:latin typeface="楷体_GB2312" pitchFamily="49" charset="-122"/>
              </a:rPr>
              <a:t>Sierpinski</a:t>
            </a:r>
            <a:r>
              <a:rPr lang="zh-CN" altLang="en-US" sz="2400" dirty="0">
                <a:solidFill>
                  <a:schemeClr val="tx1"/>
                </a:solidFill>
                <a:latin typeface="楷体_GB2312" pitchFamily="49" charset="-122"/>
              </a:rPr>
              <a:t>镂垫根本无法用手工绘制出来。</a:t>
            </a:r>
            <a:endParaRPr lang="zh-CN" altLang="en-US" sz="2400" dirty="0">
              <a:solidFill>
                <a:schemeClr val="tx1"/>
              </a:solidFill>
              <a:latin typeface="楷体_GB2312" pitchFamily="49" charset="-122"/>
            </a:endParaRPr>
          </a:p>
        </p:txBody>
      </p:sp>
      <p:sp>
        <p:nvSpPr>
          <p:cNvPr id="24579" name="Rectangle 7"/>
          <p:cNvSpPr>
            <a:spLocks noChangeArrowheads="1"/>
          </p:cNvSpPr>
          <p:nvPr/>
        </p:nvSpPr>
        <p:spPr bwMode="auto">
          <a:xfrm>
            <a:off x="1331913" y="188913"/>
            <a:ext cx="4897438" cy="579438"/>
          </a:xfrm>
          <a:prstGeom prst="rect">
            <a:avLst/>
          </a:prstGeom>
          <a:noFill/>
          <a:ln>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sz="3200" b="1" i="0" u="none" strike="noStrike" kern="1200" cap="none" spc="0" normalizeH="0" baseline="0" noProof="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n-cs"/>
              </a:rPr>
              <a:t>1.1.3 - </a:t>
            </a:r>
            <a:r>
              <a:rPr kumimoji="0" lang="zh-CN" altLang="en-US" sz="3200" b="1" i="0" u="none" strike="noStrike" kern="1200" cap="none" spc="0" normalizeH="0" baseline="0" noProof="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n-cs"/>
              </a:rPr>
              <a:t>分形艺术</a:t>
            </a:r>
            <a:endParaRPr kumimoji="0" lang="zh-CN" altLang="en-US" sz="3200" b="1" i="0" u="none" strike="noStrike" kern="1200" cap="none" spc="0" normalizeH="0" baseline="0" noProof="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n-cs"/>
            </a:endParaRPr>
          </a:p>
        </p:txBody>
      </p:sp>
      <p:sp>
        <p:nvSpPr>
          <p:cNvPr id="22532" name="Rectangle 20"/>
          <p:cNvSpPr/>
          <p:nvPr/>
        </p:nvSpPr>
        <p:spPr>
          <a:xfrm>
            <a:off x="0" y="1247775"/>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3200" dirty="0">
              <a:solidFill>
                <a:schemeClr val="tx1"/>
              </a:solidFill>
              <a:ea typeface="宋体" panose="02010600030101010101" pitchFamily="2" charset="-122"/>
            </a:endParaRPr>
          </a:p>
        </p:txBody>
      </p:sp>
      <p:sp>
        <p:nvSpPr>
          <p:cNvPr id="24581" name="Rectangle 23">
            <a:hlinkClick r:id="rId1"/>
          </p:cNvPr>
          <p:cNvSpPr/>
          <p:nvPr/>
        </p:nvSpPr>
        <p:spPr>
          <a:xfrm>
            <a:off x="1403350" y="6165850"/>
            <a:ext cx="1944688"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ctr" eaLnBrk="1" hangingPunct="1">
              <a:spcBef>
                <a:spcPct val="50000"/>
              </a:spcBef>
              <a:buClrTx/>
              <a:buSzTx/>
              <a:buFont typeface="Arial" panose="020B0604020202020204" pitchFamily="34" charset="0"/>
              <a:buNone/>
            </a:pPr>
            <a:r>
              <a:rPr lang="en-US" altLang="zh-CN" sz="2400" dirty="0">
                <a:solidFill>
                  <a:schemeClr val="tx1"/>
                </a:solidFill>
                <a:latin typeface="楷体_GB2312" pitchFamily="49" charset="-122"/>
              </a:rPr>
              <a:t>Menger</a:t>
            </a:r>
            <a:r>
              <a:rPr lang="zh-CN" altLang="en-US" sz="2400" dirty="0">
                <a:solidFill>
                  <a:schemeClr val="tx1"/>
                </a:solidFill>
                <a:latin typeface="楷体_GB2312" pitchFamily="49" charset="-122"/>
              </a:rPr>
              <a:t>海绵</a:t>
            </a:r>
            <a:endParaRPr lang="zh-CN" altLang="en-US" sz="2400" dirty="0">
              <a:solidFill>
                <a:schemeClr val="tx1"/>
              </a:solidFill>
              <a:latin typeface="楷体_GB2312" pitchFamily="49" charset="-122"/>
            </a:endParaRPr>
          </a:p>
        </p:txBody>
      </p:sp>
      <p:pic>
        <p:nvPicPr>
          <p:cNvPr id="22534" name="Picture 24" descr="门格尔海绵3"/>
          <p:cNvPicPr>
            <a:picLocks noChangeAspect="1"/>
          </p:cNvPicPr>
          <p:nvPr/>
        </p:nvPicPr>
        <p:blipFill>
          <a:blip r:embed="rId2"/>
          <a:srcRect l="17786" t="3435" r="17786"/>
          <a:stretch>
            <a:fillRect/>
          </a:stretch>
        </p:blipFill>
        <p:spPr>
          <a:xfrm>
            <a:off x="1547813" y="4076700"/>
            <a:ext cx="2087562" cy="2008188"/>
          </a:xfrm>
          <a:prstGeom prst="rect">
            <a:avLst/>
          </a:prstGeom>
          <a:noFill/>
          <a:ln w="9525">
            <a:noFill/>
          </a:ln>
        </p:spPr>
      </p:pic>
      <p:pic>
        <p:nvPicPr>
          <p:cNvPr id="22535" name="Picture 26" descr="手机天线"/>
          <p:cNvPicPr>
            <a:picLocks noChangeAspect="1"/>
          </p:cNvPicPr>
          <p:nvPr/>
        </p:nvPicPr>
        <p:blipFill>
          <a:blip r:embed="rId3"/>
          <a:stretch>
            <a:fillRect/>
          </a:stretch>
        </p:blipFill>
        <p:spPr>
          <a:xfrm>
            <a:off x="6227763" y="3933825"/>
            <a:ext cx="2663825" cy="2055813"/>
          </a:xfrm>
          <a:prstGeom prst="rect">
            <a:avLst/>
          </a:prstGeom>
          <a:noFill/>
          <a:ln w="9525">
            <a:noFill/>
          </a:ln>
        </p:spPr>
      </p:pic>
      <p:pic>
        <p:nvPicPr>
          <p:cNvPr id="22536" name="Picture 27" descr="谢尔宾斯基地毯"/>
          <p:cNvPicPr>
            <a:picLocks noChangeAspect="1"/>
          </p:cNvPicPr>
          <p:nvPr/>
        </p:nvPicPr>
        <p:blipFill>
          <a:blip r:embed="rId4"/>
          <a:stretch>
            <a:fillRect/>
          </a:stretch>
        </p:blipFill>
        <p:spPr>
          <a:xfrm>
            <a:off x="3851275" y="4149725"/>
            <a:ext cx="1770063" cy="1776413"/>
          </a:xfrm>
          <a:prstGeom prst="rect">
            <a:avLst/>
          </a:prstGeom>
          <a:noFill/>
          <a:ln w="9525">
            <a:noFill/>
          </a:ln>
        </p:spPr>
      </p:pic>
      <p:sp>
        <p:nvSpPr>
          <p:cNvPr id="24585" name="Rectangle 28">
            <a:hlinkClick r:id="rId1"/>
          </p:cNvPr>
          <p:cNvSpPr/>
          <p:nvPr/>
        </p:nvSpPr>
        <p:spPr>
          <a:xfrm>
            <a:off x="3563938" y="6165850"/>
            <a:ext cx="244792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ctr" eaLnBrk="1" hangingPunct="1">
              <a:spcBef>
                <a:spcPct val="50000"/>
              </a:spcBef>
              <a:buClrTx/>
              <a:buSzTx/>
              <a:buFont typeface="Arial" panose="020B0604020202020204" pitchFamily="34" charset="0"/>
              <a:buNone/>
            </a:pPr>
            <a:r>
              <a:rPr lang="en-US" altLang="zh-CN" sz="2400" dirty="0">
                <a:solidFill>
                  <a:schemeClr val="tx1"/>
                </a:solidFill>
                <a:latin typeface="楷体_GB2312" pitchFamily="49" charset="-122"/>
              </a:rPr>
              <a:t>Sierpinski</a:t>
            </a:r>
            <a:r>
              <a:rPr lang="zh-CN" altLang="en-US" sz="2400" dirty="0">
                <a:solidFill>
                  <a:schemeClr val="tx1"/>
                </a:solidFill>
                <a:latin typeface="楷体_GB2312" pitchFamily="49" charset="-122"/>
              </a:rPr>
              <a:t>垫片</a:t>
            </a:r>
            <a:endParaRPr lang="zh-CN" altLang="en-US" sz="2400" dirty="0">
              <a:solidFill>
                <a:schemeClr val="tx1"/>
              </a:solidFill>
              <a:latin typeface="楷体_GB2312" pitchFamily="49" charset="-122"/>
            </a:endParaRPr>
          </a:p>
        </p:txBody>
      </p:sp>
      <p:sp>
        <p:nvSpPr>
          <p:cNvPr id="24586" name="Rectangle 29">
            <a:hlinkClick r:id="rId1"/>
          </p:cNvPr>
          <p:cNvSpPr/>
          <p:nvPr/>
        </p:nvSpPr>
        <p:spPr>
          <a:xfrm>
            <a:off x="6659563" y="6165850"/>
            <a:ext cx="1944687"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ctr" eaLnBrk="1" hangingPunct="1">
              <a:spcBef>
                <a:spcPct val="50000"/>
              </a:spcBef>
              <a:buClrTx/>
              <a:buSzTx/>
              <a:buFont typeface="Arial" panose="020B0604020202020204" pitchFamily="34" charset="0"/>
              <a:buNone/>
            </a:pPr>
            <a:r>
              <a:rPr lang="zh-CN" altLang="en-US" sz="2400" dirty="0">
                <a:solidFill>
                  <a:schemeClr val="tx1"/>
                </a:solidFill>
                <a:latin typeface="楷体_GB2312" pitchFamily="49" charset="-122"/>
              </a:rPr>
              <a:t>手机天线</a:t>
            </a:r>
            <a:endParaRPr lang="zh-CN" altLang="en-US" sz="2400" dirty="0">
              <a:solidFill>
                <a:schemeClr val="tx1"/>
              </a:solidFill>
              <a:latin typeface="楷体_GB2312" pitchFamily="49"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458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58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5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p:bldP spid="24585" grpId="0"/>
      <p:bldP spid="2458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5602" name="Picture 5" descr="e"/>
          <p:cNvPicPr>
            <a:picLocks noChangeAspect="1"/>
          </p:cNvPicPr>
          <p:nvPr/>
        </p:nvPicPr>
        <p:blipFill>
          <a:blip r:embed="rId1"/>
          <a:stretch>
            <a:fillRect/>
          </a:stretch>
        </p:blipFill>
        <p:spPr>
          <a:xfrm>
            <a:off x="7380288" y="1014413"/>
            <a:ext cx="1584325" cy="1550987"/>
          </a:xfrm>
          <a:prstGeom prst="rect">
            <a:avLst/>
          </a:prstGeom>
          <a:noFill/>
          <a:ln w="9525">
            <a:noFill/>
          </a:ln>
        </p:spPr>
      </p:pic>
      <p:pic>
        <p:nvPicPr>
          <p:cNvPr id="25603" name="Picture 6" descr="a"/>
          <p:cNvPicPr>
            <a:picLocks noChangeAspect="1"/>
          </p:cNvPicPr>
          <p:nvPr/>
        </p:nvPicPr>
        <p:blipFill>
          <a:blip r:embed="rId2"/>
          <a:stretch>
            <a:fillRect/>
          </a:stretch>
        </p:blipFill>
        <p:spPr>
          <a:xfrm>
            <a:off x="1187450" y="1052513"/>
            <a:ext cx="1512888" cy="1481137"/>
          </a:xfrm>
          <a:prstGeom prst="rect">
            <a:avLst/>
          </a:prstGeom>
          <a:noFill/>
          <a:ln w="9525">
            <a:noFill/>
          </a:ln>
        </p:spPr>
      </p:pic>
      <p:pic>
        <p:nvPicPr>
          <p:cNvPr id="25604" name="Picture 7" descr="b"/>
          <p:cNvPicPr>
            <a:picLocks noChangeAspect="1"/>
          </p:cNvPicPr>
          <p:nvPr/>
        </p:nvPicPr>
        <p:blipFill>
          <a:blip r:embed="rId3"/>
          <a:stretch>
            <a:fillRect/>
          </a:stretch>
        </p:blipFill>
        <p:spPr>
          <a:xfrm>
            <a:off x="2771775" y="1052513"/>
            <a:ext cx="1471613" cy="1441450"/>
          </a:xfrm>
          <a:prstGeom prst="rect">
            <a:avLst/>
          </a:prstGeom>
          <a:noFill/>
          <a:ln w="9525">
            <a:noFill/>
          </a:ln>
        </p:spPr>
      </p:pic>
      <p:pic>
        <p:nvPicPr>
          <p:cNvPr id="25605" name="Picture 8" descr="c"/>
          <p:cNvPicPr>
            <a:picLocks noChangeAspect="1"/>
          </p:cNvPicPr>
          <p:nvPr/>
        </p:nvPicPr>
        <p:blipFill>
          <a:blip r:embed="rId4"/>
          <a:stretch>
            <a:fillRect/>
          </a:stretch>
        </p:blipFill>
        <p:spPr>
          <a:xfrm>
            <a:off x="4302125" y="1052513"/>
            <a:ext cx="1493838" cy="1462087"/>
          </a:xfrm>
          <a:prstGeom prst="rect">
            <a:avLst/>
          </a:prstGeom>
          <a:noFill/>
          <a:ln w="9525">
            <a:noFill/>
          </a:ln>
        </p:spPr>
      </p:pic>
      <p:pic>
        <p:nvPicPr>
          <p:cNvPr id="25606" name="Picture 9" descr="d"/>
          <p:cNvPicPr>
            <a:picLocks noChangeAspect="1"/>
          </p:cNvPicPr>
          <p:nvPr/>
        </p:nvPicPr>
        <p:blipFill>
          <a:blip r:embed="rId5"/>
          <a:stretch>
            <a:fillRect/>
          </a:stretch>
        </p:blipFill>
        <p:spPr>
          <a:xfrm>
            <a:off x="5816600" y="1052513"/>
            <a:ext cx="1492250" cy="1462087"/>
          </a:xfrm>
          <a:prstGeom prst="rect">
            <a:avLst/>
          </a:prstGeom>
          <a:noFill/>
          <a:ln w="9525">
            <a:noFill/>
          </a:ln>
        </p:spPr>
      </p:pic>
      <p:sp>
        <p:nvSpPr>
          <p:cNvPr id="25607" name="Rectangle 10"/>
          <p:cNvSpPr/>
          <p:nvPr/>
        </p:nvSpPr>
        <p:spPr>
          <a:xfrm>
            <a:off x="3708400" y="3141663"/>
            <a:ext cx="266382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ctr" eaLnBrk="1" hangingPunct="1">
              <a:spcBef>
                <a:spcPct val="50000"/>
              </a:spcBef>
              <a:buClrTx/>
              <a:buSzTx/>
              <a:buFont typeface="Arial" panose="020B0604020202020204" pitchFamily="34" charset="0"/>
              <a:buNone/>
            </a:pPr>
            <a:r>
              <a:rPr lang="en-US" altLang="zh-CN" sz="2400" dirty="0">
                <a:solidFill>
                  <a:schemeClr val="tx1"/>
                </a:solidFill>
                <a:latin typeface="楷体_GB2312" pitchFamily="49" charset="-122"/>
                <a:hlinkClick r:id="rId6" action="ppaction://hlinkfile"/>
              </a:rPr>
              <a:t>Menger</a:t>
            </a:r>
            <a:r>
              <a:rPr lang="zh-CN" altLang="en-US" sz="2400" dirty="0">
                <a:solidFill>
                  <a:schemeClr val="tx1"/>
                </a:solidFill>
                <a:latin typeface="楷体_GB2312" pitchFamily="49" charset="-122"/>
                <a:hlinkClick r:id="rId6" action="ppaction://hlinkfile"/>
              </a:rPr>
              <a:t>海绵</a:t>
            </a:r>
            <a:endParaRPr lang="zh-CN" altLang="en-US" sz="2400" dirty="0">
              <a:solidFill>
                <a:schemeClr val="tx1"/>
              </a:solidFill>
              <a:latin typeface="楷体_GB2312" pitchFamily="49" charset="-122"/>
            </a:endParaRPr>
          </a:p>
        </p:txBody>
      </p:sp>
      <p:pic>
        <p:nvPicPr>
          <p:cNvPr id="25608" name="Picture 11"/>
          <p:cNvPicPr>
            <a:picLocks noChangeAspect="1"/>
          </p:cNvPicPr>
          <p:nvPr/>
        </p:nvPicPr>
        <p:blipFill>
          <a:blip r:embed="rId7"/>
          <a:stretch>
            <a:fillRect/>
          </a:stretch>
        </p:blipFill>
        <p:spPr>
          <a:xfrm>
            <a:off x="1403350" y="4210050"/>
            <a:ext cx="1439863" cy="1262063"/>
          </a:xfrm>
          <a:prstGeom prst="rect">
            <a:avLst/>
          </a:prstGeom>
          <a:noFill/>
          <a:ln w="9525">
            <a:noFill/>
          </a:ln>
        </p:spPr>
      </p:pic>
      <p:pic>
        <p:nvPicPr>
          <p:cNvPr id="25609" name="Picture 12"/>
          <p:cNvPicPr>
            <a:picLocks noChangeAspect="1"/>
          </p:cNvPicPr>
          <p:nvPr/>
        </p:nvPicPr>
        <p:blipFill>
          <a:blip r:embed="rId8"/>
          <a:stretch>
            <a:fillRect/>
          </a:stretch>
        </p:blipFill>
        <p:spPr>
          <a:xfrm>
            <a:off x="2916238" y="4221163"/>
            <a:ext cx="1366837" cy="1201737"/>
          </a:xfrm>
          <a:prstGeom prst="rect">
            <a:avLst/>
          </a:prstGeom>
          <a:noFill/>
          <a:ln w="9525">
            <a:noFill/>
          </a:ln>
        </p:spPr>
      </p:pic>
      <p:pic>
        <p:nvPicPr>
          <p:cNvPr id="25610" name="Picture 13"/>
          <p:cNvPicPr>
            <a:picLocks noChangeAspect="1"/>
          </p:cNvPicPr>
          <p:nvPr/>
        </p:nvPicPr>
        <p:blipFill>
          <a:blip r:embed="rId9"/>
          <a:stretch>
            <a:fillRect/>
          </a:stretch>
        </p:blipFill>
        <p:spPr>
          <a:xfrm>
            <a:off x="4356100" y="4213225"/>
            <a:ext cx="1366838" cy="1198563"/>
          </a:xfrm>
          <a:prstGeom prst="rect">
            <a:avLst/>
          </a:prstGeom>
          <a:noFill/>
          <a:ln w="9525">
            <a:noFill/>
          </a:ln>
        </p:spPr>
      </p:pic>
      <p:pic>
        <p:nvPicPr>
          <p:cNvPr id="25611" name="Picture 14"/>
          <p:cNvPicPr>
            <a:picLocks noChangeAspect="1"/>
          </p:cNvPicPr>
          <p:nvPr/>
        </p:nvPicPr>
        <p:blipFill>
          <a:blip r:embed="rId10"/>
          <a:stretch>
            <a:fillRect/>
          </a:stretch>
        </p:blipFill>
        <p:spPr>
          <a:xfrm>
            <a:off x="5795963" y="4186238"/>
            <a:ext cx="1368425" cy="1196975"/>
          </a:xfrm>
          <a:prstGeom prst="rect">
            <a:avLst/>
          </a:prstGeom>
          <a:noFill/>
          <a:ln w="9525">
            <a:noFill/>
          </a:ln>
        </p:spPr>
      </p:pic>
      <p:pic>
        <p:nvPicPr>
          <p:cNvPr id="25612" name="Picture 15"/>
          <p:cNvPicPr>
            <a:picLocks noChangeAspect="1"/>
          </p:cNvPicPr>
          <p:nvPr/>
        </p:nvPicPr>
        <p:blipFill>
          <a:blip r:embed="rId11"/>
          <a:stretch>
            <a:fillRect/>
          </a:stretch>
        </p:blipFill>
        <p:spPr>
          <a:xfrm>
            <a:off x="7308850" y="4192588"/>
            <a:ext cx="1366838" cy="1203325"/>
          </a:xfrm>
          <a:prstGeom prst="rect">
            <a:avLst/>
          </a:prstGeom>
          <a:noFill/>
          <a:ln w="9525">
            <a:noFill/>
          </a:ln>
        </p:spPr>
      </p:pic>
      <p:sp>
        <p:nvSpPr>
          <p:cNvPr id="25613" name="Rectangle 16">
            <a:hlinkClick r:id="rId6"/>
          </p:cNvPr>
          <p:cNvSpPr/>
          <p:nvPr/>
        </p:nvSpPr>
        <p:spPr>
          <a:xfrm>
            <a:off x="3635375" y="5805488"/>
            <a:ext cx="3240088" cy="5794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ctr" eaLnBrk="1" hangingPunct="1">
              <a:spcBef>
                <a:spcPct val="50000"/>
              </a:spcBef>
              <a:buClrTx/>
              <a:buSzTx/>
              <a:buFont typeface="Arial" panose="020B0604020202020204" pitchFamily="34" charset="0"/>
              <a:buNone/>
            </a:pPr>
            <a:r>
              <a:rPr lang="en-US" altLang="zh-CN" sz="2400" dirty="0">
                <a:solidFill>
                  <a:schemeClr val="tx1"/>
                </a:solidFill>
                <a:latin typeface="楷体_GB2312" pitchFamily="49" charset="-122"/>
              </a:rPr>
              <a:t>Sierpinski</a:t>
            </a:r>
            <a:r>
              <a:rPr lang="zh-CN" altLang="en-US" sz="2400" dirty="0">
                <a:solidFill>
                  <a:schemeClr val="tx1"/>
                </a:solidFill>
                <a:latin typeface="楷体_GB2312" pitchFamily="49" charset="-122"/>
                <a:hlinkClick r:id="rId12" action="ppaction://hlinkfile"/>
              </a:rPr>
              <a:t>镂垫</a:t>
            </a:r>
            <a:r>
              <a:rPr lang="zh-CN" altLang="en-US" sz="3200" dirty="0">
                <a:solidFill>
                  <a:schemeClr val="tx1"/>
                </a:solidFill>
                <a:hlinkClick r:id="rId12" action="ppaction://hlinkfile"/>
              </a:rPr>
              <a:t> </a:t>
            </a:r>
            <a:endParaRPr lang="zh-CN" altLang="en-US" sz="3200" dirty="0">
              <a:solidFill>
                <a:schemeClr val="tx1"/>
              </a:solidFill>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60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60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60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60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60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560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60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6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6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6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6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7" grpId="0"/>
      <p:bldP spid="25613" grpId="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6626" name="Rectangle 2"/>
          <p:cNvSpPr>
            <a:spLocks noGrp="1" noChangeArrowheads="1"/>
          </p:cNvSpPr>
          <p:nvPr>
            <p:ph type="title" idx="4294967295"/>
          </p:nvPr>
        </p:nvSpPr>
        <p:spPr>
          <a:xfrm>
            <a:off x="1331913" y="188913"/>
            <a:ext cx="5199063" cy="47625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3200" b="1" i="0" u="none" strike="noStrike" kern="0" cap="none" spc="0" normalizeH="0" baseline="0" noProof="0" smtClean="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j-cs"/>
              </a:rPr>
              <a:t>1.1.4 </a:t>
            </a:r>
            <a:r>
              <a:rPr kumimoji="0" lang="zh-CN" altLang="en-US" sz="3200" b="1" i="0" u="none" strike="noStrike" kern="0" cap="none" spc="0" normalizeH="0" baseline="0" noProof="0" smtClean="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j-cs"/>
              </a:rPr>
              <a:t>虚拟现实（</a:t>
            </a:r>
            <a:r>
              <a:rPr kumimoji="0" lang="en-US" sz="3200" b="1" i="0" u="none" strike="noStrike" kern="0" cap="none" spc="0" normalizeH="0" baseline="0" noProof="0" smtClean="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j-cs"/>
              </a:rPr>
              <a:t>VR</a:t>
            </a:r>
            <a:r>
              <a:rPr kumimoji="0" lang="zh-CN" altLang="en-US" sz="3200" b="1" i="0" u="none" strike="noStrike" kern="0" cap="none" spc="0" normalizeH="0" baseline="0" noProof="0" smtClean="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j-cs"/>
              </a:rPr>
              <a:t>）</a:t>
            </a:r>
            <a:r>
              <a:rPr kumimoji="0" lang="zh-CN" altLang="en-US" sz="3600" b="1" i="0" u="none" strike="noStrike" kern="0" cap="none" spc="0" normalizeH="0" baseline="0" noProof="0" smtClean="0">
                <a:ln>
                  <a:noFill/>
                </a:ln>
                <a:solidFill>
                  <a:srgbClr val="FF3300"/>
                </a:solidFill>
                <a:effectLst/>
                <a:uLnTx/>
                <a:uFillTx/>
                <a:latin typeface="Times New Roman" panose="02020603050405020304" pitchFamily="18" charset="0"/>
                <a:ea typeface="+mj-ea"/>
                <a:cs typeface="Times New Roman" panose="02020603050405020304" pitchFamily="18" charset="0"/>
              </a:rPr>
              <a:t> </a:t>
            </a:r>
            <a:r>
              <a:rPr kumimoji="0" lang="zh-CN" altLang="en-US" sz="3600" b="1" i="0" u="none" strike="noStrike" kern="0" cap="none" spc="0" normalizeH="0" baseline="0" noProof="0" smtClean="0">
                <a:ln>
                  <a:noFill/>
                </a:ln>
                <a:solidFill>
                  <a:srgbClr val="FF3300"/>
                </a:solidFill>
                <a:effectLst/>
                <a:uLnTx/>
                <a:uFillTx/>
                <a:latin typeface="Arial" panose="020B0604020202020204" pitchFamily="34" charset="0"/>
                <a:ea typeface="+mj-ea"/>
                <a:cs typeface="Times New Roman" panose="02020603050405020304" pitchFamily="18" charset="0"/>
              </a:rPr>
              <a:t> </a:t>
            </a:r>
            <a:endParaRPr kumimoji="0" lang="zh-CN" altLang="en-US" sz="3600" b="1" i="0" u="none" strike="noStrike" kern="0" cap="none" spc="0" normalizeH="0" baseline="0" noProof="0" smtClean="0">
              <a:ln>
                <a:noFill/>
              </a:ln>
              <a:solidFill>
                <a:srgbClr val="FF3300"/>
              </a:solidFill>
              <a:effectLst/>
              <a:uLnTx/>
              <a:uFillTx/>
              <a:latin typeface="Times New Roman" panose="02020603050405020304" pitchFamily="18" charset="0"/>
              <a:ea typeface="+mj-ea"/>
              <a:cs typeface="Times New Roman" panose="02020603050405020304" pitchFamily="18" charset="0"/>
            </a:endParaRPr>
          </a:p>
        </p:txBody>
      </p:sp>
      <p:sp>
        <p:nvSpPr>
          <p:cNvPr id="24579" name="Rectangle 3"/>
          <p:cNvSpPr>
            <a:spLocks noGrp="1"/>
          </p:cNvSpPr>
          <p:nvPr>
            <p:ph type="body" idx="4294967295"/>
          </p:nvPr>
        </p:nvSpPr>
        <p:spPr>
          <a:xfrm>
            <a:off x="1116013" y="836613"/>
            <a:ext cx="8027987" cy="5400675"/>
          </a:xfrm>
          <a:ln/>
        </p:spPr>
        <p:txBody>
          <a:bodyPr vert="horz" wrap="square" lIns="91440" tIns="45720" rIns="91440" bIns="45720" anchor="t" anchorCtr="0"/>
          <a:p>
            <a:pPr marL="0" indent="355600" eaLnBrk="1" hangingPunct="1">
              <a:lnSpc>
                <a:spcPct val="130000"/>
              </a:lnSpc>
              <a:buNone/>
            </a:pPr>
            <a:r>
              <a:rPr lang="zh-CN" altLang="en-US" sz="2400" dirty="0">
                <a:solidFill>
                  <a:schemeClr val="tx1"/>
                </a:solidFill>
                <a:latin typeface="楷体_GB2312" pitchFamily="49" charset="-122"/>
              </a:rPr>
              <a:t>  虚拟现实（</a:t>
            </a:r>
            <a:r>
              <a:rPr lang="en-US" altLang="zh-CN" sz="2400" dirty="0">
                <a:solidFill>
                  <a:schemeClr val="tx1"/>
                </a:solidFill>
                <a:latin typeface="楷体_GB2312" pitchFamily="49" charset="-122"/>
              </a:rPr>
              <a:t>virtual reality</a:t>
            </a:r>
            <a:r>
              <a:rPr lang="zh-CN" altLang="en-US" sz="2400" dirty="0">
                <a:solidFill>
                  <a:schemeClr val="tx1"/>
                </a:solidFill>
                <a:latin typeface="楷体_GB2312" pitchFamily="49" charset="-122"/>
              </a:rPr>
              <a:t>，</a:t>
            </a:r>
            <a:r>
              <a:rPr lang="en-US" altLang="zh-CN" sz="2400" dirty="0">
                <a:solidFill>
                  <a:schemeClr val="tx1"/>
                </a:solidFill>
                <a:latin typeface="楷体_GB2312" pitchFamily="49" charset="-122"/>
              </a:rPr>
              <a:t>VR</a:t>
            </a:r>
            <a:r>
              <a:rPr lang="zh-CN" altLang="en-US" sz="2400" dirty="0">
                <a:solidFill>
                  <a:schemeClr val="tx1"/>
                </a:solidFill>
                <a:latin typeface="楷体_GB2312" pitchFamily="49" charset="-122"/>
              </a:rPr>
              <a:t>）技术是利用计算机生成虚拟环境，逼真地模拟人在自然环境中的视觉、听觉、运动等行为的人机交互的新技术。虚拟现实的</a:t>
            </a:r>
            <a:r>
              <a:rPr lang="en-US" altLang="zh-CN" sz="2400" dirty="0">
                <a:solidFill>
                  <a:schemeClr val="tx1"/>
                </a:solidFill>
                <a:latin typeface="楷体_GB2312" pitchFamily="49" charset="-122"/>
              </a:rPr>
              <a:t>3I</a:t>
            </a:r>
            <a:r>
              <a:rPr lang="zh-CN" altLang="en-US" sz="2400" dirty="0">
                <a:solidFill>
                  <a:schemeClr val="tx1"/>
                </a:solidFill>
                <a:latin typeface="楷体_GB2312" pitchFamily="49" charset="-122"/>
              </a:rPr>
              <a:t>特性包括：沉浸性</a:t>
            </a:r>
            <a:r>
              <a:rPr lang="en-US" altLang="zh-CN" sz="2400" dirty="0">
                <a:solidFill>
                  <a:schemeClr val="tx1"/>
                </a:solidFill>
                <a:latin typeface="楷体_GB2312" pitchFamily="49" charset="-122"/>
              </a:rPr>
              <a:t>(</a:t>
            </a:r>
            <a:r>
              <a:rPr lang="en-US" altLang="zh-CN" sz="2400" dirty="0">
                <a:solidFill>
                  <a:srgbClr val="FF0000"/>
                </a:solidFill>
                <a:latin typeface="楷体_GB2312" pitchFamily="49" charset="-122"/>
              </a:rPr>
              <a:t>I</a:t>
            </a:r>
            <a:r>
              <a:rPr lang="en-US" altLang="zh-CN" sz="2400" dirty="0">
                <a:solidFill>
                  <a:schemeClr val="tx1"/>
                </a:solidFill>
                <a:latin typeface="楷体_GB2312" pitchFamily="49" charset="-122"/>
              </a:rPr>
              <a:t>mmersion)</a:t>
            </a:r>
            <a:r>
              <a:rPr lang="zh-CN" altLang="en-US" sz="2400" dirty="0">
                <a:solidFill>
                  <a:schemeClr val="tx1"/>
                </a:solidFill>
                <a:latin typeface="楷体_GB2312" pitchFamily="49" charset="-122"/>
              </a:rPr>
              <a:t>、交互性</a:t>
            </a:r>
            <a:r>
              <a:rPr lang="en-US" altLang="zh-CN" sz="2400" dirty="0">
                <a:solidFill>
                  <a:schemeClr val="tx1"/>
                </a:solidFill>
                <a:latin typeface="楷体_GB2312" pitchFamily="49" charset="-122"/>
              </a:rPr>
              <a:t>(</a:t>
            </a:r>
            <a:r>
              <a:rPr lang="en-US" altLang="zh-CN" sz="2400" dirty="0">
                <a:solidFill>
                  <a:srgbClr val="FF0000"/>
                </a:solidFill>
                <a:latin typeface="楷体_GB2312" pitchFamily="49" charset="-122"/>
              </a:rPr>
              <a:t>I</a:t>
            </a:r>
            <a:r>
              <a:rPr lang="en-US" altLang="zh-CN" sz="2400" dirty="0">
                <a:solidFill>
                  <a:schemeClr val="tx1"/>
                </a:solidFill>
                <a:latin typeface="楷体_GB2312" pitchFamily="49" charset="-122"/>
              </a:rPr>
              <a:t>nteractivity)</a:t>
            </a:r>
            <a:r>
              <a:rPr lang="zh-CN" altLang="en-US" sz="2400" dirty="0">
                <a:solidFill>
                  <a:schemeClr val="tx1"/>
                </a:solidFill>
                <a:latin typeface="楷体_GB2312" pitchFamily="49" charset="-122"/>
              </a:rPr>
              <a:t>、想象性</a:t>
            </a:r>
            <a:r>
              <a:rPr lang="en-US" altLang="zh-CN" sz="2400" dirty="0">
                <a:solidFill>
                  <a:schemeClr val="tx1"/>
                </a:solidFill>
                <a:latin typeface="楷体_GB2312" pitchFamily="49" charset="-122"/>
              </a:rPr>
              <a:t>(</a:t>
            </a:r>
            <a:r>
              <a:rPr lang="en-US" altLang="zh-CN" sz="2400" dirty="0">
                <a:solidFill>
                  <a:srgbClr val="FF0000"/>
                </a:solidFill>
                <a:latin typeface="楷体_GB2312" pitchFamily="49" charset="-122"/>
              </a:rPr>
              <a:t>I</a:t>
            </a:r>
            <a:r>
              <a:rPr lang="en-US" altLang="zh-CN" sz="2400" dirty="0">
                <a:solidFill>
                  <a:schemeClr val="tx1"/>
                </a:solidFill>
                <a:latin typeface="楷体_GB2312" pitchFamily="49" charset="-122"/>
              </a:rPr>
              <a:t>magination)</a:t>
            </a:r>
            <a:r>
              <a:rPr lang="zh-CN" altLang="en-US" sz="2400" dirty="0">
                <a:solidFill>
                  <a:schemeClr val="tx1"/>
                </a:solidFill>
                <a:latin typeface="楷体_GB2312" pitchFamily="49" charset="-122"/>
              </a:rPr>
              <a:t>。</a:t>
            </a:r>
            <a:endParaRPr lang="zh-CN" altLang="en-US" sz="2400" dirty="0">
              <a:solidFill>
                <a:schemeClr val="tx1"/>
              </a:solidFill>
              <a:latin typeface="楷体_GB2312" pitchFamily="49" charset="-122"/>
            </a:endParaRPr>
          </a:p>
          <a:p>
            <a:pPr marL="0" indent="355600" eaLnBrk="1" hangingPunct="1">
              <a:lnSpc>
                <a:spcPct val="130000"/>
              </a:lnSpc>
              <a:buNone/>
            </a:pPr>
            <a:r>
              <a:rPr lang="zh-CN" altLang="en-US" sz="2400" dirty="0">
                <a:solidFill>
                  <a:schemeClr val="tx1"/>
                </a:solidFill>
                <a:latin typeface="楷体_GB2312" pitchFamily="49" charset="-122"/>
              </a:rPr>
              <a:t>  借助于一些特殊设备，如数据手套、头盔显示器等，用户可以</a:t>
            </a:r>
            <a:r>
              <a:rPr lang="zh-CN" altLang="en-US" sz="2400" dirty="0">
                <a:solidFill>
                  <a:schemeClr val="tx1"/>
                </a:solidFill>
                <a:latin typeface="Arial" panose="020B0604020202020204" pitchFamily="34" charset="0"/>
              </a:rPr>
              <a:t>“</a:t>
            </a:r>
            <a:r>
              <a:rPr lang="zh-CN" altLang="en-US" sz="2400" dirty="0">
                <a:solidFill>
                  <a:schemeClr val="tx1"/>
                </a:solidFill>
                <a:latin typeface="楷体_GB2312" pitchFamily="49" charset="-122"/>
              </a:rPr>
              <a:t>沉浸</a:t>
            </a:r>
            <a:r>
              <a:rPr lang="zh-CN" altLang="en-US" sz="2400" dirty="0">
                <a:solidFill>
                  <a:schemeClr val="tx1"/>
                </a:solidFill>
                <a:latin typeface="Arial" panose="020B0604020202020204" pitchFamily="34" charset="0"/>
              </a:rPr>
              <a:t>”</a:t>
            </a:r>
            <a:r>
              <a:rPr lang="zh-CN" altLang="en-US" sz="2400" dirty="0">
                <a:solidFill>
                  <a:schemeClr val="tx1"/>
                </a:solidFill>
                <a:latin typeface="楷体_GB2312" pitchFamily="49" charset="-122"/>
              </a:rPr>
              <a:t>到该环境中。在虚拟现实中，看到的是全彩色的影像，听到的是逼真的音响，感受到的是虚拟环境设备反馈的作用力，从而产生身临其境的感觉。视景仿真是虚拟现实技术最重要的表现形式，已经在城市规划仿真等许多领域得到广泛的应用。 </a:t>
            </a:r>
            <a:endParaRPr lang="zh-CN" altLang="en-US" sz="2400" dirty="0">
              <a:solidFill>
                <a:schemeClr val="tx1"/>
              </a:solidFill>
              <a:latin typeface="楷体_GB2312" pitchFamily="49" charset="-122"/>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5602" name="Picture 4" descr="未标题-8 拷贝"/>
          <p:cNvPicPr>
            <a:picLocks noChangeAspect="1"/>
          </p:cNvPicPr>
          <p:nvPr/>
        </p:nvPicPr>
        <p:blipFill>
          <a:blip r:embed="rId1"/>
          <a:stretch>
            <a:fillRect/>
          </a:stretch>
        </p:blipFill>
        <p:spPr>
          <a:xfrm>
            <a:off x="1331913" y="1125538"/>
            <a:ext cx="1727200" cy="1190625"/>
          </a:xfrm>
          <a:prstGeom prst="rect">
            <a:avLst/>
          </a:prstGeom>
          <a:noFill/>
          <a:ln w="9525">
            <a:noFill/>
          </a:ln>
        </p:spPr>
      </p:pic>
      <p:pic>
        <p:nvPicPr>
          <p:cNvPr id="25603" name="Picture 5" descr="未标题-6 拷贝"/>
          <p:cNvPicPr>
            <a:picLocks noChangeAspect="1"/>
          </p:cNvPicPr>
          <p:nvPr/>
        </p:nvPicPr>
        <p:blipFill>
          <a:blip r:embed="rId2"/>
          <a:stretch>
            <a:fillRect/>
          </a:stretch>
        </p:blipFill>
        <p:spPr>
          <a:xfrm>
            <a:off x="3203575" y="1108075"/>
            <a:ext cx="1800225" cy="1206500"/>
          </a:xfrm>
          <a:prstGeom prst="rect">
            <a:avLst/>
          </a:prstGeom>
          <a:noFill/>
          <a:ln w="9525">
            <a:noFill/>
          </a:ln>
        </p:spPr>
      </p:pic>
      <p:pic>
        <p:nvPicPr>
          <p:cNvPr id="25604" name="Picture 6" descr="未标题-4 拷贝"/>
          <p:cNvPicPr>
            <a:picLocks noChangeAspect="1"/>
          </p:cNvPicPr>
          <p:nvPr/>
        </p:nvPicPr>
        <p:blipFill>
          <a:blip r:embed="rId3"/>
          <a:stretch>
            <a:fillRect/>
          </a:stretch>
        </p:blipFill>
        <p:spPr>
          <a:xfrm>
            <a:off x="5148263" y="1081088"/>
            <a:ext cx="1728787" cy="1200150"/>
          </a:xfrm>
          <a:prstGeom prst="rect">
            <a:avLst/>
          </a:prstGeom>
          <a:noFill/>
          <a:ln w="9525">
            <a:noFill/>
          </a:ln>
        </p:spPr>
      </p:pic>
      <p:pic>
        <p:nvPicPr>
          <p:cNvPr id="25605" name="Picture 7" descr="未标题-2 拷贝"/>
          <p:cNvPicPr>
            <a:picLocks noChangeAspect="1"/>
          </p:cNvPicPr>
          <p:nvPr/>
        </p:nvPicPr>
        <p:blipFill>
          <a:blip r:embed="rId4"/>
          <a:stretch>
            <a:fillRect/>
          </a:stretch>
        </p:blipFill>
        <p:spPr>
          <a:xfrm>
            <a:off x="7019925" y="1058863"/>
            <a:ext cx="1800225" cy="1200150"/>
          </a:xfrm>
          <a:prstGeom prst="rect">
            <a:avLst/>
          </a:prstGeom>
          <a:noFill/>
          <a:ln w="9525">
            <a:noFill/>
          </a:ln>
        </p:spPr>
      </p:pic>
      <p:sp>
        <p:nvSpPr>
          <p:cNvPr id="25606" name="Text Box 8"/>
          <p:cNvSpPr txBox="1"/>
          <p:nvPr/>
        </p:nvSpPr>
        <p:spPr>
          <a:xfrm>
            <a:off x="3492500" y="2781300"/>
            <a:ext cx="345757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ctr" eaLnBrk="1" hangingPunct="1">
              <a:spcBef>
                <a:spcPct val="0"/>
              </a:spcBef>
              <a:buClrTx/>
              <a:buSzTx/>
              <a:buFont typeface="Arial" panose="020B0604020202020204" pitchFamily="34" charset="0"/>
              <a:buNone/>
            </a:pPr>
            <a:r>
              <a:rPr lang="zh-CN" altLang="en-US" sz="2400" dirty="0">
                <a:solidFill>
                  <a:schemeClr val="tx1"/>
                </a:solidFill>
                <a:latin typeface="楷体_GB2312" pitchFamily="49" charset="-122"/>
                <a:hlinkClick r:id="rId5" action="ppaction://hlinkfile"/>
              </a:rPr>
              <a:t>家居花园外景</a:t>
            </a:r>
            <a:endParaRPr lang="zh-CN" altLang="en-US" sz="2400" dirty="0">
              <a:solidFill>
                <a:schemeClr val="tx1"/>
              </a:solidFill>
              <a:latin typeface="楷体_GB2312" pitchFamily="49" charset="-122"/>
            </a:endParaRPr>
          </a:p>
        </p:txBody>
      </p:sp>
      <p:pic>
        <p:nvPicPr>
          <p:cNvPr id="25607" name="Picture 9" descr="3 拷贝"/>
          <p:cNvPicPr>
            <a:picLocks noChangeAspect="1"/>
          </p:cNvPicPr>
          <p:nvPr/>
        </p:nvPicPr>
        <p:blipFill>
          <a:blip r:embed="rId6"/>
          <a:stretch>
            <a:fillRect/>
          </a:stretch>
        </p:blipFill>
        <p:spPr>
          <a:xfrm>
            <a:off x="1474788" y="4244975"/>
            <a:ext cx="1655762" cy="1214438"/>
          </a:xfrm>
          <a:prstGeom prst="rect">
            <a:avLst/>
          </a:prstGeom>
          <a:noFill/>
          <a:ln w="9525">
            <a:noFill/>
          </a:ln>
        </p:spPr>
      </p:pic>
      <p:pic>
        <p:nvPicPr>
          <p:cNvPr id="25608" name="Picture 10" descr="4"/>
          <p:cNvPicPr>
            <a:picLocks noChangeAspect="1"/>
          </p:cNvPicPr>
          <p:nvPr/>
        </p:nvPicPr>
        <p:blipFill>
          <a:blip r:embed="rId7"/>
          <a:stretch>
            <a:fillRect/>
          </a:stretch>
        </p:blipFill>
        <p:spPr>
          <a:xfrm>
            <a:off x="3344863" y="4229100"/>
            <a:ext cx="1657350" cy="1243013"/>
          </a:xfrm>
          <a:prstGeom prst="rect">
            <a:avLst/>
          </a:prstGeom>
          <a:noFill/>
          <a:ln w="9525">
            <a:noFill/>
          </a:ln>
        </p:spPr>
      </p:pic>
      <p:pic>
        <p:nvPicPr>
          <p:cNvPr id="25609" name="Picture 11" descr="5"/>
          <p:cNvPicPr>
            <a:picLocks noChangeAspect="1"/>
          </p:cNvPicPr>
          <p:nvPr/>
        </p:nvPicPr>
        <p:blipFill>
          <a:blip r:embed="rId8"/>
          <a:stretch>
            <a:fillRect/>
          </a:stretch>
        </p:blipFill>
        <p:spPr>
          <a:xfrm>
            <a:off x="5218113" y="4222750"/>
            <a:ext cx="1584325" cy="1189038"/>
          </a:xfrm>
          <a:prstGeom prst="rect">
            <a:avLst/>
          </a:prstGeom>
          <a:noFill/>
          <a:ln w="9525">
            <a:noFill/>
          </a:ln>
        </p:spPr>
      </p:pic>
      <p:pic>
        <p:nvPicPr>
          <p:cNvPr id="25610" name="Picture 12" descr="未标题-2 拷贝"/>
          <p:cNvPicPr>
            <a:picLocks noChangeAspect="1"/>
          </p:cNvPicPr>
          <p:nvPr/>
        </p:nvPicPr>
        <p:blipFill>
          <a:blip r:embed="rId9"/>
          <a:stretch>
            <a:fillRect/>
          </a:stretch>
        </p:blipFill>
        <p:spPr>
          <a:xfrm>
            <a:off x="7089775" y="4221163"/>
            <a:ext cx="1585913" cy="1195387"/>
          </a:xfrm>
          <a:prstGeom prst="rect">
            <a:avLst/>
          </a:prstGeom>
          <a:noFill/>
          <a:ln w="9525">
            <a:noFill/>
          </a:ln>
        </p:spPr>
      </p:pic>
      <p:sp>
        <p:nvSpPr>
          <p:cNvPr id="25611" name="Text Box 13"/>
          <p:cNvSpPr txBox="1"/>
          <p:nvPr/>
        </p:nvSpPr>
        <p:spPr>
          <a:xfrm>
            <a:off x="3419475" y="6021388"/>
            <a:ext cx="345757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ctr" eaLnBrk="1" hangingPunct="1">
              <a:spcBef>
                <a:spcPct val="0"/>
              </a:spcBef>
              <a:buClrTx/>
              <a:buSzTx/>
              <a:buFont typeface="Arial" panose="020B0604020202020204" pitchFamily="34" charset="0"/>
              <a:buNone/>
            </a:pPr>
            <a:r>
              <a:rPr lang="zh-CN" altLang="en-US" sz="2400" dirty="0">
                <a:solidFill>
                  <a:schemeClr val="tx1"/>
                </a:solidFill>
                <a:latin typeface="楷体_GB2312" pitchFamily="49" charset="-122"/>
                <a:hlinkClick r:id="rId10" action="ppaction://hlinkfile"/>
              </a:rPr>
              <a:t>家居花园内景</a:t>
            </a:r>
            <a:endParaRPr lang="zh-CN" altLang="en-US" sz="2400" dirty="0">
              <a:solidFill>
                <a:schemeClr val="tx1"/>
              </a:solidFill>
              <a:latin typeface="楷体_GB2312" pitchFamily="49" charset="-122"/>
            </a:endParaRP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28674" name="Picture 8" descr="17"/>
          <p:cNvPicPr>
            <a:picLocks noChangeAspect="1"/>
          </p:cNvPicPr>
          <p:nvPr/>
        </p:nvPicPr>
        <p:blipFill>
          <a:blip r:embed="rId1"/>
          <a:stretch>
            <a:fillRect/>
          </a:stretch>
        </p:blipFill>
        <p:spPr>
          <a:xfrm>
            <a:off x="1692275" y="692150"/>
            <a:ext cx="1882775" cy="1404938"/>
          </a:xfrm>
          <a:prstGeom prst="rect">
            <a:avLst/>
          </a:prstGeom>
          <a:noFill/>
          <a:ln w="9525">
            <a:noFill/>
          </a:ln>
        </p:spPr>
      </p:pic>
      <p:pic>
        <p:nvPicPr>
          <p:cNvPr id="28675" name="Picture 9" descr="16"/>
          <p:cNvPicPr>
            <a:picLocks noChangeAspect="1"/>
          </p:cNvPicPr>
          <p:nvPr/>
        </p:nvPicPr>
        <p:blipFill>
          <a:blip r:embed="rId2"/>
          <a:stretch>
            <a:fillRect/>
          </a:stretch>
        </p:blipFill>
        <p:spPr>
          <a:xfrm>
            <a:off x="3924300" y="620713"/>
            <a:ext cx="1871663" cy="1400175"/>
          </a:xfrm>
          <a:prstGeom prst="rect">
            <a:avLst/>
          </a:prstGeom>
          <a:noFill/>
          <a:ln w="9525">
            <a:noFill/>
          </a:ln>
        </p:spPr>
      </p:pic>
      <p:pic>
        <p:nvPicPr>
          <p:cNvPr id="28676" name="Picture 10" descr="14"/>
          <p:cNvPicPr>
            <a:picLocks noChangeAspect="1"/>
          </p:cNvPicPr>
          <p:nvPr/>
        </p:nvPicPr>
        <p:blipFill>
          <a:blip r:embed="rId3"/>
          <a:stretch>
            <a:fillRect/>
          </a:stretch>
        </p:blipFill>
        <p:spPr>
          <a:xfrm>
            <a:off x="6156325" y="692150"/>
            <a:ext cx="1800225" cy="1346200"/>
          </a:xfrm>
          <a:prstGeom prst="rect">
            <a:avLst/>
          </a:prstGeom>
          <a:noFill/>
          <a:ln w="9525">
            <a:noFill/>
          </a:ln>
        </p:spPr>
      </p:pic>
      <p:pic>
        <p:nvPicPr>
          <p:cNvPr id="28677" name="Picture 11" descr="15"/>
          <p:cNvPicPr>
            <a:picLocks noChangeAspect="1"/>
          </p:cNvPicPr>
          <p:nvPr/>
        </p:nvPicPr>
        <p:blipFill>
          <a:blip r:embed="rId4"/>
          <a:stretch>
            <a:fillRect/>
          </a:stretch>
        </p:blipFill>
        <p:spPr>
          <a:xfrm>
            <a:off x="1692275" y="2565400"/>
            <a:ext cx="1871663" cy="1406525"/>
          </a:xfrm>
          <a:prstGeom prst="rect">
            <a:avLst/>
          </a:prstGeom>
          <a:noFill/>
          <a:ln w="9525">
            <a:noFill/>
          </a:ln>
        </p:spPr>
      </p:pic>
      <p:pic>
        <p:nvPicPr>
          <p:cNvPr id="28678" name="Picture 12" descr="11"/>
          <p:cNvPicPr>
            <a:picLocks noChangeAspect="1"/>
          </p:cNvPicPr>
          <p:nvPr/>
        </p:nvPicPr>
        <p:blipFill>
          <a:blip r:embed="rId5"/>
          <a:stretch>
            <a:fillRect/>
          </a:stretch>
        </p:blipFill>
        <p:spPr>
          <a:xfrm>
            <a:off x="4067175" y="2492375"/>
            <a:ext cx="1873250" cy="1397000"/>
          </a:xfrm>
          <a:prstGeom prst="rect">
            <a:avLst/>
          </a:prstGeom>
          <a:noFill/>
          <a:ln w="9525">
            <a:noFill/>
          </a:ln>
        </p:spPr>
      </p:pic>
      <p:pic>
        <p:nvPicPr>
          <p:cNvPr id="28679" name="Picture 13" descr="19"/>
          <p:cNvPicPr>
            <a:picLocks noChangeAspect="1"/>
          </p:cNvPicPr>
          <p:nvPr/>
        </p:nvPicPr>
        <p:blipFill>
          <a:blip r:embed="rId6"/>
          <a:stretch>
            <a:fillRect/>
          </a:stretch>
        </p:blipFill>
        <p:spPr>
          <a:xfrm>
            <a:off x="6156325" y="2565400"/>
            <a:ext cx="1800225" cy="1343025"/>
          </a:xfrm>
          <a:prstGeom prst="rect">
            <a:avLst/>
          </a:prstGeom>
          <a:noFill/>
          <a:ln w="9525">
            <a:noFill/>
          </a:ln>
        </p:spPr>
      </p:pic>
      <p:pic>
        <p:nvPicPr>
          <p:cNvPr id="28680" name="Picture 14" descr="12"/>
          <p:cNvPicPr>
            <a:picLocks noChangeAspect="1"/>
          </p:cNvPicPr>
          <p:nvPr/>
        </p:nvPicPr>
        <p:blipFill>
          <a:blip r:embed="rId7"/>
          <a:stretch>
            <a:fillRect/>
          </a:stretch>
        </p:blipFill>
        <p:spPr>
          <a:xfrm>
            <a:off x="2916238" y="4149725"/>
            <a:ext cx="1871662" cy="1408113"/>
          </a:xfrm>
          <a:prstGeom prst="rect">
            <a:avLst/>
          </a:prstGeom>
          <a:noFill/>
          <a:ln w="9525">
            <a:noFill/>
          </a:ln>
        </p:spPr>
      </p:pic>
      <p:pic>
        <p:nvPicPr>
          <p:cNvPr id="28681" name="Picture 15" descr="13"/>
          <p:cNvPicPr>
            <a:picLocks noChangeAspect="1"/>
          </p:cNvPicPr>
          <p:nvPr/>
        </p:nvPicPr>
        <p:blipFill>
          <a:blip r:embed="rId8"/>
          <a:stretch>
            <a:fillRect/>
          </a:stretch>
        </p:blipFill>
        <p:spPr>
          <a:xfrm>
            <a:off x="5076825" y="4149725"/>
            <a:ext cx="1944688" cy="1458913"/>
          </a:xfrm>
          <a:prstGeom prst="rect">
            <a:avLst/>
          </a:prstGeom>
          <a:noFill/>
          <a:ln w="9525">
            <a:noFill/>
          </a:ln>
        </p:spPr>
      </p:pic>
      <p:sp>
        <p:nvSpPr>
          <p:cNvPr id="28682" name="Text Box 16"/>
          <p:cNvSpPr txBox="1"/>
          <p:nvPr/>
        </p:nvSpPr>
        <p:spPr>
          <a:xfrm>
            <a:off x="4067175" y="5981700"/>
            <a:ext cx="23177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zh-CN" altLang="en-US" sz="2400" dirty="0">
                <a:solidFill>
                  <a:schemeClr val="tx1"/>
                </a:solidFill>
                <a:latin typeface="楷体_GB2312" pitchFamily="49" charset="-122"/>
                <a:hlinkClick r:id="rId9" action="ppaction://hlinkfile"/>
              </a:rPr>
              <a:t>博创研究所漫游</a:t>
            </a:r>
            <a:endParaRPr lang="zh-CN" altLang="en-US" sz="2400" dirty="0">
              <a:solidFill>
                <a:schemeClr val="tx1"/>
              </a:solidFill>
              <a:latin typeface="楷体_GB2312" pitchFamily="49"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67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67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67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67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68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68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8682">
                                            <p:txEl>
                                              <p:charRg st="0" end="8"/>
                                            </p:txEl>
                                          </p:spTgt>
                                        </p:tgtEl>
                                        <p:attrNameLst>
                                          <p:attrName>style.visibility</p:attrName>
                                        </p:attrNameLst>
                                      </p:cBhvr>
                                      <p:to>
                                        <p:strVal val="visible"/>
                                      </p:to>
                                    </p:set>
                                    <p:animEffect transition="in" filter="fade">
                                      <p:cBhvr>
                                        <p:cTn id="39" dur="2000"/>
                                        <p:tgtEl>
                                          <p:spTgt spid="28682">
                                            <p:txEl>
                                              <p:charRg st="0"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9698" name="Rectangle 6"/>
          <p:cNvSpPr>
            <a:spLocks noGrp="1" noChangeArrowheads="1"/>
          </p:cNvSpPr>
          <p:nvPr>
            <p:ph type="title" idx="4294967295"/>
          </p:nvPr>
        </p:nvSpPr>
        <p:spPr>
          <a:xfrm>
            <a:off x="1835150" y="333375"/>
            <a:ext cx="6400800" cy="411163"/>
          </a:xfrm>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200" b="1" i="0" u="none" strike="noStrike" kern="0" cap="none" spc="0" normalizeH="0" baseline="0" noProof="0" smtClean="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j-cs"/>
              </a:rPr>
              <a:t>1.1.5 </a:t>
            </a:r>
            <a:r>
              <a:rPr kumimoji="0" lang="zh-CN" altLang="en-US" sz="3200" b="1" i="0" u="none" strike="noStrike" kern="0" cap="none" spc="0" normalizeH="0" baseline="0" noProof="0" smtClean="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j-cs"/>
              </a:rPr>
              <a:t>计算机辅助教学（</a:t>
            </a:r>
            <a:r>
              <a:rPr kumimoji="0" lang="en-US" sz="3200" b="1" i="0" u="none" strike="noStrike" kern="0" cap="none" spc="0" normalizeH="0" baseline="0" noProof="0" smtClean="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j-cs"/>
              </a:rPr>
              <a:t>CAI</a:t>
            </a:r>
            <a:r>
              <a:rPr kumimoji="0" lang="zh-CN" altLang="en-US" sz="3200" b="1" i="0" u="none" strike="noStrike" kern="0" cap="none" spc="0" normalizeH="0" baseline="0" noProof="0" smtClean="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j-cs"/>
              </a:rPr>
              <a:t>）</a:t>
            </a:r>
            <a:endParaRPr kumimoji="0" lang="zh-CN" altLang="en-US" sz="3200" b="1" i="0" u="none" strike="noStrike" kern="0" cap="none" spc="0" normalizeH="0" baseline="0" noProof="0" smtClean="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j-cs"/>
            </a:endParaRPr>
          </a:p>
        </p:txBody>
      </p:sp>
      <p:sp>
        <p:nvSpPr>
          <p:cNvPr id="29699" name="Rectangle 7"/>
          <p:cNvSpPr>
            <a:spLocks noGrp="1"/>
          </p:cNvSpPr>
          <p:nvPr>
            <p:ph type="body" idx="4294967295"/>
          </p:nvPr>
        </p:nvSpPr>
        <p:spPr>
          <a:xfrm>
            <a:off x="1187450" y="1196975"/>
            <a:ext cx="7772400" cy="4608513"/>
          </a:xfrm>
          <a:ln/>
        </p:spPr>
        <p:txBody>
          <a:bodyPr vert="horz" wrap="square" lIns="91440" tIns="45720" rIns="91440" bIns="45720" anchor="t" anchorCtr="0"/>
          <a:p>
            <a:pPr marL="0" indent="0" eaLnBrk="1" hangingPunct="1">
              <a:lnSpc>
                <a:spcPct val="150000"/>
              </a:lnSpc>
              <a:buNone/>
            </a:pPr>
            <a:r>
              <a:rPr lang="zh-CN" altLang="en-US" sz="2400" dirty="0">
                <a:solidFill>
                  <a:schemeClr val="tx1"/>
                </a:solidFill>
                <a:latin typeface="楷体_GB2312" pitchFamily="49" charset="-122"/>
              </a:rPr>
              <a:t>    计算机辅助教学</a:t>
            </a:r>
            <a:r>
              <a:rPr lang="en-US" altLang="zh-CN" sz="2400" dirty="0">
                <a:solidFill>
                  <a:schemeClr val="tx1"/>
                </a:solidFill>
                <a:latin typeface="楷体_GB2312" pitchFamily="49" charset="-122"/>
              </a:rPr>
              <a:t>(Computer Aided Instruction)</a:t>
            </a:r>
            <a:r>
              <a:rPr lang="zh-CN" altLang="en-US" sz="2400" dirty="0">
                <a:solidFill>
                  <a:schemeClr val="tx1"/>
                </a:solidFill>
                <a:latin typeface="楷体_GB2312" pitchFamily="49" charset="-122"/>
              </a:rPr>
              <a:t>是利用计算机图形学技术展示抽象原理或不可见过程的一种新的教学方法。在多媒体教室，教师使用集图、文、声、像为一体的多媒体课件，形象、生动地进行教学，有助于学生理解和接受深奥枯燥的理论。在网络化学习（</a:t>
            </a:r>
            <a:r>
              <a:rPr lang="en-US" altLang="zh-CN" sz="2400" dirty="0">
                <a:solidFill>
                  <a:schemeClr val="tx1"/>
                </a:solidFill>
                <a:latin typeface="楷体_GB2312" pitchFamily="49" charset="-122"/>
              </a:rPr>
              <a:t>E-Learning</a:t>
            </a:r>
            <a:r>
              <a:rPr lang="zh-CN" altLang="en-US" sz="2400" dirty="0">
                <a:solidFill>
                  <a:schemeClr val="tx1"/>
                </a:solidFill>
                <a:latin typeface="楷体_GB2312" pitchFamily="49" charset="-122"/>
              </a:rPr>
              <a:t>）时代，网络公开课搭建起强有力的网络视频教学平台，使受教育者不必进入传统的课堂也能接受到优质的培训，分享全世界范围内的优质教育资源。</a:t>
            </a:r>
            <a:endParaRPr lang="zh-CN" altLang="en-US" sz="2400" dirty="0">
              <a:solidFill>
                <a:schemeClr val="tx1"/>
              </a:solidFill>
              <a:latin typeface="楷体_GB2312" pitchFamily="49"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9698"/>
                                        </p:tgtEl>
                                        <p:attrNameLst>
                                          <p:attrName>style.visibility</p:attrName>
                                        </p:attrNameLst>
                                      </p:cBhvr>
                                      <p:to>
                                        <p:strVal val="visible"/>
                                      </p:to>
                                    </p:set>
                                    <p:animEffect transition="in" filter="box(in)">
                                      <p:cBhvr>
                                        <p:cTn id="7" dur="500"/>
                                        <p:tgtEl>
                                          <p:spTgt spid="296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699">
                                            <p:txEl>
                                              <p:charRg st="0" end="214"/>
                                            </p:txEl>
                                          </p:spTgt>
                                        </p:tgtEl>
                                        <p:attrNameLst>
                                          <p:attrName>style.visibility</p:attrName>
                                        </p:attrNameLst>
                                      </p:cBhvr>
                                      <p:to>
                                        <p:strVal val="visible"/>
                                      </p:to>
                                    </p:set>
                                    <p:animEffect transition="in" filter="fade">
                                      <p:cBhvr>
                                        <p:cTn id="12" dur="2000"/>
                                        <p:tgtEl>
                                          <p:spTgt spid="29699">
                                            <p:txEl>
                                              <p:charRg st="0" end="2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28674" name="Picture 6" descr="4"/>
          <p:cNvPicPr>
            <a:picLocks noChangeAspect="1"/>
          </p:cNvPicPr>
          <p:nvPr/>
        </p:nvPicPr>
        <p:blipFill>
          <a:blip r:embed="rId1"/>
          <a:stretch>
            <a:fillRect/>
          </a:stretch>
        </p:blipFill>
        <p:spPr>
          <a:xfrm>
            <a:off x="1403350" y="527050"/>
            <a:ext cx="2232025" cy="1897063"/>
          </a:xfrm>
          <a:prstGeom prst="rect">
            <a:avLst/>
          </a:prstGeom>
          <a:noFill/>
          <a:ln w="9525">
            <a:noFill/>
          </a:ln>
        </p:spPr>
      </p:pic>
      <p:pic>
        <p:nvPicPr>
          <p:cNvPr id="28675" name="Picture 7" descr="3 拷贝"/>
          <p:cNvPicPr>
            <a:picLocks noChangeAspect="1"/>
          </p:cNvPicPr>
          <p:nvPr/>
        </p:nvPicPr>
        <p:blipFill>
          <a:blip r:embed="rId2"/>
          <a:stretch>
            <a:fillRect/>
          </a:stretch>
        </p:blipFill>
        <p:spPr>
          <a:xfrm>
            <a:off x="3924300" y="404813"/>
            <a:ext cx="2233613" cy="1870075"/>
          </a:xfrm>
          <a:prstGeom prst="rect">
            <a:avLst/>
          </a:prstGeom>
          <a:noFill/>
          <a:ln w="9525">
            <a:noFill/>
          </a:ln>
        </p:spPr>
      </p:pic>
      <p:pic>
        <p:nvPicPr>
          <p:cNvPr id="28676" name="Picture 8" descr="10"/>
          <p:cNvPicPr>
            <a:picLocks noChangeAspect="1"/>
          </p:cNvPicPr>
          <p:nvPr/>
        </p:nvPicPr>
        <p:blipFill>
          <a:blip r:embed="rId3"/>
          <a:stretch>
            <a:fillRect/>
          </a:stretch>
        </p:blipFill>
        <p:spPr>
          <a:xfrm>
            <a:off x="6443663" y="404813"/>
            <a:ext cx="2447925" cy="2039937"/>
          </a:xfrm>
          <a:prstGeom prst="rect">
            <a:avLst/>
          </a:prstGeom>
          <a:noFill/>
          <a:ln w="9525">
            <a:noFill/>
          </a:ln>
        </p:spPr>
      </p:pic>
      <p:sp>
        <p:nvSpPr>
          <p:cNvPr id="28677" name="Text Box 16"/>
          <p:cNvSpPr txBox="1"/>
          <p:nvPr/>
        </p:nvSpPr>
        <p:spPr>
          <a:xfrm>
            <a:off x="4067175" y="5981700"/>
            <a:ext cx="1860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en-US" altLang="zh-CN" sz="2400" dirty="0">
                <a:solidFill>
                  <a:schemeClr val="tx1"/>
                </a:solidFill>
                <a:latin typeface="楷体_GB2312" pitchFamily="49" charset="-122"/>
                <a:hlinkClick r:id="rId4" action="ppaction://hlinkfile"/>
              </a:rPr>
              <a:t>CRT</a:t>
            </a:r>
            <a:r>
              <a:rPr lang="zh-CN" altLang="en-US" sz="2400" dirty="0">
                <a:solidFill>
                  <a:schemeClr val="tx1"/>
                </a:solidFill>
                <a:latin typeface="楷体_GB2312" pitchFamily="49" charset="-122"/>
                <a:hlinkClick r:id="rId4" action="ppaction://hlinkfile"/>
              </a:rPr>
              <a:t>教学软件</a:t>
            </a:r>
            <a:endParaRPr lang="zh-CN" altLang="en-US" sz="2400" dirty="0">
              <a:solidFill>
                <a:schemeClr val="tx1"/>
              </a:solidFill>
              <a:latin typeface="楷体_GB2312" pitchFamily="49" charset="-122"/>
            </a:endParaRPr>
          </a:p>
        </p:txBody>
      </p:sp>
      <p:pic>
        <p:nvPicPr>
          <p:cNvPr id="28678" name="Picture 17"/>
          <p:cNvPicPr>
            <a:picLocks noChangeAspect="1"/>
          </p:cNvPicPr>
          <p:nvPr/>
        </p:nvPicPr>
        <p:blipFill>
          <a:blip r:embed="rId5"/>
          <a:stretch>
            <a:fillRect/>
          </a:stretch>
        </p:blipFill>
        <p:spPr>
          <a:xfrm>
            <a:off x="5940425" y="2924175"/>
            <a:ext cx="2449513" cy="2239963"/>
          </a:xfrm>
          <a:prstGeom prst="rect">
            <a:avLst/>
          </a:prstGeom>
          <a:noFill/>
          <a:ln w="9525">
            <a:noFill/>
          </a:ln>
        </p:spPr>
      </p:pic>
      <p:pic>
        <p:nvPicPr>
          <p:cNvPr id="28679" name="Picture 19"/>
          <p:cNvPicPr>
            <a:picLocks noChangeAspect="1"/>
          </p:cNvPicPr>
          <p:nvPr/>
        </p:nvPicPr>
        <p:blipFill>
          <a:blip r:embed="rId6"/>
          <a:stretch>
            <a:fillRect/>
          </a:stretch>
        </p:blipFill>
        <p:spPr>
          <a:xfrm>
            <a:off x="1979613" y="2852738"/>
            <a:ext cx="2519362" cy="1974850"/>
          </a:xfrm>
          <a:prstGeom prst="rect">
            <a:avLst/>
          </a:prstGeom>
          <a:noFill/>
          <a:ln w="9525">
            <a:noFill/>
          </a:ln>
        </p:spPr>
      </p:pic>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9698" name="Rectangle 2"/>
          <p:cNvSpPr>
            <a:spLocks noGrp="1"/>
          </p:cNvSpPr>
          <p:nvPr>
            <p:ph type="title" idx="4294967295"/>
          </p:nvPr>
        </p:nvSpPr>
        <p:spPr>
          <a:xfrm>
            <a:off x="1331913" y="115888"/>
            <a:ext cx="6319837" cy="657225"/>
          </a:xfrm>
          <a:ln/>
        </p:spPr>
        <p:txBody>
          <a:bodyPr vert="horz" wrap="square" lIns="91440" tIns="45720" rIns="91440" bIns="45720" anchor="b" anchorCtr="0"/>
          <a:p>
            <a:pPr algn="l" eaLnBrk="1" hangingPunct="1"/>
            <a:r>
              <a:rPr lang="en-US" altLang="zh-CN" sz="3200" dirty="0">
                <a:solidFill>
                  <a:schemeClr val="tx1"/>
                </a:solidFill>
                <a:latin typeface="楷体_GB2312" pitchFamily="49" charset="-122"/>
                <a:ea typeface="楷体_GB2312" pitchFamily="49" charset="-122"/>
              </a:rPr>
              <a:t>1.2  </a:t>
            </a:r>
            <a:r>
              <a:rPr lang="zh-CN" altLang="en-US" sz="3200" dirty="0">
                <a:solidFill>
                  <a:schemeClr val="tx1"/>
                </a:solidFill>
                <a:latin typeface="楷体_GB2312" pitchFamily="49" charset="-122"/>
                <a:ea typeface="楷体_GB2312" pitchFamily="49" charset="-122"/>
              </a:rPr>
              <a:t>计算机图形学的概念</a:t>
            </a:r>
            <a:endParaRPr lang="zh-CN" altLang="en-US" sz="3200" dirty="0">
              <a:solidFill>
                <a:schemeClr val="tx1"/>
              </a:solidFill>
              <a:latin typeface="楷体_GB2312" pitchFamily="49" charset="-122"/>
              <a:ea typeface="楷体_GB2312" pitchFamily="49" charset="-122"/>
            </a:endParaRPr>
          </a:p>
        </p:txBody>
      </p:sp>
      <p:sp>
        <p:nvSpPr>
          <p:cNvPr id="29699" name="Rectangle 3"/>
          <p:cNvSpPr>
            <a:spLocks noGrp="1"/>
          </p:cNvSpPr>
          <p:nvPr>
            <p:ph type="body" idx="4294967295"/>
          </p:nvPr>
        </p:nvSpPr>
        <p:spPr>
          <a:xfrm>
            <a:off x="1357313" y="928688"/>
            <a:ext cx="7632700" cy="5449887"/>
          </a:xfrm>
          <a:ln/>
        </p:spPr>
        <p:txBody>
          <a:bodyPr vert="horz" wrap="square" lIns="91440" tIns="45720" rIns="91440" bIns="45720" anchor="t" anchorCtr="0"/>
          <a:p>
            <a:pPr marL="0" indent="0" eaLnBrk="1" hangingPunct="1">
              <a:lnSpc>
                <a:spcPct val="150000"/>
              </a:lnSpc>
              <a:buNone/>
            </a:pPr>
            <a:r>
              <a:rPr lang="zh-CN" altLang="en-US" dirty="0">
                <a:solidFill>
                  <a:schemeClr val="tx1"/>
                </a:solidFill>
                <a:latin typeface="宋体-18030" pitchFamily="49" charset="-122"/>
                <a:ea typeface="宋体-18030" pitchFamily="49" charset="-122"/>
              </a:rPr>
              <a:t>   </a:t>
            </a:r>
            <a:r>
              <a:rPr lang="zh-CN" altLang="en-US" dirty="0">
                <a:solidFill>
                  <a:schemeClr val="folHlink"/>
                </a:solidFill>
                <a:latin typeface="楷体_GB2312" pitchFamily="49" charset="-122"/>
              </a:rPr>
              <a:t>计算机图形学是一门研究如何利用计算机表示、生成、处理和显示图形的学科。</a:t>
            </a:r>
            <a:endParaRPr lang="zh-CN" altLang="en-US" dirty="0">
              <a:solidFill>
                <a:schemeClr val="folHlink"/>
              </a:solidFill>
              <a:latin typeface="楷体_GB2312" pitchFamily="49" charset="-122"/>
            </a:endParaRPr>
          </a:p>
          <a:p>
            <a:pPr marL="0" indent="0" eaLnBrk="1" hangingPunct="1">
              <a:lnSpc>
                <a:spcPct val="150000"/>
              </a:lnSpc>
              <a:buNone/>
            </a:pPr>
            <a:r>
              <a:rPr lang="zh-CN" altLang="en-US" b="1" dirty="0">
                <a:solidFill>
                  <a:schemeClr val="folHlink"/>
                </a:solidFill>
                <a:latin typeface="楷体_GB2312" pitchFamily="49" charset="-122"/>
              </a:rPr>
              <a:t>    </a:t>
            </a:r>
            <a:r>
              <a:rPr lang="zh-CN" altLang="en-US" dirty="0">
                <a:solidFill>
                  <a:schemeClr val="tx1"/>
                </a:solidFill>
                <a:latin typeface="楷体_GB2312" pitchFamily="49" charset="-122"/>
              </a:rPr>
              <a:t>简单地说，计算机图形学是研究如何在计算机中表示图形、以及利用计算机进行图形的计算、处理和显示的相关原理与算法。</a:t>
            </a:r>
            <a:endParaRPr lang="zh-CN" altLang="en-US" dirty="0">
              <a:solidFill>
                <a:schemeClr val="tx1"/>
              </a:solidFill>
              <a:latin typeface="楷体_GB2312" pitchFamily="49" charset="-122"/>
            </a:endParaRPr>
          </a:p>
          <a:p>
            <a:pPr marL="0" indent="0" eaLnBrk="1" hangingPunct="1">
              <a:lnSpc>
                <a:spcPct val="150000"/>
              </a:lnSpc>
              <a:buNone/>
            </a:pPr>
            <a:r>
              <a:rPr lang="zh-CN" altLang="en-US" dirty="0">
                <a:solidFill>
                  <a:schemeClr val="tx1"/>
                </a:solidFill>
                <a:latin typeface="楷体_GB2312" pitchFamily="49" charset="-122"/>
              </a:rPr>
              <a:t>  </a:t>
            </a:r>
            <a:r>
              <a:rPr lang="en-US" altLang="zh-CN" dirty="0">
                <a:solidFill>
                  <a:schemeClr val="tx1"/>
                </a:solidFill>
                <a:latin typeface="楷体_GB2312" pitchFamily="49" charset="-122"/>
              </a:rPr>
              <a:t>IEEE</a:t>
            </a:r>
            <a:r>
              <a:rPr lang="zh-CN" altLang="en-US" dirty="0">
                <a:solidFill>
                  <a:schemeClr val="tx1"/>
                </a:solidFill>
                <a:latin typeface="楷体_GB2312" pitchFamily="49" charset="-122"/>
              </a:rPr>
              <a:t>的定义为</a:t>
            </a:r>
            <a:r>
              <a:rPr lang="en-US" altLang="zh-CN" dirty="0">
                <a:solidFill>
                  <a:schemeClr val="tx1"/>
                </a:solidFill>
                <a:latin typeface="楷体_GB2312" pitchFamily="49" charset="-122"/>
              </a:rPr>
              <a:t>:</a:t>
            </a:r>
            <a:r>
              <a:rPr lang="en-US" altLang="zh-CN" dirty="0">
                <a:solidFill>
                  <a:schemeClr val="folHlink"/>
                </a:solidFill>
                <a:latin typeface="楷体_GB2312" pitchFamily="49" charset="-122"/>
              </a:rPr>
              <a:t>Computer graphics is the </a:t>
            </a:r>
            <a:r>
              <a:rPr lang="en-US" altLang="zh-CN" b="1" dirty="0">
                <a:solidFill>
                  <a:schemeClr val="folHlink"/>
                </a:solidFill>
                <a:latin typeface="楷体_GB2312" pitchFamily="49" charset="-122"/>
              </a:rPr>
              <a:t>art</a:t>
            </a:r>
            <a:r>
              <a:rPr lang="en-US" altLang="zh-CN" dirty="0">
                <a:solidFill>
                  <a:schemeClr val="folHlink"/>
                </a:solidFill>
                <a:latin typeface="楷体_GB2312" pitchFamily="49" charset="-122"/>
              </a:rPr>
              <a:t> or science of producing graphical images with the aid of computer</a:t>
            </a:r>
            <a:r>
              <a:rPr lang="zh-CN" altLang="en-US" dirty="0">
                <a:solidFill>
                  <a:schemeClr val="folHlink"/>
                </a:solidFill>
                <a:latin typeface="楷体_GB2312" pitchFamily="49" charset="-122"/>
              </a:rPr>
              <a:t>．</a:t>
            </a:r>
            <a:endParaRPr lang="zh-CN" altLang="en-US" dirty="0">
              <a:solidFill>
                <a:schemeClr val="folHlink"/>
              </a:solidFill>
              <a:latin typeface="楷体_GB2312" pitchFamily="49" charset="-122"/>
            </a:endParaRPr>
          </a:p>
          <a:p>
            <a:pPr marL="0" indent="0" eaLnBrk="1" hangingPunct="1">
              <a:buNone/>
            </a:pPr>
            <a:r>
              <a:rPr lang="zh-CN" altLang="en-US" dirty="0">
                <a:solidFill>
                  <a:schemeClr val="tx1"/>
                </a:solidFill>
                <a:latin typeface="楷体_GB2312" pitchFamily="49" charset="-122"/>
              </a:rPr>
              <a:t>    </a:t>
            </a:r>
            <a:endParaRPr lang="zh-CN" altLang="en-US" dirty="0">
              <a:solidFill>
                <a:schemeClr val="tx1"/>
              </a:solidFill>
              <a:latin typeface="楷体_GB2312" pitchFamily="49" charset="-122"/>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0722" name="Rectangle 2"/>
          <p:cNvSpPr>
            <a:spLocks noGrp="1"/>
          </p:cNvSpPr>
          <p:nvPr>
            <p:ph type="title" idx="4294967295"/>
          </p:nvPr>
        </p:nvSpPr>
        <p:spPr>
          <a:xfrm>
            <a:off x="1331913" y="115888"/>
            <a:ext cx="6319837" cy="657225"/>
          </a:xfrm>
          <a:ln/>
        </p:spPr>
        <p:txBody>
          <a:bodyPr vert="horz" wrap="square" lIns="91440" tIns="45720" rIns="91440" bIns="45720" anchor="b" anchorCtr="0"/>
          <a:p>
            <a:pPr algn="l" eaLnBrk="1" hangingPunct="1"/>
            <a:r>
              <a:rPr lang="en-US" altLang="zh-CN" sz="3200" dirty="0">
                <a:solidFill>
                  <a:schemeClr val="tx1"/>
                </a:solidFill>
                <a:latin typeface="楷体_GB2312" pitchFamily="49" charset="-122"/>
                <a:ea typeface="楷体_GB2312" pitchFamily="49" charset="-122"/>
              </a:rPr>
              <a:t>1.2  </a:t>
            </a:r>
            <a:r>
              <a:rPr lang="zh-CN" altLang="en-US" sz="3200" dirty="0">
                <a:solidFill>
                  <a:schemeClr val="tx1"/>
                </a:solidFill>
                <a:latin typeface="楷体_GB2312" pitchFamily="49" charset="-122"/>
                <a:ea typeface="楷体_GB2312" pitchFamily="49" charset="-122"/>
              </a:rPr>
              <a:t>计算机图形学的概念</a:t>
            </a:r>
            <a:endParaRPr lang="zh-CN" altLang="en-US" sz="3200" dirty="0">
              <a:solidFill>
                <a:schemeClr val="tx1"/>
              </a:solidFill>
              <a:latin typeface="楷体_GB2312" pitchFamily="49" charset="-122"/>
              <a:ea typeface="楷体_GB2312" pitchFamily="49" charset="-122"/>
            </a:endParaRPr>
          </a:p>
        </p:txBody>
      </p:sp>
      <p:sp>
        <p:nvSpPr>
          <p:cNvPr id="30723" name="Rectangle 3"/>
          <p:cNvSpPr>
            <a:spLocks noGrp="1"/>
          </p:cNvSpPr>
          <p:nvPr>
            <p:ph type="body" idx="4294967295"/>
          </p:nvPr>
        </p:nvSpPr>
        <p:spPr>
          <a:xfrm>
            <a:off x="1331913" y="765175"/>
            <a:ext cx="7632700" cy="1520825"/>
          </a:xfrm>
          <a:ln/>
        </p:spPr>
        <p:txBody>
          <a:bodyPr vert="horz" wrap="square" lIns="91440" tIns="45720" rIns="91440" bIns="45720" anchor="t" anchorCtr="0"/>
          <a:p>
            <a:pPr marL="0" indent="0" eaLnBrk="1" hangingPunct="1">
              <a:buNone/>
            </a:pPr>
            <a:r>
              <a:rPr lang="en-US" altLang="zh-CN" dirty="0">
                <a:solidFill>
                  <a:schemeClr val="tx1"/>
                </a:solidFill>
                <a:latin typeface="宋体-18030" pitchFamily="49" charset="-122"/>
                <a:ea typeface="宋体-18030" pitchFamily="49" charset="-122"/>
              </a:rPr>
              <a:t>   </a:t>
            </a:r>
            <a:r>
              <a:rPr lang="zh-CN" altLang="en-US" sz="2400" dirty="0">
                <a:solidFill>
                  <a:schemeClr val="tx1"/>
                </a:solidFill>
                <a:latin typeface="楷体_GB2312" pitchFamily="49" charset="-122"/>
              </a:rPr>
              <a:t>图形主要分为两类，一类是基于线条表示的几何图形，如线框图、工程制图、等高线地图等，另一类是基于材质、纹理和光照表示的真实感图形。</a:t>
            </a:r>
            <a:br>
              <a:rPr lang="zh-CN" altLang="en-US" sz="2400" dirty="0"/>
            </a:br>
            <a:endParaRPr lang="zh-CN" altLang="en-US" sz="2400" dirty="0">
              <a:solidFill>
                <a:schemeClr val="tx1"/>
              </a:solidFill>
              <a:latin typeface="楷体_GB2312" pitchFamily="49" charset="-122"/>
            </a:endParaRPr>
          </a:p>
          <a:p>
            <a:pPr marL="0" indent="0" eaLnBrk="1" hangingPunct="1">
              <a:buNone/>
            </a:pPr>
            <a:r>
              <a:rPr lang="zh-CN" altLang="en-US" sz="2400" dirty="0">
                <a:solidFill>
                  <a:schemeClr val="tx1"/>
                </a:solidFill>
                <a:latin typeface="楷体_GB2312" pitchFamily="49" charset="-122"/>
              </a:rPr>
              <a:t>    </a:t>
            </a:r>
            <a:endParaRPr lang="zh-CN" altLang="en-US" sz="2400" dirty="0">
              <a:solidFill>
                <a:schemeClr val="tx1"/>
              </a:solidFill>
              <a:latin typeface="楷体_GB2312" pitchFamily="49" charset="-122"/>
            </a:endParaRPr>
          </a:p>
        </p:txBody>
      </p:sp>
      <p:pic>
        <p:nvPicPr>
          <p:cNvPr id="30724" name="Picture 5"/>
          <p:cNvPicPr>
            <a:picLocks noChangeAspect="1"/>
          </p:cNvPicPr>
          <p:nvPr/>
        </p:nvPicPr>
        <p:blipFill>
          <a:blip r:embed="rId1"/>
          <a:stretch>
            <a:fillRect/>
          </a:stretch>
        </p:blipFill>
        <p:spPr>
          <a:xfrm>
            <a:off x="5857875" y="2000250"/>
            <a:ext cx="2143125" cy="2100263"/>
          </a:xfrm>
          <a:prstGeom prst="rect">
            <a:avLst/>
          </a:prstGeom>
          <a:noFill/>
          <a:ln w="9525">
            <a:noFill/>
          </a:ln>
        </p:spPr>
      </p:pic>
      <p:pic>
        <p:nvPicPr>
          <p:cNvPr id="30725" name="Picture 6"/>
          <p:cNvPicPr>
            <a:picLocks noChangeAspect="1"/>
          </p:cNvPicPr>
          <p:nvPr/>
        </p:nvPicPr>
        <p:blipFill>
          <a:blip r:embed="rId2"/>
          <a:stretch>
            <a:fillRect/>
          </a:stretch>
        </p:blipFill>
        <p:spPr>
          <a:xfrm>
            <a:off x="2071688" y="2071688"/>
            <a:ext cx="2000250" cy="1958975"/>
          </a:xfrm>
          <a:prstGeom prst="rect">
            <a:avLst/>
          </a:prstGeom>
          <a:noFill/>
          <a:ln w="9525">
            <a:noFill/>
          </a:ln>
        </p:spPr>
      </p:pic>
      <p:sp>
        <p:nvSpPr>
          <p:cNvPr id="30726" name="Rectangle 7"/>
          <p:cNvSpPr/>
          <p:nvPr/>
        </p:nvSpPr>
        <p:spPr>
          <a:xfrm>
            <a:off x="2786063" y="6400800"/>
            <a:ext cx="1098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zh-CN" altLang="en-US" sz="2400" dirty="0">
                <a:solidFill>
                  <a:schemeClr val="tx1"/>
                </a:solidFill>
                <a:latin typeface="楷体_GB2312" pitchFamily="49" charset="-122"/>
              </a:rPr>
              <a:t>线框图</a:t>
            </a:r>
            <a:endParaRPr lang="zh-CN" altLang="en-US" sz="2400" dirty="0">
              <a:solidFill>
                <a:schemeClr val="tx1"/>
              </a:solidFill>
              <a:latin typeface="楷体_GB2312" pitchFamily="49" charset="-122"/>
            </a:endParaRPr>
          </a:p>
        </p:txBody>
      </p:sp>
      <p:sp>
        <p:nvSpPr>
          <p:cNvPr id="30727" name="Rectangle 8"/>
          <p:cNvSpPr/>
          <p:nvPr/>
        </p:nvSpPr>
        <p:spPr>
          <a:xfrm>
            <a:off x="6286500" y="6400800"/>
            <a:ext cx="1708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zh-CN" altLang="en-US" sz="2400" dirty="0">
                <a:solidFill>
                  <a:schemeClr val="tx1"/>
                </a:solidFill>
                <a:latin typeface="楷体_GB2312" pitchFamily="49" charset="-122"/>
              </a:rPr>
              <a:t>真实感图形</a:t>
            </a:r>
            <a:endParaRPr lang="zh-CN" altLang="en-US" sz="2400" dirty="0">
              <a:solidFill>
                <a:schemeClr val="tx1"/>
              </a:solidFill>
              <a:latin typeface="楷体_GB2312" pitchFamily="49" charset="-122"/>
            </a:endParaRPr>
          </a:p>
        </p:txBody>
      </p:sp>
      <p:pic>
        <p:nvPicPr>
          <p:cNvPr id="30728" name="Picture 13" descr="I:\彩版出版稿\picture\第一章pic\1-1\1-1a.bmp"/>
          <p:cNvPicPr>
            <a:picLocks noChangeAspect="1"/>
          </p:cNvPicPr>
          <p:nvPr/>
        </p:nvPicPr>
        <p:blipFill>
          <a:blip r:embed="rId3"/>
          <a:stretch>
            <a:fillRect/>
          </a:stretch>
        </p:blipFill>
        <p:spPr>
          <a:xfrm>
            <a:off x="2357438" y="4071938"/>
            <a:ext cx="1635125" cy="2263775"/>
          </a:xfrm>
          <a:prstGeom prst="rect">
            <a:avLst/>
          </a:prstGeom>
          <a:noFill/>
          <a:ln w="9525">
            <a:noFill/>
          </a:ln>
        </p:spPr>
      </p:pic>
      <p:pic>
        <p:nvPicPr>
          <p:cNvPr id="30729" name="Picture 14" descr="I:\彩版出版稿\picture\第一章pic\1-1\1-1b.bmp"/>
          <p:cNvPicPr>
            <a:picLocks noChangeAspect="1"/>
          </p:cNvPicPr>
          <p:nvPr/>
        </p:nvPicPr>
        <p:blipFill>
          <a:blip r:embed="rId4"/>
          <a:stretch>
            <a:fillRect/>
          </a:stretch>
        </p:blipFill>
        <p:spPr>
          <a:xfrm>
            <a:off x="6143625" y="4143375"/>
            <a:ext cx="1684338" cy="2360613"/>
          </a:xfrm>
          <a:prstGeom prst="rect">
            <a:avLst/>
          </a:prstGeom>
          <a:noFill/>
          <a:ln w="9525">
            <a:noFill/>
          </a:ln>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1746" name="Rectangle 3"/>
          <p:cNvSpPr>
            <a:spLocks noGrp="1"/>
          </p:cNvSpPr>
          <p:nvPr>
            <p:ph type="body" idx="4294967295"/>
          </p:nvPr>
        </p:nvSpPr>
        <p:spPr>
          <a:xfrm>
            <a:off x="1042988" y="188913"/>
            <a:ext cx="8101012" cy="4968875"/>
          </a:xfrm>
          <a:ln/>
        </p:spPr>
        <p:txBody>
          <a:bodyPr vert="horz" wrap="square" lIns="91440" tIns="45720" rIns="91440" bIns="45720" anchor="t" anchorCtr="0"/>
          <a:p>
            <a:pPr marL="0" indent="0" eaLnBrk="1" hangingPunct="1">
              <a:buNone/>
            </a:pPr>
            <a:r>
              <a:rPr lang="zh-CN" altLang="en-US" dirty="0">
                <a:solidFill>
                  <a:schemeClr val="tx1"/>
                </a:solidFill>
                <a:latin typeface="楷体_GB2312" pitchFamily="49" charset="-122"/>
              </a:rPr>
              <a:t>图形的表示方法：</a:t>
            </a:r>
            <a:endParaRPr lang="zh-CN" altLang="en-US" sz="3200" dirty="0">
              <a:solidFill>
                <a:schemeClr val="tx1"/>
              </a:solidFill>
              <a:latin typeface="隶书" panose="02010509060101010101" pitchFamily="49" charset="-122"/>
              <a:ea typeface="隶书" panose="02010509060101010101" pitchFamily="49" charset="-122"/>
            </a:endParaRPr>
          </a:p>
          <a:p>
            <a:pPr marL="0" indent="0" eaLnBrk="1" hangingPunct="1"/>
            <a:r>
              <a:rPr lang="zh-CN" altLang="en-US" sz="3200" dirty="0">
                <a:solidFill>
                  <a:schemeClr val="tx1"/>
                </a:solidFill>
                <a:latin typeface="隶书" panose="02010509060101010101" pitchFamily="49" charset="-122"/>
                <a:ea typeface="隶书" panose="02010509060101010101" pitchFamily="49" charset="-122"/>
              </a:rPr>
              <a:t>参数法</a:t>
            </a:r>
            <a:endParaRPr lang="zh-CN" altLang="en-US" sz="3200" dirty="0">
              <a:solidFill>
                <a:schemeClr val="tx1"/>
              </a:solidFill>
              <a:latin typeface="隶书" panose="02010509060101010101" pitchFamily="49" charset="-122"/>
              <a:ea typeface="隶书" panose="02010509060101010101" pitchFamily="49" charset="-122"/>
            </a:endParaRPr>
          </a:p>
          <a:p>
            <a:pPr marL="0" indent="0" eaLnBrk="1" hangingPunct="1">
              <a:lnSpc>
                <a:spcPct val="120000"/>
              </a:lnSpc>
              <a:buNone/>
            </a:pPr>
            <a:r>
              <a:rPr lang="zh-CN" altLang="en-US" sz="2400" dirty="0">
                <a:solidFill>
                  <a:schemeClr val="tx1"/>
                </a:solidFill>
                <a:latin typeface="宋体-18030" pitchFamily="49" charset="-122"/>
                <a:ea typeface="宋体-18030" pitchFamily="49" charset="-122"/>
              </a:rPr>
              <a:t>    </a:t>
            </a:r>
            <a:r>
              <a:rPr lang="zh-CN" altLang="en-US" sz="2400" dirty="0">
                <a:solidFill>
                  <a:schemeClr val="tx1"/>
                </a:solidFill>
                <a:latin typeface="楷体_GB2312" pitchFamily="49" charset="-122"/>
              </a:rPr>
              <a:t>参数法是在设计阶段采用几何方法建立数学模型时，用形状参数和属性参数描述图形的一种方法。形状参数可以是线段的起始点和终止点等几何参数。属性参数则包括线段的颜色、线型、宽度等非几何参数。一般用参数法描述的图形依旧称为图形。</a:t>
            </a:r>
            <a:endParaRPr lang="zh-CN" altLang="en-US" sz="2400" dirty="0">
              <a:solidFill>
                <a:schemeClr val="tx1"/>
              </a:solidFill>
              <a:latin typeface="楷体_GB2312" pitchFamily="49" charset="-122"/>
            </a:endParaRPr>
          </a:p>
          <a:p>
            <a:pPr marL="0" indent="0" eaLnBrk="1" hangingPunct="1"/>
            <a:r>
              <a:rPr lang="zh-CN" altLang="en-US" sz="3200" dirty="0">
                <a:solidFill>
                  <a:schemeClr val="tx1"/>
                </a:solidFill>
                <a:latin typeface="隶书" panose="02010509060101010101" pitchFamily="49" charset="-122"/>
                <a:ea typeface="隶书" panose="02010509060101010101" pitchFamily="49" charset="-122"/>
              </a:rPr>
              <a:t>点阵法</a:t>
            </a:r>
            <a:endParaRPr lang="zh-CN" altLang="en-US" sz="3200" dirty="0">
              <a:solidFill>
                <a:schemeClr val="tx1"/>
              </a:solidFill>
              <a:latin typeface="隶书" panose="02010509060101010101" pitchFamily="49" charset="-122"/>
              <a:ea typeface="隶书" panose="02010509060101010101" pitchFamily="49" charset="-122"/>
            </a:endParaRPr>
          </a:p>
          <a:p>
            <a:pPr marL="0" indent="0" eaLnBrk="1" hangingPunct="1">
              <a:lnSpc>
                <a:spcPct val="120000"/>
              </a:lnSpc>
              <a:buNone/>
            </a:pPr>
            <a:r>
              <a:rPr lang="zh-CN" altLang="en-US" sz="2400" dirty="0">
                <a:solidFill>
                  <a:schemeClr val="tx1"/>
                </a:solidFill>
                <a:latin typeface="宋体-18030" pitchFamily="49" charset="-122"/>
                <a:ea typeface="宋体-18030" pitchFamily="49" charset="-122"/>
              </a:rPr>
              <a:t>    </a:t>
            </a:r>
            <a:r>
              <a:rPr lang="zh-CN" altLang="en-US" sz="2400" dirty="0">
                <a:solidFill>
                  <a:schemeClr val="tx1"/>
                </a:solidFill>
                <a:latin typeface="楷体_GB2312" pitchFamily="49" charset="-122"/>
              </a:rPr>
              <a:t>点阵法是在实现阶段用具有颜色信息的像素点阵来表示图形的一种方法，描述的图形常称为图像</a:t>
            </a:r>
            <a:r>
              <a:rPr lang="zh-CN" altLang="en-US" sz="2400" dirty="0">
                <a:solidFill>
                  <a:schemeClr val="tx1"/>
                </a:solidFill>
                <a:latin typeface="宋体-18030" pitchFamily="49" charset="-122"/>
                <a:ea typeface="宋体-18030" pitchFamily="49" charset="-122"/>
              </a:rPr>
              <a:t>。</a:t>
            </a:r>
            <a:endParaRPr lang="zh-CN" altLang="en-US" sz="2400" dirty="0">
              <a:solidFill>
                <a:schemeClr val="tx1"/>
              </a:solidFill>
              <a:latin typeface="宋体-18030" pitchFamily="49" charset="-122"/>
              <a:ea typeface="宋体-18030" pitchFamily="49" charset="-122"/>
            </a:endParaRPr>
          </a:p>
        </p:txBody>
      </p:sp>
      <p:sp>
        <p:nvSpPr>
          <p:cNvPr id="31747" name="Rectangle 5"/>
          <p:cNvSpPr/>
          <p:nvPr/>
        </p:nvSpPr>
        <p:spPr>
          <a:xfrm>
            <a:off x="1258888" y="5300663"/>
            <a:ext cx="7634287" cy="7493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lnSpc>
                <a:spcPct val="90000"/>
              </a:lnSpc>
              <a:buNone/>
            </a:pPr>
            <a:r>
              <a:rPr lang="zh-CN" altLang="en-US" sz="2400" dirty="0">
                <a:solidFill>
                  <a:schemeClr val="tx1"/>
                </a:solidFill>
                <a:latin typeface="宋体-18030" pitchFamily="49" charset="-122"/>
                <a:ea typeface="宋体-18030" pitchFamily="49" charset="-122"/>
              </a:rPr>
              <a:t>    </a:t>
            </a:r>
            <a:r>
              <a:rPr lang="zh-CN" altLang="en-US" sz="2400" dirty="0">
                <a:solidFill>
                  <a:schemeClr val="folHlink"/>
                </a:solidFill>
                <a:latin typeface="楷体_GB2312" pitchFamily="49" charset="-122"/>
              </a:rPr>
              <a:t>计算机图形学就是研究将图形的表示法从参数法转换到点阵法的一门学科。</a:t>
            </a:r>
            <a:endParaRPr lang="zh-CN" altLang="en-US" sz="2400" dirty="0">
              <a:solidFill>
                <a:schemeClr val="folHlink"/>
              </a:solidFill>
              <a:latin typeface="楷体_GB2312" pitchFamily="49" charset="-122"/>
            </a:endParaRP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2770" name="Rectangle 7"/>
          <p:cNvSpPr/>
          <p:nvPr/>
        </p:nvSpPr>
        <p:spPr>
          <a:xfrm>
            <a:off x="3563938" y="2565400"/>
            <a:ext cx="3851275" cy="576263"/>
          </a:xfrm>
          <a:prstGeom prst="rect">
            <a:avLst/>
          </a:prstGeom>
          <a:noFill/>
          <a:ln w="9525">
            <a:noFill/>
          </a:ln>
        </p:spPr>
        <p:txBody>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ctr" eaLnBrk="1" hangingPunct="1">
              <a:buNone/>
            </a:pPr>
            <a:r>
              <a:rPr lang="zh-CN" altLang="en-US" sz="2400" dirty="0">
                <a:solidFill>
                  <a:schemeClr val="tx1"/>
                </a:solidFill>
                <a:latin typeface="楷体_GB2312" pitchFamily="49" charset="-122"/>
              </a:rPr>
              <a:t>直线的图形</a:t>
            </a:r>
            <a:endParaRPr lang="zh-CN" altLang="en-US" sz="2400" dirty="0">
              <a:solidFill>
                <a:schemeClr val="tx1"/>
              </a:solidFill>
              <a:latin typeface="楷体_GB2312" pitchFamily="49" charset="-122"/>
            </a:endParaRPr>
          </a:p>
        </p:txBody>
      </p:sp>
      <p:sp>
        <p:nvSpPr>
          <p:cNvPr id="32771" name="Rectangle 8"/>
          <p:cNvSpPr/>
          <p:nvPr/>
        </p:nvSpPr>
        <p:spPr>
          <a:xfrm>
            <a:off x="3348038" y="5949950"/>
            <a:ext cx="3673475" cy="503238"/>
          </a:xfrm>
          <a:prstGeom prst="rect">
            <a:avLst/>
          </a:prstGeom>
          <a:noFill/>
          <a:ln w="9525">
            <a:noFill/>
          </a:ln>
        </p:spPr>
        <p:txBody>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ctr" eaLnBrk="1" hangingPunct="1">
              <a:buNone/>
            </a:pPr>
            <a:r>
              <a:rPr lang="zh-CN" altLang="en-US" sz="2400" dirty="0">
                <a:solidFill>
                  <a:schemeClr val="tx1"/>
                </a:solidFill>
                <a:latin typeface="楷体_GB2312" pitchFamily="49" charset="-122"/>
                <a:ea typeface="宋体-18030" pitchFamily="49" charset="-122"/>
              </a:rPr>
              <a:t>直线的图像</a:t>
            </a:r>
            <a:endParaRPr lang="zh-CN" altLang="en-US" sz="2400" dirty="0">
              <a:solidFill>
                <a:schemeClr val="tx1"/>
              </a:solidFill>
              <a:latin typeface="楷体_GB2312" pitchFamily="49" charset="-122"/>
              <a:ea typeface="宋体-18030" pitchFamily="49" charset="-122"/>
            </a:endParaRPr>
          </a:p>
        </p:txBody>
      </p:sp>
      <p:sp>
        <p:nvSpPr>
          <p:cNvPr id="32772" name="Rectangle 10"/>
          <p:cNvSpPr/>
          <p:nvPr/>
        </p:nvSpPr>
        <p:spPr>
          <a:xfrm>
            <a:off x="0" y="2843213"/>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3200" dirty="0">
              <a:solidFill>
                <a:schemeClr val="tx1"/>
              </a:solidFill>
              <a:ea typeface="宋体" panose="02010600030101010101" pitchFamily="2" charset="-122"/>
            </a:endParaRPr>
          </a:p>
        </p:txBody>
      </p:sp>
      <p:graphicFrame>
        <p:nvGraphicFramePr>
          <p:cNvPr id="32773" name="Object 9"/>
          <p:cNvGraphicFramePr>
            <a:graphicFrameLocks noChangeAspect="1"/>
          </p:cNvGraphicFramePr>
          <p:nvPr/>
        </p:nvGraphicFramePr>
        <p:xfrm>
          <a:off x="3636963" y="3357563"/>
          <a:ext cx="3095625" cy="2335212"/>
        </p:xfrm>
        <a:graphic>
          <a:graphicData uri="http://schemas.openxmlformats.org/presentationml/2006/ole">
            <mc:AlternateContent xmlns:mc="http://schemas.openxmlformats.org/markup-compatibility/2006">
              <mc:Choice xmlns:v="urn:schemas-microsoft-com:vml" Requires="v">
                <p:oleObj spid="_x0000_s3078" name="" r:id="rId1" imgW="3477260" imgH="2630170" progId="Visio.Drawing.11">
                  <p:embed/>
                </p:oleObj>
              </mc:Choice>
              <mc:Fallback>
                <p:oleObj name="" r:id="rId1" imgW="3477260" imgH="2630170" progId="Visio.Drawing.11">
                  <p:embed/>
                  <p:pic>
                    <p:nvPicPr>
                      <p:cNvPr id="0" name="图片 3077"/>
                      <p:cNvPicPr/>
                      <p:nvPr/>
                    </p:nvPicPr>
                    <p:blipFill>
                      <a:blip r:embed="rId2"/>
                      <a:stretch>
                        <a:fillRect/>
                      </a:stretch>
                    </p:blipFill>
                    <p:spPr>
                      <a:xfrm>
                        <a:off x="3636963" y="3357563"/>
                        <a:ext cx="3095625" cy="2335212"/>
                      </a:xfrm>
                      <a:prstGeom prst="rect">
                        <a:avLst/>
                      </a:prstGeom>
                      <a:noFill/>
                      <a:ln w="38100">
                        <a:noFill/>
                        <a:miter/>
                      </a:ln>
                    </p:spPr>
                  </p:pic>
                </p:oleObj>
              </mc:Fallback>
            </mc:AlternateContent>
          </a:graphicData>
        </a:graphic>
      </p:graphicFrame>
      <p:sp>
        <p:nvSpPr>
          <p:cNvPr id="32774" name="Rectangle 12"/>
          <p:cNvSpPr/>
          <p:nvPr/>
        </p:nvSpPr>
        <p:spPr>
          <a:xfrm>
            <a:off x="0" y="2890838"/>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3200" dirty="0">
              <a:solidFill>
                <a:schemeClr val="tx1"/>
              </a:solidFill>
              <a:ea typeface="宋体" panose="02010600030101010101" pitchFamily="2" charset="-122"/>
            </a:endParaRPr>
          </a:p>
        </p:txBody>
      </p:sp>
      <p:graphicFrame>
        <p:nvGraphicFramePr>
          <p:cNvPr id="32775" name="Object 11"/>
          <p:cNvGraphicFramePr>
            <a:graphicFrameLocks noChangeAspect="1"/>
          </p:cNvGraphicFramePr>
          <p:nvPr/>
        </p:nvGraphicFramePr>
        <p:xfrm>
          <a:off x="3708400" y="260350"/>
          <a:ext cx="3240088" cy="2346325"/>
        </p:xfrm>
        <a:graphic>
          <a:graphicData uri="http://schemas.openxmlformats.org/presentationml/2006/ole">
            <mc:AlternateContent xmlns:mc="http://schemas.openxmlformats.org/markup-compatibility/2006">
              <mc:Choice xmlns:v="urn:schemas-microsoft-com:vml" Requires="v">
                <p:oleObj spid="_x0000_s3077" name="" r:id="rId3" imgW="3574415" imgH="1555750" progId="Visio.Drawing.11">
                  <p:embed/>
                </p:oleObj>
              </mc:Choice>
              <mc:Fallback>
                <p:oleObj name="" r:id="rId3" imgW="3574415" imgH="1555750" progId="Visio.Drawing.11">
                  <p:embed/>
                  <p:pic>
                    <p:nvPicPr>
                      <p:cNvPr id="0" name="图片 3076"/>
                      <p:cNvPicPr/>
                      <p:nvPr/>
                    </p:nvPicPr>
                    <p:blipFill>
                      <a:blip r:embed="rId4"/>
                      <a:stretch>
                        <a:fillRect/>
                      </a:stretch>
                    </p:blipFill>
                    <p:spPr>
                      <a:xfrm>
                        <a:off x="3708400" y="260350"/>
                        <a:ext cx="3240088" cy="2346325"/>
                      </a:xfrm>
                      <a:prstGeom prst="rect">
                        <a:avLst/>
                      </a:prstGeom>
                      <a:noFill/>
                      <a:ln w="38100">
                        <a:noFill/>
                        <a:miter/>
                      </a:ln>
                    </p:spPr>
                  </p:pic>
                </p:oleObj>
              </mc:Fallback>
            </mc:AlternateContent>
          </a:graphicData>
        </a:graphic>
      </p:graphicFrame>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5842" name="Rectangle 2"/>
          <p:cNvSpPr>
            <a:spLocks noGrp="1" noChangeArrowheads="1"/>
          </p:cNvSpPr>
          <p:nvPr>
            <p:ph type="title" idx="4294967295"/>
          </p:nvPr>
        </p:nvSpPr>
        <p:spPr>
          <a:xfrm>
            <a:off x="1331913" y="404813"/>
            <a:ext cx="7416800" cy="411163"/>
          </a:xfrm>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200" b="1" i="0" u="none" strike="noStrike" kern="0" cap="none" spc="0" normalizeH="0" baseline="0" noProof="0" smtClean="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j-cs"/>
              </a:rPr>
              <a:t>1.2.3 - </a:t>
            </a:r>
            <a:r>
              <a:rPr kumimoji="0" lang="zh-CN" altLang="en-US" sz="3200" b="1" i="0" u="none" strike="noStrike" kern="0" cap="none" spc="0" normalizeH="0" baseline="0" noProof="0" smtClean="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j-cs"/>
              </a:rPr>
              <a:t>计算机图形学的研究内容</a:t>
            </a:r>
            <a:endParaRPr kumimoji="0" lang="zh-CN" altLang="en-US" sz="3200" b="1" i="0" u="none" strike="noStrike" kern="0" cap="none" spc="0" normalizeH="0" baseline="0" noProof="0" smtClean="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j-cs"/>
            </a:endParaRPr>
          </a:p>
        </p:txBody>
      </p:sp>
      <p:sp>
        <p:nvSpPr>
          <p:cNvPr id="33795" name="Rectangle 3"/>
          <p:cNvSpPr>
            <a:spLocks noGrp="1"/>
          </p:cNvSpPr>
          <p:nvPr>
            <p:ph type="body" idx="4294967295"/>
          </p:nvPr>
        </p:nvSpPr>
        <p:spPr>
          <a:xfrm>
            <a:off x="1403350" y="1125538"/>
            <a:ext cx="7391400" cy="4679950"/>
          </a:xfrm>
          <a:ln/>
        </p:spPr>
        <p:txBody>
          <a:bodyPr vert="horz" wrap="square" lIns="91440" tIns="45720" rIns="91440" bIns="45720" anchor="t" anchorCtr="0"/>
          <a:p>
            <a:pPr marL="0" indent="0" eaLnBrk="1" hangingPunct="1">
              <a:lnSpc>
                <a:spcPct val="150000"/>
              </a:lnSpc>
              <a:buNone/>
            </a:pPr>
            <a:r>
              <a:rPr lang="en-US" altLang="zh-CN" sz="2400" dirty="0">
                <a:solidFill>
                  <a:schemeClr val="tx1"/>
                </a:solidFill>
                <a:latin typeface="楷体_GB2312" pitchFamily="49" charset="-122"/>
              </a:rPr>
              <a:t>    </a:t>
            </a:r>
            <a:r>
              <a:rPr lang="zh-CN" altLang="en-US" sz="2400" dirty="0">
                <a:solidFill>
                  <a:schemeClr val="tx1"/>
                </a:solidFill>
                <a:latin typeface="楷体_GB2312" pitchFamily="49" charset="-122"/>
              </a:rPr>
              <a:t>图形硬件、图形标准、图形交互技术、光栅图形生成算法、曲线曲面造型、实体造型、真实感图形的生成算法、科学计算可视化、计算机动画、自然景物仿真和虚拟现实等。</a:t>
            </a:r>
            <a:endParaRPr lang="zh-CN" altLang="en-US" sz="2400" dirty="0">
              <a:solidFill>
                <a:schemeClr val="tx1"/>
              </a:solidFill>
              <a:latin typeface="楷体_GB2312" pitchFamily="49" charset="-122"/>
            </a:endParaRPr>
          </a:p>
          <a:p>
            <a:pPr marL="0" indent="0" eaLnBrk="1" hangingPunct="1">
              <a:lnSpc>
                <a:spcPct val="150000"/>
              </a:lnSpc>
              <a:buNone/>
            </a:pPr>
            <a:r>
              <a:rPr lang="zh-CN" altLang="en-US" sz="2400" dirty="0">
                <a:solidFill>
                  <a:schemeClr val="tx1"/>
                </a:solidFill>
                <a:latin typeface="楷体_GB2312" pitchFamily="49" charset="-122"/>
              </a:rPr>
              <a:t>    计算机图形学的主要研究目的之一是生成和照片一样逼真的真实感图形。首先在计算机中构造出物体的几何模型，然后根据假定的光照、材质、纹理等条件，计算可见物体表面的反射光强。</a:t>
            </a:r>
            <a:endParaRPr lang="zh-CN" altLang="en-US" sz="2400" dirty="0">
              <a:solidFill>
                <a:schemeClr val="tx1"/>
              </a:solidFill>
              <a:latin typeface="楷体_GB2312" pitchFamily="49" charset="-122"/>
            </a:endParaRP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4818" name="Picture 2"/>
          <p:cNvPicPr>
            <a:picLocks noChangeAspect="1"/>
          </p:cNvPicPr>
          <p:nvPr/>
        </p:nvPicPr>
        <p:blipFill>
          <a:blip r:embed="rId1"/>
          <a:stretch>
            <a:fillRect/>
          </a:stretch>
        </p:blipFill>
        <p:spPr>
          <a:xfrm>
            <a:off x="1428750" y="714375"/>
            <a:ext cx="7334250" cy="5500688"/>
          </a:xfrm>
          <a:prstGeom prst="rect">
            <a:avLst/>
          </a:prstGeom>
          <a:noFill/>
          <a:ln w="9525">
            <a:noFill/>
          </a:ln>
          <a:effectLst>
            <a:prstShdw prst="shdw17" dist="17961" dir="2699999">
              <a:srgbClr val="008965"/>
            </a:prstShdw>
          </a:effectLst>
        </p:spPr>
      </p:pic>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42" name="Picture 3"/>
          <p:cNvPicPr>
            <a:picLocks noChangeAspect="1"/>
          </p:cNvPicPr>
          <p:nvPr/>
        </p:nvPicPr>
        <p:blipFill>
          <a:blip r:embed="rId1"/>
          <a:stretch>
            <a:fillRect/>
          </a:stretch>
        </p:blipFill>
        <p:spPr>
          <a:xfrm>
            <a:off x="1285875" y="500063"/>
            <a:ext cx="7620000" cy="5715000"/>
          </a:xfrm>
          <a:prstGeom prst="rect">
            <a:avLst/>
          </a:prstGeom>
          <a:noFill/>
          <a:ln w="9525">
            <a:noFill/>
          </a:ln>
          <a:effectLst>
            <a:prstShdw prst="shdw17" dist="17961" dir="2699999">
              <a:srgbClr val="008965"/>
            </a:prstShdw>
          </a:effectLst>
        </p:spPr>
      </p:pic>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6866" name="Rectangle 2"/>
          <p:cNvSpPr>
            <a:spLocks noGrp="1"/>
          </p:cNvSpPr>
          <p:nvPr>
            <p:ph type="title" idx="4294967295"/>
          </p:nvPr>
        </p:nvSpPr>
        <p:spPr>
          <a:xfrm>
            <a:off x="1331913" y="476250"/>
            <a:ext cx="6789737" cy="503238"/>
          </a:xfrm>
          <a:ln/>
        </p:spPr>
        <p:txBody>
          <a:bodyPr vert="horz" wrap="square" lIns="92075" tIns="46038" rIns="92075" bIns="46038" anchor="ctr" anchorCtr="0"/>
          <a:p>
            <a:pPr algn="l" eaLnBrk="1" hangingPunct="1"/>
            <a:r>
              <a:rPr lang="en-US" altLang="zh-CN" sz="3200" dirty="0">
                <a:solidFill>
                  <a:schemeClr val="tx1"/>
                </a:solidFill>
                <a:latin typeface="楷体_GB2312" pitchFamily="49" charset="-122"/>
                <a:ea typeface="楷体_GB2312" pitchFamily="49" charset="-122"/>
              </a:rPr>
              <a:t>1.3</a:t>
            </a:r>
            <a:r>
              <a:rPr lang="zh-CN" altLang="en-US" sz="3200" dirty="0">
                <a:solidFill>
                  <a:schemeClr val="tx1"/>
                </a:solidFill>
                <a:latin typeface="楷体_GB2312" pitchFamily="49" charset="-122"/>
                <a:ea typeface="楷体_GB2312" pitchFamily="49" charset="-122"/>
              </a:rPr>
              <a:t>　计算机图形学的相关学科</a:t>
            </a:r>
            <a:endParaRPr lang="zh-CN" altLang="en-US" sz="3200" dirty="0">
              <a:solidFill>
                <a:schemeClr val="tx1"/>
              </a:solidFill>
              <a:latin typeface="楷体_GB2312" pitchFamily="49" charset="-122"/>
              <a:ea typeface="楷体_GB2312" pitchFamily="49" charset="-122"/>
            </a:endParaRPr>
          </a:p>
        </p:txBody>
      </p:sp>
      <p:sp>
        <p:nvSpPr>
          <p:cNvPr id="36867" name="Rectangle 25"/>
          <p:cNvSpPr/>
          <p:nvPr/>
        </p:nvSpPr>
        <p:spPr>
          <a:xfrm>
            <a:off x="7624763" y="2060575"/>
            <a:ext cx="15557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en-US" altLang="zh-CN" sz="2400" dirty="0">
                <a:solidFill>
                  <a:srgbClr val="993366"/>
                </a:solidFill>
                <a:latin typeface="楷体_GB2312" pitchFamily="49" charset="-122"/>
              </a:rPr>
              <a:t>Photoshop</a:t>
            </a:r>
            <a:endParaRPr lang="zh-CN" altLang="en-US" sz="2400" dirty="0">
              <a:solidFill>
                <a:srgbClr val="993366"/>
              </a:solidFill>
              <a:latin typeface="楷体_GB2312" pitchFamily="49" charset="-122"/>
            </a:endParaRPr>
          </a:p>
        </p:txBody>
      </p:sp>
      <p:sp>
        <p:nvSpPr>
          <p:cNvPr id="36868" name="Rectangle 26"/>
          <p:cNvSpPr/>
          <p:nvPr/>
        </p:nvSpPr>
        <p:spPr>
          <a:xfrm>
            <a:off x="3492500" y="5445125"/>
            <a:ext cx="1098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zh-CN" altLang="en-US" sz="2400" dirty="0">
                <a:solidFill>
                  <a:srgbClr val="993366"/>
                </a:solidFill>
                <a:latin typeface="楷体_GB2312" pitchFamily="49" charset="-122"/>
              </a:rPr>
              <a:t>手写板</a:t>
            </a:r>
            <a:endParaRPr lang="zh-CN" altLang="en-US" sz="2400" dirty="0">
              <a:solidFill>
                <a:srgbClr val="993366"/>
              </a:solidFill>
              <a:latin typeface="楷体_GB2312" pitchFamily="49" charset="-122"/>
            </a:endParaRPr>
          </a:p>
        </p:txBody>
      </p:sp>
      <p:sp>
        <p:nvSpPr>
          <p:cNvPr id="36869" name="Rectangle 34"/>
          <p:cNvSpPr/>
          <p:nvPr/>
        </p:nvSpPr>
        <p:spPr>
          <a:xfrm>
            <a:off x="3708400" y="1196975"/>
            <a:ext cx="6413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en-US" altLang="zh-CN" sz="2400" dirty="0">
                <a:solidFill>
                  <a:srgbClr val="993366"/>
                </a:solidFill>
                <a:latin typeface="楷体_GB2312" pitchFamily="49" charset="-122"/>
              </a:rPr>
              <a:t>3ds</a:t>
            </a:r>
            <a:endParaRPr lang="zh-CN" altLang="en-US" sz="2400" dirty="0">
              <a:solidFill>
                <a:srgbClr val="993366"/>
              </a:solidFill>
              <a:latin typeface="楷体_GB2312" pitchFamily="49" charset="-122"/>
            </a:endParaRPr>
          </a:p>
        </p:txBody>
      </p:sp>
      <p:graphicFrame>
        <p:nvGraphicFramePr>
          <p:cNvPr id="36870" name="Object 34"/>
          <p:cNvGraphicFramePr>
            <a:graphicFrameLocks noChangeAspect="1"/>
          </p:cNvGraphicFramePr>
          <p:nvPr/>
        </p:nvGraphicFramePr>
        <p:xfrm>
          <a:off x="1042988" y="1916113"/>
          <a:ext cx="7067550" cy="3478212"/>
        </p:xfrm>
        <a:graphic>
          <a:graphicData uri="http://schemas.openxmlformats.org/presentationml/2006/ole">
            <mc:AlternateContent xmlns:mc="http://schemas.openxmlformats.org/markup-compatibility/2006">
              <mc:Choice xmlns:v="urn:schemas-microsoft-com:vml" Requires="v">
                <p:oleObj spid="_x0000_s3076" name="" r:id="rId1" imgW="5274945" imgH="2599055" progId="Visio.Drawing.11">
                  <p:embed/>
                </p:oleObj>
              </mc:Choice>
              <mc:Fallback>
                <p:oleObj name="" r:id="rId1" imgW="5274945" imgH="2599055" progId="Visio.Drawing.11">
                  <p:embed/>
                  <p:pic>
                    <p:nvPicPr>
                      <p:cNvPr id="0" name="图片 3075"/>
                      <p:cNvPicPr/>
                      <p:nvPr/>
                    </p:nvPicPr>
                    <p:blipFill>
                      <a:blip r:embed="rId2"/>
                      <a:stretch>
                        <a:fillRect/>
                      </a:stretch>
                    </p:blipFill>
                    <p:spPr>
                      <a:xfrm>
                        <a:off x="1042988" y="1916113"/>
                        <a:ext cx="7067550" cy="3478212"/>
                      </a:xfrm>
                      <a:prstGeom prst="rect">
                        <a:avLst/>
                      </a:prstGeom>
                      <a:noFill/>
                      <a:ln w="38100">
                        <a:noFill/>
                        <a:miter/>
                      </a:ln>
                    </p:spPr>
                  </p:pic>
                </p:oleObj>
              </mc:Fallback>
            </mc:AlternateContent>
          </a:graphicData>
        </a:graphic>
      </p:graphicFrame>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7890" name="Rectangle 5"/>
          <p:cNvSpPr>
            <a:spLocks noGrp="1"/>
          </p:cNvSpPr>
          <p:nvPr>
            <p:ph type="title" idx="4294967295"/>
          </p:nvPr>
        </p:nvSpPr>
        <p:spPr>
          <a:xfrm>
            <a:off x="1331913" y="188913"/>
            <a:ext cx="7138987" cy="581025"/>
          </a:xfrm>
          <a:ln/>
        </p:spPr>
        <p:txBody>
          <a:bodyPr vert="horz" wrap="square" lIns="91440" tIns="45720" rIns="91440" bIns="45720" anchor="b" anchorCtr="0"/>
          <a:p>
            <a:pPr algn="l" eaLnBrk="1" hangingPunct="1"/>
            <a:r>
              <a:rPr lang="en-US" altLang="zh-CN" sz="3200" dirty="0">
                <a:solidFill>
                  <a:schemeClr val="tx1"/>
                </a:solidFill>
                <a:latin typeface="楷体_GB2312" pitchFamily="49" charset="-122"/>
                <a:ea typeface="楷体_GB2312" pitchFamily="49" charset="-122"/>
              </a:rPr>
              <a:t>1.4</a:t>
            </a:r>
            <a:r>
              <a:rPr lang="zh-CN" altLang="en-US" sz="3200" dirty="0">
                <a:solidFill>
                  <a:schemeClr val="tx1"/>
                </a:solidFill>
                <a:latin typeface="楷体_GB2312" pitchFamily="49" charset="-122"/>
                <a:ea typeface="楷体_GB2312" pitchFamily="49" charset="-122"/>
              </a:rPr>
              <a:t>　计算机图形学的确立和发展</a:t>
            </a:r>
            <a:endParaRPr lang="zh-CN" altLang="en-US" sz="3200" dirty="0">
              <a:solidFill>
                <a:schemeClr val="tx1"/>
              </a:solidFill>
              <a:latin typeface="楷体_GB2312" pitchFamily="49" charset="-122"/>
              <a:ea typeface="楷体_GB2312" pitchFamily="49" charset="-122"/>
            </a:endParaRPr>
          </a:p>
        </p:txBody>
      </p:sp>
      <p:sp>
        <p:nvSpPr>
          <p:cNvPr id="37891" name="Rectangle 6"/>
          <p:cNvSpPr>
            <a:spLocks noGrp="1"/>
          </p:cNvSpPr>
          <p:nvPr>
            <p:ph type="body" idx="4294967295"/>
          </p:nvPr>
        </p:nvSpPr>
        <p:spPr>
          <a:xfrm>
            <a:off x="1143000" y="908050"/>
            <a:ext cx="7929563" cy="5592763"/>
          </a:xfrm>
          <a:ln/>
        </p:spPr>
        <p:txBody>
          <a:bodyPr vert="horz" wrap="square" lIns="91440" tIns="45720" rIns="91440" bIns="45720" anchor="t" anchorCtr="0"/>
          <a:p>
            <a:pPr marL="0" indent="355600" eaLnBrk="1" hangingPunct="1"/>
            <a:r>
              <a:rPr lang="en-US" altLang="zh-CN" sz="2400" dirty="0">
                <a:solidFill>
                  <a:schemeClr val="tx1"/>
                </a:solidFill>
                <a:latin typeface="楷体_GB2312" pitchFamily="49" charset="-122"/>
              </a:rPr>
              <a:t>1946</a:t>
            </a:r>
            <a:r>
              <a:rPr lang="zh-CN" altLang="en-US" sz="2400" dirty="0">
                <a:solidFill>
                  <a:schemeClr val="tx1"/>
                </a:solidFill>
                <a:latin typeface="楷体_GB2312" pitchFamily="49" charset="-122"/>
              </a:rPr>
              <a:t>年</a:t>
            </a:r>
            <a:r>
              <a:rPr lang="en-US" altLang="zh-CN" sz="2400" dirty="0">
                <a:solidFill>
                  <a:schemeClr val="tx1"/>
                </a:solidFill>
                <a:latin typeface="楷体_GB2312" pitchFamily="49" charset="-122"/>
              </a:rPr>
              <a:t>2</a:t>
            </a:r>
            <a:r>
              <a:rPr lang="zh-CN" altLang="en-US" sz="2400" dirty="0">
                <a:solidFill>
                  <a:schemeClr val="tx1"/>
                </a:solidFill>
                <a:latin typeface="楷体_GB2312" pitchFamily="49" charset="-122"/>
              </a:rPr>
              <a:t>月</a:t>
            </a:r>
            <a:r>
              <a:rPr lang="en-US" altLang="zh-CN" sz="2400" dirty="0">
                <a:solidFill>
                  <a:schemeClr val="tx1"/>
                </a:solidFill>
                <a:latin typeface="楷体_GB2312" pitchFamily="49" charset="-122"/>
              </a:rPr>
              <a:t>14</a:t>
            </a:r>
            <a:r>
              <a:rPr lang="zh-CN" altLang="en-US" sz="2400" dirty="0">
                <a:solidFill>
                  <a:schemeClr val="tx1"/>
                </a:solidFill>
                <a:latin typeface="楷体_GB2312" pitchFamily="49" charset="-122"/>
              </a:rPr>
              <a:t>日，世界上第一台计算机</a:t>
            </a:r>
            <a:r>
              <a:rPr lang="en-US" altLang="zh-CN" sz="2400" dirty="0">
                <a:solidFill>
                  <a:schemeClr val="tx1"/>
                </a:solidFill>
                <a:latin typeface="楷体_GB2312" pitchFamily="49" charset="-122"/>
              </a:rPr>
              <a:t>ENIAC</a:t>
            </a:r>
            <a:r>
              <a:rPr lang="zh-CN" altLang="en-US" sz="2400" dirty="0">
                <a:solidFill>
                  <a:schemeClr val="tx1"/>
                </a:solidFill>
                <a:latin typeface="楷体_GB2312" pitchFamily="49" charset="-122"/>
              </a:rPr>
              <a:t>在美国问世。</a:t>
            </a:r>
            <a:endParaRPr lang="zh-CN" altLang="en-US" sz="2400" dirty="0">
              <a:solidFill>
                <a:schemeClr val="tx1"/>
              </a:solidFill>
              <a:latin typeface="楷体_GB2312" pitchFamily="49" charset="-122"/>
            </a:endParaRPr>
          </a:p>
          <a:p>
            <a:pPr marL="0" indent="355600" eaLnBrk="1" hangingPunct="1"/>
            <a:r>
              <a:rPr lang="en-US" altLang="zh-CN" sz="2400" dirty="0">
                <a:solidFill>
                  <a:schemeClr val="tx1"/>
                </a:solidFill>
                <a:latin typeface="楷体_GB2312" pitchFamily="49" charset="-122"/>
              </a:rPr>
              <a:t>1950</a:t>
            </a:r>
            <a:r>
              <a:rPr lang="zh-CN" altLang="en-US" sz="2400" dirty="0">
                <a:solidFill>
                  <a:schemeClr val="tx1"/>
                </a:solidFill>
                <a:latin typeface="楷体_GB2312" pitchFamily="49" charset="-122"/>
              </a:rPr>
              <a:t>年，美国麻省理工学院的旋风一号计算机配备了世界上第一台显示器</a:t>
            </a:r>
            <a:r>
              <a:rPr lang="en-US" altLang="zh-CN" sz="2400" dirty="0">
                <a:solidFill>
                  <a:schemeClr val="tx1"/>
                </a:solidFill>
                <a:latin typeface="Arial" panose="020B0604020202020204" pitchFamily="34" charset="0"/>
              </a:rPr>
              <a:t>——</a:t>
            </a:r>
            <a:r>
              <a:rPr lang="zh-CN" altLang="en-US" sz="2400" dirty="0">
                <a:solidFill>
                  <a:schemeClr val="tx1"/>
                </a:solidFill>
                <a:latin typeface="楷体_GB2312" pitchFamily="49" charset="-122"/>
              </a:rPr>
              <a:t>阴极射线管。</a:t>
            </a:r>
            <a:endParaRPr lang="zh-CN" altLang="en-US" sz="2400" dirty="0">
              <a:solidFill>
                <a:schemeClr val="tx1"/>
              </a:solidFill>
              <a:latin typeface="楷体_GB2312" pitchFamily="49" charset="-122"/>
            </a:endParaRPr>
          </a:p>
          <a:p>
            <a:pPr marL="0" indent="355600" eaLnBrk="1" hangingPunct="1"/>
            <a:r>
              <a:rPr lang="en-US" altLang="zh-CN" sz="2400" dirty="0">
                <a:solidFill>
                  <a:schemeClr val="tx1"/>
                </a:solidFill>
                <a:latin typeface="楷体_GB2312" pitchFamily="49" charset="-122"/>
                <a:hlinkClick r:id="rId1" action="ppaction://hlinkfile"/>
              </a:rPr>
              <a:t>1963</a:t>
            </a:r>
            <a:r>
              <a:rPr lang="zh-CN" altLang="en-US" sz="2400" dirty="0">
                <a:solidFill>
                  <a:schemeClr val="tx1"/>
                </a:solidFill>
                <a:latin typeface="楷体_GB2312" pitchFamily="49" charset="-122"/>
                <a:hlinkClick r:id="rId1" action="ppaction://hlinkfile"/>
              </a:rPr>
              <a:t>年美国麻省理工学院的</a:t>
            </a:r>
            <a:r>
              <a:rPr lang="en-US" altLang="zh-CN" sz="2400" dirty="0">
                <a:solidFill>
                  <a:schemeClr val="tx1"/>
                </a:solidFill>
                <a:latin typeface="楷体_GB2312" pitchFamily="49" charset="-122"/>
                <a:hlinkClick r:id="rId1" action="ppaction://hlinkfile"/>
              </a:rPr>
              <a:t>Ivan E.Sutherland</a:t>
            </a:r>
            <a:r>
              <a:rPr lang="zh-CN" altLang="en-US" sz="2400" dirty="0">
                <a:solidFill>
                  <a:schemeClr val="tx1"/>
                </a:solidFill>
                <a:latin typeface="楷体_GB2312" pitchFamily="49" charset="-122"/>
                <a:hlinkClick r:id="rId1" action="ppaction://hlinkfile"/>
              </a:rPr>
              <a:t>完成了</a:t>
            </a:r>
            <a:r>
              <a:rPr lang="en-US" altLang="zh-CN" sz="2400" dirty="0">
                <a:solidFill>
                  <a:schemeClr val="tx1"/>
                </a:solidFill>
              </a:rPr>
              <a:t>《Sketchpad:A Man-Machine Graphical Communication System》(</a:t>
            </a:r>
            <a:r>
              <a:rPr lang="en-US" altLang="zh-CN" sz="2400" dirty="0">
                <a:solidFill>
                  <a:schemeClr val="tx1"/>
                </a:solidFill>
                <a:latin typeface="楷体_GB2312" pitchFamily="49" charset="-122"/>
                <a:hlinkClick r:id="rId1" action="ppaction://hlinkfile"/>
              </a:rPr>
              <a:t>《Sketchpad</a:t>
            </a:r>
            <a:r>
              <a:rPr lang="zh-CN" altLang="en-US" sz="2400" dirty="0">
                <a:solidFill>
                  <a:schemeClr val="tx1"/>
                </a:solidFill>
                <a:latin typeface="楷体_GB2312" pitchFamily="49" charset="-122"/>
                <a:hlinkClick r:id="rId1" action="ppaction://hlinkfile"/>
              </a:rPr>
              <a:t>：一个人机通讯的图形系统</a:t>
            </a:r>
            <a:r>
              <a:rPr lang="en-US" altLang="zh-CN" sz="2400" dirty="0">
                <a:solidFill>
                  <a:schemeClr val="tx1"/>
                </a:solidFill>
                <a:latin typeface="楷体_GB2312" pitchFamily="49" charset="-122"/>
                <a:hlinkClick r:id="rId1" action="ppaction://hlinkfile"/>
              </a:rPr>
              <a:t>》</a:t>
            </a:r>
            <a:r>
              <a:rPr lang="zh-CN" altLang="en-US" sz="2400" dirty="0">
                <a:solidFill>
                  <a:schemeClr val="tx1"/>
                </a:solidFill>
                <a:latin typeface="楷体_GB2312" pitchFamily="49" charset="-122"/>
                <a:hlinkClick r:id="rId1" action="ppaction://hlinkfile"/>
              </a:rPr>
              <a:t>博士学位论文</a:t>
            </a:r>
            <a:r>
              <a:rPr lang="en-US" altLang="zh-CN" sz="2400" dirty="0">
                <a:solidFill>
                  <a:schemeClr val="tx1"/>
                </a:solidFill>
                <a:latin typeface="楷体_GB2312" pitchFamily="49" charset="-122"/>
                <a:hlinkClick r:id="rId1" action="ppaction://hlinkfile"/>
              </a:rPr>
              <a:t>)</a:t>
            </a:r>
            <a:r>
              <a:rPr lang="zh-CN" altLang="en-US" sz="2400" dirty="0">
                <a:solidFill>
                  <a:schemeClr val="tx1"/>
                </a:solidFill>
                <a:latin typeface="楷体_GB2312" pitchFamily="49" charset="-122"/>
                <a:hlinkClick r:id="rId1" action="ppaction://hlinkfile"/>
              </a:rPr>
              <a:t>。</a:t>
            </a:r>
            <a:endParaRPr lang="zh-CN" altLang="en-US" sz="2400" dirty="0">
              <a:solidFill>
                <a:schemeClr val="tx1"/>
              </a:solidFill>
              <a:latin typeface="楷体_GB2312" pitchFamily="49" charset="-122"/>
            </a:endParaRPr>
          </a:p>
          <a:p>
            <a:pPr marL="0" indent="355600" eaLnBrk="1" hangingPunct="1"/>
            <a:r>
              <a:rPr lang="en-US" altLang="zh-CN" sz="2400" dirty="0">
                <a:solidFill>
                  <a:schemeClr val="tx1"/>
                </a:solidFill>
                <a:latin typeface="楷体_GB2312" pitchFamily="49" charset="-122"/>
              </a:rPr>
              <a:t>1970</a:t>
            </a:r>
            <a:r>
              <a:rPr lang="zh-CN" altLang="en-US" sz="2400" dirty="0">
                <a:solidFill>
                  <a:schemeClr val="tx1"/>
                </a:solidFill>
                <a:latin typeface="楷体_GB2312" pitchFamily="49" charset="-122"/>
              </a:rPr>
              <a:t>年</a:t>
            </a:r>
            <a:r>
              <a:rPr lang="en-US" altLang="zh-CN" sz="2400" dirty="0">
                <a:solidFill>
                  <a:schemeClr val="tx1"/>
                </a:solidFill>
                <a:latin typeface="楷体_GB2312" pitchFamily="49" charset="-122"/>
              </a:rPr>
              <a:t>Bouknight</a:t>
            </a:r>
            <a:r>
              <a:rPr lang="zh-CN" altLang="en-US" sz="2400" dirty="0">
                <a:solidFill>
                  <a:schemeClr val="tx1"/>
                </a:solidFill>
                <a:latin typeface="楷体_GB2312" pitchFamily="49" charset="-122"/>
              </a:rPr>
              <a:t>提出了第一个光反射模型，并用</a:t>
            </a:r>
            <a:r>
              <a:rPr lang="en-US" altLang="zh-CN" sz="2400" dirty="0">
                <a:solidFill>
                  <a:schemeClr val="tx1"/>
                </a:solidFill>
                <a:latin typeface="楷体_GB2312" pitchFamily="49" charset="-122"/>
              </a:rPr>
              <a:t>Lambert</a:t>
            </a:r>
            <a:r>
              <a:rPr lang="zh-CN" altLang="en-US" sz="2400" dirty="0">
                <a:solidFill>
                  <a:schemeClr val="tx1"/>
                </a:solidFill>
                <a:latin typeface="楷体_GB2312" pitchFamily="49" charset="-122"/>
              </a:rPr>
              <a:t>漫反射余弦定律计算物体表面多边形的光强，对于光照射不到的地方，使用环境光代替。</a:t>
            </a:r>
            <a:endParaRPr lang="zh-CN" altLang="en-US" sz="2400" dirty="0">
              <a:solidFill>
                <a:schemeClr val="tx1"/>
              </a:solidFill>
              <a:latin typeface="楷体_GB2312" pitchFamily="49" charset="-122"/>
            </a:endParaRPr>
          </a:p>
          <a:p>
            <a:pPr marL="0" indent="355600" eaLnBrk="1" hangingPunct="1"/>
            <a:r>
              <a:rPr lang="en-US" altLang="zh-CN" sz="2400" dirty="0">
                <a:solidFill>
                  <a:schemeClr val="tx1"/>
                </a:solidFill>
                <a:latin typeface="楷体_GB2312" pitchFamily="49" charset="-122"/>
              </a:rPr>
              <a:t>1971</a:t>
            </a:r>
            <a:r>
              <a:rPr lang="zh-CN" altLang="en-US" sz="2400" dirty="0">
                <a:solidFill>
                  <a:schemeClr val="tx1"/>
                </a:solidFill>
                <a:latin typeface="楷体_GB2312" pitchFamily="49" charset="-122"/>
              </a:rPr>
              <a:t>年</a:t>
            </a:r>
            <a:r>
              <a:rPr lang="en-US" altLang="zh-CN" sz="2400" dirty="0">
                <a:solidFill>
                  <a:schemeClr val="tx1"/>
                </a:solidFill>
                <a:latin typeface="楷体_GB2312" pitchFamily="49" charset="-122"/>
              </a:rPr>
              <a:t>Gouraud</a:t>
            </a:r>
            <a:r>
              <a:rPr lang="zh-CN" altLang="en-US" sz="2400" dirty="0">
                <a:solidFill>
                  <a:schemeClr val="tx1"/>
                </a:solidFill>
                <a:latin typeface="楷体_GB2312" pitchFamily="49" charset="-122"/>
              </a:rPr>
              <a:t>提出了双线性光强插值模型，被称为</a:t>
            </a:r>
            <a:r>
              <a:rPr lang="en-US" altLang="zh-CN" sz="2400" dirty="0">
                <a:solidFill>
                  <a:schemeClr val="tx1"/>
                </a:solidFill>
                <a:latin typeface="楷体_GB2312" pitchFamily="49" charset="-122"/>
              </a:rPr>
              <a:t>Gouraud</a:t>
            </a:r>
            <a:r>
              <a:rPr lang="zh-CN" altLang="en-US" sz="2400" dirty="0">
                <a:solidFill>
                  <a:schemeClr val="tx1"/>
                </a:solidFill>
                <a:latin typeface="楷体_GB2312" pitchFamily="49" charset="-122"/>
              </a:rPr>
              <a:t>明暗处理。</a:t>
            </a:r>
            <a:endParaRPr lang="zh-CN" altLang="en-US" sz="2400" dirty="0">
              <a:solidFill>
                <a:schemeClr val="tx1"/>
              </a:solidFill>
              <a:latin typeface="楷体_GB2312" pitchFamily="49" charset="-122"/>
            </a:endParaRPr>
          </a:p>
          <a:p>
            <a:pPr marL="0" indent="355600" eaLnBrk="1" hangingPunct="1"/>
            <a:r>
              <a:rPr lang="en-US" altLang="zh-CN" sz="2400" dirty="0">
                <a:solidFill>
                  <a:schemeClr val="tx1"/>
                </a:solidFill>
                <a:latin typeface="楷体_GB2312" pitchFamily="49" charset="-122"/>
              </a:rPr>
              <a:t>1975</a:t>
            </a:r>
            <a:r>
              <a:rPr lang="zh-CN" altLang="en-US" sz="2400" dirty="0">
                <a:solidFill>
                  <a:schemeClr val="tx1"/>
                </a:solidFill>
                <a:latin typeface="楷体_GB2312" pitchFamily="49" charset="-122"/>
              </a:rPr>
              <a:t>年</a:t>
            </a:r>
            <a:r>
              <a:rPr lang="en-US" altLang="zh-CN" sz="2400" dirty="0">
                <a:solidFill>
                  <a:schemeClr val="tx1"/>
                </a:solidFill>
                <a:latin typeface="楷体_GB2312" pitchFamily="49" charset="-122"/>
              </a:rPr>
              <a:t>Phong</a:t>
            </a:r>
            <a:r>
              <a:rPr lang="zh-CN" altLang="en-US" sz="2400" dirty="0">
                <a:solidFill>
                  <a:schemeClr val="tx1"/>
                </a:solidFill>
                <a:latin typeface="楷体_GB2312" pitchFamily="49" charset="-122"/>
              </a:rPr>
              <a:t>提出了双线性法矢插值模型，被称为</a:t>
            </a:r>
            <a:r>
              <a:rPr lang="en-US" altLang="zh-CN" sz="2400" dirty="0">
                <a:solidFill>
                  <a:schemeClr val="tx1"/>
                </a:solidFill>
                <a:latin typeface="楷体_GB2312" pitchFamily="49" charset="-122"/>
              </a:rPr>
              <a:t>Phong</a:t>
            </a:r>
            <a:r>
              <a:rPr lang="zh-CN" altLang="en-US" sz="2400" dirty="0">
                <a:solidFill>
                  <a:schemeClr val="tx1"/>
                </a:solidFill>
                <a:latin typeface="楷体_GB2312" pitchFamily="49" charset="-122"/>
              </a:rPr>
              <a:t>明暗处理。</a:t>
            </a:r>
            <a:endParaRPr lang="zh-CN" altLang="en-US" sz="2400" dirty="0">
              <a:solidFill>
                <a:schemeClr val="tx1"/>
              </a:solidFill>
              <a:latin typeface="楷体_GB2312" pitchFamily="49" charset="-122"/>
            </a:endParaRP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4"/>
          <p:cNvSpPr/>
          <p:nvPr/>
        </p:nvSpPr>
        <p:spPr>
          <a:xfrm>
            <a:off x="1214438" y="285750"/>
            <a:ext cx="7710487" cy="6357938"/>
          </a:xfrm>
          <a:prstGeom prst="rect">
            <a:avLst/>
          </a:prstGeom>
          <a:noFill/>
          <a:ln w="9525">
            <a:noFill/>
          </a:ln>
        </p:spPr>
        <p:txBody>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r>
              <a:rPr lang="zh-CN" altLang="en-US" sz="2400" dirty="0">
                <a:solidFill>
                  <a:schemeClr val="tx1"/>
                </a:solidFill>
                <a:latin typeface="楷体_GB2312" pitchFamily="49" charset="-122"/>
              </a:rPr>
              <a:t>早期的计算机绘图系统只能用键盘输入复杂的代码和命令来描述产品的几何形状。</a:t>
            </a:r>
            <a:r>
              <a:rPr lang="en-US" altLang="zh-CN" sz="2400" dirty="0">
                <a:solidFill>
                  <a:schemeClr val="tx1"/>
                </a:solidFill>
                <a:latin typeface="楷体_GB2312" pitchFamily="49" charset="-122"/>
              </a:rPr>
              <a:t>Sketchpad</a:t>
            </a:r>
            <a:r>
              <a:rPr lang="zh-CN" altLang="en-US" sz="2400" dirty="0">
                <a:solidFill>
                  <a:schemeClr val="tx1"/>
                </a:solidFill>
                <a:latin typeface="楷体_GB2312" pitchFamily="49" charset="-122"/>
              </a:rPr>
              <a:t>不必通过键盘输入繁琐的公式或代码，只用光笔等手持物体就可以在电脑屏幕上创建绘出三维几何图像。</a:t>
            </a:r>
            <a:r>
              <a:rPr lang="en-US" altLang="zh-CN" sz="2400" dirty="0">
                <a:solidFill>
                  <a:schemeClr val="tx1"/>
                </a:solidFill>
                <a:latin typeface="楷体_GB2312" pitchFamily="49" charset="-122"/>
              </a:rPr>
              <a:t>Sketchpad</a:t>
            </a:r>
            <a:r>
              <a:rPr lang="zh-CN" altLang="en-US" sz="2400" dirty="0">
                <a:solidFill>
                  <a:schemeClr val="tx1"/>
                </a:solidFill>
                <a:latin typeface="楷体_GB2312" pitchFamily="49" charset="-122"/>
              </a:rPr>
              <a:t>极大简化了人与计算机的信息交互，使得人手在屏幕上设计图形成为可能。</a:t>
            </a:r>
            <a:endParaRPr lang="en-US" altLang="zh-CN" sz="2400" dirty="0">
              <a:solidFill>
                <a:schemeClr val="tx1"/>
              </a:solidFill>
              <a:latin typeface="楷体_GB2312" pitchFamily="49" charset="-122"/>
            </a:endParaRPr>
          </a:p>
          <a:p>
            <a:pPr marL="0" lvl="0" indent="0" eaLnBrk="1" hangingPunct="1"/>
            <a:r>
              <a:rPr lang="en-US" altLang="zh-CN" sz="2400" dirty="0">
                <a:solidFill>
                  <a:schemeClr val="tx1"/>
                </a:solidFill>
                <a:latin typeface="楷体_GB2312" pitchFamily="49" charset="-122"/>
              </a:rPr>
              <a:t>Sutherland</a:t>
            </a:r>
            <a:r>
              <a:rPr lang="zh-CN" altLang="en-US" sz="2400" dirty="0">
                <a:solidFill>
                  <a:schemeClr val="tx1"/>
                </a:solidFill>
                <a:latin typeface="楷体_GB2312" pitchFamily="49" charset="-122"/>
                <a:hlinkClick r:id="rId1" action="ppaction://hlinkfile"/>
              </a:rPr>
              <a:t>发明了世界上第一台头盔式显示器</a:t>
            </a:r>
            <a:r>
              <a:rPr lang="zh-CN" altLang="en-US" sz="2400" dirty="0">
                <a:solidFill>
                  <a:schemeClr val="tx1"/>
                </a:solidFill>
                <a:latin typeface="楷体_GB2312" pitchFamily="49" charset="-122"/>
              </a:rPr>
              <a:t>，直接把人融入到人脑与计算机生成的三维虚拟世界中。头盔显示器里用户戴的双目眼镜内的一个小计算机屏幕上放映图像，可以形成透视场景。这是</a:t>
            </a:r>
            <a:r>
              <a:rPr lang="en-US" altLang="zh-CN" sz="2400" dirty="0">
                <a:solidFill>
                  <a:schemeClr val="tx1"/>
                </a:solidFill>
                <a:latin typeface="楷体_GB2312" pitchFamily="49" charset="-122"/>
              </a:rPr>
              <a:t>3D</a:t>
            </a:r>
            <a:r>
              <a:rPr lang="zh-CN" altLang="en-US" sz="2400" dirty="0">
                <a:solidFill>
                  <a:schemeClr val="tx1"/>
                </a:solidFill>
                <a:latin typeface="楷体_GB2312" pitchFamily="49" charset="-122"/>
              </a:rPr>
              <a:t>交互和虚拟现实技术的先驱。</a:t>
            </a:r>
            <a:endParaRPr lang="en-US" altLang="zh-CN" sz="2400" dirty="0">
              <a:solidFill>
                <a:schemeClr val="tx1"/>
              </a:solidFill>
              <a:latin typeface="楷体_GB2312" pitchFamily="49" charset="-122"/>
            </a:endParaRPr>
          </a:p>
          <a:p>
            <a:pPr marL="0" lvl="0" indent="0" eaLnBrk="1" hangingPunct="1"/>
            <a:endParaRPr lang="en-US" altLang="zh-CN" sz="2400" dirty="0">
              <a:solidFill>
                <a:schemeClr val="tx1"/>
              </a:solidFill>
              <a:latin typeface="楷体_GB2312" pitchFamily="49" charset="-122"/>
            </a:endParaRPr>
          </a:p>
          <a:p>
            <a:pPr marL="0" lvl="0" indent="0" eaLnBrk="1" hangingPunct="1"/>
            <a:endParaRPr lang="en-US" altLang="zh-CN" sz="2400" dirty="0">
              <a:solidFill>
                <a:schemeClr val="tx1"/>
              </a:solidFill>
              <a:latin typeface="楷体_GB2312" pitchFamily="49" charset="-122"/>
            </a:endParaRPr>
          </a:p>
          <a:p>
            <a:pPr marL="0" lvl="0" indent="0" eaLnBrk="1" hangingPunct="1"/>
            <a:endParaRPr lang="zh-CN" altLang="en-US" sz="2400" dirty="0">
              <a:solidFill>
                <a:schemeClr val="tx1"/>
              </a:solidFill>
              <a:latin typeface="楷体_GB2312" pitchFamily="49" charset="-122"/>
            </a:endParaRPr>
          </a:p>
          <a:p>
            <a:pPr marL="0" lvl="0" indent="0" eaLnBrk="1" hangingPunct="1"/>
            <a:r>
              <a:rPr lang="en-US" altLang="zh-CN" sz="2400" dirty="0">
                <a:solidFill>
                  <a:schemeClr val="tx1"/>
                </a:solidFill>
                <a:latin typeface="楷体_GB2312" pitchFamily="49" charset="-122"/>
              </a:rPr>
              <a:t>1988</a:t>
            </a:r>
            <a:r>
              <a:rPr lang="zh-CN" altLang="en-US" sz="2400" dirty="0">
                <a:solidFill>
                  <a:schemeClr val="tx1"/>
                </a:solidFill>
                <a:latin typeface="楷体_GB2312" pitchFamily="49" charset="-122"/>
              </a:rPr>
              <a:t>年图灵奖获得者，美国科学院和工程院两院院士。</a:t>
            </a:r>
            <a:endParaRPr lang="zh-CN" altLang="en-US" sz="2400" dirty="0">
              <a:solidFill>
                <a:schemeClr val="tx1"/>
              </a:solidFill>
              <a:latin typeface="楷体_GB2312" pitchFamily="49" charset="-122"/>
            </a:endParaRPr>
          </a:p>
        </p:txBody>
      </p:sp>
      <p:pic>
        <p:nvPicPr>
          <p:cNvPr id="56323" name="Picture 3">
            <a:hlinkClick r:id="rId1" action="ppaction://hlinkfile"/>
          </p:cNvPr>
          <p:cNvPicPr>
            <a:picLocks noChangeAspect="1" noChangeArrowheads="1"/>
          </p:cNvPicPr>
          <p:nvPr/>
        </p:nvPicPr>
        <p:blipFill>
          <a:blip r:embed="rId2"/>
          <a:srcRect/>
          <a:stretch>
            <a:fillRect/>
          </a:stretch>
        </p:blipFill>
        <p:spPr bwMode="auto">
          <a:xfrm>
            <a:off x="4500563" y="4214813"/>
            <a:ext cx="2500313" cy="1633538"/>
          </a:xfrm>
          <a:prstGeom prst="rect">
            <a:avLst/>
          </a:prstGeom>
          <a:noFill/>
          <a:ln w="9525" cap="flat" cmpd="sng">
            <a:noFill/>
            <a:miter lim="800000"/>
            <a:headEnd/>
            <a:tailEnd/>
          </a:ln>
          <a:effectLst>
            <a:prstShdw prst="shdw17" dist="17961" dir="2700000">
              <a:schemeClr val="accent1">
                <a:gamma/>
                <a:shade val="60000"/>
                <a:invGamma/>
              </a:schemeClr>
            </a:prstShdw>
          </a:effectLst>
        </p:spPr>
      </p:pic>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39938" name="Text Box 7"/>
          <p:cNvSpPr txBox="1"/>
          <p:nvPr/>
        </p:nvSpPr>
        <p:spPr>
          <a:xfrm>
            <a:off x="1187450" y="333375"/>
            <a:ext cx="7561263" cy="57943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en-US" altLang="zh-CN" sz="3200" b="1" dirty="0">
                <a:solidFill>
                  <a:schemeClr val="tx1"/>
                </a:solidFill>
                <a:latin typeface="楷体_GB2312" pitchFamily="49" charset="-122"/>
              </a:rPr>
              <a:t>1.5 </a:t>
            </a:r>
            <a:r>
              <a:rPr lang="zh-CN" altLang="en-US" sz="3200" b="1" dirty="0">
                <a:solidFill>
                  <a:schemeClr val="tx1"/>
                </a:solidFill>
                <a:latin typeface="楷体_GB2312" pitchFamily="49" charset="-122"/>
              </a:rPr>
              <a:t>图形显示器的发展及其工作原理</a:t>
            </a:r>
            <a:endParaRPr lang="zh-CN" altLang="en-US" sz="3200" b="1" dirty="0">
              <a:solidFill>
                <a:schemeClr val="tx1"/>
              </a:solidFill>
              <a:latin typeface="楷体_GB2312" pitchFamily="49" charset="-122"/>
            </a:endParaRPr>
          </a:p>
        </p:txBody>
      </p:sp>
      <p:sp>
        <p:nvSpPr>
          <p:cNvPr id="39939" name="Rectangle 8"/>
          <p:cNvSpPr>
            <a:spLocks noGrp="1"/>
          </p:cNvSpPr>
          <p:nvPr>
            <p:ph type="body" idx="4294967295"/>
          </p:nvPr>
        </p:nvSpPr>
        <p:spPr>
          <a:xfrm>
            <a:off x="1187450" y="2636838"/>
            <a:ext cx="7772400" cy="3168650"/>
          </a:xfrm>
          <a:ln/>
        </p:spPr>
        <p:txBody>
          <a:bodyPr vert="horz" wrap="square" lIns="91440" tIns="45720" rIns="91440" bIns="45720" anchor="t" anchorCtr="0"/>
          <a:p>
            <a:pPr marL="0" indent="0" eaLnBrk="1" hangingPunct="1">
              <a:lnSpc>
                <a:spcPct val="155000"/>
              </a:lnSpc>
              <a:spcBef>
                <a:spcPct val="0"/>
              </a:spcBef>
              <a:buClrTx/>
              <a:buSzTx/>
              <a:buNone/>
            </a:pPr>
            <a:r>
              <a:rPr lang="en-US" altLang="zh-CN" sz="2400" dirty="0">
                <a:solidFill>
                  <a:schemeClr val="tx1"/>
                </a:solidFill>
                <a:latin typeface="楷体_GB2312" pitchFamily="49" charset="-122"/>
              </a:rPr>
              <a:t>      CRT</a:t>
            </a:r>
            <a:r>
              <a:rPr lang="zh-CN" altLang="en-US" sz="2400" dirty="0">
                <a:solidFill>
                  <a:schemeClr val="tx1"/>
                </a:solidFill>
                <a:latin typeface="楷体_GB2312" pitchFamily="49" charset="-122"/>
              </a:rPr>
              <a:t>（</a:t>
            </a:r>
            <a:r>
              <a:rPr lang="en-US" altLang="zh-CN" sz="2400" dirty="0">
                <a:solidFill>
                  <a:schemeClr val="tx1"/>
                </a:solidFill>
                <a:latin typeface="楷体_GB2312" pitchFamily="49" charset="-122"/>
              </a:rPr>
              <a:t>Cathode Ray Tube</a:t>
            </a:r>
            <a:r>
              <a:rPr lang="zh-CN" altLang="en-US" sz="2400" dirty="0">
                <a:solidFill>
                  <a:schemeClr val="tx1"/>
                </a:solidFill>
                <a:latin typeface="楷体_GB2312" pitchFamily="49" charset="-122"/>
              </a:rPr>
              <a:t>），是光栅扫描显示器的显示部件，其功能与电视机的显像管类似，主要是由电子枪</a:t>
            </a:r>
            <a:r>
              <a:rPr lang="en-US" altLang="zh-CN" sz="2400" dirty="0">
                <a:solidFill>
                  <a:schemeClr val="tx1"/>
                </a:solidFill>
                <a:latin typeface="楷体_GB2312" pitchFamily="49" charset="-122"/>
              </a:rPr>
              <a:t>(electron gun)</a:t>
            </a:r>
            <a:r>
              <a:rPr lang="zh-CN" altLang="en-US" sz="2400" dirty="0">
                <a:solidFill>
                  <a:schemeClr val="tx1"/>
                </a:solidFill>
                <a:latin typeface="楷体_GB2312" pitchFamily="49" charset="-122"/>
              </a:rPr>
              <a:t>，偏转系统</a:t>
            </a:r>
            <a:r>
              <a:rPr lang="en-US" altLang="zh-CN" sz="2400" dirty="0">
                <a:solidFill>
                  <a:schemeClr val="tx1"/>
                </a:solidFill>
                <a:latin typeface="楷体_GB2312" pitchFamily="49" charset="-122"/>
              </a:rPr>
              <a:t>(defiection coils)</a:t>
            </a:r>
            <a:r>
              <a:rPr lang="zh-CN" altLang="en-US" sz="2400" dirty="0">
                <a:solidFill>
                  <a:schemeClr val="tx1"/>
                </a:solidFill>
                <a:latin typeface="楷体_GB2312" pitchFamily="49" charset="-122"/>
              </a:rPr>
              <a:t>，荫罩</a:t>
            </a:r>
            <a:r>
              <a:rPr lang="en-US" altLang="zh-CN" sz="2400" dirty="0">
                <a:solidFill>
                  <a:schemeClr val="tx1"/>
                </a:solidFill>
                <a:latin typeface="楷体_GB2312" pitchFamily="49" charset="-122"/>
              </a:rPr>
              <a:t>(shadow mask)</a:t>
            </a:r>
            <a:r>
              <a:rPr lang="zh-CN" altLang="en-US" sz="2400" dirty="0">
                <a:solidFill>
                  <a:schemeClr val="tx1"/>
                </a:solidFill>
                <a:latin typeface="楷体_GB2312" pitchFamily="49" charset="-122"/>
              </a:rPr>
              <a:t>，荧光粉层</a:t>
            </a:r>
            <a:r>
              <a:rPr lang="en-US" altLang="zh-CN" sz="2400" dirty="0">
                <a:solidFill>
                  <a:schemeClr val="tx1"/>
                </a:solidFill>
                <a:latin typeface="楷体_GB2312" pitchFamily="49" charset="-122"/>
              </a:rPr>
              <a:t>(phosphor)</a:t>
            </a:r>
            <a:r>
              <a:rPr lang="zh-CN" altLang="en-US" sz="2400" dirty="0">
                <a:solidFill>
                  <a:schemeClr val="tx1"/>
                </a:solidFill>
                <a:latin typeface="楷体_GB2312" pitchFamily="49" charset="-122"/>
              </a:rPr>
              <a:t>及玻璃外壳</a:t>
            </a:r>
            <a:r>
              <a:rPr lang="en-US" altLang="zh-CN" sz="2400" dirty="0">
                <a:solidFill>
                  <a:schemeClr val="tx1"/>
                </a:solidFill>
                <a:latin typeface="楷体_GB2312" pitchFamily="49" charset="-122"/>
              </a:rPr>
              <a:t>(screen)</a:t>
            </a:r>
            <a:r>
              <a:rPr lang="zh-CN" altLang="en-US" sz="2400" dirty="0">
                <a:solidFill>
                  <a:schemeClr val="tx1"/>
                </a:solidFill>
                <a:latin typeface="楷体_GB2312" pitchFamily="49" charset="-122"/>
              </a:rPr>
              <a:t>五部分组成 。</a:t>
            </a:r>
            <a:endParaRPr lang="zh-CN" altLang="en-US" sz="2400" dirty="0">
              <a:solidFill>
                <a:schemeClr val="tx1"/>
              </a:solidFill>
              <a:latin typeface="楷体_GB2312" pitchFamily="49" charset="-122"/>
            </a:endParaRPr>
          </a:p>
        </p:txBody>
      </p:sp>
      <p:sp>
        <p:nvSpPr>
          <p:cNvPr id="44036" name="Rectangle 29"/>
          <p:cNvSpPr>
            <a:spLocks noChangeArrowheads="1"/>
          </p:cNvSpPr>
          <p:nvPr/>
        </p:nvSpPr>
        <p:spPr bwMode="auto">
          <a:xfrm>
            <a:off x="1187450" y="1341438"/>
            <a:ext cx="5184775" cy="579438"/>
          </a:xfrm>
          <a:prstGeom prst="rect">
            <a:avLst/>
          </a:prstGeom>
          <a:noFill/>
          <a:ln>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sz="3200" b="1" i="0" u="none" strike="noStrike" kern="1200" cap="none" spc="0" normalizeH="0" baseline="0" noProof="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n-cs"/>
              </a:rPr>
              <a:t>1.5.1  </a:t>
            </a:r>
            <a:r>
              <a:rPr kumimoji="0" lang="zh-CN" altLang="en-US" sz="3200" b="1" i="0" u="none" strike="noStrike" kern="1200" cap="none" spc="0" normalizeH="0" baseline="0" noProof="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n-cs"/>
              </a:rPr>
              <a:t>阴极射线管</a:t>
            </a:r>
            <a:r>
              <a:rPr kumimoji="0" lang="en-US" sz="3200" b="1" i="0" u="none" strike="noStrike" kern="1200" cap="none" spc="0" normalizeH="0" baseline="0" noProof="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n-cs"/>
              </a:rPr>
              <a:t>CRT</a:t>
            </a:r>
            <a:endParaRPr kumimoji="0" lang="zh-CN" altLang="en-US" sz="3200" b="1" i="0" u="none" strike="noStrike" kern="1200" cap="none" spc="0" normalizeH="0" baseline="0" noProof="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n-cs"/>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0962" name="Rectangle 43"/>
          <p:cNvSpPr/>
          <p:nvPr/>
        </p:nvSpPr>
        <p:spPr>
          <a:xfrm>
            <a:off x="0" y="2187575"/>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311150" eaLnBrk="1" hangingPunct="1">
              <a:spcBef>
                <a:spcPct val="0"/>
              </a:spcBef>
              <a:buClrTx/>
              <a:buSzTx/>
              <a:buFont typeface="Arial" panose="020B0604020202020204" pitchFamily="34" charset="0"/>
              <a:buNone/>
            </a:pPr>
            <a:endParaRPr lang="zh-CN" altLang="en-US" sz="2400" dirty="0">
              <a:solidFill>
                <a:schemeClr val="tx1"/>
              </a:solidFill>
              <a:latin typeface="Arial" panose="020B0604020202020204" pitchFamily="34" charset="0"/>
              <a:ea typeface="宋体" panose="02010600030101010101" pitchFamily="2" charset="-122"/>
            </a:endParaRPr>
          </a:p>
        </p:txBody>
      </p:sp>
      <p:sp>
        <p:nvSpPr>
          <p:cNvPr id="40963" name="Rectangle 51"/>
          <p:cNvSpPr/>
          <p:nvPr/>
        </p:nvSpPr>
        <p:spPr>
          <a:xfrm>
            <a:off x="0" y="2187575"/>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3200" dirty="0">
              <a:solidFill>
                <a:schemeClr val="tx1"/>
              </a:solidFill>
              <a:ea typeface="宋体" panose="02010600030101010101" pitchFamily="2" charset="-122"/>
            </a:endParaRPr>
          </a:p>
        </p:txBody>
      </p:sp>
      <p:pic>
        <p:nvPicPr>
          <p:cNvPr id="40964" name="Picture 18"/>
          <p:cNvPicPr>
            <a:picLocks noChangeAspect="1"/>
          </p:cNvPicPr>
          <p:nvPr/>
        </p:nvPicPr>
        <p:blipFill>
          <a:blip r:embed="rId1"/>
          <a:stretch>
            <a:fillRect/>
          </a:stretch>
        </p:blipFill>
        <p:spPr>
          <a:xfrm>
            <a:off x="1214438" y="1285875"/>
            <a:ext cx="7715250" cy="3257550"/>
          </a:xfrm>
          <a:prstGeom prst="rect">
            <a:avLst/>
          </a:prstGeom>
          <a:noFill/>
          <a:ln w="9525">
            <a:noFill/>
          </a:ln>
          <a:effectLst>
            <a:prstShdw prst="shdw17" dist="17961" dir="2699999">
              <a:srgbClr val="008965"/>
            </a:prstShdw>
          </a:effectLst>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6082" name="Rectangle 9"/>
          <p:cNvSpPr/>
          <p:nvPr/>
        </p:nvSpPr>
        <p:spPr>
          <a:xfrm>
            <a:off x="1331913" y="188913"/>
            <a:ext cx="7812087" cy="62626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lnSpc>
                <a:spcPct val="130000"/>
              </a:lnSpc>
              <a:spcBef>
                <a:spcPct val="0"/>
              </a:spcBef>
              <a:buClrTx/>
              <a:buSzTx/>
              <a:buFont typeface="Arial" panose="020B0604020202020204" pitchFamily="34" charset="0"/>
              <a:buChar char="•"/>
            </a:pPr>
            <a:r>
              <a:rPr lang="zh-CN" altLang="en-US" sz="2400" dirty="0">
                <a:solidFill>
                  <a:schemeClr val="tx1"/>
                </a:solidFill>
                <a:latin typeface="楷体_GB2312" pitchFamily="49" charset="-122"/>
              </a:rPr>
              <a:t>电子枪是由灯丝、阴极、控制栅组成。彩色</a:t>
            </a:r>
            <a:r>
              <a:rPr lang="en-US" altLang="zh-CN" sz="2400" dirty="0">
                <a:solidFill>
                  <a:schemeClr val="tx1"/>
                </a:solidFill>
                <a:latin typeface="楷体_GB2312" pitchFamily="49" charset="-122"/>
              </a:rPr>
              <a:t>CRT</a:t>
            </a:r>
            <a:r>
              <a:rPr lang="zh-CN" altLang="en-US" sz="2400" dirty="0">
                <a:solidFill>
                  <a:schemeClr val="tx1"/>
                </a:solidFill>
                <a:latin typeface="楷体_GB2312" pitchFamily="49" charset="-122"/>
              </a:rPr>
              <a:t>中有红绿蓝三支电子枪。有的显示器的电子枪是单枪三束。</a:t>
            </a:r>
            <a:endParaRPr lang="zh-CN" altLang="en-US" sz="2400" dirty="0">
              <a:solidFill>
                <a:schemeClr val="tx1"/>
              </a:solidFill>
              <a:latin typeface="楷体_GB2312" pitchFamily="49" charset="-122"/>
            </a:endParaRPr>
          </a:p>
          <a:p>
            <a:pPr marL="0" lvl="0" indent="0" eaLnBrk="1" hangingPunct="1">
              <a:lnSpc>
                <a:spcPct val="130000"/>
              </a:lnSpc>
              <a:spcBef>
                <a:spcPct val="0"/>
              </a:spcBef>
              <a:buClrTx/>
              <a:buSzTx/>
              <a:buFont typeface="Arial" panose="020B0604020202020204" pitchFamily="34" charset="0"/>
              <a:buChar char="•"/>
            </a:pPr>
            <a:r>
              <a:rPr lang="en-US" altLang="zh-CN" sz="2400" dirty="0">
                <a:solidFill>
                  <a:schemeClr val="tx1"/>
                </a:solidFill>
                <a:latin typeface="楷体_GB2312" pitchFamily="49" charset="-122"/>
              </a:rPr>
              <a:t>CRT</a:t>
            </a:r>
            <a:r>
              <a:rPr lang="zh-CN" altLang="en-US" sz="2400" dirty="0">
                <a:solidFill>
                  <a:schemeClr val="tx1"/>
                </a:solidFill>
                <a:latin typeface="楷体_GB2312" pitchFamily="49" charset="-122"/>
              </a:rPr>
              <a:t>通电后灯丝发热，阴极被激发射出电子，电子受到控制栅的调节形成电子束。电子束经聚焦系统聚焦后以高速轰击到荧光屏上，荧光粉层被激发后发出辉光形成一个光点。</a:t>
            </a:r>
            <a:endParaRPr lang="zh-CN" altLang="en-US" sz="2400" dirty="0">
              <a:solidFill>
                <a:schemeClr val="tx1"/>
              </a:solidFill>
              <a:latin typeface="楷体_GB2312" pitchFamily="49" charset="-122"/>
            </a:endParaRPr>
          </a:p>
          <a:p>
            <a:pPr marL="0" lvl="0" indent="0" eaLnBrk="1" hangingPunct="1">
              <a:lnSpc>
                <a:spcPct val="130000"/>
              </a:lnSpc>
              <a:spcBef>
                <a:spcPct val="0"/>
              </a:spcBef>
              <a:buClrTx/>
              <a:buSzTx/>
              <a:buFont typeface="Arial" panose="020B0604020202020204" pitchFamily="34" charset="0"/>
              <a:buChar char="•"/>
            </a:pPr>
            <a:r>
              <a:rPr lang="en-US" altLang="zh-CN" sz="2400" dirty="0">
                <a:solidFill>
                  <a:schemeClr val="tx1"/>
                </a:solidFill>
                <a:latin typeface="楷体_GB2312" pitchFamily="49" charset="-122"/>
              </a:rPr>
              <a:t>CRT</a:t>
            </a:r>
            <a:r>
              <a:rPr lang="zh-CN" altLang="en-US" sz="2400" dirty="0">
                <a:solidFill>
                  <a:schemeClr val="tx1"/>
                </a:solidFill>
                <a:latin typeface="楷体_GB2312" pitchFamily="49" charset="-122"/>
              </a:rPr>
              <a:t>偏转系统可以控制电子束在指定的位置上轰击荧光屏，整个荧光屏依次扫描完毕后，图像显示完成。</a:t>
            </a:r>
            <a:endParaRPr lang="zh-CN" altLang="en-US" sz="2400" dirty="0">
              <a:solidFill>
                <a:schemeClr val="tx1"/>
              </a:solidFill>
              <a:latin typeface="楷体_GB2312" pitchFamily="49" charset="-122"/>
            </a:endParaRPr>
          </a:p>
          <a:p>
            <a:pPr marL="0" lvl="0" indent="0" eaLnBrk="1" hangingPunct="1">
              <a:lnSpc>
                <a:spcPct val="130000"/>
              </a:lnSpc>
              <a:spcBef>
                <a:spcPct val="0"/>
              </a:spcBef>
              <a:buClrTx/>
              <a:buSzTx/>
              <a:buFont typeface="Arial" panose="020B0604020202020204" pitchFamily="34" charset="0"/>
              <a:buChar char="•"/>
            </a:pPr>
            <a:r>
              <a:rPr lang="zh-CN" altLang="en-US" sz="2400" dirty="0">
                <a:solidFill>
                  <a:schemeClr val="tx1"/>
                </a:solidFill>
                <a:latin typeface="楷体_GB2312" pitchFamily="49" charset="-122"/>
              </a:rPr>
              <a:t>由于荧光粉具有余辉特性</a:t>
            </a:r>
            <a:r>
              <a:rPr lang="en-US" altLang="zh-CN" sz="2400" dirty="0">
                <a:solidFill>
                  <a:schemeClr val="tx1"/>
                </a:solidFill>
                <a:latin typeface="Arial" panose="020B0604020202020204" pitchFamily="34" charset="0"/>
              </a:rPr>
              <a:t>——</a:t>
            </a:r>
            <a:r>
              <a:rPr lang="zh-CN" altLang="en-US" sz="2400" dirty="0">
                <a:solidFill>
                  <a:schemeClr val="tx1"/>
                </a:solidFill>
                <a:latin typeface="楷体_GB2312" pitchFamily="49" charset="-122"/>
              </a:rPr>
              <a:t>电子束停止轰击荧光屏后，荧光粉的亮度并不是立即消失，而是按指数规律衰减，图像逐渐变暗，为了得到亮度稳定的图像，电子枪需要不断地根据帧缓存的内容轰击荧光屏，反复重绘同一幅图像，即不断刷新屏幕。</a:t>
            </a:r>
            <a:endParaRPr lang="zh-CN" altLang="en-US" sz="2400" dirty="0">
              <a:solidFill>
                <a:schemeClr val="tx1"/>
              </a:solidFill>
              <a:latin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7106" name="Rectangle 2"/>
          <p:cNvSpPr>
            <a:spLocks noGrp="1" noChangeArrowheads="1"/>
          </p:cNvSpPr>
          <p:nvPr>
            <p:ph type="title" idx="4294967295"/>
          </p:nvPr>
        </p:nvSpPr>
        <p:spPr>
          <a:xfrm>
            <a:off x="1476375" y="333375"/>
            <a:ext cx="5799138" cy="423863"/>
          </a:xfrm>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200" b="1" i="0" u="none" strike="noStrike" kern="0" cap="none" spc="0" normalizeH="0" baseline="0" noProof="0" smtClean="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j-cs"/>
              </a:rPr>
              <a:t>1.5.2</a:t>
            </a:r>
            <a:r>
              <a:rPr kumimoji="0" lang="zh-CN" altLang="en-US" sz="3200" b="1" i="0" u="none" strike="noStrike" kern="0" cap="none" spc="0" normalizeH="0" baseline="0" noProof="0" smtClean="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j-cs"/>
              </a:rPr>
              <a:t>随机扫描显示器</a:t>
            </a:r>
            <a:endParaRPr kumimoji="0" lang="zh-CN" altLang="en-US" sz="3200" b="1" i="0" u="none" strike="noStrike" kern="0" cap="none" spc="0" normalizeH="0" baseline="0" noProof="0" smtClean="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j-cs"/>
            </a:endParaRPr>
          </a:p>
        </p:txBody>
      </p:sp>
      <p:sp>
        <p:nvSpPr>
          <p:cNvPr id="43011" name="Rectangle 3"/>
          <p:cNvSpPr>
            <a:spLocks noGrp="1"/>
          </p:cNvSpPr>
          <p:nvPr>
            <p:ph type="body" idx="4294967295"/>
          </p:nvPr>
        </p:nvSpPr>
        <p:spPr>
          <a:xfrm>
            <a:off x="1403350" y="981075"/>
            <a:ext cx="7526338" cy="5472113"/>
          </a:xfrm>
          <a:ln/>
        </p:spPr>
        <p:txBody>
          <a:bodyPr vert="horz" wrap="square" lIns="91440" tIns="45720" rIns="91440" bIns="45720" anchor="t" anchorCtr="0"/>
          <a:p>
            <a:pPr marL="0" indent="0" eaLnBrk="1" hangingPunct="1">
              <a:lnSpc>
                <a:spcPct val="130000"/>
              </a:lnSpc>
              <a:spcBef>
                <a:spcPct val="0"/>
              </a:spcBef>
              <a:buClrTx/>
              <a:buSzTx/>
              <a:buFont typeface="Wingdings" panose="05000000000000000000" pitchFamily="2" charset="2"/>
              <a:buChar char="•"/>
            </a:pPr>
            <a:r>
              <a:rPr lang="en-US" altLang="zh-CN" sz="2400" dirty="0">
                <a:solidFill>
                  <a:schemeClr val="tx1"/>
                </a:solidFill>
                <a:latin typeface="楷体_GB2312" pitchFamily="49" charset="-122"/>
              </a:rPr>
              <a:t>20</a:t>
            </a:r>
            <a:r>
              <a:rPr lang="zh-CN" altLang="en-US" sz="2400" dirty="0">
                <a:solidFill>
                  <a:schemeClr val="tx1"/>
                </a:solidFill>
                <a:latin typeface="楷体_GB2312" pitchFamily="49" charset="-122"/>
              </a:rPr>
              <a:t>世纪</a:t>
            </a:r>
            <a:r>
              <a:rPr lang="en-US" altLang="zh-CN" sz="2400" dirty="0">
                <a:solidFill>
                  <a:schemeClr val="tx1"/>
                </a:solidFill>
                <a:latin typeface="楷体_GB2312" pitchFamily="49" charset="-122"/>
              </a:rPr>
              <a:t>60</a:t>
            </a:r>
            <a:r>
              <a:rPr lang="zh-CN" altLang="en-US" sz="2400" dirty="0">
                <a:solidFill>
                  <a:schemeClr val="tx1"/>
                </a:solidFill>
                <a:latin typeface="楷体_GB2312" pitchFamily="49" charset="-122"/>
              </a:rPr>
              <a:t>年代中期出现随机扫描显示器。</a:t>
            </a:r>
            <a:endParaRPr lang="zh-CN" altLang="en-US" sz="2400" dirty="0">
              <a:solidFill>
                <a:schemeClr val="tx1"/>
              </a:solidFill>
              <a:latin typeface="楷体_GB2312" pitchFamily="49" charset="-122"/>
            </a:endParaRPr>
          </a:p>
          <a:p>
            <a:pPr marL="0" indent="0" eaLnBrk="1" hangingPunct="1">
              <a:lnSpc>
                <a:spcPct val="130000"/>
              </a:lnSpc>
              <a:spcBef>
                <a:spcPct val="0"/>
              </a:spcBef>
              <a:buClrTx/>
              <a:buSzTx/>
              <a:buFont typeface="Wingdings" panose="05000000000000000000" pitchFamily="2" charset="2"/>
              <a:buChar char="•"/>
            </a:pPr>
            <a:r>
              <a:rPr lang="zh-CN" altLang="en-US" sz="2400" dirty="0">
                <a:solidFill>
                  <a:schemeClr val="tx1"/>
                </a:solidFill>
                <a:latin typeface="楷体_GB2312" pitchFamily="49" charset="-122"/>
              </a:rPr>
              <a:t>图像的定义是存放在文件存储器中的一组画线命令。随机扫描显示器周期性地读取画线命令，依次在屏幕上画出线条，当所有的画线命令都执行完毕后，图像就显示出来。这时随机扫描显示器又返回到第一条命令行进行屏幕刷新。</a:t>
            </a:r>
            <a:endParaRPr lang="zh-CN" altLang="en-US" sz="2400" dirty="0">
              <a:solidFill>
                <a:schemeClr val="tx1"/>
              </a:solidFill>
              <a:latin typeface="楷体_GB2312" pitchFamily="49" charset="-122"/>
            </a:endParaRPr>
          </a:p>
          <a:p>
            <a:pPr marL="0" indent="0" eaLnBrk="1" hangingPunct="1">
              <a:lnSpc>
                <a:spcPct val="130000"/>
              </a:lnSpc>
              <a:spcBef>
                <a:spcPct val="0"/>
              </a:spcBef>
              <a:buClrTx/>
              <a:buSzTx/>
              <a:buFont typeface="Wingdings" panose="05000000000000000000" pitchFamily="2" charset="2"/>
              <a:buChar char="•"/>
            </a:pPr>
            <a:r>
              <a:rPr lang="zh-CN" altLang="en-US" sz="2400" dirty="0">
                <a:solidFill>
                  <a:schemeClr val="tx1"/>
                </a:solidFill>
                <a:latin typeface="楷体_GB2312" pitchFamily="49" charset="-122"/>
              </a:rPr>
              <a:t>随机扫描显示器可以直接按指定路径画线，直线光滑没有锯齿，主要用于显示高质量的图像。</a:t>
            </a:r>
            <a:endParaRPr lang="zh-CN" altLang="en-US" sz="2400" dirty="0">
              <a:solidFill>
                <a:schemeClr val="tx1"/>
              </a:solidFill>
              <a:latin typeface="楷体_GB2312" pitchFamily="49" charset="-122"/>
            </a:endParaRPr>
          </a:p>
          <a:p>
            <a:pPr marL="0" indent="0" eaLnBrk="1" hangingPunct="1">
              <a:lnSpc>
                <a:spcPct val="130000"/>
              </a:lnSpc>
              <a:spcBef>
                <a:spcPct val="0"/>
              </a:spcBef>
              <a:buClrTx/>
              <a:buSzTx/>
              <a:buFont typeface="Wingdings" panose="05000000000000000000" pitchFamily="2" charset="2"/>
              <a:buChar char="•"/>
            </a:pPr>
            <a:r>
              <a:rPr lang="zh-CN" altLang="en-US" sz="2400" dirty="0">
                <a:solidFill>
                  <a:schemeClr val="tx1"/>
                </a:solidFill>
                <a:latin typeface="楷体_GB2312" pitchFamily="49" charset="-122"/>
              </a:rPr>
              <a:t>随机扫描显示器也称作矢量显示器，属于</a:t>
            </a:r>
            <a:r>
              <a:rPr lang="zh-CN" altLang="en-US" sz="2400" b="1" dirty="0">
                <a:solidFill>
                  <a:srgbClr val="FF0000"/>
                </a:solidFill>
                <a:latin typeface="楷体_GB2312" pitchFamily="49" charset="-122"/>
              </a:rPr>
              <a:t>画线设备</a:t>
            </a:r>
            <a:r>
              <a:rPr lang="zh-CN" altLang="en-US" sz="2400" dirty="0">
                <a:solidFill>
                  <a:schemeClr val="tx1"/>
                </a:solidFill>
                <a:latin typeface="楷体_GB2312" pitchFamily="49" charset="-122"/>
              </a:rPr>
              <a:t>，不能显示有阴影的图像。</a:t>
            </a:r>
            <a:endParaRPr lang="zh-CN" altLang="en-US" sz="2400" dirty="0">
              <a:solidFill>
                <a:schemeClr val="tx1"/>
              </a:solidFill>
              <a:latin typeface="楷体_GB2312" pitchFamily="49" charset="-122"/>
            </a:endParaRPr>
          </a:p>
          <a:p>
            <a:pPr marL="0" indent="0" eaLnBrk="1" hangingPunct="1">
              <a:lnSpc>
                <a:spcPct val="130000"/>
              </a:lnSpc>
              <a:spcBef>
                <a:spcPct val="0"/>
              </a:spcBef>
              <a:buClrTx/>
              <a:buSzTx/>
              <a:buFont typeface="Wingdings" panose="05000000000000000000" pitchFamily="2" charset="2"/>
              <a:buChar char="•"/>
            </a:pPr>
            <a:r>
              <a:rPr lang="zh-CN" altLang="en-US" sz="2400" b="1" dirty="0">
                <a:solidFill>
                  <a:srgbClr val="FF0000"/>
                </a:solidFill>
                <a:latin typeface="楷体_GB2312" pitchFamily="49" charset="-122"/>
              </a:rPr>
              <a:t>示波器是随机扫描显示器</a:t>
            </a:r>
            <a:r>
              <a:rPr lang="zh-CN" altLang="en-US" sz="2400" dirty="0">
                <a:solidFill>
                  <a:schemeClr val="tx1"/>
                </a:solidFill>
                <a:latin typeface="楷体_GB2312" pitchFamily="49" charset="-122"/>
              </a:rPr>
              <a:t>。</a:t>
            </a:r>
            <a:endParaRPr lang="zh-CN" altLang="en-US" sz="2400" dirty="0">
              <a:solidFill>
                <a:schemeClr val="tx1"/>
              </a:solidFill>
              <a:latin typeface="楷体_GB2312" pitchFamily="49" charset="-122"/>
            </a:endParaRP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4034" name="Picture 7" descr="未标题-9 拷贝"/>
          <p:cNvPicPr>
            <a:picLocks noChangeAspect="1"/>
          </p:cNvPicPr>
          <p:nvPr/>
        </p:nvPicPr>
        <p:blipFill>
          <a:blip r:embed="rId1"/>
          <a:stretch>
            <a:fillRect/>
          </a:stretch>
        </p:blipFill>
        <p:spPr>
          <a:xfrm>
            <a:off x="1908175" y="765175"/>
            <a:ext cx="2808288" cy="2032000"/>
          </a:xfrm>
          <a:prstGeom prst="rect">
            <a:avLst/>
          </a:prstGeom>
          <a:noFill/>
          <a:ln w="9525">
            <a:noFill/>
          </a:ln>
        </p:spPr>
      </p:pic>
      <p:pic>
        <p:nvPicPr>
          <p:cNvPr id="44035" name="Picture 6" descr="未标题-2 拷贝"/>
          <p:cNvPicPr>
            <a:picLocks noChangeAspect="1"/>
          </p:cNvPicPr>
          <p:nvPr/>
        </p:nvPicPr>
        <p:blipFill>
          <a:blip r:embed="rId2"/>
          <a:stretch>
            <a:fillRect/>
          </a:stretch>
        </p:blipFill>
        <p:spPr>
          <a:xfrm>
            <a:off x="5148263" y="765175"/>
            <a:ext cx="2736850" cy="1939925"/>
          </a:xfrm>
          <a:prstGeom prst="rect">
            <a:avLst/>
          </a:prstGeom>
          <a:noFill/>
          <a:ln w="9525">
            <a:noFill/>
          </a:ln>
        </p:spPr>
      </p:pic>
      <p:pic>
        <p:nvPicPr>
          <p:cNvPr id="44036" name="Picture 5" descr="未标题-2 拷贝"/>
          <p:cNvPicPr>
            <a:picLocks noChangeAspect="1"/>
          </p:cNvPicPr>
          <p:nvPr/>
        </p:nvPicPr>
        <p:blipFill>
          <a:blip r:embed="rId3"/>
          <a:stretch>
            <a:fillRect/>
          </a:stretch>
        </p:blipFill>
        <p:spPr>
          <a:xfrm>
            <a:off x="1763713" y="3213100"/>
            <a:ext cx="3240087" cy="2251075"/>
          </a:xfrm>
          <a:prstGeom prst="rect">
            <a:avLst/>
          </a:prstGeom>
          <a:noFill/>
          <a:ln w="9525">
            <a:noFill/>
          </a:ln>
        </p:spPr>
      </p:pic>
      <p:pic>
        <p:nvPicPr>
          <p:cNvPr id="44037" name="Picture 4" descr="未标题-2 拷贝"/>
          <p:cNvPicPr>
            <a:picLocks noChangeAspect="1"/>
          </p:cNvPicPr>
          <p:nvPr/>
        </p:nvPicPr>
        <p:blipFill>
          <a:blip r:embed="rId4"/>
          <a:stretch>
            <a:fillRect/>
          </a:stretch>
        </p:blipFill>
        <p:spPr>
          <a:xfrm>
            <a:off x="5364163" y="3213100"/>
            <a:ext cx="2663825" cy="2409825"/>
          </a:xfrm>
          <a:prstGeom prst="rect">
            <a:avLst/>
          </a:prstGeom>
          <a:noFill/>
          <a:ln w="9525">
            <a:noFill/>
          </a:ln>
        </p:spPr>
      </p:pic>
      <p:sp>
        <p:nvSpPr>
          <p:cNvPr id="44038" name="Rectangle 12">
            <a:hlinkClick r:id="rId5"/>
          </p:cNvPr>
          <p:cNvSpPr/>
          <p:nvPr/>
        </p:nvSpPr>
        <p:spPr>
          <a:xfrm>
            <a:off x="3995738" y="5910263"/>
            <a:ext cx="23177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zh-CN" altLang="en-US" sz="2400" dirty="0">
                <a:solidFill>
                  <a:schemeClr val="tx1"/>
                </a:solidFill>
                <a:latin typeface="楷体_GB2312" pitchFamily="49" charset="-122"/>
                <a:hlinkClick r:id="rId5" action="ppaction://hlinkfile"/>
              </a:rPr>
              <a:t>随机扫描显示器</a:t>
            </a:r>
            <a:endParaRPr lang="zh-CN" altLang="en-US" sz="2400" dirty="0">
              <a:solidFill>
                <a:schemeClr val="tx1"/>
              </a:solidFill>
              <a:latin typeface="楷体_GB2312" pitchFamily="49" charset="-122"/>
            </a:endParaRP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9154" name="Rectangle 2"/>
          <p:cNvSpPr>
            <a:spLocks noGrp="1" noChangeArrowheads="1"/>
          </p:cNvSpPr>
          <p:nvPr>
            <p:ph type="title" idx="4294967295"/>
          </p:nvPr>
        </p:nvSpPr>
        <p:spPr>
          <a:xfrm>
            <a:off x="1258888" y="333375"/>
            <a:ext cx="5799138" cy="336550"/>
          </a:xfrm>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200" b="1" i="0" u="none" strike="noStrike" kern="0" cap="none" spc="0" normalizeH="0" baseline="0" noProof="0" smtClean="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j-cs"/>
              </a:rPr>
              <a:t>1.5.3 </a:t>
            </a:r>
            <a:r>
              <a:rPr kumimoji="0" lang="zh-CN" altLang="en-US" sz="3200" b="1" i="0" u="none" strike="noStrike" kern="0" cap="none" spc="0" normalizeH="0" baseline="0" noProof="0" smtClean="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j-cs"/>
              </a:rPr>
              <a:t>直视存储管显示器</a:t>
            </a:r>
            <a:endParaRPr kumimoji="0" lang="zh-CN" altLang="en-US" sz="3200" b="1" i="0" u="none" strike="noStrike" kern="0" cap="none" spc="0" normalizeH="0" baseline="0" noProof="0" smtClean="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j-cs"/>
            </a:endParaRPr>
          </a:p>
        </p:txBody>
      </p:sp>
      <p:sp>
        <p:nvSpPr>
          <p:cNvPr id="45059" name="Rectangle 3"/>
          <p:cNvSpPr>
            <a:spLocks noGrp="1"/>
          </p:cNvSpPr>
          <p:nvPr>
            <p:ph type="body" idx="4294967295"/>
          </p:nvPr>
        </p:nvSpPr>
        <p:spPr>
          <a:xfrm>
            <a:off x="1547813" y="1412875"/>
            <a:ext cx="7345362" cy="4321175"/>
          </a:xfrm>
          <a:ln/>
        </p:spPr>
        <p:txBody>
          <a:bodyPr vert="horz" wrap="square" lIns="91440" tIns="45720" rIns="91440" bIns="45720" anchor="t" anchorCtr="0"/>
          <a:p>
            <a:pPr marL="0" indent="355600" eaLnBrk="1" hangingPunct="1">
              <a:lnSpc>
                <a:spcPct val="150000"/>
              </a:lnSpc>
            </a:pPr>
            <a:r>
              <a:rPr lang="en-US" altLang="zh-CN" sz="2400" dirty="0">
                <a:solidFill>
                  <a:schemeClr val="tx1"/>
                </a:solidFill>
                <a:latin typeface="楷体_GB2312" pitchFamily="49" charset="-122"/>
              </a:rPr>
              <a:t>70</a:t>
            </a:r>
            <a:r>
              <a:rPr lang="zh-CN" altLang="en-US" sz="2400" dirty="0">
                <a:solidFill>
                  <a:schemeClr val="tx1"/>
                </a:solidFill>
                <a:latin typeface="楷体_GB2312" pitchFamily="49" charset="-122"/>
              </a:rPr>
              <a:t>年代后期发展了利用</a:t>
            </a:r>
            <a:r>
              <a:rPr lang="en-US" altLang="zh-CN" sz="2400" dirty="0">
                <a:solidFill>
                  <a:schemeClr val="tx1"/>
                </a:solidFill>
                <a:latin typeface="楷体_GB2312" pitchFamily="49" charset="-122"/>
              </a:rPr>
              <a:t>CRT</a:t>
            </a:r>
            <a:r>
              <a:rPr lang="zh-CN" altLang="en-US" sz="2400" dirty="0">
                <a:solidFill>
                  <a:schemeClr val="tx1"/>
                </a:solidFill>
                <a:latin typeface="楷体_GB2312" pitchFamily="49" charset="-122"/>
              </a:rPr>
              <a:t>本身来存储信息，而且不再需要刷新屏幕的显示器。</a:t>
            </a:r>
            <a:endParaRPr lang="zh-CN" altLang="en-US" sz="2400" dirty="0">
              <a:solidFill>
                <a:schemeClr val="tx1"/>
              </a:solidFill>
              <a:latin typeface="楷体_GB2312" pitchFamily="49" charset="-122"/>
            </a:endParaRPr>
          </a:p>
          <a:p>
            <a:pPr marL="0" indent="355600" eaLnBrk="1" hangingPunct="1">
              <a:lnSpc>
                <a:spcPct val="150000"/>
              </a:lnSpc>
            </a:pPr>
            <a:r>
              <a:rPr lang="en-US" altLang="zh-CN" sz="2400" dirty="0">
                <a:solidFill>
                  <a:schemeClr val="tx1"/>
                </a:solidFill>
                <a:latin typeface="楷体_GB2312" pitchFamily="49" charset="-122"/>
              </a:rPr>
              <a:t>DVST</a:t>
            </a:r>
            <a:r>
              <a:rPr lang="zh-CN" altLang="en-US" sz="2400" dirty="0">
                <a:solidFill>
                  <a:schemeClr val="tx1"/>
                </a:solidFill>
                <a:latin typeface="楷体_GB2312" pitchFamily="49" charset="-122"/>
              </a:rPr>
              <a:t>使用紧贴在荧光层后的存储栅的电荷分布来存储图形。</a:t>
            </a:r>
            <a:r>
              <a:rPr lang="en-US" altLang="zh-CN" sz="2400" dirty="0">
                <a:solidFill>
                  <a:schemeClr val="tx1"/>
                </a:solidFill>
                <a:latin typeface="楷体_GB2312" pitchFamily="49" charset="-122"/>
              </a:rPr>
              <a:t>DVST</a:t>
            </a:r>
            <a:r>
              <a:rPr lang="zh-CN" altLang="en-US" sz="2400" dirty="0">
                <a:solidFill>
                  <a:schemeClr val="tx1"/>
                </a:solidFill>
                <a:latin typeface="楷体_GB2312" pitchFamily="49" charset="-122"/>
              </a:rPr>
              <a:t>使用两支电子枪，一支是写电子枪，用来存储图形；另一支是读电子枪，用来图形显示。</a:t>
            </a:r>
            <a:endParaRPr lang="zh-CN" altLang="en-US" sz="2400" dirty="0">
              <a:solidFill>
                <a:schemeClr val="tx1"/>
              </a:solidFill>
              <a:latin typeface="楷体_GB2312" pitchFamily="49" charset="-122"/>
            </a:endParaRPr>
          </a:p>
          <a:p>
            <a:pPr marL="0" indent="355600" eaLnBrk="1" hangingPunct="1">
              <a:lnSpc>
                <a:spcPct val="150000"/>
              </a:lnSpc>
            </a:pPr>
            <a:r>
              <a:rPr lang="zh-CN" altLang="en-US" sz="2400" dirty="0">
                <a:solidFill>
                  <a:schemeClr val="tx1"/>
                </a:solidFill>
                <a:latin typeface="楷体_GB2312" pitchFamily="49" charset="-122"/>
              </a:rPr>
              <a:t>从表面上看</a:t>
            </a:r>
            <a:r>
              <a:rPr lang="en-US" altLang="zh-CN" sz="2400" dirty="0">
                <a:solidFill>
                  <a:schemeClr val="tx1"/>
                </a:solidFill>
                <a:latin typeface="楷体_GB2312" pitchFamily="49" charset="-122"/>
              </a:rPr>
              <a:t>DVST</a:t>
            </a:r>
            <a:r>
              <a:rPr lang="zh-CN" altLang="en-US" sz="2400" dirty="0">
                <a:solidFill>
                  <a:schemeClr val="tx1"/>
                </a:solidFill>
                <a:latin typeface="楷体_GB2312" pitchFamily="49" charset="-122"/>
              </a:rPr>
              <a:t>极象是一个长余辉的</a:t>
            </a:r>
            <a:r>
              <a:rPr lang="en-US" altLang="zh-CN" sz="2400" dirty="0">
                <a:solidFill>
                  <a:schemeClr val="tx1"/>
                </a:solidFill>
                <a:latin typeface="楷体_GB2312" pitchFamily="49" charset="-122"/>
              </a:rPr>
              <a:t>CRT</a:t>
            </a:r>
            <a:r>
              <a:rPr lang="zh-CN" altLang="en-US" sz="2400" dirty="0">
                <a:solidFill>
                  <a:schemeClr val="tx1"/>
                </a:solidFill>
                <a:latin typeface="楷体_GB2312" pitchFamily="49" charset="-122"/>
              </a:rPr>
              <a:t>，一条线一旦画在屏幕上，在一小时之内都将是可见的。</a:t>
            </a:r>
            <a:endParaRPr lang="zh-CN" altLang="en-US" sz="2400" dirty="0">
              <a:solidFill>
                <a:schemeClr val="tx1"/>
              </a:solidFill>
              <a:latin typeface="楷体_GB2312" pitchFamily="49" charset="-122"/>
            </a:endParaRP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4"/>
          <p:cNvSpPr/>
          <p:nvPr/>
        </p:nvSpPr>
        <p:spPr>
          <a:xfrm>
            <a:off x="1403350" y="620713"/>
            <a:ext cx="7451725" cy="50212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lnSpc>
                <a:spcPct val="150000"/>
              </a:lnSpc>
            </a:pPr>
            <a:r>
              <a:rPr lang="zh-CN" altLang="en-US" sz="2400" dirty="0">
                <a:solidFill>
                  <a:schemeClr val="tx1"/>
                </a:solidFill>
                <a:latin typeface="楷体_GB2312" pitchFamily="49" charset="-122"/>
              </a:rPr>
              <a:t>这种显示器的电子束不是直接打在荧光屏上，而是先用写入电子枪将图像信息以正电荷</a:t>
            </a:r>
            <a:r>
              <a:rPr lang="zh-CN" altLang="en-US" sz="2400" dirty="0">
                <a:solidFill>
                  <a:schemeClr val="tx1"/>
                </a:solidFill>
              </a:rPr>
              <a:t>“</a:t>
            </a:r>
            <a:r>
              <a:rPr lang="zh-CN" altLang="en-US" sz="2400" dirty="0">
                <a:solidFill>
                  <a:schemeClr val="tx1"/>
                </a:solidFill>
                <a:latin typeface="楷体_GB2312" pitchFamily="49" charset="-122"/>
              </a:rPr>
              <a:t>写</a:t>
            </a:r>
            <a:r>
              <a:rPr lang="zh-CN" altLang="en-US" sz="2400" dirty="0">
                <a:solidFill>
                  <a:schemeClr val="tx1"/>
                </a:solidFill>
              </a:rPr>
              <a:t>”</a:t>
            </a:r>
            <a:r>
              <a:rPr lang="zh-CN" altLang="en-US" sz="2400" dirty="0">
                <a:solidFill>
                  <a:schemeClr val="tx1"/>
                </a:solidFill>
                <a:latin typeface="楷体_GB2312" pitchFamily="49" charset="-122"/>
              </a:rPr>
              <a:t>在一个每英寸有</a:t>
            </a:r>
            <a:r>
              <a:rPr lang="en-US" altLang="zh-CN" sz="2400" dirty="0">
                <a:solidFill>
                  <a:schemeClr val="tx1"/>
                </a:solidFill>
                <a:latin typeface="楷体_GB2312" pitchFamily="49" charset="-122"/>
              </a:rPr>
              <a:t>250</a:t>
            </a:r>
            <a:r>
              <a:rPr lang="zh-CN" altLang="en-US" sz="2400" dirty="0">
                <a:solidFill>
                  <a:schemeClr val="tx1"/>
                </a:solidFill>
                <a:latin typeface="楷体_GB2312" pitchFamily="49" charset="-122"/>
              </a:rPr>
              <a:t>条细丝的存储栅上。读电子枪发出的电子流再把存储栅上的图像</a:t>
            </a:r>
            <a:r>
              <a:rPr lang="zh-CN" altLang="en-US" sz="2400" dirty="0">
                <a:solidFill>
                  <a:schemeClr val="tx1"/>
                </a:solidFill>
              </a:rPr>
              <a:t>“</a:t>
            </a:r>
            <a:r>
              <a:rPr lang="zh-CN" altLang="en-US" sz="2400" dirty="0">
                <a:solidFill>
                  <a:schemeClr val="tx1"/>
                </a:solidFill>
                <a:latin typeface="楷体_GB2312" pitchFamily="49" charset="-122"/>
              </a:rPr>
              <a:t>重写</a:t>
            </a:r>
            <a:r>
              <a:rPr lang="zh-CN" altLang="en-US" sz="2400" dirty="0">
                <a:solidFill>
                  <a:schemeClr val="tx1"/>
                </a:solidFill>
              </a:rPr>
              <a:t>”</a:t>
            </a:r>
            <a:r>
              <a:rPr lang="zh-CN" altLang="en-US" sz="2400" dirty="0">
                <a:solidFill>
                  <a:schemeClr val="tx1"/>
                </a:solidFill>
                <a:latin typeface="楷体_GB2312" pitchFamily="49" charset="-122"/>
              </a:rPr>
              <a:t>在屏幕上。紧靠着存储栅后面的是收集栅，主要作用是使读出的电子流均匀，并以垂直方向射向屏幕。读电子枪发出的电子流以低速流经收集栅，并被吸引到存储栅上存有图像信息的正电荷上去，而存储栅上的非正电荷部分则被排斥。被吸引过去的电子直接通过存储栅并轰击荧光粉形成图像。</a:t>
            </a:r>
            <a:endParaRPr lang="zh-CN" altLang="en-US" sz="2400" dirty="0">
              <a:solidFill>
                <a:schemeClr val="tx1"/>
              </a:solidFill>
              <a:latin typeface="楷体_GB2312" pitchFamily="49" charset="-122"/>
            </a:endParaRP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4"/>
          <p:cNvSpPr/>
          <p:nvPr/>
        </p:nvSpPr>
        <p:spPr>
          <a:xfrm>
            <a:off x="3708400" y="6092825"/>
            <a:ext cx="26225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zh-CN" altLang="en-US" sz="2400" dirty="0">
                <a:solidFill>
                  <a:schemeClr val="tx1"/>
                </a:solidFill>
                <a:hlinkClick r:id="rId1" action="ppaction://hlinkfile"/>
              </a:rPr>
              <a:t>直视存储管显示器</a:t>
            </a:r>
            <a:endParaRPr lang="zh-CN" altLang="en-US" sz="2400" dirty="0">
              <a:solidFill>
                <a:schemeClr val="tx1"/>
              </a:solidFill>
            </a:endParaRPr>
          </a:p>
        </p:txBody>
      </p:sp>
      <p:pic>
        <p:nvPicPr>
          <p:cNvPr id="47107" name="Picture 8" descr="未标题-2 拷贝"/>
          <p:cNvPicPr>
            <a:picLocks noChangeAspect="1"/>
          </p:cNvPicPr>
          <p:nvPr/>
        </p:nvPicPr>
        <p:blipFill>
          <a:blip r:embed="rId2"/>
          <a:stretch>
            <a:fillRect/>
          </a:stretch>
        </p:blipFill>
        <p:spPr>
          <a:xfrm>
            <a:off x="1476375" y="333375"/>
            <a:ext cx="2808288" cy="2493963"/>
          </a:xfrm>
          <a:prstGeom prst="rect">
            <a:avLst/>
          </a:prstGeom>
          <a:noFill/>
          <a:ln w="9525">
            <a:noFill/>
          </a:ln>
        </p:spPr>
      </p:pic>
      <p:pic>
        <p:nvPicPr>
          <p:cNvPr id="47108" name="Picture 7" descr="未标题-2 拷贝"/>
          <p:cNvPicPr>
            <a:picLocks noChangeAspect="1"/>
          </p:cNvPicPr>
          <p:nvPr/>
        </p:nvPicPr>
        <p:blipFill>
          <a:blip r:embed="rId3"/>
          <a:stretch>
            <a:fillRect/>
          </a:stretch>
        </p:blipFill>
        <p:spPr>
          <a:xfrm>
            <a:off x="5003800" y="333375"/>
            <a:ext cx="3744913" cy="2724150"/>
          </a:xfrm>
          <a:prstGeom prst="rect">
            <a:avLst/>
          </a:prstGeom>
          <a:noFill/>
          <a:ln w="9525">
            <a:noFill/>
          </a:ln>
        </p:spPr>
      </p:pic>
      <p:pic>
        <p:nvPicPr>
          <p:cNvPr id="47109" name="Picture 6" descr="未标题-9 拷贝"/>
          <p:cNvPicPr>
            <a:picLocks noChangeAspect="1"/>
          </p:cNvPicPr>
          <p:nvPr/>
        </p:nvPicPr>
        <p:blipFill>
          <a:blip r:embed="rId4"/>
          <a:stretch>
            <a:fillRect/>
          </a:stretch>
        </p:blipFill>
        <p:spPr>
          <a:xfrm>
            <a:off x="1331913" y="3213100"/>
            <a:ext cx="3600450" cy="2555875"/>
          </a:xfrm>
          <a:prstGeom prst="rect">
            <a:avLst/>
          </a:prstGeom>
          <a:noFill/>
          <a:ln w="9525">
            <a:noFill/>
          </a:ln>
        </p:spPr>
      </p:pic>
      <p:sp>
        <p:nvSpPr>
          <p:cNvPr id="47110" name="Rectangle 9"/>
          <p:cNvSpPr/>
          <p:nvPr/>
        </p:nvSpPr>
        <p:spPr>
          <a:xfrm>
            <a:off x="0" y="1354138"/>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3200" dirty="0">
              <a:solidFill>
                <a:schemeClr val="tx1"/>
              </a:solidFill>
              <a:ea typeface="宋体" panose="02010600030101010101" pitchFamily="2" charset="-122"/>
            </a:endParaRPr>
          </a:p>
        </p:txBody>
      </p:sp>
      <p:sp>
        <p:nvSpPr>
          <p:cNvPr id="47111" name="Rectangle 10"/>
          <p:cNvSpPr/>
          <p:nvPr/>
        </p:nvSpPr>
        <p:spPr>
          <a:xfrm>
            <a:off x="4468813" y="2259013"/>
            <a:ext cx="206375" cy="198437"/>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ctr" eaLnBrk="1" hangingPunct="1">
              <a:spcBef>
                <a:spcPct val="0"/>
              </a:spcBef>
              <a:buClrTx/>
              <a:buSzTx/>
              <a:buFont typeface="Arial" panose="020B0604020202020204" pitchFamily="34" charset="0"/>
              <a:buNone/>
            </a:pPr>
            <a:r>
              <a:rPr lang="zh-CN" altLang="en-US" sz="700" dirty="0">
                <a:solidFill>
                  <a:schemeClr val="tx1"/>
                </a:solidFill>
                <a:latin typeface="Times New Roman" panose="02020603050405020304" pitchFamily="18" charset="0"/>
                <a:ea typeface="宋体" panose="02010600030101010101" pitchFamily="2" charset="-122"/>
              </a:rPr>
              <a:t> </a:t>
            </a:r>
            <a:endParaRPr lang="zh-CN" altLang="en-US" sz="2400" dirty="0">
              <a:solidFill>
                <a:schemeClr val="tx1"/>
              </a:solidFill>
              <a:latin typeface="Arial" panose="020B0604020202020204" pitchFamily="34" charset="0"/>
              <a:ea typeface="宋体" panose="02010600030101010101" pitchFamily="2" charset="-122"/>
            </a:endParaRPr>
          </a:p>
        </p:txBody>
      </p:sp>
      <p:sp>
        <p:nvSpPr>
          <p:cNvPr id="47112" name="Rectangle 11"/>
          <p:cNvSpPr/>
          <p:nvPr/>
        </p:nvSpPr>
        <p:spPr>
          <a:xfrm>
            <a:off x="4468813" y="4333875"/>
            <a:ext cx="206375" cy="198438"/>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ctr" eaLnBrk="1" hangingPunct="1">
              <a:spcBef>
                <a:spcPct val="0"/>
              </a:spcBef>
              <a:buClrTx/>
              <a:buSzTx/>
              <a:buFont typeface="Arial" panose="020B0604020202020204" pitchFamily="34" charset="0"/>
              <a:buNone/>
            </a:pPr>
            <a:r>
              <a:rPr lang="zh-CN" altLang="en-US" sz="700" dirty="0">
                <a:solidFill>
                  <a:schemeClr val="tx1"/>
                </a:solidFill>
                <a:latin typeface="Times New Roman" panose="02020603050405020304" pitchFamily="18" charset="0"/>
                <a:ea typeface="宋体" panose="02010600030101010101" pitchFamily="2" charset="-122"/>
              </a:rPr>
              <a:t> </a:t>
            </a:r>
            <a:endParaRPr lang="zh-CN" altLang="en-US" sz="2400" dirty="0">
              <a:solidFill>
                <a:schemeClr val="tx1"/>
              </a:solidFill>
              <a:latin typeface="Arial" panose="020B0604020202020204" pitchFamily="34" charset="0"/>
              <a:ea typeface="宋体" panose="02010600030101010101" pitchFamily="2" charset="-122"/>
            </a:endParaRPr>
          </a:p>
        </p:txBody>
      </p:sp>
      <p:pic>
        <p:nvPicPr>
          <p:cNvPr id="47113" name="Picture 12" descr="未标题-1 拷贝"/>
          <p:cNvPicPr>
            <a:picLocks noChangeAspect="1"/>
          </p:cNvPicPr>
          <p:nvPr/>
        </p:nvPicPr>
        <p:blipFill>
          <a:blip r:embed="rId5"/>
          <a:stretch>
            <a:fillRect/>
          </a:stretch>
        </p:blipFill>
        <p:spPr>
          <a:xfrm>
            <a:off x="5580063" y="3357563"/>
            <a:ext cx="2813050" cy="2446337"/>
          </a:xfrm>
          <a:prstGeom prst="rect">
            <a:avLst/>
          </a:prstGeom>
          <a:noFill/>
          <a:ln w="9525">
            <a:noFill/>
          </a:ln>
        </p:spPr>
      </p:pic>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2226" name="Rectangle 4"/>
          <p:cNvSpPr>
            <a:spLocks noGrp="1" noChangeArrowheads="1"/>
          </p:cNvSpPr>
          <p:nvPr>
            <p:ph type="title" idx="4294967295"/>
          </p:nvPr>
        </p:nvSpPr>
        <p:spPr>
          <a:xfrm>
            <a:off x="1403350" y="333375"/>
            <a:ext cx="5734050" cy="423863"/>
          </a:xfrm>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200" b="1" i="0" u="none" strike="noStrike" kern="0" cap="none" spc="0" normalizeH="0" baseline="0" noProof="0" smtClean="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j-cs"/>
              </a:rPr>
              <a:t>1.5.4 </a:t>
            </a:r>
            <a:r>
              <a:rPr kumimoji="0" lang="zh-CN" altLang="en-US" sz="3200" b="1" i="0" u="none" strike="noStrike" kern="0" cap="none" spc="0" normalizeH="0" baseline="0" noProof="0" smtClean="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j-cs"/>
              </a:rPr>
              <a:t>光栅扫描显示器</a:t>
            </a:r>
            <a:endParaRPr kumimoji="0" lang="zh-CN" altLang="en-US" sz="3200" b="1" i="0" u="none" strike="noStrike" kern="0" cap="none" spc="0" normalizeH="0" baseline="0" noProof="0" smtClean="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j-cs"/>
            </a:endParaRPr>
          </a:p>
        </p:txBody>
      </p:sp>
      <p:sp>
        <p:nvSpPr>
          <p:cNvPr id="48131" name="Rectangle 5"/>
          <p:cNvSpPr>
            <a:spLocks noGrp="1"/>
          </p:cNvSpPr>
          <p:nvPr>
            <p:ph type="body" idx="4294967295"/>
          </p:nvPr>
        </p:nvSpPr>
        <p:spPr>
          <a:xfrm>
            <a:off x="1143000" y="857250"/>
            <a:ext cx="7858125" cy="2357438"/>
          </a:xfrm>
          <a:ln/>
        </p:spPr>
        <p:txBody>
          <a:bodyPr vert="horz" wrap="square" lIns="91440" tIns="45720" rIns="91440" bIns="45720" anchor="t" anchorCtr="0"/>
          <a:p>
            <a:pPr marL="0" indent="355600">
              <a:lnSpc>
                <a:spcPct val="150000"/>
              </a:lnSpc>
              <a:buNone/>
            </a:pPr>
            <a:r>
              <a:rPr lang="zh-CN" altLang="en-US" sz="2400" dirty="0">
                <a:solidFill>
                  <a:schemeClr val="tx1"/>
                </a:solidFill>
                <a:latin typeface="楷体_GB2312" pitchFamily="49" charset="-122"/>
              </a:rPr>
              <a:t>  到</a:t>
            </a:r>
            <a:r>
              <a:rPr lang="en-US" altLang="zh-CN" sz="2400" dirty="0">
                <a:solidFill>
                  <a:schemeClr val="tx1"/>
                </a:solidFill>
                <a:latin typeface="楷体_GB2312" pitchFamily="49" charset="-122"/>
              </a:rPr>
              <a:t>20</a:t>
            </a:r>
            <a:r>
              <a:rPr lang="zh-CN" altLang="en-US" sz="2400" dirty="0">
                <a:solidFill>
                  <a:schemeClr val="tx1"/>
                </a:solidFill>
                <a:latin typeface="楷体_GB2312" pitchFamily="49" charset="-122"/>
              </a:rPr>
              <a:t>世纪</a:t>
            </a:r>
            <a:r>
              <a:rPr lang="en-US" altLang="zh-CN" sz="2400" dirty="0">
                <a:solidFill>
                  <a:schemeClr val="tx1"/>
                </a:solidFill>
                <a:latin typeface="楷体_GB2312" pitchFamily="49" charset="-122"/>
              </a:rPr>
              <a:t>70</a:t>
            </a:r>
            <a:r>
              <a:rPr lang="zh-CN" altLang="en-US" sz="2400" dirty="0">
                <a:solidFill>
                  <a:schemeClr val="tx1"/>
                </a:solidFill>
                <a:latin typeface="楷体_GB2312" pitchFamily="49" charset="-122"/>
              </a:rPr>
              <a:t>年代初，基于电视技术的光栅扫描显示器的出现，极大地推动了计算机图形学的发展。在光栅扫描方式下，电子束扫过整个屏幕形成一幅光栅，然后控制光栅上各点的颜色形成显示画面，如图所示。</a:t>
            </a:r>
            <a:endParaRPr lang="zh-CN" altLang="en-US" sz="2400" dirty="0">
              <a:solidFill>
                <a:schemeClr val="tx1"/>
              </a:solidFill>
              <a:latin typeface="楷体_GB2312" pitchFamily="49" charset="-122"/>
            </a:endParaRPr>
          </a:p>
        </p:txBody>
      </p:sp>
      <p:sp>
        <p:nvSpPr>
          <p:cNvPr id="48132" name="Rectangle 15"/>
          <p:cNvSpPr/>
          <p:nvPr/>
        </p:nvSpPr>
        <p:spPr>
          <a:xfrm>
            <a:off x="0" y="0"/>
            <a:ext cx="9144000" cy="457200"/>
          </a:xfrm>
          <a:prstGeom prst="rect">
            <a:avLst/>
          </a:prstGeom>
          <a:noFill/>
          <a:ln w="9525">
            <a:noFill/>
          </a:ln>
          <a:effectLst>
            <a:prstShdw prst="shdw17" dist="17961" dir="2699999">
              <a:srgbClr val="008965"/>
            </a:prstShdw>
          </a:effectLst>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3200" dirty="0">
              <a:solidFill>
                <a:schemeClr val="tx1"/>
              </a:solidFill>
              <a:ea typeface="宋体" panose="02010600030101010101" pitchFamily="2" charset="-122"/>
            </a:endParaRPr>
          </a:p>
        </p:txBody>
      </p:sp>
      <p:pic>
        <p:nvPicPr>
          <p:cNvPr id="48133" name="Picture 14" descr="psb"/>
          <p:cNvPicPr>
            <a:picLocks noChangeAspect="1"/>
          </p:cNvPicPr>
          <p:nvPr/>
        </p:nvPicPr>
        <p:blipFill>
          <a:blip r:embed="rId1"/>
          <a:stretch>
            <a:fillRect/>
          </a:stretch>
        </p:blipFill>
        <p:spPr>
          <a:xfrm>
            <a:off x="3286125" y="3214688"/>
            <a:ext cx="3429000" cy="3095625"/>
          </a:xfrm>
          <a:prstGeom prst="rect">
            <a:avLst/>
          </a:prstGeom>
          <a:noFill/>
          <a:ln w="9525">
            <a:noFill/>
          </a:ln>
        </p:spPr>
      </p:pic>
      <p:sp>
        <p:nvSpPr>
          <p:cNvPr id="48134" name="Rectangle 20"/>
          <p:cNvSpPr/>
          <p:nvPr/>
        </p:nvSpPr>
        <p:spPr>
          <a:xfrm>
            <a:off x="1714500" y="6429375"/>
            <a:ext cx="6000750" cy="400050"/>
          </a:xfrm>
          <a:prstGeom prst="rect">
            <a:avLst/>
          </a:prstGeom>
          <a:noFill/>
          <a:ln w="9525">
            <a:noFill/>
          </a:ln>
          <a:effectLst>
            <a:prstShdw prst="shdw17" dist="17961" dir="2699999">
              <a:srgbClr val="008965"/>
            </a:prstShdw>
          </a:effectLst>
        </p:spPr>
        <p:txBody>
          <a:bodyPr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266700" algn="ctr">
              <a:spcBef>
                <a:spcPct val="0"/>
              </a:spcBef>
              <a:buClrTx/>
              <a:buSzTx/>
              <a:buFont typeface="Arial" panose="020B0604020202020204" pitchFamily="34" charset="0"/>
              <a:buNone/>
            </a:pPr>
            <a:r>
              <a:rPr lang="zh-CN" altLang="en-US" sz="2000" dirty="0">
                <a:solidFill>
                  <a:srgbClr val="000000"/>
                </a:solidFill>
                <a:latin typeface="楷体_GB2312" pitchFamily="49" charset="-122"/>
              </a:rPr>
              <a:t>图</a:t>
            </a:r>
            <a:r>
              <a:rPr lang="en-US" altLang="zh-CN" sz="2000" dirty="0">
                <a:solidFill>
                  <a:srgbClr val="000000"/>
                </a:solidFill>
                <a:latin typeface="楷体_GB2312" pitchFamily="49" charset="-122"/>
              </a:rPr>
              <a:t>1-19 </a:t>
            </a:r>
            <a:r>
              <a:rPr lang="zh-CN" altLang="en-US" sz="2000" dirty="0">
                <a:solidFill>
                  <a:schemeClr val="tx1"/>
                </a:solidFill>
                <a:latin typeface="楷体_GB2312" pitchFamily="49" charset="-122"/>
              </a:rPr>
              <a:t>光栅扫描显示器的工作原理</a:t>
            </a:r>
            <a:endParaRPr lang="zh-CN" altLang="en-US" sz="2000" dirty="0">
              <a:solidFill>
                <a:schemeClr val="tx1"/>
              </a:solidFill>
              <a:latin typeface="楷体_GB2312" pitchFamily="49" charset="-122"/>
            </a:endParaRP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3250" name="Rectangle 4"/>
          <p:cNvSpPr>
            <a:spLocks noGrp="1" noChangeArrowheads="1"/>
          </p:cNvSpPr>
          <p:nvPr>
            <p:ph type="title" idx="4294967295"/>
          </p:nvPr>
        </p:nvSpPr>
        <p:spPr>
          <a:xfrm>
            <a:off x="1403350" y="333375"/>
            <a:ext cx="5734050" cy="423863"/>
          </a:xfrm>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200" b="1" i="0" u="none" strike="noStrike" kern="0" cap="none" spc="0" normalizeH="0" baseline="0" noProof="0" smtClean="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j-cs"/>
              </a:rPr>
              <a:t>1.5.4 </a:t>
            </a:r>
            <a:r>
              <a:rPr kumimoji="0" lang="zh-CN" altLang="en-US" sz="3200" b="1" i="0" u="none" strike="noStrike" kern="0" cap="none" spc="0" normalizeH="0" baseline="0" noProof="0" smtClean="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j-cs"/>
              </a:rPr>
              <a:t>光栅扫描显示器</a:t>
            </a:r>
            <a:endParaRPr kumimoji="0" lang="zh-CN" altLang="en-US" sz="3200" b="1" i="0" u="none" strike="noStrike" kern="0" cap="none" spc="0" normalizeH="0" baseline="0" noProof="0" smtClean="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j-cs"/>
            </a:endParaRPr>
          </a:p>
        </p:txBody>
      </p:sp>
      <p:sp>
        <p:nvSpPr>
          <p:cNvPr id="49155" name="Rectangle 5"/>
          <p:cNvSpPr>
            <a:spLocks noGrp="1"/>
          </p:cNvSpPr>
          <p:nvPr>
            <p:ph type="body" idx="4294967295"/>
          </p:nvPr>
        </p:nvSpPr>
        <p:spPr>
          <a:xfrm>
            <a:off x="1116013" y="981075"/>
            <a:ext cx="7705725" cy="3311525"/>
          </a:xfrm>
          <a:ln/>
        </p:spPr>
        <p:txBody>
          <a:bodyPr vert="horz" wrap="square" lIns="91440" tIns="45720" rIns="91440" bIns="45720" anchor="t" anchorCtr="0"/>
          <a:p>
            <a:pPr eaLnBrk="1" hangingPunct="1">
              <a:lnSpc>
                <a:spcPct val="150000"/>
              </a:lnSpc>
              <a:buNone/>
            </a:pPr>
            <a:r>
              <a:rPr lang="zh-CN" altLang="en-US" dirty="0">
                <a:solidFill>
                  <a:srgbClr val="3366FF"/>
                </a:solidFill>
                <a:latin typeface="楷体_GB2312" pitchFamily="49" charset="-122"/>
              </a:rPr>
              <a:t>     </a:t>
            </a:r>
            <a:r>
              <a:rPr lang="zh-CN" altLang="en-US" sz="2400" dirty="0">
                <a:solidFill>
                  <a:schemeClr val="tx1"/>
                </a:solidFill>
                <a:latin typeface="楷体_GB2312" pitchFamily="49" charset="-122"/>
              </a:rPr>
              <a:t>光栅扫描显示器电子束的强度可以不断变化，所以容易生成颜色连续变化的真实感图像。光栅扫描显示器是画点设备，可看作是一个点阵单元发生器，并可控制每个点阵单元的亮度，这些点阵单元被称为像素（</a:t>
            </a:r>
            <a:r>
              <a:rPr lang="en-US" altLang="zh-CN" sz="2400" dirty="0">
                <a:solidFill>
                  <a:schemeClr val="tx1"/>
                </a:solidFill>
                <a:latin typeface="楷体_GB2312" pitchFamily="49" charset="-122"/>
              </a:rPr>
              <a:t>Picture Element</a:t>
            </a:r>
            <a:r>
              <a:rPr lang="zh-CN" altLang="en-US" sz="2400" dirty="0">
                <a:solidFill>
                  <a:schemeClr val="tx1"/>
                </a:solidFill>
                <a:latin typeface="楷体_GB2312" pitchFamily="49" charset="-122"/>
              </a:rPr>
              <a:t>，</a:t>
            </a:r>
            <a:r>
              <a:rPr lang="en-US" altLang="zh-CN" sz="2400" dirty="0">
                <a:solidFill>
                  <a:schemeClr val="tx1"/>
                </a:solidFill>
                <a:latin typeface="楷体_GB2312" pitchFamily="49" charset="-122"/>
              </a:rPr>
              <a:t>Pixel</a:t>
            </a:r>
            <a:r>
              <a:rPr lang="zh-CN" altLang="en-US" sz="2400" dirty="0">
                <a:solidFill>
                  <a:schemeClr val="tx1"/>
                </a:solidFill>
                <a:latin typeface="楷体_GB2312" pitchFamily="49" charset="-122"/>
              </a:rPr>
              <a:t>）。</a:t>
            </a:r>
            <a:endParaRPr lang="zh-CN" altLang="en-US" sz="2400" dirty="0">
              <a:solidFill>
                <a:schemeClr val="tx1"/>
              </a:solidFill>
              <a:latin typeface="楷体_GB2312" pitchFamily="49" charset="-122"/>
            </a:endParaRPr>
          </a:p>
        </p:txBody>
      </p:sp>
      <p:pic>
        <p:nvPicPr>
          <p:cNvPr id="49156" name="Picture 6" descr="bc"/>
          <p:cNvPicPr>
            <a:picLocks noChangeAspect="1"/>
          </p:cNvPicPr>
          <p:nvPr/>
        </p:nvPicPr>
        <p:blipFill>
          <a:blip r:embed="rId1"/>
          <a:srcRect l="13867" t="233" r="18443" b="11061"/>
          <a:stretch>
            <a:fillRect/>
          </a:stretch>
        </p:blipFill>
        <p:spPr>
          <a:xfrm>
            <a:off x="2051050" y="4149725"/>
            <a:ext cx="1789113" cy="2016125"/>
          </a:xfrm>
          <a:prstGeom prst="rect">
            <a:avLst/>
          </a:prstGeom>
          <a:noFill/>
          <a:ln w="9525">
            <a:noFill/>
          </a:ln>
        </p:spPr>
      </p:pic>
      <p:pic>
        <p:nvPicPr>
          <p:cNvPr id="49157" name="Picture 7" descr="未命名"/>
          <p:cNvPicPr>
            <a:picLocks noChangeAspect="1"/>
          </p:cNvPicPr>
          <p:nvPr/>
        </p:nvPicPr>
        <p:blipFill>
          <a:blip r:embed="rId2"/>
          <a:srcRect l="1115" t="562" r="743" b="1913"/>
          <a:stretch>
            <a:fillRect/>
          </a:stretch>
        </p:blipFill>
        <p:spPr>
          <a:xfrm>
            <a:off x="5148263" y="4149725"/>
            <a:ext cx="2305050" cy="1716088"/>
          </a:xfrm>
          <a:prstGeom prst="rect">
            <a:avLst/>
          </a:prstGeom>
          <a:noFill/>
          <a:ln w="9525">
            <a:noFill/>
          </a:ln>
        </p:spPr>
      </p:pic>
      <p:sp>
        <p:nvSpPr>
          <p:cNvPr id="49158" name="AutoShape 8"/>
          <p:cNvSpPr/>
          <p:nvPr/>
        </p:nvSpPr>
        <p:spPr>
          <a:xfrm>
            <a:off x="7812088" y="5949950"/>
            <a:ext cx="719137" cy="360363"/>
          </a:xfrm>
          <a:prstGeom prst="callout1">
            <a:avLst>
              <a:gd name="adj1" fmla="val 31718"/>
              <a:gd name="adj2" fmla="val -10597"/>
              <a:gd name="adj3" fmla="val -313657"/>
              <a:gd name="adj4" fmla="val -251435"/>
            </a:avLst>
          </a:prstGeom>
          <a:noFill/>
          <a:ln w="38100" cap="flat" cmpd="sng">
            <a:solidFill>
              <a:schemeClr val="tx1"/>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just" eaLnBrk="1" hangingPunct="1">
              <a:spcBef>
                <a:spcPct val="0"/>
              </a:spcBef>
              <a:buClrTx/>
              <a:buSzTx/>
              <a:buFont typeface="Arial" panose="020B0604020202020204" pitchFamily="34" charset="0"/>
              <a:buNone/>
            </a:pPr>
            <a:r>
              <a:rPr lang="zh-CN" altLang="en-US" sz="2400" dirty="0">
                <a:solidFill>
                  <a:srgbClr val="990099"/>
                </a:solidFill>
                <a:latin typeface="Times New Roman" panose="02020603050405020304" pitchFamily="18" charset="0"/>
              </a:rPr>
              <a:t>像素</a:t>
            </a:r>
            <a:endParaRPr lang="zh-CN" altLang="en-US" sz="2400" b="1" dirty="0">
              <a:solidFill>
                <a:srgbClr val="990099"/>
              </a:solidFill>
              <a:latin typeface="Arial Narrow" panose="020B0606020202030204" pitchFamily="34" charset="0"/>
            </a:endParaRPr>
          </a:p>
        </p:txBody>
      </p:sp>
      <p:sp>
        <p:nvSpPr>
          <p:cNvPr id="49159" name="Oval 9"/>
          <p:cNvSpPr/>
          <p:nvPr/>
        </p:nvSpPr>
        <p:spPr>
          <a:xfrm>
            <a:off x="3059113" y="4365625"/>
            <a:ext cx="433387" cy="431800"/>
          </a:xfrm>
          <a:prstGeom prst="ellipse">
            <a:avLst/>
          </a:prstGeom>
          <a:noFill/>
          <a:ln w="38100" cap="flat" cmpd="sng">
            <a:solidFill>
              <a:schemeClr val="tx2"/>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3200" dirty="0">
              <a:solidFill>
                <a:schemeClr val="tx1"/>
              </a:solidFill>
              <a:ea typeface="宋体" panose="02010600030101010101" pitchFamily="2" charset="-122"/>
            </a:endParaRPr>
          </a:p>
        </p:txBody>
      </p:sp>
      <p:sp>
        <p:nvSpPr>
          <p:cNvPr id="49160" name="AutoShape 10"/>
          <p:cNvSpPr/>
          <p:nvPr/>
        </p:nvSpPr>
        <p:spPr>
          <a:xfrm>
            <a:off x="3635375" y="4365625"/>
            <a:ext cx="792163" cy="287338"/>
          </a:xfrm>
          <a:prstGeom prst="rightArrow">
            <a:avLst>
              <a:gd name="adj1" fmla="val 50000"/>
              <a:gd name="adj2" fmla="val 68922"/>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3200" dirty="0">
              <a:solidFill>
                <a:schemeClr val="tx1"/>
              </a:solidFill>
              <a:ea typeface="宋体" panose="02010600030101010101" pitchFamily="2" charset="-122"/>
            </a:endParaRP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4274" name="Rectangle 2"/>
          <p:cNvSpPr>
            <a:spLocks noGrp="1" noChangeArrowheads="1"/>
          </p:cNvSpPr>
          <p:nvPr>
            <p:ph type="title" idx="4294967295"/>
          </p:nvPr>
        </p:nvSpPr>
        <p:spPr>
          <a:xfrm>
            <a:off x="1258888" y="404813"/>
            <a:ext cx="2736850" cy="519113"/>
          </a:xfrm>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Char char="•"/>
              <a:defRPr/>
            </a:pPr>
            <a:r>
              <a:rPr kumimoji="0" lang="zh-CN" altLang="en-US" sz="3200" b="1" i="0" u="none" strike="noStrike" kern="0" cap="none" spc="0" normalizeH="0" baseline="0" noProof="0" smtClean="0">
                <a:ln>
                  <a:noFill/>
                </a:ln>
                <a:solidFill>
                  <a:schemeClr val="tx1"/>
                </a:solidFill>
                <a:effectLst>
                  <a:outerShdw blurRad="38100" dist="38100" dir="2700000" algn="tl">
                    <a:srgbClr val="FFFFFF"/>
                  </a:outerShdw>
                </a:effectLst>
                <a:uLnTx/>
                <a:uFillTx/>
                <a:latin typeface="楷体_GB2312" pitchFamily="49" charset="-122"/>
                <a:ea typeface="楷体_GB2312" pitchFamily="49" charset="-122"/>
                <a:cs typeface="+mj-cs"/>
              </a:rPr>
              <a:t>屏幕宽高</a:t>
            </a:r>
            <a:r>
              <a:rPr kumimoji="0" lang="zh-CN" altLang="en-US" sz="3200" b="1" i="0" u="none" strike="noStrike" kern="0" cap="none" spc="0" normalizeH="0" baseline="0" noProof="0" smtClean="0">
                <a:ln>
                  <a:noFill/>
                </a:ln>
                <a:solidFill>
                  <a:schemeClr val="tx1"/>
                </a:solidFill>
                <a:effectLst/>
                <a:uLnTx/>
                <a:uFillTx/>
                <a:latin typeface="+mj-lt"/>
                <a:ea typeface="+mj-ea"/>
                <a:cs typeface="+mj-cs"/>
              </a:rPr>
              <a:t>比</a:t>
            </a:r>
            <a:endParaRPr kumimoji="0" lang="zh-CN" altLang="en-US" sz="3200" b="1" i="0" u="none" strike="noStrike" kern="0" cap="none" spc="0" normalizeH="0" baseline="0" noProof="0" smtClean="0">
              <a:ln>
                <a:noFill/>
              </a:ln>
              <a:solidFill>
                <a:schemeClr val="tx1"/>
              </a:solidFill>
              <a:effectLst/>
              <a:uLnTx/>
              <a:uFillTx/>
              <a:latin typeface="+mj-lt"/>
              <a:ea typeface="+mj-ea"/>
              <a:cs typeface="+mj-cs"/>
            </a:endParaRPr>
          </a:p>
        </p:txBody>
      </p:sp>
      <p:sp>
        <p:nvSpPr>
          <p:cNvPr id="50179" name="Rectangle 3"/>
          <p:cNvSpPr>
            <a:spLocks noGrp="1"/>
          </p:cNvSpPr>
          <p:nvPr>
            <p:ph type="body" idx="4294967295"/>
          </p:nvPr>
        </p:nvSpPr>
        <p:spPr>
          <a:xfrm>
            <a:off x="1258888" y="1341438"/>
            <a:ext cx="7705725" cy="3959225"/>
          </a:xfrm>
          <a:ln/>
        </p:spPr>
        <p:txBody>
          <a:bodyPr vert="horz" wrap="square" lIns="91440" tIns="45720" rIns="91440" bIns="45720" anchor="t" anchorCtr="0"/>
          <a:p>
            <a:pPr marL="0" indent="355600" eaLnBrk="1" hangingPunct="1">
              <a:lnSpc>
                <a:spcPct val="150000"/>
              </a:lnSpc>
              <a:buNone/>
            </a:pPr>
            <a:r>
              <a:rPr lang="zh-CN" altLang="en-US" sz="3200" dirty="0">
                <a:solidFill>
                  <a:srgbClr val="3366FF"/>
                </a:solidFill>
                <a:latin typeface="楷体_GB2312" pitchFamily="49" charset="-122"/>
              </a:rPr>
              <a:t>  </a:t>
            </a:r>
            <a:r>
              <a:rPr lang="zh-CN" altLang="en-US" sz="2400" dirty="0">
                <a:solidFill>
                  <a:schemeClr val="tx1"/>
                </a:solidFill>
                <a:latin typeface="楷体_GB2312" pitchFamily="49" charset="-122"/>
              </a:rPr>
              <a:t>屏幕宽高比（</a:t>
            </a:r>
            <a:r>
              <a:rPr lang="en-US" altLang="zh-CN" sz="2400" dirty="0">
                <a:solidFill>
                  <a:schemeClr val="tx1"/>
                </a:solidFill>
                <a:latin typeface="楷体_GB2312" pitchFamily="49" charset="-122"/>
              </a:rPr>
              <a:t>Aspect Ratio</a:t>
            </a:r>
            <a:r>
              <a:rPr lang="zh-CN" altLang="en-US" sz="2400" dirty="0">
                <a:solidFill>
                  <a:schemeClr val="tx1"/>
                </a:solidFill>
                <a:latin typeface="楷体_GB2312" pitchFamily="49" charset="-122"/>
              </a:rPr>
              <a:t>）</a:t>
            </a:r>
            <a:r>
              <a:rPr lang="en-US" altLang="zh-CN" sz="2400" dirty="0">
                <a:solidFill>
                  <a:schemeClr val="tx1"/>
                </a:solidFill>
                <a:latin typeface="楷体_GB2312" pitchFamily="49" charset="-122"/>
              </a:rPr>
              <a:t>: </a:t>
            </a:r>
            <a:r>
              <a:rPr lang="zh-CN" altLang="en-US" sz="2400" dirty="0">
                <a:solidFill>
                  <a:schemeClr val="tx1"/>
                </a:solidFill>
                <a:latin typeface="楷体_GB2312" pitchFamily="49" charset="-122"/>
              </a:rPr>
              <a:t>显示设备中显示图像的横向尺寸与纵向尺寸的比例，最常见的为</a:t>
            </a:r>
            <a:r>
              <a:rPr lang="en-US" altLang="zh-CN" sz="2400" dirty="0">
                <a:solidFill>
                  <a:schemeClr val="tx1"/>
                </a:solidFill>
                <a:latin typeface="楷体_GB2312" pitchFamily="49" charset="-122"/>
              </a:rPr>
              <a:t>4:3</a:t>
            </a:r>
            <a:r>
              <a:rPr lang="zh-CN" altLang="en-US" sz="2400" dirty="0">
                <a:solidFill>
                  <a:schemeClr val="tx1"/>
                </a:solidFill>
                <a:latin typeface="楷体_GB2312" pitchFamily="49" charset="-122"/>
              </a:rPr>
              <a:t>，目前的高清晰度电视和一些新型显示设备采用了</a:t>
            </a:r>
            <a:r>
              <a:rPr lang="en-US" altLang="zh-CN" sz="2400" dirty="0">
                <a:solidFill>
                  <a:schemeClr val="tx1"/>
                </a:solidFill>
                <a:latin typeface="楷体_GB2312" pitchFamily="49" charset="-122"/>
              </a:rPr>
              <a:t>16:9</a:t>
            </a:r>
            <a:r>
              <a:rPr lang="zh-CN" altLang="en-US" sz="2400" dirty="0">
                <a:solidFill>
                  <a:schemeClr val="tx1"/>
                </a:solidFill>
                <a:latin typeface="楷体_GB2312" pitchFamily="49" charset="-122"/>
              </a:rPr>
              <a:t>。 </a:t>
            </a:r>
            <a:endParaRPr lang="zh-CN" altLang="en-US" sz="2400" dirty="0">
              <a:solidFill>
                <a:schemeClr val="tx1"/>
              </a:solidFill>
              <a:latin typeface="楷体_GB2312" pitchFamily="49" charset="-122"/>
            </a:endParaRPr>
          </a:p>
          <a:p>
            <a:pPr marL="0" indent="355600" eaLnBrk="1" hangingPunct="1">
              <a:lnSpc>
                <a:spcPct val="150000"/>
              </a:lnSpc>
              <a:buNone/>
            </a:pPr>
            <a:r>
              <a:rPr lang="en-US" altLang="zh-CN" sz="2400" dirty="0">
                <a:solidFill>
                  <a:schemeClr val="tx1"/>
                </a:solidFill>
                <a:latin typeface="楷体_GB2312" pitchFamily="49" charset="-122"/>
              </a:rPr>
              <a:t>  800×600</a:t>
            </a:r>
            <a:endParaRPr lang="en-US" altLang="zh-CN" sz="2400" dirty="0">
              <a:solidFill>
                <a:schemeClr val="tx1"/>
              </a:solidFill>
              <a:latin typeface="楷体_GB2312" pitchFamily="49" charset="-122"/>
            </a:endParaRPr>
          </a:p>
          <a:p>
            <a:pPr marL="0" indent="355600" eaLnBrk="1" hangingPunct="1">
              <a:lnSpc>
                <a:spcPct val="150000"/>
              </a:lnSpc>
              <a:buNone/>
            </a:pPr>
            <a:r>
              <a:rPr lang="en-US" altLang="zh-CN" sz="2400" dirty="0">
                <a:solidFill>
                  <a:schemeClr val="tx1"/>
                </a:solidFill>
                <a:latin typeface="楷体_GB2312" pitchFamily="49" charset="-122"/>
              </a:rPr>
              <a:t>  1024×768</a:t>
            </a:r>
            <a:endParaRPr lang="en-US" altLang="zh-CN" sz="2400" dirty="0">
              <a:solidFill>
                <a:schemeClr val="tx1"/>
              </a:solidFill>
              <a:latin typeface="楷体_GB2312" pitchFamily="49" charset="-122"/>
            </a:endParaRPr>
          </a:p>
          <a:p>
            <a:pPr marL="0" indent="355600" eaLnBrk="1" hangingPunct="1">
              <a:lnSpc>
                <a:spcPct val="150000"/>
              </a:lnSpc>
              <a:buNone/>
            </a:pPr>
            <a:r>
              <a:rPr lang="en-US" altLang="zh-CN" sz="2400" dirty="0">
                <a:solidFill>
                  <a:schemeClr val="tx1"/>
                </a:solidFill>
                <a:latin typeface="楷体_GB2312" pitchFamily="49" charset="-122"/>
              </a:rPr>
              <a:t>  800/600=1024/768</a:t>
            </a:r>
            <a:r>
              <a:rPr lang="zh-CN" altLang="en-US" sz="2400" dirty="0">
                <a:solidFill>
                  <a:schemeClr val="tx1"/>
                </a:solidFill>
                <a:latin typeface="楷体_GB2312" pitchFamily="49" charset="-122"/>
              </a:rPr>
              <a:t>＝</a:t>
            </a:r>
            <a:r>
              <a:rPr lang="en-US" altLang="zh-CN" sz="2400" dirty="0">
                <a:solidFill>
                  <a:schemeClr val="tx1"/>
                </a:solidFill>
                <a:latin typeface="楷体_GB2312" pitchFamily="49" charset="-122"/>
              </a:rPr>
              <a:t>4/3</a:t>
            </a:r>
            <a:endParaRPr lang="zh-CN" altLang="en-US" sz="2400" dirty="0">
              <a:solidFill>
                <a:schemeClr val="tx1"/>
              </a:solidFill>
              <a:latin typeface="楷体_GB2312" pitchFamily="49" charset="-122"/>
            </a:endParaRPr>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1202" name="Rectangle 4"/>
          <p:cNvSpPr>
            <a:spLocks noGrp="1"/>
          </p:cNvSpPr>
          <p:nvPr>
            <p:ph type="title" idx="4294967295"/>
          </p:nvPr>
        </p:nvSpPr>
        <p:spPr>
          <a:xfrm>
            <a:off x="1476375" y="404813"/>
            <a:ext cx="5422900" cy="431800"/>
          </a:xfrm>
          <a:ln/>
        </p:spPr>
        <p:txBody>
          <a:bodyPr vert="horz" wrap="square" lIns="91440" tIns="45720" rIns="91440" bIns="45720" anchor="b" anchorCtr="0"/>
          <a:p>
            <a:pPr algn="l" eaLnBrk="1" hangingPunct="1">
              <a:buChar char="•"/>
            </a:pPr>
            <a:r>
              <a:rPr lang="zh-CN" altLang="en-US" sz="3200" dirty="0">
                <a:solidFill>
                  <a:schemeClr val="tx1"/>
                </a:solidFill>
              </a:rPr>
              <a:t>不走样直线</a:t>
            </a:r>
            <a:endParaRPr lang="zh-CN" altLang="en-US" sz="3200" dirty="0">
              <a:solidFill>
                <a:schemeClr val="tx1"/>
              </a:solidFill>
            </a:endParaRPr>
          </a:p>
        </p:txBody>
      </p:sp>
      <p:sp>
        <p:nvSpPr>
          <p:cNvPr id="51203" name="Rectangle 5"/>
          <p:cNvSpPr>
            <a:spLocks noGrp="1"/>
          </p:cNvSpPr>
          <p:nvPr>
            <p:ph type="body" sz="half" idx="4294967295"/>
          </p:nvPr>
        </p:nvSpPr>
        <p:spPr>
          <a:xfrm>
            <a:off x="1403350" y="1125538"/>
            <a:ext cx="7272338" cy="1655762"/>
          </a:xfrm>
          <a:ln/>
        </p:spPr>
        <p:txBody>
          <a:bodyPr vert="horz" wrap="square" lIns="91440" tIns="45720" rIns="91440" bIns="45720" anchor="t" anchorCtr="0"/>
          <a:lstStyle>
            <a:lvl1pPr lvl="0">
              <a:buClr>
                <a:srgbClr val="336600"/>
              </a:buClr>
              <a:buSzPct val="60000"/>
              <a:buFont typeface="Wingdings" panose="05000000000000000000" pitchFamily="2" charset="2"/>
              <a:defRPr sz="2400"/>
            </a:lvl1pPr>
            <a:lvl2pPr lvl="1">
              <a:buClr>
                <a:srgbClr val="336600"/>
              </a:buClr>
              <a:buSzPct val="60000"/>
              <a:buFont typeface="Wingdings" panose="05000000000000000000" pitchFamily="2" charset="2"/>
              <a:defRPr sz="2400"/>
            </a:lvl2pPr>
            <a:lvl3pPr lvl="2">
              <a:buClr>
                <a:srgbClr val="336600"/>
              </a:buClr>
              <a:buSzPct val="60000"/>
              <a:buFont typeface="Wingdings" panose="05000000000000000000" pitchFamily="2" charset="2"/>
              <a:defRPr sz="2400"/>
            </a:lvl3pPr>
            <a:lvl4pPr lvl="3">
              <a:buClr>
                <a:srgbClr val="336600"/>
              </a:buClr>
              <a:buSzPct val="60000"/>
              <a:buFont typeface="Wingdings" panose="05000000000000000000" pitchFamily="2" charset="2"/>
              <a:defRPr sz="1800"/>
            </a:lvl4pPr>
            <a:lvl5pPr lvl="4">
              <a:buClr>
                <a:srgbClr val="336600"/>
              </a:buClr>
              <a:buSzPct val="60000"/>
              <a:buFont typeface="Wingdings" panose="05000000000000000000" pitchFamily="2" charset="2"/>
              <a:defRPr sz="1800"/>
            </a:lvl5pPr>
          </a:lstStyle>
          <a:p>
            <a:pPr lvl="0" eaLnBrk="1" hangingPunct="1">
              <a:lnSpc>
                <a:spcPct val="150000"/>
              </a:lnSpc>
              <a:buNone/>
            </a:pPr>
            <a:r>
              <a:rPr lang="zh-CN" altLang="en-US" sz="2800" dirty="0">
                <a:solidFill>
                  <a:srgbClr val="3366FF"/>
                </a:solidFill>
              </a:rPr>
              <a:t>         </a:t>
            </a:r>
            <a:r>
              <a:rPr lang="zh-CN" altLang="en-US" dirty="0">
                <a:solidFill>
                  <a:schemeClr val="tx1"/>
                </a:solidFill>
                <a:latin typeface="楷体_GB2312" pitchFamily="49" charset="-122"/>
              </a:rPr>
              <a:t>在绘制水平，垂直直线及</a:t>
            </a:r>
            <a:r>
              <a:rPr lang="en-US" altLang="zh-CN" dirty="0">
                <a:solidFill>
                  <a:schemeClr val="tx1"/>
                </a:solidFill>
                <a:latin typeface="楷体_GB2312" pitchFamily="49" charset="-122"/>
              </a:rPr>
              <a:t>45°</a:t>
            </a:r>
            <a:r>
              <a:rPr lang="zh-CN" altLang="en-US" dirty="0">
                <a:solidFill>
                  <a:schemeClr val="tx1"/>
                </a:solidFill>
                <a:latin typeface="楷体_GB2312" pitchFamily="49" charset="-122"/>
              </a:rPr>
              <a:t>时，像素点集在直线路径上的位置是准确的，直线不走样。</a:t>
            </a:r>
            <a:endParaRPr lang="zh-CN" altLang="en-US" dirty="0">
              <a:solidFill>
                <a:schemeClr val="tx1"/>
              </a:solidFill>
              <a:latin typeface="楷体_GB2312" pitchFamily="49" charset="-122"/>
            </a:endParaRPr>
          </a:p>
        </p:txBody>
      </p:sp>
      <p:graphicFrame>
        <p:nvGraphicFramePr>
          <p:cNvPr id="51204" name="Object 6"/>
          <p:cNvGraphicFramePr>
            <a:graphicFrameLocks noGrp="1" noChangeAspect="1"/>
          </p:cNvGraphicFramePr>
          <p:nvPr>
            <p:ph sz="half" idx="1"/>
          </p:nvPr>
        </p:nvGraphicFramePr>
        <p:xfrm>
          <a:off x="5219700" y="3068638"/>
          <a:ext cx="3240088" cy="3133725"/>
        </p:xfrm>
        <a:graphic>
          <a:graphicData uri="http://schemas.openxmlformats.org/presentationml/2006/ole">
            <mc:AlternateContent xmlns:mc="http://schemas.openxmlformats.org/markup-compatibility/2006">
              <mc:Choice xmlns:v="urn:schemas-microsoft-com:vml" Requires="v">
                <p:oleObj spid="_x0000_s3087" name="" r:id="rId1" imgW="4323715" imgH="4323715" progId="Visio.Drawing.11">
                  <p:embed/>
                </p:oleObj>
              </mc:Choice>
              <mc:Fallback>
                <p:oleObj name="" r:id="rId1" imgW="4323715" imgH="4323715" progId="Visio.Drawing.11">
                  <p:embed/>
                  <p:pic>
                    <p:nvPicPr>
                      <p:cNvPr id="0" name="图片 3086"/>
                      <p:cNvPicPr/>
                      <p:nvPr/>
                    </p:nvPicPr>
                    <p:blipFill>
                      <a:blip r:embed="rId2"/>
                      <a:srcRect t="9196" r="9947"/>
                      <a:stretch>
                        <a:fillRect/>
                      </a:stretch>
                    </p:blipFill>
                    <p:spPr>
                      <a:xfrm>
                        <a:off x="5219700" y="3068638"/>
                        <a:ext cx="3240088" cy="3133725"/>
                      </a:xfrm>
                      <a:prstGeom prst="rect">
                        <a:avLst/>
                      </a:prstGeom>
                      <a:noFill/>
                      <a:ln w="38100">
                        <a:miter/>
                      </a:ln>
                    </p:spPr>
                  </p:pic>
                </p:oleObj>
              </mc:Fallback>
            </mc:AlternateContent>
          </a:graphicData>
        </a:graphic>
      </p:graphicFrame>
      <p:pic>
        <p:nvPicPr>
          <p:cNvPr id="51205" name="Picture 9"/>
          <p:cNvPicPr>
            <a:picLocks noChangeAspect="1"/>
          </p:cNvPicPr>
          <p:nvPr/>
        </p:nvPicPr>
        <p:blipFill>
          <a:blip r:embed="rId3"/>
          <a:srcRect b="18187"/>
          <a:stretch>
            <a:fillRect/>
          </a:stretch>
        </p:blipFill>
        <p:spPr>
          <a:xfrm>
            <a:off x="1547813" y="3284538"/>
            <a:ext cx="3073400" cy="2592387"/>
          </a:xfrm>
          <a:prstGeom prst="rect">
            <a:avLst/>
          </a:prstGeom>
          <a:noFill/>
          <a:ln w="9525">
            <a:noFill/>
          </a:ln>
        </p:spPr>
      </p:pic>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2226" name="Rectangle 1028"/>
          <p:cNvSpPr>
            <a:spLocks noGrp="1"/>
          </p:cNvSpPr>
          <p:nvPr>
            <p:ph type="title" idx="4294967295"/>
          </p:nvPr>
        </p:nvSpPr>
        <p:spPr>
          <a:xfrm>
            <a:off x="1403350" y="333375"/>
            <a:ext cx="2078038" cy="431800"/>
          </a:xfrm>
          <a:ln/>
        </p:spPr>
        <p:txBody>
          <a:bodyPr vert="horz" wrap="square" lIns="91440" tIns="45720" rIns="91440" bIns="45720" anchor="b" anchorCtr="0"/>
          <a:p>
            <a:pPr algn="l" eaLnBrk="1" hangingPunct="1">
              <a:buChar char="•"/>
            </a:pPr>
            <a:r>
              <a:rPr lang="zh-CN" altLang="en-US" sz="3200" dirty="0">
                <a:solidFill>
                  <a:schemeClr val="tx1"/>
                </a:solidFill>
              </a:rPr>
              <a:t>走样直线</a:t>
            </a:r>
            <a:endParaRPr lang="zh-CN" altLang="en-US" sz="3200" dirty="0">
              <a:solidFill>
                <a:schemeClr val="tx1"/>
              </a:solidFill>
            </a:endParaRPr>
          </a:p>
        </p:txBody>
      </p:sp>
      <p:sp>
        <p:nvSpPr>
          <p:cNvPr id="52227" name="Rectangle 1029"/>
          <p:cNvSpPr>
            <a:spLocks noGrp="1"/>
          </p:cNvSpPr>
          <p:nvPr>
            <p:ph type="body" sz="half" idx="4294967295"/>
          </p:nvPr>
        </p:nvSpPr>
        <p:spPr>
          <a:xfrm>
            <a:off x="1187450" y="908050"/>
            <a:ext cx="7561263" cy="1008063"/>
          </a:xfrm>
          <a:ln/>
        </p:spPr>
        <p:txBody>
          <a:bodyPr vert="horz" wrap="square" lIns="91440" tIns="45720" rIns="91440" bIns="45720" anchor="t" anchorCtr="0"/>
          <a:lstStyle>
            <a:lvl1pPr lvl="0">
              <a:buClr>
                <a:srgbClr val="336600"/>
              </a:buClr>
              <a:buSzPct val="60000"/>
              <a:buFont typeface="Wingdings" panose="05000000000000000000" pitchFamily="2" charset="2"/>
              <a:defRPr sz="2400"/>
            </a:lvl1pPr>
            <a:lvl2pPr lvl="1">
              <a:buClr>
                <a:srgbClr val="336600"/>
              </a:buClr>
              <a:buSzPct val="60000"/>
              <a:buFont typeface="Wingdings" panose="05000000000000000000" pitchFamily="2" charset="2"/>
              <a:defRPr sz="2400"/>
            </a:lvl2pPr>
            <a:lvl3pPr lvl="2">
              <a:buClr>
                <a:srgbClr val="336600"/>
              </a:buClr>
              <a:buSzPct val="60000"/>
              <a:buFont typeface="Wingdings" panose="05000000000000000000" pitchFamily="2" charset="2"/>
              <a:defRPr sz="2400"/>
            </a:lvl3pPr>
            <a:lvl4pPr lvl="3">
              <a:buClr>
                <a:srgbClr val="336600"/>
              </a:buClr>
              <a:buSzPct val="60000"/>
              <a:buFont typeface="Wingdings" panose="05000000000000000000" pitchFamily="2" charset="2"/>
              <a:defRPr sz="1800"/>
            </a:lvl4pPr>
            <a:lvl5pPr lvl="4">
              <a:buClr>
                <a:srgbClr val="336600"/>
              </a:buClr>
              <a:buSzPct val="60000"/>
              <a:buFont typeface="Wingdings" panose="05000000000000000000" pitchFamily="2" charset="2"/>
              <a:defRPr sz="1800"/>
            </a:lvl5pPr>
          </a:lstStyle>
          <a:p>
            <a:pPr lvl="0" eaLnBrk="1" hangingPunct="1">
              <a:buNone/>
            </a:pPr>
            <a:r>
              <a:rPr lang="en-US" altLang="zh-CN" sz="3200" dirty="0">
                <a:solidFill>
                  <a:srgbClr val="3366FF"/>
                </a:solidFill>
              </a:rPr>
              <a:t>      </a:t>
            </a:r>
            <a:r>
              <a:rPr lang="zh-CN" altLang="en-US" dirty="0">
                <a:solidFill>
                  <a:schemeClr val="tx1"/>
                </a:solidFill>
              </a:rPr>
              <a:t>点阵形成的斜线呈阶梯状，形成锯齿线，这称为走样直线。</a:t>
            </a:r>
            <a:endParaRPr lang="zh-CN" altLang="en-US" dirty="0">
              <a:solidFill>
                <a:schemeClr val="tx1"/>
              </a:solidFill>
            </a:endParaRPr>
          </a:p>
        </p:txBody>
      </p:sp>
      <p:pic>
        <p:nvPicPr>
          <p:cNvPr id="52228" name="Picture 1032"/>
          <p:cNvPicPr>
            <a:picLocks noChangeAspect="1"/>
          </p:cNvPicPr>
          <p:nvPr/>
        </p:nvPicPr>
        <p:blipFill>
          <a:blip r:embed="rId1"/>
          <a:srcRect t="16914" r="1682" b="5365"/>
          <a:stretch>
            <a:fillRect/>
          </a:stretch>
        </p:blipFill>
        <p:spPr>
          <a:xfrm>
            <a:off x="4356100" y="2276475"/>
            <a:ext cx="4176713" cy="1655763"/>
          </a:xfrm>
          <a:prstGeom prst="rect">
            <a:avLst/>
          </a:prstGeom>
          <a:noFill/>
          <a:ln w="9525">
            <a:noFill/>
          </a:ln>
        </p:spPr>
      </p:pic>
      <p:sp>
        <p:nvSpPr>
          <p:cNvPr id="52229" name="Rectangle 1033"/>
          <p:cNvSpPr/>
          <p:nvPr/>
        </p:nvSpPr>
        <p:spPr>
          <a:xfrm>
            <a:off x="1187450" y="4005263"/>
            <a:ext cx="2808288" cy="5794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Char char="•"/>
            </a:pPr>
            <a:r>
              <a:rPr lang="zh-CN" altLang="en-US" sz="3200" b="1" dirty="0">
                <a:solidFill>
                  <a:schemeClr val="tx1"/>
                </a:solidFill>
                <a:ea typeface="宋体" panose="02010600030101010101" pitchFamily="2" charset="-122"/>
              </a:rPr>
              <a:t>反走样直线</a:t>
            </a:r>
            <a:endParaRPr lang="zh-CN" altLang="en-US" sz="3200" b="1" dirty="0">
              <a:solidFill>
                <a:schemeClr val="tx1"/>
              </a:solidFill>
              <a:ea typeface="宋体" panose="02010600030101010101" pitchFamily="2" charset="-122"/>
            </a:endParaRPr>
          </a:p>
        </p:txBody>
      </p:sp>
      <p:pic>
        <p:nvPicPr>
          <p:cNvPr id="52230" name="Picture 1034"/>
          <p:cNvPicPr>
            <a:picLocks noChangeAspect="1"/>
          </p:cNvPicPr>
          <p:nvPr/>
        </p:nvPicPr>
        <p:blipFill>
          <a:blip r:embed="rId2"/>
          <a:stretch>
            <a:fillRect/>
          </a:stretch>
        </p:blipFill>
        <p:spPr>
          <a:xfrm>
            <a:off x="4427538" y="4941888"/>
            <a:ext cx="4105275" cy="1720850"/>
          </a:xfrm>
          <a:prstGeom prst="rect">
            <a:avLst/>
          </a:prstGeom>
          <a:noFill/>
          <a:ln w="9525">
            <a:noFill/>
          </a:ln>
        </p:spPr>
      </p:pic>
      <p:sp>
        <p:nvSpPr>
          <p:cNvPr id="52231" name="Rectangle 1036"/>
          <p:cNvSpPr/>
          <p:nvPr/>
        </p:nvSpPr>
        <p:spPr>
          <a:xfrm>
            <a:off x="1476375" y="4941888"/>
            <a:ext cx="2951163" cy="576262"/>
          </a:xfrm>
          <a:prstGeom prst="rect">
            <a:avLst/>
          </a:prstGeom>
          <a:noFill/>
          <a:ln w="9525">
            <a:noFill/>
          </a:ln>
        </p:spPr>
        <p:txBody>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342900" lvl="0" indent="-342900" eaLnBrk="1" hangingPunct="1">
              <a:buNone/>
            </a:pPr>
            <a:r>
              <a:rPr lang="zh-CN" altLang="en-US" sz="2400" dirty="0">
                <a:solidFill>
                  <a:schemeClr val="tx1"/>
                </a:solidFill>
                <a:latin typeface="楷体_GB2312" pitchFamily="49" charset="-122"/>
              </a:rPr>
              <a:t>游戏中称为抗锯齿。</a:t>
            </a:r>
            <a:endParaRPr lang="zh-CN" altLang="en-US" sz="2400" dirty="0">
              <a:solidFill>
                <a:schemeClr val="tx1"/>
              </a:solidFill>
              <a:latin typeface="楷体_GB2312" pitchFamily="49" charset="-122"/>
            </a:endParaRPr>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3250" name="Rectangle 7"/>
          <p:cNvSpPr/>
          <p:nvPr/>
        </p:nvSpPr>
        <p:spPr>
          <a:xfrm>
            <a:off x="1331913" y="836613"/>
            <a:ext cx="7345362" cy="19907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355600" eaLnBrk="1" hangingPunct="1">
              <a:lnSpc>
                <a:spcPct val="120000"/>
              </a:lnSpc>
              <a:buClr>
                <a:schemeClr val="hlink"/>
              </a:buClr>
              <a:buSzPct val="80000"/>
              <a:buNone/>
            </a:pPr>
            <a:r>
              <a:rPr lang="zh-CN" altLang="en-US" sz="3200" b="1" dirty="0">
                <a:solidFill>
                  <a:srgbClr val="3366FF"/>
                </a:solidFill>
                <a:ea typeface="隶书" panose="02010509060101010101" pitchFamily="49" charset="-122"/>
              </a:rPr>
              <a:t>  </a:t>
            </a:r>
            <a:r>
              <a:rPr lang="zh-CN" altLang="en-US" sz="2400" dirty="0">
                <a:solidFill>
                  <a:schemeClr val="tx1"/>
                </a:solidFill>
              </a:rPr>
              <a:t>光栅显示器为了在能整个屏幕上显示出图形，电子束需要从屏幕的左上角开始，沿着水平方向从左至右匀速地扫描，一直扫描到屏幕的右下角，显示出一帧图像。</a:t>
            </a:r>
            <a:endParaRPr lang="zh-CN" altLang="en-US" sz="2400" dirty="0">
              <a:solidFill>
                <a:schemeClr val="tx1"/>
              </a:solidFill>
            </a:endParaRPr>
          </a:p>
        </p:txBody>
      </p:sp>
      <p:sp>
        <p:nvSpPr>
          <p:cNvPr id="53251" name="Rectangle 8"/>
          <p:cNvSpPr/>
          <p:nvPr/>
        </p:nvSpPr>
        <p:spPr>
          <a:xfrm>
            <a:off x="1403350" y="260350"/>
            <a:ext cx="1800225" cy="57943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Char char="•"/>
            </a:pPr>
            <a:r>
              <a:rPr lang="zh-CN" altLang="en-US" sz="3200" b="1" dirty="0">
                <a:solidFill>
                  <a:schemeClr val="tx1"/>
                </a:solidFill>
                <a:ea typeface="宋体" panose="02010600030101010101" pitchFamily="2" charset="-122"/>
              </a:rPr>
              <a:t>扫描线</a:t>
            </a:r>
            <a:endParaRPr lang="zh-CN" altLang="en-US" sz="3200" b="1" dirty="0">
              <a:solidFill>
                <a:schemeClr val="tx1"/>
              </a:solidFill>
              <a:ea typeface="宋体" panose="02010600030101010101" pitchFamily="2" charset="-122"/>
            </a:endParaRPr>
          </a:p>
        </p:txBody>
      </p:sp>
      <p:graphicFrame>
        <p:nvGraphicFramePr>
          <p:cNvPr id="53252" name="Object 9"/>
          <p:cNvGraphicFramePr>
            <a:graphicFrameLocks noChangeAspect="1"/>
          </p:cNvGraphicFramePr>
          <p:nvPr/>
        </p:nvGraphicFramePr>
        <p:xfrm>
          <a:off x="3132138" y="2636838"/>
          <a:ext cx="3816350" cy="3816350"/>
        </p:xfrm>
        <a:graphic>
          <a:graphicData uri="http://schemas.openxmlformats.org/presentationml/2006/ole">
            <mc:AlternateContent xmlns:mc="http://schemas.openxmlformats.org/markup-compatibility/2006">
              <mc:Choice xmlns:v="urn:schemas-microsoft-com:vml" Requires="v">
                <p:oleObj spid="_x0000_s3086" name="" r:id="rId1" imgW="4302760" imgH="4302760" progId="Visio.Drawing.11">
                  <p:embed/>
                </p:oleObj>
              </mc:Choice>
              <mc:Fallback>
                <p:oleObj name="" r:id="rId1" imgW="4302760" imgH="4302760" progId="Visio.Drawing.11">
                  <p:embed/>
                  <p:pic>
                    <p:nvPicPr>
                      <p:cNvPr id="0" name="图片 3085"/>
                      <p:cNvPicPr/>
                      <p:nvPr/>
                    </p:nvPicPr>
                    <p:blipFill>
                      <a:blip r:embed="rId2">
                        <a:clrChange>
                          <a:clrFrom>
                            <a:srgbClr val="000000"/>
                          </a:clrFrom>
                          <a:clrTo>
                            <a:srgbClr val="000000"/>
                          </a:clrTo>
                        </a:clrChange>
                      </a:blip>
                      <a:stretch>
                        <a:fillRect/>
                      </a:stretch>
                    </p:blipFill>
                    <p:spPr>
                      <a:xfrm>
                        <a:off x="3132138" y="2636838"/>
                        <a:ext cx="3816350" cy="3816350"/>
                      </a:xfrm>
                      <a:prstGeom prst="rect">
                        <a:avLst/>
                      </a:prstGeom>
                      <a:noFill/>
                      <a:ln w="38100">
                        <a:noFill/>
                        <a:miter/>
                      </a:ln>
                    </p:spPr>
                  </p:pic>
                </p:oleObj>
              </mc:Fallback>
            </mc:AlternateContent>
          </a:graphicData>
        </a:graphic>
      </p:graphicFrame>
      <p:sp>
        <p:nvSpPr>
          <p:cNvPr id="53253" name="Line 10"/>
          <p:cNvSpPr/>
          <p:nvPr/>
        </p:nvSpPr>
        <p:spPr>
          <a:xfrm>
            <a:off x="3857625" y="4365625"/>
            <a:ext cx="2284413" cy="0"/>
          </a:xfrm>
          <a:prstGeom prst="line">
            <a:avLst/>
          </a:prstGeom>
          <a:ln w="9525" cap="flat" cmpd="sng">
            <a:solidFill>
              <a:schemeClr val="tx1"/>
            </a:solidFill>
            <a:prstDash val="solid"/>
            <a:headEnd type="none" w="med" len="med"/>
            <a:tailEnd type="none" w="med" len="med"/>
          </a:ln>
        </p:spPr>
      </p:sp>
      <p:sp>
        <p:nvSpPr>
          <p:cNvPr id="57350" name="AutoShape 12"/>
          <p:cNvSpPr/>
          <p:nvPr/>
        </p:nvSpPr>
        <p:spPr>
          <a:xfrm>
            <a:off x="7308850" y="4292600"/>
            <a:ext cx="1295400" cy="576263"/>
          </a:xfrm>
          <a:prstGeom prst="borderCallout1">
            <a:avLst>
              <a:gd name="adj1" fmla="val 19833"/>
              <a:gd name="adj2" fmla="val -5884"/>
              <a:gd name="adj3" fmla="val -168046"/>
              <a:gd name="adj4" fmla="val -111398"/>
            </a:avLst>
          </a:prstGeom>
          <a:noFill/>
          <a:ln w="317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ctr" eaLnBrk="1" hangingPunct="1">
              <a:spcBef>
                <a:spcPct val="0"/>
              </a:spcBef>
              <a:buClrTx/>
              <a:buSzTx/>
              <a:buFont typeface="Arial" panose="020B0604020202020204" pitchFamily="34" charset="0"/>
              <a:buNone/>
            </a:pPr>
            <a:r>
              <a:rPr lang="zh-CN" altLang="en-US" sz="2400" dirty="0">
                <a:solidFill>
                  <a:schemeClr val="tx1"/>
                </a:solidFill>
                <a:latin typeface="Arial Narrow" panose="020B0606020202030204" pitchFamily="34" charset="0"/>
              </a:rPr>
              <a:t>扫描线</a:t>
            </a:r>
            <a:endParaRPr lang="zh-CN" altLang="en-US" sz="2400" dirty="0">
              <a:solidFill>
                <a:schemeClr val="tx1"/>
              </a:solidFill>
              <a:latin typeface="Arial Narrow" panose="020B0606020202030204" pitchFamily="34"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7350"/>
                                        </p:tgtEl>
                                        <p:attrNameLst>
                                          <p:attrName>style.visibility</p:attrName>
                                        </p:attrNameLst>
                                      </p:cBhvr>
                                      <p:to>
                                        <p:strVal val="visible"/>
                                      </p:to>
                                    </p:set>
                                    <p:animEffect transition="in" filter="blinds(horizontal)">
                                      <p:cBhvr>
                                        <p:cTn id="7" dur="500"/>
                                        <p:tgtEl>
                                          <p:spTgt spid="573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0" grpId="0" animBg="1"/>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graphicFrame>
        <p:nvGraphicFramePr>
          <p:cNvPr id="54274" name="Object 7"/>
          <p:cNvGraphicFramePr>
            <a:graphicFrameLocks noGrp="1" noChangeAspect="1"/>
          </p:cNvGraphicFramePr>
          <p:nvPr>
            <p:ph idx="1"/>
          </p:nvPr>
        </p:nvGraphicFramePr>
        <p:xfrm>
          <a:off x="1258888" y="1628775"/>
          <a:ext cx="7451725" cy="3744913"/>
        </p:xfrm>
        <a:graphic>
          <a:graphicData uri="http://schemas.openxmlformats.org/presentationml/2006/ole">
            <mc:AlternateContent xmlns:mc="http://schemas.openxmlformats.org/markup-compatibility/2006">
              <mc:Choice xmlns:v="urn:schemas-microsoft-com:vml" Requires="v">
                <p:oleObj spid="_x0000_s3085" name="" r:id="rId1" imgW="10865485" imgH="4948555" progId="Visio.Drawing.11">
                  <p:embed/>
                </p:oleObj>
              </mc:Choice>
              <mc:Fallback>
                <p:oleObj name="" r:id="rId1" imgW="10865485" imgH="4948555" progId="Visio.Drawing.11">
                  <p:embed/>
                  <p:pic>
                    <p:nvPicPr>
                      <p:cNvPr id="0" name="图片 3084"/>
                      <p:cNvPicPr/>
                      <p:nvPr/>
                    </p:nvPicPr>
                    <p:blipFill>
                      <a:blip r:embed="rId2">
                        <a:clrChange>
                          <a:clrFrom>
                            <a:srgbClr val="000000"/>
                          </a:clrFrom>
                          <a:clrTo>
                            <a:srgbClr val="660033"/>
                          </a:clrTo>
                        </a:clrChange>
                      </a:blip>
                      <a:srcRect/>
                      <a:stretch>
                        <a:fillRect/>
                      </a:stretch>
                    </p:blipFill>
                    <p:spPr>
                      <a:xfrm>
                        <a:off x="1258888" y="1628775"/>
                        <a:ext cx="7451725" cy="3744913"/>
                      </a:xfrm>
                      <a:prstGeom prst="rect">
                        <a:avLst/>
                      </a:prstGeom>
                      <a:noFill/>
                      <a:ln w="38100">
                        <a:miter/>
                      </a:ln>
                    </p:spPr>
                  </p:pic>
                </p:oleObj>
              </mc:Fallback>
            </mc:AlternateContent>
          </a:graphicData>
        </a:graphic>
      </p:graphicFrame>
      <p:sp>
        <p:nvSpPr>
          <p:cNvPr id="54275" name="Rectangle 9"/>
          <p:cNvSpPr/>
          <p:nvPr/>
        </p:nvSpPr>
        <p:spPr>
          <a:xfrm>
            <a:off x="3851275" y="5734050"/>
            <a:ext cx="20129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50000"/>
              </a:spcBef>
              <a:buClrTx/>
              <a:buSzTx/>
              <a:buFont typeface="Arial" panose="020B0604020202020204" pitchFamily="34" charset="0"/>
              <a:buNone/>
            </a:pPr>
            <a:r>
              <a:rPr lang="zh-CN" altLang="en-US" sz="2400" dirty="0">
                <a:solidFill>
                  <a:schemeClr val="tx1"/>
                </a:solidFill>
              </a:rPr>
              <a:t>荫罩式显示器</a:t>
            </a:r>
            <a:endParaRPr lang="zh-CN" altLang="en-US" sz="2400" dirty="0">
              <a:solidFill>
                <a:schemeClr val="tx1"/>
              </a:solidFill>
            </a:endParaRPr>
          </a:p>
        </p:txBody>
      </p:sp>
      <p:sp>
        <p:nvSpPr>
          <p:cNvPr id="54276" name="Rectangle 10"/>
          <p:cNvSpPr/>
          <p:nvPr/>
        </p:nvSpPr>
        <p:spPr>
          <a:xfrm>
            <a:off x="1403350" y="260350"/>
            <a:ext cx="2736850" cy="57943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Char char="•"/>
            </a:pPr>
            <a:r>
              <a:rPr lang="zh-CN" altLang="en-US" sz="3200" b="1" dirty="0">
                <a:solidFill>
                  <a:schemeClr val="tx1"/>
                </a:solidFill>
                <a:ea typeface="宋体" panose="02010600030101010101" pitchFamily="2" charset="-122"/>
              </a:rPr>
              <a:t>彩色显示器</a:t>
            </a:r>
            <a:r>
              <a:rPr lang="zh-CN" altLang="en-US" sz="3200" dirty="0">
                <a:solidFill>
                  <a:schemeClr val="tx1"/>
                </a:solidFill>
                <a:ea typeface="宋体" panose="02010600030101010101" pitchFamily="2" charset="-122"/>
              </a:rPr>
              <a:t> </a:t>
            </a:r>
            <a:endParaRPr lang="zh-CN" altLang="en-US" sz="3200" dirty="0">
              <a:solidFill>
                <a:schemeClr val="tx1"/>
              </a:solidFill>
              <a:ea typeface="宋体" panose="02010600030101010101" pitchFamily="2" charset="-122"/>
            </a:endParaRPr>
          </a:p>
        </p:txBody>
      </p:sp>
      <p:sp>
        <p:nvSpPr>
          <p:cNvPr id="54277" name="Text Box 11"/>
          <p:cNvSpPr txBox="1"/>
          <p:nvPr/>
        </p:nvSpPr>
        <p:spPr>
          <a:xfrm>
            <a:off x="1692275" y="3213100"/>
            <a:ext cx="158432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50000"/>
              </a:spcBef>
              <a:buClrTx/>
              <a:buSzTx/>
              <a:buFont typeface="Arial" panose="020B0604020202020204" pitchFamily="34" charset="0"/>
              <a:buNone/>
            </a:pPr>
            <a:r>
              <a:rPr lang="zh-CN" altLang="en-US" sz="2400" dirty="0">
                <a:solidFill>
                  <a:schemeClr val="tx1"/>
                </a:solidFill>
              </a:rPr>
              <a:t>电子枪</a:t>
            </a:r>
            <a:endParaRPr lang="zh-CN" altLang="en-US" sz="2400" dirty="0">
              <a:solidFill>
                <a:schemeClr val="tx1"/>
              </a:solidFill>
            </a:endParaRPr>
          </a:p>
        </p:txBody>
      </p:sp>
      <p:sp>
        <p:nvSpPr>
          <p:cNvPr id="54278" name="Text Box 12"/>
          <p:cNvSpPr txBox="1"/>
          <p:nvPr/>
        </p:nvSpPr>
        <p:spPr>
          <a:xfrm>
            <a:off x="3851275" y="1989138"/>
            <a:ext cx="1296988"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50000"/>
              </a:spcBef>
              <a:buClrTx/>
              <a:buSzTx/>
              <a:buFont typeface="Arial" panose="020B0604020202020204" pitchFamily="34" charset="0"/>
              <a:buNone/>
            </a:pPr>
            <a:r>
              <a:rPr lang="zh-CN" altLang="en-US" sz="2400" dirty="0">
                <a:solidFill>
                  <a:schemeClr val="tx1"/>
                </a:solidFill>
              </a:rPr>
              <a:t>荫罩板</a:t>
            </a:r>
            <a:endParaRPr lang="zh-CN" altLang="en-US" sz="2400" dirty="0">
              <a:solidFill>
                <a:schemeClr val="tx1"/>
              </a:solidFill>
            </a:endParaRPr>
          </a:p>
        </p:txBody>
      </p:sp>
      <p:sp>
        <p:nvSpPr>
          <p:cNvPr id="54279" name="Text Box 13"/>
          <p:cNvSpPr txBox="1"/>
          <p:nvPr/>
        </p:nvSpPr>
        <p:spPr>
          <a:xfrm>
            <a:off x="6948488" y="908050"/>
            <a:ext cx="158432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50000"/>
              </a:spcBef>
              <a:buClrTx/>
              <a:buSzTx/>
              <a:buFont typeface="Arial" panose="020B0604020202020204" pitchFamily="34" charset="0"/>
              <a:buNone/>
            </a:pPr>
            <a:r>
              <a:rPr lang="zh-CN" altLang="en-US" sz="2400" dirty="0">
                <a:solidFill>
                  <a:schemeClr val="tx1"/>
                </a:solidFill>
              </a:rPr>
              <a:t>荧光屏</a:t>
            </a:r>
            <a:endParaRPr lang="zh-CN" altLang="en-US" sz="2400" dirty="0">
              <a:solidFill>
                <a:schemeClr val="tx1"/>
              </a:solidFill>
            </a:endParaRPr>
          </a:p>
        </p:txBody>
      </p:sp>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graphicFrame>
        <p:nvGraphicFramePr>
          <p:cNvPr id="55298" name="Object 7"/>
          <p:cNvGraphicFramePr>
            <a:graphicFrameLocks noGrp="1" noChangeAspect="1"/>
          </p:cNvGraphicFramePr>
          <p:nvPr>
            <p:ph idx="1"/>
          </p:nvPr>
        </p:nvGraphicFramePr>
        <p:xfrm>
          <a:off x="2051050" y="1916113"/>
          <a:ext cx="6481763" cy="3548062"/>
        </p:xfrm>
        <a:graphic>
          <a:graphicData uri="http://schemas.openxmlformats.org/presentationml/2006/ole">
            <mc:AlternateContent xmlns:mc="http://schemas.openxmlformats.org/markup-compatibility/2006">
              <mc:Choice xmlns:v="urn:schemas-microsoft-com:vml" Requires="v">
                <p:oleObj spid="_x0000_s3088" name="" r:id="rId1" imgW="4079240" imgH="2393315" progId="Visio.Drawing.11">
                  <p:embed/>
                </p:oleObj>
              </mc:Choice>
              <mc:Fallback>
                <p:oleObj name="" r:id="rId1" imgW="4079240" imgH="2393315" progId="Visio.Drawing.11">
                  <p:embed/>
                  <p:pic>
                    <p:nvPicPr>
                      <p:cNvPr id="0" name="图片 3087"/>
                      <p:cNvPicPr/>
                      <p:nvPr/>
                    </p:nvPicPr>
                    <p:blipFill>
                      <a:blip r:embed="rId2">
                        <a:clrChange>
                          <a:clrFrom>
                            <a:srgbClr val="000000"/>
                          </a:clrFrom>
                          <a:clrTo>
                            <a:srgbClr val="000000"/>
                          </a:clrTo>
                        </a:clrChange>
                      </a:blip>
                      <a:srcRect l="4370" t="7434" r="4535" b="7713"/>
                      <a:stretch>
                        <a:fillRect/>
                      </a:stretch>
                    </p:blipFill>
                    <p:spPr>
                      <a:xfrm>
                        <a:off x="2051050" y="1916113"/>
                        <a:ext cx="6481763" cy="3548062"/>
                      </a:xfrm>
                      <a:prstGeom prst="rect">
                        <a:avLst/>
                      </a:prstGeom>
                      <a:noFill/>
                      <a:ln w="38100">
                        <a:miter/>
                      </a:ln>
                    </p:spPr>
                  </p:pic>
                </p:oleObj>
              </mc:Fallback>
            </mc:AlternateContent>
          </a:graphicData>
        </a:graphic>
      </p:graphicFrame>
      <p:sp>
        <p:nvSpPr>
          <p:cNvPr id="55299" name="Rectangle 9"/>
          <p:cNvSpPr/>
          <p:nvPr/>
        </p:nvSpPr>
        <p:spPr>
          <a:xfrm>
            <a:off x="4356100" y="5734050"/>
            <a:ext cx="1835150" cy="579438"/>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zh-CN" altLang="en-US" sz="2400" dirty="0">
                <a:solidFill>
                  <a:schemeClr val="tx1"/>
                </a:solidFill>
              </a:rPr>
              <a:t>荧光点图案</a:t>
            </a:r>
            <a:r>
              <a:rPr lang="zh-CN" altLang="en-US" sz="3200" dirty="0">
                <a:solidFill>
                  <a:schemeClr val="tx1"/>
                </a:solidFill>
                <a:ea typeface="宋体" panose="02010600030101010101" pitchFamily="2" charset="-122"/>
              </a:rPr>
              <a:t> </a:t>
            </a:r>
            <a:endParaRPr lang="zh-CN" altLang="en-US" sz="3200" dirty="0">
              <a:solidFill>
                <a:schemeClr val="tx1"/>
              </a:solidFill>
              <a:ea typeface="宋体" panose="02010600030101010101" pitchFamily="2" charset="-122"/>
            </a:endParaRPr>
          </a:p>
        </p:txBody>
      </p:sp>
      <p:sp>
        <p:nvSpPr>
          <p:cNvPr id="55300" name="Rectangle 10"/>
          <p:cNvSpPr/>
          <p:nvPr/>
        </p:nvSpPr>
        <p:spPr>
          <a:xfrm>
            <a:off x="1403350" y="260350"/>
            <a:ext cx="2663825" cy="57943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Char char="•"/>
            </a:pPr>
            <a:r>
              <a:rPr lang="zh-CN" altLang="en-US" sz="3200" b="1" dirty="0">
                <a:solidFill>
                  <a:schemeClr val="tx1"/>
                </a:solidFill>
                <a:ea typeface="宋体" panose="02010600030101010101" pitchFamily="2" charset="-122"/>
              </a:rPr>
              <a:t>荧光点图案</a:t>
            </a:r>
            <a:endParaRPr lang="zh-CN" altLang="en-US" sz="3200" b="1" dirty="0">
              <a:solidFill>
                <a:schemeClr val="tx1"/>
              </a:solidFill>
              <a:ea typeface="宋体" panose="02010600030101010101" pitchFamily="2" charset="-122"/>
            </a:endParaRPr>
          </a:p>
        </p:txBody>
      </p:sp>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6322" name="Rectangle 12"/>
          <p:cNvSpPr/>
          <p:nvPr/>
        </p:nvSpPr>
        <p:spPr>
          <a:xfrm>
            <a:off x="1403350" y="260350"/>
            <a:ext cx="2663825" cy="57943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Char char="•"/>
            </a:pPr>
            <a:r>
              <a:rPr lang="zh-CN" altLang="en-US" sz="3200" b="1" dirty="0">
                <a:solidFill>
                  <a:schemeClr val="tx1"/>
                </a:solidFill>
                <a:ea typeface="宋体" panose="02010600030101010101" pitchFamily="2" charset="-122"/>
              </a:rPr>
              <a:t>荫罩板</a:t>
            </a:r>
            <a:r>
              <a:rPr lang="zh-CN" altLang="en-US" sz="3200" dirty="0">
                <a:solidFill>
                  <a:schemeClr val="tx1"/>
                </a:solidFill>
                <a:ea typeface="宋体" panose="02010600030101010101" pitchFamily="2" charset="-122"/>
              </a:rPr>
              <a:t> </a:t>
            </a:r>
            <a:endParaRPr lang="zh-CN" altLang="en-US" sz="3200" dirty="0">
              <a:solidFill>
                <a:schemeClr val="tx1"/>
              </a:solidFill>
              <a:ea typeface="宋体" panose="02010600030101010101" pitchFamily="2" charset="-122"/>
            </a:endParaRPr>
          </a:p>
        </p:txBody>
      </p:sp>
      <p:pic>
        <p:nvPicPr>
          <p:cNvPr id="56323" name="Picture 13" descr="guangxiang"/>
          <p:cNvPicPr>
            <a:picLocks noChangeAspect="1"/>
          </p:cNvPicPr>
          <p:nvPr/>
        </p:nvPicPr>
        <p:blipFill>
          <a:blip r:embed="rId1"/>
          <a:srcRect l="11307" t="22862" r="16962" b="9851"/>
          <a:stretch>
            <a:fillRect/>
          </a:stretch>
        </p:blipFill>
        <p:spPr>
          <a:xfrm>
            <a:off x="2124075" y="1484313"/>
            <a:ext cx="6048375" cy="4283075"/>
          </a:xfrm>
          <a:prstGeom prst="rect">
            <a:avLst/>
          </a:prstGeom>
          <a:noFill/>
          <a:ln w="9525">
            <a:noFill/>
          </a:ln>
        </p:spPr>
      </p:pic>
    </p:spTree>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7346" name="Rectangle 6"/>
          <p:cNvSpPr>
            <a:spLocks noGrp="1"/>
          </p:cNvSpPr>
          <p:nvPr>
            <p:ph type="body" idx="4294967295"/>
          </p:nvPr>
        </p:nvSpPr>
        <p:spPr>
          <a:xfrm>
            <a:off x="1403350" y="1196975"/>
            <a:ext cx="7272338" cy="1874838"/>
          </a:xfrm>
          <a:ln/>
        </p:spPr>
        <p:txBody>
          <a:bodyPr vert="horz" wrap="square" lIns="91440" tIns="45720" rIns="91440" bIns="45720" anchor="t" anchorCtr="0"/>
          <a:p>
            <a:pPr marL="0" indent="355600" eaLnBrk="1" hangingPunct="1">
              <a:buNone/>
            </a:pPr>
            <a:r>
              <a:rPr lang="zh-CN" altLang="en-US" sz="2400" dirty="0">
                <a:solidFill>
                  <a:schemeClr val="tx1"/>
                </a:solidFill>
              </a:rPr>
              <a:t>帧缓冲器（</a:t>
            </a:r>
            <a:r>
              <a:rPr lang="en-US" altLang="zh-CN" sz="2400" dirty="0">
                <a:solidFill>
                  <a:schemeClr val="tx1"/>
                </a:solidFill>
              </a:rPr>
              <a:t>frame buffer</a:t>
            </a:r>
            <a:r>
              <a:rPr lang="zh-CN" altLang="en-US" sz="2400" dirty="0">
                <a:solidFill>
                  <a:schemeClr val="tx1"/>
                </a:solidFill>
              </a:rPr>
              <a:t>）是显存内用于存储一帧图像的一片连续内存空间。光栅扫描显示器使用帧缓冲存储屏幕上每个像素的颜色信息，帧缓冲使用位面（</a:t>
            </a:r>
            <a:r>
              <a:rPr lang="en-US" altLang="zh-CN" sz="2400" dirty="0">
                <a:solidFill>
                  <a:schemeClr val="tx1"/>
                </a:solidFill>
              </a:rPr>
              <a:t>bit plane</a:t>
            </a:r>
            <a:r>
              <a:rPr lang="zh-CN" altLang="en-US" sz="2400" dirty="0">
                <a:solidFill>
                  <a:schemeClr val="tx1"/>
                </a:solidFill>
              </a:rPr>
              <a:t>）与屏幕像素一一对应。</a:t>
            </a:r>
            <a:endParaRPr lang="zh-CN" altLang="en-US" sz="2400" dirty="0">
              <a:solidFill>
                <a:schemeClr val="tx1"/>
              </a:solidFill>
            </a:endParaRPr>
          </a:p>
          <a:p>
            <a:pPr marL="0" indent="355600" eaLnBrk="1" hangingPunct="1">
              <a:buNone/>
            </a:pPr>
            <a:endParaRPr lang="zh-CN" altLang="en-US" sz="2400" dirty="0">
              <a:solidFill>
                <a:schemeClr val="tx1"/>
              </a:solidFill>
              <a:latin typeface="新宋体-18030" pitchFamily="2" charset="-122"/>
              <a:ea typeface="新宋体-18030" pitchFamily="2" charset="-122"/>
            </a:endParaRPr>
          </a:p>
        </p:txBody>
      </p:sp>
      <p:sp>
        <p:nvSpPr>
          <p:cNvPr id="57347" name="Rectangle 8"/>
          <p:cNvSpPr/>
          <p:nvPr/>
        </p:nvSpPr>
        <p:spPr>
          <a:xfrm>
            <a:off x="1403350" y="333375"/>
            <a:ext cx="3240088" cy="57943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Char char="•"/>
            </a:pPr>
            <a:r>
              <a:rPr lang="zh-CN" altLang="en-US" sz="3200" b="1" dirty="0">
                <a:solidFill>
                  <a:schemeClr val="tx1"/>
                </a:solidFill>
                <a:ea typeface="宋体" panose="02010600030101010101" pitchFamily="2" charset="-122"/>
              </a:rPr>
              <a:t>帧缓冲器</a:t>
            </a:r>
            <a:endParaRPr lang="zh-CN" altLang="en-US" sz="3200" b="1" dirty="0">
              <a:solidFill>
                <a:schemeClr val="tx1"/>
              </a:solidFill>
              <a:ea typeface="宋体" panose="02010600030101010101" pitchFamily="2" charset="-122"/>
            </a:endParaRPr>
          </a:p>
        </p:txBody>
      </p:sp>
      <p:graphicFrame>
        <p:nvGraphicFramePr>
          <p:cNvPr id="57348" name="Object 2"/>
          <p:cNvGraphicFramePr>
            <a:graphicFrameLocks noChangeAspect="1"/>
          </p:cNvGraphicFramePr>
          <p:nvPr/>
        </p:nvGraphicFramePr>
        <p:xfrm>
          <a:off x="1571625" y="3286125"/>
          <a:ext cx="2786063" cy="2500313"/>
        </p:xfrm>
        <a:graphic>
          <a:graphicData uri="http://schemas.openxmlformats.org/presentationml/2006/ole">
            <mc:AlternateContent xmlns:mc="http://schemas.openxmlformats.org/markup-compatibility/2006">
              <mc:Choice xmlns:v="urn:schemas-microsoft-com:vml" Requires="v">
                <p:oleObj spid="_x0000_s3080" name="" r:id="rId1" imgW="3649345" imgH="3283585" progId="Visio.Drawing.11">
                  <p:embed/>
                </p:oleObj>
              </mc:Choice>
              <mc:Fallback>
                <p:oleObj name="" r:id="rId1" imgW="3649345" imgH="3283585" progId="Visio.Drawing.11">
                  <p:embed/>
                  <p:pic>
                    <p:nvPicPr>
                      <p:cNvPr id="0" name="图片 3079"/>
                      <p:cNvPicPr/>
                      <p:nvPr/>
                    </p:nvPicPr>
                    <p:blipFill>
                      <a:blip r:embed="rId2"/>
                      <a:stretch>
                        <a:fillRect/>
                      </a:stretch>
                    </p:blipFill>
                    <p:spPr>
                      <a:xfrm>
                        <a:off x="1571625" y="3286125"/>
                        <a:ext cx="2786063" cy="2500313"/>
                      </a:xfrm>
                      <a:prstGeom prst="rect">
                        <a:avLst/>
                      </a:prstGeom>
                      <a:noFill/>
                      <a:ln w="38100">
                        <a:noFill/>
                        <a:miter/>
                      </a:ln>
                    </p:spPr>
                  </p:pic>
                </p:oleObj>
              </mc:Fallback>
            </mc:AlternateContent>
          </a:graphicData>
        </a:graphic>
      </p:graphicFrame>
      <p:graphicFrame>
        <p:nvGraphicFramePr>
          <p:cNvPr id="57349" name="Object 1"/>
          <p:cNvGraphicFramePr>
            <a:graphicFrameLocks noChangeAspect="1"/>
          </p:cNvGraphicFramePr>
          <p:nvPr/>
        </p:nvGraphicFramePr>
        <p:xfrm>
          <a:off x="4500563" y="3286125"/>
          <a:ext cx="3948112" cy="2147888"/>
        </p:xfrm>
        <a:graphic>
          <a:graphicData uri="http://schemas.openxmlformats.org/presentationml/2006/ole">
            <mc:AlternateContent xmlns:mc="http://schemas.openxmlformats.org/markup-compatibility/2006">
              <mc:Choice xmlns:v="urn:schemas-microsoft-com:vml" Requires="v">
                <p:oleObj spid="_x0000_s3081" name="" r:id="rId3" imgW="6138545" imgH="3347720" progId="Visio.Drawing.11">
                  <p:embed/>
                </p:oleObj>
              </mc:Choice>
              <mc:Fallback>
                <p:oleObj name="" r:id="rId3" imgW="6138545" imgH="3347720" progId="Visio.Drawing.11">
                  <p:embed/>
                  <p:pic>
                    <p:nvPicPr>
                      <p:cNvPr id="0" name="图片 3080"/>
                      <p:cNvPicPr/>
                      <p:nvPr/>
                    </p:nvPicPr>
                    <p:blipFill>
                      <a:blip r:embed="rId4"/>
                      <a:stretch>
                        <a:fillRect/>
                      </a:stretch>
                    </p:blipFill>
                    <p:spPr>
                      <a:xfrm>
                        <a:off x="4500563" y="3286125"/>
                        <a:ext cx="3948112" cy="2147888"/>
                      </a:xfrm>
                      <a:prstGeom prst="rect">
                        <a:avLst/>
                      </a:prstGeom>
                      <a:noFill/>
                      <a:ln w="38100">
                        <a:noFill/>
                        <a:miter/>
                      </a:ln>
                    </p:spPr>
                  </p:pic>
                </p:oleObj>
              </mc:Fallback>
            </mc:AlternateContent>
          </a:graphicData>
        </a:graphic>
      </p:graphicFrame>
      <p:sp>
        <p:nvSpPr>
          <p:cNvPr id="124931" name="Rectangle 3"/>
          <p:cNvSpPr>
            <a:spLocks noChangeArrowheads="1"/>
          </p:cNvSpPr>
          <p:nvPr/>
        </p:nvSpPr>
        <p:spPr bwMode="auto">
          <a:xfrm>
            <a:off x="0" y="0"/>
            <a:ext cx="9144000" cy="457200"/>
          </a:xfrm>
          <a:prstGeom prst="rect">
            <a:avLst/>
          </a:prstGeom>
          <a:noFill/>
          <a:ln w="9525" cap="flat" cmpd="sng">
            <a:noFill/>
            <a:miter lim="800000"/>
          </a:ln>
          <a:effectLst>
            <a:prstShdw prst="shdw17" dist="17961" dir="27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8370" name="Rectangle 6"/>
          <p:cNvSpPr>
            <a:spLocks noGrp="1"/>
          </p:cNvSpPr>
          <p:nvPr>
            <p:ph type="body" idx="4294967295"/>
          </p:nvPr>
        </p:nvSpPr>
        <p:spPr>
          <a:xfrm>
            <a:off x="1403350" y="1196975"/>
            <a:ext cx="7272338" cy="1366838"/>
          </a:xfrm>
          <a:ln/>
        </p:spPr>
        <p:txBody>
          <a:bodyPr vert="horz" wrap="square" lIns="91440" tIns="45720" rIns="91440" bIns="45720" anchor="t" anchorCtr="0"/>
          <a:p>
            <a:pPr marL="0" indent="355600" eaLnBrk="1" hangingPunct="1">
              <a:buNone/>
            </a:pPr>
            <a:r>
              <a:rPr lang="zh-CN" altLang="en-US" sz="2400" dirty="0">
                <a:solidFill>
                  <a:schemeClr val="tx1"/>
                </a:solidFill>
                <a:latin typeface="楷体_GB2312" pitchFamily="49" charset="-122"/>
              </a:rPr>
              <a:t>  如果屏幕上每个像素的颜色只用一位（</a:t>
            </a:r>
            <a:r>
              <a:rPr lang="en-US" altLang="zh-CN" sz="2400" dirty="0">
                <a:solidFill>
                  <a:schemeClr val="tx1"/>
                </a:solidFill>
                <a:latin typeface="楷体_GB2312" pitchFamily="49" charset="-122"/>
              </a:rPr>
              <a:t>Bit</a:t>
            </a:r>
            <a:r>
              <a:rPr lang="zh-CN" altLang="en-US" sz="2400" dirty="0">
                <a:solidFill>
                  <a:schemeClr val="tx1"/>
                </a:solidFill>
                <a:latin typeface="楷体_GB2312" pitchFamily="49" charset="-122"/>
              </a:rPr>
              <a:t>）表示，其值非</a:t>
            </a:r>
            <a:r>
              <a:rPr lang="en-US" altLang="zh-CN" sz="2400" dirty="0">
                <a:solidFill>
                  <a:schemeClr val="tx1"/>
                </a:solidFill>
                <a:latin typeface="楷体_GB2312" pitchFamily="49" charset="-122"/>
              </a:rPr>
              <a:t>0</a:t>
            </a:r>
            <a:r>
              <a:rPr lang="zh-CN" altLang="en-US" sz="2400" dirty="0">
                <a:solidFill>
                  <a:schemeClr val="tx1"/>
                </a:solidFill>
                <a:latin typeface="楷体_GB2312" pitchFamily="49" charset="-122"/>
              </a:rPr>
              <a:t>即</a:t>
            </a:r>
            <a:r>
              <a:rPr lang="en-US" altLang="zh-CN" sz="2400" dirty="0">
                <a:solidFill>
                  <a:schemeClr val="tx1"/>
                </a:solidFill>
                <a:latin typeface="楷体_GB2312" pitchFamily="49" charset="-122"/>
              </a:rPr>
              <a:t>1</a:t>
            </a:r>
            <a:r>
              <a:rPr lang="zh-CN" altLang="en-US" sz="2400" dirty="0">
                <a:solidFill>
                  <a:schemeClr val="tx1"/>
                </a:solidFill>
                <a:latin typeface="楷体_GB2312" pitchFamily="49" charset="-122"/>
              </a:rPr>
              <a:t>，屏幕只能显示黑白二色图像，称为黑白显示器，此时帧缓冲器只有一个位面。</a:t>
            </a:r>
            <a:r>
              <a:rPr lang="zh-CN" altLang="en-US" sz="2400" dirty="0">
                <a:solidFill>
                  <a:schemeClr val="tx1"/>
                </a:solidFill>
                <a:latin typeface="新宋体-18030" pitchFamily="2" charset="-122"/>
                <a:ea typeface="新宋体-18030" pitchFamily="2" charset="-122"/>
              </a:rPr>
              <a:t>  </a:t>
            </a:r>
            <a:endParaRPr lang="zh-CN" altLang="en-US" sz="2400" dirty="0">
              <a:solidFill>
                <a:schemeClr val="tx1"/>
              </a:solidFill>
              <a:latin typeface="新宋体-18030" pitchFamily="2" charset="-122"/>
              <a:ea typeface="新宋体-18030" pitchFamily="2" charset="-122"/>
            </a:endParaRPr>
          </a:p>
        </p:txBody>
      </p:sp>
      <p:sp>
        <p:nvSpPr>
          <p:cNvPr id="58371" name="Rectangle 8"/>
          <p:cNvSpPr/>
          <p:nvPr/>
        </p:nvSpPr>
        <p:spPr>
          <a:xfrm>
            <a:off x="1403350" y="333375"/>
            <a:ext cx="3240088" cy="57943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Char char="•"/>
            </a:pPr>
            <a:r>
              <a:rPr lang="zh-CN" altLang="en-US" sz="3200" b="1" dirty="0">
                <a:solidFill>
                  <a:schemeClr val="tx1"/>
                </a:solidFill>
                <a:ea typeface="宋体" panose="02010600030101010101" pitchFamily="2" charset="-122"/>
              </a:rPr>
              <a:t>位面与帧缓冲器</a:t>
            </a:r>
            <a:endParaRPr lang="zh-CN" altLang="en-US" sz="3200" b="1" dirty="0">
              <a:solidFill>
                <a:schemeClr val="tx1"/>
              </a:solidFill>
              <a:ea typeface="宋体" panose="02010600030101010101" pitchFamily="2" charset="-122"/>
            </a:endParaRPr>
          </a:p>
        </p:txBody>
      </p:sp>
      <p:pic>
        <p:nvPicPr>
          <p:cNvPr id="61444" name="Picture 9" descr="二值图片"/>
          <p:cNvPicPr>
            <a:picLocks noChangeAspect="1"/>
          </p:cNvPicPr>
          <p:nvPr/>
        </p:nvPicPr>
        <p:blipFill>
          <a:blip r:embed="rId1"/>
          <a:stretch>
            <a:fillRect/>
          </a:stretch>
        </p:blipFill>
        <p:spPr>
          <a:xfrm>
            <a:off x="3276600" y="2636838"/>
            <a:ext cx="3240088" cy="3240087"/>
          </a:xfrm>
          <a:prstGeom prst="rect">
            <a:avLst/>
          </a:prstGeom>
          <a:noFill/>
          <a:ln w="9525">
            <a:noFill/>
          </a:ln>
        </p:spPr>
      </p:pic>
      <p:sp>
        <p:nvSpPr>
          <p:cNvPr id="61445" name="Text Box 10"/>
          <p:cNvSpPr txBox="1"/>
          <p:nvPr/>
        </p:nvSpPr>
        <p:spPr>
          <a:xfrm>
            <a:off x="4140200" y="6165850"/>
            <a:ext cx="180022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50000"/>
              </a:spcBef>
              <a:buClrTx/>
              <a:buSzTx/>
              <a:buFont typeface="Arial" panose="020B0604020202020204" pitchFamily="34" charset="0"/>
              <a:buNone/>
            </a:pPr>
            <a:r>
              <a:rPr lang="zh-CN" altLang="en-US" sz="2400" dirty="0">
                <a:solidFill>
                  <a:schemeClr val="tx1"/>
                </a:solidFill>
                <a:latin typeface="楷体_GB2312" pitchFamily="49" charset="-122"/>
              </a:rPr>
              <a:t>二值图像</a:t>
            </a:r>
            <a:endParaRPr lang="zh-CN" altLang="en-US" sz="2400" dirty="0">
              <a:solidFill>
                <a:schemeClr val="tx1"/>
              </a:solidFill>
              <a:latin typeface="楷体_GB2312" pitchFamily="49"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5" grpId="0"/>
    </p:bld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59394" name="Rectangle 5"/>
          <p:cNvSpPr>
            <a:spLocks noGrp="1"/>
          </p:cNvSpPr>
          <p:nvPr>
            <p:ph type="title" idx="4294967295"/>
          </p:nvPr>
        </p:nvSpPr>
        <p:spPr>
          <a:xfrm>
            <a:off x="1187450" y="188913"/>
            <a:ext cx="1728788" cy="579437"/>
          </a:xfrm>
          <a:ln/>
        </p:spPr>
        <p:txBody>
          <a:bodyPr vert="horz" wrap="square" lIns="91440" tIns="45720" rIns="91440" bIns="45720" anchor="t" anchorCtr="0">
            <a:spAutoFit/>
          </a:bodyPr>
          <a:p>
            <a:pPr algn="l" eaLnBrk="1" hangingPunct="1">
              <a:buChar char="•"/>
            </a:pPr>
            <a:r>
              <a:rPr lang="en-US" altLang="zh-CN" sz="3200" dirty="0">
                <a:solidFill>
                  <a:schemeClr val="tx1"/>
                </a:solidFill>
              </a:rPr>
              <a:t>1</a:t>
            </a:r>
            <a:r>
              <a:rPr lang="zh-CN" altLang="en-US" sz="3200" dirty="0">
                <a:solidFill>
                  <a:schemeClr val="tx1"/>
                </a:solidFill>
              </a:rPr>
              <a:t>位面</a:t>
            </a:r>
            <a:endParaRPr lang="zh-CN" altLang="en-US" sz="3200" dirty="0">
              <a:solidFill>
                <a:schemeClr val="tx1"/>
              </a:solidFill>
            </a:endParaRPr>
          </a:p>
        </p:txBody>
      </p:sp>
      <p:graphicFrame>
        <p:nvGraphicFramePr>
          <p:cNvPr id="59395" name="Object 8"/>
          <p:cNvGraphicFramePr>
            <a:graphicFrameLocks noGrp="1" noChangeAspect="1"/>
          </p:cNvGraphicFramePr>
          <p:nvPr>
            <p:ph idx="1"/>
          </p:nvPr>
        </p:nvGraphicFramePr>
        <p:xfrm>
          <a:off x="1643063" y="1071563"/>
          <a:ext cx="7000875" cy="2897187"/>
        </p:xfrm>
        <a:graphic>
          <a:graphicData uri="http://schemas.openxmlformats.org/presentationml/2006/ole">
            <mc:AlternateContent xmlns:mc="http://schemas.openxmlformats.org/markup-compatibility/2006">
              <mc:Choice xmlns:v="urn:schemas-microsoft-com:vml" Requires="v">
                <p:oleObj spid="_x0000_s3079" name="" r:id="rId1" imgW="8645525" imgH="3253740" progId="Visio.Drawing.11">
                  <p:embed/>
                </p:oleObj>
              </mc:Choice>
              <mc:Fallback>
                <p:oleObj name="" r:id="rId1" imgW="8645525" imgH="3253740" progId="Visio.Drawing.11">
                  <p:embed/>
                  <p:pic>
                    <p:nvPicPr>
                      <p:cNvPr id="0" name="图片 3078"/>
                      <p:cNvPicPr/>
                      <p:nvPr/>
                    </p:nvPicPr>
                    <p:blipFill>
                      <a:blip r:embed="rId2"/>
                      <a:srcRect/>
                      <a:stretch>
                        <a:fillRect/>
                      </a:stretch>
                    </p:blipFill>
                    <p:spPr>
                      <a:xfrm>
                        <a:off x="1643063" y="1071563"/>
                        <a:ext cx="7000875" cy="2897187"/>
                      </a:xfrm>
                      <a:prstGeom prst="rect">
                        <a:avLst/>
                      </a:prstGeom>
                      <a:noFill/>
                      <a:ln w="38100">
                        <a:miter/>
                      </a:ln>
                    </p:spPr>
                  </p:pic>
                </p:oleObj>
              </mc:Fallback>
            </mc:AlternateContent>
          </a:graphicData>
        </a:graphic>
      </p:graphicFrame>
      <p:sp>
        <p:nvSpPr>
          <p:cNvPr id="62468" name="AutoShape 10"/>
          <p:cNvSpPr/>
          <p:nvPr/>
        </p:nvSpPr>
        <p:spPr>
          <a:xfrm>
            <a:off x="4286250" y="3214688"/>
            <a:ext cx="1363663" cy="504825"/>
          </a:xfrm>
          <a:prstGeom prst="borderCallout1">
            <a:avLst>
              <a:gd name="adj1" fmla="val 22644"/>
              <a:gd name="adj2" fmla="val -5588"/>
              <a:gd name="adj3" fmla="val -124213"/>
              <a:gd name="adj4" fmla="val -67519"/>
            </a:avLst>
          </a:prstGeom>
          <a:noFill/>
          <a:ln w="317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ctr" eaLnBrk="1" hangingPunct="1">
              <a:spcBef>
                <a:spcPct val="0"/>
              </a:spcBef>
              <a:buClrTx/>
              <a:buSzTx/>
              <a:buFont typeface="Arial" panose="020B0604020202020204" pitchFamily="34" charset="0"/>
              <a:buNone/>
            </a:pPr>
            <a:r>
              <a:rPr lang="zh-CN" altLang="en-US" sz="2400" dirty="0">
                <a:solidFill>
                  <a:schemeClr val="tx1"/>
                </a:solidFill>
                <a:latin typeface="Arial Narrow" panose="020B0606020202030204" pitchFamily="34" charset="0"/>
                <a:ea typeface="宋体" panose="02010600030101010101" pitchFamily="2" charset="-122"/>
              </a:rPr>
              <a:t>位面</a:t>
            </a:r>
            <a:endParaRPr lang="zh-CN" altLang="en-US" sz="2400" dirty="0">
              <a:solidFill>
                <a:schemeClr val="tx1"/>
              </a:solidFill>
              <a:latin typeface="Arial Narrow" panose="020B0606020202030204" pitchFamily="34" charset="0"/>
              <a:ea typeface="宋体" panose="02010600030101010101" pitchFamily="2" charset="-122"/>
            </a:endParaRPr>
          </a:p>
        </p:txBody>
      </p:sp>
      <p:sp>
        <p:nvSpPr>
          <p:cNvPr id="59397" name="Rectangle 11"/>
          <p:cNvSpPr/>
          <p:nvPr/>
        </p:nvSpPr>
        <p:spPr>
          <a:xfrm rot="-10755747" flipV="1">
            <a:off x="4075113" y="6084888"/>
            <a:ext cx="2065337" cy="4000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en-US" altLang="zh-CN" sz="2000" dirty="0">
                <a:solidFill>
                  <a:schemeClr val="tx1"/>
                </a:solidFill>
                <a:latin typeface="楷体_GB2312" pitchFamily="49" charset="-122"/>
              </a:rPr>
              <a:t>1</a:t>
            </a:r>
            <a:r>
              <a:rPr lang="zh-CN" altLang="en-US" sz="2000" dirty="0">
                <a:solidFill>
                  <a:schemeClr val="tx1"/>
                </a:solidFill>
                <a:latin typeface="楷体_GB2312" pitchFamily="49" charset="-122"/>
              </a:rPr>
              <a:t>位面帧缓冲器</a:t>
            </a:r>
            <a:endParaRPr lang="zh-CN" altLang="en-US" sz="2000" dirty="0">
              <a:solidFill>
                <a:schemeClr val="tx1"/>
              </a:solidFill>
              <a:latin typeface="楷体_GB2312" pitchFamily="49" charset="-122"/>
            </a:endParaRPr>
          </a:p>
        </p:txBody>
      </p:sp>
      <p:sp>
        <p:nvSpPr>
          <p:cNvPr id="59398" name="矩形 5"/>
          <p:cNvSpPr/>
          <p:nvPr/>
        </p:nvSpPr>
        <p:spPr>
          <a:xfrm>
            <a:off x="1643063" y="3643313"/>
            <a:ext cx="1211262"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zh-CN" altLang="en-US" sz="2000" dirty="0">
                <a:solidFill>
                  <a:schemeClr val="tx1"/>
                </a:solidFill>
                <a:ea typeface="宋体" panose="02010600030101010101" pitchFamily="2" charset="-122"/>
              </a:rPr>
              <a:t>帧缓冲器</a:t>
            </a:r>
            <a:endParaRPr lang="zh-CN" altLang="en-US" sz="2000" dirty="0">
              <a:solidFill>
                <a:schemeClr val="tx1"/>
              </a:solidFill>
              <a:ea typeface="宋体" panose="02010600030101010101" pitchFamily="2" charset="-122"/>
            </a:endParaRPr>
          </a:p>
        </p:txBody>
      </p:sp>
      <p:sp>
        <p:nvSpPr>
          <p:cNvPr id="59399" name="矩形 6"/>
          <p:cNvSpPr/>
          <p:nvPr/>
        </p:nvSpPr>
        <p:spPr>
          <a:xfrm>
            <a:off x="7715250" y="4143375"/>
            <a:ext cx="1152525"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en-US" altLang="zh-CN" sz="2000" dirty="0">
                <a:solidFill>
                  <a:schemeClr val="tx1"/>
                </a:solidFill>
                <a:ea typeface="宋体" panose="02010600030101010101" pitchFamily="2" charset="-122"/>
              </a:rPr>
              <a:t>CRT</a:t>
            </a:r>
            <a:r>
              <a:rPr lang="zh-CN" altLang="en-US" sz="2000" dirty="0">
                <a:solidFill>
                  <a:schemeClr val="tx1"/>
                </a:solidFill>
                <a:ea typeface="宋体" panose="02010600030101010101" pitchFamily="2" charset="-122"/>
              </a:rPr>
              <a:t>光栅</a:t>
            </a:r>
            <a:endParaRPr lang="zh-CN" altLang="en-US" sz="2000" dirty="0">
              <a:solidFill>
                <a:schemeClr val="tx1"/>
              </a:solidFill>
              <a:ea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2468"/>
                                        </p:tgtEl>
                                        <p:attrNameLst>
                                          <p:attrName>style.visibility</p:attrName>
                                        </p:attrNameLst>
                                      </p:cBhvr>
                                      <p:to>
                                        <p:strVal val="visible"/>
                                      </p:to>
                                    </p:set>
                                    <p:animEffect transition="in" filter="blinds(horizontal)">
                                      <p:cBhvr>
                                        <p:cTn id="7" dur="500"/>
                                        <p:tgtEl>
                                          <p:spTgt spid="624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8" grpId="0" animBg="1"/>
    </p:bld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0418" name="Rectangle 5"/>
          <p:cNvSpPr>
            <a:spLocks noGrp="1"/>
          </p:cNvSpPr>
          <p:nvPr>
            <p:ph type="title" idx="4294967295"/>
          </p:nvPr>
        </p:nvSpPr>
        <p:spPr>
          <a:xfrm>
            <a:off x="1331913" y="333375"/>
            <a:ext cx="1800225" cy="579438"/>
          </a:xfrm>
          <a:ln/>
        </p:spPr>
        <p:txBody>
          <a:bodyPr vert="horz" wrap="square" lIns="91440" tIns="45720" rIns="91440" bIns="45720" anchor="t" anchorCtr="0">
            <a:spAutoFit/>
          </a:bodyPr>
          <a:p>
            <a:pPr algn="l" eaLnBrk="1" hangingPunct="1">
              <a:buChar char="•"/>
            </a:pPr>
            <a:r>
              <a:rPr lang="en-US" altLang="zh-CN" sz="3200" dirty="0">
                <a:solidFill>
                  <a:schemeClr val="tx1"/>
                </a:solidFill>
              </a:rPr>
              <a:t> 8</a:t>
            </a:r>
            <a:r>
              <a:rPr lang="zh-CN" altLang="en-US" sz="3200" dirty="0">
                <a:solidFill>
                  <a:schemeClr val="tx1"/>
                </a:solidFill>
              </a:rPr>
              <a:t>位面</a:t>
            </a:r>
            <a:endParaRPr lang="zh-CN" altLang="en-US" sz="3200" dirty="0">
              <a:solidFill>
                <a:schemeClr val="tx1"/>
              </a:solidFill>
            </a:endParaRPr>
          </a:p>
        </p:txBody>
      </p:sp>
      <p:sp>
        <p:nvSpPr>
          <p:cNvPr id="60419" name="Rectangle 6"/>
          <p:cNvSpPr>
            <a:spLocks noGrp="1"/>
          </p:cNvSpPr>
          <p:nvPr>
            <p:ph type="body" idx="4294967295"/>
          </p:nvPr>
        </p:nvSpPr>
        <p:spPr>
          <a:xfrm>
            <a:off x="1331913" y="1052513"/>
            <a:ext cx="7632700" cy="1584325"/>
          </a:xfrm>
          <a:ln/>
        </p:spPr>
        <p:txBody>
          <a:bodyPr vert="horz" wrap="square" lIns="91440" tIns="45720" rIns="91440" bIns="45720" anchor="t" anchorCtr="0"/>
          <a:p>
            <a:pPr marL="0" indent="355600" eaLnBrk="1" hangingPunct="1">
              <a:buNone/>
            </a:pPr>
            <a:r>
              <a:rPr lang="zh-CN" altLang="en-US" sz="3600" dirty="0">
                <a:solidFill>
                  <a:srgbClr val="3366FF"/>
                </a:solidFill>
                <a:latin typeface="楷体_GB2312" pitchFamily="49" charset="-122"/>
              </a:rPr>
              <a:t> </a:t>
            </a:r>
            <a:r>
              <a:rPr lang="zh-CN" altLang="en-US" sz="2400" dirty="0">
                <a:solidFill>
                  <a:schemeClr val="tx1"/>
                </a:solidFill>
                <a:latin typeface="楷体_GB2312" pitchFamily="49" charset="-122"/>
              </a:rPr>
              <a:t>如果每个像素的颜色可以用一个字节（</a:t>
            </a:r>
            <a:r>
              <a:rPr lang="en-US" altLang="zh-CN" sz="2400" dirty="0">
                <a:solidFill>
                  <a:schemeClr val="tx1"/>
                </a:solidFill>
                <a:latin typeface="楷体_GB2312" pitchFamily="49" charset="-122"/>
              </a:rPr>
              <a:t>Byte</a:t>
            </a:r>
            <a:r>
              <a:rPr lang="zh-CN" altLang="en-US" sz="2400" dirty="0">
                <a:solidFill>
                  <a:schemeClr val="tx1"/>
                </a:solidFill>
                <a:latin typeface="楷体_GB2312" pitchFamily="49" charset="-122"/>
              </a:rPr>
              <a:t>）表示，帧缓冲器需要用八个位面，可表示</a:t>
            </a:r>
            <a:r>
              <a:rPr lang="en-US" altLang="zh-CN" sz="2400" dirty="0">
                <a:solidFill>
                  <a:schemeClr val="tx1"/>
                </a:solidFill>
                <a:latin typeface="楷体_GB2312" pitchFamily="49" charset="-122"/>
              </a:rPr>
              <a:t>256</a:t>
            </a:r>
            <a:r>
              <a:rPr lang="zh-CN" altLang="en-US" sz="2400" dirty="0">
                <a:solidFill>
                  <a:schemeClr val="tx1"/>
                </a:solidFill>
                <a:latin typeface="楷体_GB2312" pitchFamily="49" charset="-122"/>
              </a:rPr>
              <a:t>种灰度，称为灰度显示器。  </a:t>
            </a:r>
            <a:endParaRPr lang="zh-CN" altLang="en-US" sz="3600" dirty="0">
              <a:solidFill>
                <a:srgbClr val="3366FF"/>
              </a:solidFill>
              <a:latin typeface="隶书" panose="02010509060101010101" pitchFamily="49" charset="-122"/>
              <a:ea typeface="隶书" panose="02010509060101010101" pitchFamily="49" charset="-122"/>
            </a:endParaRPr>
          </a:p>
        </p:txBody>
      </p:sp>
      <p:pic>
        <p:nvPicPr>
          <p:cNvPr id="63492" name="Picture 7" descr="灰度图片"/>
          <p:cNvPicPr>
            <a:picLocks noChangeAspect="1"/>
          </p:cNvPicPr>
          <p:nvPr/>
        </p:nvPicPr>
        <p:blipFill>
          <a:blip r:embed="rId1"/>
          <a:stretch>
            <a:fillRect/>
          </a:stretch>
        </p:blipFill>
        <p:spPr>
          <a:xfrm>
            <a:off x="3348038" y="2708275"/>
            <a:ext cx="3095625" cy="3095625"/>
          </a:xfrm>
          <a:prstGeom prst="rect">
            <a:avLst/>
          </a:prstGeom>
          <a:noFill/>
          <a:ln w="9525">
            <a:noFill/>
          </a:ln>
        </p:spPr>
      </p:pic>
      <p:sp>
        <p:nvSpPr>
          <p:cNvPr id="63493" name="Text Box 8"/>
          <p:cNvSpPr txBox="1"/>
          <p:nvPr/>
        </p:nvSpPr>
        <p:spPr>
          <a:xfrm>
            <a:off x="4067175" y="5949950"/>
            <a:ext cx="1512888"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50000"/>
              </a:spcBef>
              <a:buClrTx/>
              <a:buSzTx/>
              <a:buFont typeface="Arial" panose="020B0604020202020204" pitchFamily="34" charset="0"/>
              <a:buNone/>
            </a:pPr>
            <a:r>
              <a:rPr lang="zh-CN" altLang="en-US" sz="2400" dirty="0">
                <a:solidFill>
                  <a:schemeClr val="tx1"/>
                </a:solidFill>
              </a:rPr>
              <a:t>灰度图像</a:t>
            </a:r>
            <a:endParaRPr lang="zh-CN" altLang="en-US" sz="2400" dirty="0">
              <a:solidFill>
                <a:schemeClr val="tx1"/>
              </a:solidFill>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49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4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3" grpId="0"/>
    </p:bld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1442" name="Rectangle 6"/>
          <p:cNvSpPr>
            <a:spLocks noGrp="1"/>
          </p:cNvSpPr>
          <p:nvPr>
            <p:ph type="body" idx="4294967295"/>
          </p:nvPr>
        </p:nvSpPr>
        <p:spPr>
          <a:xfrm>
            <a:off x="3203575" y="5805488"/>
            <a:ext cx="3384550" cy="503237"/>
          </a:xfrm>
          <a:ln/>
        </p:spPr>
        <p:txBody>
          <a:bodyPr vert="horz" wrap="square" lIns="91440" tIns="45720" rIns="91440" bIns="45720" anchor="t" anchorCtr="0"/>
          <a:p>
            <a:pPr algn="ctr" eaLnBrk="1" hangingPunct="1">
              <a:buNone/>
            </a:pPr>
            <a:r>
              <a:rPr lang="en-US" altLang="zh-CN" sz="2000" dirty="0">
                <a:solidFill>
                  <a:schemeClr val="tx1"/>
                </a:solidFill>
                <a:latin typeface="楷体_GB2312" pitchFamily="49" charset="-122"/>
              </a:rPr>
              <a:t>8</a:t>
            </a:r>
            <a:r>
              <a:rPr lang="zh-CN" altLang="en-US" sz="2000" dirty="0">
                <a:solidFill>
                  <a:schemeClr val="tx1"/>
                </a:solidFill>
                <a:latin typeface="楷体_GB2312" pitchFamily="49" charset="-122"/>
              </a:rPr>
              <a:t>位面帧缓冲器</a:t>
            </a:r>
            <a:endParaRPr lang="zh-CN" altLang="en-US" sz="2000" dirty="0">
              <a:solidFill>
                <a:schemeClr val="tx1"/>
              </a:solidFill>
              <a:latin typeface="楷体_GB2312" pitchFamily="49" charset="-122"/>
            </a:endParaRPr>
          </a:p>
        </p:txBody>
      </p:sp>
      <p:sp>
        <p:nvSpPr>
          <p:cNvPr id="64515" name="AutoShape 8"/>
          <p:cNvSpPr/>
          <p:nvPr/>
        </p:nvSpPr>
        <p:spPr>
          <a:xfrm>
            <a:off x="3929063" y="4071938"/>
            <a:ext cx="1116012" cy="609600"/>
          </a:xfrm>
          <a:prstGeom prst="borderCallout1">
            <a:avLst>
              <a:gd name="adj1" fmla="val 18750"/>
              <a:gd name="adj2" fmla="val -6829"/>
              <a:gd name="adj3" fmla="val -102866"/>
              <a:gd name="adj4" fmla="val -92176"/>
            </a:avLst>
          </a:prstGeom>
          <a:noFill/>
          <a:ln w="317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ctr" eaLnBrk="1" hangingPunct="1">
              <a:spcBef>
                <a:spcPct val="0"/>
              </a:spcBef>
              <a:buClrTx/>
              <a:buSzTx/>
              <a:buFont typeface="Arial" panose="020B0604020202020204" pitchFamily="34" charset="0"/>
              <a:buNone/>
            </a:pPr>
            <a:r>
              <a:rPr lang="zh-CN" altLang="en-US" sz="2400" dirty="0">
                <a:solidFill>
                  <a:schemeClr val="tx1"/>
                </a:solidFill>
                <a:latin typeface="Arial Narrow" panose="020B0606020202030204" pitchFamily="34" charset="0"/>
              </a:rPr>
              <a:t>位面</a:t>
            </a:r>
            <a:endParaRPr lang="zh-CN" altLang="en-US" sz="2400" dirty="0">
              <a:solidFill>
                <a:schemeClr val="tx1"/>
              </a:solidFill>
              <a:latin typeface="Arial Narrow" panose="020B0606020202030204" pitchFamily="34" charset="0"/>
            </a:endParaRPr>
          </a:p>
        </p:txBody>
      </p:sp>
      <p:sp>
        <p:nvSpPr>
          <p:cNvPr id="61444" name="Rectangle 6"/>
          <p:cNvSpPr/>
          <p:nvPr/>
        </p:nvSpPr>
        <p:spPr>
          <a:xfrm>
            <a:off x="0" y="0"/>
            <a:ext cx="9144000" cy="0"/>
          </a:xfrm>
          <a:prstGeom prst="rect">
            <a:avLst/>
          </a:prstGeom>
          <a:noFill/>
          <a:ln w="9525">
            <a:noFill/>
          </a:ln>
          <a:effectLst>
            <a:prstShdw prst="shdw17" dist="17961" dir="2699999">
              <a:srgbClr val="008965"/>
            </a:prstShdw>
          </a:effectLst>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3200" dirty="0">
              <a:solidFill>
                <a:schemeClr val="tx1"/>
              </a:solidFill>
              <a:ea typeface="宋体" panose="02010600030101010101" pitchFamily="2" charset="-122"/>
            </a:endParaRPr>
          </a:p>
        </p:txBody>
      </p:sp>
      <p:graphicFrame>
        <p:nvGraphicFramePr>
          <p:cNvPr id="61445" name="Object 5"/>
          <p:cNvGraphicFramePr>
            <a:graphicFrameLocks noChangeAspect="1"/>
          </p:cNvGraphicFramePr>
          <p:nvPr/>
        </p:nvGraphicFramePr>
        <p:xfrm>
          <a:off x="1643063" y="1143000"/>
          <a:ext cx="6819900" cy="2928938"/>
        </p:xfrm>
        <a:graphic>
          <a:graphicData uri="http://schemas.openxmlformats.org/presentationml/2006/ole">
            <mc:AlternateContent xmlns:mc="http://schemas.openxmlformats.org/markup-compatibility/2006">
              <mc:Choice xmlns:v="urn:schemas-microsoft-com:vml" Requires="v">
                <p:oleObj spid="_x0000_s3082" name="" r:id="rId1" imgW="8906510" imgH="3836035" progId="Visio.Drawing.11">
                  <p:embed/>
                </p:oleObj>
              </mc:Choice>
              <mc:Fallback>
                <p:oleObj name="" r:id="rId1" imgW="8906510" imgH="3836035" progId="Visio.Drawing.11">
                  <p:embed/>
                  <p:pic>
                    <p:nvPicPr>
                      <p:cNvPr id="0" name="图片 3081"/>
                      <p:cNvPicPr/>
                      <p:nvPr/>
                    </p:nvPicPr>
                    <p:blipFill>
                      <a:blip r:embed="rId2"/>
                      <a:stretch>
                        <a:fillRect/>
                      </a:stretch>
                    </p:blipFill>
                    <p:spPr>
                      <a:xfrm>
                        <a:off x="1643063" y="1143000"/>
                        <a:ext cx="6819900" cy="2928938"/>
                      </a:xfrm>
                      <a:prstGeom prst="rect">
                        <a:avLst/>
                      </a:prstGeom>
                      <a:noFill/>
                      <a:ln w="38100">
                        <a:noFill/>
                        <a:miter/>
                      </a:ln>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4515"/>
                                        </p:tgtEl>
                                        <p:attrNameLst>
                                          <p:attrName>style.visibility</p:attrName>
                                        </p:attrNameLst>
                                      </p:cBhvr>
                                      <p:to>
                                        <p:strVal val="visible"/>
                                      </p:to>
                                    </p:set>
                                    <p:animEffect transition="in" filter="blinds(horizontal)">
                                      <p:cBhvr>
                                        <p:cTn id="7" dur="500"/>
                                        <p:tgtEl>
                                          <p:spTgt spid="645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animBg="1"/>
    </p:bld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2466" name="Rectangle 5"/>
          <p:cNvSpPr>
            <a:spLocks noGrp="1"/>
          </p:cNvSpPr>
          <p:nvPr>
            <p:ph type="title" idx="4294967295"/>
          </p:nvPr>
        </p:nvSpPr>
        <p:spPr>
          <a:xfrm>
            <a:off x="1547813" y="333375"/>
            <a:ext cx="1835150" cy="579438"/>
          </a:xfrm>
          <a:ln/>
        </p:spPr>
        <p:txBody>
          <a:bodyPr vert="horz" wrap="square" lIns="91440" tIns="45720" rIns="91440" bIns="45720" anchor="t" anchorCtr="0">
            <a:spAutoFit/>
          </a:bodyPr>
          <a:p>
            <a:pPr algn="l" eaLnBrk="1" hangingPunct="1">
              <a:buChar char="•"/>
            </a:pPr>
            <a:r>
              <a:rPr lang="en-US" altLang="zh-CN" sz="3200" dirty="0">
                <a:solidFill>
                  <a:schemeClr val="tx1"/>
                </a:solidFill>
              </a:rPr>
              <a:t>24</a:t>
            </a:r>
            <a:r>
              <a:rPr lang="zh-CN" altLang="en-US" sz="3200" dirty="0">
                <a:solidFill>
                  <a:schemeClr val="tx1"/>
                </a:solidFill>
              </a:rPr>
              <a:t>位面</a:t>
            </a:r>
            <a:endParaRPr lang="zh-CN" altLang="en-US" sz="3200" dirty="0">
              <a:solidFill>
                <a:schemeClr val="tx1"/>
              </a:solidFill>
            </a:endParaRPr>
          </a:p>
        </p:txBody>
      </p:sp>
      <p:sp>
        <p:nvSpPr>
          <p:cNvPr id="62467" name="Rectangle 6"/>
          <p:cNvSpPr>
            <a:spLocks noGrp="1"/>
          </p:cNvSpPr>
          <p:nvPr>
            <p:ph type="body" idx="4294967295"/>
          </p:nvPr>
        </p:nvSpPr>
        <p:spPr>
          <a:xfrm>
            <a:off x="1331913" y="1268413"/>
            <a:ext cx="7343775" cy="1800225"/>
          </a:xfrm>
          <a:ln/>
        </p:spPr>
        <p:txBody>
          <a:bodyPr vert="horz" wrap="square" lIns="91440" tIns="45720" rIns="91440" bIns="45720" anchor="t" anchorCtr="0"/>
          <a:p>
            <a:pPr eaLnBrk="1" hangingPunct="1">
              <a:buNone/>
            </a:pPr>
            <a:r>
              <a:rPr lang="zh-CN" altLang="en-US" dirty="0"/>
              <a:t>         </a:t>
            </a:r>
            <a:r>
              <a:rPr lang="zh-CN" altLang="en-US" sz="2400" dirty="0">
                <a:solidFill>
                  <a:schemeClr val="tx1"/>
                </a:solidFill>
                <a:latin typeface="楷体_GB2312" pitchFamily="49" charset="-122"/>
              </a:rPr>
              <a:t>如果每个像素用</a:t>
            </a:r>
            <a:r>
              <a:rPr lang="en-US" altLang="zh-CN" sz="2400" dirty="0">
                <a:solidFill>
                  <a:schemeClr val="tx1"/>
                </a:solidFill>
                <a:latin typeface="楷体_GB2312" pitchFamily="49" charset="-122"/>
              </a:rPr>
              <a:t>R</a:t>
            </a:r>
            <a:r>
              <a:rPr lang="zh-CN" altLang="en-US" sz="2400" dirty="0">
                <a:solidFill>
                  <a:schemeClr val="tx1"/>
                </a:solidFill>
                <a:latin typeface="楷体_GB2312" pitchFamily="49" charset="-122"/>
              </a:rPr>
              <a:t>、</a:t>
            </a:r>
            <a:r>
              <a:rPr lang="en-US" altLang="zh-CN" sz="2400" dirty="0">
                <a:solidFill>
                  <a:schemeClr val="tx1"/>
                </a:solidFill>
                <a:latin typeface="楷体_GB2312" pitchFamily="49" charset="-122"/>
              </a:rPr>
              <a:t>G</a:t>
            </a:r>
            <a:r>
              <a:rPr lang="zh-CN" altLang="en-US" sz="2400" dirty="0">
                <a:solidFill>
                  <a:schemeClr val="tx1"/>
                </a:solidFill>
                <a:latin typeface="楷体_GB2312" pitchFamily="49" charset="-122"/>
              </a:rPr>
              <a:t>、</a:t>
            </a:r>
            <a:r>
              <a:rPr lang="en-US" altLang="zh-CN" sz="2400" dirty="0">
                <a:solidFill>
                  <a:schemeClr val="tx1"/>
                </a:solidFill>
                <a:latin typeface="楷体_GB2312" pitchFamily="49" charset="-122"/>
              </a:rPr>
              <a:t>B</a:t>
            </a:r>
            <a:r>
              <a:rPr lang="zh-CN" altLang="en-US" sz="2400" dirty="0">
                <a:solidFill>
                  <a:schemeClr val="tx1"/>
                </a:solidFill>
                <a:latin typeface="楷体_GB2312" pitchFamily="49" charset="-122"/>
              </a:rPr>
              <a:t>三原色混合表示，其中每种原色分别用一个字节表示，各对应一把电子枪，每种颜色可有</a:t>
            </a:r>
            <a:r>
              <a:rPr lang="en-US" altLang="zh-CN" sz="2400" dirty="0">
                <a:solidFill>
                  <a:schemeClr val="tx1"/>
                </a:solidFill>
                <a:latin typeface="楷体_GB2312" pitchFamily="49" charset="-122"/>
              </a:rPr>
              <a:t>256</a:t>
            </a:r>
            <a:r>
              <a:rPr lang="zh-CN" altLang="en-US" sz="2400" dirty="0">
                <a:solidFill>
                  <a:schemeClr val="tx1"/>
                </a:solidFill>
                <a:latin typeface="楷体_GB2312" pitchFamily="49" charset="-122"/>
              </a:rPr>
              <a:t>种亮度，三种颜色的组合是</a:t>
            </a:r>
            <a:r>
              <a:rPr lang="en-US" altLang="zh-CN" sz="2400" dirty="0">
                <a:solidFill>
                  <a:schemeClr val="tx1"/>
                </a:solidFill>
                <a:latin typeface="楷体_GB2312" pitchFamily="49" charset="-122"/>
              </a:rPr>
              <a:t>2</a:t>
            </a:r>
            <a:r>
              <a:rPr lang="en-US" altLang="zh-CN" sz="2400" baseline="30000" dirty="0">
                <a:solidFill>
                  <a:schemeClr val="tx1"/>
                </a:solidFill>
                <a:latin typeface="楷体_GB2312" pitchFamily="49" charset="-122"/>
              </a:rPr>
              <a:t>24</a:t>
            </a:r>
            <a:r>
              <a:rPr lang="zh-CN" altLang="en-US" sz="2400" dirty="0">
                <a:solidFill>
                  <a:schemeClr val="tx1"/>
                </a:solidFill>
                <a:latin typeface="楷体_GB2312" pitchFamily="49" charset="-122"/>
              </a:rPr>
              <a:t>颜色，共有</a:t>
            </a:r>
            <a:r>
              <a:rPr lang="en-US" altLang="zh-CN" sz="2400" dirty="0">
                <a:solidFill>
                  <a:schemeClr val="tx1"/>
                </a:solidFill>
                <a:latin typeface="楷体_GB2312" pitchFamily="49" charset="-122"/>
              </a:rPr>
              <a:t>24</a:t>
            </a:r>
            <a:r>
              <a:rPr lang="zh-CN" altLang="en-US" sz="2400" dirty="0">
                <a:solidFill>
                  <a:schemeClr val="tx1"/>
                </a:solidFill>
                <a:latin typeface="楷体_GB2312" pitchFamily="49" charset="-122"/>
              </a:rPr>
              <a:t>个位面。</a:t>
            </a:r>
            <a:endParaRPr lang="zh-CN" altLang="en-US" sz="2400" dirty="0">
              <a:solidFill>
                <a:schemeClr val="tx1"/>
              </a:solidFill>
              <a:latin typeface="楷体_GB2312" pitchFamily="49" charset="-122"/>
            </a:endParaRPr>
          </a:p>
        </p:txBody>
      </p:sp>
      <p:pic>
        <p:nvPicPr>
          <p:cNvPr id="65540" name="Picture 7" descr="5"/>
          <p:cNvPicPr>
            <a:picLocks noChangeAspect="1"/>
          </p:cNvPicPr>
          <p:nvPr/>
        </p:nvPicPr>
        <p:blipFill>
          <a:blip r:embed="rId1"/>
          <a:stretch>
            <a:fillRect/>
          </a:stretch>
        </p:blipFill>
        <p:spPr>
          <a:xfrm>
            <a:off x="3419475" y="3068638"/>
            <a:ext cx="2879725" cy="2879725"/>
          </a:xfrm>
          <a:prstGeom prst="rect">
            <a:avLst/>
          </a:prstGeom>
          <a:noFill/>
          <a:ln w="9525">
            <a:noFill/>
          </a:ln>
        </p:spPr>
      </p:pic>
      <p:sp>
        <p:nvSpPr>
          <p:cNvPr id="65541" name="Text Box 8"/>
          <p:cNvSpPr txBox="1"/>
          <p:nvPr/>
        </p:nvSpPr>
        <p:spPr>
          <a:xfrm>
            <a:off x="3995738" y="6165850"/>
            <a:ext cx="165735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50000"/>
              </a:spcBef>
              <a:buClrTx/>
              <a:buSzTx/>
              <a:buFont typeface="Arial" panose="020B0604020202020204" pitchFamily="34" charset="0"/>
              <a:buNone/>
            </a:pPr>
            <a:r>
              <a:rPr lang="zh-CN" altLang="en-US" sz="2400" dirty="0">
                <a:solidFill>
                  <a:schemeClr val="tx1"/>
                </a:solidFill>
              </a:rPr>
              <a:t>彩色图像</a:t>
            </a:r>
            <a:endParaRPr lang="zh-CN" altLang="en-US" sz="2400" dirty="0">
              <a:solidFill>
                <a:schemeClr val="tx1"/>
              </a:solidFill>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5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55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1" grpId="0"/>
    </p:bld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3490" name="Rectangle 1033"/>
          <p:cNvSpPr/>
          <p:nvPr/>
        </p:nvSpPr>
        <p:spPr>
          <a:xfrm>
            <a:off x="3929063" y="6215063"/>
            <a:ext cx="2143125" cy="3698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lnSpc>
                <a:spcPct val="90000"/>
              </a:lnSpc>
              <a:buClr>
                <a:schemeClr val="hlink"/>
              </a:buClr>
              <a:buSzPct val="80000"/>
              <a:buNone/>
            </a:pPr>
            <a:r>
              <a:rPr lang="en-US" altLang="zh-CN" sz="2000" dirty="0">
                <a:solidFill>
                  <a:schemeClr val="tx1"/>
                </a:solidFill>
                <a:latin typeface="楷体_GB2312" pitchFamily="49" charset="-122"/>
              </a:rPr>
              <a:t>24</a:t>
            </a:r>
            <a:r>
              <a:rPr lang="zh-CN" altLang="en-US" sz="2000" dirty="0">
                <a:solidFill>
                  <a:schemeClr val="tx1"/>
                </a:solidFill>
                <a:latin typeface="楷体_GB2312" pitchFamily="49" charset="-122"/>
              </a:rPr>
              <a:t>位面帧缓冲器 </a:t>
            </a:r>
            <a:endParaRPr lang="zh-CN" altLang="en-US" sz="2000" dirty="0">
              <a:solidFill>
                <a:schemeClr val="tx1"/>
              </a:solidFill>
              <a:latin typeface="楷体_GB2312" pitchFamily="49" charset="-122"/>
            </a:endParaRPr>
          </a:p>
        </p:txBody>
      </p:sp>
      <p:sp>
        <p:nvSpPr>
          <p:cNvPr id="63491" name="Rectangle 5"/>
          <p:cNvSpPr/>
          <p:nvPr/>
        </p:nvSpPr>
        <p:spPr>
          <a:xfrm>
            <a:off x="0" y="0"/>
            <a:ext cx="9144000" cy="0"/>
          </a:xfrm>
          <a:prstGeom prst="rect">
            <a:avLst/>
          </a:prstGeom>
          <a:noFill/>
          <a:ln w="9525">
            <a:noFill/>
          </a:ln>
          <a:effectLst>
            <a:prstShdw prst="shdw17" dist="17961" dir="2699999">
              <a:srgbClr val="008965"/>
            </a:prstShdw>
          </a:effectLst>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3200" dirty="0">
              <a:solidFill>
                <a:schemeClr val="tx1"/>
              </a:solidFill>
              <a:ea typeface="宋体" panose="02010600030101010101" pitchFamily="2" charset="-122"/>
            </a:endParaRPr>
          </a:p>
        </p:txBody>
      </p:sp>
      <p:graphicFrame>
        <p:nvGraphicFramePr>
          <p:cNvPr id="63492" name="Object 4"/>
          <p:cNvGraphicFramePr>
            <a:graphicFrameLocks noChangeAspect="1"/>
          </p:cNvGraphicFramePr>
          <p:nvPr/>
        </p:nvGraphicFramePr>
        <p:xfrm>
          <a:off x="2000250" y="500063"/>
          <a:ext cx="6500813" cy="5602287"/>
        </p:xfrm>
        <a:graphic>
          <a:graphicData uri="http://schemas.openxmlformats.org/presentationml/2006/ole">
            <mc:AlternateContent xmlns:mc="http://schemas.openxmlformats.org/markup-compatibility/2006">
              <mc:Choice xmlns:v="urn:schemas-microsoft-com:vml" Requires="v">
                <p:oleObj spid="_x0000_s3083" name="" r:id="rId1" imgW="8799830" imgH="7612380" progId="Visio.Drawing.11">
                  <p:embed/>
                </p:oleObj>
              </mc:Choice>
              <mc:Fallback>
                <p:oleObj name="" r:id="rId1" imgW="8799830" imgH="7612380" progId="Visio.Drawing.11">
                  <p:embed/>
                  <p:pic>
                    <p:nvPicPr>
                      <p:cNvPr id="0" name="图片 3082"/>
                      <p:cNvPicPr/>
                      <p:nvPr/>
                    </p:nvPicPr>
                    <p:blipFill>
                      <a:blip r:embed="rId2"/>
                      <a:stretch>
                        <a:fillRect/>
                      </a:stretch>
                    </p:blipFill>
                    <p:spPr>
                      <a:xfrm>
                        <a:off x="2000250" y="500063"/>
                        <a:ext cx="6500813" cy="5602287"/>
                      </a:xfrm>
                      <a:prstGeom prst="rect">
                        <a:avLst/>
                      </a:prstGeom>
                      <a:noFill/>
                      <a:ln w="38100">
                        <a:noFill/>
                        <a:miter/>
                      </a:ln>
                    </p:spPr>
                  </p:pic>
                </p:oleObj>
              </mc:Fallback>
            </mc:AlternateContent>
          </a:graphicData>
        </a:graphic>
      </p:graphicFrame>
    </p:spTree>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4514" name="Rectangle 10"/>
          <p:cNvSpPr>
            <a:spLocks noGrp="1"/>
          </p:cNvSpPr>
          <p:nvPr>
            <p:ph type="title" idx="4294967295"/>
          </p:nvPr>
        </p:nvSpPr>
        <p:spPr>
          <a:xfrm>
            <a:off x="1116013" y="260350"/>
            <a:ext cx="1943100" cy="579438"/>
          </a:xfrm>
          <a:ln/>
        </p:spPr>
        <p:txBody>
          <a:bodyPr vert="horz" wrap="square" lIns="91440" tIns="45720" rIns="91440" bIns="45720" anchor="t" anchorCtr="0">
            <a:spAutoFit/>
          </a:bodyPr>
          <a:p>
            <a:pPr algn="l" eaLnBrk="1" hangingPunct="1">
              <a:buChar char="•"/>
            </a:pPr>
            <a:r>
              <a:rPr lang="zh-CN" altLang="en-US" sz="3200" dirty="0">
                <a:solidFill>
                  <a:schemeClr val="tx1"/>
                </a:solidFill>
              </a:rPr>
              <a:t>索引色</a:t>
            </a:r>
            <a:endParaRPr lang="zh-CN" altLang="en-US" sz="3200" dirty="0">
              <a:solidFill>
                <a:schemeClr val="tx1"/>
              </a:solidFill>
            </a:endParaRPr>
          </a:p>
        </p:txBody>
      </p:sp>
      <p:sp>
        <p:nvSpPr>
          <p:cNvPr id="64515" name="Rectangle 13"/>
          <p:cNvSpPr/>
          <p:nvPr/>
        </p:nvSpPr>
        <p:spPr>
          <a:xfrm>
            <a:off x="1187450" y="1341438"/>
            <a:ext cx="7777163" cy="46577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lnSpc>
                <a:spcPct val="150000"/>
              </a:lnSpc>
              <a:spcBef>
                <a:spcPct val="0"/>
              </a:spcBef>
              <a:buClrTx/>
              <a:buSzTx/>
              <a:buFont typeface="Arial" panose="020B0604020202020204" pitchFamily="34" charset="0"/>
              <a:buNone/>
            </a:pPr>
            <a:r>
              <a:rPr lang="zh-CN" altLang="en-US" sz="3200" b="1" dirty="0">
                <a:solidFill>
                  <a:srgbClr val="3366FF"/>
                </a:solidFill>
                <a:latin typeface="楷体_GB2312" pitchFamily="49" charset="-122"/>
              </a:rPr>
              <a:t>   </a:t>
            </a:r>
            <a:r>
              <a:rPr lang="zh-CN" altLang="en-US" sz="2400" dirty="0">
                <a:solidFill>
                  <a:schemeClr val="tx1"/>
                </a:solidFill>
                <a:latin typeface="楷体_GB2312" pitchFamily="49" charset="-122"/>
              </a:rPr>
              <a:t>为了进一步提高颜色的种类，控制帧缓冲的增加，可把帧缓冲中的位面号作为颜色索引表的索引号，为每组原色配置一个颜色索引表，颜色索引表有</a:t>
            </a:r>
            <a:r>
              <a:rPr lang="en-US" altLang="zh-CN" sz="2400" dirty="0">
                <a:solidFill>
                  <a:schemeClr val="tx1"/>
                </a:solidFill>
                <a:latin typeface="楷体_GB2312" pitchFamily="49" charset="-122"/>
              </a:rPr>
              <a:t>256</a:t>
            </a:r>
            <a:r>
              <a:rPr lang="zh-CN" altLang="en-US" sz="2400" dirty="0">
                <a:solidFill>
                  <a:schemeClr val="tx1"/>
                </a:solidFill>
                <a:latin typeface="楷体_GB2312" pitchFamily="49" charset="-122"/>
              </a:rPr>
              <a:t>项，每一项具有</a:t>
            </a:r>
            <a:r>
              <a:rPr lang="en-US" altLang="zh-CN" sz="2400" dirty="0">
                <a:solidFill>
                  <a:schemeClr val="tx1"/>
                </a:solidFill>
                <a:latin typeface="楷体_GB2312" pitchFamily="49" charset="-122"/>
              </a:rPr>
              <a:t>w</a:t>
            </a:r>
            <a:r>
              <a:rPr lang="zh-CN" altLang="en-US" sz="2400" dirty="0">
                <a:solidFill>
                  <a:schemeClr val="tx1"/>
                </a:solidFill>
                <a:latin typeface="楷体_GB2312" pitchFamily="49" charset="-122"/>
              </a:rPr>
              <a:t>位字宽，当</a:t>
            </a:r>
            <a:r>
              <a:rPr lang="en-US" altLang="zh-CN" sz="2400" dirty="0">
                <a:solidFill>
                  <a:schemeClr val="tx1"/>
                </a:solidFill>
                <a:latin typeface="楷体_GB2312" pitchFamily="49" charset="-122"/>
              </a:rPr>
              <a:t>w</a:t>
            </a:r>
            <a:r>
              <a:rPr lang="zh-CN" altLang="en-US" sz="2400" dirty="0">
                <a:solidFill>
                  <a:schemeClr val="tx1"/>
                </a:solidFill>
                <a:latin typeface="楷体_GB2312" pitchFamily="49" charset="-122"/>
              </a:rPr>
              <a:t>大于</a:t>
            </a:r>
            <a:r>
              <a:rPr lang="en-US" altLang="zh-CN" sz="2400" dirty="0">
                <a:solidFill>
                  <a:schemeClr val="tx1"/>
                </a:solidFill>
                <a:latin typeface="楷体_GB2312" pitchFamily="49" charset="-122"/>
              </a:rPr>
              <a:t>8</a:t>
            </a:r>
            <a:r>
              <a:rPr lang="zh-CN" altLang="en-US" sz="2400" dirty="0">
                <a:solidFill>
                  <a:schemeClr val="tx1"/>
                </a:solidFill>
                <a:latin typeface="楷体_GB2312" pitchFamily="49" charset="-122"/>
              </a:rPr>
              <a:t>时，如</a:t>
            </a:r>
            <a:r>
              <a:rPr lang="en-US" altLang="zh-CN" sz="2400" dirty="0">
                <a:solidFill>
                  <a:schemeClr val="tx1"/>
                </a:solidFill>
                <a:latin typeface="楷体_GB2312" pitchFamily="49" charset="-122"/>
              </a:rPr>
              <a:t>w</a:t>
            </a:r>
            <a:r>
              <a:rPr lang="zh-CN" altLang="en-US" sz="2400" dirty="0">
                <a:solidFill>
                  <a:schemeClr val="tx1"/>
                </a:solidFill>
                <a:latin typeface="楷体_GB2312" pitchFamily="49" charset="-122"/>
              </a:rPr>
              <a:t>＝</a:t>
            </a:r>
            <a:r>
              <a:rPr lang="en-US" altLang="zh-CN" sz="2400" dirty="0">
                <a:solidFill>
                  <a:schemeClr val="tx1"/>
                </a:solidFill>
                <a:latin typeface="楷体_GB2312" pitchFamily="49" charset="-122"/>
              </a:rPr>
              <a:t>10</a:t>
            </a:r>
            <a:r>
              <a:rPr lang="zh-CN" altLang="en-US" sz="2400" dirty="0">
                <a:solidFill>
                  <a:schemeClr val="tx1"/>
                </a:solidFill>
                <a:latin typeface="楷体_GB2312" pitchFamily="49" charset="-122"/>
              </a:rPr>
              <a:t>，可以有</a:t>
            </a:r>
            <a:r>
              <a:rPr lang="en-US" altLang="zh-CN" sz="2400" dirty="0">
                <a:solidFill>
                  <a:schemeClr val="tx1"/>
                </a:solidFill>
                <a:latin typeface="楷体_GB2312" pitchFamily="49" charset="-122"/>
              </a:rPr>
              <a:t>2</a:t>
            </a:r>
            <a:r>
              <a:rPr lang="en-US" altLang="zh-CN" sz="2400" baseline="30000" dirty="0">
                <a:solidFill>
                  <a:schemeClr val="tx1"/>
                </a:solidFill>
                <a:latin typeface="楷体_GB2312" pitchFamily="49" charset="-122"/>
              </a:rPr>
              <a:t>10</a:t>
            </a:r>
            <a:r>
              <a:rPr lang="zh-CN" altLang="en-US" sz="2400" dirty="0">
                <a:solidFill>
                  <a:schemeClr val="tx1"/>
                </a:solidFill>
                <a:latin typeface="楷体_GB2312" pitchFamily="49" charset="-122"/>
              </a:rPr>
              <a:t>种亮度等级，但每次只能有</a:t>
            </a:r>
            <a:r>
              <a:rPr lang="en-US" altLang="zh-CN" sz="2400" dirty="0">
                <a:solidFill>
                  <a:schemeClr val="tx1"/>
                </a:solidFill>
                <a:latin typeface="楷体_GB2312" pitchFamily="49" charset="-122"/>
              </a:rPr>
              <a:t>256</a:t>
            </a:r>
            <a:r>
              <a:rPr lang="zh-CN" altLang="en-US" sz="2400" dirty="0">
                <a:solidFill>
                  <a:schemeClr val="tx1"/>
                </a:solidFill>
                <a:latin typeface="楷体_GB2312" pitchFamily="49" charset="-122"/>
              </a:rPr>
              <a:t>种不同的亮度等级可用，这种颜色称为索引色。</a:t>
            </a:r>
            <a:endParaRPr lang="zh-CN" altLang="en-US" sz="2400" dirty="0">
              <a:solidFill>
                <a:schemeClr val="tx1"/>
              </a:solidFill>
              <a:latin typeface="楷体_GB2312" pitchFamily="49" charset="-122"/>
            </a:endParaRPr>
          </a:p>
          <a:p>
            <a:pPr marL="0" lvl="0" indent="0" eaLnBrk="1" hangingPunct="1">
              <a:lnSpc>
                <a:spcPct val="150000"/>
              </a:lnSpc>
              <a:spcBef>
                <a:spcPct val="0"/>
              </a:spcBef>
              <a:buClrTx/>
              <a:buSzTx/>
              <a:buFont typeface="Arial" panose="020B0604020202020204" pitchFamily="34" charset="0"/>
              <a:buNone/>
            </a:pPr>
            <a:r>
              <a:rPr lang="zh-CN" altLang="en-US" sz="2400" dirty="0">
                <a:solidFill>
                  <a:schemeClr val="tx1"/>
                </a:solidFill>
                <a:latin typeface="楷体_GB2312" pitchFamily="49" charset="-122"/>
              </a:rPr>
              <a:t>   在本书后续的程序中，将使用</a:t>
            </a:r>
            <a:r>
              <a:rPr lang="en-US" altLang="zh-CN" sz="2400" dirty="0">
                <a:solidFill>
                  <a:schemeClr val="tx1"/>
                </a:solidFill>
                <a:latin typeface="楷体_GB2312" pitchFamily="49" charset="-122"/>
              </a:rPr>
              <a:t>COLORREF RGB(BYTE bRed</a:t>
            </a:r>
            <a:r>
              <a:rPr lang="zh-CN" altLang="en-US" sz="2400" dirty="0">
                <a:solidFill>
                  <a:schemeClr val="tx1"/>
                </a:solidFill>
                <a:latin typeface="楷体_GB2312" pitchFamily="49" charset="-122"/>
              </a:rPr>
              <a:t>，</a:t>
            </a:r>
            <a:r>
              <a:rPr lang="en-US" altLang="zh-CN" sz="2400" dirty="0">
                <a:solidFill>
                  <a:schemeClr val="tx1"/>
                </a:solidFill>
                <a:latin typeface="楷体_GB2312" pitchFamily="49" charset="-122"/>
              </a:rPr>
              <a:t>BYTE bGreen</a:t>
            </a:r>
            <a:r>
              <a:rPr lang="zh-CN" altLang="en-US" sz="2400" dirty="0">
                <a:solidFill>
                  <a:schemeClr val="tx1"/>
                </a:solidFill>
                <a:latin typeface="楷体_GB2312" pitchFamily="49" charset="-122"/>
              </a:rPr>
              <a:t>，</a:t>
            </a:r>
            <a:r>
              <a:rPr lang="en-US" altLang="zh-CN" sz="2400" dirty="0">
                <a:solidFill>
                  <a:schemeClr val="tx1"/>
                </a:solidFill>
                <a:latin typeface="楷体_GB2312" pitchFamily="49" charset="-122"/>
              </a:rPr>
              <a:t>BYTE bBlue) </a:t>
            </a:r>
            <a:r>
              <a:rPr lang="zh-CN" altLang="en-US" sz="2400" dirty="0">
                <a:solidFill>
                  <a:schemeClr val="tx1"/>
                </a:solidFill>
                <a:latin typeface="楷体_GB2312" pitchFamily="49" charset="-122"/>
              </a:rPr>
              <a:t>宏定义颜色。</a:t>
            </a:r>
            <a:endParaRPr lang="zh-CN" altLang="en-US" sz="2400" dirty="0">
              <a:solidFill>
                <a:schemeClr val="tx1"/>
              </a:solidFill>
              <a:latin typeface="楷体_GB2312" pitchFamily="49" charset="-122"/>
            </a:endParaRPr>
          </a:p>
        </p:txBody>
      </p:sp>
    </p:spTree>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5538" name="Rectangle 2"/>
          <p:cNvSpPr/>
          <p:nvPr/>
        </p:nvSpPr>
        <p:spPr>
          <a:xfrm>
            <a:off x="0" y="0"/>
            <a:ext cx="9144000" cy="0"/>
          </a:xfrm>
          <a:prstGeom prst="rect">
            <a:avLst/>
          </a:prstGeom>
          <a:noFill/>
          <a:ln w="9525">
            <a:noFill/>
          </a:ln>
          <a:effectLst>
            <a:prstShdw prst="shdw17" dist="17961" dir="2699999">
              <a:srgbClr val="008965"/>
            </a:prstShdw>
          </a:effectLst>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3200" dirty="0">
              <a:solidFill>
                <a:schemeClr val="tx1"/>
              </a:solidFill>
              <a:ea typeface="宋体" panose="02010600030101010101" pitchFamily="2" charset="-122"/>
            </a:endParaRPr>
          </a:p>
        </p:txBody>
      </p:sp>
      <p:graphicFrame>
        <p:nvGraphicFramePr>
          <p:cNvPr id="65539" name="Object 1"/>
          <p:cNvGraphicFramePr>
            <a:graphicFrameLocks noChangeAspect="1"/>
          </p:cNvGraphicFramePr>
          <p:nvPr/>
        </p:nvGraphicFramePr>
        <p:xfrm>
          <a:off x="2571750" y="142875"/>
          <a:ext cx="4857750" cy="6294438"/>
        </p:xfrm>
        <a:graphic>
          <a:graphicData uri="http://schemas.openxmlformats.org/presentationml/2006/ole">
            <mc:AlternateContent xmlns:mc="http://schemas.openxmlformats.org/markup-compatibility/2006">
              <mc:Choice xmlns:v="urn:schemas-microsoft-com:vml" Requires="v">
                <p:oleObj spid="_x0000_s3084" name="" r:id="rId1" imgW="9642475" imgH="12492990" progId="Visio.Drawing.11">
                  <p:embed/>
                </p:oleObj>
              </mc:Choice>
              <mc:Fallback>
                <p:oleObj name="" r:id="rId1" imgW="9642475" imgH="12492990" progId="Visio.Drawing.11">
                  <p:embed/>
                  <p:pic>
                    <p:nvPicPr>
                      <p:cNvPr id="0" name="图片 3083"/>
                      <p:cNvPicPr/>
                      <p:nvPr/>
                    </p:nvPicPr>
                    <p:blipFill>
                      <a:blip r:embed="rId2"/>
                      <a:stretch>
                        <a:fillRect/>
                      </a:stretch>
                    </p:blipFill>
                    <p:spPr>
                      <a:xfrm>
                        <a:off x="2571750" y="142875"/>
                        <a:ext cx="4857750" cy="6294438"/>
                      </a:xfrm>
                      <a:prstGeom prst="rect">
                        <a:avLst/>
                      </a:prstGeom>
                      <a:noFill/>
                      <a:ln w="38100">
                        <a:noFill/>
                        <a:miter/>
                      </a:ln>
                    </p:spPr>
                  </p:pic>
                </p:oleObj>
              </mc:Fallback>
            </mc:AlternateContent>
          </a:graphicData>
        </a:graphic>
      </p:graphicFrame>
      <p:sp>
        <p:nvSpPr>
          <p:cNvPr id="65540" name="Rectangle 3"/>
          <p:cNvSpPr/>
          <p:nvPr/>
        </p:nvSpPr>
        <p:spPr>
          <a:xfrm>
            <a:off x="2071688" y="6429375"/>
            <a:ext cx="5429250" cy="400050"/>
          </a:xfrm>
          <a:prstGeom prst="rect">
            <a:avLst/>
          </a:prstGeom>
          <a:noFill/>
          <a:ln w="9525">
            <a:noFill/>
          </a:ln>
          <a:effectLst>
            <a:prstShdw prst="shdw17" dist="17961" dir="2699999">
              <a:srgbClr val="008965"/>
            </a:prstShdw>
          </a:effectLst>
        </p:spPr>
        <p:txBody>
          <a:bodyPr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266700" algn="ctr">
              <a:spcBef>
                <a:spcPct val="0"/>
              </a:spcBef>
              <a:buClrTx/>
              <a:buSzTx/>
              <a:buFont typeface="Arial" panose="020B0604020202020204" pitchFamily="34" charset="0"/>
              <a:buNone/>
            </a:pPr>
            <a:r>
              <a:rPr lang="zh-CN" altLang="en-US" sz="2000" dirty="0">
                <a:solidFill>
                  <a:srgbClr val="000000"/>
                </a:solidFill>
                <a:latin typeface="Times New Roman" panose="02020603050405020304" pitchFamily="18" charset="0"/>
                <a:ea typeface="宋体" panose="02010600030101010101" pitchFamily="2" charset="-122"/>
              </a:rPr>
              <a:t>图</a:t>
            </a:r>
            <a:r>
              <a:rPr lang="en-US" altLang="zh-CN" sz="2000" dirty="0">
                <a:solidFill>
                  <a:srgbClr val="000000"/>
                </a:solidFill>
                <a:latin typeface="Times New Roman" panose="02020603050405020304" pitchFamily="18" charset="0"/>
                <a:ea typeface="宋体" panose="02010600030101010101" pitchFamily="2" charset="-122"/>
              </a:rPr>
              <a:t>1-29 24</a:t>
            </a:r>
            <a:r>
              <a:rPr lang="zh-CN" altLang="en-US" sz="2000" dirty="0">
                <a:solidFill>
                  <a:srgbClr val="000000"/>
                </a:solidFill>
                <a:latin typeface="Times New Roman" panose="02020603050405020304" pitchFamily="18" charset="0"/>
                <a:ea typeface="宋体" panose="02010600030101010101" pitchFamily="2" charset="-122"/>
              </a:rPr>
              <a:t>位面</a:t>
            </a:r>
            <a:r>
              <a:rPr lang="en-US" altLang="zh-CN" sz="2000" dirty="0">
                <a:solidFill>
                  <a:srgbClr val="000000"/>
                </a:solidFill>
                <a:latin typeface="Times New Roman" panose="02020603050405020304" pitchFamily="18" charset="0"/>
                <a:ea typeface="宋体" panose="02010600030101010101" pitchFamily="2" charset="-122"/>
              </a:rPr>
              <a:t>10</a:t>
            </a:r>
            <a:r>
              <a:rPr lang="zh-CN" altLang="en-US" sz="2000" dirty="0">
                <a:solidFill>
                  <a:srgbClr val="000000"/>
                </a:solidFill>
                <a:latin typeface="Times New Roman" panose="02020603050405020304" pitchFamily="18" charset="0"/>
                <a:ea typeface="宋体" panose="02010600030101010101" pitchFamily="2" charset="-122"/>
              </a:rPr>
              <a:t>位颜色索引表的帧缓冲器</a:t>
            </a:r>
            <a:endParaRPr lang="zh-CN" altLang="en-US" sz="2000" dirty="0">
              <a:solidFill>
                <a:schemeClr val="tx1"/>
              </a:solidFill>
              <a:ea typeface="宋体" panose="02010600030101010101" pitchFamily="2" charset="-122"/>
            </a:endParaRPr>
          </a:p>
        </p:txBody>
      </p:sp>
    </p:spTree>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6562" name="Rectangle 9"/>
          <p:cNvSpPr/>
          <p:nvPr/>
        </p:nvSpPr>
        <p:spPr>
          <a:xfrm>
            <a:off x="1571625" y="5715000"/>
            <a:ext cx="7272338"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zh-CN" altLang="en-US" sz="2400" dirty="0">
                <a:solidFill>
                  <a:schemeClr val="tx1"/>
                </a:solidFill>
                <a:latin typeface="楷体_GB2312" pitchFamily="49" charset="-122"/>
              </a:rPr>
              <a:t>一个像素的参数为位置坐标（</a:t>
            </a:r>
            <a:r>
              <a:rPr lang="en-US" altLang="zh-CN" sz="2400" dirty="0">
                <a:solidFill>
                  <a:schemeClr val="tx1"/>
                </a:solidFill>
                <a:latin typeface="楷体_GB2312" pitchFamily="49" charset="-122"/>
              </a:rPr>
              <a:t>x,y</a:t>
            </a:r>
            <a:r>
              <a:rPr lang="zh-CN" altLang="en-US" sz="2400" dirty="0">
                <a:solidFill>
                  <a:schemeClr val="tx1"/>
                </a:solidFill>
                <a:latin typeface="楷体_GB2312" pitchFamily="49" charset="-122"/>
              </a:rPr>
              <a:t>）和颜色值</a:t>
            </a:r>
            <a:r>
              <a:rPr lang="en-US" altLang="zh-CN" sz="2400" dirty="0">
                <a:solidFill>
                  <a:schemeClr val="tx1"/>
                </a:solidFill>
                <a:latin typeface="楷体_GB2312" pitchFamily="49" charset="-122"/>
              </a:rPr>
              <a:t>Color</a:t>
            </a:r>
            <a:r>
              <a:rPr lang="zh-CN" altLang="en-US" sz="2400" dirty="0">
                <a:solidFill>
                  <a:schemeClr val="tx1"/>
                </a:solidFill>
                <a:latin typeface="楷体_GB2312" pitchFamily="49" charset="-122"/>
              </a:rPr>
              <a:t>。</a:t>
            </a:r>
            <a:endParaRPr lang="zh-CN" altLang="en-US" sz="2400" dirty="0">
              <a:solidFill>
                <a:schemeClr val="tx1"/>
              </a:solidFill>
              <a:latin typeface="楷体_GB2312" pitchFamily="49" charset="-122"/>
            </a:endParaRPr>
          </a:p>
        </p:txBody>
      </p:sp>
      <p:sp>
        <p:nvSpPr>
          <p:cNvPr id="11269" name="Rectangle 5"/>
          <p:cNvSpPr>
            <a:spLocks noChangeArrowheads="1"/>
          </p:cNvSpPr>
          <p:nvPr/>
        </p:nvSpPr>
        <p:spPr bwMode="auto">
          <a:xfrm>
            <a:off x="0" y="0"/>
            <a:ext cx="9144000" cy="0"/>
          </a:xfrm>
          <a:prstGeom prst="rect">
            <a:avLst/>
          </a:prstGeom>
          <a:noFill/>
          <a:ln w="9525" cap="flat" cmpd="sng">
            <a:noFill/>
            <a:miter lim="800000"/>
          </a:ln>
          <a:effectLst>
            <a:prstShdw prst="shdw17" dist="17961" dir="2700000">
              <a:schemeClr val="accent1">
                <a:gamma/>
                <a:shade val="60000"/>
                <a:invGamma/>
              </a:schemeClr>
            </a:prstShdw>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aphicFrame>
        <p:nvGraphicFramePr>
          <p:cNvPr id="66564" name="Object 4"/>
          <p:cNvGraphicFramePr>
            <a:graphicFrameLocks noChangeAspect="1"/>
          </p:cNvGraphicFramePr>
          <p:nvPr/>
        </p:nvGraphicFramePr>
        <p:xfrm>
          <a:off x="1285875" y="857250"/>
          <a:ext cx="7575550" cy="3714750"/>
        </p:xfrm>
        <a:graphic>
          <a:graphicData uri="http://schemas.openxmlformats.org/presentationml/2006/ole">
            <mc:AlternateContent xmlns:mc="http://schemas.openxmlformats.org/markup-compatibility/2006">
              <mc:Choice xmlns:v="urn:schemas-microsoft-com:vml" Requires="v">
                <p:oleObj spid="_x0000_s3089" name="" r:id="rId1" imgW="6202045" imgH="3053080" progId="Visio.Drawing.11">
                  <p:embed/>
                </p:oleObj>
              </mc:Choice>
              <mc:Fallback>
                <p:oleObj name="" r:id="rId1" imgW="6202045" imgH="3053080" progId="Visio.Drawing.11">
                  <p:embed/>
                  <p:pic>
                    <p:nvPicPr>
                      <p:cNvPr id="0" name="图片 3088"/>
                      <p:cNvPicPr/>
                      <p:nvPr/>
                    </p:nvPicPr>
                    <p:blipFill>
                      <a:blip r:embed="rId2"/>
                      <a:stretch>
                        <a:fillRect/>
                      </a:stretch>
                    </p:blipFill>
                    <p:spPr>
                      <a:xfrm>
                        <a:off x="1285875" y="857250"/>
                        <a:ext cx="7575550" cy="3714750"/>
                      </a:xfrm>
                      <a:prstGeom prst="rect">
                        <a:avLst/>
                      </a:prstGeom>
                      <a:noFill/>
                      <a:ln w="38100">
                        <a:noFill/>
                        <a:miter/>
                      </a:ln>
                    </p:spPr>
                  </p:pic>
                </p:oleObj>
              </mc:Fallback>
            </mc:AlternateContent>
          </a:graphicData>
        </a:graphic>
      </p:graphicFrame>
      <p:sp>
        <p:nvSpPr>
          <p:cNvPr id="11270" name="Rectangle 6"/>
          <p:cNvSpPr>
            <a:spLocks noChangeArrowheads="1"/>
          </p:cNvSpPr>
          <p:nvPr/>
        </p:nvSpPr>
        <p:spPr bwMode="auto">
          <a:xfrm>
            <a:off x="3929063" y="4929188"/>
            <a:ext cx="2660650" cy="461963"/>
          </a:xfrm>
          <a:prstGeom prst="rect">
            <a:avLst/>
          </a:prstGeom>
          <a:noFill/>
          <a:ln w="9525" cap="flat" cmpd="sng">
            <a:noFill/>
            <a:miter lim="800000"/>
          </a:ln>
          <a:effectLst>
            <a:prstShdw prst="shdw17" dist="17961" dir="2700000">
              <a:schemeClr val="accent1">
                <a:gamma/>
                <a:shade val="60000"/>
                <a:invGamma/>
              </a:schemeClr>
            </a:prstShdw>
          </a:effectLst>
        </p:spPr>
        <p:txBody>
          <a:bodyPr wrap="none" anchor="ctr">
            <a:spAutoFit/>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Times New Roman" panose="02020603050405020304" pitchFamily="18" charset="0"/>
              </a:rPr>
              <a:t>图</a:t>
            </a:r>
            <a:r>
              <a:rPr kumimoji="0"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Times New Roman" panose="02020603050405020304" pitchFamily="18" charset="0"/>
              </a:rPr>
              <a:t>1-30 </a:t>
            </a:r>
            <a:r>
              <a:rPr kumimoji="0" lang="zh-CN" altLang="en-US" sz="2400" b="0" i="0" u="none" strike="noStrike" kern="12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视频控制器</a:t>
            </a:r>
            <a:endParaRPr kumimoji="0" lang="zh-CN" altLang="en-US" sz="240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7586" name="Rectangle 6"/>
          <p:cNvSpPr>
            <a:spLocks noGrp="1"/>
          </p:cNvSpPr>
          <p:nvPr>
            <p:ph type="title" idx="4294967295"/>
          </p:nvPr>
        </p:nvSpPr>
        <p:spPr>
          <a:xfrm>
            <a:off x="1403350" y="476250"/>
            <a:ext cx="5676900" cy="336550"/>
          </a:xfrm>
          <a:ln/>
        </p:spPr>
        <p:txBody>
          <a:bodyPr vert="horz" wrap="square" lIns="91440" tIns="45720" rIns="91440" bIns="45720" anchor="b" anchorCtr="0"/>
          <a:p>
            <a:pPr algn="l" eaLnBrk="1" hangingPunct="1"/>
            <a:r>
              <a:rPr lang="en-US" altLang="zh-CN" sz="3200" dirty="0">
                <a:solidFill>
                  <a:schemeClr val="tx1"/>
                </a:solidFill>
              </a:rPr>
              <a:t>1.5.5 </a:t>
            </a:r>
            <a:r>
              <a:rPr lang="zh-CN" altLang="en-US" sz="3200" dirty="0">
                <a:solidFill>
                  <a:schemeClr val="tx1"/>
                </a:solidFill>
              </a:rPr>
              <a:t>显示器的种类</a:t>
            </a:r>
            <a:endParaRPr lang="zh-CN" altLang="en-US" sz="3200" dirty="0">
              <a:solidFill>
                <a:schemeClr val="tx1"/>
              </a:solidFill>
            </a:endParaRPr>
          </a:p>
        </p:txBody>
      </p:sp>
      <p:sp>
        <p:nvSpPr>
          <p:cNvPr id="70659" name="Rectangle 7"/>
          <p:cNvSpPr>
            <a:spLocks noGrp="1"/>
          </p:cNvSpPr>
          <p:nvPr>
            <p:ph type="body" idx="4294967295"/>
          </p:nvPr>
        </p:nvSpPr>
        <p:spPr>
          <a:xfrm>
            <a:off x="1258888" y="1196975"/>
            <a:ext cx="7561262" cy="792163"/>
          </a:xfrm>
          <a:ln/>
        </p:spPr>
        <p:txBody>
          <a:bodyPr vert="horz" wrap="square" lIns="91440" tIns="45720" rIns="91440" bIns="45720" anchor="t" anchorCtr="0"/>
          <a:p>
            <a:pPr eaLnBrk="1" hangingPunct="1">
              <a:buNone/>
            </a:pPr>
            <a:r>
              <a:rPr lang="zh-CN" altLang="en-US" dirty="0">
                <a:solidFill>
                  <a:schemeClr val="tx1"/>
                </a:solidFill>
                <a:latin typeface="楷体_GB2312" pitchFamily="49" charset="-122"/>
              </a:rPr>
              <a:t>阴极射线管显示器（</a:t>
            </a:r>
            <a:r>
              <a:rPr lang="en-US" altLang="zh-CN" dirty="0">
                <a:solidFill>
                  <a:schemeClr val="tx1"/>
                </a:solidFill>
                <a:latin typeface="楷体_GB2312" pitchFamily="49" charset="-122"/>
              </a:rPr>
              <a:t>Cathode Ray Tube</a:t>
            </a:r>
            <a:r>
              <a:rPr lang="zh-CN" altLang="en-US" dirty="0">
                <a:solidFill>
                  <a:schemeClr val="tx1"/>
                </a:solidFill>
                <a:latin typeface="楷体_GB2312" pitchFamily="49" charset="-122"/>
              </a:rPr>
              <a:t>，</a:t>
            </a:r>
            <a:r>
              <a:rPr lang="en-US" altLang="zh-CN" dirty="0">
                <a:solidFill>
                  <a:schemeClr val="tx1"/>
                </a:solidFill>
                <a:latin typeface="楷体_GB2312" pitchFamily="49" charset="-122"/>
              </a:rPr>
              <a:t>CRT</a:t>
            </a:r>
            <a:r>
              <a:rPr lang="zh-CN" altLang="en-US" dirty="0">
                <a:solidFill>
                  <a:schemeClr val="tx1"/>
                </a:solidFill>
                <a:latin typeface="楷体_GB2312" pitchFamily="49" charset="-122"/>
              </a:rPr>
              <a:t>）</a:t>
            </a:r>
            <a:endParaRPr lang="zh-CN" altLang="en-US" dirty="0">
              <a:solidFill>
                <a:schemeClr val="tx1"/>
              </a:solidFill>
              <a:latin typeface="楷体_GB2312" pitchFamily="49" charset="-122"/>
            </a:endParaRPr>
          </a:p>
        </p:txBody>
      </p:sp>
      <p:pic>
        <p:nvPicPr>
          <p:cNvPr id="70660" name="Picture 8" descr="Ali_21679894_2"/>
          <p:cNvPicPr>
            <a:picLocks noChangeAspect="1"/>
          </p:cNvPicPr>
          <p:nvPr/>
        </p:nvPicPr>
        <p:blipFill>
          <a:blip r:embed="rId1"/>
          <a:stretch>
            <a:fillRect/>
          </a:stretch>
        </p:blipFill>
        <p:spPr>
          <a:xfrm>
            <a:off x="1979613" y="3357563"/>
            <a:ext cx="2736850" cy="2101850"/>
          </a:xfrm>
          <a:prstGeom prst="rect">
            <a:avLst/>
          </a:prstGeom>
          <a:noFill/>
          <a:ln w="9525">
            <a:noFill/>
          </a:ln>
        </p:spPr>
      </p:pic>
      <p:pic>
        <p:nvPicPr>
          <p:cNvPr id="70661" name="Picture 11" descr="1149820164560"/>
          <p:cNvPicPr>
            <a:picLocks noChangeAspect="1"/>
          </p:cNvPicPr>
          <p:nvPr/>
        </p:nvPicPr>
        <p:blipFill>
          <a:blip r:embed="rId2"/>
          <a:srcRect l="14583" r="14595"/>
          <a:stretch>
            <a:fillRect/>
          </a:stretch>
        </p:blipFill>
        <p:spPr>
          <a:xfrm>
            <a:off x="5364163" y="3284538"/>
            <a:ext cx="2376487" cy="2149475"/>
          </a:xfrm>
          <a:prstGeom prst="rect">
            <a:avLst/>
          </a:prstGeom>
          <a:noFill/>
          <a:ln w="9525">
            <a:noFill/>
          </a:ln>
        </p:spPr>
      </p:pic>
      <p:sp>
        <p:nvSpPr>
          <p:cNvPr id="70662" name="Rectangle 13"/>
          <p:cNvSpPr/>
          <p:nvPr/>
        </p:nvSpPr>
        <p:spPr>
          <a:xfrm>
            <a:off x="1258888" y="1916113"/>
            <a:ext cx="7561262" cy="576262"/>
          </a:xfrm>
          <a:prstGeom prst="rect">
            <a:avLst/>
          </a:prstGeom>
          <a:noFill/>
          <a:ln w="9525">
            <a:noFill/>
          </a:ln>
        </p:spPr>
        <p:txBody>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342900" lvl="0" indent="-342900" eaLnBrk="1" hangingPunct="1">
              <a:spcBef>
                <a:spcPct val="0"/>
              </a:spcBef>
              <a:buClrTx/>
              <a:buSzTx/>
              <a:buFont typeface="Arial" panose="020B0604020202020204" pitchFamily="34" charset="0"/>
              <a:buNone/>
            </a:pPr>
            <a:r>
              <a:rPr lang="zh-CN" altLang="en-US" dirty="0">
                <a:solidFill>
                  <a:schemeClr val="tx1"/>
                </a:solidFill>
                <a:latin typeface="楷体_GB2312" pitchFamily="49" charset="-122"/>
              </a:rPr>
              <a:t>液晶显示器（</a:t>
            </a:r>
            <a:r>
              <a:rPr lang="en-US" altLang="zh-CN" dirty="0">
                <a:solidFill>
                  <a:schemeClr val="tx1"/>
                </a:solidFill>
                <a:latin typeface="楷体_GB2312" pitchFamily="49" charset="-122"/>
              </a:rPr>
              <a:t>Liquid Crystal Display</a:t>
            </a:r>
            <a:r>
              <a:rPr lang="zh-CN" altLang="en-US" dirty="0">
                <a:solidFill>
                  <a:schemeClr val="tx1"/>
                </a:solidFill>
                <a:latin typeface="楷体_GB2312" pitchFamily="49" charset="-122"/>
              </a:rPr>
              <a:t>，</a:t>
            </a:r>
            <a:r>
              <a:rPr lang="en-US" altLang="zh-CN" dirty="0">
                <a:solidFill>
                  <a:schemeClr val="tx1"/>
                </a:solidFill>
                <a:latin typeface="楷体_GB2312" pitchFamily="49" charset="-122"/>
              </a:rPr>
              <a:t>LCD</a:t>
            </a:r>
            <a:r>
              <a:rPr lang="zh-CN" altLang="en-US" dirty="0">
                <a:solidFill>
                  <a:schemeClr val="tx1"/>
                </a:solidFill>
                <a:latin typeface="楷体_GB2312" pitchFamily="49" charset="-122"/>
              </a:rPr>
              <a:t>）</a:t>
            </a:r>
            <a:endParaRPr lang="zh-CN" altLang="en-US" sz="3200" dirty="0">
              <a:solidFill>
                <a:schemeClr val="tx1"/>
              </a:solidFill>
              <a:latin typeface="楷体_GB2312" pitchFamily="49" charset="-122"/>
            </a:endParaRPr>
          </a:p>
        </p:txBody>
      </p:sp>
      <p:sp>
        <p:nvSpPr>
          <p:cNvPr id="70663" name="Rectangle 14"/>
          <p:cNvSpPr/>
          <p:nvPr/>
        </p:nvSpPr>
        <p:spPr>
          <a:xfrm>
            <a:off x="1979613" y="5734050"/>
            <a:ext cx="5689600" cy="790575"/>
          </a:xfrm>
          <a:prstGeom prst="rect">
            <a:avLst/>
          </a:prstGeom>
          <a:noFill/>
          <a:ln w="9525">
            <a:noFill/>
          </a:ln>
        </p:spPr>
        <p:txBody>
          <a:bodyPr anchor="ctr" anchorCtr="1"/>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en-US" altLang="zh-CN" dirty="0">
                <a:solidFill>
                  <a:schemeClr val="tx1"/>
                </a:solidFill>
                <a:latin typeface="楷体_GB2312" pitchFamily="49" charset="-122"/>
              </a:rPr>
              <a:t>CRT             	LCD	</a:t>
            </a:r>
            <a:endParaRPr lang="en-US" altLang="zh-CN" dirty="0">
              <a:solidFill>
                <a:schemeClr val="tx1"/>
              </a:solidFill>
              <a:latin typeface="楷体_GB2312" pitchFamily="49"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0659">
                                            <p:txEl>
                                              <p:charRg st="0" end="31"/>
                                            </p:txEl>
                                          </p:spTgt>
                                        </p:tgtEl>
                                        <p:attrNameLst>
                                          <p:attrName>style.visibility</p:attrName>
                                        </p:attrNameLst>
                                      </p:cBhvr>
                                      <p:to>
                                        <p:strVal val="visible"/>
                                      </p:to>
                                    </p:set>
                                    <p:anim calcmode="lin" valueType="num">
                                      <p:cBhvr additive="base">
                                        <p:cTn id="7" dur="500" fill="hold"/>
                                        <p:tgtEl>
                                          <p:spTgt spid="70659">
                                            <p:txEl>
                                              <p:charRg st="0" end="3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0659">
                                            <p:txEl>
                                              <p:charRg st="0" end="3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0660"/>
                                        </p:tgtEl>
                                        <p:attrNameLst>
                                          <p:attrName>style.visibility</p:attrName>
                                        </p:attrNameLst>
                                      </p:cBhvr>
                                      <p:to>
                                        <p:strVal val="visible"/>
                                      </p:to>
                                    </p:set>
                                    <p:anim calcmode="lin" valueType="num">
                                      <p:cBhvr additive="base">
                                        <p:cTn id="13" dur="500" fill="hold"/>
                                        <p:tgtEl>
                                          <p:spTgt spid="70660"/>
                                        </p:tgtEl>
                                        <p:attrNameLst>
                                          <p:attrName>ppt_x</p:attrName>
                                        </p:attrNameLst>
                                      </p:cBhvr>
                                      <p:tavLst>
                                        <p:tav tm="0">
                                          <p:val>
                                            <p:strVal val="#ppt_x"/>
                                          </p:val>
                                        </p:tav>
                                        <p:tav tm="100000">
                                          <p:val>
                                            <p:strVal val="#ppt_x"/>
                                          </p:val>
                                        </p:tav>
                                      </p:tavLst>
                                    </p:anim>
                                    <p:anim calcmode="lin" valueType="num">
                                      <p:cBhvr additive="base">
                                        <p:cTn id="14" dur="500" fill="hold"/>
                                        <p:tgtEl>
                                          <p:spTgt spid="7066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0662">
                                            <p:txEl>
                                              <p:charRg st="0" end="34"/>
                                            </p:txEl>
                                          </p:spTgt>
                                        </p:tgtEl>
                                        <p:attrNameLst>
                                          <p:attrName>style.visibility</p:attrName>
                                        </p:attrNameLst>
                                      </p:cBhvr>
                                      <p:to>
                                        <p:strVal val="visible"/>
                                      </p:to>
                                    </p:set>
                                    <p:anim calcmode="lin" valueType="num">
                                      <p:cBhvr additive="base">
                                        <p:cTn id="19" dur="500" fill="hold"/>
                                        <p:tgtEl>
                                          <p:spTgt spid="70662">
                                            <p:txEl>
                                              <p:charRg st="0" end="3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0662">
                                            <p:txEl>
                                              <p:charRg st="0" end="3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0661"/>
                                        </p:tgtEl>
                                        <p:attrNameLst>
                                          <p:attrName>style.visibility</p:attrName>
                                        </p:attrNameLst>
                                      </p:cBhvr>
                                      <p:to>
                                        <p:strVal val="visible"/>
                                      </p:to>
                                    </p:set>
                                    <p:anim calcmode="lin" valueType="num">
                                      <p:cBhvr additive="base">
                                        <p:cTn id="25" dur="500" fill="hold"/>
                                        <p:tgtEl>
                                          <p:spTgt spid="70661"/>
                                        </p:tgtEl>
                                        <p:attrNameLst>
                                          <p:attrName>ppt_x</p:attrName>
                                        </p:attrNameLst>
                                      </p:cBhvr>
                                      <p:tavLst>
                                        <p:tav tm="0">
                                          <p:val>
                                            <p:strVal val="#ppt_x"/>
                                          </p:val>
                                        </p:tav>
                                        <p:tav tm="100000">
                                          <p:val>
                                            <p:strVal val="#ppt_x"/>
                                          </p:val>
                                        </p:tav>
                                      </p:tavLst>
                                    </p:anim>
                                    <p:anim calcmode="lin" valueType="num">
                                      <p:cBhvr additive="base">
                                        <p:cTn id="26" dur="500" fill="hold"/>
                                        <p:tgtEl>
                                          <p:spTgt spid="7066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70663"/>
                                        </p:tgtEl>
                                        <p:attrNameLst>
                                          <p:attrName>style.visibility</p:attrName>
                                        </p:attrNameLst>
                                      </p:cBhvr>
                                      <p:to>
                                        <p:strVal val="visible"/>
                                      </p:to>
                                    </p:set>
                                    <p:animEffect transition="in" filter="blinds(horizontal)">
                                      <p:cBhvr>
                                        <p:cTn id="31" dur="500"/>
                                        <p:tgtEl>
                                          <p:spTgt spid="706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3"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8610" name="Picture 4" descr="lcd_princip2"/>
          <p:cNvPicPr>
            <a:picLocks noChangeAspect="1"/>
          </p:cNvPicPr>
          <p:nvPr/>
        </p:nvPicPr>
        <p:blipFill>
          <a:blip r:embed="rId1"/>
          <a:stretch>
            <a:fillRect/>
          </a:stretch>
        </p:blipFill>
        <p:spPr>
          <a:xfrm>
            <a:off x="2411413" y="404813"/>
            <a:ext cx="5256212" cy="2727325"/>
          </a:xfrm>
          <a:prstGeom prst="rect">
            <a:avLst/>
          </a:prstGeom>
          <a:noFill/>
          <a:ln w="9525">
            <a:noFill/>
          </a:ln>
        </p:spPr>
      </p:pic>
      <p:pic>
        <p:nvPicPr>
          <p:cNvPr id="68611" name="Picture 5" descr="lcd_princip3"/>
          <p:cNvPicPr>
            <a:picLocks noChangeAspect="1"/>
          </p:cNvPicPr>
          <p:nvPr/>
        </p:nvPicPr>
        <p:blipFill>
          <a:blip r:embed="rId2"/>
          <a:stretch>
            <a:fillRect/>
          </a:stretch>
        </p:blipFill>
        <p:spPr>
          <a:xfrm>
            <a:off x="2411413" y="3429000"/>
            <a:ext cx="5256212" cy="2727325"/>
          </a:xfrm>
          <a:prstGeom prst="rect">
            <a:avLst/>
          </a:prstGeom>
          <a:noFill/>
          <a:ln w="9525">
            <a:noFill/>
          </a:ln>
        </p:spPr>
      </p:pic>
      <p:sp>
        <p:nvSpPr>
          <p:cNvPr id="68612" name="Rectangle 6"/>
          <p:cNvSpPr/>
          <p:nvPr/>
        </p:nvSpPr>
        <p:spPr>
          <a:xfrm>
            <a:off x="2051050" y="6400800"/>
            <a:ext cx="574516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buClr>
                <a:schemeClr val="folHlink"/>
              </a:buClr>
              <a:buNone/>
            </a:pPr>
            <a:r>
              <a:rPr lang="zh-CN" altLang="en-US" sz="2400" b="1" dirty="0">
                <a:solidFill>
                  <a:schemeClr val="tx1"/>
                </a:solidFill>
                <a:latin typeface="华文行楷" panose="02010800040101010101" pitchFamily="2" charset="-122"/>
                <a:ea typeface="华文行楷" panose="02010800040101010101" pitchFamily="2" charset="-122"/>
              </a:rPr>
              <a:t>加电将光线阻断，不加电则使光线射出。 </a:t>
            </a:r>
            <a:endParaRPr lang="zh-CN" altLang="en-US" sz="2400" b="1" dirty="0">
              <a:solidFill>
                <a:schemeClr val="tx1"/>
              </a:solidFill>
              <a:latin typeface="华文行楷" panose="02010800040101010101" pitchFamily="2" charset="-122"/>
              <a:ea typeface="华文行楷" panose="02010800040101010101" pitchFamily="2" charset="-122"/>
            </a:endParaRPr>
          </a:p>
        </p:txBody>
      </p:sp>
    </p:spTree>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69634" name="Rectangle 6"/>
          <p:cNvSpPr>
            <a:spLocks noGrp="1"/>
          </p:cNvSpPr>
          <p:nvPr>
            <p:ph type="title" idx="4294967295"/>
          </p:nvPr>
        </p:nvSpPr>
        <p:spPr>
          <a:xfrm>
            <a:off x="1619250" y="333375"/>
            <a:ext cx="4968875" cy="519113"/>
          </a:xfrm>
          <a:ln/>
        </p:spPr>
        <p:txBody>
          <a:bodyPr vert="horz" wrap="square" lIns="91440" tIns="45720" rIns="91440" bIns="45720" anchor="b" anchorCtr="0"/>
          <a:p>
            <a:pPr algn="l" eaLnBrk="1" hangingPunct="1"/>
            <a:r>
              <a:rPr lang="en-US" altLang="zh-CN" sz="3200" dirty="0">
                <a:solidFill>
                  <a:schemeClr val="tx1"/>
                </a:solidFill>
                <a:latin typeface="楷体_GB2312" pitchFamily="49" charset="-122"/>
                <a:ea typeface="楷体_GB2312" pitchFamily="49" charset="-122"/>
              </a:rPr>
              <a:t>1.5.6 </a:t>
            </a:r>
            <a:r>
              <a:rPr lang="zh-CN" altLang="en-US" sz="3200" dirty="0">
                <a:solidFill>
                  <a:schemeClr val="tx1"/>
                </a:solidFill>
                <a:latin typeface="楷体_GB2312" pitchFamily="49" charset="-122"/>
                <a:ea typeface="楷体_GB2312" pitchFamily="49" charset="-122"/>
              </a:rPr>
              <a:t>三维立体显示器</a:t>
            </a:r>
            <a:endParaRPr lang="zh-CN" altLang="en-US" sz="3200" dirty="0">
              <a:solidFill>
                <a:schemeClr val="tx1"/>
              </a:solidFill>
              <a:latin typeface="楷体_GB2312" pitchFamily="49" charset="-122"/>
              <a:ea typeface="楷体_GB2312" pitchFamily="49" charset="-122"/>
            </a:endParaRPr>
          </a:p>
        </p:txBody>
      </p:sp>
      <p:sp>
        <p:nvSpPr>
          <p:cNvPr id="69635" name="Rectangle 8"/>
          <p:cNvSpPr/>
          <p:nvPr/>
        </p:nvSpPr>
        <p:spPr>
          <a:xfrm>
            <a:off x="1547813" y="1104900"/>
            <a:ext cx="587375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en-US" altLang="zh-CN" dirty="0">
                <a:solidFill>
                  <a:schemeClr val="tx1"/>
                </a:solidFill>
                <a:latin typeface="楷体_GB2312" pitchFamily="49" charset="-122"/>
              </a:rPr>
              <a:t>1.</a:t>
            </a:r>
            <a:r>
              <a:rPr lang="zh-CN" altLang="en-US" dirty="0">
                <a:solidFill>
                  <a:schemeClr val="tx1"/>
                </a:solidFill>
                <a:latin typeface="楷体_GB2312" pitchFamily="49" charset="-122"/>
              </a:rPr>
              <a:t>二维显示器上观看三维图像的方法</a:t>
            </a:r>
            <a:endParaRPr lang="zh-CN" altLang="en-US" dirty="0">
              <a:solidFill>
                <a:schemeClr val="tx1"/>
              </a:solidFill>
              <a:latin typeface="楷体_GB2312" pitchFamily="49" charset="-122"/>
            </a:endParaRPr>
          </a:p>
        </p:txBody>
      </p:sp>
      <p:sp>
        <p:nvSpPr>
          <p:cNvPr id="69636" name="Rectangle 9"/>
          <p:cNvSpPr/>
          <p:nvPr/>
        </p:nvSpPr>
        <p:spPr>
          <a:xfrm>
            <a:off x="1692275" y="1825625"/>
            <a:ext cx="320675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buNone/>
            </a:pPr>
            <a:r>
              <a:rPr lang="zh-CN" altLang="en-US" dirty="0">
                <a:solidFill>
                  <a:schemeClr val="tx1"/>
                </a:solidFill>
                <a:latin typeface="楷体_GB2312" pitchFamily="49" charset="-122"/>
              </a:rPr>
              <a:t>（</a:t>
            </a:r>
            <a:r>
              <a:rPr lang="en-US" altLang="zh-CN" dirty="0">
                <a:solidFill>
                  <a:schemeClr val="tx1"/>
                </a:solidFill>
                <a:latin typeface="楷体_GB2312" pitchFamily="49" charset="-122"/>
              </a:rPr>
              <a:t>1</a:t>
            </a:r>
            <a:r>
              <a:rPr lang="zh-CN" altLang="en-US" dirty="0">
                <a:solidFill>
                  <a:schemeClr val="tx1"/>
                </a:solidFill>
                <a:latin typeface="楷体_GB2312" pitchFamily="49" charset="-122"/>
              </a:rPr>
              <a:t>）坐标变换方法</a:t>
            </a:r>
            <a:endParaRPr lang="zh-CN" altLang="en-US" dirty="0">
              <a:solidFill>
                <a:schemeClr val="tx1"/>
              </a:solidFill>
              <a:latin typeface="楷体_GB2312" pitchFamily="49" charset="-122"/>
            </a:endParaRPr>
          </a:p>
        </p:txBody>
      </p:sp>
      <p:sp>
        <p:nvSpPr>
          <p:cNvPr id="69637" name="Rectangle 11"/>
          <p:cNvSpPr/>
          <p:nvPr/>
        </p:nvSpPr>
        <p:spPr>
          <a:xfrm>
            <a:off x="1331913" y="2420938"/>
            <a:ext cx="7632700" cy="199072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lnSpc>
                <a:spcPct val="130000"/>
              </a:lnSpc>
              <a:spcBef>
                <a:spcPct val="0"/>
              </a:spcBef>
              <a:buClrTx/>
              <a:buSzTx/>
              <a:buFont typeface="Arial" panose="020B0604020202020204" pitchFamily="34" charset="0"/>
              <a:buNone/>
            </a:pPr>
            <a:r>
              <a:rPr lang="zh-CN" altLang="en-US" sz="2400" dirty="0">
                <a:solidFill>
                  <a:schemeClr val="tx1"/>
                </a:solidFill>
                <a:latin typeface="楷体_GB2312" pitchFamily="49" charset="-122"/>
              </a:rPr>
              <a:t>  这是目前光栅扫描显示器显示三维图像的主流技术，通过平行投影或透视投影可以将三维坐标（</a:t>
            </a:r>
            <a:r>
              <a:rPr lang="en-US" altLang="zh-CN" sz="2400" dirty="0">
                <a:solidFill>
                  <a:schemeClr val="tx1"/>
                </a:solidFill>
                <a:latin typeface="楷体_GB2312" pitchFamily="49" charset="-122"/>
              </a:rPr>
              <a:t>x</a:t>
            </a:r>
            <a:r>
              <a:rPr lang="zh-CN" altLang="en-US" sz="2400" dirty="0">
                <a:solidFill>
                  <a:schemeClr val="tx1"/>
                </a:solidFill>
                <a:latin typeface="楷体_GB2312" pitchFamily="49" charset="-122"/>
              </a:rPr>
              <a:t>，</a:t>
            </a:r>
            <a:r>
              <a:rPr lang="en-US" altLang="zh-CN" sz="2400" dirty="0">
                <a:solidFill>
                  <a:schemeClr val="tx1"/>
                </a:solidFill>
                <a:latin typeface="楷体_GB2312" pitchFamily="49" charset="-122"/>
              </a:rPr>
              <a:t>y</a:t>
            </a:r>
            <a:r>
              <a:rPr lang="zh-CN" altLang="en-US" sz="2400" dirty="0">
                <a:solidFill>
                  <a:schemeClr val="tx1"/>
                </a:solidFill>
                <a:latin typeface="楷体_GB2312" pitchFamily="49" charset="-122"/>
              </a:rPr>
              <a:t>，</a:t>
            </a:r>
            <a:r>
              <a:rPr lang="en-US" altLang="zh-CN" sz="2400" dirty="0">
                <a:solidFill>
                  <a:schemeClr val="tx1"/>
                </a:solidFill>
                <a:latin typeface="楷体_GB2312" pitchFamily="49" charset="-122"/>
              </a:rPr>
              <a:t>z</a:t>
            </a:r>
            <a:r>
              <a:rPr lang="zh-CN" altLang="en-US" sz="2400" dirty="0">
                <a:solidFill>
                  <a:schemeClr val="tx1"/>
                </a:solidFill>
                <a:latin typeface="楷体_GB2312" pitchFamily="49" charset="-122"/>
              </a:rPr>
              <a:t>）变换为屏幕坐标（</a:t>
            </a:r>
            <a:r>
              <a:rPr lang="en-US" altLang="zh-CN" sz="2400" dirty="0">
                <a:solidFill>
                  <a:schemeClr val="tx1"/>
                </a:solidFill>
                <a:latin typeface="楷体_GB2312" pitchFamily="49" charset="-122"/>
              </a:rPr>
              <a:t>x</a:t>
            </a:r>
            <a:r>
              <a:rPr lang="zh-CN" altLang="en-US" sz="2400" dirty="0">
                <a:solidFill>
                  <a:schemeClr val="tx1"/>
                </a:solidFill>
                <a:latin typeface="楷体_GB2312" pitchFamily="49" charset="-122"/>
              </a:rPr>
              <a:t>，</a:t>
            </a:r>
            <a:r>
              <a:rPr lang="en-US" altLang="zh-CN" sz="2400" dirty="0">
                <a:solidFill>
                  <a:schemeClr val="tx1"/>
                </a:solidFill>
                <a:latin typeface="楷体_GB2312" pitchFamily="49" charset="-122"/>
              </a:rPr>
              <a:t>y</a:t>
            </a:r>
            <a:r>
              <a:rPr lang="zh-CN" altLang="en-US" sz="2400" dirty="0">
                <a:solidFill>
                  <a:schemeClr val="tx1"/>
                </a:solidFill>
                <a:latin typeface="楷体_GB2312" pitchFamily="49" charset="-122"/>
              </a:rPr>
              <a:t>）。这种三维物体坐标向二维屏幕坐标投影生成的图像称为准三维图像。</a:t>
            </a:r>
            <a:endParaRPr lang="zh-CN" altLang="en-US" sz="2400" dirty="0">
              <a:solidFill>
                <a:schemeClr val="tx1"/>
              </a:solidFill>
              <a:latin typeface="楷体_GB2312" pitchFamily="49" charset="-122"/>
            </a:endParaRPr>
          </a:p>
        </p:txBody>
      </p:sp>
      <p:pic>
        <p:nvPicPr>
          <p:cNvPr id="69638" name="Picture 13"/>
          <p:cNvPicPr>
            <a:picLocks noChangeAspect="1"/>
          </p:cNvPicPr>
          <p:nvPr/>
        </p:nvPicPr>
        <p:blipFill>
          <a:blip r:embed="rId1"/>
          <a:stretch>
            <a:fillRect/>
          </a:stretch>
        </p:blipFill>
        <p:spPr>
          <a:xfrm>
            <a:off x="6445250" y="4695825"/>
            <a:ext cx="1366838" cy="1325563"/>
          </a:xfrm>
          <a:prstGeom prst="rect">
            <a:avLst/>
          </a:prstGeom>
          <a:noFill/>
          <a:ln w="9525">
            <a:noFill/>
          </a:ln>
        </p:spPr>
      </p:pic>
      <p:pic>
        <p:nvPicPr>
          <p:cNvPr id="69639" name="Picture 14"/>
          <p:cNvPicPr>
            <a:picLocks noChangeAspect="1"/>
          </p:cNvPicPr>
          <p:nvPr/>
        </p:nvPicPr>
        <p:blipFill>
          <a:blip r:embed="rId2"/>
          <a:stretch>
            <a:fillRect/>
          </a:stretch>
        </p:blipFill>
        <p:spPr>
          <a:xfrm>
            <a:off x="4211638" y="4737100"/>
            <a:ext cx="1225550" cy="1212850"/>
          </a:xfrm>
          <a:prstGeom prst="rect">
            <a:avLst/>
          </a:prstGeom>
          <a:noFill/>
          <a:ln w="9525">
            <a:noFill/>
          </a:ln>
        </p:spPr>
      </p:pic>
      <p:sp>
        <p:nvSpPr>
          <p:cNvPr id="69640" name="Rectangle 16"/>
          <p:cNvSpPr/>
          <p:nvPr/>
        </p:nvSpPr>
        <p:spPr>
          <a:xfrm>
            <a:off x="0" y="2757488"/>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3200" dirty="0">
              <a:solidFill>
                <a:schemeClr val="tx1"/>
              </a:solidFill>
              <a:ea typeface="宋体" panose="02010600030101010101" pitchFamily="2" charset="-122"/>
            </a:endParaRPr>
          </a:p>
        </p:txBody>
      </p:sp>
      <p:graphicFrame>
        <p:nvGraphicFramePr>
          <p:cNvPr id="69641" name="Object 15"/>
          <p:cNvGraphicFramePr>
            <a:graphicFrameLocks noChangeAspect="1"/>
          </p:cNvGraphicFramePr>
          <p:nvPr/>
        </p:nvGraphicFramePr>
        <p:xfrm>
          <a:off x="2052638" y="4652963"/>
          <a:ext cx="1343025" cy="1343025"/>
        </p:xfrm>
        <a:graphic>
          <a:graphicData uri="http://schemas.openxmlformats.org/presentationml/2006/ole">
            <mc:AlternateContent xmlns:mc="http://schemas.openxmlformats.org/markup-compatibility/2006">
              <mc:Choice xmlns:v="urn:schemas-microsoft-com:vml" Requires="v">
                <p:oleObj spid="_x0000_s3090" name="" r:id="rId3" imgW="3477260" imgH="3477260" progId="Visio.Drawing.11">
                  <p:embed/>
                </p:oleObj>
              </mc:Choice>
              <mc:Fallback>
                <p:oleObj name="" r:id="rId3" imgW="3477260" imgH="3477260" progId="Visio.Drawing.11">
                  <p:embed/>
                  <p:pic>
                    <p:nvPicPr>
                      <p:cNvPr id="0" name="图片 3089"/>
                      <p:cNvPicPr/>
                      <p:nvPr/>
                    </p:nvPicPr>
                    <p:blipFill>
                      <a:blip r:embed="rId4"/>
                      <a:stretch>
                        <a:fillRect/>
                      </a:stretch>
                    </p:blipFill>
                    <p:spPr>
                      <a:xfrm>
                        <a:off x="2052638" y="4652963"/>
                        <a:ext cx="1343025" cy="1343025"/>
                      </a:xfrm>
                      <a:prstGeom prst="rect">
                        <a:avLst/>
                      </a:prstGeom>
                      <a:noFill/>
                      <a:ln w="38100">
                        <a:noFill/>
                        <a:miter/>
                      </a:ln>
                    </p:spPr>
                  </p:pic>
                </p:oleObj>
              </mc:Fallback>
            </mc:AlternateContent>
          </a:graphicData>
        </a:graphic>
      </p:graphicFrame>
      <p:sp>
        <p:nvSpPr>
          <p:cNvPr id="69642" name="Rectangle 17"/>
          <p:cNvSpPr/>
          <p:nvPr/>
        </p:nvSpPr>
        <p:spPr>
          <a:xfrm>
            <a:off x="1547813" y="6165850"/>
            <a:ext cx="6985000" cy="503238"/>
          </a:xfrm>
          <a:prstGeom prst="rect">
            <a:avLst/>
          </a:prstGeom>
          <a:noFill/>
          <a:ln w="9525">
            <a:noFill/>
          </a:ln>
        </p:spPr>
        <p:txBody>
          <a:bodyPr anchor="ctr" anchorCtr="1"/>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zh-CN" altLang="en-US" sz="2400" dirty="0">
                <a:solidFill>
                  <a:schemeClr val="tx1"/>
                </a:solidFill>
                <a:latin typeface="楷体_GB2312" pitchFamily="49" charset="-122"/>
              </a:rPr>
              <a:t>斜投影      正交投影      透视投影</a:t>
            </a:r>
            <a:endParaRPr lang="zh-CN" altLang="en-US" sz="2400" b="1" dirty="0">
              <a:solidFill>
                <a:schemeClr val="tx1"/>
              </a:solidFill>
              <a:latin typeface="楷体_GB2312" pitchFamily="49" charset="-122"/>
            </a:endParaRPr>
          </a:p>
        </p:txBody>
      </p:sp>
    </p:spTree>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4"/>
          <p:cNvSpPr/>
          <p:nvPr/>
        </p:nvSpPr>
        <p:spPr>
          <a:xfrm>
            <a:off x="1547813" y="404813"/>
            <a:ext cx="3917950" cy="519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buNone/>
            </a:pPr>
            <a:r>
              <a:rPr lang="zh-CN" altLang="en-US" dirty="0">
                <a:solidFill>
                  <a:schemeClr val="tx1"/>
                </a:solidFill>
                <a:latin typeface="楷体_GB2312" pitchFamily="49" charset="-122"/>
              </a:rPr>
              <a:t>（</a:t>
            </a:r>
            <a:r>
              <a:rPr lang="en-US" altLang="zh-CN" dirty="0">
                <a:solidFill>
                  <a:schemeClr val="tx1"/>
                </a:solidFill>
                <a:latin typeface="楷体_GB2312" pitchFamily="49" charset="-122"/>
              </a:rPr>
              <a:t>2</a:t>
            </a:r>
            <a:r>
              <a:rPr lang="zh-CN" altLang="en-US" dirty="0">
                <a:solidFill>
                  <a:schemeClr val="tx1"/>
                </a:solidFill>
                <a:latin typeface="楷体_GB2312" pitchFamily="49" charset="-122"/>
              </a:rPr>
              <a:t>）三维立体显示方法</a:t>
            </a:r>
            <a:endParaRPr lang="zh-CN" altLang="en-US" dirty="0">
              <a:solidFill>
                <a:schemeClr val="tx1"/>
              </a:solidFill>
              <a:latin typeface="楷体_GB2312" pitchFamily="49" charset="-122"/>
            </a:endParaRPr>
          </a:p>
        </p:txBody>
      </p:sp>
      <p:pic>
        <p:nvPicPr>
          <p:cNvPr id="70659" name="Picture 6"/>
          <p:cNvPicPr>
            <a:picLocks noChangeAspect="1"/>
          </p:cNvPicPr>
          <p:nvPr/>
        </p:nvPicPr>
        <p:blipFill>
          <a:blip r:embed="rId1"/>
          <a:stretch>
            <a:fillRect/>
          </a:stretch>
        </p:blipFill>
        <p:spPr>
          <a:xfrm>
            <a:off x="2700338" y="1989138"/>
            <a:ext cx="5040312" cy="3486150"/>
          </a:xfrm>
          <a:prstGeom prst="rect">
            <a:avLst/>
          </a:prstGeom>
          <a:noFill/>
          <a:ln w="9525">
            <a:noFill/>
          </a:ln>
        </p:spPr>
      </p:pic>
      <p:sp>
        <p:nvSpPr>
          <p:cNvPr id="70660" name="Rectangle 7"/>
          <p:cNvSpPr/>
          <p:nvPr/>
        </p:nvSpPr>
        <p:spPr>
          <a:xfrm>
            <a:off x="4140200" y="6021388"/>
            <a:ext cx="14033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buNone/>
            </a:pPr>
            <a:r>
              <a:rPr lang="zh-CN" altLang="en-US" sz="2400" dirty="0">
                <a:solidFill>
                  <a:schemeClr val="tx1"/>
                </a:solidFill>
                <a:latin typeface="楷体_GB2312" pitchFamily="49" charset="-122"/>
              </a:rPr>
              <a:t>立体双图</a:t>
            </a:r>
            <a:endParaRPr lang="zh-CN" altLang="en-US" sz="2400" dirty="0">
              <a:solidFill>
                <a:schemeClr val="tx1"/>
              </a:solidFill>
              <a:latin typeface="楷体_GB2312" pitchFamily="49" charset="-122"/>
            </a:endParaRPr>
          </a:p>
        </p:txBody>
      </p:sp>
    </p:spTree>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1682" name="Picture 4" descr="1-33"/>
          <p:cNvPicPr>
            <a:picLocks noChangeAspect="1"/>
          </p:cNvPicPr>
          <p:nvPr/>
        </p:nvPicPr>
        <p:blipFill>
          <a:blip r:embed="rId1"/>
          <a:stretch>
            <a:fillRect/>
          </a:stretch>
        </p:blipFill>
        <p:spPr>
          <a:xfrm>
            <a:off x="1908175" y="1196975"/>
            <a:ext cx="6192838" cy="2282825"/>
          </a:xfrm>
          <a:prstGeom prst="rect">
            <a:avLst/>
          </a:prstGeom>
          <a:noFill/>
          <a:ln w="9525">
            <a:noFill/>
          </a:ln>
        </p:spPr>
      </p:pic>
      <p:sp>
        <p:nvSpPr>
          <p:cNvPr id="71683" name="Rectangle 5"/>
          <p:cNvSpPr/>
          <p:nvPr/>
        </p:nvSpPr>
        <p:spPr>
          <a:xfrm>
            <a:off x="1547813" y="333375"/>
            <a:ext cx="2354262" cy="579438"/>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Char char="•"/>
            </a:pPr>
            <a:r>
              <a:rPr lang="zh-CN" altLang="en-US" sz="2400" dirty="0">
                <a:solidFill>
                  <a:schemeClr val="tx1"/>
                </a:solidFill>
                <a:latin typeface="楷体_GB2312" pitchFamily="49" charset="-122"/>
              </a:rPr>
              <a:t>立体摄影方法</a:t>
            </a:r>
            <a:r>
              <a:rPr lang="zh-CN" altLang="en-US" sz="3200" dirty="0">
                <a:solidFill>
                  <a:schemeClr val="tx1"/>
                </a:solidFill>
                <a:latin typeface="楷体_GB2312" pitchFamily="49" charset="-122"/>
              </a:rPr>
              <a:t> </a:t>
            </a:r>
            <a:endParaRPr lang="zh-CN" altLang="en-US" sz="3200" dirty="0">
              <a:solidFill>
                <a:schemeClr val="tx1"/>
              </a:solidFill>
              <a:latin typeface="楷体_GB2312" pitchFamily="49" charset="-122"/>
            </a:endParaRPr>
          </a:p>
        </p:txBody>
      </p:sp>
      <p:pic>
        <p:nvPicPr>
          <p:cNvPr id="71684" name="Picture 11" descr="liti"/>
          <p:cNvPicPr>
            <a:picLocks noChangeAspect="1"/>
          </p:cNvPicPr>
          <p:nvPr/>
        </p:nvPicPr>
        <p:blipFill>
          <a:blip r:embed="rId2"/>
          <a:stretch>
            <a:fillRect/>
          </a:stretch>
        </p:blipFill>
        <p:spPr>
          <a:xfrm>
            <a:off x="1906588" y="4005263"/>
            <a:ext cx="6121400" cy="2238375"/>
          </a:xfrm>
          <a:prstGeom prst="rect">
            <a:avLst/>
          </a:prstGeom>
          <a:noFill/>
          <a:ln w="9525">
            <a:noFill/>
          </a:ln>
        </p:spPr>
      </p:pic>
    </p:spTree>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2706" name="Picture 4" descr="未标题-1"/>
          <p:cNvPicPr>
            <a:picLocks noChangeAspect="1"/>
          </p:cNvPicPr>
          <p:nvPr/>
        </p:nvPicPr>
        <p:blipFill>
          <a:blip r:embed="rId1"/>
          <a:stretch>
            <a:fillRect/>
          </a:stretch>
        </p:blipFill>
        <p:spPr>
          <a:xfrm>
            <a:off x="1476375" y="1201738"/>
            <a:ext cx="1943100" cy="1471612"/>
          </a:xfrm>
          <a:prstGeom prst="rect">
            <a:avLst/>
          </a:prstGeom>
          <a:noFill/>
          <a:ln w="9525">
            <a:noFill/>
          </a:ln>
        </p:spPr>
      </p:pic>
      <p:pic>
        <p:nvPicPr>
          <p:cNvPr id="72707" name="Picture 5" descr="拍摄"/>
          <p:cNvPicPr>
            <a:picLocks noChangeAspect="1"/>
          </p:cNvPicPr>
          <p:nvPr/>
        </p:nvPicPr>
        <p:blipFill>
          <a:blip r:embed="rId2"/>
          <a:stretch>
            <a:fillRect/>
          </a:stretch>
        </p:blipFill>
        <p:spPr>
          <a:xfrm>
            <a:off x="3635375" y="1346200"/>
            <a:ext cx="2089150" cy="1206500"/>
          </a:xfrm>
          <a:prstGeom prst="rect">
            <a:avLst/>
          </a:prstGeom>
          <a:noFill/>
          <a:ln w="9525">
            <a:noFill/>
          </a:ln>
        </p:spPr>
      </p:pic>
      <p:pic>
        <p:nvPicPr>
          <p:cNvPr id="72708" name="Picture 6" descr="w"/>
          <p:cNvPicPr>
            <a:picLocks noChangeAspect="1"/>
          </p:cNvPicPr>
          <p:nvPr/>
        </p:nvPicPr>
        <p:blipFill>
          <a:blip r:embed="rId3"/>
          <a:stretch>
            <a:fillRect/>
          </a:stretch>
        </p:blipFill>
        <p:spPr>
          <a:xfrm>
            <a:off x="2051050" y="3284538"/>
            <a:ext cx="2447925" cy="2332037"/>
          </a:xfrm>
          <a:prstGeom prst="rect">
            <a:avLst/>
          </a:prstGeom>
          <a:noFill/>
          <a:ln w="9525">
            <a:noFill/>
          </a:ln>
        </p:spPr>
      </p:pic>
      <p:pic>
        <p:nvPicPr>
          <p:cNvPr id="72709" name="Picture 8" descr="qqqqq"/>
          <p:cNvPicPr>
            <a:picLocks noChangeAspect="1"/>
          </p:cNvPicPr>
          <p:nvPr/>
        </p:nvPicPr>
        <p:blipFill>
          <a:blip r:embed="rId4"/>
          <a:stretch>
            <a:fillRect/>
          </a:stretch>
        </p:blipFill>
        <p:spPr>
          <a:xfrm>
            <a:off x="6156325" y="1201738"/>
            <a:ext cx="2376488" cy="1579562"/>
          </a:xfrm>
          <a:prstGeom prst="rect">
            <a:avLst/>
          </a:prstGeom>
          <a:noFill/>
          <a:ln w="9525">
            <a:noFill/>
          </a:ln>
        </p:spPr>
      </p:pic>
      <p:pic>
        <p:nvPicPr>
          <p:cNvPr id="72710" name="Picture 9"/>
          <p:cNvPicPr>
            <a:picLocks noChangeAspect="1"/>
          </p:cNvPicPr>
          <p:nvPr/>
        </p:nvPicPr>
        <p:blipFill>
          <a:blip r:embed="rId5"/>
          <a:stretch>
            <a:fillRect/>
          </a:stretch>
        </p:blipFill>
        <p:spPr>
          <a:xfrm>
            <a:off x="5219700" y="3357563"/>
            <a:ext cx="3311525" cy="2425700"/>
          </a:xfrm>
          <a:prstGeom prst="rect">
            <a:avLst/>
          </a:prstGeom>
          <a:noFill/>
          <a:ln w="9525">
            <a:noFill/>
          </a:ln>
        </p:spPr>
      </p:pic>
      <p:sp>
        <p:nvSpPr>
          <p:cNvPr id="72711" name="Rectangle 11"/>
          <p:cNvSpPr/>
          <p:nvPr/>
        </p:nvSpPr>
        <p:spPr>
          <a:xfrm>
            <a:off x="4211638" y="5949950"/>
            <a:ext cx="1530350" cy="579438"/>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zh-CN" altLang="en-US" sz="2400" dirty="0">
                <a:solidFill>
                  <a:schemeClr val="tx1"/>
                </a:solidFill>
              </a:rPr>
              <a:t>立体相机</a:t>
            </a:r>
            <a:r>
              <a:rPr lang="zh-CN" altLang="en-US" sz="3200" dirty="0">
                <a:solidFill>
                  <a:schemeClr val="tx1"/>
                </a:solidFill>
                <a:ea typeface="宋体" panose="02010600030101010101" pitchFamily="2" charset="-122"/>
              </a:rPr>
              <a:t> </a:t>
            </a:r>
            <a:endParaRPr lang="zh-CN" altLang="en-US" sz="3200" dirty="0">
              <a:solidFill>
                <a:schemeClr val="tx1"/>
              </a:solidFill>
              <a:ea typeface="宋体" panose="02010600030101010101" pitchFamily="2" charset="-122"/>
            </a:endParaRPr>
          </a:p>
        </p:txBody>
      </p:sp>
    </p:spTree>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5"/>
          <p:cNvSpPr/>
          <p:nvPr/>
        </p:nvSpPr>
        <p:spPr>
          <a:xfrm>
            <a:off x="5795963" y="2852738"/>
            <a:ext cx="1708150" cy="4572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zh-CN" altLang="en-US" sz="2400" dirty="0">
                <a:solidFill>
                  <a:schemeClr val="tx1"/>
                </a:solidFill>
              </a:rPr>
              <a:t>立体观屏器</a:t>
            </a:r>
            <a:endParaRPr lang="zh-CN" altLang="en-US" sz="3200" dirty="0">
              <a:solidFill>
                <a:schemeClr val="tx1"/>
              </a:solidFill>
              <a:ea typeface="宋体" panose="02010600030101010101" pitchFamily="2" charset="-122"/>
            </a:endParaRPr>
          </a:p>
        </p:txBody>
      </p:sp>
      <p:pic>
        <p:nvPicPr>
          <p:cNvPr id="73731" name="Picture 6" descr="T2IbdlXilaXXXXXXXX_!!153384418"/>
          <p:cNvPicPr>
            <a:picLocks noChangeAspect="1"/>
          </p:cNvPicPr>
          <p:nvPr/>
        </p:nvPicPr>
        <p:blipFill>
          <a:blip r:embed="rId1"/>
          <a:stretch>
            <a:fillRect/>
          </a:stretch>
        </p:blipFill>
        <p:spPr>
          <a:xfrm>
            <a:off x="1908175" y="404813"/>
            <a:ext cx="2503488" cy="2266950"/>
          </a:xfrm>
          <a:prstGeom prst="rect">
            <a:avLst/>
          </a:prstGeom>
          <a:noFill/>
          <a:ln w="9525">
            <a:noFill/>
          </a:ln>
        </p:spPr>
      </p:pic>
      <p:pic>
        <p:nvPicPr>
          <p:cNvPr id="73732" name="Picture 7" descr="T2iHtlXXNXXXXXXXXX_!!153384418"/>
          <p:cNvPicPr>
            <a:picLocks noChangeAspect="1"/>
          </p:cNvPicPr>
          <p:nvPr/>
        </p:nvPicPr>
        <p:blipFill>
          <a:blip r:embed="rId2"/>
          <a:stretch>
            <a:fillRect/>
          </a:stretch>
        </p:blipFill>
        <p:spPr>
          <a:xfrm>
            <a:off x="5580063" y="333375"/>
            <a:ext cx="2952750" cy="2214563"/>
          </a:xfrm>
          <a:prstGeom prst="rect">
            <a:avLst/>
          </a:prstGeom>
          <a:noFill/>
          <a:ln w="9525">
            <a:noFill/>
          </a:ln>
        </p:spPr>
      </p:pic>
      <p:graphicFrame>
        <p:nvGraphicFramePr>
          <p:cNvPr id="73733" name="Object 8"/>
          <p:cNvGraphicFramePr>
            <a:graphicFrameLocks noChangeAspect="1"/>
          </p:cNvGraphicFramePr>
          <p:nvPr/>
        </p:nvGraphicFramePr>
        <p:xfrm>
          <a:off x="4714875" y="3141663"/>
          <a:ext cx="4319588" cy="3152775"/>
        </p:xfrm>
        <a:graphic>
          <a:graphicData uri="http://schemas.openxmlformats.org/presentationml/2006/ole">
            <mc:AlternateContent xmlns:mc="http://schemas.openxmlformats.org/markup-compatibility/2006">
              <mc:Choice xmlns:v="urn:schemas-microsoft-com:vml" Requires="v">
                <p:oleObj spid="_x0000_s3091" name="" r:id="rId3" imgW="8383905" imgH="6127750" progId="Visio.Drawing.11">
                  <p:embed/>
                </p:oleObj>
              </mc:Choice>
              <mc:Fallback>
                <p:oleObj name="" r:id="rId3" imgW="8383905" imgH="6127750" progId="Visio.Drawing.11">
                  <p:embed/>
                  <p:pic>
                    <p:nvPicPr>
                      <p:cNvPr id="0" name="图片 3090"/>
                      <p:cNvPicPr/>
                      <p:nvPr/>
                    </p:nvPicPr>
                    <p:blipFill>
                      <a:blip r:embed="rId4"/>
                      <a:stretch>
                        <a:fillRect/>
                      </a:stretch>
                    </p:blipFill>
                    <p:spPr>
                      <a:xfrm>
                        <a:off x="4714875" y="3141663"/>
                        <a:ext cx="4319588" cy="3152775"/>
                      </a:xfrm>
                      <a:prstGeom prst="rect">
                        <a:avLst/>
                      </a:prstGeom>
                      <a:noFill/>
                      <a:ln w="38100">
                        <a:noFill/>
                        <a:miter/>
                      </a:ln>
                    </p:spPr>
                  </p:pic>
                </p:oleObj>
              </mc:Fallback>
            </mc:AlternateContent>
          </a:graphicData>
        </a:graphic>
      </p:graphicFrame>
      <p:sp>
        <p:nvSpPr>
          <p:cNvPr id="73734" name="Rectangle 9"/>
          <p:cNvSpPr/>
          <p:nvPr/>
        </p:nvSpPr>
        <p:spPr>
          <a:xfrm>
            <a:off x="5795963" y="6400800"/>
            <a:ext cx="2317750" cy="4572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zh-CN" altLang="en-US" sz="2400" dirty="0">
                <a:solidFill>
                  <a:schemeClr val="tx1"/>
                </a:solidFill>
              </a:rPr>
              <a:t>立体观屏器原理</a:t>
            </a:r>
            <a:endParaRPr lang="zh-CN" altLang="en-US" sz="3200" dirty="0">
              <a:solidFill>
                <a:schemeClr val="tx1"/>
              </a:solidFill>
              <a:ea typeface="宋体" panose="02010600030101010101" pitchFamily="2" charset="-122"/>
            </a:endParaRPr>
          </a:p>
        </p:txBody>
      </p:sp>
      <p:pic>
        <p:nvPicPr>
          <p:cNvPr id="73735" name="图片 6" descr="未命名.bmp"/>
          <p:cNvPicPr>
            <a:picLocks noChangeAspect="1"/>
          </p:cNvPicPr>
          <p:nvPr/>
        </p:nvPicPr>
        <p:blipFill>
          <a:blip r:embed="rId5"/>
          <a:stretch>
            <a:fillRect/>
          </a:stretch>
        </p:blipFill>
        <p:spPr>
          <a:xfrm>
            <a:off x="1571625" y="2857500"/>
            <a:ext cx="1214438" cy="3763963"/>
          </a:xfrm>
          <a:prstGeom prst="rect">
            <a:avLst/>
          </a:prstGeom>
          <a:noFill/>
          <a:ln w="9525">
            <a:noFill/>
          </a:ln>
        </p:spPr>
      </p:pic>
      <p:sp>
        <p:nvSpPr>
          <p:cNvPr id="73736" name="Rectangle 5"/>
          <p:cNvSpPr/>
          <p:nvPr/>
        </p:nvSpPr>
        <p:spPr>
          <a:xfrm>
            <a:off x="3214688" y="3357563"/>
            <a:ext cx="642937" cy="3046412"/>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zh-CN" altLang="en-US" sz="2400" dirty="0">
                <a:solidFill>
                  <a:schemeClr val="tx1"/>
                </a:solidFill>
              </a:rPr>
              <a:t>投币式立体观片机</a:t>
            </a:r>
            <a:endParaRPr lang="zh-CN" altLang="en-US" sz="3200" dirty="0">
              <a:solidFill>
                <a:schemeClr val="tx1"/>
              </a:solidFill>
              <a:ea typeface="宋体" panose="02010600030101010101" pitchFamily="2" charset="-122"/>
            </a:endParaRPr>
          </a:p>
        </p:txBody>
      </p:sp>
    </p:spTree>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4754" name="Picture 4" descr="kagami14"/>
          <p:cNvPicPr>
            <a:picLocks noChangeAspect="1"/>
          </p:cNvPicPr>
          <p:nvPr/>
        </p:nvPicPr>
        <p:blipFill>
          <a:blip r:embed="rId1"/>
          <a:stretch>
            <a:fillRect/>
          </a:stretch>
        </p:blipFill>
        <p:spPr>
          <a:xfrm>
            <a:off x="2843213" y="4292600"/>
            <a:ext cx="4535487" cy="1752600"/>
          </a:xfrm>
          <a:prstGeom prst="rect">
            <a:avLst/>
          </a:prstGeom>
          <a:noFill/>
          <a:ln w="9525">
            <a:noFill/>
          </a:ln>
        </p:spPr>
      </p:pic>
      <p:pic>
        <p:nvPicPr>
          <p:cNvPr id="74755" name="Picture 5" descr="kagami12"/>
          <p:cNvPicPr>
            <a:picLocks noChangeAspect="1"/>
          </p:cNvPicPr>
          <p:nvPr/>
        </p:nvPicPr>
        <p:blipFill>
          <a:blip r:embed="rId2"/>
          <a:stretch>
            <a:fillRect/>
          </a:stretch>
        </p:blipFill>
        <p:spPr>
          <a:xfrm>
            <a:off x="2771775" y="203200"/>
            <a:ext cx="4464050" cy="1784350"/>
          </a:xfrm>
          <a:prstGeom prst="rect">
            <a:avLst/>
          </a:prstGeom>
          <a:noFill/>
          <a:ln w="9525">
            <a:noFill/>
          </a:ln>
        </p:spPr>
      </p:pic>
      <p:pic>
        <p:nvPicPr>
          <p:cNvPr id="74756" name="Picture 6" descr="kagami13"/>
          <p:cNvPicPr>
            <a:picLocks noChangeAspect="1"/>
          </p:cNvPicPr>
          <p:nvPr/>
        </p:nvPicPr>
        <p:blipFill>
          <a:blip r:embed="rId3"/>
          <a:stretch>
            <a:fillRect/>
          </a:stretch>
        </p:blipFill>
        <p:spPr>
          <a:xfrm>
            <a:off x="2843213" y="2205038"/>
            <a:ext cx="4464050" cy="1771650"/>
          </a:xfrm>
          <a:prstGeom prst="rect">
            <a:avLst/>
          </a:prstGeom>
          <a:noFill/>
          <a:ln w="9525">
            <a:noFill/>
          </a:ln>
        </p:spPr>
      </p:pic>
      <p:sp>
        <p:nvSpPr>
          <p:cNvPr id="74757" name="Rectangle 7"/>
          <p:cNvSpPr/>
          <p:nvPr/>
        </p:nvSpPr>
        <p:spPr>
          <a:xfrm>
            <a:off x="3635375" y="6165850"/>
            <a:ext cx="2927350" cy="4572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zh-CN" altLang="en-US" sz="2400" dirty="0">
                <a:solidFill>
                  <a:schemeClr val="tx1"/>
                </a:solidFill>
              </a:rPr>
              <a:t>立体观屏器制作过程</a:t>
            </a:r>
            <a:endParaRPr lang="zh-CN" altLang="en-US" sz="3200" dirty="0">
              <a:solidFill>
                <a:schemeClr val="tx1"/>
              </a:solidFill>
              <a:ea typeface="宋体" panose="02010600030101010101" pitchFamily="2" charset="-122"/>
            </a:endParaRPr>
          </a:p>
        </p:txBody>
      </p:sp>
    </p:spTree>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7"/>
          <p:cNvSpPr/>
          <p:nvPr/>
        </p:nvSpPr>
        <p:spPr>
          <a:xfrm>
            <a:off x="3500438" y="6143625"/>
            <a:ext cx="3878262" cy="461963"/>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zh-CN" altLang="en-US" sz="2400" dirty="0">
                <a:solidFill>
                  <a:schemeClr val="tx1"/>
                </a:solidFill>
              </a:rPr>
              <a:t>博创研究所自制立体观屏器</a:t>
            </a:r>
            <a:endParaRPr lang="zh-CN" altLang="en-US" sz="3200" dirty="0">
              <a:solidFill>
                <a:schemeClr val="tx1"/>
              </a:solidFill>
              <a:ea typeface="宋体" panose="02010600030101010101" pitchFamily="2" charset="-122"/>
            </a:endParaRPr>
          </a:p>
        </p:txBody>
      </p:sp>
      <p:pic>
        <p:nvPicPr>
          <p:cNvPr id="75779" name="Picture 2" descr="I:\DCIM\.thumbnails\1394178292839.jpg"/>
          <p:cNvPicPr>
            <a:picLocks noChangeAspect="1"/>
          </p:cNvPicPr>
          <p:nvPr/>
        </p:nvPicPr>
        <p:blipFill>
          <a:blip r:embed="rId1"/>
          <a:stretch>
            <a:fillRect/>
          </a:stretch>
        </p:blipFill>
        <p:spPr>
          <a:xfrm>
            <a:off x="1500188" y="714375"/>
            <a:ext cx="3048000" cy="2286000"/>
          </a:xfrm>
          <a:prstGeom prst="rect">
            <a:avLst/>
          </a:prstGeom>
          <a:noFill/>
          <a:ln w="9525">
            <a:noFill/>
          </a:ln>
        </p:spPr>
      </p:pic>
      <p:pic>
        <p:nvPicPr>
          <p:cNvPr id="75780" name="Picture 3" descr="I:\DCIM\.thumbnails\1394178341706.jpg"/>
          <p:cNvPicPr>
            <a:picLocks noChangeAspect="1"/>
          </p:cNvPicPr>
          <p:nvPr/>
        </p:nvPicPr>
        <p:blipFill>
          <a:blip r:embed="rId2"/>
          <a:stretch>
            <a:fillRect/>
          </a:stretch>
        </p:blipFill>
        <p:spPr>
          <a:xfrm>
            <a:off x="1500188" y="714375"/>
            <a:ext cx="3048000" cy="2286000"/>
          </a:xfrm>
          <a:prstGeom prst="rect">
            <a:avLst/>
          </a:prstGeom>
          <a:noFill/>
          <a:ln w="9525">
            <a:noFill/>
          </a:ln>
        </p:spPr>
      </p:pic>
      <p:pic>
        <p:nvPicPr>
          <p:cNvPr id="75781" name="Picture 4" descr="I:\DCIM\.thumbnails\1394178351887.jpg"/>
          <p:cNvPicPr>
            <a:picLocks noChangeAspect="1"/>
          </p:cNvPicPr>
          <p:nvPr/>
        </p:nvPicPr>
        <p:blipFill>
          <a:blip r:embed="rId3"/>
          <a:stretch>
            <a:fillRect/>
          </a:stretch>
        </p:blipFill>
        <p:spPr>
          <a:xfrm>
            <a:off x="1500188" y="714375"/>
            <a:ext cx="3048000" cy="2286000"/>
          </a:xfrm>
          <a:prstGeom prst="rect">
            <a:avLst/>
          </a:prstGeom>
          <a:noFill/>
          <a:ln w="9525">
            <a:noFill/>
          </a:ln>
        </p:spPr>
      </p:pic>
      <p:pic>
        <p:nvPicPr>
          <p:cNvPr id="75782" name="Picture 5" descr="I:\DCIM\.thumbnails\1394178341706.jpg"/>
          <p:cNvPicPr>
            <a:picLocks noChangeAspect="1"/>
          </p:cNvPicPr>
          <p:nvPr/>
        </p:nvPicPr>
        <p:blipFill>
          <a:blip r:embed="rId2"/>
          <a:stretch>
            <a:fillRect/>
          </a:stretch>
        </p:blipFill>
        <p:spPr>
          <a:xfrm>
            <a:off x="5143500" y="714375"/>
            <a:ext cx="3190875" cy="2392363"/>
          </a:xfrm>
          <a:prstGeom prst="rect">
            <a:avLst/>
          </a:prstGeom>
          <a:noFill/>
          <a:ln w="9525">
            <a:noFill/>
          </a:ln>
        </p:spPr>
      </p:pic>
      <p:pic>
        <p:nvPicPr>
          <p:cNvPr id="75783" name="Picture 6" descr="I:\DCIM\.thumbnails\1394178359016.jpg"/>
          <p:cNvPicPr>
            <a:picLocks noChangeAspect="1"/>
          </p:cNvPicPr>
          <p:nvPr/>
        </p:nvPicPr>
        <p:blipFill>
          <a:blip r:embed="rId4"/>
          <a:stretch>
            <a:fillRect/>
          </a:stretch>
        </p:blipFill>
        <p:spPr>
          <a:xfrm>
            <a:off x="1571625" y="3714750"/>
            <a:ext cx="2762250" cy="2071688"/>
          </a:xfrm>
          <a:prstGeom prst="rect">
            <a:avLst/>
          </a:prstGeom>
          <a:noFill/>
          <a:ln w="9525">
            <a:noFill/>
          </a:ln>
        </p:spPr>
      </p:pic>
      <p:pic>
        <p:nvPicPr>
          <p:cNvPr id="75784" name="Picture 7" descr="I:\DCIM\.thumbnails\1394178292839.jpg"/>
          <p:cNvPicPr>
            <a:picLocks noChangeAspect="1"/>
          </p:cNvPicPr>
          <p:nvPr/>
        </p:nvPicPr>
        <p:blipFill>
          <a:blip r:embed="rId1"/>
          <a:stretch>
            <a:fillRect/>
          </a:stretch>
        </p:blipFill>
        <p:spPr>
          <a:xfrm>
            <a:off x="5286375" y="3714750"/>
            <a:ext cx="3000375" cy="2251075"/>
          </a:xfrm>
          <a:prstGeom prst="rect">
            <a:avLst/>
          </a:prstGeom>
          <a:noFill/>
          <a:ln w="9525">
            <a:noFill/>
          </a:ln>
        </p:spPr>
      </p:pic>
    </p:spTree>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6802" name="Picture 4" descr="200618174752"/>
          <p:cNvPicPr>
            <a:picLocks noChangeAspect="1"/>
          </p:cNvPicPr>
          <p:nvPr/>
        </p:nvPicPr>
        <p:blipFill>
          <a:blip r:embed="rId1"/>
          <a:stretch>
            <a:fillRect/>
          </a:stretch>
        </p:blipFill>
        <p:spPr>
          <a:xfrm>
            <a:off x="1331913" y="981075"/>
            <a:ext cx="2305050" cy="1209675"/>
          </a:xfrm>
          <a:prstGeom prst="rect">
            <a:avLst/>
          </a:prstGeom>
          <a:noFill/>
          <a:ln w="9525">
            <a:noFill/>
          </a:ln>
        </p:spPr>
      </p:pic>
      <p:pic>
        <p:nvPicPr>
          <p:cNvPr id="76803" name="Picture 5" descr="红青美人蕉互补图"/>
          <p:cNvPicPr>
            <a:picLocks noChangeAspect="1"/>
          </p:cNvPicPr>
          <p:nvPr/>
        </p:nvPicPr>
        <p:blipFill>
          <a:blip r:embed="rId2"/>
          <a:stretch>
            <a:fillRect/>
          </a:stretch>
        </p:blipFill>
        <p:spPr>
          <a:xfrm>
            <a:off x="5148263" y="404813"/>
            <a:ext cx="3311525" cy="2393950"/>
          </a:xfrm>
          <a:prstGeom prst="rect">
            <a:avLst/>
          </a:prstGeom>
          <a:noFill/>
          <a:ln w="9525">
            <a:noFill/>
          </a:ln>
        </p:spPr>
      </p:pic>
      <p:sp>
        <p:nvSpPr>
          <p:cNvPr id="76804" name="Rectangle 6"/>
          <p:cNvSpPr/>
          <p:nvPr/>
        </p:nvSpPr>
        <p:spPr>
          <a:xfrm>
            <a:off x="1692275" y="260350"/>
            <a:ext cx="2354263" cy="579438"/>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Char char="•"/>
            </a:pPr>
            <a:r>
              <a:rPr lang="zh-CN" altLang="en-US" sz="2400" dirty="0">
                <a:solidFill>
                  <a:schemeClr val="tx1"/>
                </a:solidFill>
                <a:latin typeface="楷体_GB2312" pitchFamily="49" charset="-122"/>
              </a:rPr>
              <a:t>立体眼镜方法</a:t>
            </a:r>
            <a:r>
              <a:rPr lang="zh-CN" altLang="en-US" sz="3200" dirty="0">
                <a:solidFill>
                  <a:schemeClr val="tx1"/>
                </a:solidFill>
                <a:latin typeface="楷体_GB2312" pitchFamily="49" charset="-122"/>
              </a:rPr>
              <a:t> </a:t>
            </a:r>
            <a:endParaRPr lang="zh-CN" altLang="en-US" sz="3200" dirty="0">
              <a:solidFill>
                <a:schemeClr val="tx1"/>
              </a:solidFill>
              <a:latin typeface="楷体_GB2312" pitchFamily="49" charset="-122"/>
            </a:endParaRPr>
          </a:p>
        </p:txBody>
      </p:sp>
      <p:pic>
        <p:nvPicPr>
          <p:cNvPr id="76805" name="Picture 7" descr="P1000011"/>
          <p:cNvPicPr>
            <a:picLocks noChangeAspect="1"/>
          </p:cNvPicPr>
          <p:nvPr/>
        </p:nvPicPr>
        <p:blipFill>
          <a:blip r:embed="rId3"/>
          <a:stretch>
            <a:fillRect/>
          </a:stretch>
        </p:blipFill>
        <p:spPr>
          <a:xfrm>
            <a:off x="3348038" y="1844675"/>
            <a:ext cx="1655762" cy="1241425"/>
          </a:xfrm>
          <a:prstGeom prst="rect">
            <a:avLst/>
          </a:prstGeom>
          <a:noFill/>
          <a:ln w="9525">
            <a:noFill/>
          </a:ln>
        </p:spPr>
      </p:pic>
      <p:pic>
        <p:nvPicPr>
          <p:cNvPr id="76806" name="Picture 8" descr="动画2"/>
          <p:cNvPicPr>
            <a:picLocks noChangeAspect="1"/>
          </p:cNvPicPr>
          <p:nvPr/>
        </p:nvPicPr>
        <p:blipFill>
          <a:blip r:embed="rId4"/>
          <a:stretch>
            <a:fillRect/>
          </a:stretch>
        </p:blipFill>
        <p:spPr>
          <a:xfrm>
            <a:off x="5435600" y="4005263"/>
            <a:ext cx="2952750" cy="2214562"/>
          </a:xfrm>
          <a:prstGeom prst="rect">
            <a:avLst/>
          </a:prstGeom>
          <a:noFill/>
          <a:ln w="9525">
            <a:noFill/>
          </a:ln>
        </p:spPr>
      </p:pic>
      <p:pic>
        <p:nvPicPr>
          <p:cNvPr id="76807" name="Picture 9" descr="动画1"/>
          <p:cNvPicPr>
            <a:picLocks noChangeAspect="1"/>
          </p:cNvPicPr>
          <p:nvPr/>
        </p:nvPicPr>
        <p:blipFill>
          <a:blip r:embed="rId5"/>
          <a:stretch>
            <a:fillRect/>
          </a:stretch>
        </p:blipFill>
        <p:spPr>
          <a:xfrm>
            <a:off x="1908175" y="3933825"/>
            <a:ext cx="2951163" cy="2214563"/>
          </a:xfrm>
          <a:prstGeom prst="rect">
            <a:avLst/>
          </a:prstGeom>
          <a:noFill/>
          <a:ln w="9525">
            <a:noFill/>
          </a:ln>
        </p:spPr>
      </p:pic>
    </p:spTree>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77826" name="Rectangle 6"/>
          <p:cNvSpPr>
            <a:spLocks noGrp="1"/>
          </p:cNvSpPr>
          <p:nvPr>
            <p:ph type="title" idx="4294967295"/>
          </p:nvPr>
        </p:nvSpPr>
        <p:spPr>
          <a:xfrm>
            <a:off x="1916113" y="419100"/>
            <a:ext cx="2455862" cy="457200"/>
          </a:xfrm>
          <a:ln/>
        </p:spPr>
        <p:txBody>
          <a:bodyPr vert="horz" wrap="none" lIns="91440" tIns="45720" rIns="91440" bIns="45720" anchor="ctr" anchorCtr="0">
            <a:spAutoFit/>
          </a:bodyPr>
          <a:p>
            <a:pPr eaLnBrk="1" hangingPunct="1">
              <a:buChar char="•"/>
            </a:pPr>
            <a:r>
              <a:rPr lang="zh-CN" altLang="en-US" sz="2400" b="0" dirty="0">
                <a:solidFill>
                  <a:schemeClr val="tx1"/>
                </a:solidFill>
                <a:ea typeface="楷体_GB2312" pitchFamily="49" charset="-122"/>
              </a:rPr>
              <a:t>三维立体画方法</a:t>
            </a:r>
            <a:endParaRPr lang="zh-CN" altLang="en-US" sz="2400" b="0" dirty="0">
              <a:solidFill>
                <a:schemeClr val="tx1"/>
              </a:solidFill>
              <a:ea typeface="楷体_GB2312" pitchFamily="49" charset="-122"/>
            </a:endParaRPr>
          </a:p>
        </p:txBody>
      </p:sp>
      <p:pic>
        <p:nvPicPr>
          <p:cNvPr id="80899" name="Picture 8" descr="未标题-1 拷贝"/>
          <p:cNvPicPr>
            <a:picLocks noGrp="1" noChangeAspect="1"/>
          </p:cNvPicPr>
          <p:nvPr>
            <p:ph type="body" idx="4294967295"/>
          </p:nvPr>
        </p:nvPicPr>
        <p:blipFill>
          <a:blip r:embed="rId1"/>
          <a:srcRect/>
          <a:stretch>
            <a:fillRect/>
          </a:stretch>
        </p:blipFill>
        <p:spPr>
          <a:xfrm>
            <a:off x="3059113" y="1196975"/>
            <a:ext cx="4176712" cy="4294188"/>
          </a:xfrm>
          <a:ln/>
        </p:spPr>
      </p:pic>
      <p:sp>
        <p:nvSpPr>
          <p:cNvPr id="80900" name="Rectangle 9"/>
          <p:cNvSpPr>
            <a:spLocks noChangeArrowheads="1"/>
          </p:cNvSpPr>
          <p:nvPr/>
        </p:nvSpPr>
        <p:spPr bwMode="auto">
          <a:xfrm>
            <a:off x="3635375" y="5805488"/>
            <a:ext cx="3095625" cy="457200"/>
          </a:xfrm>
          <a:prstGeom prst="rect">
            <a:avLst/>
          </a:prstGeom>
          <a:noFill/>
          <a:ln>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Tahoma" panose="020B0604030504040204" pitchFamily="34" charset="0"/>
                <a:ea typeface="楷体_GB2312" pitchFamily="49" charset="-122"/>
                <a:cs typeface="+mn-cs"/>
              </a:rPr>
              <a:t>三维立体画生成原理</a:t>
            </a: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Tahoma" panose="020B0604030504040204" pitchFamily="34" charset="0"/>
              <a:ea typeface="楷体_GB2312" pitchFamily="49" charset="-122"/>
              <a:cs typeface="+mn-cs"/>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0899"/>
                                        </p:tgtEl>
                                        <p:attrNameLst>
                                          <p:attrName>style.visibility</p:attrName>
                                        </p:attrNameLst>
                                      </p:cBhvr>
                                      <p:to>
                                        <p:strVal val="visible"/>
                                      </p:to>
                                    </p:set>
                                    <p:animEffect transition="in" filter="blinds(horizontal)">
                                      <p:cBhvr>
                                        <p:cTn id="7" dur="500"/>
                                        <p:tgtEl>
                                          <p:spTgt spid="80899"/>
                                        </p:tgtEl>
                                      </p:cBhvr>
                                    </p:animEffect>
                                  </p:childTnLst>
                                </p:cTn>
                              </p:par>
                            </p:childTnLst>
                          </p:cTn>
                        </p:par>
                      </p:childTnLst>
                    </p:cTn>
                  </p:par>
                  <p:par>
                    <p:cTn id="8" fill="hold">
                      <p:stCondLst>
                        <p:cond delay="indefinite"/>
                      </p:stCondLst>
                      <p:childTnLst>
                        <p:par>
                          <p:cTn id="9" fill="hold">
                            <p:stCondLst>
                              <p:cond delay="0"/>
                            </p:stCondLst>
                            <p:childTnLst>
                              <p:par>
                                <p:cTn id="10" presetID="50" presetClass="entr" presetSubtype="0" decel="100000" fill="hold" nodeType="clickEffect">
                                  <p:stCondLst>
                                    <p:cond delay="0"/>
                                  </p:stCondLst>
                                  <p:childTnLst>
                                    <p:set>
                                      <p:cBhvr>
                                        <p:cTn id="11" dur="1" fill="hold">
                                          <p:stCondLst>
                                            <p:cond delay="0"/>
                                          </p:stCondLst>
                                        </p:cTn>
                                        <p:tgtEl>
                                          <p:spTgt spid="80900">
                                            <p:txEl>
                                              <p:charRg st="0" end="10"/>
                                            </p:txEl>
                                          </p:spTgt>
                                        </p:tgtEl>
                                        <p:attrNameLst>
                                          <p:attrName>style.visibility</p:attrName>
                                        </p:attrNameLst>
                                      </p:cBhvr>
                                      <p:to>
                                        <p:strVal val="visible"/>
                                      </p:to>
                                    </p:set>
                                    <p:anim calcmode="lin" valueType="num">
                                      <p:cBhvr>
                                        <p:cTn id="12" dur="1000" fill="hold"/>
                                        <p:tgtEl>
                                          <p:spTgt spid="80900">
                                            <p:txEl>
                                              <p:charRg st="0" end="10"/>
                                            </p:txEl>
                                          </p:spTgt>
                                        </p:tgtEl>
                                        <p:attrNameLst>
                                          <p:attrName>ppt_w</p:attrName>
                                        </p:attrNameLst>
                                      </p:cBhvr>
                                      <p:tavLst>
                                        <p:tav tm="0">
                                          <p:val>
                                            <p:strVal val="#ppt_w+.3"/>
                                          </p:val>
                                        </p:tav>
                                        <p:tav tm="100000">
                                          <p:val>
                                            <p:strVal val="#ppt_w"/>
                                          </p:val>
                                        </p:tav>
                                      </p:tavLst>
                                    </p:anim>
                                    <p:anim calcmode="lin" valueType="num">
                                      <p:cBhvr>
                                        <p:cTn id="13" dur="1000" fill="hold"/>
                                        <p:tgtEl>
                                          <p:spTgt spid="80900">
                                            <p:txEl>
                                              <p:charRg st="0" end="10"/>
                                            </p:txEl>
                                          </p:spTgt>
                                        </p:tgtEl>
                                        <p:attrNameLst>
                                          <p:attrName>ppt_h</p:attrName>
                                        </p:attrNameLst>
                                      </p:cBhvr>
                                      <p:tavLst>
                                        <p:tav tm="0">
                                          <p:val>
                                            <p:strVal val="#ppt_h"/>
                                          </p:val>
                                        </p:tav>
                                        <p:tav tm="100000">
                                          <p:val>
                                            <p:strVal val="#ppt_h"/>
                                          </p:val>
                                        </p:tav>
                                      </p:tavLst>
                                    </p:anim>
                                    <p:animEffect transition="in" filter="fade">
                                      <p:cBhvr>
                                        <p:cTn id="14" dur="1000"/>
                                        <p:tgtEl>
                                          <p:spTgt spid="80900">
                                            <p:txEl>
                                              <p:charRg st="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8850" name="Picture 4" descr="小狗三维立体画"/>
          <p:cNvPicPr>
            <a:picLocks noChangeAspect="1"/>
          </p:cNvPicPr>
          <p:nvPr/>
        </p:nvPicPr>
        <p:blipFill>
          <a:blip r:embed="rId1"/>
          <a:stretch>
            <a:fillRect/>
          </a:stretch>
        </p:blipFill>
        <p:spPr>
          <a:xfrm>
            <a:off x="1908175" y="549275"/>
            <a:ext cx="6696075" cy="5022850"/>
          </a:xfrm>
          <a:prstGeom prst="rect">
            <a:avLst/>
          </a:prstGeom>
          <a:noFill/>
          <a:ln w="9525">
            <a:noFill/>
          </a:ln>
        </p:spPr>
      </p:pic>
      <p:sp>
        <p:nvSpPr>
          <p:cNvPr id="81923" name="Rectangle 5"/>
          <p:cNvSpPr>
            <a:spLocks noChangeArrowheads="1"/>
          </p:cNvSpPr>
          <p:nvPr/>
        </p:nvSpPr>
        <p:spPr bwMode="auto">
          <a:xfrm>
            <a:off x="2700338" y="6092825"/>
            <a:ext cx="4824413" cy="431800"/>
          </a:xfrm>
          <a:prstGeom prst="rect">
            <a:avLst/>
          </a:prstGeom>
          <a:noFill/>
          <a:ln>
            <a:noFill/>
          </a:ln>
        </p:spPr>
        <p:txBody>
          <a:bodyPr/>
          <a:lstStyle/>
          <a:p>
            <a:pPr marL="342900" marR="0" lvl="0" indent="-342900" algn="ctr" defTabSz="914400" rtl="0" eaLnBrk="1" fontAlgn="base" latinLnBrk="0" hangingPunct="1">
              <a:lnSpc>
                <a:spcPct val="90000"/>
              </a:lnSpc>
              <a:spcBef>
                <a:spcPct val="20000"/>
              </a:spcBef>
              <a:spcAft>
                <a:spcPct val="0"/>
              </a:spcAft>
              <a:buClr>
                <a:srgbClr val="336600"/>
              </a:buClr>
              <a:buSzPct val="60000"/>
              <a:buFont typeface="Wingdings" panose="05000000000000000000" pitchFamily="2" charset="2"/>
              <a:buNone/>
              <a:defRPr/>
            </a:pPr>
            <a:r>
              <a:rPr kumimoji="0" 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Tahoma" panose="020B0604030504040204" pitchFamily="34" charset="0"/>
                <a:ea typeface="楷体_GB2312" pitchFamily="49" charset="-122"/>
                <a:cs typeface="+mn-cs"/>
              </a:rPr>
              <a:t>Photo</a:t>
            </a:r>
            <a:r>
              <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Tahoma" panose="020B0604030504040204" pitchFamily="34" charset="0"/>
                <a:ea typeface="楷体_GB2312" pitchFamily="49" charset="-122"/>
                <a:cs typeface="+mn-cs"/>
              </a:rPr>
              <a:t>制作的三维立体画</a:t>
            </a: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Tahoma" panose="020B0604030504040204" pitchFamily="34" charset="0"/>
              <a:ea typeface="楷体_GB2312" pitchFamily="49" charset="-122"/>
              <a:cs typeface="+mn-cs"/>
            </a:endParaRPr>
          </a:p>
        </p:txBody>
      </p:sp>
    </p:spTree>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82946" name="Rectangle 7"/>
          <p:cNvSpPr>
            <a:spLocks noGrp="1" noChangeArrowheads="1"/>
          </p:cNvSpPr>
          <p:nvPr>
            <p:ph type="body" idx="1"/>
          </p:nvPr>
        </p:nvSpPr>
        <p:spPr>
          <a:xfrm>
            <a:off x="2627313" y="5661025"/>
            <a:ext cx="4824413" cy="431800"/>
          </a:xfrm>
        </p:spPr>
        <p:txBody>
          <a:bodyPr vert="horz" wrap="square" lIns="91440" tIns="45720" rIns="91440" bIns="45720" numCol="1" anchor="t" anchorCtr="0" compatLnSpc="1"/>
          <a:lstStyle/>
          <a:p>
            <a:pPr marL="342900" marR="0" lvl="0" indent="-342900" algn="ctr" defTabSz="914400" rtl="0" eaLnBrk="1" fontAlgn="base" latinLnBrk="0" hangingPunct="1">
              <a:lnSpc>
                <a:spcPct val="90000"/>
              </a:lnSpc>
              <a:spcBef>
                <a:spcPct val="20000"/>
              </a:spcBef>
              <a:spcAft>
                <a:spcPct val="0"/>
              </a:spcAft>
              <a:buClr>
                <a:srgbClr val="336600"/>
              </a:buClr>
              <a:buSzPct val="60000"/>
              <a:buFont typeface="Wingdings" panose="05000000000000000000" pitchFamily="2" charset="2"/>
              <a:buNone/>
              <a:defRPr/>
            </a:pPr>
            <a:r>
              <a:rPr kumimoji="0" lang="en-US" altLang="zh-CN" sz="2400" b="0" i="0" u="none" strike="noStrike" kern="0" cap="none" spc="0" normalizeH="0" baseline="0" noProof="0" smtClean="0">
                <a:ln>
                  <a:noFill/>
                </a:ln>
                <a:solidFill>
                  <a:schemeClr val="tx1"/>
                </a:solidFill>
                <a:effectLst>
                  <a:outerShdw blurRad="38100" dist="38100" dir="2700000" algn="tl">
                    <a:srgbClr val="FFFFFF"/>
                  </a:outerShdw>
                </a:effectLst>
                <a:uLnTx/>
                <a:uFillTx/>
                <a:latin typeface="+mn-lt"/>
                <a:ea typeface="+mn-ea"/>
                <a:cs typeface="+mn-cs"/>
              </a:rPr>
              <a:t>“</a:t>
            </a:r>
            <a:r>
              <a:rPr kumimoji="0" lang="zh-CN" altLang="en-US" sz="2400" b="0" i="0" u="none" strike="noStrike" kern="0" cap="none" spc="0" normalizeH="0" baseline="0" noProof="0" smtClean="0">
                <a:ln>
                  <a:noFill/>
                </a:ln>
                <a:solidFill>
                  <a:schemeClr val="tx1"/>
                </a:solidFill>
                <a:effectLst>
                  <a:outerShdw blurRad="38100" dist="38100" dir="2700000" algn="tl">
                    <a:srgbClr val="FFFFFF"/>
                  </a:outerShdw>
                </a:effectLst>
                <a:uLnTx/>
                <a:uFillTx/>
                <a:latin typeface="+mn-lt"/>
                <a:ea typeface="+mn-ea"/>
                <a:cs typeface="+mn-cs"/>
              </a:rPr>
              <a:t>博创图标”三维立体画</a:t>
            </a:r>
            <a:endParaRPr kumimoji="0" lang="zh-CN" altLang="en-US" sz="2400" b="0" i="0" u="none" strike="noStrike" kern="0" cap="none" spc="0" normalizeH="0" baseline="0" noProof="0" smtClean="0">
              <a:ln>
                <a:noFill/>
              </a:ln>
              <a:solidFill>
                <a:schemeClr val="tx1"/>
              </a:solidFill>
              <a:effectLst>
                <a:outerShdw blurRad="38100" dist="38100" dir="2700000" algn="tl">
                  <a:srgbClr val="FFFFFF"/>
                </a:outerShdw>
              </a:effectLst>
              <a:uLnTx/>
              <a:uFillTx/>
              <a:latin typeface="+mn-lt"/>
              <a:ea typeface="+mn-ea"/>
              <a:cs typeface="+mn-cs"/>
            </a:endParaRPr>
          </a:p>
        </p:txBody>
      </p:sp>
      <p:pic>
        <p:nvPicPr>
          <p:cNvPr id="79875" name="Picture 9" descr="图1-35博创图标三维立体图"/>
          <p:cNvPicPr>
            <a:picLocks noChangeAspect="1"/>
          </p:cNvPicPr>
          <p:nvPr/>
        </p:nvPicPr>
        <p:blipFill>
          <a:blip r:embed="rId1"/>
          <a:stretch>
            <a:fillRect/>
          </a:stretch>
        </p:blipFill>
        <p:spPr>
          <a:xfrm>
            <a:off x="1979613" y="476250"/>
            <a:ext cx="6115050" cy="4572000"/>
          </a:xfrm>
          <a:prstGeom prst="rect">
            <a:avLst/>
          </a:prstGeom>
          <a:noFill/>
          <a:ln w="9525">
            <a:noFill/>
          </a:ln>
        </p:spPr>
      </p:pic>
      <p:pic>
        <p:nvPicPr>
          <p:cNvPr id="79876" name="Picture 11" descr="博创图标 拷贝"/>
          <p:cNvPicPr>
            <a:picLocks noChangeAspect="1"/>
          </p:cNvPicPr>
          <p:nvPr/>
        </p:nvPicPr>
        <p:blipFill>
          <a:blip r:embed="rId2"/>
          <a:stretch>
            <a:fillRect/>
          </a:stretch>
        </p:blipFill>
        <p:spPr>
          <a:xfrm>
            <a:off x="7164388" y="5157788"/>
            <a:ext cx="1706562" cy="1517650"/>
          </a:xfrm>
          <a:prstGeom prst="rect">
            <a:avLst/>
          </a:prstGeom>
          <a:noFill/>
          <a:ln w="9525">
            <a:noFill/>
          </a:ln>
        </p:spPr>
      </p:pic>
    </p:spTree>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0898" name="Picture 4"/>
          <p:cNvPicPr>
            <a:picLocks noChangeAspect="1"/>
          </p:cNvPicPr>
          <p:nvPr/>
        </p:nvPicPr>
        <p:blipFill>
          <a:blip r:embed="rId1"/>
          <a:stretch>
            <a:fillRect/>
          </a:stretch>
        </p:blipFill>
        <p:spPr>
          <a:xfrm>
            <a:off x="1403350" y="1125538"/>
            <a:ext cx="7561263" cy="5419725"/>
          </a:xfrm>
          <a:prstGeom prst="rect">
            <a:avLst/>
          </a:prstGeom>
          <a:noFill/>
          <a:ln w="9525">
            <a:noFill/>
          </a:ln>
        </p:spPr>
      </p:pic>
      <p:sp>
        <p:nvSpPr>
          <p:cNvPr id="83971" name="Rectangle 5"/>
          <p:cNvSpPr>
            <a:spLocks noChangeArrowheads="1"/>
          </p:cNvSpPr>
          <p:nvPr/>
        </p:nvSpPr>
        <p:spPr bwMode="auto">
          <a:xfrm>
            <a:off x="1258888" y="260350"/>
            <a:ext cx="4824413" cy="431800"/>
          </a:xfrm>
          <a:prstGeom prst="rect">
            <a:avLst/>
          </a:prstGeom>
          <a:noFill/>
          <a:ln>
            <a:noFill/>
          </a:ln>
        </p:spPr>
        <p:txBody>
          <a:bodyPr/>
          <a:lstStyle/>
          <a:p>
            <a:pPr marL="342900" marR="0" lvl="0" indent="-342900" algn="ctr" defTabSz="914400" rtl="0" eaLnBrk="1" fontAlgn="base" latinLnBrk="0" hangingPunct="1">
              <a:lnSpc>
                <a:spcPct val="90000"/>
              </a:lnSpc>
              <a:spcBef>
                <a:spcPct val="20000"/>
              </a:spcBef>
              <a:spcAft>
                <a:spcPct val="0"/>
              </a:spcAft>
              <a:buClr>
                <a:srgbClr val="336600"/>
              </a:buClr>
              <a:buSzPct val="60000"/>
              <a:buFont typeface="Wingdings" panose="05000000000000000000" pitchFamily="2" charset="2"/>
              <a:buNone/>
              <a:defRPr/>
            </a:pPr>
            <a:r>
              <a:rPr kumimoji="0" 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ahoma" panose="020B0604030504040204" pitchFamily="34" charset="0"/>
                <a:ea typeface="楷体_GB2312" pitchFamily="49" charset="-122"/>
                <a:cs typeface="+mn-cs"/>
              </a:rPr>
              <a:t>http://www.liuhs.com/</a:t>
            </a:r>
            <a:endParaRPr kumimoji="0" lang="zh-CN" altLang="en-US" sz="2800" b="0" i="0" u="none" strike="noStrike" kern="1200" cap="none" spc="0" normalizeH="0" baseline="0" noProof="0">
              <a:ln>
                <a:noFill/>
              </a:ln>
              <a:solidFill>
                <a:schemeClr val="tx1"/>
              </a:solidFill>
              <a:effectLst>
                <a:outerShdw blurRad="38100" dist="38100" dir="2700000" algn="tl">
                  <a:srgbClr val="FFFFFF"/>
                </a:outerShdw>
              </a:effectLst>
              <a:uLnTx/>
              <a:uFillTx/>
              <a:latin typeface="Tahoma" panose="020B0604030504040204" pitchFamily="34" charset="0"/>
              <a:ea typeface="楷体_GB2312" pitchFamily="49" charset="-122"/>
              <a:cs typeface="+mn-cs"/>
            </a:endParaRPr>
          </a:p>
        </p:txBody>
      </p:sp>
    </p:spTree>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1922" name="Picture 4" descr="shand"/>
          <p:cNvPicPr>
            <a:picLocks noChangeAspect="1"/>
          </p:cNvPicPr>
          <p:nvPr/>
        </p:nvPicPr>
        <p:blipFill>
          <a:blip r:embed="rId1"/>
          <a:stretch>
            <a:fillRect/>
          </a:stretch>
        </p:blipFill>
        <p:spPr>
          <a:xfrm>
            <a:off x="1331913" y="260350"/>
            <a:ext cx="4279900" cy="3209925"/>
          </a:xfrm>
          <a:prstGeom prst="rect">
            <a:avLst/>
          </a:prstGeom>
          <a:noFill/>
          <a:ln w="9525">
            <a:noFill/>
          </a:ln>
        </p:spPr>
      </p:pic>
      <p:sp>
        <p:nvSpPr>
          <p:cNvPr id="81923" name="Text Box 5"/>
          <p:cNvSpPr txBox="1"/>
          <p:nvPr/>
        </p:nvSpPr>
        <p:spPr>
          <a:xfrm>
            <a:off x="1908175" y="5157788"/>
            <a:ext cx="1081088"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ctr" eaLnBrk="1" hangingPunct="1">
              <a:spcBef>
                <a:spcPct val="50000"/>
              </a:spcBef>
              <a:buClrTx/>
              <a:buSzTx/>
              <a:buFont typeface="Arial" panose="020B0604020202020204" pitchFamily="34" charset="0"/>
              <a:buNone/>
            </a:pPr>
            <a:r>
              <a:rPr lang="zh-CN" altLang="en-US" sz="2400" dirty="0">
                <a:solidFill>
                  <a:schemeClr val="tx1"/>
                </a:solidFill>
              </a:rPr>
              <a:t>结</a:t>
            </a:r>
            <a:endParaRPr lang="zh-CN" altLang="en-US" sz="2400" dirty="0">
              <a:solidFill>
                <a:schemeClr val="tx1"/>
              </a:solidFill>
            </a:endParaRPr>
          </a:p>
        </p:txBody>
      </p:sp>
      <p:pic>
        <p:nvPicPr>
          <p:cNvPr id="81924" name="Picture 6" descr="jie"/>
          <p:cNvPicPr>
            <a:picLocks noChangeAspect="1"/>
          </p:cNvPicPr>
          <p:nvPr/>
        </p:nvPicPr>
        <p:blipFill>
          <a:blip r:embed="rId2"/>
          <a:stretch>
            <a:fillRect/>
          </a:stretch>
        </p:blipFill>
        <p:spPr>
          <a:xfrm>
            <a:off x="4716463" y="3681413"/>
            <a:ext cx="3960812" cy="2970212"/>
          </a:xfrm>
          <a:prstGeom prst="rect">
            <a:avLst/>
          </a:prstGeom>
          <a:noFill/>
          <a:ln w="9525">
            <a:noFill/>
          </a:ln>
        </p:spPr>
      </p:pic>
      <p:sp>
        <p:nvSpPr>
          <p:cNvPr id="81925" name="Text Box 7"/>
          <p:cNvSpPr txBox="1"/>
          <p:nvPr/>
        </p:nvSpPr>
        <p:spPr>
          <a:xfrm>
            <a:off x="7164388" y="1628775"/>
            <a:ext cx="1081087"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ctr" eaLnBrk="1" hangingPunct="1">
              <a:spcBef>
                <a:spcPct val="50000"/>
              </a:spcBef>
              <a:buClrTx/>
              <a:buSzTx/>
              <a:buFont typeface="Arial" panose="020B0604020202020204" pitchFamily="34" charset="0"/>
              <a:buNone/>
            </a:pPr>
            <a:r>
              <a:rPr lang="zh-CN" altLang="en-US" sz="2400" dirty="0">
                <a:solidFill>
                  <a:schemeClr val="tx1"/>
                </a:solidFill>
              </a:rPr>
              <a:t>山洞</a:t>
            </a:r>
            <a:endParaRPr lang="zh-CN" altLang="en-US" sz="2400" dirty="0">
              <a:solidFill>
                <a:schemeClr val="tx1"/>
              </a:solidFill>
            </a:endParaRPr>
          </a:p>
        </p:txBody>
      </p:sp>
      <p:sp>
        <p:nvSpPr>
          <p:cNvPr id="81926" name="AutoShape 10"/>
          <p:cNvSpPr/>
          <p:nvPr/>
        </p:nvSpPr>
        <p:spPr>
          <a:xfrm>
            <a:off x="3132138" y="5300663"/>
            <a:ext cx="1223962" cy="288925"/>
          </a:xfrm>
          <a:prstGeom prst="rightArrow">
            <a:avLst>
              <a:gd name="adj1" fmla="val 50000"/>
              <a:gd name="adj2" fmla="val 105906"/>
            </a:avLst>
          </a:prstGeom>
          <a:solidFill>
            <a:srgbClr val="00C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3200" dirty="0">
              <a:solidFill>
                <a:schemeClr val="tx1"/>
              </a:solidFill>
              <a:ea typeface="宋体" panose="02010600030101010101" pitchFamily="2" charset="-122"/>
            </a:endParaRPr>
          </a:p>
        </p:txBody>
      </p:sp>
      <p:sp>
        <p:nvSpPr>
          <p:cNvPr id="81927" name="AutoShape 11"/>
          <p:cNvSpPr/>
          <p:nvPr/>
        </p:nvSpPr>
        <p:spPr>
          <a:xfrm rot="10800000">
            <a:off x="5795963" y="1773238"/>
            <a:ext cx="1223962" cy="288925"/>
          </a:xfrm>
          <a:prstGeom prst="rightArrow">
            <a:avLst>
              <a:gd name="adj1" fmla="val 50000"/>
              <a:gd name="adj2" fmla="val 105906"/>
            </a:avLst>
          </a:prstGeom>
          <a:solidFill>
            <a:srgbClr val="00CC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3200" dirty="0">
              <a:solidFill>
                <a:schemeClr val="tx1"/>
              </a:solidFill>
              <a:ea typeface="宋体" panose="02010600030101010101" pitchFamily="2" charset="-122"/>
            </a:endParaRPr>
          </a:p>
        </p:txBody>
      </p:sp>
    </p:spTree>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34"/>
          <p:cNvSpPr/>
          <p:nvPr/>
        </p:nvSpPr>
        <p:spPr>
          <a:xfrm>
            <a:off x="1304925" y="866775"/>
            <a:ext cx="7839075" cy="1917700"/>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zh-CN" altLang="en-US" sz="2400" dirty="0">
                <a:solidFill>
                  <a:schemeClr val="tx1"/>
                </a:solidFill>
              </a:rPr>
              <a:t>      请把下图上方的两点作为目标，先使眼睛休息片刻，然后象眺望远方那样，用稍模糊的视线瞄准两点，就会看从两点各自分离出另外两个点，然后调整视线，试图将里面两个点合成一点，当四点变为三点时，你便会看到立体图象。</a:t>
            </a:r>
            <a:endParaRPr lang="zh-CN" altLang="en-US" sz="2400" dirty="0">
              <a:solidFill>
                <a:schemeClr val="tx1"/>
              </a:solidFill>
            </a:endParaRPr>
          </a:p>
        </p:txBody>
      </p:sp>
      <p:sp>
        <p:nvSpPr>
          <p:cNvPr id="82947" name="Rectangle 35"/>
          <p:cNvSpPr/>
          <p:nvPr/>
        </p:nvSpPr>
        <p:spPr>
          <a:xfrm>
            <a:off x="1476375" y="333375"/>
            <a:ext cx="1541463" cy="4572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Char char="•"/>
            </a:pPr>
            <a:r>
              <a:rPr lang="zh-CN" altLang="en-US" sz="2400" dirty="0">
                <a:solidFill>
                  <a:schemeClr val="tx1"/>
                </a:solidFill>
              </a:rPr>
              <a:t>观看方法</a:t>
            </a:r>
            <a:endParaRPr lang="zh-CN" altLang="en-US" sz="2400" dirty="0">
              <a:solidFill>
                <a:schemeClr val="tx1"/>
              </a:solidFill>
            </a:endParaRPr>
          </a:p>
        </p:txBody>
      </p:sp>
      <p:pic>
        <p:nvPicPr>
          <p:cNvPr id="82948" name="Picture 36" descr="lianxi"/>
          <p:cNvPicPr>
            <a:picLocks noChangeAspect="1"/>
          </p:cNvPicPr>
          <p:nvPr/>
        </p:nvPicPr>
        <p:blipFill>
          <a:blip r:embed="rId1"/>
          <a:stretch>
            <a:fillRect/>
          </a:stretch>
        </p:blipFill>
        <p:spPr>
          <a:xfrm>
            <a:off x="1835150" y="2924175"/>
            <a:ext cx="6840538" cy="3182938"/>
          </a:xfrm>
          <a:prstGeom prst="rect">
            <a:avLst/>
          </a:prstGeom>
          <a:noFill/>
          <a:ln w="9525">
            <a:noFill/>
          </a:ln>
        </p:spPr>
      </p:pic>
    </p:spTree>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3970" name="Picture 5"/>
          <p:cNvPicPr>
            <a:picLocks noChangeAspect="1"/>
          </p:cNvPicPr>
          <p:nvPr/>
        </p:nvPicPr>
        <p:blipFill>
          <a:blip r:embed="rId1"/>
          <a:stretch>
            <a:fillRect/>
          </a:stretch>
        </p:blipFill>
        <p:spPr>
          <a:xfrm>
            <a:off x="2484438" y="188913"/>
            <a:ext cx="2592387" cy="1820862"/>
          </a:xfrm>
          <a:prstGeom prst="rect">
            <a:avLst/>
          </a:prstGeom>
          <a:noFill/>
          <a:ln w="9525">
            <a:noFill/>
          </a:ln>
        </p:spPr>
      </p:pic>
      <p:pic>
        <p:nvPicPr>
          <p:cNvPr id="83971" name="Picture 6"/>
          <p:cNvPicPr>
            <a:picLocks noChangeAspect="1"/>
          </p:cNvPicPr>
          <p:nvPr/>
        </p:nvPicPr>
        <p:blipFill>
          <a:blip r:embed="rId2"/>
          <a:stretch>
            <a:fillRect/>
          </a:stretch>
        </p:blipFill>
        <p:spPr>
          <a:xfrm>
            <a:off x="6156325" y="620713"/>
            <a:ext cx="1439863" cy="1162050"/>
          </a:xfrm>
          <a:prstGeom prst="rect">
            <a:avLst/>
          </a:prstGeom>
          <a:noFill/>
          <a:ln w="9525">
            <a:noFill/>
          </a:ln>
        </p:spPr>
      </p:pic>
      <p:sp>
        <p:nvSpPr>
          <p:cNvPr id="87044" name="Rectangle 7"/>
          <p:cNvSpPr>
            <a:spLocks noChangeArrowheads="1"/>
          </p:cNvSpPr>
          <p:nvPr/>
        </p:nvSpPr>
        <p:spPr bwMode="auto">
          <a:xfrm>
            <a:off x="3779838" y="6426200"/>
            <a:ext cx="2881313" cy="431800"/>
          </a:xfrm>
          <a:prstGeom prst="rect">
            <a:avLst/>
          </a:prstGeom>
          <a:noFill/>
          <a:ln>
            <a:noFill/>
          </a:ln>
        </p:spPr>
        <p:txBody>
          <a:bodyPr/>
          <a:lstStyle/>
          <a:p>
            <a:pPr marL="342900" marR="0" lvl="0" indent="-342900" algn="ctr" defTabSz="914400" rtl="0" eaLnBrk="1" fontAlgn="base" latinLnBrk="0" hangingPunct="1">
              <a:lnSpc>
                <a:spcPct val="90000"/>
              </a:lnSpc>
              <a:spcBef>
                <a:spcPct val="20000"/>
              </a:spcBef>
              <a:spcAft>
                <a:spcPct val="0"/>
              </a:spcAft>
              <a:buClr>
                <a:srgbClr val="336600"/>
              </a:buClr>
              <a:buSzPct val="60000"/>
              <a:buFont typeface="Wingdings" panose="05000000000000000000" pitchFamily="2" charset="2"/>
              <a:buNone/>
              <a:defRPr/>
            </a:pPr>
            <a:r>
              <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Tahoma" panose="020B0604030504040204" pitchFamily="34" charset="0"/>
                <a:ea typeface="楷体_GB2312" pitchFamily="49" charset="-122"/>
                <a:cs typeface="+mn-cs"/>
              </a:rPr>
              <a:t>立体动画</a:t>
            </a: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Tahoma" panose="020B0604030504040204" pitchFamily="34" charset="0"/>
              <a:ea typeface="楷体_GB2312" pitchFamily="49" charset="-122"/>
              <a:cs typeface="+mn-cs"/>
            </a:endParaRPr>
          </a:p>
        </p:txBody>
      </p:sp>
      <p:pic>
        <p:nvPicPr>
          <p:cNvPr id="83973" name="Picture 8" descr="Stereogram_Tut_Animated_Shark_Small"/>
          <p:cNvPicPr>
            <a:picLocks noChangeAspect="1"/>
          </p:cNvPicPr>
          <p:nvPr/>
        </p:nvPicPr>
        <p:blipFill>
          <a:blip r:embed="rId3"/>
          <a:stretch>
            <a:fillRect/>
          </a:stretch>
        </p:blipFill>
        <p:spPr>
          <a:xfrm>
            <a:off x="3492500" y="4724400"/>
            <a:ext cx="3384550" cy="1692275"/>
          </a:xfrm>
          <a:prstGeom prst="rect">
            <a:avLst/>
          </a:prstGeom>
          <a:noFill/>
          <a:ln w="9525">
            <a:noFill/>
          </a:ln>
        </p:spPr>
      </p:pic>
      <p:sp>
        <p:nvSpPr>
          <p:cNvPr id="87046" name="Rectangle 9"/>
          <p:cNvSpPr>
            <a:spLocks noChangeArrowheads="1"/>
          </p:cNvSpPr>
          <p:nvPr/>
        </p:nvSpPr>
        <p:spPr bwMode="auto">
          <a:xfrm>
            <a:off x="2771775" y="4221163"/>
            <a:ext cx="4824413" cy="431800"/>
          </a:xfrm>
          <a:prstGeom prst="rect">
            <a:avLst/>
          </a:prstGeom>
          <a:noFill/>
          <a:ln>
            <a:noFill/>
          </a:ln>
        </p:spPr>
        <p:txBody>
          <a:bodyPr/>
          <a:lstStyle/>
          <a:p>
            <a:pPr marL="342900" marR="0" lvl="0" indent="-342900" algn="ctr" defTabSz="914400" rtl="0" eaLnBrk="1" fontAlgn="base" latinLnBrk="0" hangingPunct="1">
              <a:lnSpc>
                <a:spcPct val="90000"/>
              </a:lnSpc>
              <a:spcBef>
                <a:spcPct val="20000"/>
              </a:spcBef>
              <a:spcAft>
                <a:spcPct val="0"/>
              </a:spcAft>
              <a:buClr>
                <a:srgbClr val="336600"/>
              </a:buClr>
              <a:buSzPct val="60000"/>
              <a:buFont typeface="Wingdings" panose="05000000000000000000" pitchFamily="2" charset="2"/>
              <a:buNone/>
              <a:defRPr/>
            </a:pPr>
            <a:r>
              <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Tahoma" panose="020B0604030504040204" pitchFamily="34" charset="0"/>
                <a:ea typeface="楷体_GB2312" pitchFamily="49" charset="-122"/>
                <a:cs typeface="+mn-cs"/>
              </a:rPr>
              <a:t>三维立体画</a:t>
            </a: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Tahoma" panose="020B0604030504040204" pitchFamily="34" charset="0"/>
              <a:ea typeface="楷体_GB2312" pitchFamily="49" charset="-122"/>
              <a:cs typeface="+mn-cs"/>
            </a:endParaRPr>
          </a:p>
        </p:txBody>
      </p:sp>
      <p:pic>
        <p:nvPicPr>
          <p:cNvPr id="83975" name="Picture 10" descr="未标题-5 拷贝"/>
          <p:cNvPicPr>
            <a:picLocks noChangeAspect="1"/>
          </p:cNvPicPr>
          <p:nvPr/>
        </p:nvPicPr>
        <p:blipFill>
          <a:blip r:embed="rId4"/>
          <a:stretch>
            <a:fillRect/>
          </a:stretch>
        </p:blipFill>
        <p:spPr>
          <a:xfrm>
            <a:off x="2484438" y="2276475"/>
            <a:ext cx="2592387" cy="1825625"/>
          </a:xfrm>
          <a:prstGeom prst="rect">
            <a:avLst/>
          </a:prstGeom>
          <a:noFill/>
          <a:ln w="9525">
            <a:noFill/>
          </a:ln>
        </p:spPr>
      </p:pic>
      <p:pic>
        <p:nvPicPr>
          <p:cNvPr id="83976" name="Picture 11" descr="未标题-3 拷贝"/>
          <p:cNvPicPr>
            <a:picLocks noChangeAspect="1"/>
          </p:cNvPicPr>
          <p:nvPr/>
        </p:nvPicPr>
        <p:blipFill>
          <a:blip r:embed="rId5"/>
          <a:stretch>
            <a:fillRect/>
          </a:stretch>
        </p:blipFill>
        <p:spPr>
          <a:xfrm>
            <a:off x="6084888" y="2852738"/>
            <a:ext cx="1409700" cy="1038225"/>
          </a:xfrm>
          <a:prstGeom prst="rect">
            <a:avLst/>
          </a:prstGeom>
          <a:noFill/>
          <a:ln w="9525">
            <a:noFill/>
          </a:ln>
        </p:spPr>
      </p:pic>
    </p:spTree>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84994" name="Rectangle 8"/>
          <p:cNvSpPr>
            <a:spLocks noGrp="1"/>
          </p:cNvSpPr>
          <p:nvPr>
            <p:ph type="title" idx="4294967295"/>
          </p:nvPr>
        </p:nvSpPr>
        <p:spPr>
          <a:xfrm>
            <a:off x="1476375" y="260350"/>
            <a:ext cx="2757488" cy="647700"/>
          </a:xfrm>
          <a:ln/>
        </p:spPr>
        <p:txBody>
          <a:bodyPr vert="horz" wrap="square" lIns="91440" tIns="45720" rIns="91440" bIns="45720" anchor="b" anchorCtr="0"/>
          <a:p>
            <a:pPr algn="l" eaLnBrk="1" hangingPunct="1"/>
            <a:r>
              <a:rPr lang="en-US" altLang="zh-CN" sz="3200" dirty="0">
                <a:solidFill>
                  <a:schemeClr val="tx1"/>
                </a:solidFill>
                <a:latin typeface="楷体_GB2312" pitchFamily="49" charset="-122"/>
                <a:ea typeface="楷体_GB2312" pitchFamily="49" charset="-122"/>
              </a:rPr>
              <a:t>2 </a:t>
            </a:r>
            <a:r>
              <a:rPr lang="zh-CN" altLang="en-US" sz="3200" dirty="0">
                <a:solidFill>
                  <a:schemeClr val="tx1"/>
                </a:solidFill>
                <a:latin typeface="楷体_GB2312" pitchFamily="49" charset="-122"/>
                <a:ea typeface="楷体_GB2312" pitchFamily="49" charset="-122"/>
              </a:rPr>
              <a:t>三维显示器</a:t>
            </a:r>
            <a:endParaRPr lang="zh-CN" altLang="en-US" sz="3200" dirty="0">
              <a:solidFill>
                <a:schemeClr val="tx1"/>
              </a:solidFill>
              <a:latin typeface="楷体_GB2312" pitchFamily="49" charset="-122"/>
              <a:ea typeface="楷体_GB2312" pitchFamily="49" charset="-122"/>
            </a:endParaRPr>
          </a:p>
        </p:txBody>
      </p:sp>
      <p:sp>
        <p:nvSpPr>
          <p:cNvPr id="84995" name="Rectangle 9"/>
          <p:cNvSpPr>
            <a:spLocks noGrp="1"/>
          </p:cNvSpPr>
          <p:nvPr>
            <p:ph type="body" idx="4294967295"/>
          </p:nvPr>
        </p:nvSpPr>
        <p:spPr>
          <a:xfrm>
            <a:off x="1763713" y="5300663"/>
            <a:ext cx="7056437" cy="720725"/>
          </a:xfrm>
          <a:ln/>
        </p:spPr>
        <p:txBody>
          <a:bodyPr vert="horz" wrap="square" lIns="91440" tIns="45720" rIns="91440" bIns="45720" anchor="t" anchorCtr="0"/>
          <a:p>
            <a:pPr eaLnBrk="1" hangingPunct="1">
              <a:lnSpc>
                <a:spcPct val="120000"/>
              </a:lnSpc>
              <a:buNone/>
            </a:pPr>
            <a:r>
              <a:rPr lang="zh-CN" altLang="en-US" sz="2400" dirty="0">
                <a:solidFill>
                  <a:schemeClr val="tx1"/>
                </a:solidFill>
                <a:latin typeface="楷体_GB2312" pitchFamily="49" charset="-122"/>
              </a:rPr>
              <a:t>不需要佩戴任何</a:t>
            </a:r>
            <a:r>
              <a:rPr lang="en-US" altLang="zh-CN" sz="2400" dirty="0">
                <a:solidFill>
                  <a:schemeClr val="tx1"/>
                </a:solidFill>
                <a:latin typeface="楷体_GB2312" pitchFamily="49" charset="-122"/>
              </a:rPr>
              <a:t>3D</a:t>
            </a:r>
            <a:r>
              <a:rPr lang="zh-CN" altLang="en-US" sz="2400" dirty="0">
                <a:solidFill>
                  <a:schemeClr val="tx1"/>
                </a:solidFill>
                <a:latin typeface="楷体_GB2312" pitchFamily="49" charset="-122"/>
              </a:rPr>
              <a:t>眼镜就可以观察到三维立体效果</a:t>
            </a:r>
            <a:endParaRPr lang="zh-CN" altLang="en-US" sz="2400" dirty="0">
              <a:solidFill>
                <a:schemeClr val="tx1"/>
              </a:solidFill>
              <a:latin typeface="楷体_GB2312" pitchFamily="49" charset="-122"/>
            </a:endParaRPr>
          </a:p>
        </p:txBody>
      </p:sp>
      <p:pic>
        <p:nvPicPr>
          <p:cNvPr id="84996" name="Picture 10" descr="3d"/>
          <p:cNvPicPr>
            <a:picLocks noChangeAspect="1"/>
          </p:cNvPicPr>
          <p:nvPr/>
        </p:nvPicPr>
        <p:blipFill>
          <a:blip r:embed="rId1"/>
          <a:stretch>
            <a:fillRect/>
          </a:stretch>
        </p:blipFill>
        <p:spPr>
          <a:xfrm>
            <a:off x="3132138" y="981075"/>
            <a:ext cx="4537075" cy="3887788"/>
          </a:xfrm>
          <a:prstGeom prst="rect">
            <a:avLst/>
          </a:prstGeom>
          <a:noFill/>
          <a:ln w="9525">
            <a:noFill/>
          </a:ln>
        </p:spPr>
      </p:pic>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5"/>
          <p:cNvSpPr/>
          <p:nvPr/>
        </p:nvSpPr>
        <p:spPr>
          <a:xfrm>
            <a:off x="0" y="2257425"/>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3200" dirty="0">
              <a:solidFill>
                <a:schemeClr val="tx1"/>
              </a:solidFill>
              <a:ea typeface="宋体" panose="02010600030101010101" pitchFamily="2" charset="-122"/>
            </a:endParaRPr>
          </a:p>
        </p:txBody>
      </p:sp>
      <p:graphicFrame>
        <p:nvGraphicFramePr>
          <p:cNvPr id="86019" name="Object 4"/>
          <p:cNvGraphicFramePr>
            <a:graphicFrameLocks noChangeAspect="1"/>
          </p:cNvGraphicFramePr>
          <p:nvPr/>
        </p:nvGraphicFramePr>
        <p:xfrm>
          <a:off x="1908175" y="1773238"/>
          <a:ext cx="5400675" cy="3346450"/>
        </p:xfrm>
        <a:graphic>
          <a:graphicData uri="http://schemas.openxmlformats.org/presentationml/2006/ole">
            <mc:AlternateContent xmlns:mc="http://schemas.openxmlformats.org/markup-compatibility/2006">
              <mc:Choice xmlns:v="urn:schemas-microsoft-com:vml" Requires="v">
                <p:oleObj spid="_x0000_s3092" name="" r:id="rId1" imgW="4832985" imgH="2992755" progId="Visio.Drawing.11">
                  <p:embed/>
                </p:oleObj>
              </mc:Choice>
              <mc:Fallback>
                <p:oleObj name="" r:id="rId1" imgW="4832985" imgH="2992755" progId="Visio.Drawing.11">
                  <p:embed/>
                  <p:pic>
                    <p:nvPicPr>
                      <p:cNvPr id="0" name="图片 3091"/>
                      <p:cNvPicPr/>
                      <p:nvPr/>
                    </p:nvPicPr>
                    <p:blipFill>
                      <a:blip r:embed="rId2"/>
                      <a:stretch>
                        <a:fillRect/>
                      </a:stretch>
                    </p:blipFill>
                    <p:spPr>
                      <a:xfrm>
                        <a:off x="1908175" y="1773238"/>
                        <a:ext cx="5400675" cy="3346450"/>
                      </a:xfrm>
                      <a:prstGeom prst="rect">
                        <a:avLst/>
                      </a:prstGeom>
                      <a:noFill/>
                      <a:ln w="38100">
                        <a:noFill/>
                        <a:miter/>
                      </a:ln>
                    </p:spPr>
                  </p:pic>
                </p:oleObj>
              </mc:Fallback>
            </mc:AlternateContent>
          </a:graphicData>
        </a:graphic>
      </p:graphicFrame>
      <p:sp>
        <p:nvSpPr>
          <p:cNvPr id="86020" name="AutoShape 6"/>
          <p:cNvSpPr/>
          <p:nvPr/>
        </p:nvSpPr>
        <p:spPr>
          <a:xfrm>
            <a:off x="4284663" y="765175"/>
            <a:ext cx="1395412" cy="415925"/>
          </a:xfrm>
          <a:prstGeom prst="callout1">
            <a:avLst>
              <a:gd name="adj1" fmla="val 27481"/>
              <a:gd name="adj2" fmla="val 105463"/>
              <a:gd name="adj3" fmla="val 270611"/>
              <a:gd name="adj4" fmla="val 165644"/>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just" eaLnBrk="1" hangingPunct="1">
              <a:spcBef>
                <a:spcPct val="0"/>
              </a:spcBef>
              <a:buClrTx/>
              <a:buSzTx/>
              <a:buFont typeface="Arial" panose="020B0604020202020204" pitchFamily="34" charset="0"/>
              <a:buNone/>
            </a:pPr>
            <a:r>
              <a:rPr lang="zh-CN" altLang="en-US" sz="2400" dirty="0">
                <a:solidFill>
                  <a:schemeClr val="tx1"/>
                </a:solidFill>
                <a:latin typeface="Times New Roman" panose="02020603050405020304" pitchFamily="18" charset="0"/>
              </a:rPr>
              <a:t>视差屏障</a:t>
            </a:r>
            <a:endParaRPr lang="zh-CN" altLang="en-US" sz="2400" dirty="0">
              <a:solidFill>
                <a:schemeClr val="tx1"/>
              </a:solidFill>
              <a:latin typeface="Times New Roman" panose="02020603050405020304" pitchFamily="18" charset="0"/>
            </a:endParaRPr>
          </a:p>
        </p:txBody>
      </p:sp>
      <p:sp>
        <p:nvSpPr>
          <p:cNvPr id="86021" name="AutoShape 7"/>
          <p:cNvSpPr/>
          <p:nvPr/>
        </p:nvSpPr>
        <p:spPr>
          <a:xfrm>
            <a:off x="7343775" y="981075"/>
            <a:ext cx="1368425" cy="433388"/>
          </a:xfrm>
          <a:prstGeom prst="callout1">
            <a:avLst>
              <a:gd name="adj1" fmla="val 26375"/>
              <a:gd name="adj2" fmla="val -5569"/>
              <a:gd name="adj3" fmla="val 252380"/>
              <a:gd name="adj4" fmla="val -26449"/>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just" eaLnBrk="1" hangingPunct="1">
              <a:spcBef>
                <a:spcPct val="0"/>
              </a:spcBef>
              <a:buClrTx/>
              <a:buSzTx/>
              <a:buFont typeface="Arial" panose="020B0604020202020204" pitchFamily="34" charset="0"/>
              <a:buNone/>
            </a:pPr>
            <a:r>
              <a:rPr lang="zh-CN" altLang="en-US" sz="2400" dirty="0">
                <a:solidFill>
                  <a:schemeClr val="tx1"/>
                </a:solidFill>
                <a:latin typeface="Times New Roman" panose="02020603050405020304" pitchFamily="18" charset="0"/>
              </a:rPr>
              <a:t>开关液晶</a:t>
            </a:r>
            <a:endParaRPr lang="zh-CN" altLang="en-US" sz="2400" dirty="0">
              <a:solidFill>
                <a:schemeClr val="tx1"/>
              </a:solidFill>
            </a:endParaRPr>
          </a:p>
        </p:txBody>
      </p:sp>
      <p:sp>
        <p:nvSpPr>
          <p:cNvPr id="86022" name="AutoShape 8"/>
          <p:cNvSpPr/>
          <p:nvPr/>
        </p:nvSpPr>
        <p:spPr>
          <a:xfrm>
            <a:off x="3060700" y="1628775"/>
            <a:ext cx="1328738" cy="381000"/>
          </a:xfrm>
          <a:prstGeom prst="callout1">
            <a:avLst>
              <a:gd name="adj1" fmla="val 30000"/>
              <a:gd name="adj2" fmla="val 105736"/>
              <a:gd name="adj3" fmla="val 115000"/>
              <a:gd name="adj4" fmla="val 146477"/>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just" eaLnBrk="1" hangingPunct="1">
              <a:spcBef>
                <a:spcPct val="0"/>
              </a:spcBef>
              <a:buClrTx/>
              <a:buSzTx/>
              <a:buFont typeface="Arial" panose="020B0604020202020204" pitchFamily="34" charset="0"/>
              <a:buNone/>
            </a:pPr>
            <a:r>
              <a:rPr lang="en-US" altLang="zh-CN" sz="2400" dirty="0">
                <a:solidFill>
                  <a:schemeClr val="tx1"/>
                </a:solidFill>
                <a:latin typeface="Times New Roman" panose="02020603050405020304" pitchFamily="18" charset="0"/>
              </a:rPr>
              <a:t>TFT</a:t>
            </a:r>
            <a:r>
              <a:rPr lang="zh-CN" altLang="en-US" sz="2400" dirty="0">
                <a:solidFill>
                  <a:schemeClr val="tx1"/>
                </a:solidFill>
                <a:latin typeface="Times New Roman" panose="02020603050405020304" pitchFamily="18" charset="0"/>
              </a:rPr>
              <a:t>液晶</a:t>
            </a:r>
            <a:endParaRPr lang="zh-CN" altLang="en-US" sz="2400" dirty="0">
              <a:solidFill>
                <a:schemeClr val="tx1"/>
              </a:solidFill>
              <a:latin typeface="Times New Roman" panose="02020603050405020304" pitchFamily="18" charset="0"/>
            </a:endParaRPr>
          </a:p>
        </p:txBody>
      </p:sp>
      <p:sp>
        <p:nvSpPr>
          <p:cNvPr id="89095" name="Rectangle 9"/>
          <p:cNvSpPr>
            <a:spLocks noChangeArrowheads="1"/>
          </p:cNvSpPr>
          <p:nvPr/>
        </p:nvSpPr>
        <p:spPr bwMode="auto">
          <a:xfrm>
            <a:off x="3059113" y="5589588"/>
            <a:ext cx="3435350" cy="579438"/>
          </a:xfrm>
          <a:prstGeom prst="rect">
            <a:avLst/>
          </a:prstGeom>
          <a:noFill/>
          <a:ln>
            <a:noFill/>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3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  </a:t>
            </a:r>
            <a:r>
              <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Tahoma" panose="020B0604030504040204" pitchFamily="34" charset="0"/>
                <a:ea typeface="楷体_GB2312" pitchFamily="49" charset="-122"/>
                <a:cs typeface="+mn-cs"/>
              </a:rPr>
              <a:t>立体显示器工作原理</a:t>
            </a:r>
            <a:r>
              <a:rPr kumimoji="0" lang="zh-CN" altLang="en-US" sz="3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  </a:t>
            </a:r>
            <a:endParaRPr kumimoji="0" lang="zh-CN" altLang="en-US" sz="3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90114" name="Rectangle 6"/>
          <p:cNvSpPr>
            <a:spLocks noGrp="1"/>
          </p:cNvSpPr>
          <p:nvPr>
            <p:ph type="title" idx="4294967295"/>
          </p:nvPr>
        </p:nvSpPr>
        <p:spPr>
          <a:xfrm>
            <a:off x="1403350" y="333375"/>
            <a:ext cx="5856288" cy="685800"/>
          </a:xfrm>
          <a:ln/>
        </p:spPr>
        <p:txBody>
          <a:bodyPr vert="horz" wrap="square" lIns="91440" tIns="45720" rIns="91440" bIns="45720" anchor="b" anchorCtr="0"/>
          <a:p>
            <a:pPr algn="l" eaLnBrk="1" hangingPunct="1"/>
            <a:r>
              <a:rPr lang="en-US" altLang="zh-CN" sz="3200" dirty="0">
                <a:solidFill>
                  <a:schemeClr val="tx1"/>
                </a:solidFill>
                <a:latin typeface="楷体_GB2312" pitchFamily="49" charset="-122"/>
                <a:ea typeface="楷体_GB2312" pitchFamily="49" charset="-122"/>
              </a:rPr>
              <a:t>1.6 </a:t>
            </a:r>
            <a:r>
              <a:rPr lang="zh-CN" altLang="en-US" sz="3200" dirty="0">
                <a:solidFill>
                  <a:schemeClr val="tx1"/>
                </a:solidFill>
                <a:latin typeface="楷体_GB2312" pitchFamily="49" charset="-122"/>
                <a:ea typeface="楷体_GB2312" pitchFamily="49" charset="-122"/>
              </a:rPr>
              <a:t>图形软件标准的形成</a:t>
            </a:r>
            <a:endParaRPr lang="zh-CN" altLang="en-US" sz="3200" dirty="0">
              <a:solidFill>
                <a:schemeClr val="tx1"/>
              </a:solidFill>
              <a:latin typeface="楷体_GB2312" pitchFamily="49" charset="-122"/>
              <a:ea typeface="楷体_GB2312" pitchFamily="49" charset="-122"/>
            </a:endParaRPr>
          </a:p>
        </p:txBody>
      </p:sp>
      <p:sp>
        <p:nvSpPr>
          <p:cNvPr id="90115" name="Rectangle 7"/>
          <p:cNvSpPr>
            <a:spLocks noGrp="1"/>
          </p:cNvSpPr>
          <p:nvPr>
            <p:ph type="body" idx="4294967295"/>
          </p:nvPr>
        </p:nvSpPr>
        <p:spPr>
          <a:xfrm>
            <a:off x="1187450" y="1268413"/>
            <a:ext cx="7956550" cy="5256212"/>
          </a:xfrm>
          <a:ln/>
        </p:spPr>
        <p:txBody>
          <a:bodyPr vert="horz" wrap="square" lIns="91440" tIns="45720" rIns="91440" bIns="45720" anchor="t" anchorCtr="0"/>
          <a:p>
            <a:pPr marL="0" indent="355600" eaLnBrk="1" hangingPunct="1">
              <a:lnSpc>
                <a:spcPct val="90000"/>
              </a:lnSpc>
              <a:buNone/>
            </a:pPr>
            <a:r>
              <a:rPr lang="en-US" altLang="zh-CN" sz="2400" dirty="0">
                <a:solidFill>
                  <a:schemeClr val="tx1"/>
                </a:solidFill>
                <a:latin typeface="楷体_GB2312" pitchFamily="49" charset="-122"/>
              </a:rPr>
              <a:t>1974</a:t>
            </a:r>
            <a:r>
              <a:rPr lang="zh-CN" altLang="en-US" sz="2400" dirty="0">
                <a:solidFill>
                  <a:schemeClr val="tx1"/>
                </a:solidFill>
                <a:latin typeface="楷体_GB2312" pitchFamily="49" charset="-122"/>
              </a:rPr>
              <a:t>年，美国计算机协会图形学专业委员会召开了一个</a:t>
            </a:r>
            <a:r>
              <a:rPr lang="zh-CN" altLang="en-US" sz="2400" dirty="0">
                <a:solidFill>
                  <a:schemeClr val="tx1"/>
                </a:solidFill>
                <a:latin typeface="Arial" panose="020B0604020202020204" pitchFamily="34" charset="0"/>
              </a:rPr>
              <a:t>“</a:t>
            </a:r>
            <a:r>
              <a:rPr lang="zh-CN" altLang="en-US" sz="2400" dirty="0">
                <a:solidFill>
                  <a:schemeClr val="tx1"/>
                </a:solidFill>
                <a:latin typeface="楷体_GB2312" pitchFamily="49" charset="-122"/>
              </a:rPr>
              <a:t>与机器无关的图形技术</a:t>
            </a:r>
            <a:r>
              <a:rPr lang="zh-CN" altLang="en-US" sz="2400" dirty="0">
                <a:solidFill>
                  <a:schemeClr val="tx1"/>
                </a:solidFill>
                <a:latin typeface="Arial" panose="020B0604020202020204" pitchFamily="34" charset="0"/>
              </a:rPr>
              <a:t>”</a:t>
            </a:r>
            <a:r>
              <a:rPr lang="zh-CN" altLang="en-US" sz="2400" dirty="0">
                <a:solidFill>
                  <a:schemeClr val="tx1"/>
                </a:solidFill>
                <a:latin typeface="楷体_GB2312" pitchFamily="49" charset="-122"/>
              </a:rPr>
              <a:t>工作会议，提出了图形软件标准化问题。</a:t>
            </a:r>
            <a:r>
              <a:rPr lang="en-US" altLang="zh-CN" sz="2400" dirty="0">
                <a:solidFill>
                  <a:schemeClr val="tx1"/>
                </a:solidFill>
                <a:latin typeface="楷体_GB2312" pitchFamily="49" charset="-122"/>
              </a:rPr>
              <a:t>ISO</a:t>
            </a:r>
            <a:r>
              <a:rPr lang="zh-CN" altLang="en-US" sz="2400" dirty="0">
                <a:solidFill>
                  <a:schemeClr val="tx1"/>
                </a:solidFill>
                <a:latin typeface="楷体_GB2312" pitchFamily="49" charset="-122"/>
              </a:rPr>
              <a:t>批准的第一个图形软件标准软件：图形核心系统</a:t>
            </a:r>
            <a:r>
              <a:rPr lang="zh-CN" altLang="en-US" sz="2400" b="1" dirty="0">
                <a:solidFill>
                  <a:srgbClr val="FF0000"/>
                </a:solidFill>
                <a:latin typeface="楷体_GB2312" pitchFamily="49" charset="-122"/>
              </a:rPr>
              <a:t>（</a:t>
            </a:r>
            <a:r>
              <a:rPr lang="en-US" altLang="zh-CN" sz="2400" b="1" dirty="0">
                <a:solidFill>
                  <a:srgbClr val="FF0000"/>
                </a:solidFill>
                <a:latin typeface="楷体_GB2312" pitchFamily="49" charset="-122"/>
              </a:rPr>
              <a:t>Graphics Kernal System</a:t>
            </a:r>
            <a:r>
              <a:rPr lang="zh-CN" altLang="en-US" sz="2400" b="1" dirty="0">
                <a:solidFill>
                  <a:srgbClr val="FF0000"/>
                </a:solidFill>
                <a:latin typeface="楷体_GB2312" pitchFamily="49" charset="-122"/>
              </a:rPr>
              <a:t>，</a:t>
            </a:r>
            <a:r>
              <a:rPr lang="en-US" altLang="zh-CN" sz="2400" b="1" dirty="0">
                <a:solidFill>
                  <a:srgbClr val="FF0000"/>
                </a:solidFill>
                <a:latin typeface="黑体" panose="02010609060101010101" pitchFamily="49" charset="-122"/>
                <a:ea typeface="黑体" panose="02010609060101010101" pitchFamily="49" charset="-122"/>
              </a:rPr>
              <a:t>GKS</a:t>
            </a:r>
            <a:r>
              <a:rPr lang="zh-CN" altLang="en-US" sz="2400" b="1" dirty="0">
                <a:solidFill>
                  <a:srgbClr val="FF0000"/>
                </a:solidFill>
                <a:latin typeface="楷体_GB2312" pitchFamily="49" charset="-122"/>
              </a:rPr>
              <a:t>），</a:t>
            </a:r>
            <a:r>
              <a:rPr lang="zh-CN" altLang="en-US" sz="2400" dirty="0">
                <a:solidFill>
                  <a:schemeClr val="tx1"/>
                </a:solidFill>
                <a:latin typeface="楷体_GB2312" pitchFamily="49" charset="-122"/>
              </a:rPr>
              <a:t>它是二维图形软件标准。</a:t>
            </a:r>
            <a:r>
              <a:rPr lang="en-US" altLang="zh-CN" sz="2400" dirty="0">
                <a:solidFill>
                  <a:schemeClr val="tx1"/>
                </a:solidFill>
                <a:latin typeface="楷体_GB2312" pitchFamily="49" charset="-122"/>
              </a:rPr>
              <a:t>1988</a:t>
            </a:r>
            <a:r>
              <a:rPr lang="zh-CN" altLang="en-US" sz="2400" dirty="0">
                <a:solidFill>
                  <a:schemeClr val="tx1"/>
                </a:solidFill>
                <a:latin typeface="楷体_GB2312" pitchFamily="49" charset="-122"/>
              </a:rPr>
              <a:t>年，</a:t>
            </a:r>
            <a:r>
              <a:rPr lang="en-US" altLang="zh-CN" sz="2400" dirty="0">
                <a:solidFill>
                  <a:schemeClr val="tx1"/>
                </a:solidFill>
                <a:latin typeface="楷体_GB2312" pitchFamily="49" charset="-122"/>
              </a:rPr>
              <a:t>ISO</a:t>
            </a:r>
            <a:r>
              <a:rPr lang="zh-CN" altLang="en-US" sz="2400" dirty="0">
                <a:solidFill>
                  <a:schemeClr val="tx1"/>
                </a:solidFill>
                <a:latin typeface="楷体_GB2312" pitchFamily="49" charset="-122"/>
              </a:rPr>
              <a:t>批准的第二个图形软件标准软件： </a:t>
            </a:r>
            <a:r>
              <a:rPr lang="en-US" altLang="zh-CN" sz="2400" dirty="0">
                <a:solidFill>
                  <a:schemeClr val="tx1"/>
                </a:solidFill>
                <a:latin typeface="楷体_GB2312" pitchFamily="49" charset="-122"/>
              </a:rPr>
              <a:t>GKS3D</a:t>
            </a:r>
            <a:r>
              <a:rPr lang="zh-CN" altLang="en-US" sz="2400" dirty="0">
                <a:solidFill>
                  <a:schemeClr val="tx1"/>
                </a:solidFill>
                <a:latin typeface="楷体_GB2312" pitchFamily="49" charset="-122"/>
              </a:rPr>
              <a:t>。它是三维图形软件标准。</a:t>
            </a:r>
            <a:r>
              <a:rPr lang="en-US" altLang="zh-CN" sz="2400" dirty="0">
                <a:solidFill>
                  <a:schemeClr val="tx1"/>
                </a:solidFill>
                <a:latin typeface="楷体_GB2312" pitchFamily="49" charset="-122"/>
              </a:rPr>
              <a:t>1986</a:t>
            </a:r>
            <a:r>
              <a:rPr lang="zh-CN" altLang="en-US" sz="2400" dirty="0">
                <a:solidFill>
                  <a:schemeClr val="tx1"/>
                </a:solidFill>
                <a:latin typeface="楷体_GB2312" pitchFamily="49" charset="-122"/>
              </a:rPr>
              <a:t>年， </a:t>
            </a:r>
            <a:r>
              <a:rPr lang="en-US" altLang="zh-CN" sz="2400" dirty="0">
                <a:solidFill>
                  <a:schemeClr val="tx1"/>
                </a:solidFill>
                <a:latin typeface="楷体_GB2312" pitchFamily="49" charset="-122"/>
              </a:rPr>
              <a:t>ISO</a:t>
            </a:r>
            <a:r>
              <a:rPr lang="zh-CN" altLang="en-US" sz="2400" dirty="0">
                <a:solidFill>
                  <a:schemeClr val="tx1"/>
                </a:solidFill>
                <a:latin typeface="楷体_GB2312" pitchFamily="49" charset="-122"/>
              </a:rPr>
              <a:t>又公布了第二个图形软件标准：程序员级的分层结构交互图形系统（</a:t>
            </a:r>
            <a:r>
              <a:rPr lang="en-US" altLang="zh-CN" sz="2400" dirty="0">
                <a:solidFill>
                  <a:schemeClr val="tx1"/>
                </a:solidFill>
                <a:latin typeface="楷体_GB2312" pitchFamily="49" charset="-122"/>
              </a:rPr>
              <a:t>Programmer</a:t>
            </a:r>
            <a:r>
              <a:rPr lang="en-US" altLang="zh-CN" sz="2400" dirty="0">
                <a:solidFill>
                  <a:schemeClr val="tx1"/>
                </a:solidFill>
                <a:latin typeface="Arial" panose="020B0604020202020204" pitchFamily="34" charset="0"/>
              </a:rPr>
              <a:t>’</a:t>
            </a:r>
            <a:r>
              <a:rPr lang="en-US" altLang="zh-CN" sz="2400" dirty="0">
                <a:solidFill>
                  <a:schemeClr val="tx1"/>
                </a:solidFill>
                <a:latin typeface="楷体_GB2312" pitchFamily="49" charset="-122"/>
              </a:rPr>
              <a:t>s Hierarchical Interactive System</a:t>
            </a:r>
            <a:r>
              <a:rPr lang="zh-CN" altLang="en-US" sz="2400" dirty="0">
                <a:solidFill>
                  <a:schemeClr val="tx1"/>
                </a:solidFill>
                <a:latin typeface="楷体_GB2312" pitchFamily="49" charset="-122"/>
              </a:rPr>
              <a:t>，</a:t>
            </a:r>
            <a:r>
              <a:rPr lang="en-US" altLang="zh-CN" sz="2400" b="1" dirty="0">
                <a:solidFill>
                  <a:srgbClr val="FF0000"/>
                </a:solidFill>
                <a:latin typeface="黑体" panose="02010609060101010101" pitchFamily="49" charset="-122"/>
                <a:ea typeface="黑体" panose="02010609060101010101" pitchFamily="49" charset="-122"/>
              </a:rPr>
              <a:t>PHIGS</a:t>
            </a:r>
            <a:r>
              <a:rPr lang="zh-CN" altLang="en-US" sz="2400" dirty="0">
                <a:solidFill>
                  <a:schemeClr val="tx1"/>
                </a:solidFill>
                <a:latin typeface="楷体_GB2312" pitchFamily="49" charset="-122"/>
              </a:rPr>
              <a:t>）。</a:t>
            </a:r>
            <a:r>
              <a:rPr lang="en-US" altLang="zh-CN" sz="2400" dirty="0">
                <a:solidFill>
                  <a:schemeClr val="tx1"/>
                </a:solidFill>
                <a:latin typeface="楷体_GB2312" pitchFamily="49" charset="-122"/>
              </a:rPr>
              <a:t>PHIGS</a:t>
            </a:r>
            <a:r>
              <a:rPr lang="zh-CN" altLang="en-US" sz="2400" dirty="0">
                <a:solidFill>
                  <a:schemeClr val="tx1"/>
                </a:solidFill>
                <a:latin typeface="楷体_GB2312" pitchFamily="49" charset="-122"/>
              </a:rPr>
              <a:t>是对</a:t>
            </a:r>
            <a:r>
              <a:rPr lang="en-US" altLang="zh-CN" sz="2400" dirty="0">
                <a:solidFill>
                  <a:schemeClr val="tx1"/>
                </a:solidFill>
                <a:latin typeface="楷体_GB2312" pitchFamily="49" charset="-122"/>
              </a:rPr>
              <a:t>GKS</a:t>
            </a:r>
            <a:r>
              <a:rPr lang="zh-CN" altLang="en-US" sz="2400" dirty="0">
                <a:solidFill>
                  <a:schemeClr val="tx1"/>
                </a:solidFill>
                <a:latin typeface="楷体_GB2312" pitchFamily="49" charset="-122"/>
              </a:rPr>
              <a:t>的扩充，增加的功能有对象建模、彩色设定、表面绘制和图形管理等。此后，</a:t>
            </a:r>
            <a:r>
              <a:rPr lang="en-US" altLang="zh-CN" sz="2400" dirty="0">
                <a:solidFill>
                  <a:schemeClr val="tx1"/>
                </a:solidFill>
                <a:latin typeface="楷体_GB2312" pitchFamily="49" charset="-122"/>
              </a:rPr>
              <a:t>PHIGS</a:t>
            </a:r>
            <a:r>
              <a:rPr lang="zh-CN" altLang="en-US" sz="2400" dirty="0">
                <a:solidFill>
                  <a:schemeClr val="tx1"/>
                </a:solidFill>
                <a:latin typeface="楷体_GB2312" pitchFamily="49" charset="-122"/>
              </a:rPr>
              <a:t>的扩充称为</a:t>
            </a:r>
            <a:r>
              <a:rPr lang="en-US" altLang="zh-CN" sz="2400" dirty="0">
                <a:solidFill>
                  <a:schemeClr val="tx1"/>
                </a:solidFill>
                <a:latin typeface="楷体_GB2312" pitchFamily="49" charset="-122"/>
              </a:rPr>
              <a:t>PHIGS</a:t>
            </a:r>
            <a:r>
              <a:rPr lang="zh-CN" altLang="en-US" sz="2400" dirty="0">
                <a:solidFill>
                  <a:schemeClr val="tx1"/>
                </a:solidFill>
                <a:latin typeface="楷体_GB2312" pitchFamily="49" charset="-122"/>
              </a:rPr>
              <a:t>＋。</a:t>
            </a:r>
            <a:endParaRPr lang="zh-CN" altLang="en-US" sz="2400" dirty="0">
              <a:solidFill>
                <a:schemeClr val="tx1"/>
              </a:solidFill>
              <a:latin typeface="楷体_GB2312" pitchFamily="49" charset="-122"/>
            </a:endParaRPr>
          </a:p>
          <a:p>
            <a:pPr marL="0" indent="355600" eaLnBrk="1" hangingPunct="1">
              <a:lnSpc>
                <a:spcPct val="90000"/>
              </a:lnSpc>
              <a:buNone/>
            </a:pPr>
            <a:r>
              <a:rPr lang="zh-CN" altLang="en-US" sz="2400" dirty="0">
                <a:solidFill>
                  <a:schemeClr val="tx1"/>
                </a:solidFill>
                <a:latin typeface="楷体_GB2312" pitchFamily="49" charset="-122"/>
              </a:rPr>
              <a:t>进入</a:t>
            </a:r>
            <a:r>
              <a:rPr lang="en-US" altLang="zh-CN" sz="2400" dirty="0">
                <a:solidFill>
                  <a:schemeClr val="tx1"/>
                </a:solidFill>
                <a:latin typeface="楷体_GB2312" pitchFamily="49" charset="-122"/>
              </a:rPr>
              <a:t>20</a:t>
            </a:r>
            <a:r>
              <a:rPr lang="zh-CN" altLang="en-US" sz="2400" dirty="0">
                <a:solidFill>
                  <a:schemeClr val="tx1"/>
                </a:solidFill>
                <a:latin typeface="楷体_GB2312" pitchFamily="49" charset="-122"/>
              </a:rPr>
              <a:t>世纪</a:t>
            </a:r>
            <a:r>
              <a:rPr lang="en-US" altLang="zh-CN" sz="2400" dirty="0">
                <a:solidFill>
                  <a:schemeClr val="tx1"/>
                </a:solidFill>
                <a:latin typeface="楷体_GB2312" pitchFamily="49" charset="-122"/>
              </a:rPr>
              <a:t>90</a:t>
            </a:r>
            <a:r>
              <a:rPr lang="zh-CN" altLang="en-US" sz="2400" dirty="0">
                <a:solidFill>
                  <a:schemeClr val="tx1"/>
                </a:solidFill>
                <a:latin typeface="楷体_GB2312" pitchFamily="49" charset="-122"/>
              </a:rPr>
              <a:t>年代以后存在着一些事实上的标准，如</a:t>
            </a:r>
            <a:r>
              <a:rPr lang="en-US" altLang="zh-CN" sz="2400" dirty="0">
                <a:solidFill>
                  <a:schemeClr val="tx1"/>
                </a:solidFill>
                <a:latin typeface="楷体_GB2312" pitchFamily="49" charset="-122"/>
              </a:rPr>
              <a:t>SGI</a:t>
            </a:r>
            <a:r>
              <a:rPr lang="zh-CN" altLang="en-US" sz="2400" dirty="0">
                <a:solidFill>
                  <a:schemeClr val="tx1"/>
                </a:solidFill>
                <a:latin typeface="楷体_GB2312" pitchFamily="49" charset="-122"/>
              </a:rPr>
              <a:t>公司开发的</a:t>
            </a:r>
            <a:r>
              <a:rPr lang="zh-CN" altLang="en-US" sz="2400" b="1" dirty="0">
                <a:solidFill>
                  <a:srgbClr val="FF0000"/>
                </a:solidFill>
                <a:latin typeface="黑体" panose="02010609060101010101" pitchFamily="49" charset="-122"/>
                <a:ea typeface="黑体" panose="02010609060101010101" pitchFamily="49" charset="-122"/>
              </a:rPr>
              <a:t> </a:t>
            </a:r>
            <a:r>
              <a:rPr lang="en-US" altLang="zh-CN" sz="2400" b="1" dirty="0">
                <a:solidFill>
                  <a:srgbClr val="FF0000"/>
                </a:solidFill>
                <a:latin typeface="黑体" panose="02010609060101010101" pitchFamily="49" charset="-122"/>
                <a:ea typeface="黑体" panose="02010609060101010101" pitchFamily="49" charset="-122"/>
              </a:rPr>
              <a:t>OpenGL</a:t>
            </a:r>
            <a:r>
              <a:rPr lang="en-US" altLang="zh-CN" sz="2400" dirty="0">
                <a:solidFill>
                  <a:schemeClr val="tx1"/>
                </a:solidFill>
                <a:latin typeface="楷体_GB2312" pitchFamily="49" charset="-122"/>
              </a:rPr>
              <a:t> </a:t>
            </a:r>
            <a:r>
              <a:rPr lang="zh-CN" altLang="en-US" sz="2400" dirty="0">
                <a:solidFill>
                  <a:schemeClr val="tx1"/>
                </a:solidFill>
                <a:latin typeface="楷体_GB2312" pitchFamily="49" charset="-122"/>
              </a:rPr>
              <a:t>（</a:t>
            </a:r>
            <a:r>
              <a:rPr lang="en-US" altLang="zh-CN" sz="2400" dirty="0">
                <a:solidFill>
                  <a:schemeClr val="tx1"/>
                </a:solidFill>
                <a:latin typeface="楷体_GB2312" pitchFamily="49" charset="-122"/>
              </a:rPr>
              <a:t>Open Graphics Library</a:t>
            </a:r>
            <a:r>
              <a:rPr lang="zh-CN" altLang="en-US" sz="2400" dirty="0">
                <a:solidFill>
                  <a:schemeClr val="tx1"/>
                </a:solidFill>
                <a:latin typeface="楷体_GB2312" pitchFamily="49" charset="-122"/>
              </a:rPr>
              <a:t>）开放式三维图形标准。微软公司为</a:t>
            </a:r>
            <a:r>
              <a:rPr lang="en-US" altLang="zh-CN" sz="2400" dirty="0">
                <a:solidFill>
                  <a:schemeClr val="tx1"/>
                </a:solidFill>
                <a:latin typeface="楷体_GB2312" pitchFamily="49" charset="-122"/>
              </a:rPr>
              <a:t>PC</a:t>
            </a:r>
            <a:r>
              <a:rPr lang="zh-CN" altLang="en-US" sz="2400" dirty="0">
                <a:solidFill>
                  <a:schemeClr val="tx1"/>
                </a:solidFill>
                <a:latin typeface="楷体_GB2312" pitchFamily="49" charset="-122"/>
              </a:rPr>
              <a:t>游戏开发的应用程序接口标准 </a:t>
            </a:r>
            <a:r>
              <a:rPr lang="en-US" altLang="zh-CN" sz="2400" b="1" dirty="0">
                <a:solidFill>
                  <a:srgbClr val="FF0000"/>
                </a:solidFill>
                <a:latin typeface="黑体" panose="02010609060101010101" pitchFamily="49" charset="-122"/>
                <a:ea typeface="黑体" panose="02010609060101010101" pitchFamily="49" charset="-122"/>
              </a:rPr>
              <a:t>Direct3D</a:t>
            </a:r>
            <a:r>
              <a:rPr lang="zh-CN" altLang="en-US" sz="2400" dirty="0">
                <a:solidFill>
                  <a:schemeClr val="tx1"/>
                </a:solidFill>
                <a:latin typeface="楷体_GB2312" pitchFamily="49" charset="-122"/>
              </a:rPr>
              <a:t>等。</a:t>
            </a:r>
            <a:endParaRPr lang="zh-CN" altLang="en-US" sz="2400" dirty="0">
              <a:solidFill>
                <a:schemeClr val="tx1"/>
              </a:solidFill>
              <a:latin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withEffect">
                                  <p:stCondLst>
                                    <p:cond delay="0"/>
                                  </p:stCondLst>
                                  <p:childTnLst>
                                    <p:set>
                                      <p:cBhvr>
                                        <p:cTn id="6" fill="hold">
                                          <p:stCondLst>
                                            <p:cond delay="0"/>
                                          </p:stCondLst>
                                        </p:cTn>
                                        <p:tgtEl>
                                          <p:spTgt spid="90114"/>
                                        </p:tgtEl>
                                        <p:attrNameLst>
                                          <p:attrName>style.visibility</p:attrName>
                                        </p:attrNameLst>
                                      </p:cBhvr>
                                      <p:to>
                                        <p:strVal val="visible"/>
                                      </p:to>
                                    </p:set>
                                    <p:anim calcmode="lin" valueType="num">
                                      <p:cBhvr>
                                        <p:cTn id="7" dur="2000" fill="hold"/>
                                        <p:tgtEl>
                                          <p:spTgt spid="90114"/>
                                        </p:tgtEl>
                                        <p:attrNameLst>
                                          <p:attrName>ppt_w</p:attrName>
                                        </p:attrNameLst>
                                      </p:cBhvr>
                                      <p:tavLst>
                                        <p:tav tm="0">
                                          <p:val>
                                            <p:strVal val="#ppt_w*2.5"/>
                                          </p:val>
                                        </p:tav>
                                        <p:tav tm="100000">
                                          <p:val>
                                            <p:strVal val="#ppt_w"/>
                                          </p:val>
                                        </p:tav>
                                      </p:tavLst>
                                    </p:anim>
                                    <p:anim calcmode="lin" valueType="num">
                                      <p:cBhvr>
                                        <p:cTn id="8" dur="2000" fill="hold"/>
                                        <p:tgtEl>
                                          <p:spTgt spid="90114"/>
                                        </p:tgtEl>
                                        <p:attrNameLst>
                                          <p:attrName>ppt_h</p:attrName>
                                        </p:attrNameLst>
                                      </p:cBhvr>
                                      <p:tavLst>
                                        <p:tav tm="0">
                                          <p:val>
                                            <p:strVal val="#ppt_h"/>
                                          </p:val>
                                        </p:tav>
                                        <p:tav tm="100000">
                                          <p:val>
                                            <p:strVal val="#ppt_h"/>
                                          </p:val>
                                        </p:tav>
                                      </p:tavLst>
                                    </p:anim>
                                    <p:anim calcmode="lin" valueType="num">
                                      <p:cBhvr>
                                        <p:cTn id="9" dur="2000" fill="hold"/>
                                        <p:tgtEl>
                                          <p:spTgt spid="90114"/>
                                        </p:tgtEl>
                                        <p:attrNameLst>
                                          <p:attrName>ppt_x</p:attrName>
                                        </p:attrNameLst>
                                      </p:cBhvr>
                                      <p:tavLst>
                                        <p:tav tm="0">
                                          <p:val>
                                            <p:strVal val="#ppt_x-.2"/>
                                          </p:val>
                                        </p:tav>
                                        <p:tav tm="50000">
                                          <p:val>
                                            <p:strVal val="#ppt_x+.1"/>
                                          </p:val>
                                        </p:tav>
                                        <p:tav tm="100000">
                                          <p:val>
                                            <p:strVal val="#ppt_x"/>
                                          </p:val>
                                        </p:tav>
                                      </p:tavLst>
                                    </p:anim>
                                    <p:anim calcmode="lin" valueType="num">
                                      <p:cBhvr>
                                        <p:cTn id="10" dur="2000" fill="hold"/>
                                        <p:tgtEl>
                                          <p:spTgt spid="90114"/>
                                        </p:tgtEl>
                                        <p:attrNameLst>
                                          <p:attrName>ppt_y</p:attrName>
                                        </p:attrNameLst>
                                      </p:cBhvr>
                                      <p:tavLst>
                                        <p:tav tm="0">
                                          <p:val>
                                            <p:strVal val="#ppt_y+1"/>
                                          </p:val>
                                        </p:tav>
                                        <p:tav tm="50000">
                                          <p:val>
                                            <p:strVal val="#ppt_y+.5"/>
                                          </p:val>
                                        </p:tav>
                                        <p:tav tm="100000">
                                          <p:val>
                                            <p:strVal val="#ppt_y"/>
                                          </p:val>
                                        </p:tav>
                                      </p:tavLst>
                                    </p:anim>
                                    <p:animEffect transition="in" filter="fade">
                                      <p:cBhvr>
                                        <p:cTn id="11" dur="2000"/>
                                        <p:tgtEl>
                                          <p:spTgt spid="9011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fill="hold">
                                          <p:stCondLst>
                                            <p:cond delay="0"/>
                                          </p:stCondLst>
                                        </p:cTn>
                                        <p:tgtEl>
                                          <p:spTgt spid="90115">
                                            <p:txEl>
                                              <p:charRg st="0" end="316"/>
                                            </p:txEl>
                                          </p:spTgt>
                                        </p:tgtEl>
                                        <p:attrNameLst>
                                          <p:attrName>style.visibility</p:attrName>
                                        </p:attrNameLst>
                                      </p:cBhvr>
                                      <p:to>
                                        <p:strVal val="visible"/>
                                      </p:to>
                                    </p:set>
                                    <p:animEffect transition="in" filter="wipe(left)">
                                      <p:cBhvr>
                                        <p:cTn id="16" dur="500"/>
                                        <p:tgtEl>
                                          <p:spTgt spid="90115">
                                            <p:txEl>
                                              <p:charRg st="0" end="31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fill="hold">
                                          <p:stCondLst>
                                            <p:cond delay="0"/>
                                          </p:stCondLst>
                                        </p:cTn>
                                        <p:tgtEl>
                                          <p:spTgt spid="90115">
                                            <p:txEl>
                                              <p:charRg st="316" end="422"/>
                                            </p:txEl>
                                          </p:spTgt>
                                        </p:tgtEl>
                                        <p:attrNameLst>
                                          <p:attrName>style.visibility</p:attrName>
                                        </p:attrNameLst>
                                      </p:cBhvr>
                                      <p:to>
                                        <p:strVal val="visible"/>
                                      </p:to>
                                    </p:set>
                                    <p:animEffect transition="in" filter="wipe(left)">
                                      <p:cBhvr>
                                        <p:cTn id="21" dur="500"/>
                                        <p:tgtEl>
                                          <p:spTgt spid="90115">
                                            <p:txEl>
                                              <p:charRg st="316" end="42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4" grpId="0"/>
      <p:bldP spid="90115"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5"/>
          <p:cNvSpPr>
            <a:spLocks noGrp="1"/>
          </p:cNvSpPr>
          <p:nvPr>
            <p:ph type="title" idx="4294967295"/>
          </p:nvPr>
        </p:nvSpPr>
        <p:spPr>
          <a:xfrm>
            <a:off x="1331913" y="260350"/>
            <a:ext cx="7056437" cy="647700"/>
          </a:xfrm>
          <a:ln/>
        </p:spPr>
        <p:txBody>
          <a:bodyPr vert="horz" wrap="square" lIns="91440" tIns="45720" rIns="91440" bIns="45720" anchor="b" anchorCtr="0"/>
          <a:p>
            <a:pPr algn="l" eaLnBrk="1" hangingPunct="1"/>
            <a:r>
              <a:rPr lang="en-US" altLang="zh-CN" sz="3200" dirty="0">
                <a:solidFill>
                  <a:schemeClr val="tx1"/>
                </a:solidFill>
                <a:latin typeface="楷体_GB2312" pitchFamily="49" charset="-122"/>
                <a:ea typeface="楷体_GB2312" pitchFamily="49" charset="-122"/>
              </a:rPr>
              <a:t>1.7</a:t>
            </a:r>
            <a:r>
              <a:rPr lang="zh-CN" altLang="en-US" sz="3200" dirty="0">
                <a:solidFill>
                  <a:schemeClr val="tx1"/>
                </a:solidFill>
                <a:latin typeface="楷体_GB2312" pitchFamily="49" charset="-122"/>
                <a:ea typeface="楷体_GB2312" pitchFamily="49" charset="-122"/>
              </a:rPr>
              <a:t>计算机图形学研究的热点技术</a:t>
            </a:r>
            <a:r>
              <a:rPr lang="zh-CN" altLang="en-US" dirty="0"/>
              <a:t> </a:t>
            </a:r>
            <a:endParaRPr lang="zh-CN" altLang="en-US" dirty="0"/>
          </a:p>
        </p:txBody>
      </p:sp>
      <p:sp>
        <p:nvSpPr>
          <p:cNvPr id="88067" name="Rectangle 6"/>
          <p:cNvSpPr>
            <a:spLocks noGrp="1"/>
          </p:cNvSpPr>
          <p:nvPr>
            <p:ph type="body" idx="4294967295"/>
          </p:nvPr>
        </p:nvSpPr>
        <p:spPr>
          <a:xfrm>
            <a:off x="1331913" y="908050"/>
            <a:ext cx="7559675" cy="1584325"/>
          </a:xfrm>
          <a:ln/>
        </p:spPr>
        <p:txBody>
          <a:bodyPr vert="horz" wrap="square" lIns="91440" tIns="45720" rIns="91440" bIns="45720" anchor="t" anchorCtr="0"/>
          <a:p>
            <a:pPr marL="0" indent="355600" eaLnBrk="1" hangingPunct="1">
              <a:buNone/>
            </a:pPr>
            <a:r>
              <a:rPr lang="en-US" altLang="zh-CN" sz="2400" b="1" dirty="0">
                <a:solidFill>
                  <a:srgbClr val="FF0000"/>
                </a:solidFill>
                <a:latin typeface="黑体" panose="02010609060101010101" pitchFamily="49" charset="-122"/>
                <a:ea typeface="黑体" panose="02010609060101010101" pitchFamily="49" charset="-122"/>
              </a:rPr>
              <a:t>1.LOD</a:t>
            </a:r>
            <a:r>
              <a:rPr lang="zh-CN" altLang="en-US" sz="2000" b="1" dirty="0">
                <a:solidFill>
                  <a:schemeClr val="tx1"/>
                </a:solidFill>
                <a:latin typeface="楷体_GB2312" pitchFamily="49" charset="-122"/>
              </a:rPr>
              <a:t> </a:t>
            </a:r>
            <a:r>
              <a:rPr lang="zh-CN" altLang="en-US" sz="2400" b="1" dirty="0">
                <a:solidFill>
                  <a:schemeClr val="tx1"/>
                </a:solidFill>
                <a:latin typeface="楷体_GB2312" pitchFamily="49" charset="-122"/>
              </a:rPr>
              <a:t>（</a:t>
            </a:r>
            <a:r>
              <a:rPr lang="en-US" altLang="zh-CN" sz="2400" b="1" dirty="0">
                <a:solidFill>
                  <a:schemeClr val="tx1"/>
                </a:solidFill>
                <a:latin typeface="楷体_GB2312" pitchFamily="49" charset="-122"/>
              </a:rPr>
              <a:t>levels of detail</a:t>
            </a:r>
            <a:r>
              <a:rPr lang="zh-CN" altLang="en-US" sz="2400" b="1" dirty="0">
                <a:solidFill>
                  <a:schemeClr val="tx1"/>
                </a:solidFill>
                <a:latin typeface="楷体_GB2312" pitchFamily="49" charset="-122"/>
              </a:rPr>
              <a:t>）</a:t>
            </a:r>
            <a:endParaRPr lang="zh-CN" altLang="en-US" sz="2400" b="1" dirty="0">
              <a:solidFill>
                <a:schemeClr val="tx1"/>
              </a:solidFill>
              <a:latin typeface="楷体_GB2312" pitchFamily="49" charset="-122"/>
            </a:endParaRPr>
          </a:p>
          <a:p>
            <a:pPr marL="0" indent="355600"/>
            <a:r>
              <a:rPr lang="zh-CN" altLang="en-US" sz="2400" dirty="0">
                <a:solidFill>
                  <a:schemeClr val="tx1"/>
                </a:solidFill>
                <a:latin typeface="楷体_GB2312" pitchFamily="49" charset="-122"/>
              </a:rPr>
              <a:t>物体离视点近，则采用就较高细节的模型，</a:t>
            </a:r>
            <a:r>
              <a:rPr lang="zh-CN" altLang="en-US" sz="2400" b="1" dirty="0">
                <a:solidFill>
                  <a:srgbClr val="FF0000"/>
                </a:solidFill>
                <a:latin typeface="黑体" panose="02010609060101010101" pitchFamily="49" charset="-122"/>
                <a:ea typeface="黑体" panose="02010609060101010101" pitchFamily="49" charset="-122"/>
              </a:rPr>
              <a:t>物体离视点远，则选择较低细节的模型</a:t>
            </a:r>
            <a:r>
              <a:rPr lang="zh-CN" altLang="en-US" sz="2400" dirty="0">
                <a:solidFill>
                  <a:schemeClr val="tx1"/>
                </a:solidFill>
                <a:latin typeface="楷体_GB2312" pitchFamily="49" charset="-122"/>
              </a:rPr>
              <a:t>。</a:t>
            </a:r>
            <a:endParaRPr lang="en-US" altLang="zh-CN" sz="2400" dirty="0">
              <a:solidFill>
                <a:schemeClr val="tx1"/>
              </a:solidFill>
              <a:latin typeface="楷体_GB2312" pitchFamily="49" charset="-122"/>
            </a:endParaRPr>
          </a:p>
          <a:p>
            <a:pPr marL="0" indent="355600"/>
            <a:r>
              <a:rPr lang="zh-CN" altLang="en-US" sz="2400" dirty="0">
                <a:solidFill>
                  <a:schemeClr val="tx1"/>
                </a:solidFill>
              </a:rPr>
              <a:t>特点：需要建三维模型与纹理映射。</a:t>
            </a:r>
            <a:endParaRPr lang="zh-CN" altLang="en-US" sz="2400" dirty="0">
              <a:solidFill>
                <a:schemeClr val="tx1"/>
              </a:solidFill>
            </a:endParaRPr>
          </a:p>
        </p:txBody>
      </p:sp>
      <p:pic>
        <p:nvPicPr>
          <p:cNvPr id="88068" name="Picture 9"/>
          <p:cNvPicPr>
            <a:picLocks noChangeAspect="1"/>
          </p:cNvPicPr>
          <p:nvPr/>
        </p:nvPicPr>
        <p:blipFill>
          <a:blip r:embed="rId1"/>
          <a:stretch>
            <a:fillRect/>
          </a:stretch>
        </p:blipFill>
        <p:spPr>
          <a:xfrm>
            <a:off x="1258888" y="2898775"/>
            <a:ext cx="3602037" cy="2822575"/>
          </a:xfrm>
          <a:prstGeom prst="rect">
            <a:avLst/>
          </a:prstGeom>
          <a:noFill/>
          <a:ln w="9525">
            <a:noFill/>
          </a:ln>
        </p:spPr>
      </p:pic>
      <p:pic>
        <p:nvPicPr>
          <p:cNvPr id="88069" name="Picture 10"/>
          <p:cNvPicPr>
            <a:picLocks noChangeAspect="1"/>
          </p:cNvPicPr>
          <p:nvPr/>
        </p:nvPicPr>
        <p:blipFill>
          <a:blip r:embed="rId2"/>
          <a:stretch>
            <a:fillRect/>
          </a:stretch>
        </p:blipFill>
        <p:spPr>
          <a:xfrm>
            <a:off x="5219700" y="2852738"/>
            <a:ext cx="3671888" cy="2890837"/>
          </a:xfrm>
          <a:prstGeom prst="rect">
            <a:avLst/>
          </a:prstGeom>
          <a:noFill/>
          <a:ln w="9525">
            <a:noFill/>
          </a:ln>
        </p:spPr>
      </p:pic>
      <p:sp>
        <p:nvSpPr>
          <p:cNvPr id="91142" name="Rectangle 11"/>
          <p:cNvSpPr>
            <a:spLocks noChangeArrowheads="1"/>
          </p:cNvSpPr>
          <p:nvPr/>
        </p:nvSpPr>
        <p:spPr bwMode="auto">
          <a:xfrm>
            <a:off x="2428875" y="6092825"/>
            <a:ext cx="1533525" cy="396875"/>
          </a:xfrm>
          <a:prstGeom prst="rect">
            <a:avLst/>
          </a:prstGeom>
          <a:noFill/>
          <a:ln>
            <a:noFill/>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Tahoma" panose="020B0604030504040204" pitchFamily="34" charset="0"/>
                <a:ea typeface="楷体_GB2312" pitchFamily="49" charset="-122"/>
                <a:cs typeface="+mn-cs"/>
              </a:rPr>
              <a:t>四叉树地形</a:t>
            </a:r>
            <a:r>
              <a:rPr kumimoji="0" lang="zh-CN" altLang="en-US" sz="20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 </a:t>
            </a:r>
            <a:endParaRPr kumimoji="0" lang="zh-CN" altLang="en-US" sz="20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1143" name="Rectangle 12"/>
          <p:cNvSpPr>
            <a:spLocks noChangeArrowheads="1"/>
          </p:cNvSpPr>
          <p:nvPr/>
        </p:nvSpPr>
        <p:spPr bwMode="auto">
          <a:xfrm>
            <a:off x="6172200" y="6092825"/>
            <a:ext cx="1279525" cy="396875"/>
          </a:xfrm>
          <a:prstGeom prst="rect">
            <a:avLst/>
          </a:prstGeom>
          <a:noFill/>
          <a:ln>
            <a:noFill/>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Tahoma" panose="020B0604030504040204" pitchFamily="34" charset="0"/>
                <a:ea typeface="楷体_GB2312" pitchFamily="49" charset="-122"/>
                <a:cs typeface="+mn-cs"/>
              </a:rPr>
              <a:t>均匀网格</a:t>
            </a:r>
            <a:r>
              <a:rPr kumimoji="0" lang="zh-CN" altLang="en-US" sz="20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 </a:t>
            </a:r>
            <a:endParaRPr kumimoji="0" lang="zh-CN" altLang="en-US" sz="20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89090" name="Picture 7"/>
          <p:cNvPicPr>
            <a:picLocks noChangeAspect="1"/>
          </p:cNvPicPr>
          <p:nvPr/>
        </p:nvPicPr>
        <p:blipFill>
          <a:blip r:embed="rId1"/>
          <a:stretch>
            <a:fillRect/>
          </a:stretch>
        </p:blipFill>
        <p:spPr>
          <a:xfrm>
            <a:off x="5435600" y="333375"/>
            <a:ext cx="3240088" cy="2546350"/>
          </a:xfrm>
          <a:prstGeom prst="rect">
            <a:avLst/>
          </a:prstGeom>
          <a:noFill/>
          <a:ln w="9525">
            <a:noFill/>
          </a:ln>
        </p:spPr>
      </p:pic>
      <p:pic>
        <p:nvPicPr>
          <p:cNvPr id="89091" name="Picture 8"/>
          <p:cNvPicPr>
            <a:picLocks noChangeAspect="1"/>
          </p:cNvPicPr>
          <p:nvPr/>
        </p:nvPicPr>
        <p:blipFill>
          <a:blip r:embed="rId2"/>
          <a:stretch>
            <a:fillRect/>
          </a:stretch>
        </p:blipFill>
        <p:spPr>
          <a:xfrm>
            <a:off x="1692275" y="333375"/>
            <a:ext cx="3240088" cy="2543175"/>
          </a:xfrm>
          <a:prstGeom prst="rect">
            <a:avLst/>
          </a:prstGeom>
          <a:noFill/>
          <a:ln w="9525">
            <a:noFill/>
          </a:ln>
        </p:spPr>
      </p:pic>
      <p:sp>
        <p:nvSpPr>
          <p:cNvPr id="92164" name="Rectangle 14"/>
          <p:cNvSpPr>
            <a:spLocks noChangeArrowheads="1"/>
          </p:cNvSpPr>
          <p:nvPr/>
        </p:nvSpPr>
        <p:spPr bwMode="auto">
          <a:xfrm>
            <a:off x="4572000" y="3181350"/>
            <a:ext cx="1244600" cy="460375"/>
          </a:xfrm>
          <a:prstGeom prst="rect">
            <a:avLst/>
          </a:prstGeom>
          <a:noFill/>
          <a:ln>
            <a:noFill/>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sz="24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LOD</a:t>
            </a:r>
            <a:r>
              <a:rPr kumimoji="0" lang="zh-CN" altLang="en-US" sz="20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Tahoma" panose="020B0604030504040204" pitchFamily="34" charset="0"/>
                <a:ea typeface="楷体_GB2312" pitchFamily="49" charset="-122"/>
                <a:cs typeface="+mn-cs"/>
              </a:rPr>
              <a:t>网格</a:t>
            </a:r>
            <a:r>
              <a:rPr kumimoji="0" lang="zh-CN" altLang="en-US" sz="200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 </a:t>
            </a:r>
            <a:endParaRPr kumimoji="0" lang="zh-CN" altLang="en-US" sz="200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p:txBody>
      </p:sp>
      <p:graphicFrame>
        <p:nvGraphicFramePr>
          <p:cNvPr id="89093" name="Object 17"/>
          <p:cNvGraphicFramePr>
            <a:graphicFrameLocks noChangeAspect="1"/>
          </p:cNvGraphicFramePr>
          <p:nvPr/>
        </p:nvGraphicFramePr>
        <p:xfrm>
          <a:off x="2195513" y="3500438"/>
          <a:ext cx="2159000" cy="2159000"/>
        </p:xfrm>
        <a:graphic>
          <a:graphicData uri="http://schemas.openxmlformats.org/presentationml/2006/ole">
            <mc:AlternateContent xmlns:mc="http://schemas.openxmlformats.org/markup-compatibility/2006">
              <mc:Choice xmlns:v="urn:schemas-microsoft-com:vml" Requires="v">
                <p:oleObj spid="_x0000_s3093" name="" r:id="rId3" imgW="4335145" imgH="4335145" progId="Visio.Drawing.11">
                  <p:embed/>
                </p:oleObj>
              </mc:Choice>
              <mc:Fallback>
                <p:oleObj name="" r:id="rId3" imgW="4335145" imgH="4335145" progId="Visio.Drawing.11">
                  <p:embed/>
                  <p:pic>
                    <p:nvPicPr>
                      <p:cNvPr id="0" name="图片 3092"/>
                      <p:cNvPicPr/>
                      <p:nvPr/>
                    </p:nvPicPr>
                    <p:blipFill>
                      <a:blip r:embed="rId4"/>
                      <a:stretch>
                        <a:fillRect/>
                      </a:stretch>
                    </p:blipFill>
                    <p:spPr>
                      <a:xfrm>
                        <a:off x="2195513" y="3500438"/>
                        <a:ext cx="2159000" cy="2159000"/>
                      </a:xfrm>
                      <a:prstGeom prst="rect">
                        <a:avLst/>
                      </a:prstGeom>
                      <a:noFill/>
                      <a:ln w="38100">
                        <a:noFill/>
                        <a:miter/>
                      </a:ln>
                    </p:spPr>
                  </p:pic>
                </p:oleObj>
              </mc:Fallback>
            </mc:AlternateContent>
          </a:graphicData>
        </a:graphic>
      </p:graphicFrame>
      <p:graphicFrame>
        <p:nvGraphicFramePr>
          <p:cNvPr id="89094" name="Object 16"/>
          <p:cNvGraphicFramePr>
            <a:graphicFrameLocks noChangeAspect="1"/>
          </p:cNvGraphicFramePr>
          <p:nvPr/>
        </p:nvGraphicFramePr>
        <p:xfrm>
          <a:off x="6156325" y="3500438"/>
          <a:ext cx="2160588" cy="2160587"/>
        </p:xfrm>
        <a:graphic>
          <a:graphicData uri="http://schemas.openxmlformats.org/presentationml/2006/ole">
            <mc:AlternateContent xmlns:mc="http://schemas.openxmlformats.org/markup-compatibility/2006">
              <mc:Choice xmlns:v="urn:schemas-microsoft-com:vml" Requires="v">
                <p:oleObj spid="_x0000_s3094" name="" r:id="rId5" imgW="4335145" imgH="4335145" progId="Visio.Drawing.11">
                  <p:embed/>
                </p:oleObj>
              </mc:Choice>
              <mc:Fallback>
                <p:oleObj name="" r:id="rId5" imgW="4335145" imgH="4335145" progId="Visio.Drawing.11">
                  <p:embed/>
                  <p:pic>
                    <p:nvPicPr>
                      <p:cNvPr id="0" name="图片 3093"/>
                      <p:cNvPicPr/>
                      <p:nvPr/>
                    </p:nvPicPr>
                    <p:blipFill>
                      <a:blip r:embed="rId6"/>
                      <a:stretch>
                        <a:fillRect/>
                      </a:stretch>
                    </p:blipFill>
                    <p:spPr>
                      <a:xfrm>
                        <a:off x="6156325" y="3500438"/>
                        <a:ext cx="2160588" cy="2160587"/>
                      </a:xfrm>
                      <a:prstGeom prst="rect">
                        <a:avLst/>
                      </a:prstGeom>
                      <a:noFill/>
                      <a:ln w="38100">
                        <a:noFill/>
                        <a:miter/>
                      </a:ln>
                    </p:spPr>
                  </p:pic>
                </p:oleObj>
              </mc:Fallback>
            </mc:AlternateContent>
          </a:graphicData>
        </a:graphic>
      </p:graphicFrame>
      <p:sp>
        <p:nvSpPr>
          <p:cNvPr id="89095" name="Rectangle 18"/>
          <p:cNvSpPr/>
          <p:nvPr/>
        </p:nvSpPr>
        <p:spPr>
          <a:xfrm>
            <a:off x="0" y="1708150"/>
            <a:ext cx="9144000" cy="0"/>
          </a:xfrm>
          <a:prstGeom prst="rect">
            <a:avLst/>
          </a:prstGeom>
          <a:noFill/>
          <a:ln w="9525">
            <a:noFill/>
          </a:ln>
          <a:effectLst>
            <a:prstShdw prst="shdw17" dist="17961" dir="2699999">
              <a:srgbClr val="008965"/>
            </a:prstShdw>
          </a:effectLst>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3200" dirty="0">
              <a:solidFill>
                <a:schemeClr val="tx1"/>
              </a:solidFill>
              <a:ea typeface="宋体" panose="02010600030101010101" pitchFamily="2" charset="-122"/>
            </a:endParaRPr>
          </a:p>
        </p:txBody>
      </p:sp>
      <p:sp>
        <p:nvSpPr>
          <p:cNvPr id="92168" name="Rectangle 20"/>
          <p:cNvSpPr>
            <a:spLocks noChangeArrowheads="1"/>
          </p:cNvSpPr>
          <p:nvPr/>
        </p:nvSpPr>
        <p:spPr bwMode="auto">
          <a:xfrm>
            <a:off x="2500313" y="5827713"/>
            <a:ext cx="6227763" cy="768350"/>
          </a:xfrm>
          <a:prstGeom prst="rect">
            <a:avLst/>
          </a:prstGeom>
          <a:noFill/>
          <a:ln>
            <a:noFill/>
          </a:ln>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Tahoma" panose="020B0604030504040204" pitchFamily="34" charset="0"/>
                <a:ea typeface="楷体_GB2312" pitchFamily="49" charset="-122"/>
                <a:cs typeface="+mn-cs"/>
              </a:rPr>
              <a:t>（</a:t>
            </a:r>
            <a:r>
              <a:rPr kumimoji="0" lang="en-US" sz="20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Tahoma" panose="020B0604030504040204" pitchFamily="34" charset="0"/>
                <a:ea typeface="楷体_GB2312" pitchFamily="49" charset="-122"/>
                <a:cs typeface="+mn-cs"/>
              </a:rPr>
              <a:t>c</a:t>
            </a:r>
            <a:r>
              <a:rPr kumimoji="0" lang="zh-CN" altLang="en-US" sz="20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Tahoma" panose="020B0604030504040204" pitchFamily="34" charset="0"/>
                <a:ea typeface="楷体_GB2312" pitchFamily="49" charset="-122"/>
                <a:cs typeface="+mn-cs"/>
              </a:rPr>
              <a:t>）低细节粗网格                 （</a:t>
            </a:r>
            <a:r>
              <a:rPr kumimoji="0" lang="en-US" sz="20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Tahoma" panose="020B0604030504040204" pitchFamily="34" charset="0"/>
                <a:ea typeface="楷体_GB2312" pitchFamily="49" charset="-122"/>
                <a:cs typeface="+mn-cs"/>
              </a:rPr>
              <a:t>d</a:t>
            </a:r>
            <a:r>
              <a:rPr kumimoji="0" lang="zh-CN" altLang="en-US" sz="20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Tahoma" panose="020B0604030504040204" pitchFamily="34" charset="0"/>
                <a:ea typeface="楷体_GB2312" pitchFamily="49" charset="-122"/>
                <a:cs typeface="+mn-cs"/>
              </a:rPr>
              <a:t>）</a:t>
            </a:r>
            <a:r>
              <a:rPr kumimoji="0" lang="zh-CN" altLang="en-US" sz="24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高细节细网格</a:t>
            </a:r>
            <a:endParaRPr kumimoji="0" lang="zh-CN" altLang="en-US" sz="24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endParaRP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Tahoma" panose="020B0604030504040204" pitchFamily="34" charset="0"/>
                <a:ea typeface="楷体_GB2312" pitchFamily="49" charset="-122"/>
                <a:cs typeface="+mn-cs"/>
              </a:rPr>
              <a:t>图 </a:t>
            </a:r>
            <a:r>
              <a:rPr kumimoji="0" lang="en-US" sz="20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Tahoma" panose="020B0604030504040204" pitchFamily="34" charset="0"/>
                <a:ea typeface="楷体_GB2312" pitchFamily="49" charset="-122"/>
                <a:cs typeface="+mn-cs"/>
              </a:rPr>
              <a:t>1-45 </a:t>
            </a:r>
            <a:r>
              <a:rPr kumimoji="0" lang="zh-CN" altLang="en-US" sz="20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Tahoma" panose="020B0604030504040204" pitchFamily="34" charset="0"/>
                <a:ea typeface="楷体_GB2312" pitchFamily="49" charset="-122"/>
                <a:cs typeface="+mn-cs"/>
              </a:rPr>
              <a:t>动态绘制的</a:t>
            </a:r>
            <a:r>
              <a:rPr kumimoji="0" lang="en-US" sz="20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Tahoma" panose="020B0604030504040204" pitchFamily="34" charset="0"/>
                <a:ea typeface="楷体_GB2312" pitchFamily="49" charset="-122"/>
                <a:cs typeface="+mn-cs"/>
              </a:rPr>
              <a:t>LOD</a:t>
            </a:r>
            <a:r>
              <a:rPr kumimoji="0" lang="zh-CN" altLang="en-US" sz="20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Tahoma" panose="020B0604030504040204" pitchFamily="34" charset="0"/>
                <a:ea typeface="楷体_GB2312" pitchFamily="49" charset="-122"/>
                <a:cs typeface="+mn-cs"/>
              </a:rPr>
              <a:t>四叉树地形</a:t>
            </a:r>
            <a:endParaRPr kumimoji="0" lang="zh-CN" altLang="en-US" sz="20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Tahoma" panose="020B0604030504040204" pitchFamily="34" charset="0"/>
              <a:ea typeface="楷体_GB2312" pitchFamily="49" charset="-122"/>
              <a:cs typeface="+mn-cs"/>
            </a:endParaRP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9"/>
          <p:cNvSpPr>
            <a:spLocks noChangeArrowheads="1"/>
          </p:cNvSpPr>
          <p:nvPr/>
        </p:nvSpPr>
        <p:spPr bwMode="auto">
          <a:xfrm>
            <a:off x="1187450" y="476250"/>
            <a:ext cx="7705725"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Tahoma" panose="020B0604030504040204" pitchFamily="34" charset="0"/>
                <a:ea typeface="宋体" panose="02010600030101010101" pitchFamily="2" charset="-122"/>
              </a:defRPr>
            </a:lvl1pPr>
            <a:lvl2pPr marL="742950" indent="-285750" eaLnBrk="0" hangingPunct="0">
              <a:defRPr sz="3200">
                <a:solidFill>
                  <a:schemeClr val="tx1"/>
                </a:solidFill>
                <a:latin typeface="Tahoma" panose="020B0604030504040204" pitchFamily="34" charset="0"/>
                <a:ea typeface="宋体" panose="02010600030101010101" pitchFamily="2" charset="-122"/>
              </a:defRPr>
            </a:lvl2pPr>
            <a:lvl3pPr marL="1143000" indent="-228600" eaLnBrk="0" hangingPunct="0">
              <a:defRPr sz="3200">
                <a:solidFill>
                  <a:schemeClr val="tx1"/>
                </a:solidFill>
                <a:latin typeface="Tahoma" panose="020B0604030504040204" pitchFamily="34" charset="0"/>
                <a:ea typeface="宋体" panose="02010600030101010101" pitchFamily="2" charset="-122"/>
              </a:defRPr>
            </a:lvl3pPr>
            <a:lvl4pPr marL="1600200" indent="-228600" eaLnBrk="0" hangingPunct="0">
              <a:defRPr sz="3200">
                <a:solidFill>
                  <a:schemeClr val="tx1"/>
                </a:solidFill>
                <a:latin typeface="Tahoma" panose="020B0604030504040204" pitchFamily="34" charset="0"/>
                <a:ea typeface="宋体" panose="02010600030101010101" pitchFamily="2" charset="-122"/>
              </a:defRPr>
            </a:lvl4pPr>
            <a:lvl5pPr marL="2057400" indent="-228600" eaLnBrk="0" hangingPunct="0">
              <a:defRPr sz="32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2.IBR</a:t>
            </a:r>
            <a:r>
              <a:rPr kumimoji="0" lang="zh-CN" altLang="en-US" sz="2400" b="0"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a:t>
            </a:r>
            <a:r>
              <a:rPr kumimoji="0" lang="en-US" altLang="zh-CN" sz="2400" b="0"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Image based Rendering</a:t>
            </a:r>
            <a:r>
              <a:rPr kumimoji="0" lang="zh-CN" altLang="en-US" sz="2400" b="0"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a:t>
            </a:r>
            <a:endParaRPr kumimoji="0" lang="en-US" altLang="zh-CN" sz="2400" b="0"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n"/>
              <a:defRPr/>
            </a:pPr>
            <a:r>
              <a:rPr kumimoji="0" lang="en-US" altLang="zh-CN" sz="2400" b="0"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IBR</a:t>
            </a:r>
            <a:r>
              <a:rPr kumimoji="0" lang="zh-CN" altLang="en-US" sz="2400" b="0"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技术则是使用从场景的</a:t>
            </a:r>
            <a:r>
              <a:rPr kumimoji="0" lang="zh-CN" altLang="en-US" sz="2000" b="1" i="0" u="none" strike="noStrike" kern="1200" cap="none" spc="0" normalizeH="0" baseline="0" noProof="0" dirty="0">
                <a:ln>
                  <a:noFill/>
                </a:ln>
                <a:solidFill>
                  <a:srgbClr val="FF0000"/>
                </a:solidFill>
                <a:effectLst/>
                <a:uLnTx/>
                <a:uFillTx/>
                <a:latin typeface="方正粗黑宋简体" pitchFamily="2" charset="-122"/>
                <a:ea typeface="方正粗黑宋简体" pitchFamily="2" charset="-122"/>
                <a:cs typeface="+mn-cs"/>
              </a:rPr>
              <a:t>全景图</a:t>
            </a:r>
            <a:r>
              <a:rPr kumimoji="0" lang="zh-CN" altLang="en-US" sz="2400" b="0"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a:t>
            </a:r>
            <a:r>
              <a:rPr kumimoji="0" lang="en-US" altLang="zh-CN" sz="2400" b="0"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Panorama</a:t>
            </a:r>
            <a:r>
              <a:rPr kumimoji="0" lang="zh-CN" altLang="en-US" sz="2400" b="0"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）来构造</a:t>
            </a:r>
            <a:r>
              <a:rPr kumimoji="0" lang="zh-CN" altLang="en-US" sz="2000" b="1" i="0" u="none" strike="noStrike" kern="1200" cap="none" spc="0" normalizeH="0" baseline="0" noProof="0" dirty="0">
                <a:ln>
                  <a:noFill/>
                </a:ln>
                <a:solidFill>
                  <a:srgbClr val="FF0000"/>
                </a:solidFill>
                <a:effectLst/>
                <a:uLnTx/>
                <a:uFillTx/>
                <a:latin typeface="方正粗黑宋简体" pitchFamily="2" charset="-122"/>
                <a:ea typeface="方正粗黑宋简体" pitchFamily="2" charset="-122"/>
                <a:cs typeface="+mn-cs"/>
              </a:rPr>
              <a:t>虚拟现实</a:t>
            </a:r>
            <a:r>
              <a:rPr kumimoji="0" lang="zh-CN" altLang="en-US" sz="2400" b="0"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系统。</a:t>
            </a:r>
            <a:endParaRPr kumimoji="0" lang="en-US" altLang="zh-CN" sz="2400" b="0"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n"/>
              <a:defRPr/>
            </a:pPr>
            <a:r>
              <a:rPr kumimoji="0" lang="zh-CN" altLang="en-US" sz="2400" b="0"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优点是彻底</a:t>
            </a:r>
            <a:r>
              <a:rPr kumimoji="0" lang="zh-CN" altLang="en-US" sz="2000" b="1" i="0" u="none" strike="noStrike" kern="1200" cap="none" spc="0" normalizeH="0" baseline="0" noProof="0" dirty="0">
                <a:ln>
                  <a:noFill/>
                </a:ln>
                <a:solidFill>
                  <a:srgbClr val="FF0000"/>
                </a:solidFill>
                <a:effectLst/>
                <a:uLnTx/>
                <a:uFillTx/>
                <a:latin typeface="方正粗黑宋简体" pitchFamily="2" charset="-122"/>
                <a:ea typeface="方正粗黑宋简体" pitchFamily="2" charset="-122"/>
                <a:cs typeface="+mn-cs"/>
              </a:rPr>
              <a:t>摆脱了场景复杂度的实时瓶颈</a:t>
            </a:r>
            <a:r>
              <a:rPr kumimoji="0" lang="zh-CN" altLang="en-US" sz="2400" b="0"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a:t>
            </a:r>
            <a:endParaRPr kumimoji="0" lang="en-US" altLang="zh-CN" sz="2400" b="0"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n"/>
              <a:defRPr/>
            </a:pPr>
            <a:r>
              <a:rPr kumimoji="0" lang="zh-CN" altLang="en-US" sz="2400" b="0"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缺点是只能实现</a:t>
            </a:r>
            <a:r>
              <a:rPr kumimoji="0" lang="zh-CN" altLang="en-US" sz="2000" b="1" i="0" u="none" strike="noStrike" kern="1200" cap="none" spc="0" normalizeH="0" baseline="0" noProof="0" dirty="0">
                <a:ln>
                  <a:noFill/>
                </a:ln>
                <a:solidFill>
                  <a:srgbClr val="FF0000"/>
                </a:solidFill>
                <a:effectLst/>
                <a:uLnTx/>
                <a:uFillTx/>
                <a:latin typeface="方正粗黑宋简体" pitchFamily="2" charset="-122"/>
                <a:ea typeface="方正粗黑宋简体" pitchFamily="2" charset="-122"/>
                <a:cs typeface="+mn-cs"/>
              </a:rPr>
              <a:t>固定视点的环视</a:t>
            </a:r>
            <a:r>
              <a:rPr kumimoji="0" lang="zh-CN" altLang="en-US" sz="2400" b="0"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和</a:t>
            </a:r>
            <a:r>
              <a:rPr kumimoji="0" lang="zh-CN" altLang="en-US" sz="2000" b="1" i="0" u="none" strike="noStrike" kern="1200" cap="none" spc="0" normalizeH="0" baseline="0" noProof="0" dirty="0">
                <a:ln>
                  <a:noFill/>
                </a:ln>
                <a:solidFill>
                  <a:srgbClr val="FF0000"/>
                </a:solidFill>
                <a:effectLst/>
                <a:uLnTx/>
                <a:uFillTx/>
                <a:latin typeface="方正粗黑宋简体" pitchFamily="2" charset="-122"/>
                <a:ea typeface="方正粗黑宋简体" pitchFamily="2" charset="-122"/>
                <a:cs typeface="+mn-cs"/>
              </a:rPr>
              <a:t>不同场景之间的跳跃</a:t>
            </a:r>
            <a:r>
              <a:rPr kumimoji="0" lang="zh-CN" altLang="en-US" sz="2400" b="0"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，不能实现连续漫游。</a:t>
            </a:r>
            <a:endParaRPr kumimoji="0" lang="zh-CN" altLang="en-US" sz="2400" b="0"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p:txBody>
      </p:sp>
      <p:sp>
        <p:nvSpPr>
          <p:cNvPr id="90115" name="Rectangle 13"/>
          <p:cNvSpPr/>
          <p:nvPr/>
        </p:nvSpPr>
        <p:spPr>
          <a:xfrm>
            <a:off x="0" y="1849438"/>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3200" dirty="0">
              <a:solidFill>
                <a:schemeClr val="tx1"/>
              </a:solidFill>
              <a:ea typeface="宋体" panose="02010600030101010101" pitchFamily="2" charset="-122"/>
            </a:endParaRPr>
          </a:p>
        </p:txBody>
      </p:sp>
      <p:sp>
        <p:nvSpPr>
          <p:cNvPr id="90116" name="Rectangle 17"/>
          <p:cNvSpPr/>
          <p:nvPr/>
        </p:nvSpPr>
        <p:spPr>
          <a:xfrm>
            <a:off x="3203575" y="4437063"/>
            <a:ext cx="3240088"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zh-CN" altLang="en-US" sz="2400" dirty="0">
                <a:solidFill>
                  <a:schemeClr val="hlink"/>
                </a:solidFill>
              </a:rPr>
              <a:t>特点：不需要三维建模</a:t>
            </a:r>
            <a:endParaRPr lang="zh-CN" altLang="en-US" sz="2400" dirty="0">
              <a:solidFill>
                <a:schemeClr val="hlink"/>
              </a:solidFill>
            </a:endParaRPr>
          </a:p>
        </p:txBody>
      </p:sp>
      <p:sp>
        <p:nvSpPr>
          <p:cNvPr id="90117" name="Rectangle 8"/>
          <p:cNvSpPr/>
          <p:nvPr/>
        </p:nvSpPr>
        <p:spPr>
          <a:xfrm>
            <a:off x="0" y="2025650"/>
            <a:ext cx="9144000" cy="0"/>
          </a:xfrm>
          <a:prstGeom prst="rect">
            <a:avLst/>
          </a:prstGeom>
          <a:noFill/>
          <a:ln w="9525">
            <a:noFill/>
          </a:ln>
          <a:effectLst>
            <a:prstShdw prst="shdw17" dist="17961" dir="2699999">
              <a:srgbClr val="008965"/>
            </a:prstShdw>
          </a:effectLst>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3200" dirty="0">
              <a:solidFill>
                <a:schemeClr val="tx1"/>
              </a:solidFill>
              <a:ea typeface="宋体" panose="02010600030101010101" pitchFamily="2" charset="-122"/>
            </a:endParaRPr>
          </a:p>
        </p:txBody>
      </p:sp>
      <p:sp>
        <p:nvSpPr>
          <p:cNvPr id="90118" name="Rectangle 9"/>
          <p:cNvSpPr/>
          <p:nvPr/>
        </p:nvSpPr>
        <p:spPr>
          <a:xfrm>
            <a:off x="0" y="3302000"/>
            <a:ext cx="247650" cy="244475"/>
          </a:xfrm>
          <a:prstGeom prst="rect">
            <a:avLst/>
          </a:prstGeom>
          <a:noFill/>
          <a:ln w="9525">
            <a:noFill/>
          </a:ln>
          <a:effectLst>
            <a:prstShdw prst="shdw17" dist="17961" dir="2699999">
              <a:srgbClr val="008965"/>
            </a:prstShdw>
          </a:effectLst>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spcBef>
                <a:spcPct val="0"/>
              </a:spcBef>
              <a:buClrTx/>
              <a:buSzTx/>
              <a:buFont typeface="Arial" panose="020B0604020202020204" pitchFamily="34" charset="0"/>
              <a:buNone/>
            </a:pPr>
            <a:r>
              <a:rPr lang="zh-CN" altLang="en-US" sz="1000" dirty="0">
                <a:solidFill>
                  <a:srgbClr val="FF6600"/>
                </a:solidFill>
                <a:latin typeface="Times New Roman" panose="02020603050405020304" pitchFamily="18" charset="0"/>
                <a:ea typeface="宋体" panose="02010600030101010101" pitchFamily="2" charset="-122"/>
              </a:rPr>
              <a:t>  </a:t>
            </a:r>
            <a:endParaRPr lang="zh-CN" altLang="en-US" sz="3200" dirty="0">
              <a:solidFill>
                <a:schemeClr val="tx1"/>
              </a:solidFill>
              <a:ea typeface="宋体" panose="02010600030101010101" pitchFamily="2" charset="-122"/>
            </a:endParaRPr>
          </a:p>
        </p:txBody>
      </p:sp>
      <p:sp>
        <p:nvSpPr>
          <p:cNvPr id="90119" name="Rectangle 10"/>
          <p:cNvSpPr/>
          <p:nvPr/>
        </p:nvSpPr>
        <p:spPr>
          <a:xfrm>
            <a:off x="1547813" y="5661025"/>
            <a:ext cx="7448550" cy="579438"/>
          </a:xfrm>
          <a:prstGeom prst="rect">
            <a:avLst/>
          </a:prstGeom>
          <a:noFill/>
          <a:ln w="9525">
            <a:noFill/>
          </a:ln>
          <a:effectLst>
            <a:prstShdw prst="shdw17" dist="17961" dir="2699999">
              <a:srgbClr val="008965"/>
            </a:prstShdw>
          </a:effectLst>
        </p:spPr>
        <p:txBody>
          <a:bodyPr wrap="none">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en-US" altLang="zh-CN" sz="3200" dirty="0">
                <a:solidFill>
                  <a:schemeClr val="tx1"/>
                </a:solidFill>
                <a:ea typeface="宋体" panose="02010600030101010101" pitchFamily="2" charset="-122"/>
              </a:rPr>
              <a:t>http://www.jiayinkeji.cn/fangdichan360/</a:t>
            </a:r>
            <a:endParaRPr lang="zh-CN" altLang="en-US" sz="3200" dirty="0">
              <a:solidFill>
                <a:schemeClr val="tx1"/>
              </a:solidFill>
              <a:ea typeface="宋体" panose="02010600030101010101" pitchFamily="2" charset="-122"/>
            </a:endParaRPr>
          </a:p>
        </p:txBody>
      </p:sp>
    </p:spTree>
  </p:cSld>
  <p:clrMapOvr>
    <a:masterClrMapping/>
  </p:clrMapOvr>
  <p:transition spd="med"/>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91138" name="Rectangle 13"/>
          <p:cNvSpPr/>
          <p:nvPr/>
        </p:nvSpPr>
        <p:spPr>
          <a:xfrm>
            <a:off x="0" y="1849438"/>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3200" dirty="0">
              <a:solidFill>
                <a:schemeClr val="tx1"/>
              </a:solidFill>
              <a:ea typeface="宋体" panose="02010600030101010101" pitchFamily="2" charset="-122"/>
            </a:endParaRPr>
          </a:p>
        </p:txBody>
      </p:sp>
      <p:sp>
        <p:nvSpPr>
          <p:cNvPr id="91139" name="Rectangle 15"/>
          <p:cNvSpPr/>
          <p:nvPr/>
        </p:nvSpPr>
        <p:spPr>
          <a:xfrm>
            <a:off x="5003800" y="5445125"/>
            <a:ext cx="241300" cy="2286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ctr" eaLnBrk="1" hangingPunct="1">
              <a:spcBef>
                <a:spcPct val="0"/>
              </a:spcBef>
              <a:buClrTx/>
              <a:buSzTx/>
              <a:buFont typeface="Arial" panose="020B0604020202020204" pitchFamily="34" charset="0"/>
              <a:buNone/>
            </a:pPr>
            <a:r>
              <a:rPr lang="zh-CN" altLang="en-US" sz="900" dirty="0">
                <a:solidFill>
                  <a:schemeClr val="tx1"/>
                </a:solidFill>
                <a:latin typeface="Times New Roman" panose="02020603050405020304" pitchFamily="18" charset="0"/>
                <a:ea typeface="Sim Sun"/>
              </a:rPr>
              <a:t>  </a:t>
            </a:r>
            <a:endParaRPr lang="zh-CN" altLang="en-US" sz="2400" dirty="0">
              <a:solidFill>
                <a:schemeClr val="tx1"/>
              </a:solidFill>
              <a:latin typeface="Arial" panose="020B0604020202020204" pitchFamily="34" charset="0"/>
              <a:ea typeface="Sim Sun"/>
            </a:endParaRPr>
          </a:p>
        </p:txBody>
      </p:sp>
      <p:sp>
        <p:nvSpPr>
          <p:cNvPr id="91140" name="Rectangle 16"/>
          <p:cNvSpPr/>
          <p:nvPr/>
        </p:nvSpPr>
        <p:spPr>
          <a:xfrm>
            <a:off x="2700338" y="6278563"/>
            <a:ext cx="4692650" cy="579437"/>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266700" algn="ctr" eaLnBrk="1" hangingPunct="1">
              <a:spcBef>
                <a:spcPct val="0"/>
              </a:spcBef>
              <a:buClrTx/>
              <a:buSzTx/>
              <a:buFont typeface="Arial" panose="020B0604020202020204" pitchFamily="34" charset="0"/>
              <a:buNone/>
            </a:pPr>
            <a:r>
              <a:rPr lang="zh-CN" altLang="en-US" sz="2400" dirty="0">
                <a:solidFill>
                  <a:schemeClr val="tx1"/>
                </a:solidFill>
                <a:latin typeface="楷体_GB2312" pitchFamily="49" charset="-122"/>
              </a:rPr>
              <a:t>图 </a:t>
            </a:r>
            <a:r>
              <a:rPr lang="en-US" altLang="zh-CN" sz="2400" dirty="0">
                <a:solidFill>
                  <a:schemeClr val="tx1"/>
                </a:solidFill>
                <a:latin typeface="楷体_GB2312" pitchFamily="49" charset="-122"/>
              </a:rPr>
              <a:t>1-46  </a:t>
            </a:r>
            <a:r>
              <a:rPr lang="zh-CN" altLang="en-US" sz="2400" dirty="0">
                <a:solidFill>
                  <a:schemeClr val="tx1"/>
                </a:solidFill>
                <a:latin typeface="楷体_GB2312" pitchFamily="49" charset="-122"/>
              </a:rPr>
              <a:t>样板房全景漫游系统</a:t>
            </a:r>
            <a:r>
              <a:rPr lang="zh-CN" altLang="en-US" sz="3200" dirty="0">
                <a:solidFill>
                  <a:schemeClr val="tx1"/>
                </a:solidFill>
              </a:rPr>
              <a:t> </a:t>
            </a:r>
            <a:endParaRPr lang="zh-CN" altLang="en-US" sz="3200" dirty="0">
              <a:solidFill>
                <a:schemeClr val="tx1"/>
              </a:solidFill>
            </a:endParaRPr>
          </a:p>
        </p:txBody>
      </p:sp>
      <p:sp>
        <p:nvSpPr>
          <p:cNvPr id="91141" name="Rectangle 16"/>
          <p:cNvSpPr/>
          <p:nvPr/>
        </p:nvSpPr>
        <p:spPr>
          <a:xfrm>
            <a:off x="0" y="2025650"/>
            <a:ext cx="9144000" cy="0"/>
          </a:xfrm>
          <a:prstGeom prst="rect">
            <a:avLst/>
          </a:prstGeom>
          <a:noFill/>
          <a:ln w="9525">
            <a:noFill/>
          </a:ln>
          <a:effectLst>
            <a:prstShdw prst="shdw17" dist="17961" dir="2699999">
              <a:srgbClr val="008965"/>
            </a:prstShdw>
          </a:effectLst>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3200" dirty="0">
              <a:solidFill>
                <a:schemeClr val="tx1"/>
              </a:solidFill>
              <a:ea typeface="宋体" panose="02010600030101010101" pitchFamily="2" charset="-122"/>
            </a:endParaRPr>
          </a:p>
        </p:txBody>
      </p:sp>
      <p:sp>
        <p:nvSpPr>
          <p:cNvPr id="91142" name="Rectangle 17"/>
          <p:cNvSpPr/>
          <p:nvPr/>
        </p:nvSpPr>
        <p:spPr>
          <a:xfrm>
            <a:off x="0" y="3302000"/>
            <a:ext cx="247650" cy="244475"/>
          </a:xfrm>
          <a:prstGeom prst="rect">
            <a:avLst/>
          </a:prstGeom>
          <a:noFill/>
          <a:ln w="9525">
            <a:noFill/>
          </a:ln>
          <a:effectLst>
            <a:prstShdw prst="shdw17" dist="17961" dir="2699999">
              <a:srgbClr val="008965"/>
            </a:prstShdw>
          </a:effectLst>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spcBef>
                <a:spcPct val="0"/>
              </a:spcBef>
              <a:buClrTx/>
              <a:buSzTx/>
              <a:buFont typeface="Arial" panose="020B0604020202020204" pitchFamily="34" charset="0"/>
              <a:buNone/>
            </a:pPr>
            <a:r>
              <a:rPr lang="zh-CN" altLang="en-US" sz="1000" dirty="0">
                <a:solidFill>
                  <a:srgbClr val="FF6600"/>
                </a:solidFill>
                <a:latin typeface="Times New Roman" panose="02020603050405020304" pitchFamily="18" charset="0"/>
                <a:ea typeface="宋体" panose="02010600030101010101" pitchFamily="2" charset="-122"/>
              </a:rPr>
              <a:t>  </a:t>
            </a:r>
            <a:endParaRPr lang="zh-CN" altLang="en-US" sz="3200" dirty="0">
              <a:solidFill>
                <a:schemeClr val="tx1"/>
              </a:solidFill>
              <a:ea typeface="宋体" panose="02010600030101010101" pitchFamily="2" charset="-122"/>
            </a:endParaRPr>
          </a:p>
        </p:txBody>
      </p:sp>
      <p:pic>
        <p:nvPicPr>
          <p:cNvPr id="91143" name="Picture 19"/>
          <p:cNvPicPr>
            <a:picLocks noChangeAspect="1"/>
          </p:cNvPicPr>
          <p:nvPr/>
        </p:nvPicPr>
        <p:blipFill>
          <a:blip r:embed="rId1"/>
          <a:stretch>
            <a:fillRect/>
          </a:stretch>
        </p:blipFill>
        <p:spPr>
          <a:xfrm>
            <a:off x="1619250" y="5292725"/>
            <a:ext cx="742950" cy="657225"/>
          </a:xfrm>
          <a:prstGeom prst="rect">
            <a:avLst/>
          </a:prstGeom>
          <a:noFill/>
          <a:ln w="9525">
            <a:noFill/>
          </a:ln>
        </p:spPr>
      </p:pic>
      <p:pic>
        <p:nvPicPr>
          <p:cNvPr id="91144" name="Picture 20"/>
          <p:cNvPicPr>
            <a:picLocks noChangeAspect="1"/>
          </p:cNvPicPr>
          <p:nvPr/>
        </p:nvPicPr>
        <p:blipFill>
          <a:blip r:embed="rId2"/>
          <a:stretch>
            <a:fillRect/>
          </a:stretch>
        </p:blipFill>
        <p:spPr>
          <a:xfrm>
            <a:off x="2352675" y="5308600"/>
            <a:ext cx="695325" cy="628650"/>
          </a:xfrm>
          <a:prstGeom prst="rect">
            <a:avLst/>
          </a:prstGeom>
          <a:noFill/>
          <a:ln w="9525">
            <a:noFill/>
          </a:ln>
        </p:spPr>
      </p:pic>
      <p:pic>
        <p:nvPicPr>
          <p:cNvPr id="91145" name="Picture 21"/>
          <p:cNvPicPr>
            <a:picLocks noChangeAspect="1"/>
          </p:cNvPicPr>
          <p:nvPr/>
        </p:nvPicPr>
        <p:blipFill>
          <a:blip r:embed="rId3"/>
          <a:stretch>
            <a:fillRect/>
          </a:stretch>
        </p:blipFill>
        <p:spPr>
          <a:xfrm>
            <a:off x="3000375" y="5308600"/>
            <a:ext cx="676275" cy="619125"/>
          </a:xfrm>
          <a:prstGeom prst="rect">
            <a:avLst/>
          </a:prstGeom>
          <a:noFill/>
          <a:ln w="9525">
            <a:noFill/>
          </a:ln>
        </p:spPr>
      </p:pic>
      <p:pic>
        <p:nvPicPr>
          <p:cNvPr id="91146" name="Picture 22"/>
          <p:cNvPicPr>
            <a:picLocks noChangeAspect="1"/>
          </p:cNvPicPr>
          <p:nvPr/>
        </p:nvPicPr>
        <p:blipFill>
          <a:blip r:embed="rId4"/>
          <a:stretch>
            <a:fillRect/>
          </a:stretch>
        </p:blipFill>
        <p:spPr>
          <a:xfrm>
            <a:off x="3649663" y="5308600"/>
            <a:ext cx="676275" cy="619125"/>
          </a:xfrm>
          <a:prstGeom prst="rect">
            <a:avLst/>
          </a:prstGeom>
          <a:noFill/>
          <a:ln w="9525">
            <a:noFill/>
          </a:ln>
        </p:spPr>
      </p:pic>
      <p:pic>
        <p:nvPicPr>
          <p:cNvPr id="91147" name="Picture 23"/>
          <p:cNvPicPr>
            <a:picLocks noChangeAspect="1"/>
          </p:cNvPicPr>
          <p:nvPr/>
        </p:nvPicPr>
        <p:blipFill>
          <a:blip r:embed="rId5"/>
          <a:stretch>
            <a:fillRect/>
          </a:stretch>
        </p:blipFill>
        <p:spPr>
          <a:xfrm>
            <a:off x="4297363" y="5308600"/>
            <a:ext cx="657225" cy="619125"/>
          </a:xfrm>
          <a:prstGeom prst="rect">
            <a:avLst/>
          </a:prstGeom>
          <a:noFill/>
          <a:ln w="9525">
            <a:noFill/>
          </a:ln>
        </p:spPr>
      </p:pic>
      <p:pic>
        <p:nvPicPr>
          <p:cNvPr id="91148" name="Picture 24"/>
          <p:cNvPicPr>
            <a:picLocks noChangeAspect="1"/>
          </p:cNvPicPr>
          <p:nvPr/>
        </p:nvPicPr>
        <p:blipFill>
          <a:blip r:embed="rId6"/>
          <a:stretch>
            <a:fillRect/>
          </a:stretch>
        </p:blipFill>
        <p:spPr>
          <a:xfrm>
            <a:off x="4945063" y="5308600"/>
            <a:ext cx="619125" cy="600075"/>
          </a:xfrm>
          <a:prstGeom prst="rect">
            <a:avLst/>
          </a:prstGeom>
          <a:noFill/>
          <a:ln w="9525">
            <a:noFill/>
          </a:ln>
        </p:spPr>
      </p:pic>
      <p:pic>
        <p:nvPicPr>
          <p:cNvPr id="91149" name="Picture 25"/>
          <p:cNvPicPr>
            <a:picLocks noChangeAspect="1"/>
          </p:cNvPicPr>
          <p:nvPr/>
        </p:nvPicPr>
        <p:blipFill>
          <a:blip r:embed="rId7"/>
          <a:stretch>
            <a:fillRect/>
          </a:stretch>
        </p:blipFill>
        <p:spPr>
          <a:xfrm>
            <a:off x="5521325" y="5308600"/>
            <a:ext cx="657225" cy="628650"/>
          </a:xfrm>
          <a:prstGeom prst="rect">
            <a:avLst/>
          </a:prstGeom>
          <a:noFill/>
          <a:ln w="9525">
            <a:noFill/>
          </a:ln>
        </p:spPr>
      </p:pic>
      <p:pic>
        <p:nvPicPr>
          <p:cNvPr id="91150" name="Picture 26"/>
          <p:cNvPicPr>
            <a:picLocks noChangeAspect="1"/>
          </p:cNvPicPr>
          <p:nvPr/>
        </p:nvPicPr>
        <p:blipFill>
          <a:blip r:embed="rId8"/>
          <a:stretch>
            <a:fillRect/>
          </a:stretch>
        </p:blipFill>
        <p:spPr>
          <a:xfrm>
            <a:off x="6169025" y="5308600"/>
            <a:ext cx="647700" cy="657225"/>
          </a:xfrm>
          <a:prstGeom prst="rect">
            <a:avLst/>
          </a:prstGeom>
          <a:noFill/>
          <a:ln w="9525">
            <a:noFill/>
          </a:ln>
        </p:spPr>
      </p:pic>
      <p:pic>
        <p:nvPicPr>
          <p:cNvPr id="91151" name="Picture 27"/>
          <p:cNvPicPr>
            <a:picLocks noChangeAspect="1"/>
          </p:cNvPicPr>
          <p:nvPr/>
        </p:nvPicPr>
        <p:blipFill>
          <a:blip r:embed="rId9"/>
          <a:stretch>
            <a:fillRect/>
          </a:stretch>
        </p:blipFill>
        <p:spPr>
          <a:xfrm>
            <a:off x="6816725" y="5308600"/>
            <a:ext cx="638175" cy="647700"/>
          </a:xfrm>
          <a:prstGeom prst="rect">
            <a:avLst/>
          </a:prstGeom>
          <a:noFill/>
          <a:ln w="9525">
            <a:noFill/>
          </a:ln>
        </p:spPr>
      </p:pic>
      <p:pic>
        <p:nvPicPr>
          <p:cNvPr id="91152" name="Picture 28"/>
          <p:cNvPicPr>
            <a:picLocks noChangeAspect="1"/>
          </p:cNvPicPr>
          <p:nvPr/>
        </p:nvPicPr>
        <p:blipFill>
          <a:blip r:embed="rId10"/>
          <a:stretch>
            <a:fillRect/>
          </a:stretch>
        </p:blipFill>
        <p:spPr>
          <a:xfrm>
            <a:off x="7466013" y="5308600"/>
            <a:ext cx="619125" cy="590550"/>
          </a:xfrm>
          <a:prstGeom prst="rect">
            <a:avLst/>
          </a:prstGeom>
          <a:noFill/>
          <a:ln w="9525">
            <a:noFill/>
          </a:ln>
        </p:spPr>
      </p:pic>
      <p:pic>
        <p:nvPicPr>
          <p:cNvPr id="91153" name="Picture 29"/>
          <p:cNvPicPr>
            <a:picLocks noChangeAspect="1"/>
          </p:cNvPicPr>
          <p:nvPr/>
        </p:nvPicPr>
        <p:blipFill>
          <a:blip r:embed="rId11"/>
          <a:stretch>
            <a:fillRect/>
          </a:stretch>
        </p:blipFill>
        <p:spPr>
          <a:xfrm>
            <a:off x="8113713" y="5308600"/>
            <a:ext cx="619125" cy="619125"/>
          </a:xfrm>
          <a:prstGeom prst="rect">
            <a:avLst/>
          </a:prstGeom>
          <a:noFill/>
          <a:ln w="9525">
            <a:noFill/>
          </a:ln>
        </p:spPr>
      </p:pic>
      <p:pic>
        <p:nvPicPr>
          <p:cNvPr id="91154" name="Picture 30">
            <a:hlinkClick r:id="rId12" action="ppaction://hlinksldjump"/>
          </p:cNvPr>
          <p:cNvPicPr>
            <a:picLocks noChangeAspect="1"/>
          </p:cNvPicPr>
          <p:nvPr/>
        </p:nvPicPr>
        <p:blipFill>
          <a:blip r:embed="rId13"/>
          <a:stretch>
            <a:fillRect/>
          </a:stretch>
        </p:blipFill>
        <p:spPr>
          <a:xfrm>
            <a:off x="1258888" y="188913"/>
            <a:ext cx="7885112" cy="4495800"/>
          </a:xfrm>
          <a:prstGeom prst="rect">
            <a:avLst/>
          </a:prstGeom>
          <a:noFill/>
          <a:ln w="9525">
            <a:noFill/>
          </a:ln>
        </p:spPr>
      </p:pic>
      <p:sp>
        <p:nvSpPr>
          <p:cNvPr id="91155" name="Rectangle 16"/>
          <p:cNvSpPr/>
          <p:nvPr/>
        </p:nvSpPr>
        <p:spPr>
          <a:xfrm>
            <a:off x="4740275" y="4797425"/>
            <a:ext cx="1187450" cy="579438"/>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266700" algn="ctr" eaLnBrk="1" hangingPunct="1">
              <a:spcBef>
                <a:spcPct val="0"/>
              </a:spcBef>
              <a:buClrTx/>
              <a:buSzTx/>
              <a:buFont typeface="Arial" panose="020B0604020202020204" pitchFamily="34" charset="0"/>
              <a:buNone/>
            </a:pPr>
            <a:r>
              <a:rPr lang="zh-CN" altLang="en-US" sz="2400" dirty="0">
                <a:solidFill>
                  <a:schemeClr val="tx1"/>
                </a:solidFill>
                <a:latin typeface="楷体_GB2312" pitchFamily="49" charset="-122"/>
              </a:rPr>
              <a:t>客厅</a:t>
            </a:r>
            <a:r>
              <a:rPr lang="zh-CN" altLang="en-US" sz="3200" dirty="0">
                <a:solidFill>
                  <a:schemeClr val="tx1"/>
                </a:solidFill>
              </a:rPr>
              <a:t> </a:t>
            </a:r>
            <a:endParaRPr lang="zh-CN" altLang="en-US" sz="3200" dirty="0">
              <a:solidFill>
                <a:schemeClr val="tx1"/>
              </a:solidFill>
            </a:endParaRPr>
          </a:p>
        </p:txBody>
      </p:sp>
    </p:spTree>
  </p:cSld>
  <p:clrMapOvr>
    <a:masterClrMapping/>
  </p:clrMapOvr>
  <p:transition spd="me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13"/>
          <p:cNvSpPr/>
          <p:nvPr/>
        </p:nvSpPr>
        <p:spPr>
          <a:xfrm>
            <a:off x="0" y="1849438"/>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3200" dirty="0">
              <a:solidFill>
                <a:schemeClr val="tx1"/>
              </a:solidFill>
              <a:ea typeface="宋体" panose="02010600030101010101" pitchFamily="2" charset="-122"/>
            </a:endParaRPr>
          </a:p>
        </p:txBody>
      </p:sp>
      <p:sp>
        <p:nvSpPr>
          <p:cNvPr id="92163" name="Rectangle 16"/>
          <p:cNvSpPr/>
          <p:nvPr/>
        </p:nvSpPr>
        <p:spPr>
          <a:xfrm>
            <a:off x="4211638" y="5157788"/>
            <a:ext cx="1187450" cy="579437"/>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266700" algn="ctr" eaLnBrk="1" hangingPunct="1">
              <a:spcBef>
                <a:spcPct val="0"/>
              </a:spcBef>
              <a:buClrTx/>
              <a:buSzTx/>
              <a:buFont typeface="Arial" panose="020B0604020202020204" pitchFamily="34" charset="0"/>
              <a:buNone/>
            </a:pPr>
            <a:r>
              <a:rPr lang="zh-CN" altLang="en-US" sz="2400" dirty="0">
                <a:solidFill>
                  <a:schemeClr val="tx1"/>
                </a:solidFill>
                <a:latin typeface="楷体_GB2312" pitchFamily="49" charset="-122"/>
              </a:rPr>
              <a:t>厨房</a:t>
            </a:r>
            <a:r>
              <a:rPr lang="zh-CN" altLang="en-US" sz="3200" dirty="0">
                <a:solidFill>
                  <a:schemeClr val="tx1"/>
                </a:solidFill>
              </a:rPr>
              <a:t> </a:t>
            </a:r>
            <a:endParaRPr lang="zh-CN" altLang="en-US" sz="3200" dirty="0">
              <a:solidFill>
                <a:schemeClr val="tx1"/>
              </a:solidFill>
            </a:endParaRPr>
          </a:p>
        </p:txBody>
      </p:sp>
      <p:sp>
        <p:nvSpPr>
          <p:cNvPr id="92164" name="Rectangle 6"/>
          <p:cNvSpPr/>
          <p:nvPr/>
        </p:nvSpPr>
        <p:spPr>
          <a:xfrm>
            <a:off x="0" y="2025650"/>
            <a:ext cx="9144000" cy="0"/>
          </a:xfrm>
          <a:prstGeom prst="rect">
            <a:avLst/>
          </a:prstGeom>
          <a:noFill/>
          <a:ln w="9525">
            <a:noFill/>
          </a:ln>
          <a:effectLst>
            <a:prstShdw prst="shdw17" dist="17961" dir="2699999">
              <a:srgbClr val="008965"/>
            </a:prstShdw>
          </a:effectLst>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endParaRPr lang="zh-CN" altLang="en-US" sz="3200" dirty="0">
              <a:solidFill>
                <a:schemeClr val="tx1"/>
              </a:solidFill>
              <a:ea typeface="宋体" panose="02010600030101010101" pitchFamily="2" charset="-122"/>
            </a:endParaRPr>
          </a:p>
        </p:txBody>
      </p:sp>
      <p:sp>
        <p:nvSpPr>
          <p:cNvPr id="92165" name="Rectangle 7"/>
          <p:cNvSpPr/>
          <p:nvPr/>
        </p:nvSpPr>
        <p:spPr>
          <a:xfrm>
            <a:off x="0" y="3302000"/>
            <a:ext cx="247650" cy="244475"/>
          </a:xfrm>
          <a:prstGeom prst="rect">
            <a:avLst/>
          </a:prstGeom>
          <a:noFill/>
          <a:ln w="9525">
            <a:noFill/>
          </a:ln>
          <a:effectLst>
            <a:prstShdw prst="shdw17" dist="17961" dir="2699999">
              <a:srgbClr val="008965"/>
            </a:prstShdw>
          </a:effectLst>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spcBef>
                <a:spcPct val="0"/>
              </a:spcBef>
              <a:buClrTx/>
              <a:buSzTx/>
              <a:buFont typeface="Arial" panose="020B0604020202020204" pitchFamily="34" charset="0"/>
              <a:buNone/>
            </a:pPr>
            <a:r>
              <a:rPr lang="zh-CN" altLang="en-US" sz="1000" dirty="0">
                <a:solidFill>
                  <a:srgbClr val="FF6600"/>
                </a:solidFill>
                <a:latin typeface="Times New Roman" panose="02020603050405020304" pitchFamily="18" charset="0"/>
                <a:ea typeface="宋体" panose="02010600030101010101" pitchFamily="2" charset="-122"/>
              </a:rPr>
              <a:t>  </a:t>
            </a:r>
            <a:endParaRPr lang="zh-CN" altLang="en-US" sz="3200" dirty="0">
              <a:solidFill>
                <a:schemeClr val="tx1"/>
              </a:solidFill>
              <a:ea typeface="宋体" panose="02010600030101010101" pitchFamily="2" charset="-122"/>
            </a:endParaRPr>
          </a:p>
        </p:txBody>
      </p:sp>
      <p:pic>
        <p:nvPicPr>
          <p:cNvPr id="92166" name="Picture 20">
            <a:hlinkClick r:id="rId1" action="ppaction://hlinksldjump"/>
          </p:cNvPr>
          <p:cNvPicPr>
            <a:picLocks noChangeAspect="1"/>
          </p:cNvPicPr>
          <p:nvPr/>
        </p:nvPicPr>
        <p:blipFill>
          <a:blip r:embed="rId2"/>
          <a:stretch>
            <a:fillRect/>
          </a:stretch>
        </p:blipFill>
        <p:spPr>
          <a:xfrm>
            <a:off x="1403350" y="476250"/>
            <a:ext cx="7504113" cy="4405313"/>
          </a:xfrm>
          <a:prstGeom prst="rect">
            <a:avLst/>
          </a:prstGeom>
          <a:noFill/>
          <a:ln w="9525">
            <a:noFill/>
          </a:ln>
        </p:spPr>
      </p:pic>
    </p:spTree>
  </p:cSld>
  <p:clrMapOvr>
    <a:masterClrMapping/>
  </p:clrMapOvr>
  <p:transition spd="med"/>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96258" name="Rectangle 4"/>
          <p:cNvSpPr>
            <a:spLocks noGrp="1"/>
          </p:cNvSpPr>
          <p:nvPr>
            <p:ph type="title" idx="4294967295"/>
          </p:nvPr>
        </p:nvSpPr>
        <p:spPr>
          <a:ln/>
        </p:spPr>
        <p:txBody>
          <a:bodyPr vert="horz" wrap="square" lIns="91440" tIns="45720" rIns="91440" bIns="45720" anchor="b" anchorCtr="0"/>
          <a:p>
            <a:pPr eaLnBrk="1" hangingPunct="1"/>
            <a:r>
              <a:rPr lang="en-US" altLang="zh-CN" sz="4400" dirty="0">
                <a:solidFill>
                  <a:srgbClr val="3366FF"/>
                </a:solidFill>
                <a:ea typeface="楷体_GB2312" pitchFamily="49" charset="-122"/>
              </a:rPr>
              <a:t>    </a:t>
            </a:r>
            <a:r>
              <a:rPr lang="zh-CN" altLang="en-US" dirty="0">
                <a:solidFill>
                  <a:schemeClr val="tx1"/>
                </a:solidFill>
                <a:ea typeface="楷体_GB2312" pitchFamily="49" charset="-122"/>
              </a:rPr>
              <a:t>本章小结</a:t>
            </a:r>
            <a:endParaRPr lang="zh-CN" altLang="en-US" dirty="0">
              <a:solidFill>
                <a:schemeClr val="tx1"/>
              </a:solidFill>
              <a:ea typeface="楷体_GB2312" pitchFamily="49" charset="-122"/>
            </a:endParaRPr>
          </a:p>
        </p:txBody>
      </p:sp>
      <p:sp>
        <p:nvSpPr>
          <p:cNvPr id="96259" name="Rectangle 5"/>
          <p:cNvSpPr>
            <a:spLocks noGrp="1"/>
          </p:cNvSpPr>
          <p:nvPr>
            <p:ph type="body" idx="4294967295"/>
          </p:nvPr>
        </p:nvSpPr>
        <p:spPr>
          <a:xfrm>
            <a:off x="1366838" y="1268413"/>
            <a:ext cx="7777162" cy="4635500"/>
          </a:xfrm>
          <a:ln/>
        </p:spPr>
        <p:txBody>
          <a:bodyPr vert="horz" wrap="square" lIns="91440" tIns="45720" rIns="91440" bIns="45720" anchor="t" anchorCtr="0"/>
          <a:p>
            <a:pPr marL="0" indent="0" eaLnBrk="1" hangingPunct="1">
              <a:lnSpc>
                <a:spcPct val="130000"/>
              </a:lnSpc>
              <a:buNone/>
            </a:pPr>
            <a:r>
              <a:rPr lang="zh-CN" altLang="en-US" dirty="0">
                <a:solidFill>
                  <a:schemeClr val="tx1"/>
                </a:solidFill>
                <a:latin typeface="楷体_GB2312" pitchFamily="49" charset="-122"/>
              </a:rPr>
              <a:t>   本章介绍了计算机图形学的应用领域和热点技术，阐述了计算机图形学的基本概念。计算机图形学是基于图形显示器的发展而发展起来的一门学科。目前，光栅扫描显示器是使用最为广泛的画点设备，图形的绘制就是根据指定算法将相应的像素设置为指定颜色的过程。目前计算机图形学的热点技术主要是</a:t>
            </a:r>
            <a:r>
              <a:rPr lang="en-US" altLang="zh-CN" dirty="0">
                <a:solidFill>
                  <a:schemeClr val="tx1"/>
                </a:solidFill>
                <a:latin typeface="楷体_GB2312" pitchFamily="49" charset="-122"/>
              </a:rPr>
              <a:t>LOD</a:t>
            </a:r>
            <a:r>
              <a:rPr lang="zh-CN" altLang="en-US" dirty="0">
                <a:solidFill>
                  <a:schemeClr val="tx1"/>
                </a:solidFill>
                <a:latin typeface="楷体_GB2312" pitchFamily="49" charset="-122"/>
              </a:rPr>
              <a:t>技术和</a:t>
            </a:r>
            <a:r>
              <a:rPr lang="en-US" altLang="zh-CN" dirty="0">
                <a:solidFill>
                  <a:schemeClr val="tx1"/>
                </a:solidFill>
                <a:latin typeface="楷体_GB2312" pitchFamily="49" charset="-122"/>
              </a:rPr>
              <a:t>IBR</a:t>
            </a:r>
            <a:r>
              <a:rPr lang="zh-CN" altLang="en-US" dirty="0">
                <a:solidFill>
                  <a:schemeClr val="tx1"/>
                </a:solidFill>
                <a:latin typeface="楷体_GB2312" pitchFamily="49" charset="-122"/>
              </a:rPr>
              <a:t>技术，这两种技术在游戏开发中获得了广泛的应用。</a:t>
            </a:r>
            <a:endParaRPr lang="zh-CN" altLang="en-US" dirty="0">
              <a:solidFill>
                <a:schemeClr val="tx1"/>
              </a:solidFill>
              <a:latin typeface="楷体_GB2312" pitchFamily="49" charset="-122"/>
            </a:endParaRPr>
          </a:p>
        </p:txBody>
      </p:sp>
      <p:sp>
        <p:nvSpPr>
          <p:cNvPr id="93188" name="Freeform 7">
            <a:hlinkClick r:id="rId1" action="ppaction://hlinksldjump"/>
          </p:cNvPr>
          <p:cNvSpPr>
            <a:spLocks noEditPoints="1"/>
          </p:cNvSpPr>
          <p:nvPr/>
        </p:nvSpPr>
        <p:spPr>
          <a:xfrm rot="10800000">
            <a:off x="8172450" y="6092825"/>
            <a:ext cx="576263" cy="576263"/>
          </a:xfrm>
          <a:custGeom>
            <a:avLst/>
            <a:gdLst>
              <a:gd name="txL" fmla="*/ 0 w 207"/>
              <a:gd name="txT" fmla="*/ 0 h 207"/>
              <a:gd name="txR" fmla="*/ 207 w 207"/>
              <a:gd name="txB" fmla="*/ 207 h 207"/>
            </a:gdLst>
            <a:ahLst/>
            <a:cxnLst>
              <a:cxn ang="0">
                <a:pos x="2147483646" y="2147483646"/>
              </a:cxn>
              <a:cxn ang="0">
                <a:pos x="0"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07" h="207">
                <a:moveTo>
                  <a:pt x="30" y="176"/>
                </a:moveTo>
                <a:cubicBezTo>
                  <a:pt x="10" y="156"/>
                  <a:pt x="0" y="132"/>
                  <a:pt x="0" y="103"/>
                </a:cubicBezTo>
                <a:cubicBezTo>
                  <a:pt x="0" y="74"/>
                  <a:pt x="10" y="50"/>
                  <a:pt x="30" y="30"/>
                </a:cubicBezTo>
                <a:cubicBezTo>
                  <a:pt x="50" y="10"/>
                  <a:pt x="74" y="0"/>
                  <a:pt x="103" y="0"/>
                </a:cubicBezTo>
                <a:cubicBezTo>
                  <a:pt x="132" y="0"/>
                  <a:pt x="156" y="10"/>
                  <a:pt x="176" y="30"/>
                </a:cubicBezTo>
                <a:cubicBezTo>
                  <a:pt x="197" y="50"/>
                  <a:pt x="207" y="74"/>
                  <a:pt x="207" y="103"/>
                </a:cubicBezTo>
                <a:cubicBezTo>
                  <a:pt x="207" y="132"/>
                  <a:pt x="197" y="156"/>
                  <a:pt x="176" y="176"/>
                </a:cubicBezTo>
                <a:cubicBezTo>
                  <a:pt x="156" y="197"/>
                  <a:pt x="132" y="207"/>
                  <a:pt x="103" y="207"/>
                </a:cubicBezTo>
                <a:cubicBezTo>
                  <a:pt x="74" y="207"/>
                  <a:pt x="50" y="197"/>
                  <a:pt x="30" y="176"/>
                </a:cubicBezTo>
                <a:close/>
                <a:moveTo>
                  <a:pt x="120" y="87"/>
                </a:moveTo>
                <a:lnTo>
                  <a:pt x="89" y="50"/>
                </a:lnTo>
                <a:lnTo>
                  <a:pt x="109" y="32"/>
                </a:lnTo>
                <a:lnTo>
                  <a:pt x="176" y="103"/>
                </a:lnTo>
                <a:lnTo>
                  <a:pt x="109" y="175"/>
                </a:lnTo>
                <a:lnTo>
                  <a:pt x="89" y="157"/>
                </a:lnTo>
                <a:lnTo>
                  <a:pt x="120" y="120"/>
                </a:lnTo>
                <a:lnTo>
                  <a:pt x="30" y="120"/>
                </a:lnTo>
                <a:lnTo>
                  <a:pt x="30" y="87"/>
                </a:lnTo>
                <a:lnTo>
                  <a:pt x="120" y="87"/>
                </a:lnTo>
                <a:close/>
                <a:moveTo>
                  <a:pt x="167" y="167"/>
                </a:moveTo>
                <a:cubicBezTo>
                  <a:pt x="185" y="150"/>
                  <a:pt x="194" y="128"/>
                  <a:pt x="194" y="103"/>
                </a:cubicBezTo>
                <a:cubicBezTo>
                  <a:pt x="194" y="78"/>
                  <a:pt x="185" y="57"/>
                  <a:pt x="167" y="39"/>
                </a:cubicBezTo>
                <a:cubicBezTo>
                  <a:pt x="150" y="21"/>
                  <a:pt x="128" y="12"/>
                  <a:pt x="103" y="12"/>
                </a:cubicBezTo>
                <a:cubicBezTo>
                  <a:pt x="78" y="12"/>
                  <a:pt x="57" y="21"/>
                  <a:pt x="39" y="39"/>
                </a:cubicBezTo>
                <a:cubicBezTo>
                  <a:pt x="21" y="57"/>
                  <a:pt x="12" y="78"/>
                  <a:pt x="12" y="103"/>
                </a:cubicBezTo>
                <a:cubicBezTo>
                  <a:pt x="12" y="128"/>
                  <a:pt x="21" y="150"/>
                  <a:pt x="39" y="167"/>
                </a:cubicBezTo>
                <a:cubicBezTo>
                  <a:pt x="57" y="185"/>
                  <a:pt x="78" y="194"/>
                  <a:pt x="103" y="194"/>
                </a:cubicBezTo>
                <a:cubicBezTo>
                  <a:pt x="128" y="194"/>
                  <a:pt x="150" y="185"/>
                  <a:pt x="167" y="167"/>
                </a:cubicBezTo>
                <a:close/>
              </a:path>
            </a:pathLst>
          </a:custGeom>
          <a:solidFill>
            <a:srgbClr val="3648A2">
              <a:alpha val="100000"/>
            </a:srgbClr>
          </a:solidFill>
          <a:ln w="0" cap="flat" cmpd="sng">
            <a:solidFill>
              <a:srgbClr val="3648A2">
                <a:alpha val="100000"/>
              </a:srgbClr>
            </a:solidFill>
            <a:prstDash val="solid"/>
            <a:bevel/>
            <a:headEnd type="none" w="med" len="med"/>
            <a:tailEnd type="none" w="med" len="med"/>
          </a:ln>
        </p:spPr>
        <p:txBody>
          <a:bodyPr/>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withEffect">
                                  <p:stCondLst>
                                    <p:cond delay="0"/>
                                  </p:stCondLst>
                                  <p:childTnLst>
                                    <p:set>
                                      <p:cBhvr>
                                        <p:cTn id="6" fill="hold">
                                          <p:stCondLst>
                                            <p:cond delay="0"/>
                                          </p:stCondLst>
                                        </p:cTn>
                                        <p:tgtEl>
                                          <p:spTgt spid="96258"/>
                                        </p:tgtEl>
                                        <p:attrNameLst>
                                          <p:attrName>style.visibility</p:attrName>
                                        </p:attrNameLst>
                                      </p:cBhvr>
                                      <p:to>
                                        <p:strVal val="visible"/>
                                      </p:to>
                                    </p:set>
                                    <p:animEffect transition="in" filter="fade">
                                      <p:cBhvr>
                                        <p:cTn id="7" dur="1000"/>
                                        <p:tgtEl>
                                          <p:spTgt spid="96258"/>
                                        </p:tgtEl>
                                      </p:cBhvr>
                                    </p:animEffect>
                                    <p:anim calcmode="lin" valueType="num">
                                      <p:cBhvr>
                                        <p:cTn id="8" dur="1000" fill="hold"/>
                                        <p:tgtEl>
                                          <p:spTgt spid="96258"/>
                                        </p:tgtEl>
                                        <p:attrNameLst>
                                          <p:attrName>ppt_x</p:attrName>
                                        </p:attrNameLst>
                                      </p:cBhvr>
                                      <p:tavLst>
                                        <p:tav tm="0">
                                          <p:val>
                                            <p:strVal val="#ppt_x"/>
                                          </p:val>
                                        </p:tav>
                                        <p:tav tm="100000">
                                          <p:val>
                                            <p:strVal val="#ppt_x"/>
                                          </p:val>
                                        </p:tav>
                                      </p:tavLst>
                                    </p:anim>
                                    <p:anim calcmode="lin" valueType="num">
                                      <p:cBhvr>
                                        <p:cTn id="9" dur="897" decel="100000" fill="hold"/>
                                        <p:tgtEl>
                                          <p:spTgt spid="96258"/>
                                        </p:tgtEl>
                                        <p:attrNameLst>
                                          <p:attrName>ppt_y</p:attrName>
                                        </p:attrNameLst>
                                      </p:cBhvr>
                                      <p:tavLst>
                                        <p:tav tm="0">
                                          <p:val>
                                            <p:strVal val="#ppt_y+1"/>
                                          </p:val>
                                        </p:tav>
                                        <p:tav tm="100000">
                                          <p:val>
                                            <p:strVal val="#ppt_y-.03"/>
                                          </p:val>
                                        </p:tav>
                                      </p:tavLst>
                                    </p:anim>
                                    <p:anim calcmode="lin" valueType="num">
                                      <p:cBhvr>
                                        <p:cTn id="10" dur="97" accel="100000" fill="hold">
                                          <p:stCondLst>
                                            <p:cond delay="897"/>
                                          </p:stCondLst>
                                        </p:cTn>
                                        <p:tgtEl>
                                          <p:spTgt spid="96258"/>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37" presetClass="entr" presetSubtype="0" fill="hold" grpId="0" nodeType="clickEffect">
                                  <p:stCondLst>
                                    <p:cond delay="0"/>
                                  </p:stCondLst>
                                  <p:childTnLst>
                                    <p:set>
                                      <p:cBhvr>
                                        <p:cTn id="14" fill="hold">
                                          <p:stCondLst>
                                            <p:cond delay="0"/>
                                          </p:stCondLst>
                                        </p:cTn>
                                        <p:tgtEl>
                                          <p:spTgt spid="96259">
                                            <p:txEl>
                                              <p:charRg st="0" end="170"/>
                                            </p:txEl>
                                          </p:spTgt>
                                        </p:tgtEl>
                                        <p:attrNameLst>
                                          <p:attrName>style.visibility</p:attrName>
                                        </p:attrNameLst>
                                      </p:cBhvr>
                                      <p:to>
                                        <p:strVal val="visible"/>
                                      </p:to>
                                    </p:set>
                                    <p:animEffect transition="in" filter="fade">
                                      <p:cBhvr>
                                        <p:cTn id="15" dur="1000"/>
                                        <p:tgtEl>
                                          <p:spTgt spid="96259">
                                            <p:txEl>
                                              <p:charRg st="0" end="170"/>
                                            </p:txEl>
                                          </p:spTgt>
                                        </p:tgtEl>
                                      </p:cBhvr>
                                    </p:animEffect>
                                    <p:anim calcmode="lin" valueType="num">
                                      <p:cBhvr>
                                        <p:cTn id="16" dur="1000" fill="hold"/>
                                        <p:tgtEl>
                                          <p:spTgt spid="96259">
                                            <p:txEl>
                                              <p:charRg st="0" end="170"/>
                                            </p:txEl>
                                          </p:spTgt>
                                        </p:tgtEl>
                                        <p:attrNameLst>
                                          <p:attrName>ppt_x</p:attrName>
                                        </p:attrNameLst>
                                      </p:cBhvr>
                                      <p:tavLst>
                                        <p:tav tm="0">
                                          <p:val>
                                            <p:strVal val="#ppt_x"/>
                                          </p:val>
                                        </p:tav>
                                        <p:tav tm="100000">
                                          <p:val>
                                            <p:strVal val="#ppt_x"/>
                                          </p:val>
                                        </p:tav>
                                      </p:tavLst>
                                    </p:anim>
                                    <p:anim calcmode="lin" valueType="num">
                                      <p:cBhvr>
                                        <p:cTn id="17" dur="897" decel="100000" fill="hold"/>
                                        <p:tgtEl>
                                          <p:spTgt spid="96259">
                                            <p:txEl>
                                              <p:charRg st="0" end="170"/>
                                            </p:txEl>
                                          </p:spTgt>
                                        </p:tgtEl>
                                        <p:attrNameLst>
                                          <p:attrName>ppt_y</p:attrName>
                                        </p:attrNameLst>
                                      </p:cBhvr>
                                      <p:tavLst>
                                        <p:tav tm="0">
                                          <p:val>
                                            <p:strVal val="#ppt_y+1"/>
                                          </p:val>
                                        </p:tav>
                                        <p:tav tm="100000">
                                          <p:val>
                                            <p:strVal val="#ppt_y-.03"/>
                                          </p:val>
                                        </p:tav>
                                      </p:tavLst>
                                    </p:anim>
                                    <p:anim calcmode="lin" valueType="num">
                                      <p:cBhvr>
                                        <p:cTn id="18" dur="97" accel="100000" fill="hold">
                                          <p:stCondLst>
                                            <p:cond delay="897"/>
                                          </p:stCondLst>
                                        </p:cTn>
                                        <p:tgtEl>
                                          <p:spTgt spid="96259">
                                            <p:txEl>
                                              <p:charRg st="0" end="170"/>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8" grpId="0"/>
      <p:bldP spid="96259" grpId="0" build="p"/>
    </p:bldLst>
  </p:timing>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94210" name="Rectangle 2"/>
          <p:cNvSpPr>
            <a:spLocks noGrp="1"/>
          </p:cNvSpPr>
          <p:nvPr>
            <p:ph type="title" idx="4294967295"/>
          </p:nvPr>
        </p:nvSpPr>
        <p:spPr>
          <a:xfrm>
            <a:off x="2259013" y="304800"/>
            <a:ext cx="5513387" cy="423863"/>
          </a:xfrm>
          <a:ln/>
        </p:spPr>
        <p:txBody>
          <a:bodyPr vert="horz" wrap="square" lIns="91440" tIns="45720" rIns="91440" bIns="45720" anchor="b" anchorCtr="0"/>
          <a:p>
            <a:pPr eaLnBrk="1" hangingPunct="1"/>
            <a:r>
              <a:rPr lang="zh-CN" altLang="en-US" dirty="0">
                <a:solidFill>
                  <a:schemeClr val="tx1"/>
                </a:solidFill>
              </a:rPr>
              <a:t>习题</a:t>
            </a:r>
            <a:r>
              <a:rPr lang="en-US" altLang="zh-CN" dirty="0">
                <a:solidFill>
                  <a:schemeClr val="tx1"/>
                </a:solidFill>
              </a:rPr>
              <a:t>1</a:t>
            </a:r>
            <a:endParaRPr lang="en-US" altLang="zh-CN" dirty="0">
              <a:solidFill>
                <a:schemeClr val="tx1"/>
              </a:solidFill>
            </a:endParaRPr>
          </a:p>
        </p:txBody>
      </p:sp>
      <p:sp>
        <p:nvSpPr>
          <p:cNvPr id="97283" name="Rectangle 3"/>
          <p:cNvSpPr>
            <a:spLocks noGrp="1" noChangeArrowheads="1"/>
          </p:cNvSpPr>
          <p:nvPr>
            <p:ph type="body" idx="1"/>
          </p:nvPr>
        </p:nvSpPr>
        <p:spPr>
          <a:xfrm>
            <a:off x="1403350" y="1052513"/>
            <a:ext cx="7561263" cy="4537075"/>
          </a:xfrm>
        </p:spPr>
        <p:txBody>
          <a:bodyPr vert="horz" wrap="square" lIns="91440" tIns="45720" rIns="91440" bIns="45720" numCol="1" anchor="t" anchorCtr="0" compatLnSpc="1"/>
          <a:lstStyle/>
          <a:p>
            <a:pPr marL="0" marR="0" lvl="0" indent="355600" algn="l" defTabSz="914400" rtl="0" eaLnBrk="1" fontAlgn="base" latinLnBrk="0" hangingPunct="1">
              <a:lnSpc>
                <a:spcPct val="100000"/>
              </a:lnSpc>
              <a:spcBef>
                <a:spcPct val="20000"/>
              </a:spcBef>
              <a:spcAft>
                <a:spcPct val="0"/>
              </a:spcAft>
              <a:buClr>
                <a:srgbClr val="336600"/>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uLnTx/>
                <a:uFillTx/>
                <a:latin typeface="楷体_GB2312" pitchFamily="49" charset="-122"/>
                <a:ea typeface="+mn-ea"/>
                <a:cs typeface="+mn-cs"/>
              </a:rPr>
              <a:t>名词解释：</a:t>
            </a:r>
            <a:r>
              <a:rPr kumimoji="0" lang="zh-CN" altLang="en-US" sz="2000" b="1" i="0" u="none" strike="noStrike" kern="1200" cap="none" spc="0" normalizeH="0" baseline="0" noProof="0" dirty="0">
                <a:ln>
                  <a:noFill/>
                </a:ln>
                <a:solidFill>
                  <a:srgbClr val="FF0000"/>
                </a:solidFill>
                <a:effectLst/>
                <a:uLnTx/>
                <a:uFillTx/>
                <a:latin typeface="方正粗黑宋简体" pitchFamily="2" charset="-122"/>
                <a:ea typeface="方正粗黑宋简体" pitchFamily="2" charset="-122"/>
                <a:cs typeface="+mn-cs"/>
              </a:rPr>
              <a:t>点阵法、参数法</a:t>
            </a:r>
            <a:r>
              <a:rPr kumimoji="0" lang="zh-CN" altLang="en-US" sz="2400" b="0" i="0" u="none" strike="noStrike" kern="0" cap="none" spc="0" normalizeH="0" baseline="0" noProof="0" dirty="0" smtClean="0">
                <a:ln>
                  <a:noFill/>
                </a:ln>
                <a:solidFill>
                  <a:schemeClr val="tx1"/>
                </a:solidFill>
                <a:effectLst/>
                <a:uLnTx/>
                <a:uFillTx/>
                <a:latin typeface="楷体_GB2312" pitchFamily="49" charset="-122"/>
                <a:ea typeface="+mn-ea"/>
                <a:cs typeface="+mn-cs"/>
              </a:rPr>
              <a:t>、</a:t>
            </a:r>
            <a:r>
              <a:rPr kumimoji="0" lang="zh-CN" altLang="en-US" sz="2000" b="1" i="0" u="none" strike="noStrike" kern="1200" cap="none" spc="0" normalizeH="0" baseline="0" noProof="0" dirty="0">
                <a:ln>
                  <a:noFill/>
                </a:ln>
                <a:solidFill>
                  <a:srgbClr val="FF0000"/>
                </a:solidFill>
                <a:effectLst/>
                <a:uLnTx/>
                <a:uFillTx/>
                <a:latin typeface="方正粗黑宋简体" pitchFamily="2" charset="-122"/>
                <a:ea typeface="方正粗黑宋简体" pitchFamily="2" charset="-122"/>
                <a:cs typeface="+mn-cs"/>
              </a:rPr>
              <a:t>图形、图像</a:t>
            </a:r>
            <a:r>
              <a:rPr kumimoji="0" lang="zh-CN" altLang="en-US" sz="2400" b="0" i="0" u="none" strike="noStrike" kern="0" cap="none" spc="0" normalizeH="0" baseline="0" noProof="0" dirty="0" smtClean="0">
                <a:ln>
                  <a:noFill/>
                </a:ln>
                <a:solidFill>
                  <a:schemeClr val="tx1"/>
                </a:solidFill>
                <a:effectLst/>
                <a:uLnTx/>
                <a:uFillTx/>
                <a:latin typeface="楷体_GB2312" pitchFamily="49" charset="-122"/>
                <a:ea typeface="+mn-ea"/>
                <a:cs typeface="+mn-cs"/>
              </a:rPr>
              <a:t>的含义。</a:t>
            </a:r>
            <a:endParaRPr kumimoji="0" lang="zh-CN" altLang="en-US" sz="2400" b="0" i="0" u="none" strike="noStrike" kern="0" cap="none" spc="0" normalizeH="0" baseline="0" noProof="0" dirty="0" smtClean="0">
              <a:ln>
                <a:noFill/>
              </a:ln>
              <a:solidFill>
                <a:schemeClr val="tx1"/>
              </a:solidFill>
              <a:effectLst/>
              <a:uLnTx/>
              <a:uFillTx/>
              <a:latin typeface="楷体_GB2312" pitchFamily="49" charset="-122"/>
              <a:ea typeface="+mn-ea"/>
              <a:cs typeface="+mn-cs"/>
            </a:endParaRPr>
          </a:p>
          <a:p>
            <a:pPr marL="0" marR="0" lvl="0" indent="355600" algn="l" defTabSz="914400" rtl="0" eaLnBrk="1" fontAlgn="base" latinLnBrk="0" hangingPunct="1">
              <a:lnSpc>
                <a:spcPct val="100000"/>
              </a:lnSpc>
              <a:spcBef>
                <a:spcPct val="20000"/>
              </a:spcBef>
              <a:spcAft>
                <a:spcPct val="0"/>
              </a:spcAft>
              <a:buClr>
                <a:srgbClr val="336600"/>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uLnTx/>
                <a:uFillTx/>
                <a:latin typeface="楷体_GB2312" pitchFamily="49" charset="-122"/>
                <a:ea typeface="+mn-ea"/>
                <a:cs typeface="+mn-cs"/>
              </a:rPr>
              <a:t>名词解释：光栅、荫罩板、三枪三束、扫描线的含义。</a:t>
            </a:r>
            <a:endParaRPr kumimoji="0" lang="zh-CN" altLang="en-US" sz="2400" b="0" i="0" u="none" strike="noStrike" kern="0" cap="none" spc="0" normalizeH="0" baseline="0" noProof="0" dirty="0" smtClean="0">
              <a:ln>
                <a:noFill/>
              </a:ln>
              <a:solidFill>
                <a:schemeClr val="tx1"/>
              </a:solidFill>
              <a:effectLst/>
              <a:uLnTx/>
              <a:uFillTx/>
              <a:latin typeface="楷体_GB2312" pitchFamily="49" charset="-122"/>
              <a:ea typeface="+mn-ea"/>
              <a:cs typeface="+mn-cs"/>
            </a:endParaRPr>
          </a:p>
          <a:p>
            <a:pPr marL="0" marR="0" lvl="0" indent="355600" algn="l" defTabSz="914400" rtl="0" eaLnBrk="1" fontAlgn="base" latinLnBrk="0" hangingPunct="1">
              <a:lnSpc>
                <a:spcPct val="100000"/>
              </a:lnSpc>
              <a:spcBef>
                <a:spcPct val="20000"/>
              </a:spcBef>
              <a:spcAft>
                <a:spcPct val="0"/>
              </a:spcAft>
              <a:buClr>
                <a:srgbClr val="336600"/>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uLnTx/>
                <a:uFillTx/>
                <a:latin typeface="楷体_GB2312" pitchFamily="49" charset="-122"/>
                <a:ea typeface="+mn-ea"/>
                <a:cs typeface="+mn-cs"/>
              </a:rPr>
              <a:t>什么是像素，像素的参数有哪些？打开</a:t>
            </a:r>
            <a:r>
              <a:rPr kumimoji="0" lang="en-US" altLang="zh-CN" sz="2400" b="0" i="0" u="none" strike="noStrike" kern="0" cap="none" spc="0" normalizeH="0" baseline="0" noProof="0" dirty="0" smtClean="0">
                <a:ln>
                  <a:noFill/>
                </a:ln>
                <a:solidFill>
                  <a:schemeClr val="tx1"/>
                </a:solidFill>
                <a:effectLst/>
                <a:uLnTx/>
                <a:uFillTx/>
                <a:latin typeface="楷体_GB2312" pitchFamily="49" charset="-122"/>
                <a:ea typeface="+mn-ea"/>
                <a:cs typeface="+mn-cs"/>
              </a:rPr>
              <a:t>Windows</a:t>
            </a:r>
            <a:r>
              <a:rPr kumimoji="0" lang="zh-CN" altLang="en-US" sz="2400" b="0" i="0" u="none" strike="noStrike" kern="0" cap="none" spc="0" normalizeH="0" baseline="0" noProof="0" dirty="0" smtClean="0">
                <a:ln>
                  <a:noFill/>
                </a:ln>
                <a:solidFill>
                  <a:schemeClr val="tx1"/>
                </a:solidFill>
                <a:effectLst/>
                <a:uLnTx/>
                <a:uFillTx/>
                <a:latin typeface="楷体_GB2312" pitchFamily="49" charset="-122"/>
                <a:ea typeface="+mn-ea"/>
                <a:cs typeface="+mn-cs"/>
              </a:rPr>
              <a:t>附件中自带的</a:t>
            </a:r>
            <a:r>
              <a:rPr kumimoji="0" lang="zh-CN" altLang="en-US" sz="2400" b="0" i="0" u="none" strike="noStrike" kern="0" cap="none" spc="0" normalizeH="0" baseline="0" noProof="0" dirty="0" smtClean="0">
                <a:ln>
                  <a:noFill/>
                </a:ln>
                <a:solidFill>
                  <a:schemeClr val="tx1"/>
                </a:solidFill>
                <a:effectLst/>
                <a:uLnTx/>
                <a:uFillTx/>
                <a:latin typeface="Arial" panose="020B0604020202020204" pitchFamily="34" charset="0"/>
                <a:ea typeface="+mn-ea"/>
                <a:cs typeface="+mn-cs"/>
              </a:rPr>
              <a:t>“</a:t>
            </a:r>
            <a:r>
              <a:rPr kumimoji="0" lang="zh-CN" altLang="en-US" sz="2400" b="0" i="0" u="none" strike="noStrike" kern="0" cap="none" spc="0" normalizeH="0" baseline="0" noProof="0" dirty="0" smtClean="0">
                <a:ln>
                  <a:noFill/>
                </a:ln>
                <a:solidFill>
                  <a:schemeClr val="tx1"/>
                </a:solidFill>
                <a:effectLst/>
                <a:uLnTx/>
                <a:uFillTx/>
                <a:latin typeface="楷体_GB2312" pitchFamily="49" charset="-122"/>
                <a:ea typeface="+mn-ea"/>
                <a:cs typeface="+mn-cs"/>
              </a:rPr>
              <a:t>画图</a:t>
            </a:r>
            <a:r>
              <a:rPr kumimoji="0" lang="zh-CN" altLang="en-US" sz="2400" b="0" i="0" u="none" strike="noStrike" kern="0" cap="none" spc="0" normalizeH="0" baseline="0" noProof="0" dirty="0" smtClean="0">
                <a:ln>
                  <a:noFill/>
                </a:ln>
                <a:solidFill>
                  <a:schemeClr val="tx1"/>
                </a:solidFill>
                <a:effectLst/>
                <a:uLnTx/>
                <a:uFillTx/>
                <a:latin typeface="Arial" panose="020B0604020202020204" pitchFamily="34" charset="0"/>
                <a:ea typeface="+mn-ea"/>
                <a:cs typeface="+mn-cs"/>
              </a:rPr>
              <a:t>”</a:t>
            </a:r>
            <a:r>
              <a:rPr kumimoji="0" lang="zh-CN" altLang="en-US" sz="2400" b="0" i="0" u="none" strike="noStrike" kern="0" cap="none" spc="0" normalizeH="0" baseline="0" noProof="0" dirty="0" smtClean="0">
                <a:ln>
                  <a:noFill/>
                </a:ln>
                <a:solidFill>
                  <a:schemeClr val="tx1"/>
                </a:solidFill>
                <a:effectLst/>
                <a:uLnTx/>
                <a:uFillTx/>
                <a:latin typeface="楷体_GB2312" pitchFamily="49" charset="-122"/>
                <a:ea typeface="+mn-ea"/>
                <a:cs typeface="+mn-cs"/>
              </a:rPr>
              <a:t>工具，选择放大镜的比例为</a:t>
            </a:r>
            <a:r>
              <a:rPr kumimoji="0" lang="en-US" altLang="zh-CN" sz="2400" b="0" i="0" u="none" strike="noStrike" kern="0" cap="none" spc="0" normalizeH="0" baseline="0" noProof="0" dirty="0" smtClean="0">
                <a:ln>
                  <a:noFill/>
                </a:ln>
                <a:solidFill>
                  <a:schemeClr val="tx1"/>
                </a:solidFill>
                <a:effectLst/>
                <a:uLnTx/>
                <a:uFillTx/>
                <a:latin typeface="楷体_GB2312" pitchFamily="49" charset="-122"/>
                <a:ea typeface="+mn-ea"/>
                <a:cs typeface="+mn-cs"/>
              </a:rPr>
              <a:t>8x</a:t>
            </a:r>
            <a:r>
              <a:rPr kumimoji="0" lang="zh-CN" altLang="en-US" sz="2400" b="0" i="0" u="none" strike="noStrike" kern="0" cap="none" spc="0" normalizeH="0" baseline="0" noProof="0" dirty="0" smtClean="0">
                <a:ln>
                  <a:noFill/>
                </a:ln>
                <a:solidFill>
                  <a:schemeClr val="tx1"/>
                </a:solidFill>
                <a:effectLst/>
                <a:uLnTx/>
                <a:uFillTx/>
                <a:latin typeface="楷体_GB2312" pitchFamily="49" charset="-122"/>
                <a:ea typeface="+mn-ea"/>
                <a:cs typeface="+mn-cs"/>
              </a:rPr>
              <a:t>，选择菜单</a:t>
            </a:r>
            <a:r>
              <a:rPr kumimoji="0" lang="zh-CN" altLang="en-US" sz="2400" b="0" i="0" u="none" strike="noStrike" kern="0" cap="none" spc="0" normalizeH="0" baseline="0" noProof="0" dirty="0" smtClean="0">
                <a:ln>
                  <a:noFill/>
                </a:ln>
                <a:solidFill>
                  <a:schemeClr val="tx1"/>
                </a:solidFill>
                <a:effectLst/>
                <a:uLnTx/>
                <a:uFillTx/>
                <a:latin typeface="Arial" panose="020B0604020202020204" pitchFamily="34" charset="0"/>
                <a:ea typeface="+mn-ea"/>
                <a:cs typeface="+mn-cs"/>
              </a:rPr>
              <a:t>“</a:t>
            </a:r>
            <a:r>
              <a:rPr kumimoji="0" lang="zh-CN" altLang="en-US" sz="2400" b="0" i="0" u="none" strike="noStrike" kern="0" cap="none" spc="0" normalizeH="0" baseline="0" noProof="0" dirty="0" smtClean="0">
                <a:ln>
                  <a:noFill/>
                </a:ln>
                <a:solidFill>
                  <a:schemeClr val="tx1"/>
                </a:solidFill>
                <a:effectLst/>
                <a:uLnTx/>
                <a:uFillTx/>
                <a:latin typeface="楷体_GB2312" pitchFamily="49" charset="-122"/>
                <a:ea typeface="+mn-ea"/>
                <a:cs typeface="+mn-cs"/>
              </a:rPr>
              <a:t>查看</a:t>
            </a:r>
            <a:r>
              <a:rPr kumimoji="0" lang="zh-CN" altLang="en-US" sz="2400" b="0" i="0" u="none" strike="noStrike" kern="0" cap="none" spc="0" normalizeH="0" baseline="0" noProof="0" dirty="0" smtClean="0">
                <a:ln>
                  <a:noFill/>
                </a:ln>
                <a:solidFill>
                  <a:schemeClr val="tx1"/>
                </a:solidFill>
                <a:effectLst/>
                <a:uLnTx/>
                <a:uFillTx/>
                <a:latin typeface="Arial" panose="020B0604020202020204" pitchFamily="34" charset="0"/>
                <a:ea typeface="+mn-ea"/>
                <a:cs typeface="+mn-cs"/>
              </a:rPr>
              <a:t>”</a:t>
            </a:r>
            <a:r>
              <a:rPr kumimoji="0" lang="zh-CN" altLang="en-US" sz="2400" b="0" i="0" u="none" strike="noStrike" kern="0" cap="none" spc="0" normalizeH="0" baseline="0" noProof="0" dirty="0" smtClean="0">
                <a:ln>
                  <a:noFill/>
                </a:ln>
                <a:solidFill>
                  <a:schemeClr val="tx1"/>
                </a:solidFill>
                <a:effectLst/>
                <a:uLnTx/>
                <a:uFillTx/>
                <a:latin typeface="楷体_GB2312" pitchFamily="49" charset="-122"/>
                <a:ea typeface="+mn-ea"/>
                <a:cs typeface="+mn-cs"/>
              </a:rPr>
              <a:t>→</a:t>
            </a:r>
            <a:r>
              <a:rPr kumimoji="0" lang="zh-CN" altLang="en-US" sz="2400" b="0" i="0" u="none" strike="noStrike" kern="0" cap="none" spc="0" normalizeH="0" baseline="0" noProof="0" dirty="0" smtClean="0">
                <a:ln>
                  <a:noFill/>
                </a:ln>
                <a:solidFill>
                  <a:schemeClr val="tx1"/>
                </a:solidFill>
                <a:effectLst/>
                <a:uLnTx/>
                <a:uFillTx/>
                <a:latin typeface="Arial" panose="020B0604020202020204" pitchFamily="34" charset="0"/>
                <a:ea typeface="+mn-ea"/>
                <a:cs typeface="+mn-cs"/>
              </a:rPr>
              <a:t>“</a:t>
            </a:r>
            <a:r>
              <a:rPr kumimoji="0" lang="zh-CN" altLang="en-US" sz="2400" b="0" i="0" u="none" strike="noStrike" kern="0" cap="none" spc="0" normalizeH="0" baseline="0" noProof="0" dirty="0" smtClean="0">
                <a:ln>
                  <a:noFill/>
                </a:ln>
                <a:solidFill>
                  <a:schemeClr val="tx1"/>
                </a:solidFill>
                <a:effectLst/>
                <a:uLnTx/>
                <a:uFillTx/>
                <a:latin typeface="楷体_GB2312" pitchFamily="49" charset="-122"/>
                <a:ea typeface="+mn-ea"/>
                <a:cs typeface="+mn-cs"/>
              </a:rPr>
              <a:t>缩放</a:t>
            </a:r>
            <a:r>
              <a:rPr kumimoji="0" lang="zh-CN" altLang="en-US" sz="2400" b="0" i="0" u="none" strike="noStrike" kern="0" cap="none" spc="0" normalizeH="0" baseline="0" noProof="0" dirty="0" smtClean="0">
                <a:ln>
                  <a:noFill/>
                </a:ln>
                <a:solidFill>
                  <a:schemeClr val="tx1"/>
                </a:solidFill>
                <a:effectLst/>
                <a:uLnTx/>
                <a:uFillTx/>
                <a:latin typeface="Arial" panose="020B0604020202020204" pitchFamily="34" charset="0"/>
                <a:ea typeface="+mn-ea"/>
                <a:cs typeface="+mn-cs"/>
              </a:rPr>
              <a:t>”</a:t>
            </a:r>
            <a:r>
              <a:rPr kumimoji="0" lang="zh-CN" altLang="en-US" sz="2400" b="0" i="0" u="none" strike="noStrike" kern="0" cap="none" spc="0" normalizeH="0" baseline="0" noProof="0" dirty="0" smtClean="0">
                <a:ln>
                  <a:noFill/>
                </a:ln>
                <a:solidFill>
                  <a:schemeClr val="tx1"/>
                </a:solidFill>
                <a:effectLst/>
                <a:uLnTx/>
                <a:uFillTx/>
                <a:latin typeface="楷体_GB2312" pitchFamily="49" charset="-122"/>
                <a:ea typeface="+mn-ea"/>
                <a:cs typeface="+mn-cs"/>
              </a:rPr>
              <a:t>→</a:t>
            </a:r>
            <a:r>
              <a:rPr kumimoji="0" lang="zh-CN" altLang="en-US" sz="2400" b="0" i="0" u="none" strike="noStrike" kern="0" cap="none" spc="0" normalizeH="0" baseline="0" noProof="0" dirty="0" smtClean="0">
                <a:ln>
                  <a:noFill/>
                </a:ln>
                <a:solidFill>
                  <a:schemeClr val="tx1"/>
                </a:solidFill>
                <a:effectLst/>
                <a:uLnTx/>
                <a:uFillTx/>
                <a:latin typeface="Arial" panose="020B0604020202020204" pitchFamily="34" charset="0"/>
                <a:ea typeface="+mn-ea"/>
                <a:cs typeface="+mn-cs"/>
              </a:rPr>
              <a:t>“</a:t>
            </a:r>
            <a:r>
              <a:rPr kumimoji="0" lang="zh-CN" altLang="en-US" sz="2400" b="0" i="0" u="none" strike="noStrike" kern="0" cap="none" spc="0" normalizeH="0" baseline="0" noProof="0" dirty="0" smtClean="0">
                <a:ln>
                  <a:noFill/>
                </a:ln>
                <a:solidFill>
                  <a:schemeClr val="tx1"/>
                </a:solidFill>
                <a:effectLst/>
                <a:uLnTx/>
                <a:uFillTx/>
                <a:latin typeface="楷体_GB2312" pitchFamily="49" charset="-122"/>
                <a:ea typeface="+mn-ea"/>
                <a:cs typeface="+mn-cs"/>
              </a:rPr>
              <a:t>显示网格</a:t>
            </a:r>
            <a:r>
              <a:rPr kumimoji="0" lang="zh-CN" altLang="en-US" sz="2400" b="0" i="0" u="none" strike="noStrike" kern="0" cap="none" spc="0" normalizeH="0" baseline="0" noProof="0" dirty="0" smtClean="0">
                <a:ln>
                  <a:noFill/>
                </a:ln>
                <a:solidFill>
                  <a:schemeClr val="tx1"/>
                </a:solidFill>
                <a:effectLst/>
                <a:uLnTx/>
                <a:uFillTx/>
                <a:latin typeface="Arial" panose="020B0604020202020204" pitchFamily="34" charset="0"/>
                <a:ea typeface="+mn-ea"/>
                <a:cs typeface="+mn-cs"/>
              </a:rPr>
              <a:t>”</a:t>
            </a:r>
            <a:r>
              <a:rPr kumimoji="0" lang="zh-CN" altLang="en-US" sz="2400" b="0" i="0" u="none" strike="noStrike" kern="0" cap="none" spc="0" normalizeH="0" baseline="0" noProof="0" dirty="0" smtClean="0">
                <a:ln>
                  <a:noFill/>
                </a:ln>
                <a:solidFill>
                  <a:schemeClr val="tx1"/>
                </a:solidFill>
                <a:effectLst/>
                <a:uLnTx/>
                <a:uFillTx/>
                <a:latin typeface="楷体_GB2312" pitchFamily="49" charset="-122"/>
                <a:ea typeface="+mn-ea"/>
                <a:cs typeface="+mn-cs"/>
              </a:rPr>
              <a:t>，绘制一条斜线，观察像素级直线的形状。</a:t>
            </a:r>
            <a:endParaRPr kumimoji="0" lang="zh-CN" altLang="en-US" sz="2400" b="0" i="0" u="none" strike="noStrike" kern="0" cap="none" spc="0" normalizeH="0" baseline="0" noProof="0" dirty="0" smtClean="0">
              <a:ln>
                <a:noFill/>
              </a:ln>
              <a:solidFill>
                <a:schemeClr val="tx1"/>
              </a:solidFill>
              <a:effectLst/>
              <a:uLnTx/>
              <a:uFillTx/>
              <a:latin typeface="楷体_GB2312" pitchFamily="49" charset="-122"/>
              <a:ea typeface="+mn-ea"/>
              <a:cs typeface="+mn-cs"/>
            </a:endParaRPr>
          </a:p>
          <a:p>
            <a:pPr marL="0" marR="0" lvl="0" indent="355600" algn="l" defTabSz="914400" rtl="0" eaLnBrk="1" fontAlgn="base" latinLnBrk="0" hangingPunct="1">
              <a:lnSpc>
                <a:spcPct val="100000"/>
              </a:lnSpc>
              <a:spcBef>
                <a:spcPct val="20000"/>
              </a:spcBef>
              <a:spcAft>
                <a:spcPct val="0"/>
              </a:spcAft>
              <a:buClr>
                <a:srgbClr val="336600"/>
              </a:buClr>
              <a:buSzPct val="60000"/>
              <a:buFont typeface="Wingdings" panose="05000000000000000000" pitchFamily="2" charset="2"/>
              <a:buChar char="n"/>
              <a:defRPr/>
            </a:pPr>
            <a:r>
              <a:rPr kumimoji="0" lang="zh-CN" altLang="en-US" sz="2400" b="0" i="0" u="none" strike="noStrike" kern="0" cap="none" spc="0" normalizeH="0" baseline="0" noProof="0" dirty="0" smtClean="0">
                <a:ln>
                  <a:noFill/>
                </a:ln>
                <a:solidFill>
                  <a:schemeClr val="tx1"/>
                </a:solidFill>
                <a:effectLst/>
                <a:uLnTx/>
                <a:uFillTx/>
                <a:latin typeface="楷体_GB2312" pitchFamily="49" charset="-122"/>
                <a:ea typeface="+mn-ea"/>
                <a:cs typeface="+mn-cs"/>
              </a:rPr>
              <a:t>什么是直线的走样？使用微软中文字处理软件</a:t>
            </a:r>
            <a:r>
              <a:rPr kumimoji="0" lang="en-US" altLang="zh-CN" sz="2400" b="0" i="0" u="none" strike="noStrike" kern="0" cap="none" spc="0" normalizeH="0" baseline="0" noProof="0" dirty="0" smtClean="0">
                <a:ln>
                  <a:noFill/>
                </a:ln>
                <a:solidFill>
                  <a:schemeClr val="tx1"/>
                </a:solidFill>
                <a:effectLst/>
                <a:uLnTx/>
                <a:uFillTx/>
                <a:latin typeface="楷体_GB2312" pitchFamily="49" charset="-122"/>
                <a:ea typeface="+mn-ea"/>
                <a:cs typeface="+mn-cs"/>
              </a:rPr>
              <a:t>Word</a:t>
            </a:r>
            <a:r>
              <a:rPr kumimoji="0" lang="zh-CN" altLang="en-US" sz="2400" b="0" i="0" u="none" strike="noStrike" kern="0" cap="none" spc="0" normalizeH="0" baseline="0" noProof="0" dirty="0" smtClean="0">
                <a:ln>
                  <a:noFill/>
                </a:ln>
                <a:solidFill>
                  <a:schemeClr val="tx1"/>
                </a:solidFill>
                <a:effectLst/>
                <a:uLnTx/>
                <a:uFillTx/>
                <a:latin typeface="楷体_GB2312" pitchFamily="49" charset="-122"/>
                <a:ea typeface="+mn-ea"/>
                <a:cs typeface="+mn-cs"/>
              </a:rPr>
              <a:t>中的绘图工具绘制一条直线，该直线已经进行了反走样处理。将该直线拷贝到</a:t>
            </a:r>
            <a:r>
              <a:rPr kumimoji="0" lang="en-US" altLang="zh-CN" sz="2400" b="0" i="0" u="none" strike="noStrike" kern="0" cap="none" spc="0" normalizeH="0" baseline="0" noProof="0" dirty="0" smtClean="0">
                <a:ln>
                  <a:noFill/>
                </a:ln>
                <a:solidFill>
                  <a:schemeClr val="tx1"/>
                </a:solidFill>
                <a:effectLst/>
                <a:uLnTx/>
                <a:uFillTx/>
                <a:latin typeface="楷体_GB2312" pitchFamily="49" charset="-122"/>
                <a:ea typeface="+mn-ea"/>
                <a:cs typeface="+mn-cs"/>
              </a:rPr>
              <a:t>Windows</a:t>
            </a:r>
            <a:r>
              <a:rPr kumimoji="0" lang="zh-CN" altLang="en-US" sz="2400" b="0" i="0" u="none" strike="noStrike" kern="0" cap="none" spc="0" normalizeH="0" baseline="0" noProof="0" dirty="0" smtClean="0">
                <a:ln>
                  <a:noFill/>
                </a:ln>
                <a:solidFill>
                  <a:schemeClr val="tx1"/>
                </a:solidFill>
                <a:effectLst/>
                <a:uLnTx/>
                <a:uFillTx/>
                <a:latin typeface="楷体_GB2312" pitchFamily="49" charset="-122"/>
                <a:ea typeface="+mn-ea"/>
                <a:cs typeface="+mn-cs"/>
              </a:rPr>
              <a:t>附件中自带的</a:t>
            </a:r>
            <a:r>
              <a:rPr kumimoji="0" lang="zh-CN" altLang="en-US" sz="2400" b="0" i="0" u="none" strike="noStrike" kern="0" cap="none" spc="0" normalizeH="0" baseline="0" noProof="0" dirty="0" smtClean="0">
                <a:ln>
                  <a:noFill/>
                </a:ln>
                <a:solidFill>
                  <a:schemeClr val="tx1"/>
                </a:solidFill>
                <a:effectLst/>
                <a:uLnTx/>
                <a:uFillTx/>
                <a:latin typeface="Arial" panose="020B0604020202020204" pitchFamily="34" charset="0"/>
                <a:ea typeface="+mn-ea"/>
                <a:cs typeface="+mn-cs"/>
              </a:rPr>
              <a:t>“</a:t>
            </a:r>
            <a:r>
              <a:rPr kumimoji="0" lang="zh-CN" altLang="en-US" sz="2400" b="0" i="0" u="none" strike="noStrike" kern="0" cap="none" spc="0" normalizeH="0" baseline="0" noProof="0" dirty="0" smtClean="0">
                <a:ln>
                  <a:noFill/>
                </a:ln>
                <a:solidFill>
                  <a:schemeClr val="tx1"/>
                </a:solidFill>
                <a:effectLst/>
                <a:uLnTx/>
                <a:uFillTx/>
                <a:latin typeface="楷体_GB2312" pitchFamily="49" charset="-122"/>
                <a:ea typeface="+mn-ea"/>
                <a:cs typeface="+mn-cs"/>
              </a:rPr>
              <a:t>画图</a:t>
            </a:r>
            <a:r>
              <a:rPr kumimoji="0" lang="zh-CN" altLang="en-US" sz="2400" b="0" i="0" u="none" strike="noStrike" kern="0" cap="none" spc="0" normalizeH="0" baseline="0" noProof="0" dirty="0" smtClean="0">
                <a:ln>
                  <a:noFill/>
                </a:ln>
                <a:solidFill>
                  <a:schemeClr val="tx1"/>
                </a:solidFill>
                <a:effectLst/>
                <a:uLnTx/>
                <a:uFillTx/>
                <a:latin typeface="Arial" panose="020B0604020202020204" pitchFamily="34" charset="0"/>
                <a:ea typeface="+mn-ea"/>
                <a:cs typeface="+mn-cs"/>
              </a:rPr>
              <a:t>”</a:t>
            </a:r>
            <a:r>
              <a:rPr kumimoji="0" lang="zh-CN" altLang="en-US" sz="2400" b="0" i="0" u="none" strike="noStrike" kern="0" cap="none" spc="0" normalizeH="0" baseline="0" noProof="0" dirty="0" smtClean="0">
                <a:ln>
                  <a:noFill/>
                </a:ln>
                <a:solidFill>
                  <a:schemeClr val="tx1"/>
                </a:solidFill>
                <a:effectLst/>
                <a:uLnTx/>
                <a:uFillTx/>
                <a:latin typeface="楷体_GB2312" pitchFamily="49" charset="-122"/>
                <a:ea typeface="+mn-ea"/>
                <a:cs typeface="+mn-cs"/>
              </a:rPr>
              <a:t>工具中观察，试对比分析走样直线和反走样直线之间的区别？</a:t>
            </a:r>
            <a:endParaRPr kumimoji="0" lang="zh-CN" altLang="en-US" sz="2400" b="0" i="0" u="none" strike="noStrike" kern="0" cap="none" spc="0" normalizeH="0" baseline="0" noProof="0" dirty="0" smtClean="0">
              <a:ln>
                <a:noFill/>
              </a:ln>
              <a:solidFill>
                <a:schemeClr val="tx1"/>
              </a:solidFill>
              <a:effectLst/>
              <a:uLnTx/>
              <a:uFillTx/>
              <a:latin typeface="楷体_GB2312" pitchFamily="49" charset="-122"/>
              <a:ea typeface="+mn-ea"/>
              <a:cs typeface="+mn-cs"/>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7283">
                                            <p:txEl>
                                              <p:charRg st="0" end="2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7283">
                                            <p:txEl>
                                              <p:charRg st="23" end="4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7283">
                                            <p:txEl>
                                              <p:charRg st="48" end="13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7283">
                                            <p:txEl>
                                              <p:charRg st="137" end="24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3"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20"/>
          <p:cNvSpPr/>
          <p:nvPr/>
        </p:nvSpPr>
        <p:spPr>
          <a:xfrm>
            <a:off x="1187450" y="333375"/>
            <a:ext cx="7775575" cy="155257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defTabSz="914400" eaLnBrk="1" hangingPunct="1">
              <a:spcBef>
                <a:spcPct val="0"/>
              </a:spcBef>
              <a:buClr>
                <a:srgbClr val="004E00"/>
              </a:buClr>
              <a:tabLst>
                <a:tab pos="227330" algn="l"/>
              </a:tabLst>
            </a:pPr>
            <a:r>
              <a:rPr lang="zh-CN" altLang="en-US" sz="2400" dirty="0">
                <a:solidFill>
                  <a:schemeClr val="tx1"/>
                </a:solidFill>
                <a:latin typeface="楷体_GB2312" pitchFamily="49" charset="-122"/>
              </a:rPr>
              <a:t>给定顶点是</a:t>
            </a:r>
            <a:r>
              <a:rPr lang="en-US" altLang="zh-CN" sz="2400" dirty="0">
                <a:solidFill>
                  <a:schemeClr val="tx1"/>
                </a:solidFill>
                <a:latin typeface="楷体_GB2312" pitchFamily="49" charset="-122"/>
              </a:rPr>
              <a:t>A</a:t>
            </a:r>
            <a:r>
              <a:rPr lang="en-US" altLang="zh-CN" sz="2400" baseline="-30000" dirty="0">
                <a:solidFill>
                  <a:schemeClr val="tx1"/>
                </a:solidFill>
                <a:latin typeface="楷体_GB2312" pitchFamily="49" charset="-122"/>
              </a:rPr>
              <a:t>i</a:t>
            </a:r>
            <a:r>
              <a:rPr lang="zh-CN" altLang="en-US" sz="2400" dirty="0">
                <a:solidFill>
                  <a:schemeClr val="tx1"/>
                </a:solidFill>
                <a:latin typeface="楷体_GB2312" pitchFamily="49" charset="-122"/>
              </a:rPr>
              <a:t>的五边形如图</a:t>
            </a:r>
            <a:r>
              <a:rPr lang="en-US" altLang="zh-CN" sz="2400" dirty="0">
                <a:solidFill>
                  <a:schemeClr val="tx1"/>
                </a:solidFill>
                <a:latin typeface="楷体_GB2312" pitchFamily="49" charset="-122"/>
              </a:rPr>
              <a:t>1-47</a:t>
            </a:r>
            <a:r>
              <a:rPr lang="zh-CN" altLang="en-US" sz="2400" dirty="0">
                <a:solidFill>
                  <a:schemeClr val="tx1"/>
                </a:solidFill>
                <a:latin typeface="楷体_GB2312" pitchFamily="49" charset="-122"/>
              </a:rPr>
              <a:t>（</a:t>
            </a:r>
            <a:r>
              <a:rPr lang="en-US" altLang="zh-CN" sz="2400" dirty="0">
                <a:solidFill>
                  <a:schemeClr val="tx1"/>
                </a:solidFill>
                <a:latin typeface="楷体_GB2312" pitchFamily="49" charset="-122"/>
              </a:rPr>
              <a:t>a</a:t>
            </a:r>
            <a:r>
              <a:rPr lang="zh-CN" altLang="en-US" sz="2400" dirty="0">
                <a:solidFill>
                  <a:schemeClr val="tx1"/>
                </a:solidFill>
                <a:latin typeface="楷体_GB2312" pitchFamily="49" charset="-122"/>
              </a:rPr>
              <a:t>）所示，顶点是</a:t>
            </a:r>
            <a:r>
              <a:rPr lang="en-US" altLang="zh-CN" sz="2400" dirty="0">
                <a:solidFill>
                  <a:schemeClr val="tx1"/>
                </a:solidFill>
                <a:latin typeface="楷体_GB2312" pitchFamily="49" charset="-122"/>
              </a:rPr>
              <a:t>B</a:t>
            </a:r>
            <a:r>
              <a:rPr lang="en-US" altLang="zh-CN" sz="2400" baseline="-30000" dirty="0">
                <a:solidFill>
                  <a:schemeClr val="tx1"/>
                </a:solidFill>
                <a:latin typeface="楷体_GB2312" pitchFamily="49" charset="-122"/>
              </a:rPr>
              <a:t>i</a:t>
            </a:r>
            <a:r>
              <a:rPr lang="zh-CN" altLang="en-US" sz="2400" dirty="0">
                <a:solidFill>
                  <a:schemeClr val="tx1"/>
                </a:solidFill>
                <a:latin typeface="楷体_GB2312" pitchFamily="49" charset="-122"/>
              </a:rPr>
              <a:t>的五角星如图所示，其中</a:t>
            </a:r>
            <a:r>
              <a:rPr lang="en-US" altLang="zh-CN" sz="2400" dirty="0">
                <a:solidFill>
                  <a:schemeClr val="tx1"/>
                </a:solidFill>
                <a:latin typeface="楷体_GB2312" pitchFamily="49" charset="-122"/>
              </a:rPr>
              <a:t>i</a:t>
            </a:r>
            <a:r>
              <a:rPr lang="zh-CN" altLang="en-US" sz="2400" dirty="0">
                <a:solidFill>
                  <a:schemeClr val="tx1"/>
                </a:solidFill>
                <a:latin typeface="楷体_GB2312" pitchFamily="49" charset="-122"/>
              </a:rPr>
              <a:t>＝</a:t>
            </a:r>
            <a:r>
              <a:rPr lang="en-US" altLang="zh-CN" sz="2400" dirty="0">
                <a:solidFill>
                  <a:schemeClr val="tx1"/>
                </a:solidFill>
                <a:latin typeface="楷体_GB2312" pitchFamily="49" charset="-122"/>
              </a:rPr>
              <a:t>0,1,2,3,4</a:t>
            </a:r>
            <a:r>
              <a:rPr lang="zh-CN" altLang="en-US" sz="2400" dirty="0">
                <a:solidFill>
                  <a:schemeClr val="tx1"/>
                </a:solidFill>
                <a:latin typeface="楷体_GB2312" pitchFamily="49" charset="-122"/>
              </a:rPr>
              <a:t>。使用下式可以绘制内插动画</a:t>
            </a:r>
            <a:endParaRPr lang="zh-CN" altLang="en-US" sz="2400" dirty="0">
              <a:solidFill>
                <a:schemeClr val="tx1"/>
              </a:solidFill>
              <a:latin typeface="楷体_GB2312" pitchFamily="49" charset="-122"/>
            </a:endParaRPr>
          </a:p>
          <a:p>
            <a:pPr marL="0" lvl="0" indent="0" defTabSz="914400">
              <a:spcBef>
                <a:spcPct val="0"/>
              </a:spcBef>
              <a:buClrTx/>
              <a:buSzTx/>
              <a:buFont typeface="Arial" panose="020B0604020202020204" pitchFamily="34" charset="0"/>
              <a:buNone/>
              <a:tabLst>
                <a:tab pos="227330" algn="l"/>
              </a:tabLst>
            </a:pPr>
            <a:r>
              <a:rPr lang="zh-CN" altLang="en-US" sz="2400" dirty="0">
                <a:solidFill>
                  <a:schemeClr val="tx1"/>
                </a:solidFill>
                <a:latin typeface="Times New Roman" panose="02020603050405020304" pitchFamily="18" charset="0"/>
              </a:rPr>
              <a:t>                      </a:t>
            </a:r>
            <a:endParaRPr lang="zh-CN" altLang="en-US" sz="2400" dirty="0">
              <a:solidFill>
                <a:schemeClr val="tx1"/>
              </a:solidFill>
              <a:latin typeface="Arial" panose="020B0604020202020204" pitchFamily="34" charset="0"/>
            </a:endParaRPr>
          </a:p>
        </p:txBody>
      </p:sp>
      <p:graphicFrame>
        <p:nvGraphicFramePr>
          <p:cNvPr id="95235" name="Object 3"/>
          <p:cNvGraphicFramePr>
            <a:graphicFrameLocks noChangeAspect="1"/>
          </p:cNvGraphicFramePr>
          <p:nvPr/>
        </p:nvGraphicFramePr>
        <p:xfrm>
          <a:off x="3348038" y="1196975"/>
          <a:ext cx="2952750" cy="479425"/>
        </p:xfrm>
        <a:graphic>
          <a:graphicData uri="http://schemas.openxmlformats.org/presentationml/2006/ole">
            <mc:AlternateContent xmlns:mc="http://schemas.openxmlformats.org/markup-compatibility/2006">
              <mc:Choice xmlns:v="urn:schemas-microsoft-com:vml" Requires="v">
                <p:oleObj spid="_x0000_s3095" name="" r:id="rId1" imgW="1410335" imgH="228600" progId="Equation.3">
                  <p:embed/>
                </p:oleObj>
              </mc:Choice>
              <mc:Fallback>
                <p:oleObj name="" r:id="rId1" imgW="1410335" imgH="228600" progId="Equation.3">
                  <p:embed/>
                  <p:pic>
                    <p:nvPicPr>
                      <p:cNvPr id="0" name="图片 3094"/>
                      <p:cNvPicPr/>
                      <p:nvPr/>
                    </p:nvPicPr>
                    <p:blipFill>
                      <a:blip r:embed="rId2"/>
                      <a:stretch>
                        <a:fillRect/>
                      </a:stretch>
                    </p:blipFill>
                    <p:spPr>
                      <a:xfrm>
                        <a:off x="3348038" y="1196975"/>
                        <a:ext cx="2952750" cy="479425"/>
                      </a:xfrm>
                      <a:prstGeom prst="rect">
                        <a:avLst/>
                      </a:prstGeom>
                      <a:noFill/>
                      <a:ln w="38100">
                        <a:noFill/>
                        <a:miter/>
                      </a:ln>
                    </p:spPr>
                  </p:pic>
                </p:oleObj>
              </mc:Fallback>
            </mc:AlternateContent>
          </a:graphicData>
        </a:graphic>
      </p:graphicFrame>
      <p:sp>
        <p:nvSpPr>
          <p:cNvPr id="95236" name="Rectangle 21"/>
          <p:cNvSpPr/>
          <p:nvPr/>
        </p:nvSpPr>
        <p:spPr>
          <a:xfrm>
            <a:off x="1116013" y="1844675"/>
            <a:ext cx="7559675" cy="82232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zh-CN" altLang="en-US" sz="2400" dirty="0">
                <a:solidFill>
                  <a:schemeClr val="tx1"/>
                </a:solidFill>
                <a:latin typeface="楷体_GB2312" pitchFamily="49" charset="-122"/>
              </a:rPr>
              <a:t>    当</a:t>
            </a:r>
            <a:r>
              <a:rPr lang="en-US" altLang="zh-CN" sz="2400" dirty="0">
                <a:solidFill>
                  <a:schemeClr val="tx1"/>
                </a:solidFill>
                <a:latin typeface="楷体_GB2312" pitchFamily="49" charset="-122"/>
              </a:rPr>
              <a:t>t</a:t>
            </a:r>
            <a:r>
              <a:rPr lang="zh-CN" altLang="en-US" sz="2400" dirty="0">
                <a:solidFill>
                  <a:schemeClr val="tx1"/>
                </a:solidFill>
                <a:latin typeface="楷体_GB2312" pitchFamily="49" charset="-122"/>
              </a:rPr>
              <a:t>从</a:t>
            </a:r>
            <a:r>
              <a:rPr lang="en-US" altLang="zh-CN" sz="2400" dirty="0">
                <a:solidFill>
                  <a:schemeClr val="tx1"/>
                </a:solidFill>
                <a:latin typeface="楷体_GB2312" pitchFamily="49" charset="-122"/>
              </a:rPr>
              <a:t>0.0</a:t>
            </a:r>
            <a:r>
              <a:rPr lang="zh-CN" altLang="en-US" sz="2400" dirty="0">
                <a:solidFill>
                  <a:schemeClr val="tx1"/>
                </a:solidFill>
                <a:latin typeface="楷体_GB2312" pitchFamily="49" charset="-122"/>
              </a:rPr>
              <a:t>到</a:t>
            </a:r>
            <a:r>
              <a:rPr lang="en-US" altLang="zh-CN" sz="2400" dirty="0">
                <a:solidFill>
                  <a:schemeClr val="tx1"/>
                </a:solidFill>
                <a:latin typeface="楷体_GB2312" pitchFamily="49" charset="-122"/>
              </a:rPr>
              <a:t>1.0</a:t>
            </a:r>
            <a:r>
              <a:rPr lang="zh-CN" altLang="en-US" sz="2400" dirty="0">
                <a:solidFill>
                  <a:schemeClr val="tx1"/>
                </a:solidFill>
                <a:latin typeface="楷体_GB2312" pitchFamily="49" charset="-122"/>
              </a:rPr>
              <a:t>按步长</a:t>
            </a:r>
            <a:r>
              <a:rPr lang="en-US" altLang="zh-CN" sz="2400" dirty="0">
                <a:solidFill>
                  <a:schemeClr val="tx1"/>
                </a:solidFill>
                <a:latin typeface="楷体_GB2312" pitchFamily="49" charset="-122"/>
              </a:rPr>
              <a:t>0.1</a:t>
            </a:r>
            <a:r>
              <a:rPr lang="zh-CN" altLang="en-US" sz="2400" dirty="0">
                <a:solidFill>
                  <a:schemeClr val="tx1"/>
                </a:solidFill>
                <a:latin typeface="楷体_GB2312" pitchFamily="49" charset="-122"/>
              </a:rPr>
              <a:t>连续变化时，请编程绘制五边形变化到五角星的动画。</a:t>
            </a:r>
            <a:endParaRPr lang="zh-CN" altLang="en-US" sz="2400" dirty="0">
              <a:solidFill>
                <a:schemeClr val="tx1"/>
              </a:solidFill>
              <a:latin typeface="楷体_GB2312" pitchFamily="49" charset="-122"/>
            </a:endParaRPr>
          </a:p>
        </p:txBody>
      </p:sp>
      <p:pic>
        <p:nvPicPr>
          <p:cNvPr id="95237" name="Picture 27"/>
          <p:cNvPicPr>
            <a:picLocks noChangeAspect="1"/>
          </p:cNvPicPr>
          <p:nvPr/>
        </p:nvPicPr>
        <p:blipFill>
          <a:blip r:embed="rId3"/>
          <a:stretch>
            <a:fillRect/>
          </a:stretch>
        </p:blipFill>
        <p:spPr>
          <a:xfrm>
            <a:off x="1763713" y="2708275"/>
            <a:ext cx="1873250" cy="1366838"/>
          </a:xfrm>
          <a:prstGeom prst="rect">
            <a:avLst/>
          </a:prstGeom>
          <a:noFill/>
          <a:ln w="9525">
            <a:noFill/>
          </a:ln>
        </p:spPr>
      </p:pic>
      <p:pic>
        <p:nvPicPr>
          <p:cNvPr id="95238" name="Picture 26"/>
          <p:cNvPicPr>
            <a:picLocks noChangeAspect="1"/>
          </p:cNvPicPr>
          <p:nvPr/>
        </p:nvPicPr>
        <p:blipFill>
          <a:blip r:embed="rId4"/>
          <a:stretch>
            <a:fillRect/>
          </a:stretch>
        </p:blipFill>
        <p:spPr>
          <a:xfrm>
            <a:off x="3851275" y="2708275"/>
            <a:ext cx="1873250" cy="1379538"/>
          </a:xfrm>
          <a:prstGeom prst="rect">
            <a:avLst/>
          </a:prstGeom>
          <a:noFill/>
          <a:ln w="9525">
            <a:noFill/>
          </a:ln>
        </p:spPr>
      </p:pic>
      <p:pic>
        <p:nvPicPr>
          <p:cNvPr id="95239" name="Picture 25"/>
          <p:cNvPicPr>
            <a:picLocks noChangeAspect="1"/>
          </p:cNvPicPr>
          <p:nvPr/>
        </p:nvPicPr>
        <p:blipFill>
          <a:blip r:embed="rId5"/>
          <a:stretch>
            <a:fillRect/>
          </a:stretch>
        </p:blipFill>
        <p:spPr>
          <a:xfrm>
            <a:off x="6011863" y="2708275"/>
            <a:ext cx="1871662" cy="1358900"/>
          </a:xfrm>
          <a:prstGeom prst="rect">
            <a:avLst/>
          </a:prstGeom>
          <a:noFill/>
          <a:ln w="9525">
            <a:noFill/>
          </a:ln>
        </p:spPr>
      </p:pic>
      <p:pic>
        <p:nvPicPr>
          <p:cNvPr id="95240" name="Picture 24"/>
          <p:cNvPicPr>
            <a:picLocks noChangeAspect="1"/>
          </p:cNvPicPr>
          <p:nvPr/>
        </p:nvPicPr>
        <p:blipFill>
          <a:blip r:embed="rId6"/>
          <a:stretch>
            <a:fillRect/>
          </a:stretch>
        </p:blipFill>
        <p:spPr>
          <a:xfrm>
            <a:off x="1619250" y="4797425"/>
            <a:ext cx="1728788" cy="1247775"/>
          </a:xfrm>
          <a:prstGeom prst="rect">
            <a:avLst/>
          </a:prstGeom>
          <a:noFill/>
          <a:ln w="9525">
            <a:noFill/>
          </a:ln>
        </p:spPr>
      </p:pic>
      <p:pic>
        <p:nvPicPr>
          <p:cNvPr id="95241" name="Picture 23"/>
          <p:cNvPicPr>
            <a:picLocks noChangeAspect="1"/>
          </p:cNvPicPr>
          <p:nvPr/>
        </p:nvPicPr>
        <p:blipFill>
          <a:blip r:embed="rId7"/>
          <a:stretch>
            <a:fillRect/>
          </a:stretch>
        </p:blipFill>
        <p:spPr>
          <a:xfrm>
            <a:off x="3851275" y="4797425"/>
            <a:ext cx="1717675" cy="1247775"/>
          </a:xfrm>
          <a:prstGeom prst="rect">
            <a:avLst/>
          </a:prstGeom>
          <a:noFill/>
          <a:ln w="9525">
            <a:noFill/>
          </a:ln>
        </p:spPr>
      </p:pic>
      <p:pic>
        <p:nvPicPr>
          <p:cNvPr id="95242" name="Picture 22"/>
          <p:cNvPicPr>
            <a:picLocks noChangeAspect="1"/>
          </p:cNvPicPr>
          <p:nvPr/>
        </p:nvPicPr>
        <p:blipFill>
          <a:blip r:embed="rId8"/>
          <a:stretch>
            <a:fillRect/>
          </a:stretch>
        </p:blipFill>
        <p:spPr>
          <a:xfrm>
            <a:off x="6156325" y="4724400"/>
            <a:ext cx="1717675" cy="1247775"/>
          </a:xfrm>
          <a:prstGeom prst="rect">
            <a:avLst/>
          </a:prstGeom>
          <a:noFill/>
          <a:ln w="9525">
            <a:noFill/>
          </a:ln>
        </p:spPr>
      </p:pic>
      <p:sp>
        <p:nvSpPr>
          <p:cNvPr id="95243" name="Rectangle 28"/>
          <p:cNvSpPr/>
          <p:nvPr/>
        </p:nvSpPr>
        <p:spPr>
          <a:xfrm>
            <a:off x="0" y="-352425"/>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513080" eaLnBrk="1" hangingPunct="1">
              <a:spcBef>
                <a:spcPct val="0"/>
              </a:spcBef>
              <a:buClrTx/>
              <a:buSzTx/>
              <a:buFont typeface="Arial" panose="020B0604020202020204" pitchFamily="34" charset="0"/>
              <a:buNone/>
            </a:pPr>
            <a:endParaRPr lang="zh-CN" altLang="en-US" sz="2400" dirty="0">
              <a:solidFill>
                <a:schemeClr val="tx1"/>
              </a:solidFill>
              <a:latin typeface="Arial" panose="020B0604020202020204" pitchFamily="34" charset="0"/>
              <a:ea typeface="宋体" panose="02010600030101010101" pitchFamily="2" charset="-122"/>
            </a:endParaRPr>
          </a:p>
        </p:txBody>
      </p:sp>
      <p:sp>
        <p:nvSpPr>
          <p:cNvPr id="95244" name="Rectangle 29"/>
          <p:cNvSpPr/>
          <p:nvPr/>
        </p:nvSpPr>
        <p:spPr>
          <a:xfrm>
            <a:off x="0" y="674688"/>
            <a:ext cx="719138" cy="198437"/>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zh-CN" altLang="en-US" sz="700" dirty="0">
                <a:solidFill>
                  <a:schemeClr val="tx1"/>
                </a:solidFill>
                <a:latin typeface="Times New Roman" panose="02020603050405020304" pitchFamily="18" charset="0"/>
                <a:ea typeface="宋体" panose="02010600030101010101" pitchFamily="2" charset="-122"/>
              </a:rPr>
              <a:t> </a:t>
            </a:r>
            <a:endParaRPr lang="zh-CN" altLang="en-US" sz="2400" dirty="0">
              <a:solidFill>
                <a:schemeClr val="tx1"/>
              </a:solidFill>
              <a:latin typeface="Arial" panose="020B0604020202020204" pitchFamily="34" charset="0"/>
              <a:ea typeface="宋体" panose="02010600030101010101" pitchFamily="2" charset="-122"/>
            </a:endParaRPr>
          </a:p>
        </p:txBody>
      </p:sp>
      <p:sp>
        <p:nvSpPr>
          <p:cNvPr id="95245" name="Rectangle 30"/>
          <p:cNvSpPr/>
          <p:nvPr/>
        </p:nvSpPr>
        <p:spPr>
          <a:xfrm>
            <a:off x="0" y="1882775"/>
            <a:ext cx="741363" cy="198438"/>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zh-CN" altLang="en-US" sz="700" dirty="0">
                <a:solidFill>
                  <a:schemeClr val="tx1"/>
                </a:solidFill>
                <a:latin typeface="Times New Roman" panose="02020603050405020304" pitchFamily="18" charset="0"/>
                <a:ea typeface="宋体" panose="02010600030101010101" pitchFamily="2" charset="-122"/>
              </a:rPr>
              <a:t>  </a:t>
            </a:r>
            <a:endParaRPr lang="zh-CN" altLang="en-US" sz="2400" dirty="0">
              <a:solidFill>
                <a:schemeClr val="tx1"/>
              </a:solidFill>
              <a:latin typeface="Arial" panose="020B0604020202020204" pitchFamily="34" charset="0"/>
              <a:ea typeface="宋体" panose="02010600030101010101" pitchFamily="2" charset="-122"/>
            </a:endParaRPr>
          </a:p>
        </p:txBody>
      </p:sp>
      <p:sp>
        <p:nvSpPr>
          <p:cNvPr id="95246" name="Rectangle 31"/>
          <p:cNvSpPr/>
          <p:nvPr/>
        </p:nvSpPr>
        <p:spPr>
          <a:xfrm>
            <a:off x="1690688" y="4137025"/>
            <a:ext cx="6345237" cy="457200"/>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Tx/>
              <a:buSzTx/>
              <a:buFont typeface="Arial" panose="020B0604020202020204" pitchFamily="34" charset="0"/>
              <a:buNone/>
            </a:pPr>
            <a:r>
              <a:rPr lang="zh-CN" altLang="en-US" sz="2400" dirty="0">
                <a:solidFill>
                  <a:schemeClr val="tx1"/>
                </a:solidFill>
                <a:latin typeface="Times New Roman" panose="02020603050405020304" pitchFamily="18" charset="0"/>
                <a:ea typeface="宋体" panose="02010600030101010101" pitchFamily="2" charset="-122"/>
              </a:rPr>
              <a:t>（</a:t>
            </a:r>
            <a:r>
              <a:rPr lang="en-US" altLang="zh-CN" sz="2400" dirty="0">
                <a:solidFill>
                  <a:schemeClr val="tx1"/>
                </a:solidFill>
                <a:latin typeface="Times New Roman" panose="02020603050405020304" pitchFamily="18" charset="0"/>
                <a:ea typeface="宋体" panose="02010600030101010101" pitchFamily="2" charset="-122"/>
              </a:rPr>
              <a:t>a</a:t>
            </a:r>
            <a:r>
              <a:rPr lang="zh-CN" altLang="en-US" sz="2400" dirty="0">
                <a:solidFill>
                  <a:schemeClr val="tx1"/>
                </a:solidFill>
                <a:latin typeface="Times New Roman" panose="02020603050405020304" pitchFamily="18" charset="0"/>
                <a:ea typeface="宋体" panose="02010600030101010101" pitchFamily="2" charset="-122"/>
              </a:rPr>
              <a:t>）</a:t>
            </a:r>
            <a:r>
              <a:rPr lang="en-US" altLang="zh-CN" sz="2400" dirty="0">
                <a:solidFill>
                  <a:schemeClr val="tx1"/>
                </a:solidFill>
                <a:latin typeface="Times New Roman" panose="02020603050405020304" pitchFamily="18" charset="0"/>
                <a:ea typeface="宋体" panose="02010600030101010101" pitchFamily="2" charset="-122"/>
              </a:rPr>
              <a:t>t</a:t>
            </a:r>
            <a:r>
              <a:rPr lang="zh-CN" altLang="en-US" sz="2400" dirty="0">
                <a:solidFill>
                  <a:schemeClr val="tx1"/>
                </a:solidFill>
                <a:latin typeface="Times New Roman" panose="02020603050405020304" pitchFamily="18" charset="0"/>
                <a:ea typeface="宋体" panose="02010600030101010101" pitchFamily="2" charset="-122"/>
              </a:rPr>
              <a:t>＝</a:t>
            </a:r>
            <a:r>
              <a:rPr lang="en-US" altLang="zh-CN" sz="2400" dirty="0">
                <a:solidFill>
                  <a:schemeClr val="tx1"/>
                </a:solidFill>
                <a:latin typeface="Times New Roman" panose="02020603050405020304" pitchFamily="18" charset="0"/>
                <a:ea typeface="宋体" panose="02010600030101010101" pitchFamily="2" charset="-122"/>
              </a:rPr>
              <a:t>0.0           </a:t>
            </a:r>
            <a:r>
              <a:rPr lang="zh-CN" altLang="en-US" sz="2400" dirty="0">
                <a:solidFill>
                  <a:schemeClr val="tx1"/>
                </a:solidFill>
                <a:latin typeface="Times New Roman" panose="02020603050405020304" pitchFamily="18" charset="0"/>
                <a:ea typeface="宋体" panose="02010600030101010101" pitchFamily="2" charset="-122"/>
              </a:rPr>
              <a:t>（</a:t>
            </a:r>
            <a:r>
              <a:rPr lang="en-US" altLang="zh-CN" sz="2400" dirty="0">
                <a:solidFill>
                  <a:schemeClr val="tx1"/>
                </a:solidFill>
                <a:latin typeface="Times New Roman" panose="02020603050405020304" pitchFamily="18" charset="0"/>
                <a:ea typeface="宋体" panose="02010600030101010101" pitchFamily="2" charset="-122"/>
              </a:rPr>
              <a:t>b</a:t>
            </a:r>
            <a:r>
              <a:rPr lang="zh-CN" altLang="en-US" sz="2400" dirty="0">
                <a:solidFill>
                  <a:schemeClr val="tx1"/>
                </a:solidFill>
                <a:latin typeface="Times New Roman" panose="02020603050405020304" pitchFamily="18" charset="0"/>
                <a:ea typeface="宋体" panose="02010600030101010101" pitchFamily="2" charset="-122"/>
              </a:rPr>
              <a:t>）</a:t>
            </a:r>
            <a:r>
              <a:rPr lang="en-US" altLang="zh-CN" sz="2400" dirty="0">
                <a:solidFill>
                  <a:schemeClr val="tx1"/>
                </a:solidFill>
                <a:latin typeface="Times New Roman" panose="02020603050405020304" pitchFamily="18" charset="0"/>
                <a:ea typeface="宋体" panose="02010600030101010101" pitchFamily="2" charset="-122"/>
              </a:rPr>
              <a:t>t</a:t>
            </a:r>
            <a:r>
              <a:rPr lang="zh-CN" altLang="en-US" sz="2400" dirty="0">
                <a:solidFill>
                  <a:schemeClr val="tx1"/>
                </a:solidFill>
                <a:latin typeface="Times New Roman" panose="02020603050405020304" pitchFamily="18" charset="0"/>
                <a:ea typeface="宋体" panose="02010600030101010101" pitchFamily="2" charset="-122"/>
              </a:rPr>
              <a:t>＝</a:t>
            </a:r>
            <a:r>
              <a:rPr lang="en-US" altLang="zh-CN" sz="2400" dirty="0">
                <a:solidFill>
                  <a:schemeClr val="tx1"/>
                </a:solidFill>
                <a:latin typeface="Times New Roman" panose="02020603050405020304" pitchFamily="18" charset="0"/>
                <a:ea typeface="宋体" panose="02010600030101010101" pitchFamily="2" charset="-122"/>
              </a:rPr>
              <a:t>0.2          </a:t>
            </a:r>
            <a:r>
              <a:rPr lang="zh-CN" altLang="en-US" sz="2400" dirty="0">
                <a:solidFill>
                  <a:schemeClr val="tx1"/>
                </a:solidFill>
                <a:latin typeface="Times New Roman" panose="02020603050405020304" pitchFamily="18" charset="0"/>
                <a:ea typeface="宋体" panose="02010600030101010101" pitchFamily="2" charset="-122"/>
              </a:rPr>
              <a:t>（</a:t>
            </a:r>
            <a:r>
              <a:rPr lang="en-US" altLang="zh-CN" sz="2400" dirty="0">
                <a:solidFill>
                  <a:schemeClr val="tx1"/>
                </a:solidFill>
                <a:latin typeface="Times New Roman" panose="02020603050405020304" pitchFamily="18" charset="0"/>
                <a:ea typeface="宋体" panose="02010600030101010101" pitchFamily="2" charset="-122"/>
              </a:rPr>
              <a:t>c</a:t>
            </a:r>
            <a:r>
              <a:rPr lang="zh-CN" altLang="en-US" sz="2400" dirty="0">
                <a:solidFill>
                  <a:schemeClr val="tx1"/>
                </a:solidFill>
                <a:latin typeface="Times New Roman" panose="02020603050405020304" pitchFamily="18" charset="0"/>
                <a:ea typeface="宋体" panose="02010600030101010101" pitchFamily="2" charset="-122"/>
              </a:rPr>
              <a:t>）</a:t>
            </a:r>
            <a:r>
              <a:rPr lang="en-US" altLang="zh-CN" sz="2400" dirty="0">
                <a:solidFill>
                  <a:schemeClr val="tx1"/>
                </a:solidFill>
                <a:latin typeface="Times New Roman" panose="02020603050405020304" pitchFamily="18" charset="0"/>
                <a:ea typeface="宋体" panose="02010600030101010101" pitchFamily="2" charset="-122"/>
              </a:rPr>
              <a:t>t</a:t>
            </a:r>
            <a:r>
              <a:rPr lang="zh-CN" altLang="en-US" sz="2400" dirty="0">
                <a:solidFill>
                  <a:schemeClr val="tx1"/>
                </a:solidFill>
                <a:latin typeface="Times New Roman" panose="02020603050405020304" pitchFamily="18" charset="0"/>
                <a:ea typeface="宋体" panose="02010600030101010101" pitchFamily="2" charset="-122"/>
              </a:rPr>
              <a:t>＝</a:t>
            </a:r>
            <a:r>
              <a:rPr lang="en-US" altLang="zh-CN" sz="2400" dirty="0">
                <a:solidFill>
                  <a:schemeClr val="tx1"/>
                </a:solidFill>
                <a:latin typeface="Times New Roman" panose="02020603050405020304" pitchFamily="18" charset="0"/>
                <a:ea typeface="宋体" panose="02010600030101010101" pitchFamily="2" charset="-122"/>
              </a:rPr>
              <a:t>0.4</a:t>
            </a:r>
            <a:endParaRPr lang="en-US" altLang="zh-CN" sz="2400" dirty="0">
              <a:solidFill>
                <a:schemeClr val="tx1"/>
              </a:solidFill>
              <a:latin typeface="Arial" panose="020B0604020202020204" pitchFamily="34" charset="0"/>
              <a:ea typeface="宋体" panose="02010600030101010101" pitchFamily="2" charset="-122"/>
            </a:endParaRPr>
          </a:p>
        </p:txBody>
      </p:sp>
      <p:sp>
        <p:nvSpPr>
          <p:cNvPr id="95247" name="Rectangle 32"/>
          <p:cNvSpPr/>
          <p:nvPr/>
        </p:nvSpPr>
        <p:spPr>
          <a:xfrm>
            <a:off x="4108450" y="4738688"/>
            <a:ext cx="206375" cy="198437"/>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ctr" eaLnBrk="1" hangingPunct="1">
              <a:spcBef>
                <a:spcPct val="0"/>
              </a:spcBef>
              <a:buClrTx/>
              <a:buSzTx/>
              <a:buFont typeface="Arial" panose="020B0604020202020204" pitchFamily="34" charset="0"/>
              <a:buNone/>
            </a:pPr>
            <a:r>
              <a:rPr lang="zh-CN" altLang="en-US" sz="700" dirty="0">
                <a:solidFill>
                  <a:schemeClr val="tx1"/>
                </a:solidFill>
                <a:latin typeface="Times New Roman" panose="02020603050405020304" pitchFamily="18" charset="0"/>
                <a:ea typeface="宋体" panose="02010600030101010101" pitchFamily="2" charset="-122"/>
              </a:rPr>
              <a:t> </a:t>
            </a:r>
            <a:endParaRPr lang="zh-CN" altLang="en-US" sz="2400" dirty="0">
              <a:solidFill>
                <a:schemeClr val="tx1"/>
              </a:solidFill>
              <a:latin typeface="Arial" panose="020B0604020202020204" pitchFamily="34" charset="0"/>
              <a:ea typeface="宋体" panose="02010600030101010101" pitchFamily="2" charset="-122"/>
            </a:endParaRPr>
          </a:p>
        </p:txBody>
      </p:sp>
      <p:sp>
        <p:nvSpPr>
          <p:cNvPr id="95248" name="Rectangle 33"/>
          <p:cNvSpPr/>
          <p:nvPr/>
        </p:nvSpPr>
        <p:spPr>
          <a:xfrm>
            <a:off x="4108450" y="5975350"/>
            <a:ext cx="206375" cy="198438"/>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ctr" eaLnBrk="1" hangingPunct="1">
              <a:spcBef>
                <a:spcPct val="0"/>
              </a:spcBef>
              <a:buClrTx/>
              <a:buSzTx/>
              <a:buFont typeface="Arial" panose="020B0604020202020204" pitchFamily="34" charset="0"/>
              <a:buNone/>
            </a:pPr>
            <a:r>
              <a:rPr lang="zh-CN" altLang="en-US" sz="700" dirty="0">
                <a:solidFill>
                  <a:schemeClr val="tx1"/>
                </a:solidFill>
                <a:latin typeface="Times New Roman" panose="02020603050405020304" pitchFamily="18" charset="0"/>
                <a:ea typeface="宋体" panose="02010600030101010101" pitchFamily="2" charset="-122"/>
              </a:rPr>
              <a:t> </a:t>
            </a:r>
            <a:endParaRPr lang="zh-CN" altLang="en-US" sz="2400" dirty="0">
              <a:solidFill>
                <a:schemeClr val="tx1"/>
              </a:solidFill>
              <a:latin typeface="Arial" panose="020B0604020202020204" pitchFamily="34" charset="0"/>
              <a:ea typeface="宋体" panose="02010600030101010101" pitchFamily="2" charset="-122"/>
            </a:endParaRPr>
          </a:p>
        </p:txBody>
      </p:sp>
      <p:sp>
        <p:nvSpPr>
          <p:cNvPr id="95249" name="Rectangle 34"/>
          <p:cNvSpPr/>
          <p:nvPr/>
        </p:nvSpPr>
        <p:spPr>
          <a:xfrm>
            <a:off x="1835150" y="6237288"/>
            <a:ext cx="6083300" cy="4572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ctr" eaLnBrk="1" hangingPunct="1">
              <a:spcBef>
                <a:spcPct val="0"/>
              </a:spcBef>
              <a:buClrTx/>
              <a:buSzTx/>
              <a:buFont typeface="Arial" panose="020B0604020202020204" pitchFamily="34" charset="0"/>
              <a:buNone/>
            </a:pPr>
            <a:r>
              <a:rPr lang="zh-CN" altLang="en-US" sz="2400" dirty="0">
                <a:solidFill>
                  <a:schemeClr val="tx1"/>
                </a:solidFill>
                <a:latin typeface="Times New Roman" panose="02020603050405020304" pitchFamily="18" charset="0"/>
                <a:ea typeface="宋体" panose="02010600030101010101" pitchFamily="2" charset="-122"/>
              </a:rPr>
              <a:t>（</a:t>
            </a:r>
            <a:r>
              <a:rPr lang="en-US" altLang="zh-CN" sz="2400" dirty="0">
                <a:solidFill>
                  <a:schemeClr val="tx1"/>
                </a:solidFill>
                <a:latin typeface="Times New Roman" panose="02020603050405020304" pitchFamily="18" charset="0"/>
                <a:ea typeface="宋体" panose="02010600030101010101" pitchFamily="2" charset="-122"/>
              </a:rPr>
              <a:t>d</a:t>
            </a:r>
            <a:r>
              <a:rPr lang="zh-CN" altLang="en-US" sz="2400" dirty="0">
                <a:solidFill>
                  <a:schemeClr val="tx1"/>
                </a:solidFill>
                <a:latin typeface="Times New Roman" panose="02020603050405020304" pitchFamily="18" charset="0"/>
                <a:ea typeface="宋体" panose="02010600030101010101" pitchFamily="2" charset="-122"/>
              </a:rPr>
              <a:t>）</a:t>
            </a:r>
            <a:r>
              <a:rPr lang="en-US" altLang="zh-CN" sz="2400" dirty="0">
                <a:solidFill>
                  <a:schemeClr val="tx1"/>
                </a:solidFill>
                <a:latin typeface="Times New Roman" panose="02020603050405020304" pitchFamily="18" charset="0"/>
                <a:ea typeface="宋体" panose="02010600030101010101" pitchFamily="2" charset="-122"/>
              </a:rPr>
              <a:t>t</a:t>
            </a:r>
            <a:r>
              <a:rPr lang="zh-CN" altLang="en-US" sz="2400" dirty="0">
                <a:solidFill>
                  <a:schemeClr val="tx1"/>
                </a:solidFill>
                <a:latin typeface="Times New Roman" panose="02020603050405020304" pitchFamily="18" charset="0"/>
                <a:ea typeface="宋体" panose="02010600030101010101" pitchFamily="2" charset="-122"/>
              </a:rPr>
              <a:t>＝</a:t>
            </a:r>
            <a:r>
              <a:rPr lang="en-US" altLang="zh-CN" sz="2400" dirty="0">
                <a:solidFill>
                  <a:schemeClr val="tx1"/>
                </a:solidFill>
                <a:latin typeface="Times New Roman" panose="02020603050405020304" pitchFamily="18" charset="0"/>
                <a:ea typeface="宋体" panose="02010600030101010101" pitchFamily="2" charset="-122"/>
              </a:rPr>
              <a:t>0.6         </a:t>
            </a:r>
            <a:r>
              <a:rPr lang="zh-CN" altLang="en-US" sz="2400" dirty="0">
                <a:solidFill>
                  <a:schemeClr val="tx1"/>
                </a:solidFill>
                <a:latin typeface="Times New Roman" panose="02020603050405020304" pitchFamily="18" charset="0"/>
                <a:ea typeface="宋体" panose="02010600030101010101" pitchFamily="2" charset="-122"/>
              </a:rPr>
              <a:t>（</a:t>
            </a:r>
            <a:r>
              <a:rPr lang="en-US" altLang="zh-CN" sz="2400" dirty="0">
                <a:solidFill>
                  <a:schemeClr val="tx1"/>
                </a:solidFill>
                <a:latin typeface="Times New Roman" panose="02020603050405020304" pitchFamily="18" charset="0"/>
                <a:ea typeface="宋体" panose="02010600030101010101" pitchFamily="2" charset="-122"/>
              </a:rPr>
              <a:t>e</a:t>
            </a:r>
            <a:r>
              <a:rPr lang="zh-CN" altLang="en-US" sz="2400" dirty="0">
                <a:solidFill>
                  <a:schemeClr val="tx1"/>
                </a:solidFill>
                <a:latin typeface="Times New Roman" panose="02020603050405020304" pitchFamily="18" charset="0"/>
                <a:ea typeface="宋体" panose="02010600030101010101" pitchFamily="2" charset="-122"/>
              </a:rPr>
              <a:t>）</a:t>
            </a:r>
            <a:r>
              <a:rPr lang="en-US" altLang="zh-CN" sz="2400" dirty="0">
                <a:solidFill>
                  <a:schemeClr val="tx1"/>
                </a:solidFill>
                <a:latin typeface="Times New Roman" panose="02020603050405020304" pitchFamily="18" charset="0"/>
                <a:ea typeface="宋体" panose="02010600030101010101" pitchFamily="2" charset="-122"/>
              </a:rPr>
              <a:t>t</a:t>
            </a:r>
            <a:r>
              <a:rPr lang="zh-CN" altLang="en-US" sz="2400" dirty="0">
                <a:solidFill>
                  <a:schemeClr val="tx1"/>
                </a:solidFill>
                <a:latin typeface="Times New Roman" panose="02020603050405020304" pitchFamily="18" charset="0"/>
                <a:ea typeface="宋体" panose="02010600030101010101" pitchFamily="2" charset="-122"/>
              </a:rPr>
              <a:t>＝</a:t>
            </a:r>
            <a:r>
              <a:rPr lang="en-US" altLang="zh-CN" sz="2400" dirty="0">
                <a:solidFill>
                  <a:schemeClr val="tx1"/>
                </a:solidFill>
                <a:latin typeface="Times New Roman" panose="02020603050405020304" pitchFamily="18" charset="0"/>
                <a:ea typeface="宋体" panose="02010600030101010101" pitchFamily="2" charset="-122"/>
              </a:rPr>
              <a:t>0.8         </a:t>
            </a:r>
            <a:r>
              <a:rPr lang="zh-CN" altLang="en-US" sz="2400" dirty="0">
                <a:solidFill>
                  <a:schemeClr val="tx1"/>
                </a:solidFill>
                <a:latin typeface="Times New Roman" panose="02020603050405020304" pitchFamily="18" charset="0"/>
                <a:ea typeface="宋体" panose="02010600030101010101" pitchFamily="2" charset="-122"/>
              </a:rPr>
              <a:t>（</a:t>
            </a:r>
            <a:r>
              <a:rPr lang="en-US" altLang="zh-CN" sz="2400" dirty="0">
                <a:solidFill>
                  <a:schemeClr val="tx1"/>
                </a:solidFill>
                <a:latin typeface="Times New Roman" panose="02020603050405020304" pitchFamily="18" charset="0"/>
                <a:ea typeface="宋体" panose="02010600030101010101" pitchFamily="2" charset="-122"/>
              </a:rPr>
              <a:t>f</a:t>
            </a:r>
            <a:r>
              <a:rPr lang="zh-CN" altLang="en-US" sz="2400" dirty="0">
                <a:solidFill>
                  <a:schemeClr val="tx1"/>
                </a:solidFill>
                <a:latin typeface="Times New Roman" panose="02020603050405020304" pitchFamily="18" charset="0"/>
                <a:ea typeface="宋体" panose="02010600030101010101" pitchFamily="2" charset="-122"/>
              </a:rPr>
              <a:t>）</a:t>
            </a:r>
            <a:r>
              <a:rPr lang="en-US" altLang="zh-CN" sz="2400" dirty="0">
                <a:solidFill>
                  <a:schemeClr val="tx1"/>
                </a:solidFill>
                <a:latin typeface="Times New Roman" panose="02020603050405020304" pitchFamily="18" charset="0"/>
                <a:ea typeface="宋体" panose="02010600030101010101" pitchFamily="2" charset="-122"/>
              </a:rPr>
              <a:t>t</a:t>
            </a:r>
            <a:r>
              <a:rPr lang="zh-CN" altLang="en-US" sz="2400" dirty="0">
                <a:solidFill>
                  <a:schemeClr val="tx1"/>
                </a:solidFill>
                <a:latin typeface="Times New Roman" panose="02020603050405020304" pitchFamily="18" charset="0"/>
                <a:ea typeface="宋体" panose="02010600030101010101" pitchFamily="2" charset="-122"/>
              </a:rPr>
              <a:t>＝</a:t>
            </a:r>
            <a:r>
              <a:rPr lang="en-US" altLang="zh-CN" sz="2400" dirty="0">
                <a:solidFill>
                  <a:schemeClr val="tx1"/>
                </a:solidFill>
                <a:latin typeface="Times New Roman" panose="02020603050405020304" pitchFamily="18" charset="0"/>
                <a:ea typeface="宋体" panose="02010600030101010101" pitchFamily="2" charset="-122"/>
              </a:rPr>
              <a:t>1.0</a:t>
            </a:r>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95250" name="Text Box 35">
            <a:hlinkClick r:id="rId9" action="ppaction://hlinkfile"/>
          </p:cNvPr>
          <p:cNvSpPr txBox="1"/>
          <p:nvPr/>
        </p:nvSpPr>
        <p:spPr>
          <a:xfrm>
            <a:off x="8316913" y="4005263"/>
            <a:ext cx="503237" cy="822325"/>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50000"/>
              </a:spcBef>
              <a:buClrTx/>
              <a:buSzTx/>
              <a:buFont typeface="Arial" panose="020B0604020202020204" pitchFamily="34" charset="0"/>
              <a:buNone/>
            </a:pPr>
            <a:r>
              <a:rPr lang="zh-CN" altLang="en-US" sz="2400" dirty="0">
                <a:solidFill>
                  <a:schemeClr val="tx1"/>
                </a:solidFill>
              </a:rPr>
              <a:t>演示</a:t>
            </a:r>
            <a:endParaRPr lang="zh-CN" altLang="en-US" sz="2400" dirty="0">
              <a:solidFill>
                <a:schemeClr val="tx1"/>
              </a:solidFill>
            </a:endParaRPr>
          </a:p>
        </p:txBody>
      </p:sp>
    </p:spTree>
  </p:cSld>
  <p:clrMapOvr>
    <a:masterClrMapping/>
  </p:clrMapOvr>
  <p:transition spd="me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5"/>
          <p:cNvSpPr/>
          <p:nvPr/>
        </p:nvSpPr>
        <p:spPr>
          <a:xfrm>
            <a:off x="1331913" y="549275"/>
            <a:ext cx="7199312" cy="228282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defTabSz="914400" eaLnBrk="1" hangingPunct="1">
              <a:spcBef>
                <a:spcPct val="0"/>
              </a:spcBef>
              <a:buClr>
                <a:srgbClr val="004E00"/>
              </a:buClr>
              <a:tabLst>
                <a:tab pos="227330" algn="l"/>
              </a:tabLst>
            </a:pPr>
            <a:r>
              <a:rPr lang="zh-CN" altLang="en-US" sz="2400" dirty="0">
                <a:solidFill>
                  <a:schemeClr val="tx1"/>
                </a:solidFill>
                <a:latin typeface="楷体_GB2312" pitchFamily="49" charset="-122"/>
              </a:rPr>
              <a:t>下图是一幅笔者制作的三维立体画，里面写有文字。请把图片上方的两个黑点作为目标，用稍微模糊的视线越过三维画面眺望远方，就会从两个点各自分离出另外两个点成为</a:t>
            </a:r>
            <a:r>
              <a:rPr lang="en-US" altLang="zh-CN" sz="2400" dirty="0">
                <a:solidFill>
                  <a:schemeClr val="tx1"/>
                </a:solidFill>
                <a:latin typeface="楷体_GB2312" pitchFamily="49" charset="-122"/>
              </a:rPr>
              <a:t>4</a:t>
            </a:r>
            <a:r>
              <a:rPr lang="zh-CN" altLang="en-US" sz="2400" dirty="0">
                <a:solidFill>
                  <a:schemeClr val="tx1"/>
                </a:solidFill>
                <a:latin typeface="楷体_GB2312" pitchFamily="49" charset="-122"/>
              </a:rPr>
              <a:t>个点，调整视线将里面的两个点合并为一个点，也即当</a:t>
            </a:r>
            <a:r>
              <a:rPr lang="en-US" altLang="zh-CN" sz="2400" dirty="0">
                <a:solidFill>
                  <a:schemeClr val="tx1"/>
                </a:solidFill>
                <a:latin typeface="楷体_GB2312" pitchFamily="49" charset="-122"/>
              </a:rPr>
              <a:t>4</a:t>
            </a:r>
            <a:r>
              <a:rPr lang="zh-CN" altLang="en-US" sz="2400" dirty="0">
                <a:solidFill>
                  <a:schemeClr val="tx1"/>
                </a:solidFill>
                <a:latin typeface="楷体_GB2312" pitchFamily="49" charset="-122"/>
              </a:rPr>
              <a:t>个点变为</a:t>
            </a:r>
            <a:r>
              <a:rPr lang="en-US" altLang="zh-CN" sz="2400" dirty="0">
                <a:solidFill>
                  <a:schemeClr val="tx1"/>
                </a:solidFill>
                <a:latin typeface="楷体_GB2312" pitchFamily="49" charset="-122"/>
              </a:rPr>
              <a:t>3</a:t>
            </a:r>
            <a:r>
              <a:rPr lang="zh-CN" altLang="en-US" sz="2400" dirty="0">
                <a:solidFill>
                  <a:schemeClr val="tx1"/>
                </a:solidFill>
                <a:latin typeface="楷体_GB2312" pitchFamily="49" charset="-122"/>
              </a:rPr>
              <a:t>个点时，就能看到立体图像。请问，图片中写有什么文字？</a:t>
            </a:r>
            <a:endParaRPr lang="zh-CN" altLang="en-US" sz="2400" dirty="0">
              <a:solidFill>
                <a:schemeClr val="tx1"/>
              </a:solidFill>
              <a:latin typeface="楷体_GB2312" pitchFamily="49" charset="-122"/>
            </a:endParaRPr>
          </a:p>
        </p:txBody>
      </p:sp>
      <p:pic>
        <p:nvPicPr>
          <p:cNvPr id="96259" name="Picture 4" descr="未标题-3 拷贝"/>
          <p:cNvPicPr>
            <a:picLocks noChangeAspect="1"/>
          </p:cNvPicPr>
          <p:nvPr/>
        </p:nvPicPr>
        <p:blipFill>
          <a:blip r:embed="rId1"/>
          <a:stretch>
            <a:fillRect/>
          </a:stretch>
        </p:blipFill>
        <p:spPr>
          <a:xfrm>
            <a:off x="2843213" y="2924175"/>
            <a:ext cx="4537075" cy="3690938"/>
          </a:xfrm>
          <a:prstGeom prst="rect">
            <a:avLst/>
          </a:prstGeom>
          <a:noFill/>
          <a:ln w="9525">
            <a:noFill/>
          </a:ln>
        </p:spPr>
      </p:pic>
      <p:sp>
        <p:nvSpPr>
          <p:cNvPr id="96260" name="Rectangle 6"/>
          <p:cNvSpPr/>
          <p:nvPr/>
        </p:nvSpPr>
        <p:spPr>
          <a:xfrm>
            <a:off x="-3175" y="4940300"/>
            <a:ext cx="1209675" cy="244475"/>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algn="ctr" eaLnBrk="1" hangingPunct="1">
              <a:spcBef>
                <a:spcPct val="0"/>
              </a:spcBef>
              <a:buClrTx/>
              <a:buSzTx/>
              <a:buFont typeface="Arial" panose="020B0604020202020204" pitchFamily="34" charset="0"/>
              <a:buNone/>
            </a:pPr>
            <a:r>
              <a:rPr lang="zh-CN" altLang="en-US" sz="1000" dirty="0">
                <a:solidFill>
                  <a:schemeClr val="tx1"/>
                </a:solidFill>
                <a:latin typeface="Times New Roman" panose="02020603050405020304" pitchFamily="18" charset="0"/>
                <a:ea typeface="宋体" panose="02010600030101010101" pitchFamily="2" charset="-122"/>
              </a:rPr>
              <a:t>图</a:t>
            </a:r>
            <a:r>
              <a:rPr lang="en-US" altLang="zh-CN" sz="1000" dirty="0">
                <a:solidFill>
                  <a:schemeClr val="tx1"/>
                </a:solidFill>
                <a:latin typeface="Times New Roman" panose="02020603050405020304" pitchFamily="18" charset="0"/>
                <a:ea typeface="宋体" panose="02010600030101010101" pitchFamily="2" charset="-122"/>
              </a:rPr>
              <a:t>1-48 </a:t>
            </a:r>
            <a:r>
              <a:rPr lang="zh-CN" altLang="en-US" sz="1000" dirty="0">
                <a:solidFill>
                  <a:schemeClr val="tx1"/>
                </a:solidFill>
                <a:latin typeface="Times New Roman" panose="02020603050405020304" pitchFamily="18" charset="0"/>
                <a:ea typeface="宋体" panose="02010600030101010101" pitchFamily="2" charset="-122"/>
              </a:rPr>
              <a:t>三维立体画</a:t>
            </a:r>
            <a:endParaRPr lang="zh-CN" altLang="en-US" sz="2400" dirty="0">
              <a:solidFill>
                <a:schemeClr val="tx1"/>
              </a:solidFill>
              <a:latin typeface="Arial" panose="020B0604020202020204" pitchFamily="34" charset="0"/>
              <a:ea typeface="宋体" panose="02010600030101010101" pitchFamily="2" charset="-122"/>
            </a:endParaRPr>
          </a:p>
        </p:txBody>
      </p:sp>
    </p:spTree>
  </p:cSld>
  <p:clrMapOvr>
    <a:masterClrMapping/>
  </p:clrMapOvr>
  <p:transition spd="me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5"/>
          <p:cNvSpPr/>
          <p:nvPr/>
        </p:nvSpPr>
        <p:spPr>
          <a:xfrm>
            <a:off x="1258888" y="266700"/>
            <a:ext cx="7634287" cy="1187450"/>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defTabSz="914400" eaLnBrk="1" hangingPunct="1">
              <a:spcBef>
                <a:spcPct val="0"/>
              </a:spcBef>
              <a:buClr>
                <a:srgbClr val="004E00"/>
              </a:buClr>
              <a:tabLst>
                <a:tab pos="227330" algn="l"/>
              </a:tabLst>
            </a:pPr>
            <a:r>
              <a:rPr lang="zh-CN" altLang="en-US" sz="2400" dirty="0">
                <a:solidFill>
                  <a:schemeClr val="tx1"/>
                </a:solidFill>
                <a:latin typeface="楷体_GB2312" pitchFamily="49" charset="-122"/>
              </a:rPr>
              <a:t>下图是使用记事本软件制作的一幅</a:t>
            </a:r>
            <a:r>
              <a:rPr lang="zh-CN" altLang="en-US" sz="2400" dirty="0">
                <a:solidFill>
                  <a:schemeClr val="tx1"/>
                </a:solidFill>
                <a:latin typeface="Times New Roman" panose="02020603050405020304" pitchFamily="18" charset="0"/>
              </a:rPr>
              <a:t>“</a:t>
            </a:r>
            <a:r>
              <a:rPr lang="zh-CN" altLang="en-US" sz="2400" dirty="0">
                <a:solidFill>
                  <a:schemeClr val="tx1"/>
                </a:solidFill>
                <a:latin typeface="楷体_GB2312" pitchFamily="49" charset="-122"/>
              </a:rPr>
              <a:t>桃心</a:t>
            </a:r>
            <a:r>
              <a:rPr lang="zh-CN" altLang="en-US" sz="2400" dirty="0">
                <a:solidFill>
                  <a:schemeClr val="tx1"/>
                </a:solidFill>
                <a:latin typeface="Times New Roman" panose="02020603050405020304" pitchFamily="18" charset="0"/>
              </a:rPr>
              <a:t>”</a:t>
            </a:r>
            <a:r>
              <a:rPr lang="zh-CN" altLang="en-US" sz="2400" dirty="0">
                <a:solidFill>
                  <a:schemeClr val="tx1"/>
                </a:solidFill>
                <a:latin typeface="楷体_GB2312" pitchFamily="49" charset="-122"/>
              </a:rPr>
              <a:t>文本三维立体画。根据视差原理排列</a:t>
            </a:r>
            <a:r>
              <a:rPr lang="en-US" altLang="zh-CN" sz="2400" dirty="0">
                <a:solidFill>
                  <a:schemeClr val="tx1"/>
                </a:solidFill>
                <a:latin typeface="楷体_GB2312" pitchFamily="49" charset="-122"/>
              </a:rPr>
              <a:t>A</a:t>
            </a:r>
            <a:r>
              <a:rPr lang="zh-CN" altLang="en-US" sz="2400" dirty="0">
                <a:solidFill>
                  <a:schemeClr val="tx1"/>
                </a:solidFill>
                <a:latin typeface="楷体_GB2312" pitchFamily="49" charset="-122"/>
              </a:rPr>
              <a:t>～</a:t>
            </a:r>
            <a:r>
              <a:rPr lang="en-US" altLang="zh-CN" sz="2400" dirty="0">
                <a:solidFill>
                  <a:schemeClr val="tx1"/>
                </a:solidFill>
                <a:latin typeface="楷体_GB2312" pitchFamily="49" charset="-122"/>
              </a:rPr>
              <a:t>P</a:t>
            </a:r>
            <a:r>
              <a:rPr lang="zh-CN" altLang="en-US" sz="2400" dirty="0">
                <a:solidFill>
                  <a:schemeClr val="tx1"/>
                </a:solidFill>
                <a:latin typeface="楷体_GB2312" pitchFamily="49" charset="-122"/>
              </a:rPr>
              <a:t>大写英文字母也可以制作出三维立体画，你能看到立体画中的</a:t>
            </a:r>
            <a:r>
              <a:rPr lang="zh-CN" altLang="en-US" sz="2400" dirty="0">
                <a:solidFill>
                  <a:schemeClr val="tx1"/>
                </a:solidFill>
                <a:latin typeface="Times New Roman" panose="02020603050405020304" pitchFamily="18" charset="0"/>
              </a:rPr>
              <a:t>“</a:t>
            </a:r>
            <a:r>
              <a:rPr lang="zh-CN" altLang="en-US" sz="2400" dirty="0">
                <a:solidFill>
                  <a:schemeClr val="tx1"/>
                </a:solidFill>
                <a:latin typeface="楷体_GB2312" pitchFamily="49" charset="-122"/>
              </a:rPr>
              <a:t>桃心</a:t>
            </a:r>
            <a:r>
              <a:rPr lang="zh-CN" altLang="en-US" sz="2400" dirty="0">
                <a:solidFill>
                  <a:schemeClr val="tx1"/>
                </a:solidFill>
                <a:latin typeface="Times New Roman" panose="02020603050405020304" pitchFamily="18" charset="0"/>
              </a:rPr>
              <a:t>”</a:t>
            </a:r>
            <a:r>
              <a:rPr lang="zh-CN" altLang="en-US" sz="2400" dirty="0">
                <a:solidFill>
                  <a:schemeClr val="tx1"/>
                </a:solidFill>
                <a:latin typeface="楷体_GB2312" pitchFamily="49" charset="-122"/>
              </a:rPr>
              <a:t>么？</a:t>
            </a:r>
            <a:endParaRPr lang="zh-CN" altLang="en-US" sz="2400" dirty="0">
              <a:solidFill>
                <a:schemeClr val="tx1"/>
              </a:solidFill>
              <a:latin typeface="楷体_GB2312" pitchFamily="49" charset="-122"/>
            </a:endParaRPr>
          </a:p>
        </p:txBody>
      </p:sp>
      <p:pic>
        <p:nvPicPr>
          <p:cNvPr id="97283" name="Picture 4"/>
          <p:cNvPicPr>
            <a:picLocks noChangeAspect="1"/>
          </p:cNvPicPr>
          <p:nvPr/>
        </p:nvPicPr>
        <p:blipFill>
          <a:blip r:embed="rId1"/>
          <a:stretch>
            <a:fillRect/>
          </a:stretch>
        </p:blipFill>
        <p:spPr>
          <a:xfrm>
            <a:off x="2124075" y="1700213"/>
            <a:ext cx="5903913" cy="4200525"/>
          </a:xfrm>
          <a:prstGeom prst="rect">
            <a:avLst/>
          </a:prstGeom>
          <a:noFill/>
          <a:ln w="9525">
            <a:noFill/>
          </a:ln>
        </p:spPr>
      </p:pic>
      <p:sp>
        <p:nvSpPr>
          <p:cNvPr id="97284" name="Rectangle 6"/>
          <p:cNvSpPr/>
          <p:nvPr/>
        </p:nvSpPr>
        <p:spPr>
          <a:xfrm>
            <a:off x="3059113" y="6165850"/>
            <a:ext cx="2927350" cy="4572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262255" eaLnBrk="1" hangingPunct="1">
              <a:spcBef>
                <a:spcPct val="0"/>
              </a:spcBef>
              <a:buClrTx/>
              <a:buSzTx/>
              <a:buFont typeface="Arial" panose="020B0604020202020204" pitchFamily="34" charset="0"/>
              <a:buNone/>
            </a:pPr>
            <a:r>
              <a:rPr lang="en-US" altLang="zh-CN" sz="2400" dirty="0">
                <a:solidFill>
                  <a:schemeClr val="tx1"/>
                </a:solidFill>
                <a:latin typeface="楷体_GB2312" pitchFamily="49" charset="-122"/>
              </a:rPr>
              <a:t> </a:t>
            </a:r>
            <a:r>
              <a:rPr lang="zh-CN" altLang="en-US" sz="2400" dirty="0">
                <a:solidFill>
                  <a:schemeClr val="tx1"/>
                </a:solidFill>
                <a:latin typeface="楷体_GB2312" pitchFamily="49" charset="-122"/>
              </a:rPr>
              <a:t>文本三维立体画</a:t>
            </a:r>
            <a:r>
              <a:rPr lang="zh-CN" altLang="en-US" sz="1000" dirty="0">
                <a:solidFill>
                  <a:schemeClr val="tx1"/>
                </a:solidFill>
                <a:latin typeface="Times New Roman" panose="02020603050405020304" pitchFamily="18" charset="0"/>
              </a:rPr>
              <a:t>	</a:t>
            </a:r>
            <a:endParaRPr lang="zh-CN" altLang="en-US" sz="2400" dirty="0">
              <a:solidFill>
                <a:schemeClr val="tx1"/>
              </a:solidFill>
              <a:latin typeface="Arial" panose="020B0604020202020204" pitchFamily="34" charset="0"/>
            </a:endParaRPr>
          </a:p>
        </p:txBody>
      </p:sp>
    </p:spTree>
  </p:cSld>
  <p:clrMapOvr>
    <a:masterClrMapping/>
  </p:clrMapOvr>
  <p:transition spd="me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1378" name="Picture 4" descr="未命名"/>
          <p:cNvPicPr>
            <a:picLocks noChangeAspect="1"/>
          </p:cNvPicPr>
          <p:nvPr/>
        </p:nvPicPr>
        <p:blipFill>
          <a:blip r:embed="rId1"/>
          <a:stretch>
            <a:fillRect/>
          </a:stretch>
        </p:blipFill>
        <p:spPr>
          <a:xfrm>
            <a:off x="2195513" y="1628775"/>
            <a:ext cx="5832475" cy="4402138"/>
          </a:xfrm>
          <a:prstGeom prst="rect">
            <a:avLst/>
          </a:prstGeom>
          <a:noFill/>
          <a:ln w="9525">
            <a:noFill/>
          </a:ln>
        </p:spPr>
      </p:pic>
      <p:pic>
        <p:nvPicPr>
          <p:cNvPr id="101379" name="Picture 5"/>
          <p:cNvPicPr>
            <a:picLocks noChangeAspect="1"/>
          </p:cNvPicPr>
          <p:nvPr/>
        </p:nvPicPr>
        <p:blipFill>
          <a:blip r:embed="rId2"/>
          <a:stretch>
            <a:fillRect/>
          </a:stretch>
        </p:blipFill>
        <p:spPr>
          <a:xfrm>
            <a:off x="2195513" y="1628775"/>
            <a:ext cx="5976937" cy="4327525"/>
          </a:xfrm>
          <a:prstGeom prst="rect">
            <a:avLst/>
          </a:prstGeom>
          <a:noFill/>
          <a:ln w="9525">
            <a:noFill/>
          </a:ln>
        </p:spPr>
      </p:pic>
      <p:sp>
        <p:nvSpPr>
          <p:cNvPr id="98308" name="Rectangle 6"/>
          <p:cNvSpPr/>
          <p:nvPr/>
        </p:nvSpPr>
        <p:spPr>
          <a:xfrm>
            <a:off x="1331913" y="333375"/>
            <a:ext cx="6985000" cy="1187450"/>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cs typeface="+mn-cs"/>
              </a:defRPr>
            </a:lvl1pPr>
            <a:lvl2pPr marL="742950" indent="-285750" algn="l" rtl="0" eaLnBrk="0" fontAlgn="base" hangingPunct="0">
              <a:spcBef>
                <a:spcPct val="20000"/>
              </a:spcBef>
              <a:spcAft>
                <a:spcPct val="0"/>
              </a:spcAft>
              <a:buClr>
                <a:srgbClr val="336600"/>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rgbClr val="336600"/>
              </a:buClr>
              <a:buSzPct val="60000"/>
              <a:buFont typeface="Wingdings" panose="05000000000000000000" pitchFamily="2" charset="2"/>
              <a:buChar char="n"/>
              <a:defRPr sz="2800">
                <a:solidFill>
                  <a:srgbClr val="A50021"/>
                </a:solidFill>
                <a:latin typeface="+mn-lt"/>
                <a:ea typeface="+mn-ea"/>
              </a:defRPr>
            </a:lvl3pPr>
            <a:lvl4pPr marL="16002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4pPr>
            <a:lvl5pPr marL="2057400" indent="-228600" algn="l" rtl="0" eaLnBrk="0" fontAlgn="base" hangingPunct="0">
              <a:spcBef>
                <a:spcPct val="20000"/>
              </a:spcBef>
              <a:spcAft>
                <a:spcPct val="0"/>
              </a:spcAft>
              <a:buClr>
                <a:srgbClr val="336600"/>
              </a:buClr>
              <a:buSzPct val="60000"/>
              <a:buFont typeface="Wingdings" panose="05000000000000000000" pitchFamily="2" charset="2"/>
              <a:buChar char="n"/>
              <a:defRPr sz="2000">
                <a:solidFill>
                  <a:srgbClr val="A50021"/>
                </a:solidFill>
                <a:latin typeface="+mn-lt"/>
                <a:ea typeface="+mn-ea"/>
              </a:defRPr>
            </a:lvl5pPr>
          </a:lstStyle>
          <a:p>
            <a:pPr marL="0" lvl="0" indent="0" eaLnBrk="1" hangingPunct="1">
              <a:spcBef>
                <a:spcPct val="0"/>
              </a:spcBef>
              <a:buClr>
                <a:srgbClr val="004E00"/>
              </a:buClr>
            </a:pPr>
            <a:r>
              <a:rPr lang="zh-CN" altLang="en-US" sz="2400" dirty="0">
                <a:solidFill>
                  <a:schemeClr val="tx1"/>
                </a:solidFill>
                <a:latin typeface="楷体_GB2312" pitchFamily="49" charset="-122"/>
              </a:rPr>
              <a:t>图</a:t>
            </a:r>
            <a:r>
              <a:rPr lang="en-US" altLang="zh-CN" sz="2400" dirty="0">
                <a:solidFill>
                  <a:schemeClr val="tx1"/>
                </a:solidFill>
                <a:latin typeface="楷体_GB2312" pitchFamily="49" charset="-122"/>
              </a:rPr>
              <a:t>1-50</a:t>
            </a:r>
            <a:r>
              <a:rPr lang="zh-CN" altLang="en-US" sz="2400" dirty="0">
                <a:solidFill>
                  <a:schemeClr val="tx1"/>
                </a:solidFill>
                <a:latin typeface="楷体_GB2312" pitchFamily="49" charset="-122"/>
              </a:rPr>
              <a:t>是一个字符数组，其中的</a:t>
            </a:r>
            <a:r>
              <a:rPr lang="en-US" altLang="zh-CN" sz="2400" dirty="0">
                <a:solidFill>
                  <a:schemeClr val="tx1"/>
                </a:solidFill>
                <a:latin typeface="楷体_GB2312" pitchFamily="49" charset="-122"/>
              </a:rPr>
              <a:t>1~9</a:t>
            </a:r>
            <a:r>
              <a:rPr lang="zh-CN" altLang="en-US" sz="2400" dirty="0">
                <a:solidFill>
                  <a:schemeClr val="tx1"/>
                </a:solidFill>
                <a:latin typeface="楷体_GB2312" pitchFamily="49" charset="-122"/>
              </a:rPr>
              <a:t>代表不同的深度，</a:t>
            </a:r>
            <a:r>
              <a:rPr lang="zh-CN" altLang="en-US" sz="2400" dirty="0">
                <a:solidFill>
                  <a:schemeClr val="tx1"/>
                </a:solidFill>
                <a:latin typeface="Times New Roman" panose="02020603050405020304" pitchFamily="18" charset="0"/>
              </a:rPr>
              <a:t>“</a:t>
            </a:r>
            <a:r>
              <a:rPr lang="en-US" altLang="zh-CN" sz="2400" dirty="0">
                <a:solidFill>
                  <a:schemeClr val="tx1"/>
                </a:solidFill>
                <a:latin typeface="楷体_GB2312" pitchFamily="49" charset="-122"/>
              </a:rPr>
              <a:t>1</a:t>
            </a:r>
            <a:r>
              <a:rPr lang="en-US" altLang="zh-CN" sz="2400" dirty="0">
                <a:solidFill>
                  <a:schemeClr val="tx1"/>
                </a:solidFill>
                <a:latin typeface="Times New Roman" panose="02020603050405020304" pitchFamily="18" charset="0"/>
              </a:rPr>
              <a:t>”</a:t>
            </a:r>
            <a:r>
              <a:rPr lang="zh-CN" altLang="en-US" sz="2400" dirty="0">
                <a:solidFill>
                  <a:schemeClr val="tx1"/>
                </a:solidFill>
                <a:latin typeface="楷体_GB2312" pitchFamily="49" charset="-122"/>
              </a:rPr>
              <a:t>代表最大深度，</a:t>
            </a:r>
            <a:r>
              <a:rPr lang="zh-CN" altLang="en-US" sz="2400" dirty="0">
                <a:solidFill>
                  <a:schemeClr val="tx1"/>
                </a:solidFill>
                <a:latin typeface="Times New Roman" panose="02020603050405020304" pitchFamily="18" charset="0"/>
              </a:rPr>
              <a:t>“</a:t>
            </a:r>
            <a:r>
              <a:rPr lang="en-US" altLang="zh-CN" sz="2400" dirty="0">
                <a:solidFill>
                  <a:schemeClr val="tx1"/>
                </a:solidFill>
                <a:latin typeface="楷体_GB2312" pitchFamily="49" charset="-122"/>
              </a:rPr>
              <a:t>9</a:t>
            </a:r>
            <a:r>
              <a:rPr lang="en-US" altLang="zh-CN" sz="2400" dirty="0">
                <a:solidFill>
                  <a:schemeClr val="tx1"/>
                </a:solidFill>
                <a:latin typeface="Times New Roman" panose="02020603050405020304" pitchFamily="18" charset="0"/>
              </a:rPr>
              <a:t>”</a:t>
            </a:r>
            <a:r>
              <a:rPr lang="zh-CN" altLang="en-US" sz="2400" dirty="0">
                <a:solidFill>
                  <a:schemeClr val="tx1"/>
                </a:solidFill>
                <a:latin typeface="楷体_GB2312" pitchFamily="49" charset="-122"/>
              </a:rPr>
              <a:t>代表最小深度。使用随机字符绘制三维立体画，结果为一个深邃的四棱台。 </a:t>
            </a:r>
            <a:endParaRPr lang="zh-CN" altLang="en-US" sz="2400" dirty="0">
              <a:solidFill>
                <a:schemeClr val="tx1"/>
              </a:solidFill>
              <a:latin typeface="楷体_GB2312" pitchFamily="49"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13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13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oa_9_p2">
  <a:themeElements>
    <a:clrScheme name="1_oa_9_p2 14">
      <a:dk1>
        <a:srgbClr val="000000"/>
      </a:dk1>
      <a:lt1>
        <a:srgbClr val="3399FF"/>
      </a:lt1>
      <a:dk2>
        <a:srgbClr val="333399"/>
      </a:dk2>
      <a:lt2>
        <a:srgbClr val="1C1C1C"/>
      </a:lt2>
      <a:accent1>
        <a:srgbClr val="00E4A8"/>
      </a:accent1>
      <a:accent2>
        <a:srgbClr val="FFCF01"/>
      </a:accent2>
      <a:accent3>
        <a:srgbClr val="ADCAFF"/>
      </a:accent3>
      <a:accent4>
        <a:srgbClr val="000000"/>
      </a:accent4>
      <a:accent5>
        <a:srgbClr val="AAEFD1"/>
      </a:accent5>
      <a:accent6>
        <a:srgbClr val="E7BB01"/>
      </a:accent6>
      <a:hlink>
        <a:srgbClr val="3333FF"/>
      </a:hlink>
      <a:folHlink>
        <a:srgbClr val="660033"/>
      </a:folHlink>
    </a:clrScheme>
    <a:fontScheme name="1_oa_9_p2">
      <a:majorFont>
        <a:latin typeface="Tahoma"/>
        <a:ea typeface="宋体"/>
        <a:cs typeface=""/>
      </a:majorFont>
      <a:minorFont>
        <a:latin typeface="Tahoma"/>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32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32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1_oa_9_p2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1_oa_9_p2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1_oa_9_p2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1_oa_9_p2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1_oa_9_p2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1_oa_9_p2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1_oa_9_p2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1_oa_9_p2 8">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0066FF"/>
        </a:hlink>
        <a:folHlink>
          <a:srgbClr val="00FF99"/>
        </a:folHlink>
      </a:clrScheme>
      <a:clrMap bg1="lt1" tx1="dk1" bg2="lt2" tx2="dk2" accent1="accent1" accent2="accent2" accent3="accent3" accent4="accent4" accent5="accent5" accent6="accent6" hlink="hlink" folHlink="folHlink"/>
    </a:extraClrScheme>
    <a:extraClrScheme>
      <a:clrScheme name="1_oa_9_p2 9">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3300"/>
        </a:hlink>
        <a:folHlink>
          <a:srgbClr val="00FF99"/>
        </a:folHlink>
      </a:clrScheme>
      <a:clrMap bg1="lt1" tx1="dk1" bg2="lt2" tx2="dk2" accent1="accent1" accent2="accent2" accent3="accent3" accent4="accent4" accent5="accent5" accent6="accent6" hlink="hlink" folHlink="folHlink"/>
    </a:extraClrScheme>
    <a:extraClrScheme>
      <a:clrScheme name="1_oa_9_p2 10">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006600"/>
        </a:hlink>
        <a:folHlink>
          <a:srgbClr val="00FF99"/>
        </a:folHlink>
      </a:clrScheme>
      <a:clrMap bg1="lt1" tx1="dk1" bg2="lt2" tx2="dk2" accent1="accent1" accent2="accent2" accent3="accent3" accent4="accent4" accent5="accent5" accent6="accent6" hlink="hlink" folHlink="folHlink"/>
    </a:extraClrScheme>
    <a:extraClrScheme>
      <a:clrScheme name="1_oa_9_p2 11">
        <a:dk1>
          <a:srgbClr val="000000"/>
        </a:dk1>
        <a:lt1>
          <a:srgbClr val="3399FF"/>
        </a:lt1>
        <a:dk2>
          <a:srgbClr val="333399"/>
        </a:dk2>
        <a:lt2>
          <a:srgbClr val="1C1C1C"/>
        </a:lt2>
        <a:accent1>
          <a:srgbClr val="00E4A8"/>
        </a:accent1>
        <a:accent2>
          <a:srgbClr val="FFCF01"/>
        </a:accent2>
        <a:accent3>
          <a:srgbClr val="ADCAFF"/>
        </a:accent3>
        <a:accent4>
          <a:srgbClr val="000000"/>
        </a:accent4>
        <a:accent5>
          <a:srgbClr val="AAEFD1"/>
        </a:accent5>
        <a:accent6>
          <a:srgbClr val="E7BB01"/>
        </a:accent6>
        <a:hlink>
          <a:srgbClr val="006600"/>
        </a:hlink>
        <a:folHlink>
          <a:srgbClr val="00FF99"/>
        </a:folHlink>
      </a:clrScheme>
      <a:clrMap bg1="lt1" tx1="dk1" bg2="lt2" tx2="dk2" accent1="accent1" accent2="accent2" accent3="accent3" accent4="accent4" accent5="accent5" accent6="accent6" hlink="hlink" folHlink="folHlink"/>
    </a:extraClrScheme>
    <a:extraClrScheme>
      <a:clrScheme name="1_oa_9_p2 12">
        <a:dk1>
          <a:srgbClr val="000000"/>
        </a:dk1>
        <a:lt1>
          <a:srgbClr val="3399FF"/>
        </a:lt1>
        <a:dk2>
          <a:srgbClr val="333399"/>
        </a:dk2>
        <a:lt2>
          <a:srgbClr val="1C1C1C"/>
        </a:lt2>
        <a:accent1>
          <a:srgbClr val="00E4A8"/>
        </a:accent1>
        <a:accent2>
          <a:srgbClr val="FFCF01"/>
        </a:accent2>
        <a:accent3>
          <a:srgbClr val="ADCAFF"/>
        </a:accent3>
        <a:accent4>
          <a:srgbClr val="000000"/>
        </a:accent4>
        <a:accent5>
          <a:srgbClr val="AAEFD1"/>
        </a:accent5>
        <a:accent6>
          <a:srgbClr val="E7BB01"/>
        </a:accent6>
        <a:hlink>
          <a:srgbClr val="800080"/>
        </a:hlink>
        <a:folHlink>
          <a:srgbClr val="00FF99"/>
        </a:folHlink>
      </a:clrScheme>
      <a:clrMap bg1="lt1" tx1="dk1" bg2="lt2" tx2="dk2" accent1="accent1" accent2="accent2" accent3="accent3" accent4="accent4" accent5="accent5" accent6="accent6" hlink="hlink" folHlink="folHlink"/>
    </a:extraClrScheme>
    <a:extraClrScheme>
      <a:clrScheme name="1_oa_9_p2 13">
        <a:dk1>
          <a:srgbClr val="000000"/>
        </a:dk1>
        <a:lt1>
          <a:srgbClr val="3399FF"/>
        </a:lt1>
        <a:dk2>
          <a:srgbClr val="333399"/>
        </a:dk2>
        <a:lt2>
          <a:srgbClr val="1C1C1C"/>
        </a:lt2>
        <a:accent1>
          <a:srgbClr val="00E4A8"/>
        </a:accent1>
        <a:accent2>
          <a:srgbClr val="FFCF01"/>
        </a:accent2>
        <a:accent3>
          <a:srgbClr val="ADCAFF"/>
        </a:accent3>
        <a:accent4>
          <a:srgbClr val="000000"/>
        </a:accent4>
        <a:accent5>
          <a:srgbClr val="AAEFD1"/>
        </a:accent5>
        <a:accent6>
          <a:srgbClr val="E7BB01"/>
        </a:accent6>
        <a:hlink>
          <a:srgbClr val="800080"/>
        </a:hlink>
        <a:folHlink>
          <a:srgbClr val="660033"/>
        </a:folHlink>
      </a:clrScheme>
      <a:clrMap bg1="lt1" tx1="dk1" bg2="lt2" tx2="dk2" accent1="accent1" accent2="accent2" accent3="accent3" accent4="accent4" accent5="accent5" accent6="accent6" hlink="hlink" folHlink="folHlink"/>
    </a:extraClrScheme>
    <a:extraClrScheme>
      <a:clrScheme name="1_oa_9_p2 14">
        <a:dk1>
          <a:srgbClr val="000000"/>
        </a:dk1>
        <a:lt1>
          <a:srgbClr val="3399FF"/>
        </a:lt1>
        <a:dk2>
          <a:srgbClr val="333399"/>
        </a:dk2>
        <a:lt2>
          <a:srgbClr val="1C1C1C"/>
        </a:lt2>
        <a:accent1>
          <a:srgbClr val="00E4A8"/>
        </a:accent1>
        <a:accent2>
          <a:srgbClr val="FFCF01"/>
        </a:accent2>
        <a:accent3>
          <a:srgbClr val="ADCAFF"/>
        </a:accent3>
        <a:accent4>
          <a:srgbClr val="000000"/>
        </a:accent4>
        <a:accent5>
          <a:srgbClr val="AAEFD1"/>
        </a:accent5>
        <a:accent6>
          <a:srgbClr val="E7BB01"/>
        </a:accent6>
        <a:hlink>
          <a:srgbClr val="3333FF"/>
        </a:hlink>
        <a:folHlink>
          <a:srgbClr val="660033"/>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a_9_p2">
  <a:themeElements>
    <a:clrScheme name="2_oa_9_p2 14">
      <a:dk1>
        <a:srgbClr val="000000"/>
      </a:dk1>
      <a:lt1>
        <a:srgbClr val="3399FF"/>
      </a:lt1>
      <a:dk2>
        <a:srgbClr val="333399"/>
      </a:dk2>
      <a:lt2>
        <a:srgbClr val="1C1C1C"/>
      </a:lt2>
      <a:accent1>
        <a:srgbClr val="00E4A8"/>
      </a:accent1>
      <a:accent2>
        <a:srgbClr val="FFCF01"/>
      </a:accent2>
      <a:accent3>
        <a:srgbClr val="ADCAFF"/>
      </a:accent3>
      <a:accent4>
        <a:srgbClr val="000000"/>
      </a:accent4>
      <a:accent5>
        <a:srgbClr val="AAEFD1"/>
      </a:accent5>
      <a:accent6>
        <a:srgbClr val="E7BB01"/>
      </a:accent6>
      <a:hlink>
        <a:srgbClr val="3333FF"/>
      </a:hlink>
      <a:folHlink>
        <a:srgbClr val="660033"/>
      </a:folHlink>
    </a:clrScheme>
    <a:fontScheme name="2_oa_9_p2">
      <a:majorFont>
        <a:latin typeface="Tahoma"/>
        <a:ea typeface="宋体"/>
        <a:cs typeface=""/>
      </a:majorFont>
      <a:minorFont>
        <a:latin typeface="Tahoma"/>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32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32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2_oa_9_p2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2_oa_9_p2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2_oa_9_p2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2_oa_9_p2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2_oa_9_p2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2_oa_9_p2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2_oa_9_p2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2_oa_9_p2 8">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0066FF"/>
        </a:hlink>
        <a:folHlink>
          <a:srgbClr val="00FF99"/>
        </a:folHlink>
      </a:clrScheme>
      <a:clrMap bg1="lt1" tx1="dk1" bg2="lt2" tx2="dk2" accent1="accent1" accent2="accent2" accent3="accent3" accent4="accent4" accent5="accent5" accent6="accent6" hlink="hlink" folHlink="folHlink"/>
    </a:extraClrScheme>
    <a:extraClrScheme>
      <a:clrScheme name="2_oa_9_p2 9">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3300"/>
        </a:hlink>
        <a:folHlink>
          <a:srgbClr val="00FF99"/>
        </a:folHlink>
      </a:clrScheme>
      <a:clrMap bg1="lt1" tx1="dk1" bg2="lt2" tx2="dk2" accent1="accent1" accent2="accent2" accent3="accent3" accent4="accent4" accent5="accent5" accent6="accent6" hlink="hlink" folHlink="folHlink"/>
    </a:extraClrScheme>
    <a:extraClrScheme>
      <a:clrScheme name="2_oa_9_p2 10">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006600"/>
        </a:hlink>
        <a:folHlink>
          <a:srgbClr val="00FF99"/>
        </a:folHlink>
      </a:clrScheme>
      <a:clrMap bg1="lt1" tx1="dk1" bg2="lt2" tx2="dk2" accent1="accent1" accent2="accent2" accent3="accent3" accent4="accent4" accent5="accent5" accent6="accent6" hlink="hlink" folHlink="folHlink"/>
    </a:extraClrScheme>
    <a:extraClrScheme>
      <a:clrScheme name="2_oa_9_p2 11">
        <a:dk1>
          <a:srgbClr val="000000"/>
        </a:dk1>
        <a:lt1>
          <a:srgbClr val="3399FF"/>
        </a:lt1>
        <a:dk2>
          <a:srgbClr val="333399"/>
        </a:dk2>
        <a:lt2>
          <a:srgbClr val="1C1C1C"/>
        </a:lt2>
        <a:accent1>
          <a:srgbClr val="00E4A8"/>
        </a:accent1>
        <a:accent2>
          <a:srgbClr val="FFCF01"/>
        </a:accent2>
        <a:accent3>
          <a:srgbClr val="ADCAFF"/>
        </a:accent3>
        <a:accent4>
          <a:srgbClr val="000000"/>
        </a:accent4>
        <a:accent5>
          <a:srgbClr val="AAEFD1"/>
        </a:accent5>
        <a:accent6>
          <a:srgbClr val="E7BB01"/>
        </a:accent6>
        <a:hlink>
          <a:srgbClr val="006600"/>
        </a:hlink>
        <a:folHlink>
          <a:srgbClr val="00FF99"/>
        </a:folHlink>
      </a:clrScheme>
      <a:clrMap bg1="lt1" tx1="dk1" bg2="lt2" tx2="dk2" accent1="accent1" accent2="accent2" accent3="accent3" accent4="accent4" accent5="accent5" accent6="accent6" hlink="hlink" folHlink="folHlink"/>
    </a:extraClrScheme>
    <a:extraClrScheme>
      <a:clrScheme name="2_oa_9_p2 12">
        <a:dk1>
          <a:srgbClr val="000000"/>
        </a:dk1>
        <a:lt1>
          <a:srgbClr val="3399FF"/>
        </a:lt1>
        <a:dk2>
          <a:srgbClr val="333399"/>
        </a:dk2>
        <a:lt2>
          <a:srgbClr val="1C1C1C"/>
        </a:lt2>
        <a:accent1>
          <a:srgbClr val="00E4A8"/>
        </a:accent1>
        <a:accent2>
          <a:srgbClr val="FFCF01"/>
        </a:accent2>
        <a:accent3>
          <a:srgbClr val="ADCAFF"/>
        </a:accent3>
        <a:accent4>
          <a:srgbClr val="000000"/>
        </a:accent4>
        <a:accent5>
          <a:srgbClr val="AAEFD1"/>
        </a:accent5>
        <a:accent6>
          <a:srgbClr val="E7BB01"/>
        </a:accent6>
        <a:hlink>
          <a:srgbClr val="800080"/>
        </a:hlink>
        <a:folHlink>
          <a:srgbClr val="00FF99"/>
        </a:folHlink>
      </a:clrScheme>
      <a:clrMap bg1="lt1" tx1="dk1" bg2="lt2" tx2="dk2" accent1="accent1" accent2="accent2" accent3="accent3" accent4="accent4" accent5="accent5" accent6="accent6" hlink="hlink" folHlink="folHlink"/>
    </a:extraClrScheme>
    <a:extraClrScheme>
      <a:clrScheme name="2_oa_9_p2 13">
        <a:dk1>
          <a:srgbClr val="000000"/>
        </a:dk1>
        <a:lt1>
          <a:srgbClr val="3399FF"/>
        </a:lt1>
        <a:dk2>
          <a:srgbClr val="333399"/>
        </a:dk2>
        <a:lt2>
          <a:srgbClr val="1C1C1C"/>
        </a:lt2>
        <a:accent1>
          <a:srgbClr val="00E4A8"/>
        </a:accent1>
        <a:accent2>
          <a:srgbClr val="FFCF01"/>
        </a:accent2>
        <a:accent3>
          <a:srgbClr val="ADCAFF"/>
        </a:accent3>
        <a:accent4>
          <a:srgbClr val="000000"/>
        </a:accent4>
        <a:accent5>
          <a:srgbClr val="AAEFD1"/>
        </a:accent5>
        <a:accent6>
          <a:srgbClr val="E7BB01"/>
        </a:accent6>
        <a:hlink>
          <a:srgbClr val="800080"/>
        </a:hlink>
        <a:folHlink>
          <a:srgbClr val="660033"/>
        </a:folHlink>
      </a:clrScheme>
      <a:clrMap bg1="lt1" tx1="dk1" bg2="lt2" tx2="dk2" accent1="accent1" accent2="accent2" accent3="accent3" accent4="accent4" accent5="accent5" accent6="accent6" hlink="hlink" folHlink="folHlink"/>
    </a:extraClrScheme>
    <a:extraClrScheme>
      <a:clrScheme name="2_oa_9_p2 14">
        <a:dk1>
          <a:srgbClr val="000000"/>
        </a:dk1>
        <a:lt1>
          <a:srgbClr val="3399FF"/>
        </a:lt1>
        <a:dk2>
          <a:srgbClr val="333399"/>
        </a:dk2>
        <a:lt2>
          <a:srgbClr val="1C1C1C"/>
        </a:lt2>
        <a:accent1>
          <a:srgbClr val="00E4A8"/>
        </a:accent1>
        <a:accent2>
          <a:srgbClr val="FFCF01"/>
        </a:accent2>
        <a:accent3>
          <a:srgbClr val="ADCAFF"/>
        </a:accent3>
        <a:accent4>
          <a:srgbClr val="000000"/>
        </a:accent4>
        <a:accent5>
          <a:srgbClr val="AAEFD1"/>
        </a:accent5>
        <a:accent6>
          <a:srgbClr val="E7BB01"/>
        </a:accent6>
        <a:hlink>
          <a:srgbClr val="3333FF"/>
        </a:hlink>
        <a:folHlink>
          <a:srgbClr val="660033"/>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8039</Words>
  <Application>WPS 演示</Application>
  <PresentationFormat/>
  <Paragraphs>480</Paragraphs>
  <Slides>92</Slides>
  <Notes>0</Notes>
  <HiddenSlides>0</HiddenSlides>
  <MMClips>0</MMClips>
  <ScaleCrop>false</ScaleCrop>
  <HeadingPairs>
    <vt:vector size="8" baseType="variant">
      <vt:variant>
        <vt:lpstr>已用的字体</vt:lpstr>
      </vt:variant>
      <vt:variant>
        <vt:i4>23</vt:i4>
      </vt:variant>
      <vt:variant>
        <vt:lpstr>主题</vt:lpstr>
      </vt:variant>
      <vt:variant>
        <vt:i4>2</vt:i4>
      </vt:variant>
      <vt:variant>
        <vt:lpstr>嵌入 OLE 服务器</vt:lpstr>
      </vt:variant>
      <vt:variant>
        <vt:i4>20</vt:i4>
      </vt:variant>
      <vt:variant>
        <vt:lpstr>幻灯片标题</vt:lpstr>
      </vt:variant>
      <vt:variant>
        <vt:i4>92</vt:i4>
      </vt:variant>
    </vt:vector>
  </HeadingPairs>
  <TitlesOfParts>
    <vt:vector size="137" baseType="lpstr">
      <vt:lpstr>Arial</vt:lpstr>
      <vt:lpstr>宋体</vt:lpstr>
      <vt:lpstr>Wingdings</vt:lpstr>
      <vt:lpstr>Tahoma</vt:lpstr>
      <vt:lpstr>楷体_GB2312</vt:lpstr>
      <vt:lpstr>新宋体</vt:lpstr>
      <vt:lpstr>Times New Roman</vt:lpstr>
      <vt:lpstr>幼圆</vt:lpstr>
      <vt:lpstr>隶书</vt:lpstr>
      <vt:lpstr>宋体-18030</vt:lpstr>
      <vt:lpstr>Monotype Sorts</vt:lpstr>
      <vt:lpstr>Wingdings</vt:lpstr>
      <vt:lpstr>Arial Narrow</vt:lpstr>
      <vt:lpstr>新宋体-18030</vt:lpstr>
      <vt:lpstr>Calibri</vt:lpstr>
      <vt:lpstr>华文行楷</vt:lpstr>
      <vt:lpstr>黑体</vt:lpstr>
      <vt:lpstr>方正粗黑宋简体</vt:lpstr>
      <vt:lpstr>Sim Sun</vt:lpstr>
      <vt:lpstr>Segoe Print</vt:lpstr>
      <vt:lpstr>华文隶书</vt:lpstr>
      <vt:lpstr>微软雅黑</vt:lpstr>
      <vt:lpstr>Arial Unicode MS</vt:lpstr>
      <vt:lpstr>1_oa_9_p2</vt:lpstr>
      <vt:lpstr>2_oa_9_p2</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Equation.3</vt:lpstr>
      <vt:lpstr>Visio.Drawing.11</vt:lpstr>
      <vt:lpstr>Visio.Drawing.11</vt:lpstr>
      <vt:lpstr>Visio.Drawing.11</vt:lpstr>
      <vt:lpstr>Visio.Drawing.11</vt:lpstr>
      <vt:lpstr>Visio.Drawing.11</vt:lpstr>
      <vt:lpstr>Visio.Drawing.11</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计算机图形学基础教程</dc:title>
  <dc:creator>孔令德</dc:creator>
  <dc:subject>太原工业学院</dc:subject>
  <cp:lastModifiedBy>ysxy</cp:lastModifiedBy>
  <cp:revision>435</cp:revision>
  <dcterms:created xsi:type="dcterms:W3CDTF">2001-04-17T13:25:43Z</dcterms:created>
  <dcterms:modified xsi:type="dcterms:W3CDTF">2026-03-11T00:43:16Z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2052-12.1.0.20754</vt:lpwstr>
  </property>
  <property fmtid="{D5CDD505-2E9C-101B-9397-08002B2CF9AE}" pid="3" name="ICV">
    <vt:lpwstr>92871E7856874232B4233B8E8DEDB91D_12</vt:lpwstr>
  </property>
</Properties>
</file>