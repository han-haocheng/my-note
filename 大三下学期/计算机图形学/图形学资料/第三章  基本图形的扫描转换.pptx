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2" r:id="rId1"/>
  </p:sldMasterIdLst>
  <p:notesMasterIdLst>
    <p:notesMasterId r:id="rId66"/>
  </p:notesMasterIdLst>
  <p:sldIdLst>
    <p:sldId id="257" r:id="rId2"/>
    <p:sldId id="259" r:id="rId3"/>
    <p:sldId id="260" r:id="rId4"/>
    <p:sldId id="579" r:id="rId5"/>
    <p:sldId id="531" r:id="rId6"/>
    <p:sldId id="526" r:id="rId7"/>
    <p:sldId id="528" r:id="rId8"/>
    <p:sldId id="532" r:id="rId9"/>
    <p:sldId id="527" r:id="rId10"/>
    <p:sldId id="292" r:id="rId11"/>
    <p:sldId id="533" r:id="rId12"/>
    <p:sldId id="374" r:id="rId13"/>
    <p:sldId id="471" r:id="rId14"/>
    <p:sldId id="474" r:id="rId15"/>
    <p:sldId id="475" r:id="rId16"/>
    <p:sldId id="585" r:id="rId17"/>
    <p:sldId id="583" r:id="rId18"/>
    <p:sldId id="586" r:id="rId19"/>
    <p:sldId id="530" r:id="rId20"/>
    <p:sldId id="535" r:id="rId21"/>
    <p:sldId id="538" r:id="rId22"/>
    <p:sldId id="539" r:id="rId23"/>
    <p:sldId id="478" r:id="rId24"/>
    <p:sldId id="480" r:id="rId25"/>
    <p:sldId id="540" r:id="rId26"/>
    <p:sldId id="483" r:id="rId27"/>
    <p:sldId id="484" r:id="rId28"/>
    <p:sldId id="485" r:id="rId29"/>
    <p:sldId id="487" r:id="rId30"/>
    <p:sldId id="565" r:id="rId31"/>
    <p:sldId id="541" r:id="rId32"/>
    <p:sldId id="542" r:id="rId33"/>
    <p:sldId id="543" r:id="rId34"/>
    <p:sldId id="551" r:id="rId35"/>
    <p:sldId id="552" r:id="rId36"/>
    <p:sldId id="546" r:id="rId37"/>
    <p:sldId id="553" r:id="rId38"/>
    <p:sldId id="547" r:id="rId39"/>
    <p:sldId id="554" r:id="rId40"/>
    <p:sldId id="555" r:id="rId41"/>
    <p:sldId id="556" r:id="rId42"/>
    <p:sldId id="557" r:id="rId43"/>
    <p:sldId id="558" r:id="rId44"/>
    <p:sldId id="559" r:id="rId45"/>
    <p:sldId id="560" r:id="rId46"/>
    <p:sldId id="562" r:id="rId47"/>
    <p:sldId id="564" r:id="rId48"/>
    <p:sldId id="510" r:id="rId49"/>
    <p:sldId id="568" r:id="rId50"/>
    <p:sldId id="571" r:id="rId51"/>
    <p:sldId id="573" r:id="rId52"/>
    <p:sldId id="575" r:id="rId53"/>
    <p:sldId id="576" r:id="rId54"/>
    <p:sldId id="572" r:id="rId55"/>
    <p:sldId id="581" r:id="rId56"/>
    <p:sldId id="577" r:id="rId57"/>
    <p:sldId id="512" r:id="rId58"/>
    <p:sldId id="513" r:id="rId59"/>
    <p:sldId id="514" r:id="rId60"/>
    <p:sldId id="516" r:id="rId61"/>
    <p:sldId id="519" r:id="rId62"/>
    <p:sldId id="520" r:id="rId63"/>
    <p:sldId id="521" r:id="rId64"/>
    <p:sldId id="580" r:id="rId6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5pPr>
    <a:lvl6pPr marL="22860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6pPr>
    <a:lvl7pPr marL="27432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7pPr>
    <a:lvl8pPr marL="32004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8pPr>
    <a:lvl9pPr marL="36576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10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FF"/>
    <a:srgbClr val="004E00"/>
    <a:srgbClr val="424000"/>
    <a:srgbClr val="99CC00"/>
    <a:srgbClr val="00FF99"/>
    <a:srgbClr val="993366"/>
    <a:srgbClr val="99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p:scale>
          <a:sx n="110" d="100"/>
          <a:sy n="110" d="100"/>
        </p:scale>
        <p:origin x="1644" y="24"/>
      </p:cViewPr>
      <p:guideLst>
        <p:guide orient="horz" pos="2160"/>
        <p:guide pos="100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22.emf"/><Relationship Id="rId7" Type="http://schemas.openxmlformats.org/officeDocument/2006/relationships/image" Target="../media/image26.emf"/><Relationship Id="rId2" Type="http://schemas.openxmlformats.org/officeDocument/2006/relationships/image" Target="../media/image21.emf"/><Relationship Id="rId1" Type="http://schemas.openxmlformats.org/officeDocument/2006/relationships/image" Target="../media/image20.emf"/><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 Id="rId4" Type="http://schemas.openxmlformats.org/officeDocument/2006/relationships/image" Target="../media/image3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wmf"/><Relationship Id="rId5" Type="http://schemas.openxmlformats.org/officeDocument/2006/relationships/image" Target="../media/image75.wmf"/><Relationship Id="rId4" Type="http://schemas.openxmlformats.org/officeDocument/2006/relationships/image" Target="../media/image7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7.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51.emf"/><Relationship Id="rId1" Type="http://schemas.openxmlformats.org/officeDocument/2006/relationships/image" Target="../media/image50.emf"/><Relationship Id="rId5" Type="http://schemas.openxmlformats.org/officeDocument/2006/relationships/image" Target="../media/image80.wmf"/><Relationship Id="rId4" Type="http://schemas.openxmlformats.org/officeDocument/2006/relationships/image" Target="../media/image7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 Id="rId5" Type="http://schemas.openxmlformats.org/officeDocument/2006/relationships/image" Target="../media/image85.wmf"/><Relationship Id="rId4" Type="http://schemas.openxmlformats.org/officeDocument/2006/relationships/image" Target="../media/image84.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emf"/><Relationship Id="rId4" Type="http://schemas.openxmlformats.org/officeDocument/2006/relationships/image" Target="../media/image9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image" Target="../media/image99.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17.emf"/><Relationship Id="rId1" Type="http://schemas.openxmlformats.org/officeDocument/2006/relationships/image" Target="../media/image116.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25.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29.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30.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55.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ea typeface="宋体" panose="02010600030101010101" pitchFamily="2" charset="-122"/>
              </a:defRPr>
            </a:lvl1pPr>
          </a:lstStyle>
          <a:p>
            <a:pPr>
              <a:defRPr/>
            </a:pPr>
            <a:endParaRPr lang="zh-CN" alt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ea typeface="宋体" panose="02010600030101010101" pitchFamily="2" charset="-122"/>
              </a:defRPr>
            </a:lvl1pPr>
          </a:lstStyle>
          <a:p>
            <a:pPr>
              <a:defRPr/>
            </a:pPr>
            <a:endParaRPr lang="en-US"/>
          </a:p>
        </p:txBody>
      </p:sp>
      <p:sp>
        <p:nvSpPr>
          <p:cNvPr id="2052"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cmpd="sng">
            <a:noFill/>
            <a:miter lim="800000"/>
          </a:ln>
        </p:spPr>
        <p:txBody>
          <a:bodyPr vert="horz" wrap="square" lIns="91440" tIns="45720" rIns="91440" bIns="45720" numCol="1" anchor="ctr"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ea typeface="宋体" panose="02010600030101010101" pitchFamily="2" charset="-122"/>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宋体" panose="02010600030101010101" pitchFamily="2" charset="-122"/>
              </a:defRPr>
            </a:lvl1pPr>
          </a:lstStyle>
          <a:p>
            <a:pPr>
              <a:defRPr/>
            </a:pPr>
            <a:fld id="{8B57CCE5-EFCA-433E-BDBE-1410253F5C3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D1B63410-239F-4BF9-9E79-ABFD52E22BBF}" type="datetime1">
              <a:rPr lang="zh-CN" altLang="en-US"/>
              <a:pPr>
                <a:defRPr/>
              </a:pPr>
              <a:t>2025/9/20</a:t>
            </a:fld>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p:txBody>
          <a:bodyPr/>
          <a:lstStyle>
            <a:lvl1pPr>
              <a:defRPr/>
            </a:lvl1pPr>
          </a:lstStyle>
          <a:p>
            <a:pPr>
              <a:defRPr/>
            </a:pPr>
            <a:fld id="{126328F1-0164-4459-A289-1FF5AABF08A8}" type="slidenum">
              <a:rPr lang="zh-CN" altLang="en-US"/>
              <a:pPr>
                <a:defRPr/>
              </a:pPr>
              <a:t>‹#›</a:t>
            </a:fld>
            <a:endParaRPr lang="zh-CN" altLang="en-US"/>
          </a:p>
        </p:txBody>
      </p:sp>
    </p:spTree>
    <p:extLst>
      <p:ext uri="{BB962C8B-B14F-4D97-AF65-F5344CB8AC3E}">
        <p14:creationId xmlns:p14="http://schemas.microsoft.com/office/powerpoint/2010/main" val="2574420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3DFBD82-353C-4996-BDE8-6654D7F85610}" type="datetime1">
              <a:rPr lang="zh-CN" altLang="en-US"/>
              <a:pPr>
                <a:defRPr/>
              </a:pPr>
              <a:t>2025/9/20</a:t>
            </a:fld>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p:txBody>
          <a:bodyPr/>
          <a:lstStyle>
            <a:lvl1pPr>
              <a:defRPr/>
            </a:lvl1pPr>
          </a:lstStyle>
          <a:p>
            <a:pPr>
              <a:defRPr/>
            </a:pPr>
            <a:fld id="{EDA7A8AD-2CBA-40D4-96FE-61667AF2E038}" type="slidenum">
              <a:rPr lang="zh-CN" altLang="en-US"/>
              <a:pPr>
                <a:defRPr/>
              </a:pPr>
              <a:t>‹#›</a:t>
            </a:fld>
            <a:endParaRPr lang="zh-CN" altLang="en-US"/>
          </a:p>
        </p:txBody>
      </p:sp>
    </p:spTree>
    <p:extLst>
      <p:ext uri="{BB962C8B-B14F-4D97-AF65-F5344CB8AC3E}">
        <p14:creationId xmlns:p14="http://schemas.microsoft.com/office/powerpoint/2010/main" val="4009383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defRPr/>
            </a:pPr>
            <a:fld id="{69765000-69DD-4B07-A58E-F935C07E0BBB}" type="datetime1">
              <a:rPr lang="zh-CN" altLang="en-US"/>
              <a:pPr>
                <a:defRPr/>
              </a:pPr>
              <a:t>2025/9/20</a:t>
            </a:fld>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p:txBody>
          <a:bodyPr/>
          <a:lstStyle>
            <a:lvl1pPr>
              <a:defRPr/>
            </a:lvl1pPr>
          </a:lstStyle>
          <a:p>
            <a:pPr>
              <a:defRPr/>
            </a:pPr>
            <a:fld id="{BACFAAAC-20FC-4979-946B-27994F30E103}" type="slidenum">
              <a:rPr lang="zh-CN" altLang="en-US"/>
              <a:pPr>
                <a:defRPr/>
              </a:pPr>
              <a:t>‹#›</a:t>
            </a:fld>
            <a:endParaRPr lang="zh-CN" altLang="en-US"/>
          </a:p>
        </p:txBody>
      </p:sp>
    </p:spTree>
    <p:extLst>
      <p:ext uri="{BB962C8B-B14F-4D97-AF65-F5344CB8AC3E}">
        <p14:creationId xmlns:p14="http://schemas.microsoft.com/office/powerpoint/2010/main" val="3521335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16D1ADB8-5E10-4AE6-BDEC-23117C3D74EE}" type="datetime1">
              <a:rPr lang="zh-CN" altLang="en-US"/>
              <a:pPr>
                <a:defRPr/>
              </a:pPr>
              <a:t>2025/9/20</a:t>
            </a:fld>
            <a:endParaRPr lang="en-US"/>
          </a:p>
        </p:txBody>
      </p:sp>
      <p:sp>
        <p:nvSpPr>
          <p:cNvPr id="6" name="页脚占位符 4"/>
          <p:cNvSpPr>
            <a:spLocks noGrp="1"/>
          </p:cNvSpPr>
          <p:nvPr>
            <p:ph type="ftr" sz="quarter" idx="11"/>
          </p:nvPr>
        </p:nvSpPr>
        <p:spPr/>
        <p:txBody>
          <a:bodyPr/>
          <a:lstStyle>
            <a:lvl1pPr>
              <a:defRPr/>
            </a:lvl1pPr>
          </a:lstStyle>
          <a:p>
            <a:pPr>
              <a:defRPr/>
            </a:pPr>
            <a:endParaRPr lang="en-US"/>
          </a:p>
        </p:txBody>
      </p:sp>
      <p:sp>
        <p:nvSpPr>
          <p:cNvPr id="7" name="灯片编号占位符 5"/>
          <p:cNvSpPr>
            <a:spLocks noGrp="1"/>
          </p:cNvSpPr>
          <p:nvPr>
            <p:ph type="sldNum" sz="quarter" idx="12"/>
          </p:nvPr>
        </p:nvSpPr>
        <p:spPr/>
        <p:txBody>
          <a:bodyPr/>
          <a:lstStyle>
            <a:lvl1pPr>
              <a:defRPr/>
            </a:lvl1pPr>
          </a:lstStyle>
          <a:p>
            <a:pPr>
              <a:defRPr/>
            </a:pPr>
            <a:fld id="{C459A468-CEAC-4E75-B7CC-576676F7F987}" type="slidenum">
              <a:rPr lang="zh-CN" altLang="en-US"/>
              <a:pPr>
                <a:defRPr/>
              </a:pPr>
              <a:t>‹#›</a:t>
            </a:fld>
            <a:endParaRPr lang="zh-CN" altLang="en-US"/>
          </a:p>
        </p:txBody>
      </p:sp>
    </p:spTree>
    <p:extLst>
      <p:ext uri="{BB962C8B-B14F-4D97-AF65-F5344CB8AC3E}">
        <p14:creationId xmlns:p14="http://schemas.microsoft.com/office/powerpoint/2010/main" val="177391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192D7BED-EC71-4F9E-AF8B-212DE552E330}" type="datetime1">
              <a:rPr lang="zh-CN" altLang="en-US"/>
              <a:pPr>
                <a:defRPr/>
              </a:pPr>
              <a:t>2025/9/20</a:t>
            </a:fld>
            <a:endParaRPr lang="en-US"/>
          </a:p>
        </p:txBody>
      </p:sp>
      <p:sp>
        <p:nvSpPr>
          <p:cNvPr id="8" name="页脚占位符 4"/>
          <p:cNvSpPr>
            <a:spLocks noGrp="1"/>
          </p:cNvSpPr>
          <p:nvPr>
            <p:ph type="ftr" sz="quarter" idx="11"/>
          </p:nvPr>
        </p:nvSpPr>
        <p:spPr/>
        <p:txBody>
          <a:bodyPr/>
          <a:lstStyle>
            <a:lvl1pPr>
              <a:defRPr/>
            </a:lvl1pPr>
          </a:lstStyle>
          <a:p>
            <a:pPr>
              <a:defRPr/>
            </a:pPr>
            <a:endParaRPr lang="en-US"/>
          </a:p>
        </p:txBody>
      </p:sp>
      <p:sp>
        <p:nvSpPr>
          <p:cNvPr id="9" name="灯片编号占位符 5"/>
          <p:cNvSpPr>
            <a:spLocks noGrp="1"/>
          </p:cNvSpPr>
          <p:nvPr>
            <p:ph type="sldNum" sz="quarter" idx="12"/>
          </p:nvPr>
        </p:nvSpPr>
        <p:spPr/>
        <p:txBody>
          <a:bodyPr/>
          <a:lstStyle>
            <a:lvl1pPr>
              <a:defRPr/>
            </a:lvl1pPr>
          </a:lstStyle>
          <a:p>
            <a:pPr>
              <a:defRPr/>
            </a:pPr>
            <a:fld id="{0D1CCFE3-9C98-4467-AEFE-D29BB86A723C}" type="slidenum">
              <a:rPr lang="zh-CN" altLang="en-US"/>
              <a:pPr>
                <a:defRPr/>
              </a:pPr>
              <a:t>‹#›</a:t>
            </a:fld>
            <a:endParaRPr lang="zh-CN" altLang="en-US"/>
          </a:p>
        </p:txBody>
      </p:sp>
    </p:spTree>
    <p:extLst>
      <p:ext uri="{BB962C8B-B14F-4D97-AF65-F5344CB8AC3E}">
        <p14:creationId xmlns:p14="http://schemas.microsoft.com/office/powerpoint/2010/main" val="1561122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7DF4EDEE-501A-4E57-8088-A31FD2AFD7E6}" type="datetime1">
              <a:rPr lang="zh-CN" altLang="en-US"/>
              <a:pPr>
                <a:defRPr/>
              </a:pPr>
              <a:t>2025/9/20</a:t>
            </a:fld>
            <a:endParaRPr lang="en-US"/>
          </a:p>
        </p:txBody>
      </p:sp>
      <p:sp>
        <p:nvSpPr>
          <p:cNvPr id="4" name="页脚占位符 4"/>
          <p:cNvSpPr>
            <a:spLocks noGrp="1"/>
          </p:cNvSpPr>
          <p:nvPr>
            <p:ph type="ftr" sz="quarter" idx="11"/>
          </p:nvPr>
        </p:nvSpPr>
        <p:spPr/>
        <p:txBody>
          <a:bodyPr/>
          <a:lstStyle>
            <a:lvl1pPr>
              <a:defRPr/>
            </a:lvl1pPr>
          </a:lstStyle>
          <a:p>
            <a:pPr>
              <a:defRPr/>
            </a:pPr>
            <a:endParaRPr lang="en-US"/>
          </a:p>
        </p:txBody>
      </p:sp>
      <p:sp>
        <p:nvSpPr>
          <p:cNvPr id="5" name="灯片编号占位符 5"/>
          <p:cNvSpPr>
            <a:spLocks noGrp="1"/>
          </p:cNvSpPr>
          <p:nvPr>
            <p:ph type="sldNum" sz="quarter" idx="12"/>
          </p:nvPr>
        </p:nvSpPr>
        <p:spPr/>
        <p:txBody>
          <a:bodyPr/>
          <a:lstStyle>
            <a:lvl1pPr>
              <a:defRPr/>
            </a:lvl1pPr>
          </a:lstStyle>
          <a:p>
            <a:pPr>
              <a:defRPr/>
            </a:pPr>
            <a:fld id="{F1757316-8D4A-499B-9C34-18693076D759}" type="slidenum">
              <a:rPr lang="zh-CN" altLang="en-US"/>
              <a:pPr>
                <a:defRPr/>
              </a:pPr>
              <a:t>‹#›</a:t>
            </a:fld>
            <a:endParaRPr lang="zh-CN" altLang="en-US"/>
          </a:p>
        </p:txBody>
      </p:sp>
    </p:spTree>
    <p:extLst>
      <p:ext uri="{BB962C8B-B14F-4D97-AF65-F5344CB8AC3E}">
        <p14:creationId xmlns:p14="http://schemas.microsoft.com/office/powerpoint/2010/main" val="2701905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28A0CC6-D671-41FC-8859-CCA9B7F0931D}" type="datetime1">
              <a:rPr lang="zh-CN" altLang="en-US"/>
              <a:pPr>
                <a:defRPr/>
              </a:pPr>
              <a:t>2025/9/20</a:t>
            </a:fld>
            <a:endParaRPr lang="en-US"/>
          </a:p>
        </p:txBody>
      </p:sp>
      <p:sp>
        <p:nvSpPr>
          <p:cNvPr id="3" name="页脚占位符 4"/>
          <p:cNvSpPr>
            <a:spLocks noGrp="1"/>
          </p:cNvSpPr>
          <p:nvPr>
            <p:ph type="ftr" sz="quarter" idx="11"/>
          </p:nvPr>
        </p:nvSpPr>
        <p:spPr/>
        <p:txBody>
          <a:bodyPr/>
          <a:lstStyle>
            <a:lvl1pPr>
              <a:defRPr/>
            </a:lvl1pPr>
          </a:lstStyle>
          <a:p>
            <a:pPr>
              <a:defRPr/>
            </a:pPr>
            <a:endParaRPr lang="en-US"/>
          </a:p>
        </p:txBody>
      </p:sp>
      <p:sp>
        <p:nvSpPr>
          <p:cNvPr id="4" name="灯片编号占位符 5"/>
          <p:cNvSpPr>
            <a:spLocks noGrp="1"/>
          </p:cNvSpPr>
          <p:nvPr>
            <p:ph type="sldNum" sz="quarter" idx="12"/>
          </p:nvPr>
        </p:nvSpPr>
        <p:spPr/>
        <p:txBody>
          <a:bodyPr/>
          <a:lstStyle>
            <a:lvl1pPr>
              <a:defRPr/>
            </a:lvl1pPr>
          </a:lstStyle>
          <a:p>
            <a:pPr>
              <a:defRPr/>
            </a:pPr>
            <a:fld id="{B9480DDB-7D09-4939-A9B3-9E90CB9B3D31}" type="slidenum">
              <a:rPr lang="zh-CN" altLang="en-US"/>
              <a:pPr>
                <a:defRPr/>
              </a:pPr>
              <a:t>‹#›</a:t>
            </a:fld>
            <a:endParaRPr lang="zh-CN" altLang="en-US"/>
          </a:p>
        </p:txBody>
      </p:sp>
    </p:spTree>
    <p:extLst>
      <p:ext uri="{BB962C8B-B14F-4D97-AF65-F5344CB8AC3E}">
        <p14:creationId xmlns:p14="http://schemas.microsoft.com/office/powerpoint/2010/main" val="1569686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3"/>
          <p:cNvSpPr>
            <a:spLocks noGrp="1"/>
          </p:cNvSpPr>
          <p:nvPr>
            <p:ph type="dt" sz="half" idx="10"/>
          </p:nvPr>
        </p:nvSpPr>
        <p:spPr/>
        <p:txBody>
          <a:bodyPr/>
          <a:lstStyle>
            <a:lvl1pPr>
              <a:defRPr/>
            </a:lvl1pPr>
          </a:lstStyle>
          <a:p>
            <a:pPr>
              <a:defRPr/>
            </a:pPr>
            <a:fld id="{541DAAA5-7156-45EA-9B3C-43222A20D4B1}" type="datetime1">
              <a:rPr lang="zh-CN" altLang="en-US"/>
              <a:pPr>
                <a:defRPr/>
              </a:pPr>
              <a:t>2025/9/20</a:t>
            </a:fld>
            <a:endParaRPr lang="en-US"/>
          </a:p>
        </p:txBody>
      </p:sp>
      <p:sp>
        <p:nvSpPr>
          <p:cNvPr id="6" name="页脚占位符 4"/>
          <p:cNvSpPr>
            <a:spLocks noGrp="1"/>
          </p:cNvSpPr>
          <p:nvPr>
            <p:ph type="ftr" sz="quarter" idx="11"/>
          </p:nvPr>
        </p:nvSpPr>
        <p:spPr/>
        <p:txBody>
          <a:bodyPr/>
          <a:lstStyle>
            <a:lvl1pPr>
              <a:defRPr/>
            </a:lvl1pPr>
          </a:lstStyle>
          <a:p>
            <a:pPr>
              <a:defRPr/>
            </a:pPr>
            <a:endParaRPr lang="en-US"/>
          </a:p>
        </p:txBody>
      </p:sp>
      <p:sp>
        <p:nvSpPr>
          <p:cNvPr id="7" name="灯片编号占位符 5"/>
          <p:cNvSpPr>
            <a:spLocks noGrp="1"/>
          </p:cNvSpPr>
          <p:nvPr>
            <p:ph type="sldNum" sz="quarter" idx="12"/>
          </p:nvPr>
        </p:nvSpPr>
        <p:spPr/>
        <p:txBody>
          <a:bodyPr/>
          <a:lstStyle>
            <a:lvl1pPr>
              <a:defRPr/>
            </a:lvl1pPr>
          </a:lstStyle>
          <a:p>
            <a:pPr>
              <a:defRPr/>
            </a:pPr>
            <a:fld id="{F6064E48-AAC1-4075-AF9A-B99D6E554926}" type="slidenum">
              <a:rPr lang="zh-CN" altLang="en-US"/>
              <a:pPr>
                <a:defRPr/>
              </a:pPr>
              <a:t>‹#›</a:t>
            </a:fld>
            <a:endParaRPr lang="zh-CN" altLang="en-US"/>
          </a:p>
        </p:txBody>
      </p:sp>
    </p:spTree>
    <p:extLst>
      <p:ext uri="{BB962C8B-B14F-4D97-AF65-F5344CB8AC3E}">
        <p14:creationId xmlns:p14="http://schemas.microsoft.com/office/powerpoint/2010/main" val="1888186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3"/>
          <p:cNvSpPr>
            <a:spLocks noGrp="1"/>
          </p:cNvSpPr>
          <p:nvPr>
            <p:ph type="dt" sz="half" idx="10"/>
          </p:nvPr>
        </p:nvSpPr>
        <p:spPr/>
        <p:txBody>
          <a:bodyPr/>
          <a:lstStyle>
            <a:lvl1pPr>
              <a:defRPr/>
            </a:lvl1pPr>
          </a:lstStyle>
          <a:p>
            <a:pPr>
              <a:defRPr/>
            </a:pPr>
            <a:fld id="{24CC5AF2-D311-40F1-9A87-AFD932F5CE5A}" type="datetime1">
              <a:rPr lang="zh-CN" altLang="en-US"/>
              <a:pPr>
                <a:defRPr/>
              </a:pPr>
              <a:t>2025/9/20</a:t>
            </a:fld>
            <a:endParaRPr lang="en-US"/>
          </a:p>
        </p:txBody>
      </p:sp>
      <p:sp>
        <p:nvSpPr>
          <p:cNvPr id="6" name="页脚占位符 4"/>
          <p:cNvSpPr>
            <a:spLocks noGrp="1"/>
          </p:cNvSpPr>
          <p:nvPr>
            <p:ph type="ftr" sz="quarter" idx="11"/>
          </p:nvPr>
        </p:nvSpPr>
        <p:spPr/>
        <p:txBody>
          <a:bodyPr/>
          <a:lstStyle>
            <a:lvl1pPr>
              <a:defRPr/>
            </a:lvl1pPr>
          </a:lstStyle>
          <a:p>
            <a:pPr>
              <a:defRPr/>
            </a:pPr>
            <a:endParaRPr lang="en-US"/>
          </a:p>
        </p:txBody>
      </p:sp>
      <p:sp>
        <p:nvSpPr>
          <p:cNvPr id="7" name="灯片编号占位符 5"/>
          <p:cNvSpPr>
            <a:spLocks noGrp="1"/>
          </p:cNvSpPr>
          <p:nvPr>
            <p:ph type="sldNum" sz="quarter" idx="12"/>
          </p:nvPr>
        </p:nvSpPr>
        <p:spPr/>
        <p:txBody>
          <a:bodyPr/>
          <a:lstStyle>
            <a:lvl1pPr>
              <a:defRPr/>
            </a:lvl1pPr>
          </a:lstStyle>
          <a:p>
            <a:pPr>
              <a:defRPr/>
            </a:pPr>
            <a:fld id="{9A658300-C84B-4A07-9C66-7B9D515B5291}" type="slidenum">
              <a:rPr lang="zh-CN" altLang="en-US"/>
              <a:pPr>
                <a:defRPr/>
              </a:pPr>
              <a:t>‹#›</a:t>
            </a:fld>
            <a:endParaRPr lang="zh-CN" altLang="en-US"/>
          </a:p>
        </p:txBody>
      </p:sp>
    </p:spTree>
    <p:extLst>
      <p:ext uri="{BB962C8B-B14F-4D97-AF65-F5344CB8AC3E}">
        <p14:creationId xmlns:p14="http://schemas.microsoft.com/office/powerpoint/2010/main" val="2233855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CA52BCE-8508-4730-AC34-AD9BB97599BB}" type="datetime1">
              <a:rPr lang="zh-CN" altLang="en-US"/>
              <a:pPr>
                <a:defRPr/>
              </a:pPr>
              <a:t>2025/9/20</a:t>
            </a:fld>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p:txBody>
          <a:bodyPr/>
          <a:lstStyle>
            <a:lvl1pPr>
              <a:defRPr/>
            </a:lvl1pPr>
          </a:lstStyle>
          <a:p>
            <a:pPr>
              <a:defRPr/>
            </a:pPr>
            <a:fld id="{4F57282B-8D0E-4DD2-8FA3-1E390257EDFC}" type="slidenum">
              <a:rPr lang="zh-CN" altLang="en-US"/>
              <a:pPr>
                <a:defRPr/>
              </a:pPr>
              <a:t>‹#›</a:t>
            </a:fld>
            <a:endParaRPr lang="zh-CN" altLang="en-US"/>
          </a:p>
        </p:txBody>
      </p:sp>
    </p:spTree>
    <p:extLst>
      <p:ext uri="{BB962C8B-B14F-4D97-AF65-F5344CB8AC3E}">
        <p14:creationId xmlns:p14="http://schemas.microsoft.com/office/powerpoint/2010/main" val="1354357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F0006C-15D9-4EAD-A539-08DEAB0264A5}" type="datetime1">
              <a:rPr lang="zh-CN" altLang="en-US"/>
              <a:pPr>
                <a:defRPr/>
              </a:pPr>
              <a:t>2025/9/20</a:t>
            </a:fld>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p:txBody>
          <a:bodyPr/>
          <a:lstStyle>
            <a:lvl1pPr>
              <a:defRPr/>
            </a:lvl1pPr>
          </a:lstStyle>
          <a:p>
            <a:pPr>
              <a:defRPr/>
            </a:pPr>
            <a:fld id="{1340487F-0773-487E-A26B-4A2EDAD583C0}" type="slidenum">
              <a:rPr lang="zh-CN" altLang="en-US"/>
              <a:pPr>
                <a:defRPr/>
              </a:pPr>
              <a:t>‹#›</a:t>
            </a:fld>
            <a:endParaRPr lang="zh-CN" altLang="en-US"/>
          </a:p>
        </p:txBody>
      </p:sp>
    </p:spTree>
    <p:extLst>
      <p:ext uri="{BB962C8B-B14F-4D97-AF65-F5344CB8AC3E}">
        <p14:creationId xmlns:p14="http://schemas.microsoft.com/office/powerpoint/2010/main" val="2584871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900">
                <a:solidFill>
                  <a:schemeClr val="tx1">
                    <a:tint val="75000"/>
                  </a:schemeClr>
                </a:solidFill>
              </a:defRPr>
            </a:lvl1pPr>
          </a:lstStyle>
          <a:p>
            <a:pPr>
              <a:defRPr/>
            </a:pPr>
            <a:fld id="{83A944B0-013E-4666-A4FE-2B79E56C1655}" type="datetime1">
              <a:rPr lang="zh-CN" altLang="en-US"/>
              <a:pPr>
                <a:defRPr/>
              </a:pPr>
              <a:t>2025/9/20</a:t>
            </a:fld>
            <a:endParaRPr 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900">
                <a:solidFill>
                  <a:schemeClr val="tx1">
                    <a:tint val="75000"/>
                  </a:schemeClr>
                </a:solidFill>
              </a:defRPr>
            </a:lvl1pPr>
          </a:lstStyle>
          <a:p>
            <a:pPr>
              <a:defRPr/>
            </a:pPr>
            <a:endParaRPr 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 typeface="Arial" panose="020B0604020202020204" pitchFamily="34" charset="0"/>
              <a:buNone/>
              <a:defRPr sz="900">
                <a:solidFill>
                  <a:schemeClr val="tx1">
                    <a:tint val="75000"/>
                  </a:schemeClr>
                </a:solidFill>
              </a:defRPr>
            </a:lvl1pPr>
          </a:lstStyle>
          <a:p>
            <a:pPr>
              <a:defRPr/>
            </a:pPr>
            <a:fld id="{512550A5-D90F-42C4-8D11-45B8C70E81A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52.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31.xml"/><Relationship Id="rId5" Type="http://schemas.openxmlformats.org/officeDocument/2006/relationships/slide" Target="slide21.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hyperlink" Target="&#39068;&#33394;&#28176;&#21464;&#30452;&#32447;.exe" TargetMode="External"/><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21452;&#20809;&#28304;&#32447;&#26694;&#29699;Gouraud&#20809;&#29031;&#27169;&#22411;.exe"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3.png"/><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1.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5.png"/><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16.w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emf"/><Relationship Id="rId5" Type="http://schemas.openxmlformats.org/officeDocument/2006/relationships/oleObject" Target="../embeddings/oleObject11.bin"/><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17.bin"/><Relationship Id="rId18" Type="http://schemas.openxmlformats.org/officeDocument/2006/relationships/image" Target="../media/image27.e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4.emf"/><Relationship Id="rId17"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26.emf"/><Relationship Id="rId1" Type="http://schemas.openxmlformats.org/officeDocument/2006/relationships/vmlDrawing" Target="../drawings/vmlDrawing7.vml"/><Relationship Id="rId6" Type="http://schemas.openxmlformats.org/officeDocument/2006/relationships/image" Target="../media/image21.e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23.emf"/><Relationship Id="rId4" Type="http://schemas.openxmlformats.org/officeDocument/2006/relationships/image" Target="../media/image20.emf"/><Relationship Id="rId9" Type="http://schemas.openxmlformats.org/officeDocument/2006/relationships/oleObject" Target="../embeddings/oleObject15.bin"/><Relationship Id="rId14" Type="http://schemas.openxmlformats.org/officeDocument/2006/relationships/image" Target="../media/image25.emf"/></Relationships>
</file>

<file path=ppt/slides/_rels/slide15.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9.emf"/><Relationship Id="rId5" Type="http://schemas.openxmlformats.org/officeDocument/2006/relationships/oleObject" Target="../embeddings/oleObject21.bin"/><Relationship Id="rId10" Type="http://schemas.openxmlformats.org/officeDocument/2006/relationships/image" Target="../media/image31.emf"/><Relationship Id="rId4" Type="http://schemas.openxmlformats.org/officeDocument/2006/relationships/image" Target="../media/image28.emf"/><Relationship Id="rId9"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5.emf"/></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36.emf"/></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8.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image" Target="../media/image37.emf"/><Relationship Id="rId4" Type="http://schemas.openxmlformats.org/officeDocument/2006/relationships/oleObject" Target="../embeddings/oleObject26.bin"/></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42.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46.png"/><Relationship Id="rId7" Type="http://schemas.openxmlformats.org/officeDocument/2006/relationships/image" Target="../media/image44.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0.bin"/><Relationship Id="rId5" Type="http://schemas.openxmlformats.org/officeDocument/2006/relationships/image" Target="../media/image43.emf"/><Relationship Id="rId4" Type="http://schemas.openxmlformats.org/officeDocument/2006/relationships/oleObject" Target="../embeddings/oleObject29.bin"/><Relationship Id="rId9" Type="http://schemas.openxmlformats.org/officeDocument/2006/relationships/image" Target="../media/image45.emf"/></Relationships>
</file>

<file path=ppt/slides/_rels/slide2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oleObject" Target="../embeddings/oleObject32.bin"/><Relationship Id="rId7"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49.png"/><Relationship Id="rId10" Type="http://schemas.openxmlformats.org/officeDocument/2006/relationships/image" Target="../media/image49.wmf"/><Relationship Id="rId4" Type="http://schemas.openxmlformats.org/officeDocument/2006/relationships/image" Target="../media/image47.wmf"/><Relationship Id="rId9" Type="http://schemas.openxmlformats.org/officeDocument/2006/relationships/oleObject" Target="../embeddings/oleObject34.bin"/></Relationships>
</file>

<file path=ppt/slides/_rels/slide2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oleObject" Target="../embeddings/oleObject35.bin"/><Relationship Id="rId7" Type="http://schemas.openxmlformats.org/officeDocument/2006/relationships/image" Target="../media/image52.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1.emf"/><Relationship Id="rId11" Type="http://schemas.openxmlformats.org/officeDocument/2006/relationships/image" Target="../media/image57.png"/><Relationship Id="rId5" Type="http://schemas.openxmlformats.org/officeDocument/2006/relationships/oleObject" Target="../embeddings/oleObject36.bin"/><Relationship Id="rId10" Type="http://schemas.openxmlformats.org/officeDocument/2006/relationships/image" Target="../media/image56.png"/><Relationship Id="rId4" Type="http://schemas.openxmlformats.org/officeDocument/2006/relationships/image" Target="../media/image50.emf"/><Relationship Id="rId9" Type="http://schemas.openxmlformats.org/officeDocument/2006/relationships/image" Target="../media/image55.png"/></Relationships>
</file>

<file path=ppt/slides/_rels/slide28.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41.bin"/><Relationship Id="rId3" Type="http://schemas.openxmlformats.org/officeDocument/2006/relationships/image" Target="../media/image64.png"/><Relationship Id="rId7" Type="http://schemas.openxmlformats.org/officeDocument/2006/relationships/oleObject" Target="../embeddings/oleObject38.bin"/><Relationship Id="rId12" Type="http://schemas.openxmlformats.org/officeDocument/2006/relationships/image" Target="../media/image55.wmf"/><Relationship Id="rId2" Type="http://schemas.openxmlformats.org/officeDocument/2006/relationships/slideLayout" Target="../slideLayouts/slideLayout7.xml"/><Relationship Id="rId16" Type="http://schemas.openxmlformats.org/officeDocument/2006/relationships/image" Target="../media/image57.wmf"/><Relationship Id="rId1" Type="http://schemas.openxmlformats.org/officeDocument/2006/relationships/vmlDrawing" Target="../drawings/vmlDrawing16.vml"/><Relationship Id="rId6" Type="http://schemas.openxmlformats.org/officeDocument/2006/relationships/image" Target="../media/image52.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54.wmf"/><Relationship Id="rId4" Type="http://schemas.openxmlformats.org/officeDocument/2006/relationships/image" Target="../media/image65.png"/><Relationship Id="rId9" Type="http://schemas.openxmlformats.org/officeDocument/2006/relationships/oleObject" Target="../embeddings/oleObject39.bin"/><Relationship Id="rId14" Type="http://schemas.openxmlformats.org/officeDocument/2006/relationships/image" Target="../media/image56.wmf"/></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hyperlink" Target="&#22278;&#20013;&#28857;Bresenham&#31639;&#27861;.exe" TargetMode="External"/><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59.png"/><Relationship Id="rId5" Type="http://schemas.openxmlformats.org/officeDocument/2006/relationships/image" Target="../media/image58.wmf"/><Relationship Id="rId4" Type="http://schemas.openxmlformats.org/officeDocument/2006/relationships/oleObject" Target="../embeddings/oleObject4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60.emf"/></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74.png"/><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61.wmf"/><Relationship Id="rId5" Type="http://schemas.openxmlformats.org/officeDocument/2006/relationships/oleObject" Target="../embeddings/oleObject45.bin"/><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3.png"/><Relationship Id="rId3" Type="http://schemas.openxmlformats.org/officeDocument/2006/relationships/image" Target="../media/image66.png"/><Relationship Id="rId7" Type="http://schemas.openxmlformats.org/officeDocument/2006/relationships/image" Target="../media/image79.png"/><Relationship Id="rId12"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8.png"/><Relationship Id="rId11" Type="http://schemas.openxmlformats.org/officeDocument/2006/relationships/image" Target="../media/image65.emf"/><Relationship Id="rId5" Type="http://schemas.openxmlformats.org/officeDocument/2006/relationships/image" Target="../media/image64.emf"/><Relationship Id="rId10" Type="http://schemas.openxmlformats.org/officeDocument/2006/relationships/oleObject" Target="../embeddings/oleObject47.bin"/><Relationship Id="rId4" Type="http://schemas.openxmlformats.org/officeDocument/2006/relationships/oleObject" Target="../embeddings/oleObject46.bin"/><Relationship Id="rId9"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69.png"/><Relationship Id="rId4" Type="http://schemas.openxmlformats.org/officeDocument/2006/relationships/image" Target="../media/image67.wmf"/></Relationships>
</file>

<file path=ppt/slides/_rels/slide3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oleObject" Target="../embeddings/oleObject49.bin"/><Relationship Id="rId7" Type="http://schemas.openxmlformats.org/officeDocument/2006/relationships/image" Target="../media/image89.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70.emf"/><Relationship Id="rId9" Type="http://schemas.openxmlformats.org/officeDocument/2006/relationships/image" Target="../media/image91.png"/></Relationships>
</file>

<file path=ppt/slides/_rels/slide36.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image" Target="../media/image75.w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72.emf"/><Relationship Id="rId11" Type="http://schemas.openxmlformats.org/officeDocument/2006/relationships/image" Target="../media/image76.png"/><Relationship Id="rId5" Type="http://schemas.openxmlformats.org/officeDocument/2006/relationships/oleObject" Target="../embeddings/oleObject51.bin"/><Relationship Id="rId10" Type="http://schemas.openxmlformats.org/officeDocument/2006/relationships/image" Target="../media/image74.emf"/><Relationship Id="rId4" Type="http://schemas.openxmlformats.org/officeDocument/2006/relationships/image" Target="../media/image71.wmf"/><Relationship Id="rId9" Type="http://schemas.openxmlformats.org/officeDocument/2006/relationships/oleObject" Target="../embeddings/oleObject53.bin"/></Relationships>
</file>

<file path=ppt/slides/_rels/slide3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77.emf"/><Relationship Id="rId4" Type="http://schemas.openxmlformats.org/officeDocument/2006/relationships/oleObject" Target="../embeddings/oleObject55.bin"/></Relationships>
</file>

<file path=ppt/slides/_rels/slide38.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image" Target="../media/image104.png"/><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80.wmf"/><Relationship Id="rId17" Type="http://schemas.openxmlformats.org/officeDocument/2006/relationships/image" Target="../media/image108.png"/><Relationship Id="rId2" Type="http://schemas.openxmlformats.org/officeDocument/2006/relationships/slideLayout" Target="../slideLayouts/slideLayout7.xml"/><Relationship Id="rId16" Type="http://schemas.openxmlformats.org/officeDocument/2006/relationships/image" Target="../media/image107.png"/><Relationship Id="rId1" Type="http://schemas.openxmlformats.org/officeDocument/2006/relationships/vmlDrawing" Target="../drawings/vmlDrawing25.vml"/><Relationship Id="rId6" Type="http://schemas.openxmlformats.org/officeDocument/2006/relationships/image" Target="../media/image51.e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image" Target="../media/image106.png"/><Relationship Id="rId10" Type="http://schemas.openxmlformats.org/officeDocument/2006/relationships/image" Target="../media/image79.wmf"/><Relationship Id="rId4" Type="http://schemas.openxmlformats.org/officeDocument/2006/relationships/image" Target="../media/image50.emf"/><Relationship Id="rId9" Type="http://schemas.openxmlformats.org/officeDocument/2006/relationships/oleObject" Target="../embeddings/oleObject59.bin"/><Relationship Id="rId14" Type="http://schemas.openxmlformats.org/officeDocument/2006/relationships/image" Target="../media/image105.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oleObject" Target="../embeddings/oleObject65.bin"/><Relationship Id="rId3" Type="http://schemas.openxmlformats.org/officeDocument/2006/relationships/image" Target="../media/image114.png"/><Relationship Id="rId7" Type="http://schemas.openxmlformats.org/officeDocument/2006/relationships/image" Target="../media/image82.wmf"/><Relationship Id="rId12" Type="http://schemas.openxmlformats.org/officeDocument/2006/relationships/image" Target="../media/image84.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62.bin"/><Relationship Id="rId11" Type="http://schemas.openxmlformats.org/officeDocument/2006/relationships/oleObject" Target="../embeddings/oleObject64.bin"/><Relationship Id="rId5" Type="http://schemas.openxmlformats.org/officeDocument/2006/relationships/image" Target="../media/image81.wmf"/><Relationship Id="rId10" Type="http://schemas.openxmlformats.org/officeDocument/2006/relationships/image" Target="../media/image86.png"/><Relationship Id="rId4" Type="http://schemas.openxmlformats.org/officeDocument/2006/relationships/oleObject" Target="../embeddings/oleObject61.bin"/><Relationship Id="rId9" Type="http://schemas.openxmlformats.org/officeDocument/2006/relationships/image" Target="../media/image83.wmf"/><Relationship Id="rId14" Type="http://schemas.openxmlformats.org/officeDocument/2006/relationships/image" Target="../media/image85.wmf"/></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88.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67.bin"/><Relationship Id="rId5" Type="http://schemas.openxmlformats.org/officeDocument/2006/relationships/image" Target="../media/image87.wmf"/><Relationship Id="rId4" Type="http://schemas.openxmlformats.org/officeDocument/2006/relationships/oleObject" Target="../embeddings/oleObject66.bin"/></Relationships>
</file>

<file path=ppt/slides/_rels/slide41.xml.rels><?xml version="1.0" encoding="UTF-8" standalone="yes"?>
<Relationships xmlns="http://schemas.openxmlformats.org/package/2006/relationships"><Relationship Id="rId8" Type="http://schemas.openxmlformats.org/officeDocument/2006/relationships/image" Target="../media/image96.e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95.emf"/><Relationship Id="rId11" Type="http://schemas.openxmlformats.org/officeDocument/2006/relationships/image" Target="../media/image98.png"/><Relationship Id="rId5" Type="http://schemas.openxmlformats.org/officeDocument/2006/relationships/oleObject" Target="../embeddings/oleObject69.bin"/><Relationship Id="rId10" Type="http://schemas.openxmlformats.org/officeDocument/2006/relationships/image" Target="../media/image97.wmf"/><Relationship Id="rId4" Type="http://schemas.openxmlformats.org/officeDocument/2006/relationships/image" Target="../media/image94.emf"/><Relationship Id="rId9" Type="http://schemas.openxmlformats.org/officeDocument/2006/relationships/oleObject" Target="../embeddings/oleObject71.bin"/></Relationships>
</file>

<file path=ppt/slides/_rels/slide42.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oleObject" Target="../embeddings/oleObject72.bin"/><Relationship Id="rId7" Type="http://schemas.openxmlformats.org/officeDocument/2006/relationships/image" Target="../media/image96.png"/><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00.emf"/><Relationship Id="rId11" Type="http://schemas.openxmlformats.org/officeDocument/2006/relationships/image" Target="../media/image102.png"/><Relationship Id="rId5" Type="http://schemas.openxmlformats.org/officeDocument/2006/relationships/oleObject" Target="../embeddings/oleObject73.bin"/><Relationship Id="rId10" Type="http://schemas.openxmlformats.org/officeDocument/2006/relationships/image" Target="../media/image101.png"/><Relationship Id="rId4" Type="http://schemas.openxmlformats.org/officeDocument/2006/relationships/image" Target="../media/image99.emf"/><Relationship Id="rId9" Type="http://schemas.openxmlformats.org/officeDocument/2006/relationships/image" Target="../media/image99.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105.wmf"/><Relationship Id="rId3" Type="http://schemas.openxmlformats.org/officeDocument/2006/relationships/image" Target="../media/image109.png"/><Relationship Id="rId7" Type="http://schemas.openxmlformats.org/officeDocument/2006/relationships/image" Target="../media/image102.wmf"/><Relationship Id="rId12" Type="http://schemas.openxmlformats.org/officeDocument/2006/relationships/oleObject" Target="../embeddings/oleObject78.bin"/><Relationship Id="rId2" Type="http://schemas.openxmlformats.org/officeDocument/2006/relationships/slideLayout" Target="../slideLayouts/slideLayout7.xml"/><Relationship Id="rId16" Type="http://schemas.openxmlformats.org/officeDocument/2006/relationships/image" Target="../media/image110.png"/><Relationship Id="rId1" Type="http://schemas.openxmlformats.org/officeDocument/2006/relationships/vmlDrawing" Target="../drawings/vmlDrawing30.vml"/><Relationship Id="rId6" Type="http://schemas.openxmlformats.org/officeDocument/2006/relationships/oleObject" Target="../embeddings/oleObject75.bin"/><Relationship Id="rId11" Type="http://schemas.openxmlformats.org/officeDocument/2006/relationships/image" Target="../media/image104.wmf"/><Relationship Id="rId5" Type="http://schemas.openxmlformats.org/officeDocument/2006/relationships/image" Target="../media/image101.wmf"/><Relationship Id="rId15" Type="http://schemas.openxmlformats.org/officeDocument/2006/relationships/image" Target="../media/image106.w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103.wmf"/><Relationship Id="rId14" Type="http://schemas.openxmlformats.org/officeDocument/2006/relationships/oleObject" Target="../embeddings/oleObject79.bin"/></Relationships>
</file>

<file path=ppt/slides/_rels/slide4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111.wmf"/><Relationship Id="rId4" Type="http://schemas.openxmlformats.org/officeDocument/2006/relationships/oleObject" Target="../embeddings/oleObject80.bin"/></Relationships>
</file>

<file path=ppt/slides/_rels/slide4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oleObject" Target="../embeddings/oleObject81.bin"/><Relationship Id="rId7" Type="http://schemas.openxmlformats.org/officeDocument/2006/relationships/image" Target="../media/image114.wmf"/><Relationship Id="rId12" Type="http://schemas.openxmlformats.org/officeDocument/2006/relationships/image" Target="../media/image121.png"/><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82.bin"/><Relationship Id="rId11" Type="http://schemas.openxmlformats.org/officeDocument/2006/relationships/image" Target="../media/image120.png"/><Relationship Id="rId5" Type="http://schemas.openxmlformats.org/officeDocument/2006/relationships/image" Target="../media/image115.png"/><Relationship Id="rId10" Type="http://schemas.openxmlformats.org/officeDocument/2006/relationships/image" Target="../media/image119.png"/><Relationship Id="rId4" Type="http://schemas.openxmlformats.org/officeDocument/2006/relationships/image" Target="../media/image113.emf"/><Relationship Id="rId9" Type="http://schemas.openxmlformats.org/officeDocument/2006/relationships/image" Target="../media/image1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oleObject" Target="../embeddings/oleObject83.bin"/><Relationship Id="rId7" Type="http://schemas.openxmlformats.org/officeDocument/2006/relationships/image" Target="../media/image123.png"/><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17.emf"/><Relationship Id="rId5" Type="http://schemas.openxmlformats.org/officeDocument/2006/relationships/oleObject" Target="../embeddings/oleObject84.bin"/><Relationship Id="rId4" Type="http://schemas.openxmlformats.org/officeDocument/2006/relationships/image" Target="../media/image116.emf"/></Relationships>
</file>

<file path=ppt/slides/_rels/slide49.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25.e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85.bin"/><Relationship Id="rId5" Type="http://schemas.openxmlformats.org/officeDocument/2006/relationships/image" Target="../media/image128.png"/><Relationship Id="rId4" Type="http://schemas.openxmlformats.org/officeDocument/2006/relationships/image" Target="../media/image127.png"/></Relationships>
</file>

<file path=ppt/slides/_rels/slide50.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oleObject" Target="../embeddings/oleObject86.bin"/><Relationship Id="rId7" Type="http://schemas.openxmlformats.org/officeDocument/2006/relationships/image" Target="../media/image134.png"/><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33.png"/><Relationship Id="rId11" Type="http://schemas.openxmlformats.org/officeDocument/2006/relationships/image" Target="../media/image138.png"/><Relationship Id="rId5" Type="http://schemas.openxmlformats.org/officeDocument/2006/relationships/image" Target="../media/image132.png"/><Relationship Id="rId10" Type="http://schemas.openxmlformats.org/officeDocument/2006/relationships/image" Target="../media/image137.png"/><Relationship Id="rId4" Type="http://schemas.openxmlformats.org/officeDocument/2006/relationships/image" Target="../media/image129.emf"/><Relationship Id="rId9" Type="http://schemas.openxmlformats.org/officeDocument/2006/relationships/image" Target="../media/image136.png"/></Relationships>
</file>

<file path=ppt/slides/_rels/slide51.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8.png"/><Relationship Id="rId3" Type="http://schemas.openxmlformats.org/officeDocument/2006/relationships/oleObject" Target="../embeddings/oleObject87.bin"/><Relationship Id="rId7" Type="http://schemas.openxmlformats.org/officeDocument/2006/relationships/image" Target="../media/image142.png"/><Relationship Id="rId12" Type="http://schemas.openxmlformats.org/officeDocument/2006/relationships/image" Target="../media/image147.png"/><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41.png"/><Relationship Id="rId11" Type="http://schemas.openxmlformats.org/officeDocument/2006/relationships/image" Target="../media/image146.png"/><Relationship Id="rId5" Type="http://schemas.openxmlformats.org/officeDocument/2006/relationships/image" Target="../media/image140.png"/><Relationship Id="rId10" Type="http://schemas.openxmlformats.org/officeDocument/2006/relationships/image" Target="../media/image145.png"/><Relationship Id="rId4" Type="http://schemas.openxmlformats.org/officeDocument/2006/relationships/image" Target="../media/image130.emf"/><Relationship Id="rId9" Type="http://schemas.openxmlformats.org/officeDocument/2006/relationships/image" Target="../media/image131.png"/><Relationship Id="rId14" Type="http://schemas.openxmlformats.org/officeDocument/2006/relationships/image" Target="../media/image1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32472;&#21046;&#20219;&#24847;&#26012;&#29575;&#21453;&#36208;&#26679;&#30452;&#32447;.exe" TargetMode="External"/><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7.xml"/><Relationship Id="rId5" Type="http://schemas.openxmlformats.org/officeDocument/2006/relationships/image" Target="../media/image153.png"/><Relationship Id="rId4" Type="http://schemas.openxmlformats.org/officeDocument/2006/relationships/image" Target="../media/image152.png"/></Relationships>
</file>

<file path=ppt/slides/_rels/slide56.xml.rels><?xml version="1.0" encoding="UTF-8" standalone="yes"?>
<Relationships xmlns="http://schemas.openxmlformats.org/package/2006/relationships"><Relationship Id="rId3" Type="http://schemas.openxmlformats.org/officeDocument/2006/relationships/hyperlink" Target="&#39068;&#33394;&#28176;&#21464;&#21453;&#36208;&#26679;&#30452;&#32447;&#30333;&#33394;&#32972;&#26223;.exe" TargetMode="External"/><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55.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image" Target="../media/image156.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7.xml"/><Relationship Id="rId4" Type="http://schemas.openxmlformats.org/officeDocument/2006/relationships/image" Target="../media/image159.png"/></Relationships>
</file>

<file path=ppt/slides/_rels/slide6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hyperlink" Target="&#30333;&#33394;&#32972;&#26223;&#21453;&#36208;&#26679;&#26102;&#38047;.exe"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40657;&#33394;&#32972;&#26223;&#21453;&#36208;&#26679;&#26102;&#38047;.exe" TargetMode="External"/><Relationship Id="rId2" Type="http://schemas.openxmlformats.org/officeDocument/2006/relationships/image" Target="../media/image16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AutoShape 6" descr="新闻纸"/>
          <p:cNvSpPr>
            <a:spLocks noChangeArrowheads="1"/>
          </p:cNvSpPr>
          <p:nvPr/>
        </p:nvSpPr>
        <p:spPr bwMode="auto">
          <a:xfrm>
            <a:off x="1042988" y="0"/>
            <a:ext cx="2449512" cy="1268413"/>
          </a:xfrm>
          <a:prstGeom prst="diamond">
            <a:avLst/>
          </a:prstGeom>
          <a:blipFill dpi="0" rotWithShape="0">
            <a:blip r:embed="rId3"/>
            <a:srcRect/>
            <a:tile tx="0" ty="0" sx="100000" sy="100000" flip="none" algn="tl"/>
          </a:blipFill>
          <a:ln>
            <a:noFill/>
          </a:ln>
          <a:effectLst>
            <a:prstShdw prst="shdw17" dist="17961" dir="2700000">
              <a:srgbClr val="959595"/>
            </a:prstShdw>
          </a:effectLst>
          <a:extLst>
            <a:ext uri="{91240B29-F687-4F45-9708-019B960494DF}">
              <a14:hiddenLine xmlns:a14="http://schemas.microsoft.com/office/drawing/2010/main" w="9525">
                <a:solidFill>
                  <a:srgbClr val="000000"/>
                </a:solidFill>
                <a:miter lim="800000"/>
                <a:headEnd/>
                <a:tailEnd/>
              </a14:hiddenLine>
            </a:ext>
          </a:extLst>
        </p:spPr>
        <p:txBody>
          <a:bodyPr t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a:lnSpc>
                <a:spcPct val="150000"/>
              </a:lnSpc>
              <a:spcBef>
                <a:spcPct val="0"/>
              </a:spcBef>
              <a:buFont typeface="Arial" panose="020B0604020202020204" pitchFamily="34" charset="0"/>
              <a:buNone/>
            </a:pPr>
            <a:r>
              <a:rPr lang="zh-CN" altLang="en-US" sz="2400" b="1">
                <a:solidFill>
                  <a:schemeClr val="folHlink"/>
                </a:solidFill>
                <a:latin typeface="Times New Roman" panose="02020603050405020304" pitchFamily="18" charset="0"/>
              </a:rPr>
              <a:t>第三章</a:t>
            </a:r>
            <a:endParaRPr lang="zh-CN" altLang="en-US" sz="2400" b="1">
              <a:solidFill>
                <a:schemeClr val="folHlink"/>
              </a:solidFill>
              <a:latin typeface="幼圆" panose="02010509060101010101" pitchFamily="49" charset="-122"/>
            </a:endParaRPr>
          </a:p>
        </p:txBody>
      </p:sp>
      <p:sp>
        <p:nvSpPr>
          <p:cNvPr id="3075" name="Text Box 8"/>
          <p:cNvSpPr txBox="1">
            <a:spLocks noChangeArrowheads="1"/>
          </p:cNvSpPr>
          <p:nvPr/>
        </p:nvSpPr>
        <p:spPr bwMode="auto">
          <a:xfrm>
            <a:off x="1981200" y="304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endParaRPr lang="zh-CN" altLang="en-US" sz="2400">
              <a:latin typeface="Tahoma" panose="020B0604030504040204" pitchFamily="34" charset="0"/>
              <a:ea typeface="宋体" panose="02010600030101010101" pitchFamily="2" charset="-122"/>
            </a:endParaRPr>
          </a:p>
        </p:txBody>
      </p:sp>
      <p:grpSp>
        <p:nvGrpSpPr>
          <p:cNvPr id="3076" name="Group 5"/>
          <p:cNvGrpSpPr>
            <a:grpSpLocks/>
          </p:cNvGrpSpPr>
          <p:nvPr/>
        </p:nvGrpSpPr>
        <p:grpSpPr bwMode="auto">
          <a:xfrm>
            <a:off x="1692275" y="3789363"/>
            <a:ext cx="3810000" cy="519112"/>
            <a:chOff x="0" y="0"/>
            <a:chExt cx="5675" cy="663"/>
          </a:xfrm>
        </p:grpSpPr>
        <p:grpSp>
          <p:nvGrpSpPr>
            <p:cNvPr id="2" name="Group 6"/>
            <p:cNvGrpSpPr>
              <a:grpSpLocks/>
            </p:cNvGrpSpPr>
            <p:nvPr/>
          </p:nvGrpSpPr>
          <p:grpSpPr bwMode="auto">
            <a:xfrm>
              <a:off x="183" y="68"/>
              <a:ext cx="448" cy="299"/>
              <a:chOff x="0" y="0"/>
              <a:chExt cx="624" cy="432"/>
            </a:xfrm>
          </p:grpSpPr>
          <p:sp>
            <p:nvSpPr>
              <p:cNvPr id="3085" name="Rectangle 21"/>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3086" name="Rectangle 22"/>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pSp>
        <p:grpSp>
          <p:nvGrpSpPr>
            <p:cNvPr id="3079" name="Group 9"/>
            <p:cNvGrpSpPr>
              <a:grpSpLocks/>
            </p:cNvGrpSpPr>
            <p:nvPr/>
          </p:nvGrpSpPr>
          <p:grpSpPr bwMode="auto">
            <a:xfrm>
              <a:off x="261" y="334"/>
              <a:ext cx="465" cy="299"/>
              <a:chOff x="0" y="0"/>
              <a:chExt cx="672" cy="432"/>
            </a:xfrm>
          </p:grpSpPr>
          <p:sp>
            <p:nvSpPr>
              <p:cNvPr id="3083" name="Rectangle 24"/>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3084" name="Rectangle 25"/>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pSp>
        <p:sp>
          <p:nvSpPr>
            <p:cNvPr id="3080" name="Rectangle 26"/>
            <p:cNvSpPr>
              <a:spLocks noChangeArrowheads="1"/>
            </p:cNvSpPr>
            <p:nvPr/>
          </p:nvSpPr>
          <p:spPr bwMode="auto">
            <a:xfrm>
              <a:off x="0" y="288"/>
              <a:ext cx="353" cy="266"/>
            </a:xfrm>
            <a:prstGeom prst="rect">
              <a:avLst/>
            </a:prstGeom>
            <a:gradFill rotWithShape="0">
              <a:gsLst>
                <a:gs pos="0">
                  <a:schemeClr val="bg1"/>
                </a:gs>
                <a:gs pos="100000">
                  <a:schemeClr val="hlink"/>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3081" name="Rectangle 27"/>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3082" name="Rectangle 28"/>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pSp>
      <p:sp>
        <p:nvSpPr>
          <p:cNvPr id="3078" name="WordArt 33"/>
          <p:cNvSpPr>
            <a:spLocks noChangeArrowheads="1" noChangeShapeType="1" noTextEdit="1"/>
          </p:cNvSpPr>
          <p:nvPr/>
        </p:nvSpPr>
        <p:spPr bwMode="auto">
          <a:xfrm>
            <a:off x="2339975" y="2997200"/>
            <a:ext cx="5976938" cy="1152525"/>
          </a:xfrm>
          <a:prstGeom prst="rect">
            <a:avLst/>
          </a:prstGeom>
        </p:spPr>
        <p:txBody>
          <a:bodyPr wrap="none" fromWordArt="1">
            <a:prstTxWarp prst="textPlain">
              <a:avLst>
                <a:gd name="adj" fmla="val 50000"/>
              </a:avLst>
            </a:prstTxWarp>
          </a:bodyPr>
          <a:lstStyle/>
          <a:p>
            <a:pPr algn="ctr"/>
            <a:r>
              <a:rPr lang="zh-CN" altLang="en-US" sz="3200" kern="10">
                <a:ln w="12700">
                  <a:solidFill>
                    <a:schemeClr val="bg2"/>
                  </a:solidFill>
                  <a:round/>
                  <a:headEnd/>
                  <a:tailEnd/>
                </a:ln>
                <a:solidFill>
                  <a:schemeClr val="tx1">
                    <a:alpha val="74901"/>
                  </a:schemeClr>
                </a:solidFill>
                <a:effectLst>
                  <a:outerShdw dist="45791" dir="2021404" algn="ctr" rotWithShape="0">
                    <a:srgbClr val="9999FF"/>
                  </a:outerShdw>
                </a:effectLst>
                <a:latin typeface="楷体_GB2312"/>
              </a:rPr>
              <a:t>基本图形的扫描转换</a:t>
            </a:r>
          </a:p>
        </p:txBody>
      </p:sp>
    </p:spTree>
  </p:cSld>
  <p:clrMapOvr>
    <a:masterClrMapping/>
  </p:clrMapOvr>
  <p:transition advClick="0" advTm="1000">
    <p:zo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0-#ppt_w/2"/>
                                          </p:val>
                                        </p:tav>
                                        <p:tav tm="100000">
                                          <p:val>
                                            <p:strVal val="#ppt_x"/>
                                          </p:val>
                                        </p:tav>
                                      </p:tavLst>
                                    </p:anim>
                                    <p:anim calcmode="lin" valueType="num">
                                      <p:cBhvr additive="base">
                                        <p:cTn id="8" dur="500" fill="hold"/>
                                        <p:tgtEl>
                                          <p:spTgt spid="51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78"/>
                                        </p:tgtEl>
                                        <p:attrNameLst>
                                          <p:attrName>style.visibility</p:attrName>
                                        </p:attrNameLst>
                                      </p:cBhvr>
                                      <p:to>
                                        <p:strVal val="visible"/>
                                      </p:to>
                                    </p:set>
                                    <p:anim calcmode="lin" valueType="num">
                                      <p:cBhvr additive="base">
                                        <p:cTn id="13" dur="500" fill="hold"/>
                                        <p:tgtEl>
                                          <p:spTgt spid="3078"/>
                                        </p:tgtEl>
                                        <p:attrNameLst>
                                          <p:attrName>ppt_x</p:attrName>
                                        </p:attrNameLst>
                                      </p:cBhvr>
                                      <p:tavLst>
                                        <p:tav tm="0">
                                          <p:val>
                                            <p:strVal val="#ppt_x"/>
                                          </p:val>
                                        </p:tav>
                                        <p:tav tm="100000">
                                          <p:val>
                                            <p:strVal val="#ppt_x"/>
                                          </p:val>
                                        </p:tav>
                                      </p:tavLst>
                                    </p:anim>
                                    <p:anim calcmode="lin" valueType="num">
                                      <p:cBhvr additive="base">
                                        <p:cTn id="14"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3"/>
          <p:cNvSpPr>
            <a:spLocks noGrp="1" noChangeArrowheads="1"/>
          </p:cNvSpPr>
          <p:nvPr>
            <p:ph type="body" idx="4294967295"/>
          </p:nvPr>
        </p:nvSpPr>
        <p:spPr>
          <a:xfrm>
            <a:off x="3024188" y="1628775"/>
            <a:ext cx="6119812" cy="3240088"/>
          </a:xfrm>
          <a:ln>
            <a:miter lim="800000"/>
          </a:ln>
        </p:spPr>
        <p:txBody>
          <a:bodyPr rtlCol="0">
            <a:normAutofit/>
          </a:bodyPr>
          <a:lstStyle/>
          <a:p>
            <a:pPr eaLnBrk="1" fontAlgn="auto" hangingPunct="1">
              <a:spcAft>
                <a:spcPts val="0"/>
              </a:spcAft>
              <a:defRPr/>
            </a:pPr>
            <a:r>
              <a:rPr lang="zh-CN" altLang="en-US" smtClean="0">
                <a:effectLst>
                  <a:outerShdw blurRad="38100" dist="38100" dir="2700000" algn="tl">
                    <a:srgbClr val="C0C0C0"/>
                  </a:outerShdw>
                </a:effectLst>
                <a:ea typeface="隶书" panose="02010509060101010101" pitchFamily="49" charset="-122"/>
                <a:hlinkClick r:id="rId2" action="ppaction://hlinksldjump"/>
              </a:rPr>
              <a:t>扫描转换的基本概念</a:t>
            </a:r>
            <a:endParaRPr lang="zh-CN" altLang="en-US" smtClean="0">
              <a:effectLst>
                <a:outerShdw blurRad="38100" dist="38100" dir="2700000" algn="tl">
                  <a:srgbClr val="C0C0C0"/>
                </a:outerShdw>
              </a:effectLst>
              <a:ea typeface="隶书" panose="02010509060101010101" pitchFamily="49" charset="-122"/>
            </a:endParaRPr>
          </a:p>
          <a:p>
            <a:pPr eaLnBrk="1" fontAlgn="auto" hangingPunct="1">
              <a:spcAft>
                <a:spcPts val="0"/>
              </a:spcAft>
              <a:defRPr/>
            </a:pPr>
            <a:r>
              <a:rPr lang="en-US" smtClean="0">
                <a:hlinkClick r:id="rId3" action="ppaction://hlinksldjump"/>
              </a:rPr>
              <a:t>Jack Elton Bresenham</a:t>
            </a:r>
            <a:r>
              <a:rPr lang="zh-CN" altLang="en-US" smtClean="0">
                <a:effectLst>
                  <a:outerShdw blurRad="38100" dist="38100" dir="2700000" algn="tl">
                    <a:srgbClr val="C0C0C0"/>
                  </a:outerShdw>
                </a:effectLst>
                <a:ea typeface="隶书" panose="02010509060101010101" pitchFamily="49" charset="-122"/>
                <a:hlinkClick r:id="rId3" action="ppaction://hlinksldjump"/>
              </a:rPr>
              <a:t>简介</a:t>
            </a:r>
            <a:endParaRPr lang="zh-CN" altLang="en-US" smtClean="0">
              <a:effectLst>
                <a:outerShdw blurRad="38100" dist="38100" dir="2700000" algn="tl">
                  <a:srgbClr val="C0C0C0"/>
                </a:outerShdw>
              </a:effectLst>
              <a:ea typeface="隶书" panose="02010509060101010101" pitchFamily="49" charset="-122"/>
            </a:endParaRPr>
          </a:p>
          <a:p>
            <a:pPr eaLnBrk="1" fontAlgn="auto" hangingPunct="1">
              <a:spcAft>
                <a:spcPts val="0"/>
              </a:spcAft>
              <a:defRPr/>
            </a:pPr>
            <a:r>
              <a:rPr lang="zh-CN" altLang="en-US" smtClean="0">
                <a:effectLst>
                  <a:outerShdw blurRad="38100" dist="38100" dir="2700000" algn="tl">
                    <a:srgbClr val="C0C0C0"/>
                  </a:outerShdw>
                </a:effectLst>
                <a:ea typeface="隶书" panose="02010509060101010101" pitchFamily="49" charset="-122"/>
                <a:hlinkClick r:id="rId4" action="ppaction://hlinksldjump"/>
              </a:rPr>
              <a:t>直线的扫描转换算法</a:t>
            </a:r>
            <a:endParaRPr lang="zh-CN" altLang="en-US" smtClean="0">
              <a:effectLst>
                <a:outerShdw blurRad="38100" dist="38100" dir="2700000" algn="tl">
                  <a:srgbClr val="C0C0C0"/>
                </a:outerShdw>
              </a:effectLst>
              <a:ea typeface="隶书" panose="02010509060101010101" pitchFamily="49" charset="-122"/>
            </a:endParaRPr>
          </a:p>
          <a:p>
            <a:pPr eaLnBrk="1" fontAlgn="auto" hangingPunct="1">
              <a:spcAft>
                <a:spcPts val="0"/>
              </a:spcAft>
              <a:defRPr/>
            </a:pPr>
            <a:r>
              <a:rPr lang="zh-CN" altLang="en-US" smtClean="0">
                <a:effectLst>
                  <a:outerShdw blurRad="38100" dist="38100" dir="2700000" algn="tl">
                    <a:srgbClr val="C0C0C0"/>
                  </a:outerShdw>
                </a:effectLst>
                <a:ea typeface="隶书" panose="02010509060101010101" pitchFamily="49" charset="-122"/>
                <a:hlinkClick r:id="rId5" action="ppaction://hlinksldjump"/>
              </a:rPr>
              <a:t>圆的扫描转换算法</a:t>
            </a:r>
            <a:endParaRPr lang="zh-CN" altLang="en-US" smtClean="0">
              <a:effectLst>
                <a:outerShdw blurRad="38100" dist="38100" dir="2700000" algn="tl">
                  <a:srgbClr val="C0C0C0"/>
                </a:outerShdw>
              </a:effectLst>
              <a:ea typeface="隶书" panose="02010509060101010101" pitchFamily="49" charset="-122"/>
            </a:endParaRPr>
          </a:p>
          <a:p>
            <a:pPr eaLnBrk="1" fontAlgn="auto" hangingPunct="1">
              <a:spcAft>
                <a:spcPts val="0"/>
              </a:spcAft>
              <a:defRPr/>
            </a:pPr>
            <a:r>
              <a:rPr lang="zh-CN" altLang="en-US" smtClean="0">
                <a:effectLst>
                  <a:outerShdw blurRad="38100" dist="38100" dir="2700000" algn="tl">
                    <a:srgbClr val="C0C0C0"/>
                  </a:outerShdw>
                </a:effectLst>
                <a:ea typeface="隶书" panose="02010509060101010101" pitchFamily="49" charset="-122"/>
                <a:hlinkClick r:id="rId6" action="ppaction://hlinksldjump"/>
              </a:rPr>
              <a:t>椭圆的扫描转换算法</a:t>
            </a:r>
            <a:endParaRPr lang="zh-CN" altLang="en-US" smtClean="0">
              <a:effectLst>
                <a:outerShdw blurRad="38100" dist="38100" dir="2700000" algn="tl">
                  <a:srgbClr val="C0C0C0"/>
                </a:outerShdw>
              </a:effectLst>
              <a:ea typeface="隶书" panose="02010509060101010101" pitchFamily="49" charset="-122"/>
            </a:endParaRPr>
          </a:p>
          <a:p>
            <a:pPr eaLnBrk="1" fontAlgn="auto" hangingPunct="1">
              <a:spcAft>
                <a:spcPts val="0"/>
              </a:spcAft>
              <a:defRPr/>
            </a:pPr>
            <a:r>
              <a:rPr lang="en-US" smtClean="0">
                <a:effectLst>
                  <a:outerShdw blurRad="38100" dist="38100" dir="2700000" algn="tl">
                    <a:srgbClr val="C0C0C0"/>
                  </a:outerShdw>
                </a:effectLst>
                <a:ea typeface="隶书" panose="02010509060101010101" pitchFamily="49" charset="-122"/>
                <a:hlinkClick r:id="rId7" action="ppaction://hlinksldjump"/>
              </a:rPr>
              <a:t>Wu</a:t>
            </a:r>
            <a:r>
              <a:rPr lang="zh-CN" altLang="en-US" smtClean="0">
                <a:effectLst>
                  <a:outerShdw blurRad="38100" dist="38100" dir="2700000" algn="tl">
                    <a:srgbClr val="C0C0C0"/>
                  </a:outerShdw>
                </a:effectLst>
                <a:ea typeface="隶书" panose="02010509060101010101" pitchFamily="49" charset="-122"/>
                <a:hlinkClick r:id="rId7" action="ppaction://hlinksldjump"/>
              </a:rPr>
              <a:t>反走样算法</a:t>
            </a:r>
            <a:endParaRPr lang="zh-CN" altLang="en-US" smtClean="0">
              <a:effectLst>
                <a:outerShdw blurRad="38100" dist="38100" dir="2700000" algn="tl">
                  <a:srgbClr val="C0C0C0"/>
                </a:outerShdw>
              </a:effectLst>
              <a:ea typeface="隶书" panose="02010509060101010101" pitchFamily="49" charset="-122"/>
            </a:endParaRPr>
          </a:p>
        </p:txBody>
      </p:sp>
      <p:sp>
        <p:nvSpPr>
          <p:cNvPr id="6147" name="Text Box 16"/>
          <p:cNvSpPr txBox="1">
            <a:spLocks noChangeArrowheads="1"/>
          </p:cNvSpPr>
          <p:nvPr/>
        </p:nvSpPr>
        <p:spPr bwMode="auto">
          <a:xfrm>
            <a:off x="1403350" y="188913"/>
            <a:ext cx="3168650" cy="641350"/>
          </a:xfrm>
          <a:prstGeom prst="rect">
            <a:avLst/>
          </a:prstGeom>
          <a:noFill/>
          <a:ln w="9525">
            <a:noFill/>
            <a:miter lim="800000"/>
          </a:ln>
        </p:spPr>
        <p:txBody>
          <a:bodyPr>
            <a:spAutoFit/>
          </a:bodyPr>
          <a:lstStyle/>
          <a:p>
            <a:pPr eaLnBrk="1" hangingPunct="1">
              <a:spcBef>
                <a:spcPct val="50000"/>
              </a:spcBef>
              <a:buFont typeface="Arial" panose="020B0604020202020204" pitchFamily="34" charset="0"/>
              <a:buNone/>
              <a:defRPr/>
            </a:pPr>
            <a:r>
              <a:rPr lang="zh-CN" altLang="en-US" sz="3600" b="1">
                <a:effectLst>
                  <a:outerShdw blurRad="38100" dist="38100" dir="2700000" algn="tl">
                    <a:srgbClr val="C0C0C0"/>
                  </a:outerShdw>
                </a:effectLst>
                <a:latin typeface="楷体_GB2312" pitchFamily="49" charset="-122"/>
              </a:rPr>
              <a:t>本章学习目标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box(in)">
                                      <p:cBhvr>
                                        <p:cTn id="7" dur="500"/>
                                        <p:tgtEl>
                                          <p:spTgt spid="61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146">
                                            <p:txEl>
                                              <p:pRg st="1" end="1"/>
                                            </p:txEl>
                                          </p:spTgt>
                                        </p:tgtEl>
                                        <p:attrNameLst>
                                          <p:attrName>style.visibility</p:attrName>
                                        </p:attrNameLst>
                                      </p:cBhvr>
                                      <p:to>
                                        <p:strVal val="visible"/>
                                      </p:to>
                                    </p:set>
                                    <p:animEffect transition="in" filter="box(in)">
                                      <p:cBhvr>
                                        <p:cTn id="12" dur="500"/>
                                        <p:tgtEl>
                                          <p:spTgt spid="61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146">
                                            <p:txEl>
                                              <p:pRg st="2" end="2"/>
                                            </p:txEl>
                                          </p:spTgt>
                                        </p:tgtEl>
                                        <p:attrNameLst>
                                          <p:attrName>style.visibility</p:attrName>
                                        </p:attrNameLst>
                                      </p:cBhvr>
                                      <p:to>
                                        <p:strVal val="visible"/>
                                      </p:to>
                                    </p:set>
                                    <p:animEffect transition="in" filter="box(in)">
                                      <p:cBhvr>
                                        <p:cTn id="17" dur="500"/>
                                        <p:tgtEl>
                                          <p:spTgt spid="614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146">
                                            <p:txEl>
                                              <p:pRg st="3" end="3"/>
                                            </p:txEl>
                                          </p:spTgt>
                                        </p:tgtEl>
                                        <p:attrNameLst>
                                          <p:attrName>style.visibility</p:attrName>
                                        </p:attrNameLst>
                                      </p:cBhvr>
                                      <p:to>
                                        <p:strVal val="visible"/>
                                      </p:to>
                                    </p:set>
                                    <p:animEffect transition="in" filter="box(in)">
                                      <p:cBhvr>
                                        <p:cTn id="22" dur="500"/>
                                        <p:tgtEl>
                                          <p:spTgt spid="614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146">
                                            <p:txEl>
                                              <p:pRg st="4" end="4"/>
                                            </p:txEl>
                                          </p:spTgt>
                                        </p:tgtEl>
                                        <p:attrNameLst>
                                          <p:attrName>style.visibility</p:attrName>
                                        </p:attrNameLst>
                                      </p:cBhvr>
                                      <p:to>
                                        <p:strVal val="visible"/>
                                      </p:to>
                                    </p:set>
                                    <p:animEffect transition="in" filter="box(in)">
                                      <p:cBhvr>
                                        <p:cTn id="27" dur="500"/>
                                        <p:tgtEl>
                                          <p:spTgt spid="614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146">
                                            <p:txEl>
                                              <p:pRg st="5" end="5"/>
                                            </p:txEl>
                                          </p:spTgt>
                                        </p:tgtEl>
                                        <p:attrNameLst>
                                          <p:attrName>style.visibility</p:attrName>
                                        </p:attrNameLst>
                                      </p:cBhvr>
                                      <p:to>
                                        <p:strVal val="visible"/>
                                      </p:to>
                                    </p:set>
                                    <p:animEffect transition="in" filter="box(in)">
                                      <p:cBhvr>
                                        <p:cTn id="32" dur="500"/>
                                        <p:tgtEl>
                                          <p:spTgt spid="61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9"/>
          <p:cNvSpPr>
            <a:spLocks noGrp="1" noChangeArrowheads="1"/>
          </p:cNvSpPr>
          <p:nvPr>
            <p:ph type="body" idx="4294967295"/>
          </p:nvPr>
        </p:nvSpPr>
        <p:spPr>
          <a:xfrm>
            <a:off x="3024188" y="1628775"/>
            <a:ext cx="6119812" cy="3960813"/>
          </a:xfrm>
        </p:spPr>
        <p:txBody>
          <a:bodyPr/>
          <a:lstStyle/>
          <a:p>
            <a:pPr eaLnBrk="1" hangingPunct="1"/>
            <a:r>
              <a:rPr lang="en-US" altLang="zh-CN" sz="3600" b="1" smtClean="0">
                <a:latin typeface="隶书" panose="02010509060101010101" pitchFamily="49" charset="-122"/>
                <a:ea typeface="隶书" panose="02010509060101010101" pitchFamily="49" charset="-122"/>
              </a:rPr>
              <a:t>3.1  </a:t>
            </a:r>
            <a:r>
              <a:rPr lang="zh-CN" altLang="en-US" sz="3600" b="1" smtClean="0">
                <a:latin typeface="隶书" panose="02010509060101010101" pitchFamily="49" charset="-122"/>
                <a:ea typeface="隶书" panose="02010509060101010101" pitchFamily="49" charset="-122"/>
              </a:rPr>
              <a:t>直线的扫描转换</a:t>
            </a:r>
          </a:p>
          <a:p>
            <a:pPr eaLnBrk="1" hangingPunct="1"/>
            <a:r>
              <a:rPr lang="en-US" altLang="zh-CN" sz="3600" b="1" smtClean="0">
                <a:latin typeface="隶书" panose="02010509060101010101" pitchFamily="49" charset="-122"/>
                <a:ea typeface="隶书" panose="02010509060101010101" pitchFamily="49" charset="-122"/>
              </a:rPr>
              <a:t>3.2  </a:t>
            </a:r>
            <a:r>
              <a:rPr lang="zh-CN" altLang="en-US" sz="3600" b="1" smtClean="0">
                <a:latin typeface="隶书" panose="02010509060101010101" pitchFamily="49" charset="-122"/>
                <a:ea typeface="隶书" panose="02010509060101010101" pitchFamily="49" charset="-122"/>
              </a:rPr>
              <a:t>圆的扫描转换</a:t>
            </a:r>
          </a:p>
          <a:p>
            <a:pPr eaLnBrk="1" hangingPunct="1"/>
            <a:r>
              <a:rPr lang="en-US" altLang="zh-CN" sz="3600" b="1" smtClean="0">
                <a:latin typeface="隶书" panose="02010509060101010101" pitchFamily="49" charset="-122"/>
                <a:ea typeface="隶书" panose="02010509060101010101" pitchFamily="49" charset="-122"/>
              </a:rPr>
              <a:t>3.3  </a:t>
            </a:r>
            <a:r>
              <a:rPr lang="zh-CN" altLang="en-US" sz="3600" b="1" smtClean="0">
                <a:latin typeface="隶书" panose="02010509060101010101" pitchFamily="49" charset="-122"/>
                <a:ea typeface="隶书" panose="02010509060101010101" pitchFamily="49" charset="-122"/>
              </a:rPr>
              <a:t>椭圆的扫描转换</a:t>
            </a:r>
          </a:p>
          <a:p>
            <a:pPr eaLnBrk="1" hangingPunct="1"/>
            <a:r>
              <a:rPr lang="en-US" altLang="zh-CN" sz="3600" b="1" smtClean="0">
                <a:latin typeface="隶书" panose="02010509060101010101" pitchFamily="49" charset="-122"/>
                <a:ea typeface="隶书" panose="02010509060101010101" pitchFamily="49" charset="-122"/>
              </a:rPr>
              <a:t>3.4  Wu</a:t>
            </a:r>
            <a:r>
              <a:rPr lang="zh-CN" altLang="en-US" sz="3600" b="1" smtClean="0">
                <a:latin typeface="隶书" panose="02010509060101010101" pitchFamily="49" charset="-122"/>
                <a:ea typeface="隶书" panose="02010509060101010101" pitchFamily="49" charset="-122"/>
              </a:rPr>
              <a:t>反走样算法</a:t>
            </a:r>
          </a:p>
          <a:p>
            <a:pPr eaLnBrk="1" hangingPunct="1"/>
            <a:r>
              <a:rPr lang="en-US" altLang="zh-CN" sz="3600" b="1" smtClean="0">
                <a:latin typeface="隶书" panose="02010509060101010101" pitchFamily="49" charset="-122"/>
                <a:ea typeface="隶书" panose="02010509060101010101" pitchFamily="49" charset="-122"/>
              </a:rPr>
              <a:t>3.6  </a:t>
            </a:r>
            <a:r>
              <a:rPr lang="zh-CN" altLang="en-US" sz="3600" b="1" smtClean="0">
                <a:latin typeface="隶书" panose="02010509060101010101" pitchFamily="49" charset="-122"/>
                <a:ea typeface="隶书" panose="02010509060101010101" pitchFamily="49" charset="-122"/>
              </a:rPr>
              <a:t>本章小结</a:t>
            </a:r>
          </a:p>
          <a:p>
            <a:pPr eaLnBrk="1" hangingPunct="1"/>
            <a:r>
              <a:rPr lang="zh-CN" altLang="en-US" sz="3600" b="1" smtClean="0">
                <a:latin typeface="隶书" panose="02010509060101010101" pitchFamily="49" charset="-122"/>
                <a:ea typeface="隶书" panose="02010509060101010101" pitchFamily="49" charset="-122"/>
              </a:rPr>
              <a:t>习题 </a:t>
            </a:r>
            <a:r>
              <a:rPr lang="en-US" altLang="zh-CN" sz="3600" b="1" smtClean="0">
                <a:latin typeface="隶书" panose="02010509060101010101" pitchFamily="49" charset="-122"/>
                <a:ea typeface="隶书" panose="02010509060101010101" pitchFamily="49" charset="-122"/>
              </a:rPr>
              <a:t>3</a:t>
            </a:r>
          </a:p>
        </p:txBody>
      </p:sp>
      <p:sp>
        <p:nvSpPr>
          <p:cNvPr id="7171" name="Text Box 13"/>
          <p:cNvSpPr txBox="1">
            <a:spLocks noChangeArrowheads="1"/>
          </p:cNvSpPr>
          <p:nvPr/>
        </p:nvSpPr>
        <p:spPr bwMode="auto">
          <a:xfrm>
            <a:off x="1547813" y="404813"/>
            <a:ext cx="2663825" cy="641350"/>
          </a:xfrm>
          <a:prstGeom prst="rect">
            <a:avLst/>
          </a:prstGeom>
          <a:noFill/>
          <a:ln w="9525">
            <a:noFill/>
            <a:miter lim="800000"/>
          </a:ln>
        </p:spPr>
        <p:txBody>
          <a:bodyPr>
            <a:spAutoFit/>
          </a:bodyPr>
          <a:lstStyle/>
          <a:p>
            <a:pPr eaLnBrk="1" hangingPunct="1">
              <a:spcBef>
                <a:spcPct val="50000"/>
              </a:spcBef>
              <a:buFont typeface="Arial" panose="020B0604020202020204" pitchFamily="34" charset="0"/>
              <a:buNone/>
              <a:defRPr/>
            </a:pPr>
            <a:r>
              <a:rPr lang="zh-CN" altLang="en-US" sz="3600" b="1">
                <a:effectLst>
                  <a:outerShdw blurRad="38100" dist="38100" dir="2700000" algn="tl">
                    <a:srgbClr val="C0C0C0"/>
                  </a:outerShdw>
                </a:effectLst>
                <a:latin typeface="楷体_GB2312" pitchFamily="49" charset="-122"/>
              </a:rPr>
              <a:t>本章内容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2" dur="500"/>
                                        <p:tgtEl>
                                          <p:spTgt spid="71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7" dur="500"/>
                                        <p:tgtEl>
                                          <p:spTgt spid="71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0">
                                            <p:txEl>
                                              <p:pRg st="3" end="3"/>
                                            </p:txEl>
                                          </p:spTgt>
                                        </p:tgtEl>
                                        <p:attrNameLst>
                                          <p:attrName>style.visibility</p:attrName>
                                        </p:attrNameLst>
                                      </p:cBhvr>
                                      <p:to>
                                        <p:strVal val="visible"/>
                                      </p:to>
                                    </p:set>
                                    <p:animEffect transition="in" filter="blinds(horizontal)">
                                      <p:cBhvr>
                                        <p:cTn id="22" dur="500"/>
                                        <p:tgtEl>
                                          <p:spTgt spid="717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7" dur="500"/>
                                        <p:tgtEl>
                                          <p:spTgt spid="717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70">
                                            <p:txEl>
                                              <p:pRg st="5" end="5"/>
                                            </p:txEl>
                                          </p:spTgt>
                                        </p:tgtEl>
                                        <p:attrNameLst>
                                          <p:attrName>style.visibility</p:attrName>
                                        </p:attrNameLst>
                                      </p:cBhvr>
                                      <p:to>
                                        <p:strVal val="visible"/>
                                      </p:to>
                                    </p:set>
                                    <p:animEffect transition="in" filter="blinds(horizontal)">
                                      <p:cBhvr>
                                        <p:cTn id="32" dur="500"/>
                                        <p:tgtEl>
                                          <p:spTgt spid="7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539750" y="412750"/>
            <a:ext cx="82804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9875">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40000"/>
              </a:lnSpc>
              <a:spcBef>
                <a:spcPct val="0"/>
              </a:spcBef>
              <a:buFont typeface="Arial" panose="020B0604020202020204" pitchFamily="34" charset="0"/>
              <a:buNone/>
            </a:pPr>
            <a:r>
              <a:rPr lang="zh-CN" altLang="en-US" sz="2400">
                <a:latin typeface="Tahoma" panose="020B0604030504040204" pitchFamily="34" charset="0"/>
              </a:rPr>
              <a:t>   直线、圆、椭圆是二维场景中的最基本图形。尽管</a:t>
            </a:r>
            <a:r>
              <a:rPr lang="en-US" altLang="zh-CN" sz="2400">
                <a:latin typeface="Tahoma" panose="020B0604030504040204" pitchFamily="34" charset="0"/>
              </a:rPr>
              <a:t>MFC</a:t>
            </a:r>
            <a:r>
              <a:rPr lang="zh-CN" altLang="en-US" sz="2400">
                <a:latin typeface="Tahoma" panose="020B0604030504040204" pitchFamily="34" charset="0"/>
              </a:rPr>
              <a:t>的</a:t>
            </a:r>
            <a:r>
              <a:rPr lang="en-US" altLang="zh-CN" sz="2400">
                <a:latin typeface="Tahoma" panose="020B0604030504040204" pitchFamily="34" charset="0"/>
              </a:rPr>
              <a:t>CDC</a:t>
            </a:r>
            <a:r>
              <a:rPr lang="zh-CN" altLang="en-US" sz="2400">
                <a:latin typeface="Tahoma" panose="020B0604030504040204" pitchFamily="34" charset="0"/>
              </a:rPr>
              <a:t>类已经提供了相关的绘制函数，但直接使用这些函数仍然无法满足真实感图形绘制的要求。</a:t>
            </a:r>
            <a:r>
              <a:rPr lang="zh-CN" altLang="en-US" sz="2400" b="1">
                <a:solidFill>
                  <a:srgbClr val="FF0000"/>
                </a:solidFill>
                <a:latin typeface="方正粗黑宋简体" panose="02000000000000000000" pitchFamily="2" charset="-122"/>
                <a:ea typeface="方正粗黑宋简体" panose="02000000000000000000" pitchFamily="2" charset="-122"/>
              </a:rPr>
              <a:t>光栅扫描显示器</a:t>
            </a:r>
            <a:r>
              <a:rPr lang="zh-CN" altLang="en-US" sz="2400">
                <a:latin typeface="Tahoma" panose="020B0604030504040204" pitchFamily="34" charset="0"/>
              </a:rPr>
              <a:t>是画点设备，</a:t>
            </a:r>
            <a:r>
              <a:rPr lang="zh-CN" altLang="en-US" sz="2400" b="1">
                <a:solidFill>
                  <a:srgbClr val="FF0000"/>
                </a:solidFill>
                <a:latin typeface="方正粗黑宋简体" panose="02000000000000000000" pitchFamily="2" charset="-122"/>
                <a:ea typeface="方正粗黑宋简体" panose="02000000000000000000" pitchFamily="2" charset="-122"/>
              </a:rPr>
              <a:t>基本图形的光栅化就是在像素点阵中确定最佳逼近于理想图形的像素点集</a:t>
            </a:r>
            <a:r>
              <a:rPr lang="zh-CN" altLang="en-US" sz="2400">
                <a:latin typeface="Tahoma" panose="020B0604030504040204" pitchFamily="34" charset="0"/>
              </a:rPr>
              <a:t>，</a:t>
            </a:r>
            <a:r>
              <a:rPr lang="zh-CN" altLang="en-US" sz="2400" b="1">
                <a:solidFill>
                  <a:srgbClr val="FF0000"/>
                </a:solidFill>
                <a:latin typeface="方正粗黑宋简体" panose="02000000000000000000" pitchFamily="2" charset="-122"/>
                <a:ea typeface="方正粗黑宋简体" panose="02000000000000000000" pitchFamily="2" charset="-122"/>
              </a:rPr>
              <a:t>并用指定颜色显示这些像素点集的过程</a:t>
            </a:r>
            <a:r>
              <a:rPr lang="zh-CN" altLang="en-US" sz="2400">
                <a:latin typeface="Tahoma" panose="020B0604030504040204" pitchFamily="34" charset="0"/>
              </a:rPr>
              <a:t>。</a:t>
            </a:r>
            <a:r>
              <a:rPr lang="zh-CN" altLang="en-US" sz="2400" b="1">
                <a:latin typeface="Tahoma" panose="020B0604030504040204" pitchFamily="34" charset="0"/>
              </a:rPr>
              <a:t>当光栅化与按扫描线顺序绘制图形的过程结合在一起时，也称为</a:t>
            </a:r>
            <a:r>
              <a:rPr lang="zh-CN" altLang="en-US" sz="2400" b="1">
                <a:solidFill>
                  <a:srgbClr val="FF0000"/>
                </a:solidFill>
                <a:latin typeface="方正粗黑宋简体" panose="02000000000000000000" pitchFamily="2" charset="-122"/>
                <a:ea typeface="方正粗黑宋简体" panose="02000000000000000000" pitchFamily="2" charset="-122"/>
              </a:rPr>
              <a:t>扫描转换</a:t>
            </a:r>
            <a:r>
              <a:rPr lang="zh-CN" altLang="en-US" sz="2400">
                <a:latin typeface="Tahoma" panose="020B0604030504040204" pitchFamily="34" charset="0"/>
              </a:rPr>
              <a:t>。本章从基本图形的生成原理出发，使用绘制像素点函数实现基本图形的扫描转换。</a:t>
            </a:r>
            <a:r>
              <a:rPr lang="zh-CN" altLang="en-US" sz="2400" b="1">
                <a:solidFill>
                  <a:srgbClr val="FF0000"/>
                </a:solidFill>
                <a:latin typeface="方正粗黑宋简体" panose="02000000000000000000" pitchFamily="2" charset="-122"/>
                <a:ea typeface="方正粗黑宋简体" panose="02000000000000000000" pitchFamily="2" charset="-122"/>
              </a:rPr>
              <a:t>绘制像素点函数</a:t>
            </a:r>
            <a:r>
              <a:rPr lang="zh-CN" altLang="en-US" sz="2400">
                <a:latin typeface="Tahoma" panose="020B0604030504040204" pitchFamily="34" charset="0"/>
              </a:rPr>
              <a:t>的原型为</a:t>
            </a:r>
          </a:p>
          <a:p>
            <a:pPr eaLnBrk="1" hangingPunct="1">
              <a:lnSpc>
                <a:spcPct val="140000"/>
              </a:lnSpc>
              <a:spcBef>
                <a:spcPct val="0"/>
              </a:spcBef>
              <a:buFont typeface="Arial" panose="020B0604020202020204" pitchFamily="34" charset="0"/>
              <a:buNone/>
            </a:pPr>
            <a:r>
              <a:rPr lang="en-US" altLang="zh-CN" sz="2400">
                <a:latin typeface="Tahoma" panose="020B0604030504040204" pitchFamily="34" charset="0"/>
              </a:rPr>
              <a:t>  </a:t>
            </a:r>
            <a:r>
              <a:rPr lang="en-US" altLang="zh-CN" sz="2000">
                <a:latin typeface="Tahoma" panose="020B0604030504040204" pitchFamily="34" charset="0"/>
              </a:rPr>
              <a:t>BOOL SetPixelV(int x, int y, COLORREF crColor);</a:t>
            </a:r>
          </a:p>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 直线、圆、椭圆的扫描转换主要使用</a:t>
            </a:r>
            <a:r>
              <a:rPr lang="en-US" altLang="zh-CN" sz="2400" b="1">
                <a:solidFill>
                  <a:srgbClr val="3366FF"/>
                </a:solidFill>
                <a:latin typeface="方正粗黑宋简体" panose="02000000000000000000" pitchFamily="2" charset="-122"/>
                <a:ea typeface="方正粗黑宋简体" panose="02000000000000000000" pitchFamily="2" charset="-122"/>
              </a:rPr>
              <a:t>Bresenham</a:t>
            </a:r>
            <a:r>
              <a:rPr lang="zh-CN" altLang="en-US" sz="2400" b="1">
                <a:solidFill>
                  <a:srgbClr val="3366FF"/>
                </a:solidFill>
                <a:latin typeface="方正粗黑宋简体" panose="02000000000000000000" pitchFamily="2" charset="-122"/>
                <a:ea typeface="方正粗黑宋简体" panose="02000000000000000000" pitchFamily="2" charset="-122"/>
              </a:rPr>
              <a:t>算法</a:t>
            </a:r>
            <a:r>
              <a:rPr lang="zh-CN" altLang="en-US" sz="2400">
                <a:latin typeface="Tahoma" panose="020B0604030504040204" pitchFamily="34" charset="0"/>
              </a:rPr>
              <a:t>实现。</a:t>
            </a:r>
          </a:p>
        </p:txBody>
      </p:sp>
      <p:sp>
        <p:nvSpPr>
          <p:cNvPr id="8195" name="Line 6"/>
          <p:cNvSpPr>
            <a:spLocks noChangeShapeType="1"/>
          </p:cNvSpPr>
          <p:nvPr/>
        </p:nvSpPr>
        <p:spPr bwMode="auto">
          <a:xfrm flipV="1">
            <a:off x="1835150" y="2565400"/>
            <a:ext cx="67691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 name="Line 7"/>
          <p:cNvSpPr>
            <a:spLocks noChangeShapeType="1"/>
          </p:cNvSpPr>
          <p:nvPr/>
        </p:nvSpPr>
        <p:spPr bwMode="auto">
          <a:xfrm flipV="1">
            <a:off x="682625" y="3068638"/>
            <a:ext cx="7705725"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Line 8"/>
          <p:cNvSpPr>
            <a:spLocks noChangeShapeType="1"/>
          </p:cNvSpPr>
          <p:nvPr/>
        </p:nvSpPr>
        <p:spPr bwMode="auto">
          <a:xfrm flipV="1">
            <a:off x="682625" y="3571875"/>
            <a:ext cx="649288" cy="1588"/>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 calcmode="lin" valueType="num">
                                      <p:cBhvr>
                                        <p:cTn id="7" dur="2000" fill="hold"/>
                                        <p:tgtEl>
                                          <p:spTgt spid="8195"/>
                                        </p:tgtEl>
                                        <p:attrNameLst>
                                          <p:attrName>ppt_x</p:attrName>
                                        </p:attrNameLst>
                                      </p:cBhvr>
                                      <p:tavLst>
                                        <p:tav tm="0">
                                          <p:val>
                                            <p:strVal val="#ppt_x-#ppt_w/2"/>
                                          </p:val>
                                        </p:tav>
                                        <p:tav tm="100000">
                                          <p:val>
                                            <p:strVal val="#ppt_x"/>
                                          </p:val>
                                        </p:tav>
                                      </p:tavLst>
                                    </p:anim>
                                    <p:anim calcmode="lin" valueType="num">
                                      <p:cBhvr>
                                        <p:cTn id="8" dur="2000" fill="hold"/>
                                        <p:tgtEl>
                                          <p:spTgt spid="8195"/>
                                        </p:tgtEl>
                                        <p:attrNameLst>
                                          <p:attrName>ppt_y</p:attrName>
                                        </p:attrNameLst>
                                      </p:cBhvr>
                                      <p:tavLst>
                                        <p:tav tm="0">
                                          <p:val>
                                            <p:strVal val="#ppt_y"/>
                                          </p:val>
                                        </p:tav>
                                        <p:tav tm="100000">
                                          <p:val>
                                            <p:strVal val="#ppt_y"/>
                                          </p:val>
                                        </p:tav>
                                      </p:tavLst>
                                    </p:anim>
                                    <p:anim calcmode="lin" valueType="num">
                                      <p:cBhvr>
                                        <p:cTn id="9" dur="2000" fill="hold"/>
                                        <p:tgtEl>
                                          <p:spTgt spid="8195"/>
                                        </p:tgtEl>
                                        <p:attrNameLst>
                                          <p:attrName>ppt_w</p:attrName>
                                        </p:attrNameLst>
                                      </p:cBhvr>
                                      <p:tavLst>
                                        <p:tav tm="0">
                                          <p:val>
                                            <p:fltVal val="0"/>
                                          </p:val>
                                        </p:tav>
                                        <p:tav tm="100000">
                                          <p:val>
                                            <p:strVal val="#ppt_w"/>
                                          </p:val>
                                        </p:tav>
                                      </p:tavLst>
                                    </p:anim>
                                    <p:anim calcmode="lin" valueType="num">
                                      <p:cBhvr>
                                        <p:cTn id="10" dur="2000" fill="hold"/>
                                        <p:tgtEl>
                                          <p:spTgt spid="8195"/>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2000"/>
                            </p:stCondLst>
                            <p:childTnLst>
                              <p:par>
                                <p:cTn id="12" presetID="17" presetClass="entr" presetSubtype="8" fill="hold" nodeType="afterEffect">
                                  <p:stCondLst>
                                    <p:cond delay="0"/>
                                  </p:stCondLst>
                                  <p:childTnLst>
                                    <p:set>
                                      <p:cBhvr>
                                        <p:cTn id="13" dur="1" fill="hold">
                                          <p:stCondLst>
                                            <p:cond delay="0"/>
                                          </p:stCondLst>
                                        </p:cTn>
                                        <p:tgtEl>
                                          <p:spTgt spid="8196"/>
                                        </p:tgtEl>
                                        <p:attrNameLst>
                                          <p:attrName>style.visibility</p:attrName>
                                        </p:attrNameLst>
                                      </p:cBhvr>
                                      <p:to>
                                        <p:strVal val="visible"/>
                                      </p:to>
                                    </p:set>
                                    <p:anim calcmode="lin" valueType="num">
                                      <p:cBhvr>
                                        <p:cTn id="14" dur="2000" fill="hold"/>
                                        <p:tgtEl>
                                          <p:spTgt spid="8196"/>
                                        </p:tgtEl>
                                        <p:attrNameLst>
                                          <p:attrName>ppt_x</p:attrName>
                                        </p:attrNameLst>
                                      </p:cBhvr>
                                      <p:tavLst>
                                        <p:tav tm="0">
                                          <p:val>
                                            <p:strVal val="#ppt_x-#ppt_w/2"/>
                                          </p:val>
                                        </p:tav>
                                        <p:tav tm="100000">
                                          <p:val>
                                            <p:strVal val="#ppt_x"/>
                                          </p:val>
                                        </p:tav>
                                      </p:tavLst>
                                    </p:anim>
                                    <p:anim calcmode="lin" valueType="num">
                                      <p:cBhvr>
                                        <p:cTn id="15" dur="2000" fill="hold"/>
                                        <p:tgtEl>
                                          <p:spTgt spid="8196"/>
                                        </p:tgtEl>
                                        <p:attrNameLst>
                                          <p:attrName>ppt_y</p:attrName>
                                        </p:attrNameLst>
                                      </p:cBhvr>
                                      <p:tavLst>
                                        <p:tav tm="0">
                                          <p:val>
                                            <p:strVal val="#ppt_y"/>
                                          </p:val>
                                        </p:tav>
                                        <p:tav tm="100000">
                                          <p:val>
                                            <p:strVal val="#ppt_y"/>
                                          </p:val>
                                        </p:tav>
                                      </p:tavLst>
                                    </p:anim>
                                    <p:anim calcmode="lin" valueType="num">
                                      <p:cBhvr>
                                        <p:cTn id="16" dur="2000" fill="hold"/>
                                        <p:tgtEl>
                                          <p:spTgt spid="8196"/>
                                        </p:tgtEl>
                                        <p:attrNameLst>
                                          <p:attrName>ppt_w</p:attrName>
                                        </p:attrNameLst>
                                      </p:cBhvr>
                                      <p:tavLst>
                                        <p:tav tm="0">
                                          <p:val>
                                            <p:fltVal val="0"/>
                                          </p:val>
                                        </p:tav>
                                        <p:tav tm="100000">
                                          <p:val>
                                            <p:strVal val="#ppt_w"/>
                                          </p:val>
                                        </p:tav>
                                      </p:tavLst>
                                    </p:anim>
                                    <p:anim calcmode="lin" valueType="num">
                                      <p:cBhvr>
                                        <p:cTn id="17" dur="2000" fill="hold"/>
                                        <p:tgtEl>
                                          <p:spTgt spid="8196"/>
                                        </p:tgtEl>
                                        <p:attrNameLst>
                                          <p:attrName>ppt_h</p:attrName>
                                        </p:attrNameLst>
                                      </p:cBhvr>
                                      <p:tavLst>
                                        <p:tav tm="0">
                                          <p:val>
                                            <p:strVal val="#ppt_h"/>
                                          </p:val>
                                        </p:tav>
                                        <p:tav tm="100000">
                                          <p:val>
                                            <p:strVal val="#ppt_h"/>
                                          </p:val>
                                        </p:tav>
                                      </p:tavLst>
                                    </p:anim>
                                  </p:childTnLst>
                                </p:cTn>
                              </p:par>
                            </p:childTnLst>
                          </p:cTn>
                        </p:par>
                        <p:par>
                          <p:cTn id="18" fill="hold" nodeType="afterGroup">
                            <p:stCondLst>
                              <p:cond delay="4000"/>
                            </p:stCondLst>
                            <p:childTnLst>
                              <p:par>
                                <p:cTn id="19" presetID="17" presetClass="entr" presetSubtype="8" fill="hold" nodeType="afterEffect">
                                  <p:stCondLst>
                                    <p:cond delay="0"/>
                                  </p:stCondLst>
                                  <p:childTnLst>
                                    <p:set>
                                      <p:cBhvr>
                                        <p:cTn id="20" dur="1" fill="hold">
                                          <p:stCondLst>
                                            <p:cond delay="0"/>
                                          </p:stCondLst>
                                        </p:cTn>
                                        <p:tgtEl>
                                          <p:spTgt spid="8197"/>
                                        </p:tgtEl>
                                        <p:attrNameLst>
                                          <p:attrName>style.visibility</p:attrName>
                                        </p:attrNameLst>
                                      </p:cBhvr>
                                      <p:to>
                                        <p:strVal val="visible"/>
                                      </p:to>
                                    </p:set>
                                    <p:anim calcmode="lin" valueType="num">
                                      <p:cBhvr>
                                        <p:cTn id="21" dur="2000" fill="hold"/>
                                        <p:tgtEl>
                                          <p:spTgt spid="8197"/>
                                        </p:tgtEl>
                                        <p:attrNameLst>
                                          <p:attrName>ppt_x</p:attrName>
                                        </p:attrNameLst>
                                      </p:cBhvr>
                                      <p:tavLst>
                                        <p:tav tm="0">
                                          <p:val>
                                            <p:strVal val="#ppt_x-#ppt_w/2"/>
                                          </p:val>
                                        </p:tav>
                                        <p:tav tm="100000">
                                          <p:val>
                                            <p:strVal val="#ppt_x"/>
                                          </p:val>
                                        </p:tav>
                                      </p:tavLst>
                                    </p:anim>
                                    <p:anim calcmode="lin" valueType="num">
                                      <p:cBhvr>
                                        <p:cTn id="22" dur="2000" fill="hold"/>
                                        <p:tgtEl>
                                          <p:spTgt spid="8197"/>
                                        </p:tgtEl>
                                        <p:attrNameLst>
                                          <p:attrName>ppt_y</p:attrName>
                                        </p:attrNameLst>
                                      </p:cBhvr>
                                      <p:tavLst>
                                        <p:tav tm="0">
                                          <p:val>
                                            <p:strVal val="#ppt_y"/>
                                          </p:val>
                                        </p:tav>
                                        <p:tav tm="100000">
                                          <p:val>
                                            <p:strVal val="#ppt_y"/>
                                          </p:val>
                                        </p:tav>
                                      </p:tavLst>
                                    </p:anim>
                                    <p:anim calcmode="lin" valueType="num">
                                      <p:cBhvr>
                                        <p:cTn id="23" dur="2000" fill="hold"/>
                                        <p:tgtEl>
                                          <p:spTgt spid="8197"/>
                                        </p:tgtEl>
                                        <p:attrNameLst>
                                          <p:attrName>ppt_w</p:attrName>
                                        </p:attrNameLst>
                                      </p:cBhvr>
                                      <p:tavLst>
                                        <p:tav tm="0">
                                          <p:val>
                                            <p:fltVal val="0"/>
                                          </p:val>
                                        </p:tav>
                                        <p:tav tm="100000">
                                          <p:val>
                                            <p:strVal val="#ppt_w"/>
                                          </p:val>
                                        </p:tav>
                                      </p:tavLst>
                                    </p:anim>
                                    <p:anim calcmode="lin" valueType="num">
                                      <p:cBhvr>
                                        <p:cTn id="24" dur="2000" fill="hold"/>
                                        <p:tgtEl>
                                          <p:spTgt spid="81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4" descr="Bresenh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557338"/>
            <a:ext cx="231775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5"/>
          <p:cNvSpPr>
            <a:spLocks noChangeArrowheads="1"/>
          </p:cNvSpPr>
          <p:nvPr/>
        </p:nvSpPr>
        <p:spPr bwMode="auto">
          <a:xfrm>
            <a:off x="2051050" y="5734050"/>
            <a:ext cx="2738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Jack Elton Bresenham</a:t>
            </a:r>
            <a:r>
              <a:rPr lang="en-US" altLang="zh-CN" sz="2400">
                <a:latin typeface="Tahoma" panose="020B0604030504040204" pitchFamily="34" charset="0"/>
              </a:rPr>
              <a:t> </a:t>
            </a:r>
            <a:endParaRPr lang="zh-CN" altLang="en-US" sz="2400">
              <a:latin typeface="楷体_GB2312" pitchFamily="49" charset="-122"/>
            </a:endParaRPr>
          </a:p>
        </p:txBody>
      </p:sp>
      <p:pic>
        <p:nvPicPr>
          <p:cNvPr id="7172" name="Picture 6"/>
          <p:cNvPicPr>
            <a:picLocks noChangeAspect="1" noChangeArrowheads="1"/>
          </p:cNvPicPr>
          <p:nvPr/>
        </p:nvPicPr>
        <p:blipFill>
          <a:blip r:embed="rId3">
            <a:extLst>
              <a:ext uri="{28A0092B-C50C-407E-A947-70E740481C1C}">
                <a14:useLocalDpi xmlns:a14="http://schemas.microsoft.com/office/drawing/2010/main" val="0"/>
              </a:ext>
            </a:extLst>
          </a:blip>
          <a:srcRect t="10556"/>
          <a:stretch>
            <a:fillRect/>
          </a:stretch>
        </p:blipFill>
        <p:spPr bwMode="auto">
          <a:xfrm>
            <a:off x="5292725" y="1773238"/>
            <a:ext cx="3384550"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7"/>
          <p:cNvSpPr>
            <a:spLocks noChangeArrowheads="1"/>
          </p:cNvSpPr>
          <p:nvPr/>
        </p:nvSpPr>
        <p:spPr bwMode="auto">
          <a:xfrm>
            <a:off x="6084888" y="5734050"/>
            <a:ext cx="218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Plotter movement</a:t>
            </a:r>
            <a:endParaRPr lang="zh-CN" altLang="en-US" sz="2400">
              <a:latin typeface="楷体_GB2312" pitchFamily="49" charset="-122"/>
            </a:endParaRPr>
          </a:p>
        </p:txBody>
      </p:sp>
      <p:sp>
        <p:nvSpPr>
          <p:cNvPr id="7174" name="Rectangle 8"/>
          <p:cNvSpPr>
            <a:spLocks noChangeArrowheads="1"/>
          </p:cNvSpPr>
          <p:nvPr/>
        </p:nvSpPr>
        <p:spPr bwMode="auto">
          <a:xfrm>
            <a:off x="1476375" y="188913"/>
            <a:ext cx="7416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r>
              <a:rPr lang="en-US" altLang="zh-CN" sz="2400">
                <a:latin typeface="Tahoma" panose="020B0604030504040204" pitchFamily="34" charset="0"/>
              </a:rPr>
              <a:t>Bresenham</a:t>
            </a:r>
            <a:r>
              <a:rPr lang="zh-CN" altLang="en-US" sz="2400">
                <a:latin typeface="Tahoma" panose="020B0604030504040204" pitchFamily="34" charset="0"/>
              </a:rPr>
              <a:t>算法最初是为数字绘图仪提出，但同样适用于</a:t>
            </a:r>
            <a:r>
              <a:rPr lang="en-US" altLang="zh-CN" sz="2400">
                <a:latin typeface="Tahoma" panose="020B0604030504040204" pitchFamily="34" charset="0"/>
              </a:rPr>
              <a:t>CRT</a:t>
            </a:r>
            <a:r>
              <a:rPr lang="zh-CN" altLang="en-US" sz="2400">
                <a:latin typeface="Tahoma" panose="020B0604030504040204" pitchFamily="34" charset="0"/>
              </a:rPr>
              <a:t>光栅显示器。 </a:t>
            </a:r>
            <a:endParaRPr lang="zh-CN" altLang="en-US" sz="2400">
              <a:latin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ChangeArrowheads="1"/>
          </p:cNvSpPr>
          <p:nvPr/>
        </p:nvSpPr>
        <p:spPr bwMode="auto">
          <a:xfrm>
            <a:off x="250825" y="896938"/>
            <a:ext cx="871378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      直线的扫描转换是在屏幕像素点阵中确定最佳逼近于理想直线的像素点集的过程。计算机图形学要求直线的绘制速度要快，即</a:t>
            </a:r>
            <a:r>
              <a:rPr lang="zh-CN" altLang="en-US" sz="2400" b="1">
                <a:solidFill>
                  <a:srgbClr val="FF0000"/>
                </a:solidFill>
                <a:latin typeface="方正粗黑宋简体" panose="02000000000000000000" pitchFamily="2" charset="-122"/>
                <a:ea typeface="方正粗黑宋简体" panose="02000000000000000000" pitchFamily="2" charset="-122"/>
              </a:rPr>
              <a:t>尽量使用加减法（增量算法），</a:t>
            </a:r>
            <a:r>
              <a:rPr lang="zh-CN" altLang="en-US" sz="2400">
                <a:latin typeface="Tahoma" panose="020B0604030504040204" pitchFamily="34" charset="0"/>
              </a:rPr>
              <a:t>避免</a:t>
            </a:r>
            <a:r>
              <a:rPr lang="zh-CN" altLang="en-US" sz="2400" b="1">
                <a:solidFill>
                  <a:srgbClr val="3366FF"/>
                </a:solidFill>
                <a:latin typeface="方正粗黑宋简体" panose="02000000000000000000" pitchFamily="2" charset="-122"/>
                <a:ea typeface="方正粗黑宋简体" panose="02000000000000000000" pitchFamily="2" charset="-122"/>
              </a:rPr>
              <a:t>乘、除、开方、三角</a:t>
            </a:r>
            <a:r>
              <a:rPr lang="zh-CN" altLang="en-US" sz="2400">
                <a:latin typeface="Tahoma" panose="020B0604030504040204" pitchFamily="34" charset="0"/>
              </a:rPr>
              <a:t>等复杂运算。最著名的算法是由</a:t>
            </a:r>
            <a:r>
              <a:rPr lang="en-US" altLang="zh-CN" sz="2400">
                <a:latin typeface="Tahoma" panose="020B0604030504040204" pitchFamily="34" charset="0"/>
              </a:rPr>
              <a:t>J.E. Bresenham</a:t>
            </a:r>
            <a:r>
              <a:rPr lang="zh-CN" altLang="en-US" sz="2400">
                <a:latin typeface="Tahoma" panose="020B0604030504040204" pitchFamily="34" charset="0"/>
              </a:rPr>
              <a:t>于</a:t>
            </a:r>
            <a:r>
              <a:rPr lang="en-US" altLang="zh-CN" sz="2400">
                <a:latin typeface="Tahoma" panose="020B0604030504040204" pitchFamily="34" charset="0"/>
              </a:rPr>
              <a:t>1965</a:t>
            </a:r>
            <a:r>
              <a:rPr lang="zh-CN" altLang="en-US" sz="2400">
                <a:latin typeface="Tahoma" panose="020B0604030504040204" pitchFamily="34" charset="0"/>
              </a:rPr>
              <a:t>年提出的</a:t>
            </a:r>
            <a:r>
              <a:rPr lang="en-US" altLang="zh-CN" sz="2400">
                <a:latin typeface="Tahoma" panose="020B0604030504040204" pitchFamily="34" charset="0"/>
              </a:rPr>
              <a:t>Bresenham</a:t>
            </a:r>
            <a:r>
              <a:rPr lang="zh-CN" altLang="en-US" sz="2400">
                <a:latin typeface="Tahoma" panose="020B0604030504040204" pitchFamily="34" charset="0"/>
              </a:rPr>
              <a:t>算法。</a:t>
            </a:r>
          </a:p>
        </p:txBody>
      </p:sp>
      <p:sp>
        <p:nvSpPr>
          <p:cNvPr id="11267" name="Rectangle 9"/>
          <p:cNvSpPr>
            <a:spLocks noGrp="1" noChangeArrowheads="1"/>
          </p:cNvSpPr>
          <p:nvPr>
            <p:ph type="title" idx="4294967295"/>
          </p:nvPr>
        </p:nvSpPr>
        <p:spPr>
          <a:xfrm>
            <a:off x="0" y="188913"/>
            <a:ext cx="5184775" cy="647700"/>
          </a:xfrm>
          <a:ln>
            <a:miter lim="800000"/>
          </a:ln>
        </p:spPr>
        <p:txBody>
          <a:bodyPr rtlCol="0" anchor="b">
            <a:normAutofit/>
          </a:bodyPr>
          <a:lstStyle/>
          <a:p>
            <a:pPr eaLnBrk="1" fontAlgn="auto" hangingPunct="1">
              <a:spcAft>
                <a:spcPts val="0"/>
              </a:spcAft>
              <a:defRPr/>
            </a:pPr>
            <a:r>
              <a:rPr lang="en-US" smtClean="0">
                <a:effectLst>
                  <a:outerShdw blurRad="38100" dist="38100" dir="2700000" algn="tl">
                    <a:srgbClr val="C0C0C0"/>
                  </a:outerShdw>
                </a:effectLst>
                <a:latin typeface="楷体_GB2312" pitchFamily="49" charset="-122"/>
                <a:ea typeface="楷体_GB2312" pitchFamily="49" charset="-122"/>
              </a:rPr>
              <a:t>3.1 </a:t>
            </a:r>
            <a:r>
              <a:rPr lang="zh-CN" altLang="en-US" smtClean="0">
                <a:effectLst>
                  <a:outerShdw blurRad="38100" dist="38100" dir="2700000" algn="tl">
                    <a:srgbClr val="C0C0C0"/>
                  </a:outerShdw>
                </a:effectLst>
                <a:latin typeface="楷体_GB2312" pitchFamily="49" charset="-122"/>
                <a:ea typeface="楷体_GB2312" pitchFamily="49" charset="-122"/>
              </a:rPr>
              <a:t>直线的扫描转换</a:t>
            </a:r>
          </a:p>
        </p:txBody>
      </p:sp>
      <p:sp>
        <p:nvSpPr>
          <p:cNvPr id="8196" name="Rectangle 11"/>
          <p:cNvSpPr>
            <a:spLocks noChangeArrowheads="1"/>
          </p:cNvSpPr>
          <p:nvPr/>
        </p:nvSpPr>
        <p:spPr bwMode="auto">
          <a:xfrm>
            <a:off x="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8197" name="Object 10"/>
          <p:cNvGraphicFramePr>
            <a:graphicFrameLocks noChangeAspect="1"/>
          </p:cNvGraphicFramePr>
          <p:nvPr/>
        </p:nvGraphicFramePr>
        <p:xfrm>
          <a:off x="2987675" y="2924175"/>
          <a:ext cx="4679950" cy="3451225"/>
        </p:xfrm>
        <a:graphic>
          <a:graphicData uri="http://schemas.openxmlformats.org/presentationml/2006/ole">
            <mc:AlternateContent xmlns:mc="http://schemas.openxmlformats.org/markup-compatibility/2006">
              <mc:Choice xmlns:v="urn:schemas-microsoft-com:vml" Requires="v">
                <p:oleObj spid="_x0000_s8239" r:id="rId3" imgW="5829840" imgH="4295880" progId="Visio.Drawing.11">
                  <p:embed/>
                </p:oleObj>
              </mc:Choice>
              <mc:Fallback>
                <p:oleObj r:id="rId3" imgW="5829840" imgH="4295880"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924175"/>
                        <a:ext cx="4679950"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8" name="Rectangle 12"/>
          <p:cNvSpPr>
            <a:spLocks noChangeArrowheads="1"/>
          </p:cNvSpPr>
          <p:nvPr/>
        </p:nvSpPr>
        <p:spPr bwMode="auto">
          <a:xfrm>
            <a:off x="3924300" y="6237288"/>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直线的扫描转换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684213" y="574675"/>
            <a:ext cx="8280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提出问题：</a:t>
            </a:r>
          </a:p>
          <a:p>
            <a:pPr algn="just" eaLnBrk="1" hangingPunct="1">
              <a:lnSpc>
                <a:spcPct val="100000"/>
              </a:lnSpc>
              <a:spcBef>
                <a:spcPct val="0"/>
              </a:spcBef>
            </a:pPr>
            <a:r>
              <a:rPr lang="zh-CN" altLang="en-US" sz="2400">
                <a:latin typeface="Tahoma" panose="020B0604030504040204" pitchFamily="34" charset="0"/>
              </a:rPr>
              <a:t>许多软件中都供了绘制直线的函数，为什么要讲直线绘制算法？如，</a:t>
            </a:r>
            <a:r>
              <a:rPr lang="en-US" altLang="zh-CN" sz="2400">
                <a:latin typeface="Tahoma" panose="020B0604030504040204" pitchFamily="34" charset="0"/>
              </a:rPr>
              <a:t>MFC</a:t>
            </a:r>
            <a:r>
              <a:rPr lang="zh-CN" altLang="en-US" sz="2400">
                <a:latin typeface="Tahoma" panose="020B0604030504040204" pitchFamily="34" charset="0"/>
              </a:rPr>
              <a:t>的</a:t>
            </a:r>
            <a:r>
              <a:rPr lang="en-US" altLang="zh-CN" sz="2400">
                <a:latin typeface="Tahoma" panose="020B0604030504040204" pitchFamily="34" charset="0"/>
              </a:rPr>
              <a:t>CDC</a:t>
            </a:r>
            <a:r>
              <a:rPr lang="zh-CN" altLang="en-US" sz="2400">
                <a:latin typeface="Tahoma" panose="020B0604030504040204" pitchFamily="34" charset="0"/>
              </a:rPr>
              <a:t>类就提供了</a:t>
            </a:r>
            <a:r>
              <a:rPr lang="en-US" altLang="zh-CN" sz="2400">
                <a:latin typeface="Tahoma" panose="020B0604030504040204" pitchFamily="34" charset="0"/>
              </a:rPr>
              <a:t>MoveTo</a:t>
            </a:r>
            <a:r>
              <a:rPr lang="zh-CN" altLang="en-US" sz="2400">
                <a:latin typeface="Tahoma" panose="020B0604030504040204" pitchFamily="34" charset="0"/>
              </a:rPr>
              <a:t>与</a:t>
            </a:r>
            <a:r>
              <a:rPr lang="en-US" altLang="zh-CN" sz="2400">
                <a:latin typeface="Tahoma" panose="020B0604030504040204" pitchFamily="34" charset="0"/>
              </a:rPr>
              <a:t>LineTo</a:t>
            </a:r>
            <a:r>
              <a:rPr lang="zh-CN" altLang="en-US" sz="2400">
                <a:latin typeface="Tahoma" panose="020B0604030504040204" pitchFamily="34" charset="0"/>
              </a:rPr>
              <a:t>函数。</a:t>
            </a:r>
          </a:p>
          <a:p>
            <a:pPr algn="just" eaLnBrk="1" hangingPunct="1">
              <a:lnSpc>
                <a:spcPct val="100000"/>
              </a:lnSpc>
              <a:spcBef>
                <a:spcPct val="0"/>
              </a:spcBef>
            </a:pPr>
            <a:r>
              <a:rPr lang="zh-CN" altLang="en-US" sz="2400">
                <a:latin typeface="Tahoma" panose="020B0604030504040204" pitchFamily="34" charset="0"/>
              </a:rPr>
              <a:t>连续理想直线是用直线路径上的离散像素点来绘制的。</a:t>
            </a:r>
          </a:p>
          <a:p>
            <a:pPr algn="just" eaLnBrk="1" hangingPunct="1">
              <a:lnSpc>
                <a:spcPct val="100000"/>
              </a:lnSpc>
              <a:spcBef>
                <a:spcPct val="0"/>
              </a:spcBef>
            </a:pPr>
            <a:r>
              <a:rPr lang="en-US" altLang="zh-CN" sz="2400">
                <a:latin typeface="Tahoma" panose="020B0604030504040204" pitchFamily="34" charset="0"/>
              </a:rPr>
              <a:t>MoveTo </a:t>
            </a:r>
            <a:r>
              <a:rPr lang="zh-CN" altLang="en-US" sz="2400">
                <a:latin typeface="Tahoma" panose="020B0604030504040204" pitchFamily="34" charset="0"/>
              </a:rPr>
              <a:t>与 </a:t>
            </a:r>
            <a:r>
              <a:rPr lang="en-US" altLang="zh-CN" sz="2400">
                <a:latin typeface="Tahoma" panose="020B0604030504040204" pitchFamily="34" charset="0"/>
              </a:rPr>
              <a:t>LineTo </a:t>
            </a:r>
            <a:r>
              <a:rPr lang="zh-CN" altLang="en-US" sz="2400">
                <a:latin typeface="Tahoma" panose="020B0604030504040204" pitchFamily="34" charset="0"/>
              </a:rPr>
              <a:t>函数无法绘制光滑的（</a:t>
            </a:r>
            <a:r>
              <a:rPr lang="zh-CN" altLang="en-US" sz="2400" b="1">
                <a:solidFill>
                  <a:srgbClr val="FF0000"/>
                </a:solidFill>
                <a:latin typeface="方正粗黑宋简体" panose="02000000000000000000" pitchFamily="2" charset="-122"/>
                <a:ea typeface="方正粗黑宋简体" panose="02000000000000000000" pitchFamily="2" charset="-122"/>
              </a:rPr>
              <a:t>颜色渐变</a:t>
            </a:r>
            <a:r>
              <a:rPr lang="zh-CN" altLang="en-US" sz="2400" b="1">
                <a:latin typeface="Tahoma" panose="020B0604030504040204" pitchFamily="34" charset="0"/>
              </a:rPr>
              <a:t>）</a:t>
            </a:r>
            <a:r>
              <a:rPr lang="zh-CN" altLang="en-US" sz="2400" b="1">
                <a:solidFill>
                  <a:srgbClr val="FF0000"/>
                </a:solidFill>
                <a:latin typeface="方正粗黑宋简体" panose="02000000000000000000" pitchFamily="2" charset="-122"/>
                <a:ea typeface="方正粗黑宋简体" panose="02000000000000000000" pitchFamily="2" charset="-122"/>
              </a:rPr>
              <a:t>走样或反走样直线</a:t>
            </a:r>
            <a:r>
              <a:rPr lang="zh-CN" altLang="en-US" sz="2400">
                <a:latin typeface="Tahoma" panose="020B0604030504040204" pitchFamily="34" charset="0"/>
              </a:rPr>
              <a:t>。而上述直线是</a:t>
            </a:r>
            <a:r>
              <a:rPr lang="zh-CN" altLang="en-US" sz="2400" b="1">
                <a:solidFill>
                  <a:srgbClr val="FF0000"/>
                </a:solidFill>
                <a:latin typeface="方正粗黑宋简体" panose="02000000000000000000" pitchFamily="2" charset="-122"/>
                <a:ea typeface="方正粗黑宋简体" panose="02000000000000000000" pitchFamily="2" charset="-122"/>
              </a:rPr>
              <a:t>光照模型的基础</a:t>
            </a:r>
            <a:r>
              <a:rPr lang="zh-CN" altLang="en-US" sz="2400" b="1">
                <a:latin typeface="Tahoma" panose="020B0604030504040204" pitchFamily="34" charset="0"/>
              </a:rPr>
              <a:t>。</a:t>
            </a:r>
          </a:p>
        </p:txBody>
      </p:sp>
      <p:pic>
        <p:nvPicPr>
          <p:cNvPr id="9219" name="Picture 6" descr="color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3789363"/>
            <a:ext cx="3240088"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8"/>
          <p:cNvSpPr>
            <a:spLocks noChangeArrowheads="1"/>
          </p:cNvSpPr>
          <p:nvPr/>
        </p:nvSpPr>
        <p:spPr bwMode="auto">
          <a:xfrm>
            <a:off x="1835150" y="6165850"/>
            <a:ext cx="3024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000">
                <a:latin typeface="Tahoma" panose="020B0604030504040204" pitchFamily="34" charset="0"/>
                <a:hlinkClick r:id="rId3" action="ppaction://hlinkfile"/>
              </a:rPr>
              <a:t>颜色渐变走样直线</a:t>
            </a:r>
            <a:endParaRPr lang="zh-CN" altLang="en-US" sz="2000">
              <a:latin typeface="Tahoma" panose="020B0604030504040204" pitchFamily="34" charset="0"/>
            </a:endParaRPr>
          </a:p>
        </p:txBody>
      </p:sp>
      <p:pic>
        <p:nvPicPr>
          <p:cNvPr id="9221" name="Picture 9" descr="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3355975"/>
            <a:ext cx="2665413"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10"/>
          <p:cNvSpPr>
            <a:spLocks noChangeArrowheads="1"/>
          </p:cNvSpPr>
          <p:nvPr/>
        </p:nvSpPr>
        <p:spPr bwMode="auto">
          <a:xfrm>
            <a:off x="5508625" y="6165850"/>
            <a:ext cx="2519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000">
                <a:latin typeface="Tahoma" panose="020B0604030504040204" pitchFamily="34" charset="0"/>
                <a:hlinkClick r:id="rId5" action="ppaction://hlinkfile"/>
              </a:rPr>
              <a:t>光照线框球</a:t>
            </a:r>
            <a:endParaRPr lang="zh-CN" altLang="en-US" sz="2000">
              <a:latin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395288" y="233363"/>
            <a:ext cx="8497887"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defRPr/>
            </a:pPr>
            <a:r>
              <a:rPr lang="zh-CN" altLang="en-US" sz="2400" dirty="0" smtClean="0">
                <a:latin typeface="Tahoma" panose="020B0604030504040204" pitchFamily="34" charset="0"/>
              </a:rPr>
              <a:t>      光栅扫描显示器的本质决定它难以生成完美的直线段，也不能保证直线段精确地通过起点和终点。绘制直线段的基本要求：</a:t>
            </a:r>
          </a:p>
          <a:p>
            <a:pPr marL="457200" indent="-457200" algn="just" eaLnBrk="1" hangingPunct="1">
              <a:lnSpc>
                <a:spcPct val="100000"/>
              </a:lnSpc>
              <a:spcBef>
                <a:spcPct val="0"/>
              </a:spcBef>
              <a:buFont typeface="Wingdings" panose="05000000000000000000" pitchFamily="2" charset="2"/>
              <a:buChar char="n"/>
              <a:defRPr/>
            </a:pPr>
            <a:r>
              <a:rPr lang="zh-CN" altLang="en-US" sz="2400" b="1" dirty="0" smtClean="0">
                <a:solidFill>
                  <a:srgbClr val="FF0000"/>
                </a:solidFill>
                <a:latin typeface="方正粗黑宋简体" panose="02000000000000000000" pitchFamily="2" charset="-122"/>
                <a:ea typeface="方正粗黑宋简体" panose="02000000000000000000" pitchFamily="2" charset="-122"/>
              </a:rPr>
              <a:t>直线要直</a:t>
            </a:r>
            <a:r>
              <a:rPr lang="zh-CN" altLang="en-US" sz="2400" dirty="0" smtClean="0">
                <a:latin typeface="Tahoma" panose="020B0604030504040204" pitchFamily="34" charset="0"/>
              </a:rPr>
              <a:t>。要求具有精确的起点和终点。</a:t>
            </a:r>
          </a:p>
          <a:p>
            <a:pPr marL="457200" indent="-457200" algn="just" eaLnBrk="1" hangingPunct="1">
              <a:lnSpc>
                <a:spcPct val="100000"/>
              </a:lnSpc>
              <a:spcBef>
                <a:spcPct val="0"/>
              </a:spcBef>
              <a:buFont typeface="Wingdings" panose="05000000000000000000" pitchFamily="2" charset="2"/>
              <a:buChar char="n"/>
              <a:defRPr/>
            </a:pPr>
            <a:r>
              <a:rPr lang="zh-CN" altLang="en-US" sz="2400" b="1" dirty="0" smtClean="0">
                <a:solidFill>
                  <a:srgbClr val="FF0000"/>
                </a:solidFill>
                <a:latin typeface="方正粗黑宋简体" panose="02000000000000000000" pitchFamily="2" charset="-122"/>
                <a:ea typeface="方正粗黑宋简体" panose="02000000000000000000" pitchFamily="2" charset="-122"/>
              </a:rPr>
              <a:t>直线无方向性</a:t>
            </a:r>
            <a:r>
              <a:rPr lang="zh-CN" altLang="en-US" sz="2400" dirty="0" smtClean="0">
                <a:latin typeface="Tahoma" panose="020B0604030504040204" pitchFamily="34" charset="0"/>
              </a:rPr>
              <a:t>。从起点绘制到终点的直线段与从终点绘制到起点的直线段要重合。</a:t>
            </a:r>
          </a:p>
          <a:p>
            <a:pPr marL="457200" indent="-457200" algn="just" eaLnBrk="1" hangingPunct="1">
              <a:lnSpc>
                <a:spcPct val="100000"/>
              </a:lnSpc>
              <a:spcBef>
                <a:spcPct val="0"/>
              </a:spcBef>
              <a:buFont typeface="Wingdings" panose="05000000000000000000" pitchFamily="2" charset="2"/>
              <a:buChar char="n"/>
              <a:defRPr/>
            </a:pPr>
            <a:r>
              <a:rPr lang="zh-CN" altLang="en-US" sz="2400" b="1" dirty="0" smtClean="0">
                <a:solidFill>
                  <a:srgbClr val="FF0000"/>
                </a:solidFill>
                <a:latin typeface="方正粗黑宋简体" panose="02000000000000000000" pitchFamily="2" charset="-122"/>
                <a:ea typeface="方正粗黑宋简体" panose="02000000000000000000" pitchFamily="2" charset="-122"/>
              </a:rPr>
              <a:t>直线的绘制速度要快</a:t>
            </a:r>
            <a:r>
              <a:rPr lang="zh-CN" altLang="en-US" sz="2400" dirty="0" smtClean="0">
                <a:latin typeface="Tahoma" panose="020B0604030504040204" pitchFamily="34" charset="0"/>
              </a:rPr>
              <a:t>。即尽量使用加减法整数运算，避免乘、除、开方、三角等复杂运算。但随着计算机处理浮点数与整数的速度趋于一致，这点要求在减弱。</a:t>
            </a:r>
          </a:p>
          <a:p>
            <a:pPr algn="just" eaLnBrk="1" hangingPunct="1">
              <a:lnSpc>
                <a:spcPct val="100000"/>
              </a:lnSpc>
              <a:spcBef>
                <a:spcPct val="0"/>
              </a:spcBef>
              <a:defRPr/>
            </a:pPr>
            <a:r>
              <a:rPr lang="en-US" altLang="zh-CN" sz="2400" dirty="0" err="1" smtClean="0">
                <a:latin typeface="Tahoma" panose="020B0604030504040204" pitchFamily="34" charset="0"/>
              </a:rPr>
              <a:t>MSDN:Draws</a:t>
            </a:r>
            <a:r>
              <a:rPr lang="en-US" altLang="zh-CN" sz="2400" dirty="0" smtClean="0">
                <a:latin typeface="Tahoma" panose="020B0604030504040204" pitchFamily="34" charset="0"/>
              </a:rPr>
              <a:t> a line from the current position up to, but not including, the point specified by </a:t>
            </a:r>
            <a:r>
              <a:rPr lang="en-US" altLang="zh-CN" sz="2400" i="1" dirty="0" smtClean="0">
                <a:latin typeface="Tahoma" panose="020B0604030504040204" pitchFamily="34" charset="0"/>
              </a:rPr>
              <a:t>x</a:t>
            </a:r>
            <a:r>
              <a:rPr lang="en-US" altLang="zh-CN" sz="2400" dirty="0" smtClean="0">
                <a:latin typeface="Tahoma" panose="020B0604030504040204" pitchFamily="34" charset="0"/>
              </a:rPr>
              <a:t> and </a:t>
            </a:r>
            <a:r>
              <a:rPr lang="en-US" altLang="zh-CN" sz="2400" i="1" dirty="0" smtClean="0">
                <a:latin typeface="Tahoma" panose="020B0604030504040204" pitchFamily="34" charset="0"/>
              </a:rPr>
              <a:t>y</a:t>
            </a:r>
            <a:r>
              <a:rPr lang="en-US" altLang="zh-CN" sz="2400" dirty="0" smtClean="0">
                <a:latin typeface="Tahoma" panose="020B0604030504040204" pitchFamily="34" charset="0"/>
              </a:rPr>
              <a:t> (or </a:t>
            </a:r>
            <a:r>
              <a:rPr lang="en-US" altLang="zh-CN" sz="2400" i="1" dirty="0" smtClean="0">
                <a:latin typeface="Tahoma" panose="020B0604030504040204" pitchFamily="34" charset="0"/>
              </a:rPr>
              <a:t>point</a:t>
            </a:r>
            <a:r>
              <a:rPr lang="en-US" altLang="zh-CN" sz="2400" dirty="0" smtClean="0">
                <a:latin typeface="Tahoma" panose="020B0604030504040204" pitchFamily="34" charset="0"/>
              </a:rPr>
              <a:t>). The line is drawn with the selected pen. The current position is set to </a:t>
            </a:r>
            <a:r>
              <a:rPr lang="en-US" altLang="zh-CN" sz="2400" i="1" dirty="0" err="1" smtClean="0">
                <a:latin typeface="Tahoma" panose="020B0604030504040204" pitchFamily="34" charset="0"/>
              </a:rPr>
              <a:t>x</a:t>
            </a:r>
            <a:r>
              <a:rPr lang="en-US" altLang="zh-CN" sz="2400" dirty="0" err="1" smtClean="0">
                <a:latin typeface="Tahoma" panose="020B0604030504040204" pitchFamily="34" charset="0"/>
              </a:rPr>
              <a:t>,</a:t>
            </a:r>
            <a:r>
              <a:rPr lang="en-US" altLang="zh-CN" sz="2400" i="1" dirty="0" err="1" smtClean="0">
                <a:latin typeface="Tahoma" panose="020B0604030504040204" pitchFamily="34" charset="0"/>
              </a:rPr>
              <a:t>y</a:t>
            </a:r>
            <a:r>
              <a:rPr lang="en-US" altLang="zh-CN" sz="2400" dirty="0" smtClean="0">
                <a:latin typeface="Tahoma" panose="020B0604030504040204" pitchFamily="34" charset="0"/>
              </a:rPr>
              <a:t> or to </a:t>
            </a:r>
            <a:r>
              <a:rPr lang="en-US" altLang="zh-CN" sz="2400" i="1" dirty="0" smtClean="0">
                <a:latin typeface="Tahoma" panose="020B0604030504040204" pitchFamily="34" charset="0"/>
              </a:rPr>
              <a:t>point</a:t>
            </a:r>
            <a:r>
              <a:rPr lang="en-US" altLang="zh-CN" sz="2400" dirty="0" smtClean="0">
                <a:latin typeface="Tahoma" panose="020B0604030504040204" pitchFamily="34" charset="0"/>
              </a:rPr>
              <a:t>.</a:t>
            </a:r>
          </a:p>
        </p:txBody>
      </p:sp>
      <p:graphicFrame>
        <p:nvGraphicFramePr>
          <p:cNvPr id="10243" name="Object 9"/>
          <p:cNvGraphicFramePr>
            <a:graphicFrameLocks noChangeAspect="1"/>
          </p:cNvGraphicFramePr>
          <p:nvPr/>
        </p:nvGraphicFramePr>
        <p:xfrm>
          <a:off x="2268538" y="5661025"/>
          <a:ext cx="2232025" cy="966788"/>
        </p:xfrm>
        <a:graphic>
          <a:graphicData uri="http://schemas.openxmlformats.org/presentationml/2006/ole">
            <mc:AlternateContent xmlns:mc="http://schemas.openxmlformats.org/markup-compatibility/2006">
              <mc:Choice xmlns:v="urn:schemas-microsoft-com:vml" Requires="v">
                <p:oleObj spid="_x0000_s10286" r:id="rId3" imgW="6372000" imgH="2757960" progId="Visio.Drawing.11">
                  <p:embed/>
                </p:oleObj>
              </mc:Choice>
              <mc:Fallback>
                <p:oleObj r:id="rId3" imgW="6372000" imgH="2757960"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5661025"/>
                        <a:ext cx="223202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4" name="Oval 10"/>
          <p:cNvSpPr>
            <a:spLocks noChangeArrowheads="1"/>
          </p:cNvSpPr>
          <p:nvPr/>
        </p:nvSpPr>
        <p:spPr bwMode="auto">
          <a:xfrm>
            <a:off x="3276600" y="5445125"/>
            <a:ext cx="503238" cy="503238"/>
          </a:xfrm>
          <a:prstGeom prst="ellipse">
            <a:avLst/>
          </a:prstGeom>
          <a:noFill/>
          <a:ln w="9525">
            <a:solidFill>
              <a:srgbClr val="004E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10245" name="Text Box 11"/>
          <p:cNvSpPr txBox="1">
            <a:spLocks noChangeArrowheads="1"/>
          </p:cNvSpPr>
          <p:nvPr/>
        </p:nvSpPr>
        <p:spPr bwMode="auto">
          <a:xfrm>
            <a:off x="4932363" y="5300663"/>
            <a:ext cx="39608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zh-CN" altLang="en-US" sz="2400">
                <a:latin typeface="Tahoma" panose="020B0604030504040204" pitchFamily="34" charset="0"/>
              </a:rPr>
              <a:t>红绿两段直线连结点处的颜色应该是红色还是蓝色？连结点像素要求不绘制两次。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468313" y="446088"/>
            <a:ext cx="8424862" cy="563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50000"/>
              </a:lnSpc>
              <a:spcBef>
                <a:spcPct val="0"/>
              </a:spcBef>
              <a:buFont typeface="Arial" panose="020B0604020202020204" pitchFamily="34" charset="0"/>
              <a:buNone/>
            </a:pPr>
            <a:r>
              <a:rPr lang="en-US" altLang="zh-CN" sz="2400">
                <a:latin typeface="Tahoma" panose="020B0604030504040204" pitchFamily="34" charset="0"/>
              </a:rPr>
              <a:t>Bresenham</a:t>
            </a:r>
            <a:r>
              <a:rPr lang="zh-CN" altLang="en-US" sz="2400">
                <a:latin typeface="Tahoma" panose="020B0604030504040204" pitchFamily="34" charset="0"/>
              </a:rPr>
              <a:t>算法的特点：</a:t>
            </a:r>
          </a:p>
          <a:p>
            <a:pPr algn="just" eaLnBrk="1" hangingPunct="1">
              <a:lnSpc>
                <a:spcPct val="150000"/>
              </a:lnSpc>
              <a:spcBef>
                <a:spcPct val="0"/>
              </a:spcBef>
            </a:pPr>
            <a:r>
              <a:rPr lang="en-US" altLang="zh-CN" sz="2400">
                <a:latin typeface="Tahoma" panose="020B0604030504040204" pitchFamily="34" charset="0"/>
              </a:rPr>
              <a:t>Bresenham</a:t>
            </a:r>
            <a:r>
              <a:rPr lang="zh-CN" altLang="en-US" sz="2400">
                <a:latin typeface="Tahoma" panose="020B0604030504040204" pitchFamily="34" charset="0"/>
              </a:rPr>
              <a:t>算法是一个</a:t>
            </a:r>
            <a:r>
              <a:rPr lang="zh-CN" altLang="en-US" sz="2400" b="1">
                <a:solidFill>
                  <a:srgbClr val="3366FF"/>
                </a:solidFill>
                <a:latin typeface="方正粗黑宋简体" panose="02000000000000000000" pitchFamily="2" charset="-122"/>
                <a:ea typeface="方正粗黑宋简体" panose="02000000000000000000" pitchFamily="2" charset="-122"/>
              </a:rPr>
              <a:t>经典</a:t>
            </a:r>
            <a:r>
              <a:rPr lang="zh-CN" altLang="en-US" sz="2400">
                <a:latin typeface="Tahoma" panose="020B0604030504040204" pitchFamily="34" charset="0"/>
              </a:rPr>
              <a:t>的</a:t>
            </a:r>
            <a:r>
              <a:rPr lang="zh-CN" altLang="en-US" sz="2400" b="1">
                <a:solidFill>
                  <a:srgbClr val="FF0000"/>
                </a:solidFill>
                <a:latin typeface="方正粗黑宋简体" panose="02000000000000000000" pitchFamily="2" charset="-122"/>
                <a:ea typeface="方正粗黑宋简体" panose="02000000000000000000" pitchFamily="2" charset="-122"/>
              </a:rPr>
              <a:t>增量算法</a:t>
            </a:r>
            <a:r>
              <a:rPr lang="zh-CN" altLang="en-US" sz="2400">
                <a:latin typeface="Tahoma" panose="020B0604030504040204" pitchFamily="34" charset="0"/>
              </a:rPr>
              <a:t>。在一个迭代算法中，如果每一步的 </a:t>
            </a:r>
            <a:r>
              <a:rPr lang="en-US" altLang="zh-CN" sz="2400" b="1">
                <a:solidFill>
                  <a:srgbClr val="3366FF"/>
                </a:solidFill>
                <a:latin typeface="方正粗黑宋简体" panose="02000000000000000000" pitchFamily="2" charset="-122"/>
                <a:ea typeface="方正粗黑宋简体" panose="02000000000000000000" pitchFamily="2" charset="-122"/>
              </a:rPr>
              <a:t>x</a:t>
            </a:r>
            <a:r>
              <a:rPr lang="zh-CN" altLang="en-US" sz="2400" b="1">
                <a:solidFill>
                  <a:srgbClr val="3366FF"/>
                </a:solidFill>
                <a:latin typeface="方正粗黑宋简体" panose="02000000000000000000" pitchFamily="2" charset="-122"/>
                <a:ea typeface="方正粗黑宋简体" panose="02000000000000000000" pitchFamily="2" charset="-122"/>
              </a:rPr>
              <a:t>，</a:t>
            </a:r>
            <a:r>
              <a:rPr lang="en-US" altLang="zh-CN" sz="2400" b="1">
                <a:solidFill>
                  <a:srgbClr val="3366FF"/>
                </a:solidFill>
                <a:latin typeface="方正粗黑宋简体" panose="02000000000000000000" pitchFamily="2" charset="-122"/>
                <a:ea typeface="方正粗黑宋简体" panose="02000000000000000000" pitchFamily="2" charset="-122"/>
              </a:rPr>
              <a:t>y </a:t>
            </a:r>
            <a:r>
              <a:rPr lang="zh-CN" altLang="en-US" sz="2400" b="1">
                <a:solidFill>
                  <a:srgbClr val="3366FF"/>
                </a:solidFill>
                <a:latin typeface="方正粗黑宋简体" panose="02000000000000000000" pitchFamily="2" charset="-122"/>
                <a:ea typeface="方正粗黑宋简体" panose="02000000000000000000" pitchFamily="2" charset="-122"/>
              </a:rPr>
              <a:t>值是用前一步的值加上一个增量</a:t>
            </a:r>
            <a:r>
              <a:rPr lang="zh-CN" altLang="en-US" sz="2400">
                <a:latin typeface="Tahoma" panose="020B0604030504040204" pitchFamily="34" charset="0"/>
              </a:rPr>
              <a:t>来获得的，那么这种算法就称为增量算法。  </a:t>
            </a:r>
          </a:p>
          <a:p>
            <a:pPr algn="just" eaLnBrk="1" hangingPunct="1">
              <a:lnSpc>
                <a:spcPct val="150000"/>
              </a:lnSpc>
              <a:spcBef>
                <a:spcPct val="0"/>
              </a:spcBef>
            </a:pPr>
            <a:r>
              <a:rPr lang="en-US" altLang="zh-CN" sz="2400">
                <a:latin typeface="Tahoma" panose="020B0604030504040204" pitchFamily="34" charset="0"/>
              </a:rPr>
              <a:t>Bresenham </a:t>
            </a:r>
            <a:r>
              <a:rPr lang="zh-CN" altLang="en-US" sz="2400">
                <a:latin typeface="Tahoma" panose="020B0604030504040204" pitchFamily="34" charset="0"/>
              </a:rPr>
              <a:t>算法有几种变体，计算方法略有不同。本章只介绍</a:t>
            </a:r>
            <a:r>
              <a:rPr lang="zh-CN" altLang="en-US" sz="2400" b="1">
                <a:solidFill>
                  <a:srgbClr val="3366FF"/>
                </a:solidFill>
                <a:latin typeface="方正粗黑宋简体" panose="02000000000000000000" pitchFamily="2" charset="-122"/>
                <a:ea typeface="方正粗黑宋简体" panose="02000000000000000000" pitchFamily="2" charset="-122"/>
              </a:rPr>
              <a:t>中点</a:t>
            </a:r>
            <a:r>
              <a:rPr lang="en-US" altLang="zh-CN" sz="2400" b="1">
                <a:solidFill>
                  <a:srgbClr val="3366FF"/>
                </a:solidFill>
                <a:latin typeface="方正粗黑宋简体" panose="02000000000000000000" pitchFamily="2" charset="-122"/>
                <a:ea typeface="方正粗黑宋简体" panose="02000000000000000000" pitchFamily="2" charset="-122"/>
              </a:rPr>
              <a:t>Bresenham</a:t>
            </a:r>
            <a:r>
              <a:rPr lang="zh-CN" altLang="en-US" sz="2400" b="1">
                <a:solidFill>
                  <a:srgbClr val="3366FF"/>
                </a:solidFill>
                <a:latin typeface="方正粗黑宋简体" panose="02000000000000000000" pitchFamily="2" charset="-122"/>
                <a:ea typeface="方正粗黑宋简体" panose="02000000000000000000" pitchFamily="2" charset="-122"/>
              </a:rPr>
              <a:t>算法</a:t>
            </a:r>
            <a:r>
              <a:rPr lang="zh-CN" altLang="en-US" sz="2400">
                <a:latin typeface="Tahoma" panose="020B0604030504040204" pitchFamily="34" charset="0"/>
              </a:rPr>
              <a:t>（</a:t>
            </a:r>
            <a:r>
              <a:rPr lang="en-US" altLang="zh-CN" sz="2400">
                <a:latin typeface="Tahoma" panose="020B0604030504040204" pitchFamily="34" charset="0"/>
              </a:rPr>
              <a:t>Midpoint Bresenham Algorithm</a:t>
            </a:r>
            <a:r>
              <a:rPr lang="zh-CN" altLang="en-US" sz="2400">
                <a:latin typeface="Tahoma" panose="020B0604030504040204" pitchFamily="34" charset="0"/>
              </a:rPr>
              <a:t>）。</a:t>
            </a:r>
          </a:p>
          <a:p>
            <a:pPr algn="just" eaLnBrk="1" hangingPunct="1">
              <a:lnSpc>
                <a:spcPct val="150000"/>
              </a:lnSpc>
              <a:spcBef>
                <a:spcPct val="0"/>
              </a:spcBef>
            </a:pPr>
            <a:r>
              <a:rPr lang="zh-CN" altLang="en-US" sz="2400">
                <a:latin typeface="Tahoma" panose="020B0604030504040204" pitchFamily="34" charset="0"/>
              </a:rPr>
              <a:t>对于直线，中点</a:t>
            </a:r>
            <a:r>
              <a:rPr lang="en-US" altLang="zh-CN" sz="2400">
                <a:latin typeface="Tahoma" panose="020B0604030504040204" pitchFamily="34" charset="0"/>
              </a:rPr>
              <a:t>Bresenham</a:t>
            </a:r>
            <a:r>
              <a:rPr lang="zh-CN" altLang="en-US" sz="2400">
                <a:latin typeface="Tahoma" panose="020B0604030504040204" pitchFamily="34" charset="0"/>
              </a:rPr>
              <a:t>算法与</a:t>
            </a:r>
            <a:r>
              <a:rPr lang="en-US" altLang="zh-CN" sz="2400">
                <a:latin typeface="Tahoma" panose="020B0604030504040204" pitchFamily="34" charset="0"/>
              </a:rPr>
              <a:t>Bresenham</a:t>
            </a:r>
            <a:r>
              <a:rPr lang="zh-CN" altLang="en-US" sz="2400">
                <a:latin typeface="Tahoma" panose="020B0604030504040204" pitchFamily="34" charset="0"/>
              </a:rPr>
              <a:t>算法产生同样的像素点，而且还可以扩展为更复杂的图形扫描转换算法，如绘制圆的中点</a:t>
            </a:r>
            <a:r>
              <a:rPr lang="en-US" altLang="zh-CN" sz="2400">
                <a:latin typeface="Tahoma" panose="020B0604030504040204" pitchFamily="34" charset="0"/>
              </a:rPr>
              <a:t>Bresenham</a:t>
            </a:r>
            <a:r>
              <a:rPr lang="zh-CN" altLang="en-US" sz="2400">
                <a:latin typeface="Tahoma" panose="020B0604030504040204" pitchFamily="34" charset="0"/>
              </a:rPr>
              <a:t>算法和绘制椭圆的中点</a:t>
            </a:r>
            <a:r>
              <a:rPr lang="en-US" altLang="zh-CN" sz="2400">
                <a:latin typeface="Tahoma" panose="020B0604030504040204" pitchFamily="34" charset="0"/>
              </a:rPr>
              <a:t>Bresenham</a:t>
            </a:r>
            <a:r>
              <a:rPr lang="zh-CN" altLang="en-US" sz="2400">
                <a:latin typeface="Tahoma" panose="020B0604030504040204" pitchFamily="34" charset="0"/>
              </a:rPr>
              <a:t>算法。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9"/>
          <p:cNvSpPr>
            <a:spLocks noChangeArrowheads="1"/>
          </p:cNvSpPr>
          <p:nvPr/>
        </p:nvSpPr>
        <p:spPr bwMode="auto">
          <a:xfrm>
            <a:off x="1403350" y="188913"/>
            <a:ext cx="3313113"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3.1.1 </a:t>
            </a:r>
            <a:r>
              <a:rPr lang="zh-CN" altLang="en-US" sz="3200" b="1" dirty="0">
                <a:effectLst>
                  <a:outerShdw blurRad="38100" dist="38100" dir="2700000" algn="tl">
                    <a:srgbClr val="C0C0C0"/>
                  </a:outerShdw>
                </a:effectLst>
                <a:latin typeface="楷体_GB2312" pitchFamily="49" charset="-122"/>
              </a:rPr>
              <a:t>算法原理</a:t>
            </a:r>
          </a:p>
        </p:txBody>
      </p:sp>
      <p:sp>
        <p:nvSpPr>
          <p:cNvPr id="12291" name="Rectangle 10"/>
          <p:cNvSpPr>
            <a:spLocks noGrp="1" noRot="1" noChangeAspect="1" noMove="1" noResize="1" noEditPoints="1" noAdjustHandles="1" noChangeArrowheads="1" noChangeShapeType="1" noTextEdit="1"/>
          </p:cNvSpPr>
          <p:nvPr>
            <p:ph type="body" idx="4294967295"/>
          </p:nvPr>
        </p:nvSpPr>
        <p:spPr>
          <a:xfrm>
            <a:off x="467545" y="908050"/>
            <a:ext cx="8352927" cy="2520950"/>
          </a:xfrm>
          <a:blipFill>
            <a:blip r:embed="rId3"/>
            <a:stretch>
              <a:fillRect l="-1168" t="-1449" r="-1095"/>
            </a:stretch>
          </a:blipFill>
          <a:extLst/>
        </p:spPr>
        <p:txBody>
          <a:bodyPr/>
          <a:lstStyle/>
          <a:p>
            <a:pPr marL="0" indent="0">
              <a:buFont typeface="Arial" panose="020B0604020202020204" pitchFamily="34" charset="0"/>
              <a:buNone/>
              <a:defRPr/>
            </a:pPr>
            <a:endParaRPr lang="zh-CN" altLang="en-US" dirty="0">
              <a:noFill/>
            </a:endParaRPr>
          </a:p>
        </p:txBody>
      </p:sp>
      <p:sp>
        <p:nvSpPr>
          <p:cNvPr id="12294" name="Rectangle 18"/>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2295" name="Object 5"/>
          <p:cNvGraphicFramePr>
            <a:graphicFrameLocks noChangeAspect="1"/>
          </p:cNvGraphicFramePr>
          <p:nvPr/>
        </p:nvGraphicFramePr>
        <p:xfrm>
          <a:off x="2771775" y="3573463"/>
          <a:ext cx="3960813" cy="536575"/>
        </p:xfrm>
        <a:graphic>
          <a:graphicData uri="http://schemas.openxmlformats.org/presentationml/2006/ole">
            <mc:AlternateContent xmlns:mc="http://schemas.openxmlformats.org/markup-compatibility/2006">
              <mc:Choice xmlns:v="urn:schemas-microsoft-com:vml" Requires="v">
                <p:oleObj spid="_x0000_s12466" r:id="rId4" imgW="1473840" imgH="203288" progId="Equation.3">
                  <p:embed/>
                </p:oleObj>
              </mc:Choice>
              <mc:Fallback>
                <p:oleObj r:id="rId4" imgW="1473840" imgH="203288"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3573463"/>
                        <a:ext cx="39608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6" name="Rectangle 19"/>
          <p:cNvSpPr>
            <a:spLocks noChangeArrowheads="1"/>
          </p:cNvSpPr>
          <p:nvPr/>
        </p:nvSpPr>
        <p:spPr bwMode="auto">
          <a:xfrm>
            <a:off x="7380288" y="3573463"/>
            <a:ext cx="1349375" cy="519112"/>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a:latin typeface="楷体_GB2312" pitchFamily="49" charset="-122"/>
              </a:rPr>
              <a:t>（</a:t>
            </a:r>
            <a:r>
              <a:rPr lang="en-US">
                <a:latin typeface="楷体_GB2312" pitchFamily="49" charset="-122"/>
              </a:rPr>
              <a:t>3-1</a:t>
            </a:r>
            <a:r>
              <a:rPr lang="zh-CN" altLang="en-US">
                <a:latin typeface="楷体_GB2312" pitchFamily="49" charset="-122"/>
              </a:rPr>
              <a:t>）</a:t>
            </a:r>
            <a:r>
              <a:rPr lang="zh-CN" altLang="en-US" sz="2800">
                <a:effectLst>
                  <a:outerShdw blurRad="38100" dist="38100" dir="2700000" algn="tl">
                    <a:srgbClr val="C0C0C0"/>
                  </a:outerShdw>
                </a:effectLst>
                <a:latin typeface="Arial" panose="020B0604020202020204" pitchFamily="34" charset="0"/>
                <a:ea typeface="宋体" panose="02010600030101010101" pitchFamily="2" charset="-122"/>
              </a:rPr>
              <a:t> </a:t>
            </a:r>
          </a:p>
        </p:txBody>
      </p:sp>
      <p:sp>
        <p:nvSpPr>
          <p:cNvPr id="15367" name="Text Box 20"/>
          <p:cNvSpPr txBox="1">
            <a:spLocks noChangeArrowheads="1"/>
          </p:cNvSpPr>
          <p:nvPr/>
        </p:nvSpPr>
        <p:spPr bwMode="auto">
          <a:xfrm>
            <a:off x="1619250" y="4292600"/>
            <a:ext cx="3097213" cy="519113"/>
          </a:xfrm>
          <a:prstGeom prst="rect">
            <a:avLst/>
          </a:prstGeom>
          <a:noFill/>
          <a:ln w="9525">
            <a:noFill/>
            <a:miter lim="800000"/>
          </a:ln>
        </p:spPr>
        <p:txBody>
          <a:bodyPr anchorCtr="1">
            <a:spAutoFit/>
          </a:bodyPr>
          <a:lstStyle/>
          <a:p>
            <a:pPr algn="r" eaLnBrk="1" hangingPunct="1">
              <a:spcBef>
                <a:spcPct val="50000"/>
              </a:spcBef>
              <a:buFont typeface="Arial" panose="020B0604020202020204" pitchFamily="34" charset="0"/>
              <a:buNone/>
              <a:defRPr/>
            </a:pPr>
            <a:r>
              <a:rPr lang="zh-CN" altLang="en-US" dirty="0">
                <a:latin typeface="楷体_GB2312" pitchFamily="49" charset="-122"/>
              </a:rPr>
              <a:t>其中，直线的斜率：</a:t>
            </a:r>
            <a:r>
              <a:rPr lang="zh-CN" altLang="en-US" sz="2800" dirty="0">
                <a:solidFill>
                  <a:schemeClr val="folHlink"/>
                </a:solidFill>
                <a:effectLst>
                  <a:outerShdw blurRad="38100" dist="38100" dir="2700000" algn="tl">
                    <a:srgbClr val="C0C0C0"/>
                  </a:outerShdw>
                </a:effectLst>
                <a:latin typeface="楷体_GB2312" pitchFamily="49" charset="-122"/>
              </a:rPr>
              <a:t> </a:t>
            </a:r>
          </a:p>
        </p:txBody>
      </p:sp>
      <p:sp>
        <p:nvSpPr>
          <p:cNvPr id="12298" name="Rectangle 25"/>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2299" name="Object 9"/>
          <p:cNvGraphicFramePr>
            <a:graphicFrameLocks noChangeAspect="1"/>
          </p:cNvGraphicFramePr>
          <p:nvPr/>
        </p:nvGraphicFramePr>
        <p:xfrm>
          <a:off x="5435600" y="4149725"/>
          <a:ext cx="1944688" cy="787400"/>
        </p:xfrm>
        <a:graphic>
          <a:graphicData uri="http://schemas.openxmlformats.org/presentationml/2006/ole">
            <mc:AlternateContent xmlns:mc="http://schemas.openxmlformats.org/markup-compatibility/2006">
              <mc:Choice xmlns:v="urn:schemas-microsoft-com:vml" Requires="v">
                <p:oleObj spid="_x0000_s12467" r:id="rId6" imgW="1105380" imgH="444693" progId="Equation.3">
                  <p:embed/>
                </p:oleObj>
              </mc:Choice>
              <mc:Fallback>
                <p:oleObj r:id="rId6" imgW="1105380" imgH="444693"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5600" y="4149725"/>
                        <a:ext cx="1944688"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0" name="Rectangle 26"/>
          <p:cNvSpPr>
            <a:spLocks noChangeArrowheads="1"/>
          </p:cNvSpPr>
          <p:nvPr/>
        </p:nvSpPr>
        <p:spPr bwMode="auto">
          <a:xfrm>
            <a:off x="1457325" y="5013325"/>
            <a:ext cx="3402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800">
                <a:solidFill>
                  <a:schemeClr val="folHlink"/>
                </a:solidFill>
                <a:latin typeface="楷体_GB2312" pitchFamily="49" charset="-122"/>
              </a:rPr>
              <a:t> </a:t>
            </a:r>
            <a:r>
              <a:rPr lang="zh-CN" altLang="en-US" sz="2400">
                <a:latin typeface="楷体_GB2312" pitchFamily="49" charset="-122"/>
              </a:rPr>
              <a:t>直线水平方向位移 ：</a:t>
            </a:r>
          </a:p>
        </p:txBody>
      </p:sp>
      <p:sp>
        <p:nvSpPr>
          <p:cNvPr id="12301" name="Rectangle 3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2302" name="Object 12"/>
          <p:cNvGraphicFramePr>
            <a:graphicFrameLocks noChangeAspect="1"/>
          </p:cNvGraphicFramePr>
          <p:nvPr/>
        </p:nvGraphicFramePr>
        <p:xfrm>
          <a:off x="5508625" y="5084763"/>
          <a:ext cx="1800225" cy="527050"/>
        </p:xfrm>
        <a:graphic>
          <a:graphicData uri="http://schemas.openxmlformats.org/presentationml/2006/ole">
            <mc:AlternateContent xmlns:mc="http://schemas.openxmlformats.org/markup-compatibility/2006">
              <mc:Choice xmlns:v="urn:schemas-microsoft-com:vml" Requires="v">
                <p:oleObj spid="_x0000_s12468" r:id="rId8" imgW="774700" imgH="228600" progId="Equation.3">
                  <p:embed/>
                </p:oleObj>
              </mc:Choice>
              <mc:Fallback>
                <p:oleObj r:id="rId8" imgW="774700" imgH="22860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8625" y="5084763"/>
                        <a:ext cx="180022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3" name="Text Box 32"/>
          <p:cNvSpPr txBox="1">
            <a:spLocks noChangeArrowheads="1"/>
          </p:cNvSpPr>
          <p:nvPr/>
        </p:nvSpPr>
        <p:spPr bwMode="auto">
          <a:xfrm>
            <a:off x="1331913" y="5734050"/>
            <a:ext cx="3455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50000"/>
              </a:spcBef>
              <a:buFont typeface="Arial" panose="020B0604020202020204" pitchFamily="34" charset="0"/>
              <a:buNone/>
            </a:pPr>
            <a:r>
              <a:rPr lang="zh-CN" altLang="en-US" sz="2800">
                <a:solidFill>
                  <a:schemeClr val="folHlink"/>
                </a:solidFill>
                <a:latin typeface="楷体_GB2312" pitchFamily="49" charset="-122"/>
              </a:rPr>
              <a:t> </a:t>
            </a:r>
            <a:r>
              <a:rPr lang="zh-CN" altLang="en-US" sz="2400">
                <a:latin typeface="楷体_GB2312" pitchFamily="49" charset="-122"/>
              </a:rPr>
              <a:t>直线垂直方向位移 ：</a:t>
            </a:r>
          </a:p>
        </p:txBody>
      </p:sp>
      <p:sp>
        <p:nvSpPr>
          <p:cNvPr id="12304" name="Rectangle 3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2305" name="Object 15"/>
          <p:cNvGraphicFramePr>
            <a:graphicFrameLocks noChangeAspect="1"/>
          </p:cNvGraphicFramePr>
          <p:nvPr/>
        </p:nvGraphicFramePr>
        <p:xfrm>
          <a:off x="5508625" y="5805488"/>
          <a:ext cx="1871663" cy="534987"/>
        </p:xfrm>
        <a:graphic>
          <a:graphicData uri="http://schemas.openxmlformats.org/presentationml/2006/ole">
            <mc:AlternateContent xmlns:mc="http://schemas.openxmlformats.org/markup-compatibility/2006">
              <mc:Choice xmlns:v="urn:schemas-microsoft-com:vml" Requires="v">
                <p:oleObj spid="_x0000_s12469" r:id="rId10" imgW="800447" imgH="228699" progId="Equation.3">
                  <p:embed/>
                </p:oleObj>
              </mc:Choice>
              <mc:Fallback>
                <p:oleObj r:id="rId10" imgW="800447" imgH="228699"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08625" y="5805488"/>
                        <a:ext cx="18716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5"/>
          <p:cNvGraphicFramePr>
            <a:graphicFrameLocks noChangeAspect="1"/>
          </p:cNvGraphicFramePr>
          <p:nvPr>
            <p:extLst>
              <p:ext uri="{D42A27DB-BD31-4B8C-83A1-F6EECF244321}">
                <p14:modId xmlns:p14="http://schemas.microsoft.com/office/powerpoint/2010/main" val="548984057"/>
              </p:ext>
            </p:extLst>
          </p:nvPr>
        </p:nvGraphicFramePr>
        <p:xfrm>
          <a:off x="952909" y="3356992"/>
          <a:ext cx="7416800" cy="2428875"/>
        </p:xfrm>
        <a:graphic>
          <a:graphicData uri="http://schemas.openxmlformats.org/presentationml/2006/ole">
            <mc:AlternateContent xmlns:mc="http://schemas.openxmlformats.org/markup-compatibility/2006">
              <mc:Choice xmlns:v="urn:schemas-microsoft-com:vml" Requires="v">
                <p:oleObj spid="_x0000_s13357" r:id="rId3" imgW="6276240" imgH="2130120" progId="Visio.Drawing.11">
                  <p:embed/>
                </p:oleObj>
              </mc:Choice>
              <mc:Fallback>
                <p:oleObj r:id="rId3" imgW="6276240" imgH="2130120"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909" y="3356992"/>
                        <a:ext cx="74168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5" name="Rectangle 6"/>
          <p:cNvSpPr>
            <a:spLocks noRot="1" noChangeAspect="1" noMove="1" noResize="1" noEditPoints="1" noAdjustHandles="1" noChangeArrowheads="1" noChangeShapeType="1" noTextEdit="1"/>
          </p:cNvSpPr>
          <p:nvPr/>
        </p:nvSpPr>
        <p:spPr bwMode="auto">
          <a:xfrm>
            <a:off x="467544" y="333375"/>
            <a:ext cx="8387531" cy="3023617"/>
          </a:xfrm>
          <a:prstGeom prst="rect">
            <a:avLst/>
          </a:prstGeom>
          <a:blipFill>
            <a:blip r:embed="rId5"/>
            <a:stretch>
              <a:fillRect l="-799" t="-806" r="-72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13316" name="Rectangle 7"/>
          <p:cNvSpPr>
            <a:spLocks noChangeArrowheads="1"/>
          </p:cNvSpPr>
          <p:nvPr/>
        </p:nvSpPr>
        <p:spPr bwMode="auto">
          <a:xfrm>
            <a:off x="3348038" y="6021388"/>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楷体_GB2312" pitchFamily="49" charset="-122"/>
              </a:rPr>
              <a:t>直线中点</a:t>
            </a:r>
            <a:r>
              <a:rPr lang="en-US" altLang="zh-CN" sz="2400">
                <a:latin typeface="楷体_GB2312" pitchFamily="49" charset="-122"/>
              </a:rPr>
              <a:t>Bresenham</a:t>
            </a:r>
            <a:r>
              <a:rPr lang="zh-CN" altLang="en-US" sz="2400">
                <a:latin typeface="楷体_GB2312" pitchFamily="49" charset="-122"/>
              </a:rPr>
              <a:t>算法原理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338" name="Rectangle 18"/>
              <p:cNvSpPr>
                <a:spLocks noChangeArrowheads="1"/>
              </p:cNvSpPr>
              <p:nvPr/>
            </p:nvSpPr>
            <p:spPr bwMode="auto">
              <a:xfrm>
                <a:off x="539750" y="333375"/>
                <a:ext cx="8280400" cy="142192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None/>
                </a:pPr>
                <a:r>
                  <a:rPr lang="zh-CN" altLang="en-US" sz="2400" dirty="0" smtClean="0">
                    <a:latin typeface="Tahoma" panose="020B0604030504040204" pitchFamily="34" charset="0"/>
                  </a:rPr>
                  <a:t>假定</a:t>
                </a:r>
                <a:r>
                  <a:rPr lang="zh-CN" altLang="en-US" sz="2400" dirty="0">
                    <a:latin typeface="Tahoma" panose="020B0604030504040204" pitchFamily="34" charset="0"/>
                  </a:rPr>
                  <a:t>直线的当前点</a:t>
                </a:r>
                <a:r>
                  <a:rPr lang="zh-CN" altLang="en-US" sz="2400" dirty="0" smtClean="0">
                    <a:latin typeface="Tahoma" panose="020B0604030504040204" pitchFamily="34" charset="0"/>
                  </a:rPr>
                  <a:t>是 </a:t>
                </a:r>
                <a14:m>
                  <m:oMath xmlns:m="http://schemas.openxmlformats.org/officeDocument/2006/math">
                    <m:r>
                      <a:rPr lang="en-US" altLang="zh-CN" sz="2400" b="1" i="1" smtClean="0">
                        <a:solidFill>
                          <a:srgbClr val="FF0000"/>
                        </a:solidFill>
                        <a:latin typeface="Cambria Math" panose="02040503050406030204" pitchFamily="18" charset="0"/>
                      </a:rPr>
                      <m:t>𝑷</m:t>
                    </m:r>
                  </m:oMath>
                </a14:m>
                <a:r>
                  <a:rPr lang="zh-CN" altLang="en-US" sz="2400" dirty="0">
                    <a:latin typeface="Tahoma" panose="020B0604030504040204" pitchFamily="34" charset="0"/>
                  </a:rPr>
                  <a:t>，沿主</a:t>
                </a:r>
                <a:r>
                  <a:rPr lang="zh-CN" altLang="en-US" sz="2400" dirty="0" smtClean="0">
                    <a:latin typeface="Tahoma" panose="020B0604030504040204" pitchFamily="34" charset="0"/>
                  </a:rPr>
                  <a:t>位移 </a:t>
                </a:r>
                <a14:m>
                  <m:oMath xmlns:m="http://schemas.openxmlformats.org/officeDocument/2006/math">
                    <m:r>
                      <a:rPr lang="en-US" altLang="zh-CN" sz="2400" b="1" i="1" smtClean="0">
                        <a:solidFill>
                          <a:srgbClr val="FF0000"/>
                        </a:solidFill>
                        <a:latin typeface="Cambria Math" panose="02040503050406030204" pitchFamily="18" charset="0"/>
                      </a:rPr>
                      <m:t>𝒙</m:t>
                    </m:r>
                  </m:oMath>
                </a14:m>
                <a:r>
                  <a:rPr lang="zh-CN" altLang="en-US" sz="2400" dirty="0" smtClean="0">
                    <a:latin typeface="Tahoma" panose="020B0604030504040204" pitchFamily="34" charset="0"/>
                  </a:rPr>
                  <a:t> 方向</a:t>
                </a:r>
                <a:r>
                  <a:rPr lang="zh-CN" altLang="en-US" sz="2400" dirty="0">
                    <a:latin typeface="Tahoma" panose="020B0604030504040204" pitchFamily="34" charset="0"/>
                  </a:rPr>
                  <a:t>走一步，下一点只能</a:t>
                </a:r>
                <a:r>
                  <a:rPr lang="zh-CN" altLang="en-US" sz="2400" dirty="0" smtClean="0">
                    <a:latin typeface="Tahoma" panose="020B0604030504040204" pitchFamily="34" charset="0"/>
                  </a:rPr>
                  <a:t>在 </a:t>
                </a:r>
                <a14:m>
                  <m:oMath xmlns:m="http://schemas.openxmlformats.org/officeDocument/2006/math">
                    <m:sSub>
                      <m:sSubPr>
                        <m:ctrlPr>
                          <a:rPr lang="en-US" altLang="zh-CN" sz="2400" b="1" i="1" smtClean="0">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smtClean="0">
                            <a:solidFill>
                              <a:srgbClr val="FF0000"/>
                            </a:solidFill>
                            <a:latin typeface="Cambria Math" panose="02040503050406030204" pitchFamily="18" charset="0"/>
                          </a:rPr>
                          <m:t>𝒖</m:t>
                        </m:r>
                      </m:sub>
                    </m:sSub>
                  </m:oMath>
                </a14:m>
                <a:r>
                  <a:rPr lang="pt-BR" altLang="en-US" sz="2400" dirty="0" smtClean="0">
                    <a:latin typeface="Tahoma" panose="020B0604030504040204" pitchFamily="34" charset="0"/>
                  </a:rPr>
                  <a:t> </a:t>
                </a:r>
                <a:r>
                  <a:rPr lang="zh-CN" altLang="en-US" sz="2400" dirty="0" smtClean="0">
                    <a:latin typeface="Tahoma" panose="020B0604030504040204" pitchFamily="34" charset="0"/>
                  </a:rPr>
                  <a:t>和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smtClean="0">
                            <a:solidFill>
                              <a:srgbClr val="FF0000"/>
                            </a:solidFill>
                            <a:latin typeface="Cambria Math" panose="02040503050406030204" pitchFamily="18" charset="0"/>
                          </a:rPr>
                          <m:t>𝒅</m:t>
                        </m:r>
                      </m:sub>
                    </m:sSub>
                  </m:oMath>
                </a14:m>
                <a:r>
                  <a:rPr lang="zh-CN" altLang="en-US" sz="2400" dirty="0" smtClean="0">
                    <a:latin typeface="Tahoma" panose="020B0604030504040204" pitchFamily="34" charset="0"/>
                  </a:rPr>
                  <a:t> 两</a:t>
                </a:r>
                <a:r>
                  <a:rPr lang="zh-CN" altLang="en-US" sz="2400" dirty="0">
                    <a:latin typeface="Tahoma" panose="020B0604030504040204" pitchFamily="34" charset="0"/>
                  </a:rPr>
                  <a:t>点中选取，</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a:solidFill>
                              <a:srgbClr val="FF0000"/>
                            </a:solidFill>
                            <a:latin typeface="Cambria Math" panose="02040503050406030204" pitchFamily="18" charset="0"/>
                          </a:rPr>
                          <m:t>𝒖</m:t>
                        </m:r>
                      </m:sub>
                    </m:sSub>
                  </m:oMath>
                </a14:m>
                <a:r>
                  <a:rPr lang="zh-CN" altLang="en-US" sz="2400" dirty="0">
                    <a:latin typeface="Tahoma" panose="020B0604030504040204" pitchFamily="34" charset="0"/>
                  </a:rPr>
                  <a:t>和</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a:solidFill>
                              <a:srgbClr val="FF0000"/>
                            </a:solidFill>
                            <a:latin typeface="Cambria Math" panose="02040503050406030204" pitchFamily="18" charset="0"/>
                          </a:rPr>
                          <m:t>𝒅</m:t>
                        </m:r>
                      </m:sub>
                    </m:sSub>
                  </m:oMath>
                </a14:m>
                <a:r>
                  <a:rPr lang="zh-CN" altLang="en-US" sz="2400" dirty="0">
                    <a:latin typeface="Tahoma" panose="020B0604030504040204" pitchFamily="34" charset="0"/>
                  </a:rPr>
                  <a:t>的中点</a:t>
                </a:r>
                <a:r>
                  <a:rPr lang="zh-CN" altLang="en-US" sz="2400" dirty="0" smtClean="0">
                    <a:latin typeface="Tahoma" panose="020B0604030504040204" pitchFamily="34" charset="0"/>
                  </a:rPr>
                  <a:t>为 </a:t>
                </a:r>
                <a14:m>
                  <m:oMath xmlns:m="http://schemas.openxmlformats.org/officeDocument/2006/math">
                    <m:r>
                      <a:rPr lang="en-US" altLang="zh-CN" sz="2400" b="1" i="1" smtClean="0">
                        <a:solidFill>
                          <a:srgbClr val="FF0000"/>
                        </a:solidFill>
                        <a:latin typeface="Cambria Math" panose="02040503050406030204" pitchFamily="18" charset="0"/>
                      </a:rPr>
                      <m:t>𝑴</m:t>
                    </m:r>
                  </m:oMath>
                </a14:m>
                <a:r>
                  <a:rPr lang="zh-CN" altLang="en-US" sz="2400" dirty="0" smtClean="0">
                    <a:latin typeface="Tahoma" panose="020B0604030504040204" pitchFamily="34" charset="0"/>
                  </a:rPr>
                  <a:t>。</a:t>
                </a:r>
                <a:r>
                  <a:rPr lang="zh-CN" altLang="en-US" sz="2400" dirty="0">
                    <a:latin typeface="Tahoma" panose="020B0604030504040204" pitchFamily="34" charset="0"/>
                  </a:rPr>
                  <a:t>显然，若中点</a:t>
                </a:r>
                <a:r>
                  <a:rPr lang="pt-BR" altLang="en-US" sz="2400" dirty="0">
                    <a:latin typeface="Tahoma" panose="020B0604030504040204" pitchFamily="34" charset="0"/>
                  </a:rPr>
                  <a:t>M</a:t>
                </a:r>
                <a:r>
                  <a:rPr lang="zh-CN" altLang="en-US" sz="2400" dirty="0">
                    <a:latin typeface="Tahoma" panose="020B0604030504040204" pitchFamily="34" charset="0"/>
                  </a:rPr>
                  <a:t>在理想直线的下方，则</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a:solidFill>
                              <a:srgbClr val="FF0000"/>
                            </a:solidFill>
                            <a:latin typeface="Cambria Math" panose="02040503050406030204" pitchFamily="18" charset="0"/>
                          </a:rPr>
                          <m:t>𝒖</m:t>
                        </m:r>
                      </m:sub>
                    </m:sSub>
                  </m:oMath>
                </a14:m>
                <a:r>
                  <a:rPr lang="zh-CN" altLang="en-US" sz="2400" dirty="0">
                    <a:latin typeface="Tahoma" panose="020B0604030504040204" pitchFamily="34" charset="0"/>
                  </a:rPr>
                  <a:t>点距离直线近，否则选取</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a:solidFill>
                              <a:srgbClr val="FF0000"/>
                            </a:solidFill>
                            <a:latin typeface="Cambria Math" panose="02040503050406030204" pitchFamily="18" charset="0"/>
                          </a:rPr>
                          <m:t>𝒅</m:t>
                        </m:r>
                      </m:sub>
                    </m:sSub>
                  </m:oMath>
                </a14:m>
                <a:r>
                  <a:rPr lang="zh-CN" altLang="en-US" sz="2400" dirty="0">
                    <a:latin typeface="Tahoma" panose="020B0604030504040204" pitchFamily="34" charset="0"/>
                  </a:rPr>
                  <a:t>。</a:t>
                </a:r>
              </a:p>
            </p:txBody>
          </p:sp>
        </mc:Choice>
        <mc:Fallback xmlns="">
          <p:sp>
            <p:nvSpPr>
              <p:cNvPr id="14338" name="Rectangle 18"/>
              <p:cNvSpPr>
                <a:spLocks noRot="1" noChangeAspect="1" noMove="1" noResize="1" noEditPoints="1" noAdjustHandles="1" noChangeArrowheads="1" noChangeShapeType="1" noTextEdit="1"/>
              </p:cNvSpPr>
              <p:nvPr/>
            </p:nvSpPr>
            <p:spPr bwMode="auto">
              <a:xfrm>
                <a:off x="539750" y="333375"/>
                <a:ext cx="8280400" cy="1421928"/>
              </a:xfrm>
              <a:prstGeom prst="rect">
                <a:avLst/>
              </a:prstGeom>
              <a:blipFill>
                <a:blip r:embed="rId3"/>
                <a:stretch>
                  <a:fillRect l="-1178" t="-2575" r="-4786" b="-557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7411" name="Rectangle 19"/>
          <p:cNvSpPr>
            <a:spLocks noChangeArrowheads="1"/>
          </p:cNvSpPr>
          <p:nvPr/>
        </p:nvSpPr>
        <p:spPr bwMode="auto">
          <a:xfrm>
            <a:off x="1331913" y="2276475"/>
            <a:ext cx="4535487"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a:effectLst>
                  <a:outerShdw blurRad="38100" dist="38100" dir="2700000" algn="tl">
                    <a:srgbClr val="C0C0C0"/>
                  </a:outerShdw>
                </a:effectLst>
                <a:latin typeface="楷体_GB2312" pitchFamily="49" charset="-122"/>
              </a:rPr>
              <a:t>3.1.2 </a:t>
            </a:r>
            <a:r>
              <a:rPr lang="zh-CN" altLang="en-US" sz="3200" b="1">
                <a:effectLst>
                  <a:outerShdw blurRad="38100" dist="38100" dir="2700000" algn="tl">
                    <a:srgbClr val="C0C0C0"/>
                  </a:outerShdw>
                </a:effectLst>
                <a:latin typeface="楷体_GB2312" pitchFamily="49" charset="-122"/>
              </a:rPr>
              <a:t>构造中点误差项</a:t>
            </a:r>
          </a:p>
        </p:txBody>
      </p:sp>
      <p:sp>
        <p:nvSpPr>
          <p:cNvPr id="14340" name="Rectangle 20"/>
          <p:cNvSpPr>
            <a:spLocks noChangeArrowheads="1"/>
          </p:cNvSpPr>
          <p:nvPr/>
        </p:nvSpPr>
        <p:spPr bwMode="auto">
          <a:xfrm>
            <a:off x="539750" y="2852738"/>
            <a:ext cx="8424863"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zh-CN" altLang="en-US" sz="2400" dirty="0">
                <a:latin typeface="Tahoma" panose="020B0604030504040204" pitchFamily="34" charset="0"/>
              </a:rPr>
              <a:t>      从</a:t>
            </a:r>
            <a:r>
              <a:rPr lang="pt-BR" altLang="en-US" sz="2400" dirty="0">
                <a:latin typeface="Tahoma" panose="020B0604030504040204" pitchFamily="34" charset="0"/>
              </a:rPr>
              <a:t>P</a:t>
            </a:r>
            <a:r>
              <a:rPr lang="en-US" altLang="zh-CN" sz="2400" baseline="-25000" dirty="0" err="1">
                <a:latin typeface="Tahoma" panose="020B0604030504040204" pitchFamily="34" charset="0"/>
              </a:rPr>
              <a:t>i</a:t>
            </a:r>
            <a:r>
              <a:rPr lang="pt-BR" altLang="en-US" sz="2400" dirty="0">
                <a:latin typeface="Tahoma" panose="020B0604030504040204" pitchFamily="34" charset="0"/>
              </a:rPr>
              <a:t>(x</a:t>
            </a:r>
            <a:r>
              <a:rPr lang="en-US" altLang="zh-CN" sz="2400" baseline="-25000" dirty="0" err="1">
                <a:latin typeface="Tahoma" panose="020B0604030504040204" pitchFamily="34" charset="0"/>
              </a:rPr>
              <a:t>i</a:t>
            </a:r>
            <a:r>
              <a:rPr lang="pt-BR" altLang="en-US" sz="2400" dirty="0">
                <a:latin typeface="Tahoma" panose="020B0604030504040204" pitchFamily="34" charset="0"/>
              </a:rPr>
              <a:t>,y</a:t>
            </a:r>
            <a:r>
              <a:rPr lang="en-US" altLang="zh-CN" sz="2400" baseline="-25000" dirty="0" err="1">
                <a:latin typeface="Tahoma" panose="020B0604030504040204" pitchFamily="34" charset="0"/>
              </a:rPr>
              <a:t>i</a:t>
            </a:r>
            <a:r>
              <a:rPr lang="zh-CN" altLang="en-US" sz="2400" dirty="0">
                <a:latin typeface="Tahoma" panose="020B0604030504040204" pitchFamily="34" charset="0"/>
              </a:rPr>
              <a:t>）点出发选取下一像素时，需将</a:t>
            </a:r>
            <a:r>
              <a:rPr lang="pt-BR" altLang="en-US" sz="2400" dirty="0">
                <a:latin typeface="Tahoma" panose="020B0604030504040204" pitchFamily="34" charset="0"/>
              </a:rPr>
              <a:t>P</a:t>
            </a:r>
            <a:r>
              <a:rPr lang="pt-BR" altLang="en-US" sz="2400" baseline="-25000" dirty="0">
                <a:latin typeface="Tahoma" panose="020B0604030504040204" pitchFamily="34" charset="0"/>
              </a:rPr>
              <a:t>u</a:t>
            </a:r>
            <a:r>
              <a:rPr lang="zh-CN" altLang="en-US" sz="2400" dirty="0">
                <a:latin typeface="Tahoma" panose="020B0604030504040204" pitchFamily="34" charset="0"/>
              </a:rPr>
              <a:t>和</a:t>
            </a:r>
            <a:r>
              <a:rPr lang="pt-BR" altLang="en-US" sz="2400" dirty="0">
                <a:latin typeface="Tahoma" panose="020B0604030504040204" pitchFamily="34" charset="0"/>
              </a:rPr>
              <a:t>P</a:t>
            </a:r>
            <a:r>
              <a:rPr lang="pt-BR" altLang="en-US" sz="2400" baseline="-25000" dirty="0">
                <a:latin typeface="Tahoma" panose="020B0604030504040204" pitchFamily="34" charset="0"/>
              </a:rPr>
              <a:t>d</a:t>
            </a:r>
            <a:r>
              <a:rPr lang="zh-CN" altLang="en-US" sz="2400" dirty="0">
                <a:latin typeface="Tahoma" panose="020B0604030504040204" pitchFamily="34" charset="0"/>
              </a:rPr>
              <a:t>的</a:t>
            </a:r>
            <a:r>
              <a:rPr lang="zh-CN" altLang="en-US" sz="2400" b="1" dirty="0">
                <a:solidFill>
                  <a:srgbClr val="FF0000"/>
                </a:solidFill>
                <a:latin typeface="Tahoma" panose="020B0604030504040204" pitchFamily="34" charset="0"/>
              </a:rPr>
              <a:t>中点</a:t>
            </a:r>
            <a:r>
              <a:rPr lang="en-US" altLang="zh-CN" sz="2400" b="1" dirty="0">
                <a:solidFill>
                  <a:srgbClr val="FF0000"/>
                </a:solidFill>
                <a:latin typeface="Tahoma" panose="020B0604030504040204" pitchFamily="34" charset="0"/>
              </a:rPr>
              <a:t>M(x </a:t>
            </a:r>
            <a:r>
              <a:rPr lang="en-US" altLang="zh-CN" sz="2400" b="1" baseline="-25000" dirty="0" err="1">
                <a:solidFill>
                  <a:srgbClr val="FF0000"/>
                </a:solidFill>
                <a:latin typeface="Tahoma" panose="020B0604030504040204" pitchFamily="34" charset="0"/>
              </a:rPr>
              <a:t>i</a:t>
            </a:r>
            <a:r>
              <a:rPr lang="zh-CN" altLang="en-US" sz="2400" b="1" dirty="0">
                <a:solidFill>
                  <a:srgbClr val="FF0000"/>
                </a:solidFill>
                <a:latin typeface="Tahoma" panose="020B0604030504040204" pitchFamily="34" charset="0"/>
              </a:rPr>
              <a:t>＋</a:t>
            </a:r>
            <a:r>
              <a:rPr lang="en-US" altLang="zh-CN" sz="2400" b="1" dirty="0">
                <a:solidFill>
                  <a:srgbClr val="FF0000"/>
                </a:solidFill>
                <a:latin typeface="Tahoma" panose="020B0604030504040204" pitchFamily="34" charset="0"/>
              </a:rPr>
              <a:t>1,y</a:t>
            </a:r>
            <a:r>
              <a:rPr lang="en-US" altLang="zh-CN" sz="2400" b="1" baseline="-25000" dirty="0">
                <a:solidFill>
                  <a:srgbClr val="FF0000"/>
                </a:solidFill>
                <a:latin typeface="Tahoma" panose="020B0604030504040204" pitchFamily="34" charset="0"/>
              </a:rPr>
              <a:t> </a:t>
            </a:r>
            <a:r>
              <a:rPr lang="en-US" altLang="zh-CN" sz="2400" b="1" baseline="-25000" dirty="0" err="1">
                <a:solidFill>
                  <a:srgbClr val="FF0000"/>
                </a:solidFill>
                <a:latin typeface="Tahoma" panose="020B0604030504040204" pitchFamily="34" charset="0"/>
              </a:rPr>
              <a:t>i</a:t>
            </a:r>
            <a:r>
              <a:rPr lang="zh-CN" altLang="en-US" sz="2400" b="1" dirty="0">
                <a:solidFill>
                  <a:srgbClr val="FF0000"/>
                </a:solidFill>
                <a:latin typeface="Tahoma" panose="020B0604030504040204" pitchFamily="34" charset="0"/>
              </a:rPr>
              <a:t>＋</a:t>
            </a:r>
            <a:r>
              <a:rPr lang="en-US" altLang="zh-CN" sz="2400" b="1" dirty="0">
                <a:solidFill>
                  <a:srgbClr val="FF0000"/>
                </a:solidFill>
                <a:latin typeface="Tahoma" panose="020B0604030504040204" pitchFamily="34" charset="0"/>
              </a:rPr>
              <a:t>0.5)</a:t>
            </a:r>
            <a:r>
              <a:rPr lang="zh-CN" altLang="en-US" sz="2400" dirty="0">
                <a:latin typeface="Tahoma" panose="020B0604030504040204" pitchFamily="34" charset="0"/>
              </a:rPr>
              <a:t>代入隐函数方程，构造中点误差项</a:t>
            </a:r>
            <a:r>
              <a:rPr lang="pt-BR" altLang="en-US" sz="2400" dirty="0">
                <a:latin typeface="Tahoma" panose="020B0604030504040204" pitchFamily="34" charset="0"/>
              </a:rPr>
              <a:t>d</a:t>
            </a:r>
            <a:r>
              <a:rPr lang="en-US" altLang="zh-CN" sz="2400" baseline="-25000" dirty="0" err="1">
                <a:latin typeface="Tahoma" panose="020B0604030504040204" pitchFamily="34" charset="0"/>
              </a:rPr>
              <a:t>i</a:t>
            </a:r>
            <a:r>
              <a:rPr lang="en-US" altLang="zh-CN" sz="2400" baseline="-25000" dirty="0">
                <a:latin typeface="Tahoma" panose="020B0604030504040204" pitchFamily="34" charset="0"/>
              </a:rPr>
              <a:t> </a:t>
            </a:r>
            <a:r>
              <a:rPr lang="zh-CN" altLang="en-US" sz="2400" dirty="0">
                <a:latin typeface="Tahoma" panose="020B0604030504040204" pitchFamily="34" charset="0"/>
              </a:rPr>
              <a:t>。</a:t>
            </a:r>
          </a:p>
        </p:txBody>
      </p:sp>
      <p:sp>
        <p:nvSpPr>
          <p:cNvPr id="14341" name="Rectangle 2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4342" name="Object 6"/>
          <p:cNvGraphicFramePr>
            <a:graphicFrameLocks noChangeAspect="1"/>
          </p:cNvGraphicFramePr>
          <p:nvPr/>
        </p:nvGraphicFramePr>
        <p:xfrm>
          <a:off x="1619250" y="4365625"/>
          <a:ext cx="6337300" cy="498475"/>
        </p:xfrm>
        <a:graphic>
          <a:graphicData uri="http://schemas.openxmlformats.org/presentationml/2006/ole">
            <mc:AlternateContent xmlns:mc="http://schemas.openxmlformats.org/markup-compatibility/2006">
              <mc:Choice xmlns:v="urn:schemas-microsoft-com:vml" Requires="v">
                <p:oleObj spid="_x0000_s14427" r:id="rId4" imgW="2908300" imgH="228600" progId="Equation.3">
                  <p:embed/>
                </p:oleObj>
              </mc:Choice>
              <mc:Fallback>
                <p:oleObj r:id="rId4" imgW="290830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4365625"/>
                        <a:ext cx="63373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5" name="Rectangle 25"/>
          <p:cNvSpPr>
            <a:spLocks noChangeArrowheads="1"/>
          </p:cNvSpPr>
          <p:nvPr/>
        </p:nvSpPr>
        <p:spPr bwMode="auto">
          <a:xfrm>
            <a:off x="7786688" y="4292600"/>
            <a:ext cx="1357312" cy="519113"/>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b="1">
                <a:latin typeface="楷体_GB2312" pitchFamily="49" charset="-122"/>
              </a:rPr>
              <a:t>（</a:t>
            </a:r>
            <a:r>
              <a:rPr lang="en-US" b="1">
                <a:latin typeface="楷体_GB2312" pitchFamily="49" charset="-122"/>
              </a:rPr>
              <a:t>3-2</a:t>
            </a:r>
            <a:r>
              <a:rPr lang="zh-CN" altLang="en-US" b="1">
                <a:latin typeface="楷体_GB2312" pitchFamily="49" charset="-122"/>
              </a:rPr>
              <a:t>）</a:t>
            </a:r>
            <a:r>
              <a:rPr lang="zh-CN" altLang="en-US" sz="2800" b="1">
                <a:effectLst>
                  <a:outerShdw blurRad="38100" dist="38100" dir="2700000" algn="tl">
                    <a:srgbClr val="C0C0C0"/>
                  </a:outerShdw>
                </a:effectLst>
                <a:latin typeface="Arial" panose="020B0604020202020204" pitchFamily="34" charset="0"/>
                <a:ea typeface="宋体" panose="02010600030101010101" pitchFamily="2" charset="-122"/>
              </a:rPr>
              <a:t> </a:t>
            </a:r>
          </a:p>
        </p:txBody>
      </p:sp>
      <p:sp>
        <p:nvSpPr>
          <p:cNvPr id="14344" name="Rectangle 2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14345" name="Object 9"/>
          <p:cNvGraphicFramePr>
            <a:graphicFrameLocks noChangeAspect="1"/>
          </p:cNvGraphicFramePr>
          <p:nvPr/>
        </p:nvGraphicFramePr>
        <p:xfrm>
          <a:off x="2124075" y="5300663"/>
          <a:ext cx="4608513" cy="1055687"/>
        </p:xfrm>
        <a:graphic>
          <a:graphicData uri="http://schemas.openxmlformats.org/presentationml/2006/ole">
            <mc:AlternateContent xmlns:mc="http://schemas.openxmlformats.org/markup-compatibility/2006">
              <mc:Choice xmlns:v="urn:schemas-microsoft-com:vml" Requires="v">
                <p:oleObj spid="_x0000_s14428" r:id="rId6" imgW="1943944" imgH="482810" progId="Equation.3">
                  <p:embed/>
                </p:oleObj>
              </mc:Choice>
              <mc:Fallback>
                <p:oleObj r:id="rId6" imgW="1943944" imgH="48281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5300663"/>
                        <a:ext cx="4608513"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8" name="Rectangle 29"/>
          <p:cNvSpPr>
            <a:spLocks noChangeArrowheads="1"/>
          </p:cNvSpPr>
          <p:nvPr/>
        </p:nvSpPr>
        <p:spPr bwMode="auto">
          <a:xfrm>
            <a:off x="7786688" y="5445125"/>
            <a:ext cx="1357312" cy="519113"/>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b="1">
                <a:latin typeface="楷体_GB2312" pitchFamily="49" charset="-122"/>
              </a:rPr>
              <a:t>（</a:t>
            </a:r>
            <a:r>
              <a:rPr lang="en-US" b="1">
                <a:latin typeface="楷体_GB2312" pitchFamily="49" charset="-122"/>
              </a:rPr>
              <a:t>3-3</a:t>
            </a:r>
            <a:r>
              <a:rPr lang="zh-CN" altLang="en-US" b="1">
                <a:latin typeface="楷体_GB2312" pitchFamily="49" charset="-122"/>
              </a:rPr>
              <a:t>）</a:t>
            </a:r>
            <a:r>
              <a:rPr lang="zh-CN" altLang="en-US" sz="2800" b="1">
                <a:effectLst>
                  <a:outerShdw blurRad="38100" dist="38100" dir="2700000" algn="tl">
                    <a:srgbClr val="C0C0C0"/>
                  </a:outerShdw>
                </a:effectLst>
                <a:latin typeface="Arial" panose="020B0604020202020204" pitchFamily="34" charset="0"/>
                <a:ea typeface="宋体" panose="02010600030101010101" pitchFamily="2" charset="-122"/>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ext Box 6"/>
          <p:cNvSpPr txBox="1">
            <a:spLocks noChangeArrowheads="1"/>
          </p:cNvSpPr>
          <p:nvPr/>
        </p:nvSpPr>
        <p:spPr bwMode="auto">
          <a:xfrm>
            <a:off x="1331913" y="3644900"/>
            <a:ext cx="7488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zh-CN" altLang="en-US" sz="2800" b="1">
                <a:latin typeface="Arial" panose="020B0604020202020204" pitchFamily="34" charset="0"/>
                <a:ea typeface="宋体" panose="02010600030101010101" pitchFamily="2" charset="-122"/>
              </a:rPr>
              <a:t>       </a:t>
            </a:r>
            <a:endParaRPr lang="zh-CN" altLang="en-US" sz="2800" b="1">
              <a:solidFill>
                <a:schemeClr val="folHlink"/>
              </a:solidFill>
              <a:latin typeface="楷体_GB2312" pitchFamily="49" charset="-122"/>
            </a:endParaRPr>
          </a:p>
        </p:txBody>
      </p:sp>
      <p:sp>
        <p:nvSpPr>
          <p:cNvPr id="18435" name="Rectangle 9"/>
          <p:cNvSpPr>
            <a:spLocks noChangeArrowheads="1"/>
          </p:cNvSpPr>
          <p:nvPr/>
        </p:nvSpPr>
        <p:spPr bwMode="auto">
          <a:xfrm>
            <a:off x="1258888" y="260350"/>
            <a:ext cx="3313112"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a:effectLst>
                  <a:outerShdw blurRad="38100" dist="38100" dir="2700000" algn="tl">
                    <a:srgbClr val="C0C0C0"/>
                  </a:outerShdw>
                </a:effectLst>
                <a:latin typeface="楷体_GB2312" pitchFamily="49" charset="-122"/>
              </a:rPr>
              <a:t>3.1.3 </a:t>
            </a:r>
            <a:r>
              <a:rPr lang="zh-CN" altLang="en-US" sz="3200" b="1">
                <a:effectLst>
                  <a:outerShdw blurRad="38100" dist="38100" dir="2700000" algn="tl">
                    <a:srgbClr val="C0C0C0"/>
                  </a:outerShdw>
                </a:effectLst>
                <a:latin typeface="楷体_GB2312" pitchFamily="49" charset="-122"/>
              </a:rPr>
              <a:t>递推公式</a:t>
            </a:r>
            <a:r>
              <a:rPr lang="zh-CN" altLang="en-US" sz="3200">
                <a:latin typeface="楷体_GB2312" pitchFamily="49" charset="-122"/>
              </a:rPr>
              <a:t> </a:t>
            </a:r>
          </a:p>
        </p:txBody>
      </p:sp>
      <p:sp>
        <p:nvSpPr>
          <p:cNvPr id="15364" name="Rectangle 11"/>
          <p:cNvSpPr>
            <a:spLocks noChangeArrowheads="1"/>
          </p:cNvSpPr>
          <p:nvPr/>
        </p:nvSpPr>
        <p:spPr bwMode="auto">
          <a:xfrm>
            <a:off x="1331913" y="1125538"/>
            <a:ext cx="4679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800" b="1">
                <a:latin typeface="楷体_GB2312" pitchFamily="49" charset="-122"/>
              </a:rPr>
              <a:t>1.</a:t>
            </a:r>
            <a:r>
              <a:rPr lang="zh-CN" altLang="en-US" sz="2800" b="1">
                <a:latin typeface="楷体_GB2312" pitchFamily="49" charset="-122"/>
              </a:rPr>
              <a:t>中点误差项的递推公式</a:t>
            </a:r>
          </a:p>
        </p:txBody>
      </p:sp>
      <p:graphicFrame>
        <p:nvGraphicFramePr>
          <p:cNvPr id="15365" name="Object 14"/>
          <p:cNvGraphicFramePr>
            <a:graphicFrameLocks noChangeAspect="1"/>
          </p:cNvGraphicFramePr>
          <p:nvPr/>
        </p:nvGraphicFramePr>
        <p:xfrm>
          <a:off x="2411413" y="2708275"/>
          <a:ext cx="2808287" cy="2808288"/>
        </p:xfrm>
        <a:graphic>
          <a:graphicData uri="http://schemas.openxmlformats.org/presentationml/2006/ole">
            <mc:AlternateContent xmlns:mc="http://schemas.openxmlformats.org/markup-compatibility/2006">
              <mc:Choice xmlns:v="urn:schemas-microsoft-com:vml" Requires="v">
                <p:oleObj spid="_x0000_s15459" r:id="rId3" imgW="3673080" imgH="3673080" progId="Visio.Drawing.11">
                  <p:embed/>
                </p:oleObj>
              </mc:Choice>
              <mc:Fallback>
                <p:oleObj r:id="rId3" imgW="3673080" imgH="3673080" progId="Visio.Drawing.11">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708275"/>
                        <a:ext cx="2808287"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366" name="Object 13"/>
          <p:cNvGraphicFramePr>
            <a:graphicFrameLocks noChangeAspect="1"/>
          </p:cNvGraphicFramePr>
          <p:nvPr/>
        </p:nvGraphicFramePr>
        <p:xfrm>
          <a:off x="5580063" y="2781300"/>
          <a:ext cx="2663825" cy="2663825"/>
        </p:xfrm>
        <a:graphic>
          <a:graphicData uri="http://schemas.openxmlformats.org/presentationml/2006/ole">
            <mc:AlternateContent xmlns:mc="http://schemas.openxmlformats.org/markup-compatibility/2006">
              <mc:Choice xmlns:v="urn:schemas-microsoft-com:vml" Requires="v">
                <p:oleObj spid="_x0000_s15460" r:id="rId5" imgW="3673080" imgH="3673080" progId="Visio.Drawing.11">
                  <p:embed/>
                </p:oleObj>
              </mc:Choice>
              <mc:Fallback>
                <p:oleObj r:id="rId5" imgW="3673080" imgH="3673080" progId="Visio.Drawing.11">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2781300"/>
                        <a:ext cx="26638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7" name="AutoShape 20"/>
          <p:cNvSpPr>
            <a:spLocks/>
          </p:cNvSpPr>
          <p:nvPr/>
        </p:nvSpPr>
        <p:spPr bwMode="auto">
          <a:xfrm>
            <a:off x="2124075" y="2060575"/>
            <a:ext cx="2160588" cy="431800"/>
          </a:xfrm>
          <a:prstGeom prst="callout1">
            <a:avLst>
              <a:gd name="adj1" fmla="val 26472"/>
              <a:gd name="adj2" fmla="val 103528"/>
              <a:gd name="adj3" fmla="val 388602"/>
              <a:gd name="adj4" fmla="val 109773"/>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latin typeface="Times New Roman" panose="02020603050405020304" pitchFamily="18" charset="0"/>
                <a:ea typeface="宋体" panose="02010600030101010101" pitchFamily="2" charset="-122"/>
              </a:rPr>
              <a:t>M(x</a:t>
            </a:r>
            <a:r>
              <a:rPr lang="en-US" altLang="zh-CN" sz="2400" baseline="-30000">
                <a:latin typeface="Times New Roman" panose="02020603050405020304" pitchFamily="18" charset="0"/>
                <a:ea typeface="宋体" panose="02010600030101010101" pitchFamily="2" charset="-122"/>
              </a:rPr>
              <a:t> i</a:t>
            </a:r>
            <a:r>
              <a:rPr lang="en-US" altLang="zh-CN" sz="2400">
                <a:latin typeface="Times New Roman" panose="02020603050405020304" pitchFamily="18" charset="0"/>
                <a:ea typeface="宋体" panose="02010600030101010101" pitchFamily="2" charset="-122"/>
              </a:rPr>
              <a:t>+2</a:t>
            </a:r>
            <a:r>
              <a:rPr lang="pt-BR" altLang="en-US" sz="2400">
                <a:latin typeface="Times New Roman" panose="02020603050405020304" pitchFamily="18" charset="0"/>
                <a:ea typeface="宋体" panose="02010600030101010101" pitchFamily="2" charset="-122"/>
              </a:rPr>
              <a:t>,y</a:t>
            </a:r>
            <a:r>
              <a:rPr lang="en-US" altLang="zh-CN" sz="2400" baseline="-30000">
                <a:latin typeface="Times New Roman" panose="02020603050405020304" pitchFamily="18" charset="0"/>
                <a:ea typeface="宋体" panose="02010600030101010101" pitchFamily="2" charset="-122"/>
              </a:rPr>
              <a:t> i</a:t>
            </a:r>
            <a:r>
              <a:rPr lang="en-US" altLang="zh-CN" sz="2400">
                <a:latin typeface="Times New Roman" panose="02020603050405020304" pitchFamily="18" charset="0"/>
                <a:ea typeface="宋体" panose="02010600030101010101" pitchFamily="2" charset="-122"/>
              </a:rPr>
              <a:t>+1.5</a:t>
            </a:r>
            <a:r>
              <a:rPr lang="zh-CN" altLang="en-US" sz="2400">
                <a:latin typeface="Times New Roman" panose="02020603050405020304" pitchFamily="18" charset="0"/>
                <a:ea typeface="宋体" panose="02010600030101010101" pitchFamily="2" charset="-122"/>
              </a:rPr>
              <a:t>）</a:t>
            </a:r>
            <a:endParaRPr lang="zh-CN" altLang="en-US" sz="2400">
              <a:latin typeface="Arial" panose="020B0604020202020204" pitchFamily="34" charset="0"/>
              <a:ea typeface="宋体" panose="02010600030101010101" pitchFamily="2" charset="-122"/>
            </a:endParaRPr>
          </a:p>
        </p:txBody>
      </p:sp>
      <p:sp>
        <p:nvSpPr>
          <p:cNvPr id="15368" name="AutoShape 15"/>
          <p:cNvSpPr>
            <a:spLocks/>
          </p:cNvSpPr>
          <p:nvPr/>
        </p:nvSpPr>
        <p:spPr bwMode="auto">
          <a:xfrm>
            <a:off x="4932363" y="1916113"/>
            <a:ext cx="2366962" cy="433387"/>
          </a:xfrm>
          <a:prstGeom prst="callout1">
            <a:avLst>
              <a:gd name="adj1" fmla="val 26375"/>
              <a:gd name="adj2" fmla="val 103218"/>
              <a:gd name="adj3" fmla="val 575824"/>
              <a:gd name="adj4" fmla="val 110259"/>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latin typeface="Times New Roman" panose="02020603050405020304" pitchFamily="18" charset="0"/>
                <a:ea typeface="宋体" panose="02010600030101010101" pitchFamily="2" charset="-122"/>
              </a:rPr>
              <a:t>M(x</a:t>
            </a:r>
            <a:r>
              <a:rPr lang="en-US" altLang="zh-CN" sz="2400" baseline="-30000">
                <a:latin typeface="Times New Roman" panose="02020603050405020304" pitchFamily="18" charset="0"/>
                <a:ea typeface="宋体" panose="02010600030101010101" pitchFamily="2" charset="-122"/>
              </a:rPr>
              <a:t> i</a:t>
            </a:r>
            <a:r>
              <a:rPr lang="en-US" altLang="zh-CN" sz="2400">
                <a:latin typeface="Times New Roman" panose="02020603050405020304" pitchFamily="18" charset="0"/>
                <a:ea typeface="宋体" panose="02010600030101010101" pitchFamily="2" charset="-122"/>
              </a:rPr>
              <a:t>+2</a:t>
            </a:r>
            <a:r>
              <a:rPr lang="pt-BR" altLang="en-US" sz="2400">
                <a:latin typeface="Times New Roman" panose="02020603050405020304" pitchFamily="18" charset="0"/>
                <a:ea typeface="宋体" panose="02010600030101010101" pitchFamily="2" charset="-122"/>
              </a:rPr>
              <a:t>,y</a:t>
            </a:r>
            <a:r>
              <a:rPr lang="en-US" altLang="zh-CN" sz="2400" baseline="-30000">
                <a:latin typeface="Times New Roman" panose="02020603050405020304" pitchFamily="18" charset="0"/>
                <a:ea typeface="宋体" panose="02010600030101010101" pitchFamily="2" charset="-122"/>
              </a:rPr>
              <a:t> i</a:t>
            </a:r>
            <a:r>
              <a:rPr lang="en-US" altLang="zh-CN" sz="2400">
                <a:latin typeface="Times New Roman" panose="02020603050405020304" pitchFamily="18" charset="0"/>
                <a:ea typeface="宋体" panose="02010600030101010101" pitchFamily="2" charset="-122"/>
              </a:rPr>
              <a:t>+0.5</a:t>
            </a:r>
            <a:r>
              <a:rPr lang="pt-BR" altLang="en-US" sz="2400">
                <a:latin typeface="Times New Roman" panose="02020603050405020304" pitchFamily="18"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p:txBody>
      </p:sp>
      <p:sp>
        <p:nvSpPr>
          <p:cNvPr id="15369" name="AutoShape 16"/>
          <p:cNvSpPr>
            <a:spLocks/>
          </p:cNvSpPr>
          <p:nvPr/>
        </p:nvSpPr>
        <p:spPr bwMode="auto">
          <a:xfrm>
            <a:off x="1187450" y="4941888"/>
            <a:ext cx="1209675" cy="369887"/>
          </a:xfrm>
          <a:prstGeom prst="callout1">
            <a:avLst>
              <a:gd name="adj1" fmla="val 30903"/>
              <a:gd name="adj2" fmla="val 106301"/>
              <a:gd name="adj3" fmla="val -47208"/>
              <a:gd name="adj4" fmla="val 161681"/>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latin typeface="Times New Roman" panose="02020603050405020304" pitchFamily="18" charset="0"/>
                <a:ea typeface="宋体" panose="02010600030101010101" pitchFamily="2" charset="-122"/>
              </a:rPr>
              <a:t>P</a:t>
            </a:r>
            <a:r>
              <a:rPr lang="en-US" altLang="zh-CN" sz="2400" baseline="-30000">
                <a:latin typeface="Times New Roman" panose="02020603050405020304" pitchFamily="18" charset="0"/>
                <a:ea typeface="宋体" panose="02010600030101010101" pitchFamily="2" charset="-122"/>
              </a:rPr>
              <a:t>i</a:t>
            </a:r>
            <a:r>
              <a:rPr lang="pt-BR" altLang="en-US" sz="2400">
                <a:latin typeface="Times New Roman" panose="02020603050405020304" pitchFamily="18" charset="0"/>
                <a:ea typeface="宋体" panose="02010600030101010101" pitchFamily="2" charset="-122"/>
              </a:rPr>
              <a:t>(x</a:t>
            </a:r>
            <a:r>
              <a:rPr lang="en-US" altLang="zh-CN" sz="2400" baseline="-30000">
                <a:latin typeface="Times New Roman" panose="02020603050405020304" pitchFamily="18" charset="0"/>
                <a:ea typeface="宋体" panose="02010600030101010101" pitchFamily="2" charset="-122"/>
              </a:rPr>
              <a:t>i</a:t>
            </a:r>
            <a:r>
              <a:rPr lang="pt-BR" altLang="en-US" sz="2400">
                <a:latin typeface="Times New Roman" panose="02020603050405020304" pitchFamily="18" charset="0"/>
                <a:ea typeface="宋体" panose="02010600030101010101" pitchFamily="2" charset="-122"/>
              </a:rPr>
              <a:t>,y</a:t>
            </a:r>
            <a:r>
              <a:rPr lang="en-US" altLang="zh-CN" sz="2400" baseline="-300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a:t>
            </a:r>
            <a:endParaRPr lang="zh-CN" altLang="en-US" sz="2400">
              <a:latin typeface="Arial" panose="020B0604020202020204" pitchFamily="34" charset="0"/>
              <a:ea typeface="宋体" panose="02010600030101010101" pitchFamily="2" charset="-122"/>
            </a:endParaRPr>
          </a:p>
        </p:txBody>
      </p:sp>
      <p:sp>
        <p:nvSpPr>
          <p:cNvPr id="15370" name="Rectangle 21"/>
          <p:cNvSpPr>
            <a:spLocks noChangeArrowheads="1"/>
          </p:cNvSpPr>
          <p:nvPr/>
        </p:nvSpPr>
        <p:spPr bwMode="auto">
          <a:xfrm>
            <a:off x="134938" y="1227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5113">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Arial" panose="020B0604020202020204" pitchFamily="34" charset="0"/>
              <a:ea typeface="宋体" panose="02010600030101010101" pitchFamily="2" charset="-122"/>
            </a:endParaRPr>
          </a:p>
        </p:txBody>
      </p:sp>
      <p:sp>
        <p:nvSpPr>
          <p:cNvPr id="15371" name="Rectangle 28"/>
          <p:cNvSpPr>
            <a:spLocks noChangeArrowheads="1"/>
          </p:cNvSpPr>
          <p:nvPr/>
        </p:nvSpPr>
        <p:spPr bwMode="auto">
          <a:xfrm>
            <a:off x="134938" y="1227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15372" name="Rectangle 29"/>
          <p:cNvSpPr>
            <a:spLocks noChangeArrowheads="1"/>
          </p:cNvSpPr>
          <p:nvPr/>
        </p:nvSpPr>
        <p:spPr bwMode="auto">
          <a:xfrm>
            <a:off x="134938" y="3151188"/>
            <a:ext cx="469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sz="2400">
              <a:latin typeface="Arial" panose="020B0604020202020204" pitchFamily="34" charset="0"/>
              <a:ea typeface="宋体" panose="02010600030101010101" pitchFamily="2" charset="-122"/>
            </a:endParaRPr>
          </a:p>
        </p:txBody>
      </p:sp>
      <p:sp>
        <p:nvSpPr>
          <p:cNvPr id="15373" name="Rectangle 30"/>
          <p:cNvSpPr>
            <a:spLocks noChangeArrowheads="1"/>
          </p:cNvSpPr>
          <p:nvPr/>
        </p:nvSpPr>
        <p:spPr bwMode="auto">
          <a:xfrm>
            <a:off x="2266950" y="5734050"/>
            <a:ext cx="53736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楷体_GB2312" pitchFamily="49" charset="-122"/>
              </a:rPr>
              <a:t>（</a:t>
            </a:r>
            <a:r>
              <a:rPr lang="pt-BR" altLang="en-US" sz="2400">
                <a:latin typeface="楷体_GB2312" pitchFamily="49" charset="-122"/>
              </a:rPr>
              <a:t>a</a:t>
            </a:r>
            <a:r>
              <a:rPr lang="zh-CN" altLang="en-US" sz="2400">
                <a:latin typeface="楷体_GB2312" pitchFamily="49" charset="-122"/>
              </a:rPr>
              <a:t>）</a:t>
            </a:r>
            <a:r>
              <a:rPr lang="pt-BR" altLang="en-US" sz="2400">
                <a:latin typeface="楷体_GB2312" pitchFamily="49" charset="-122"/>
              </a:rPr>
              <a:t>d</a:t>
            </a:r>
            <a:r>
              <a:rPr lang="pt-BR" altLang="en-US" sz="2400" baseline="-30000">
                <a:latin typeface="楷体_GB2312" pitchFamily="49" charset="-122"/>
              </a:rPr>
              <a:t>i</a:t>
            </a:r>
            <a:r>
              <a:rPr lang="pt-BR" altLang="en-US" sz="2400">
                <a:latin typeface="楷体_GB2312" pitchFamily="49" charset="-122"/>
              </a:rPr>
              <a:t>&lt;0              </a:t>
            </a:r>
            <a:r>
              <a:rPr lang="zh-CN" altLang="en-US" sz="2400">
                <a:latin typeface="楷体_GB2312" pitchFamily="49" charset="-122"/>
              </a:rPr>
              <a:t>（</a:t>
            </a:r>
            <a:r>
              <a:rPr lang="pt-BR" altLang="en-US" sz="2400">
                <a:latin typeface="楷体_GB2312" pitchFamily="49" charset="-122"/>
              </a:rPr>
              <a:t>b</a:t>
            </a:r>
            <a:r>
              <a:rPr lang="zh-CN" altLang="en-US" sz="2400">
                <a:latin typeface="楷体_GB2312" pitchFamily="49" charset="-122"/>
              </a:rPr>
              <a:t>）</a:t>
            </a:r>
            <a:r>
              <a:rPr lang="pt-BR" altLang="en-US" sz="2400">
                <a:latin typeface="楷体_GB2312" pitchFamily="49" charset="-122"/>
              </a:rPr>
              <a:t>d</a:t>
            </a:r>
            <a:r>
              <a:rPr lang="pt-BR" altLang="en-US" sz="2400" baseline="-30000">
                <a:latin typeface="楷体_GB2312" pitchFamily="49" charset="-122"/>
              </a:rPr>
              <a:t>i</a:t>
            </a:r>
            <a:r>
              <a:rPr lang="pt-BR" altLang="en-US" sz="2400">
                <a:latin typeface="楷体_GB2312" pitchFamily="49" charset="-122"/>
              </a:rPr>
              <a:t>≥0</a:t>
            </a:r>
            <a:endParaRPr lang="en-US" altLang="zh-CN" sz="2400">
              <a:latin typeface="楷体_GB2312" pitchFamily="49" charset="-122"/>
            </a:endParaRPr>
          </a:p>
          <a:p>
            <a:pPr algn="ctr">
              <a:lnSpc>
                <a:spcPct val="100000"/>
              </a:lnSpc>
              <a:spcBef>
                <a:spcPct val="0"/>
              </a:spcBef>
              <a:buFont typeface="Arial" panose="020B0604020202020204" pitchFamily="34" charset="0"/>
              <a:buNone/>
            </a:pPr>
            <a:r>
              <a:rPr lang="en-US" altLang="zh-CN" sz="2400">
                <a:latin typeface="楷体_GB2312" pitchFamily="49" charset="-122"/>
              </a:rPr>
              <a:t> </a:t>
            </a:r>
            <a:r>
              <a:rPr lang="zh-CN" altLang="en-US" sz="2400">
                <a:latin typeface="楷体_GB2312" pitchFamily="49" charset="-122"/>
              </a:rPr>
              <a:t>中点的递推</a:t>
            </a:r>
            <a:endParaRPr lang="zh-CN" altLang="en-US" sz="2400">
              <a:latin typeface="楷体_GB2312" pitchFamily="49" charset="-122"/>
              <a:cs typeface="Times New Roman" panose="02020603050405020304" pitchFamily="18" charset="0"/>
            </a:endParaRPr>
          </a:p>
        </p:txBody>
      </p:sp>
      <p:sp>
        <p:nvSpPr>
          <p:cNvPr id="15374" name="AutoShape 31"/>
          <p:cNvSpPr>
            <a:spLocks/>
          </p:cNvSpPr>
          <p:nvPr/>
        </p:nvSpPr>
        <p:spPr bwMode="auto">
          <a:xfrm>
            <a:off x="4787900" y="5516563"/>
            <a:ext cx="1209675" cy="369887"/>
          </a:xfrm>
          <a:prstGeom prst="callout1">
            <a:avLst>
              <a:gd name="adj1" fmla="val 30903"/>
              <a:gd name="adj2" fmla="val 106301"/>
              <a:gd name="adj3" fmla="val -222319"/>
              <a:gd name="adj4" fmla="val 120079"/>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latin typeface="Times New Roman" panose="02020603050405020304" pitchFamily="18" charset="0"/>
                <a:ea typeface="宋体" panose="02010600030101010101" pitchFamily="2" charset="-122"/>
              </a:rPr>
              <a:t>P</a:t>
            </a:r>
            <a:r>
              <a:rPr lang="en-US" altLang="zh-CN" sz="2400" baseline="-30000">
                <a:latin typeface="Times New Roman" panose="02020603050405020304" pitchFamily="18" charset="0"/>
                <a:ea typeface="宋体" panose="02010600030101010101" pitchFamily="2" charset="-122"/>
              </a:rPr>
              <a:t>i</a:t>
            </a:r>
            <a:r>
              <a:rPr lang="pt-BR" altLang="en-US" sz="2400">
                <a:latin typeface="Times New Roman" panose="02020603050405020304" pitchFamily="18" charset="0"/>
                <a:ea typeface="宋体" panose="02010600030101010101" pitchFamily="2" charset="-122"/>
              </a:rPr>
              <a:t>(x</a:t>
            </a:r>
            <a:r>
              <a:rPr lang="en-US" altLang="zh-CN" sz="2400" baseline="-30000">
                <a:latin typeface="Times New Roman" panose="02020603050405020304" pitchFamily="18" charset="0"/>
                <a:ea typeface="宋体" panose="02010600030101010101" pitchFamily="2" charset="-122"/>
              </a:rPr>
              <a:t>i</a:t>
            </a:r>
            <a:r>
              <a:rPr lang="pt-BR" altLang="en-US" sz="2400">
                <a:latin typeface="Times New Roman" panose="02020603050405020304" pitchFamily="18" charset="0"/>
                <a:ea typeface="宋体" panose="02010600030101010101" pitchFamily="2" charset="-122"/>
              </a:rPr>
              <a:t>,y</a:t>
            </a:r>
            <a:r>
              <a:rPr lang="en-US" altLang="zh-CN" sz="2400" baseline="-30000">
                <a:latin typeface="Times New Roman" panose="02020603050405020304" pitchFamily="18" charset="0"/>
                <a:ea typeface="宋体" panose="02010600030101010101" pitchFamily="2" charset="-122"/>
              </a:rPr>
              <a:t>i</a:t>
            </a:r>
            <a:r>
              <a:rPr lang="zh-CN" altLang="en-US" sz="2400">
                <a:latin typeface="Times New Roman" panose="02020603050405020304" pitchFamily="18" charset="0"/>
                <a:ea typeface="宋体" panose="02010600030101010101" pitchFamily="2" charset="-122"/>
              </a:rPr>
              <a:t>）</a:t>
            </a:r>
            <a:endParaRPr lang="zh-CN" altLang="en-US" sz="2400">
              <a:latin typeface="Arial" panose="020B0604020202020204" pitchFamily="34" charset="0"/>
              <a:ea typeface="宋体" panose="02010600030101010101" pitchFamily="2" charset="-122"/>
            </a:endParaRPr>
          </a:p>
        </p:txBody>
      </p:sp>
      <p:sp>
        <p:nvSpPr>
          <p:cNvPr id="15375" name="Text Box 32"/>
          <p:cNvSpPr txBox="1">
            <a:spLocks noChangeArrowheads="1"/>
          </p:cNvSpPr>
          <p:nvPr/>
        </p:nvSpPr>
        <p:spPr bwMode="auto">
          <a:xfrm>
            <a:off x="3851275" y="3644900"/>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en-US" altLang="zh-CN" sz="2400">
                <a:latin typeface="Tahoma" panose="020B0604030504040204" pitchFamily="34" charset="0"/>
              </a:rPr>
              <a:t>P</a:t>
            </a:r>
            <a:r>
              <a:rPr lang="en-US" altLang="zh-CN" sz="2400" baseline="-25000">
                <a:latin typeface="Tahoma" panose="020B0604030504040204" pitchFamily="34" charset="0"/>
              </a:rPr>
              <a:t>u</a:t>
            </a:r>
          </a:p>
        </p:txBody>
      </p:sp>
      <p:sp>
        <p:nvSpPr>
          <p:cNvPr id="15376" name="Text Box 33"/>
          <p:cNvSpPr txBox="1">
            <a:spLocks noChangeArrowheads="1"/>
          </p:cNvSpPr>
          <p:nvPr/>
        </p:nvSpPr>
        <p:spPr bwMode="auto">
          <a:xfrm>
            <a:off x="6877050" y="494188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en-US" altLang="zh-CN" sz="2400">
                <a:latin typeface="Tahoma" panose="020B0604030504040204" pitchFamily="34" charset="0"/>
              </a:rPr>
              <a:t>P</a:t>
            </a:r>
            <a:r>
              <a:rPr lang="en-US" altLang="zh-CN" sz="2400" baseline="-25000">
                <a:latin typeface="Tahoma" panose="020B0604030504040204" pitchFamily="34" charset="0"/>
              </a:rPr>
              <a:t>d</a:t>
            </a:r>
          </a:p>
        </p:txBody>
      </p:sp>
      <p:sp>
        <p:nvSpPr>
          <p:cNvPr id="15377" name="Text Box 34"/>
          <p:cNvSpPr txBox="1">
            <a:spLocks noChangeArrowheads="1"/>
          </p:cNvSpPr>
          <p:nvPr/>
        </p:nvSpPr>
        <p:spPr bwMode="auto">
          <a:xfrm>
            <a:off x="3851275" y="494188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en-US" altLang="zh-CN" sz="2400">
                <a:latin typeface="Tahoma" panose="020B0604030504040204" pitchFamily="34" charset="0"/>
              </a:rPr>
              <a:t>P</a:t>
            </a:r>
            <a:r>
              <a:rPr lang="en-US" altLang="zh-CN" sz="2400" baseline="-25000">
                <a:latin typeface="Tahoma" panose="020B0604030504040204" pitchFamily="34" charset="0"/>
              </a:rPr>
              <a:t>d</a:t>
            </a:r>
          </a:p>
        </p:txBody>
      </p:sp>
      <p:sp>
        <p:nvSpPr>
          <p:cNvPr id="15378" name="Text Box 35"/>
          <p:cNvSpPr txBox="1">
            <a:spLocks noChangeArrowheads="1"/>
          </p:cNvSpPr>
          <p:nvPr/>
        </p:nvSpPr>
        <p:spPr bwMode="auto">
          <a:xfrm>
            <a:off x="6877050" y="3644900"/>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50000"/>
              </a:spcBef>
              <a:buFont typeface="Arial" panose="020B0604020202020204" pitchFamily="34" charset="0"/>
              <a:buNone/>
            </a:pPr>
            <a:r>
              <a:rPr lang="en-US" altLang="zh-CN" sz="2400">
                <a:latin typeface="Tahoma" panose="020B0604030504040204" pitchFamily="34" charset="0"/>
              </a:rPr>
              <a:t>P</a:t>
            </a:r>
            <a:r>
              <a:rPr lang="en-US" altLang="zh-CN" sz="2400" baseline="-25000">
                <a:latin typeface="Tahoma" panose="020B0604030504040204" pitchFamily="34" charset="0"/>
              </a:rPr>
              <a:t>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0-#ppt_w/2"/>
                                          </p:val>
                                        </p:tav>
                                        <p:tav tm="100000">
                                          <p:val>
                                            <p:strVal val="#ppt_x"/>
                                          </p:val>
                                        </p:tav>
                                      </p:tavLst>
                                    </p:anim>
                                    <p:anim calcmode="lin" valueType="num">
                                      <p:cBhvr additive="base">
                                        <p:cTn id="8" dur="500" fill="hold"/>
                                        <p:tgtEl>
                                          <p:spTgt spid="184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539750" y="227013"/>
            <a:ext cx="83534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(1)</a:t>
            </a:r>
            <a:r>
              <a:rPr lang="zh-CN" altLang="en-US" sz="2400">
                <a:latin typeface="楷体_GB2312" pitchFamily="49" charset="-122"/>
              </a:rPr>
              <a:t>当</a:t>
            </a:r>
            <a:r>
              <a:rPr lang="en-US" altLang="zh-CN" sz="2400">
                <a:latin typeface="楷体_GB2312" pitchFamily="49" charset="-122"/>
              </a:rPr>
              <a:t>d</a:t>
            </a:r>
            <a:r>
              <a:rPr lang="en-US" altLang="zh-CN" sz="2400" baseline="-25000">
                <a:latin typeface="楷体_GB2312" pitchFamily="49" charset="-122"/>
              </a:rPr>
              <a:t>i</a:t>
            </a:r>
            <a:r>
              <a:rPr lang="en-US" altLang="zh-CN" sz="2400">
                <a:latin typeface="楷体_GB2312" pitchFamily="49" charset="-122"/>
              </a:rPr>
              <a:t>&lt;0</a:t>
            </a:r>
            <a:r>
              <a:rPr lang="zh-CN" altLang="en-US" sz="2400">
                <a:latin typeface="楷体_GB2312" pitchFamily="49" charset="-122"/>
              </a:rPr>
              <a:t>时，下一步的中点坐标为 </a:t>
            </a:r>
            <a:r>
              <a:rPr lang="en-US" altLang="zh-CN" sz="2400">
                <a:latin typeface="楷体_GB2312" pitchFamily="49" charset="-122"/>
              </a:rPr>
              <a:t>M</a:t>
            </a:r>
            <a:r>
              <a:rPr lang="zh-CN" altLang="en-US" sz="2400">
                <a:latin typeface="楷体_GB2312" pitchFamily="49" charset="-122"/>
              </a:rPr>
              <a:t>（</a:t>
            </a:r>
            <a:r>
              <a:rPr lang="en-US" altLang="zh-CN" sz="2400">
                <a:latin typeface="楷体_GB2312" pitchFamily="49" charset="-122"/>
              </a:rPr>
              <a:t>x</a:t>
            </a:r>
            <a:r>
              <a:rPr lang="en-US" altLang="zh-CN" sz="2400" baseline="-25000">
                <a:latin typeface="楷体_GB2312" pitchFamily="49" charset="-122"/>
              </a:rPr>
              <a:t>i</a:t>
            </a:r>
            <a:r>
              <a:rPr lang="en-US" altLang="zh-CN" sz="2400">
                <a:latin typeface="楷体_GB2312" pitchFamily="49" charset="-122"/>
              </a:rPr>
              <a:t>+2</a:t>
            </a:r>
            <a:r>
              <a:rPr lang="zh-CN" altLang="en-US" sz="2400">
                <a:latin typeface="楷体_GB2312" pitchFamily="49" charset="-122"/>
              </a:rPr>
              <a:t>，</a:t>
            </a:r>
            <a:r>
              <a:rPr lang="en-US" altLang="zh-CN" sz="2400">
                <a:latin typeface="楷体_GB2312" pitchFamily="49" charset="-122"/>
              </a:rPr>
              <a:t>y</a:t>
            </a:r>
            <a:r>
              <a:rPr lang="en-US" altLang="zh-CN" sz="2400" baseline="-25000">
                <a:latin typeface="楷体_GB2312" pitchFamily="49" charset="-122"/>
              </a:rPr>
              <a:t>i</a:t>
            </a:r>
            <a:r>
              <a:rPr lang="en-US" altLang="zh-CN" sz="2400">
                <a:latin typeface="楷体_GB2312" pitchFamily="49" charset="-122"/>
              </a:rPr>
              <a:t>+1.5</a:t>
            </a:r>
            <a:r>
              <a:rPr lang="zh-CN" altLang="en-US" sz="2400">
                <a:latin typeface="楷体_GB2312" pitchFamily="49" charset="-122"/>
              </a:rPr>
              <a:t>），下一步中点误差项为 </a:t>
            </a:r>
          </a:p>
        </p:txBody>
      </p:sp>
      <p:graphicFrame>
        <p:nvGraphicFramePr>
          <p:cNvPr id="16387" name="Object 3"/>
          <p:cNvGraphicFramePr>
            <a:graphicFrameLocks noChangeAspect="1"/>
          </p:cNvGraphicFramePr>
          <p:nvPr/>
        </p:nvGraphicFramePr>
        <p:xfrm>
          <a:off x="1868488" y="1228725"/>
          <a:ext cx="3582987" cy="512763"/>
        </p:xfrm>
        <a:graphic>
          <a:graphicData uri="http://schemas.openxmlformats.org/presentationml/2006/ole">
            <mc:AlternateContent xmlns:mc="http://schemas.openxmlformats.org/markup-compatibility/2006">
              <mc:Choice xmlns:v="urn:schemas-microsoft-com:vml" Requires="v">
                <p:oleObj spid="_x0000_s16718" name="公式" r:id="rId3" imgW="1771554" imgH="209578" progId="Equation.3">
                  <p:embed/>
                </p:oleObj>
              </mc:Choice>
              <mc:Fallback>
                <p:oleObj name="公式" r:id="rId3" imgW="1771554" imgH="20957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8488" y="1228725"/>
                        <a:ext cx="3582987"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88" name="Object 4"/>
          <p:cNvGraphicFramePr>
            <a:graphicFrameLocks noChangeAspect="1"/>
          </p:cNvGraphicFramePr>
          <p:nvPr/>
        </p:nvGraphicFramePr>
        <p:xfrm>
          <a:off x="2411413" y="1844675"/>
          <a:ext cx="3684587" cy="568325"/>
        </p:xfrm>
        <a:graphic>
          <a:graphicData uri="http://schemas.openxmlformats.org/presentationml/2006/ole">
            <mc:AlternateContent xmlns:mc="http://schemas.openxmlformats.org/markup-compatibility/2006">
              <mc:Choice xmlns:v="urn:schemas-microsoft-com:vml" Requires="v">
                <p:oleObj spid="_x0000_s16719" r:id="rId5" imgW="2381282" imgH="228771" progId="Equation.3">
                  <p:embed/>
                </p:oleObj>
              </mc:Choice>
              <mc:Fallback>
                <p:oleObj r:id="rId5" imgW="2381282" imgH="22877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1844675"/>
                        <a:ext cx="368458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389" name="Rectangle 6"/>
          <p:cNvSpPr>
            <a:spLocks noChangeArrowheads="1"/>
          </p:cNvSpPr>
          <p:nvPr/>
        </p:nvSpPr>
        <p:spPr bwMode="auto">
          <a:xfrm>
            <a:off x="539750" y="3246438"/>
            <a:ext cx="8353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800">
                <a:latin typeface="楷体_GB2312" pitchFamily="49" charset="-122"/>
              </a:rPr>
              <a:t>⑵当</a:t>
            </a:r>
            <a:r>
              <a:rPr lang="en-US" altLang="zh-CN" sz="2800">
                <a:latin typeface="楷体_GB2312" pitchFamily="49" charset="-122"/>
              </a:rPr>
              <a:t>d</a:t>
            </a:r>
            <a:r>
              <a:rPr lang="en-US" altLang="zh-CN" sz="2800" baseline="-25000">
                <a:latin typeface="楷体_GB2312" pitchFamily="49" charset="-122"/>
              </a:rPr>
              <a:t>i</a:t>
            </a:r>
            <a:r>
              <a:rPr lang="en-US" altLang="zh-CN" sz="2800">
                <a:latin typeface="楷体_GB2312" pitchFamily="49" charset="-122"/>
              </a:rPr>
              <a:t>≥0</a:t>
            </a:r>
            <a:r>
              <a:rPr lang="zh-CN" altLang="en-US" sz="2800">
                <a:latin typeface="楷体_GB2312" pitchFamily="49" charset="-122"/>
              </a:rPr>
              <a:t>，时下一步的中点坐标为</a:t>
            </a:r>
            <a:r>
              <a:rPr lang="en-US" altLang="zh-CN" sz="2800">
                <a:latin typeface="楷体_GB2312" pitchFamily="49" charset="-122"/>
              </a:rPr>
              <a:t>M</a:t>
            </a:r>
            <a:r>
              <a:rPr lang="zh-CN" altLang="en-US" sz="2800">
                <a:latin typeface="楷体_GB2312" pitchFamily="49" charset="-122"/>
              </a:rPr>
              <a:t>（</a:t>
            </a:r>
            <a:r>
              <a:rPr lang="en-US" altLang="zh-CN" sz="2800">
                <a:latin typeface="楷体_GB2312" pitchFamily="49" charset="-122"/>
              </a:rPr>
              <a:t>x</a:t>
            </a:r>
            <a:r>
              <a:rPr lang="en-US" altLang="zh-CN" sz="2800" baseline="-25000">
                <a:latin typeface="楷体_GB2312" pitchFamily="49" charset="-122"/>
              </a:rPr>
              <a:t>i</a:t>
            </a:r>
            <a:r>
              <a:rPr lang="en-US" altLang="zh-CN" sz="2800">
                <a:latin typeface="楷体_GB2312" pitchFamily="49" charset="-122"/>
              </a:rPr>
              <a:t>+2</a:t>
            </a:r>
            <a:r>
              <a:rPr lang="zh-CN" altLang="en-US" sz="2800">
                <a:latin typeface="楷体_GB2312" pitchFamily="49" charset="-122"/>
              </a:rPr>
              <a:t>，</a:t>
            </a:r>
            <a:r>
              <a:rPr lang="en-US" altLang="zh-CN" sz="2800">
                <a:latin typeface="楷体_GB2312" pitchFamily="49" charset="-122"/>
              </a:rPr>
              <a:t>y</a:t>
            </a:r>
            <a:r>
              <a:rPr lang="en-US" altLang="zh-CN" sz="2800" baseline="-25000">
                <a:latin typeface="楷体_GB2312" pitchFamily="49" charset="-122"/>
              </a:rPr>
              <a:t>i</a:t>
            </a:r>
            <a:r>
              <a:rPr lang="en-US" altLang="zh-CN" sz="2800">
                <a:latin typeface="楷体_GB2312" pitchFamily="49" charset="-122"/>
              </a:rPr>
              <a:t>+0.5</a:t>
            </a:r>
            <a:r>
              <a:rPr lang="zh-CN" altLang="en-US" sz="2800">
                <a:latin typeface="楷体_GB2312" pitchFamily="49" charset="-122"/>
              </a:rPr>
              <a:t>），下一步中点误差项为 </a:t>
            </a:r>
          </a:p>
        </p:txBody>
      </p:sp>
      <p:graphicFrame>
        <p:nvGraphicFramePr>
          <p:cNvPr id="16390" name="Object 6"/>
          <p:cNvGraphicFramePr>
            <a:graphicFrameLocks noChangeAspect="1"/>
          </p:cNvGraphicFramePr>
          <p:nvPr/>
        </p:nvGraphicFramePr>
        <p:xfrm>
          <a:off x="1619250" y="4437063"/>
          <a:ext cx="3654425" cy="576262"/>
        </p:xfrm>
        <a:graphic>
          <a:graphicData uri="http://schemas.openxmlformats.org/presentationml/2006/ole">
            <mc:AlternateContent xmlns:mc="http://schemas.openxmlformats.org/markup-compatibility/2006">
              <mc:Choice xmlns:v="urn:schemas-microsoft-com:vml" Requires="v">
                <p:oleObj spid="_x0000_s16720" r:id="rId7" imgW="1895651" imgH="228771" progId="Equation.3">
                  <p:embed/>
                </p:oleObj>
              </mc:Choice>
              <mc:Fallback>
                <p:oleObj r:id="rId7" imgW="1895651" imgH="228771"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4437063"/>
                        <a:ext cx="3654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91" name="Object 7"/>
          <p:cNvGraphicFramePr>
            <a:graphicFrameLocks noChangeAspect="1"/>
          </p:cNvGraphicFramePr>
          <p:nvPr/>
        </p:nvGraphicFramePr>
        <p:xfrm>
          <a:off x="2195513" y="5229225"/>
          <a:ext cx="4262437" cy="576263"/>
        </p:xfrm>
        <a:graphic>
          <a:graphicData uri="http://schemas.openxmlformats.org/presentationml/2006/ole">
            <mc:AlternateContent xmlns:mc="http://schemas.openxmlformats.org/markup-compatibility/2006">
              <mc:Choice xmlns:v="urn:schemas-microsoft-com:vml" Requires="v">
                <p:oleObj spid="_x0000_s16721" r:id="rId9" imgW="2152682" imgH="228771" progId="Equation.3">
                  <p:embed/>
                </p:oleObj>
              </mc:Choice>
              <mc:Fallback>
                <p:oleObj r:id="rId9" imgW="2152682" imgH="228771"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5229225"/>
                        <a:ext cx="42624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4" name="Rectangle 10"/>
          <p:cNvSpPr>
            <a:spLocks noChangeArrowheads="1"/>
          </p:cNvSpPr>
          <p:nvPr/>
        </p:nvSpPr>
        <p:spPr bwMode="auto">
          <a:xfrm>
            <a:off x="7885113" y="5805488"/>
            <a:ext cx="1258887" cy="519112"/>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b="1">
                <a:latin typeface="楷体_GB2312" pitchFamily="49" charset="-122"/>
              </a:rPr>
              <a:t>（</a:t>
            </a:r>
            <a:r>
              <a:rPr lang="en-US" b="1">
                <a:latin typeface="楷体_GB2312" pitchFamily="49" charset="-122"/>
              </a:rPr>
              <a:t>3-5</a:t>
            </a:r>
            <a:r>
              <a:rPr lang="zh-CN" altLang="en-US" b="1">
                <a:latin typeface="楷体_GB2312" pitchFamily="49" charset="-122"/>
              </a:rPr>
              <a:t>）</a:t>
            </a:r>
            <a:r>
              <a:rPr lang="zh-CN" altLang="en-US" sz="2800" b="1">
                <a:solidFill>
                  <a:schemeClr val="folHlink"/>
                </a:solidFill>
                <a:effectLst>
                  <a:outerShdw blurRad="38100" dist="38100" dir="2700000" algn="tl">
                    <a:srgbClr val="C0C0C0"/>
                  </a:outerShdw>
                </a:effectLst>
                <a:latin typeface="楷体_GB2312" pitchFamily="49" charset="-122"/>
              </a:rPr>
              <a:t> </a:t>
            </a:r>
          </a:p>
        </p:txBody>
      </p:sp>
      <p:sp>
        <p:nvSpPr>
          <p:cNvPr id="19465" name="Rectangle 11"/>
          <p:cNvSpPr>
            <a:spLocks noChangeArrowheads="1"/>
          </p:cNvSpPr>
          <p:nvPr/>
        </p:nvSpPr>
        <p:spPr bwMode="auto">
          <a:xfrm>
            <a:off x="7705725" y="2420938"/>
            <a:ext cx="1438275" cy="519112"/>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b="1">
                <a:latin typeface="楷体_GB2312" pitchFamily="49" charset="-122"/>
              </a:rPr>
              <a:t>（</a:t>
            </a:r>
            <a:r>
              <a:rPr lang="en-US" b="1">
                <a:latin typeface="楷体_GB2312" pitchFamily="49" charset="-122"/>
              </a:rPr>
              <a:t>3-4</a:t>
            </a:r>
            <a:r>
              <a:rPr lang="zh-CN" altLang="en-US" b="1">
                <a:latin typeface="楷体_GB2312" pitchFamily="49" charset="-122"/>
              </a:rPr>
              <a:t>）</a:t>
            </a:r>
            <a:r>
              <a:rPr lang="zh-CN" altLang="en-US" sz="2800" b="1">
                <a:solidFill>
                  <a:schemeClr val="folHlink"/>
                </a:solidFill>
                <a:effectLst>
                  <a:outerShdw blurRad="38100" dist="38100" dir="2700000" algn="tl">
                    <a:srgbClr val="C0C0C0"/>
                  </a:outerShdw>
                </a:effectLst>
                <a:latin typeface="楷体_GB2312" pitchFamily="49" charset="-122"/>
              </a:rPr>
              <a:t> </a:t>
            </a:r>
          </a:p>
        </p:txBody>
      </p:sp>
      <p:graphicFrame>
        <p:nvGraphicFramePr>
          <p:cNvPr id="16394" name="Object 10"/>
          <p:cNvGraphicFramePr>
            <a:graphicFrameLocks noGrp="1" noChangeAspect="1"/>
          </p:cNvGraphicFramePr>
          <p:nvPr>
            <p:ph idx="4294967295"/>
          </p:nvPr>
        </p:nvGraphicFramePr>
        <p:xfrm>
          <a:off x="5524500" y="1252538"/>
          <a:ext cx="3273425" cy="400050"/>
        </p:xfrm>
        <a:graphic>
          <a:graphicData uri="http://schemas.openxmlformats.org/presentationml/2006/ole">
            <mc:AlternateContent xmlns:mc="http://schemas.openxmlformats.org/markup-compatibility/2006">
              <mc:Choice xmlns:v="urn:schemas-microsoft-com:vml" Requires="v">
                <p:oleObj spid="_x0000_s16722" name="公式" r:id="rId11" imgW="1848010" imgH="209578" progId="Equation.3">
                  <p:embed/>
                </p:oleObj>
              </mc:Choice>
              <mc:Fallback>
                <p:oleObj name="公式" r:id="rId11" imgW="1848010" imgH="209578" progId="Equation.3">
                  <p:embed/>
                  <p:pic>
                    <p:nvPicPr>
                      <p:cNvPr id="0" name="Object 10"/>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24500" y="1252538"/>
                        <a:ext cx="3273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95" name="Object 11"/>
          <p:cNvGraphicFramePr>
            <a:graphicFrameLocks noChangeAspect="1"/>
          </p:cNvGraphicFramePr>
          <p:nvPr/>
        </p:nvGraphicFramePr>
        <p:xfrm>
          <a:off x="2411413" y="2420938"/>
          <a:ext cx="1439862" cy="595312"/>
        </p:xfrm>
        <a:graphic>
          <a:graphicData uri="http://schemas.openxmlformats.org/presentationml/2006/ole">
            <mc:AlternateContent xmlns:mc="http://schemas.openxmlformats.org/markup-compatibility/2006">
              <mc:Choice xmlns:v="urn:schemas-microsoft-com:vml" Requires="v">
                <p:oleObj spid="_x0000_s16723" r:id="rId13" imgW="838328" imgH="228771" progId="Equation.3">
                  <p:embed/>
                </p:oleObj>
              </mc:Choice>
              <mc:Fallback>
                <p:oleObj r:id="rId13" imgW="838328" imgH="228771"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11413" y="2420938"/>
                        <a:ext cx="1439862"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96" name="Object 12"/>
          <p:cNvGraphicFramePr>
            <a:graphicFrameLocks noChangeAspect="1"/>
          </p:cNvGraphicFramePr>
          <p:nvPr/>
        </p:nvGraphicFramePr>
        <p:xfrm>
          <a:off x="5292725" y="4437063"/>
          <a:ext cx="3654425" cy="576262"/>
        </p:xfrm>
        <a:graphic>
          <a:graphicData uri="http://schemas.openxmlformats.org/presentationml/2006/ole">
            <mc:AlternateContent xmlns:mc="http://schemas.openxmlformats.org/markup-compatibility/2006">
              <mc:Choice xmlns:v="urn:schemas-microsoft-com:vml" Requires="v">
                <p:oleObj spid="_x0000_s16724" r:id="rId15" imgW="1895651" imgH="228771" progId="Equation.3">
                  <p:embed/>
                </p:oleObj>
              </mc:Choice>
              <mc:Fallback>
                <p:oleObj r:id="rId15" imgW="1895651" imgH="228771"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92725" y="4437063"/>
                        <a:ext cx="3654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97" name="Object 13"/>
          <p:cNvGraphicFramePr>
            <a:graphicFrameLocks noChangeAspect="1"/>
          </p:cNvGraphicFramePr>
          <p:nvPr/>
        </p:nvGraphicFramePr>
        <p:xfrm>
          <a:off x="2124075" y="5805488"/>
          <a:ext cx="1301750" cy="576262"/>
        </p:xfrm>
        <a:graphic>
          <a:graphicData uri="http://schemas.openxmlformats.org/presentationml/2006/ole">
            <mc:AlternateContent xmlns:mc="http://schemas.openxmlformats.org/markup-compatibility/2006">
              <mc:Choice xmlns:v="urn:schemas-microsoft-com:vml" Requires="v">
                <p:oleObj spid="_x0000_s16725" r:id="rId17" imgW="600123" imgH="228771" progId="Equation.3">
                  <p:embed/>
                </p:oleObj>
              </mc:Choice>
              <mc:Fallback>
                <p:oleObj r:id="rId17" imgW="600123" imgH="228771"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24075" y="5805488"/>
                        <a:ext cx="13017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323850" y="1150938"/>
            <a:ext cx="8640763" cy="1052512"/>
          </a:xfrm>
          <a:prstGeom prst="rect">
            <a:avLst/>
          </a:prstGeom>
          <a:noFill/>
          <a:ln w="9525">
            <a:noFill/>
            <a:miter lim="800000"/>
          </a:ln>
        </p:spPr>
        <p:txBody>
          <a:bodyPr anchor="ctr">
            <a:spAutoFit/>
          </a:bodyPr>
          <a:lstStyle/>
          <a:p>
            <a:pPr eaLnBrk="1" hangingPunct="1">
              <a:lnSpc>
                <a:spcPct val="120000"/>
              </a:lnSpc>
              <a:buFont typeface="Arial" panose="020B0604020202020204" pitchFamily="34" charset="0"/>
              <a:buNone/>
              <a:defRPr/>
            </a:pPr>
            <a:r>
              <a:rPr lang="zh-CN" altLang="en-US" dirty="0">
                <a:latin typeface="楷体_GB2312" pitchFamily="49" charset="-122"/>
              </a:rPr>
              <a:t>    直线的起点坐标为</a:t>
            </a:r>
            <a:r>
              <a:rPr lang="en-US" dirty="0">
                <a:latin typeface="楷体_GB2312" pitchFamily="49" charset="-122"/>
              </a:rPr>
              <a:t>P</a:t>
            </a:r>
            <a:r>
              <a:rPr lang="en-US" baseline="-25000" dirty="0">
                <a:latin typeface="楷体_GB2312" pitchFamily="49" charset="-122"/>
              </a:rPr>
              <a:t>0</a:t>
            </a:r>
            <a:r>
              <a:rPr lang="en-US" dirty="0">
                <a:latin typeface="楷体_GB2312" pitchFamily="49" charset="-122"/>
              </a:rPr>
              <a:t>(x</a:t>
            </a:r>
            <a:r>
              <a:rPr lang="en-US" baseline="-25000" dirty="0">
                <a:latin typeface="楷体_GB2312" pitchFamily="49" charset="-122"/>
              </a:rPr>
              <a:t>0</a:t>
            </a:r>
            <a:r>
              <a:rPr lang="en-US" dirty="0">
                <a:latin typeface="楷体_GB2312" pitchFamily="49" charset="-122"/>
              </a:rPr>
              <a:t>,y</a:t>
            </a:r>
            <a:r>
              <a:rPr lang="en-US" baseline="-25000" dirty="0">
                <a:latin typeface="楷体_GB2312" pitchFamily="49" charset="-122"/>
              </a:rPr>
              <a:t>0</a:t>
            </a:r>
            <a:r>
              <a:rPr lang="en-US" dirty="0">
                <a:latin typeface="楷体_GB2312" pitchFamily="49" charset="-122"/>
              </a:rPr>
              <a:t>)</a:t>
            </a:r>
            <a:r>
              <a:rPr lang="zh-CN" altLang="en-US" dirty="0">
                <a:latin typeface="楷体_GB2312" pitchFamily="49" charset="-122"/>
              </a:rPr>
              <a:t>，</a:t>
            </a:r>
            <a:r>
              <a:rPr lang="en-US" dirty="0">
                <a:latin typeface="楷体_GB2312" pitchFamily="49" charset="-122"/>
              </a:rPr>
              <a:t>x</a:t>
            </a:r>
            <a:r>
              <a:rPr lang="zh-CN" altLang="en-US" dirty="0">
                <a:latin typeface="楷体_GB2312" pitchFamily="49" charset="-122"/>
              </a:rPr>
              <a:t>为主位移方向。因此，第一个中点是</a:t>
            </a:r>
            <a:r>
              <a:rPr lang="en-US" dirty="0"/>
              <a:t>M </a:t>
            </a:r>
            <a:r>
              <a:rPr lang="en-US" dirty="0">
                <a:latin typeface="楷体_GB2312" pitchFamily="49" charset="-122"/>
              </a:rPr>
              <a:t>(x</a:t>
            </a:r>
            <a:r>
              <a:rPr lang="en-US" baseline="-25000" dirty="0">
                <a:latin typeface="楷体_GB2312" pitchFamily="49" charset="-122"/>
              </a:rPr>
              <a:t>0</a:t>
            </a:r>
            <a:r>
              <a:rPr lang="en-US" dirty="0">
                <a:latin typeface="楷体_GB2312" pitchFamily="49" charset="-122"/>
              </a:rPr>
              <a:t>+1,y</a:t>
            </a:r>
            <a:r>
              <a:rPr lang="en-US" baseline="-25000" dirty="0">
                <a:latin typeface="楷体_GB2312" pitchFamily="49" charset="-122"/>
              </a:rPr>
              <a:t>0</a:t>
            </a:r>
            <a:r>
              <a:rPr lang="en-US" dirty="0">
                <a:latin typeface="楷体_GB2312" pitchFamily="49" charset="-122"/>
              </a:rPr>
              <a:t>+0.5)</a:t>
            </a:r>
            <a:r>
              <a:rPr lang="zh-CN" altLang="en-US" dirty="0">
                <a:latin typeface="楷体_GB2312" pitchFamily="49" charset="-122"/>
              </a:rPr>
              <a:t>，相应的</a:t>
            </a:r>
            <a:r>
              <a:rPr lang="en-US" dirty="0">
                <a:latin typeface="楷体_GB2312" pitchFamily="49" charset="-122"/>
              </a:rPr>
              <a:t>d</a:t>
            </a:r>
            <a:r>
              <a:rPr lang="en-US" baseline="-25000" dirty="0">
                <a:latin typeface="楷体_GB2312" pitchFamily="49" charset="-122"/>
              </a:rPr>
              <a:t>i</a:t>
            </a:r>
            <a:r>
              <a:rPr lang="zh-CN" altLang="en-US" dirty="0">
                <a:latin typeface="楷体_GB2312" pitchFamily="49" charset="-122"/>
              </a:rPr>
              <a:t>的初始值为：</a:t>
            </a:r>
            <a:r>
              <a:rPr lang="zh-CN" altLang="en-US" sz="2800" dirty="0">
                <a:solidFill>
                  <a:schemeClr val="folHlink"/>
                </a:solidFill>
                <a:effectLst>
                  <a:outerShdw blurRad="38100" dist="38100" dir="2700000" algn="tl">
                    <a:srgbClr val="C0C0C0"/>
                  </a:outerShdw>
                </a:effectLst>
                <a:latin typeface="楷体_GB2312" pitchFamily="49" charset="-122"/>
              </a:rPr>
              <a:t>  </a:t>
            </a:r>
          </a:p>
        </p:txBody>
      </p:sp>
      <p:graphicFrame>
        <p:nvGraphicFramePr>
          <p:cNvPr id="20483" name="Object 3"/>
          <p:cNvGraphicFramePr>
            <a:graphicFrameLocks noChangeAspect="1"/>
          </p:cNvGraphicFramePr>
          <p:nvPr/>
        </p:nvGraphicFramePr>
        <p:xfrm>
          <a:off x="1908175" y="2692400"/>
          <a:ext cx="6316663" cy="538163"/>
        </p:xfrm>
        <a:graphic>
          <a:graphicData uri="http://schemas.openxmlformats.org/presentationml/2006/ole">
            <mc:AlternateContent xmlns:mc="http://schemas.openxmlformats.org/markup-compatibility/2006">
              <mc:Choice xmlns:v="urn:schemas-microsoft-com:vml" Requires="v">
                <p:oleObj spid="_x0000_s17579" r:id="rId3" imgW="3924236" imgH="228771" progId="Equation.3">
                  <p:embed/>
                </p:oleObj>
              </mc:Choice>
              <mc:Fallback>
                <p:oleObj r:id="rId3" imgW="3924236" imgH="22877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692400"/>
                        <a:ext cx="631666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4" name="Object 4"/>
          <p:cNvGraphicFramePr>
            <a:graphicFrameLocks noChangeAspect="1"/>
          </p:cNvGraphicFramePr>
          <p:nvPr/>
        </p:nvGraphicFramePr>
        <p:xfrm>
          <a:off x="2339975" y="3268663"/>
          <a:ext cx="3897313" cy="528637"/>
        </p:xfrm>
        <a:graphic>
          <a:graphicData uri="http://schemas.openxmlformats.org/presentationml/2006/ole">
            <mc:AlternateContent xmlns:mc="http://schemas.openxmlformats.org/markup-compatibility/2006">
              <mc:Choice xmlns:v="urn:schemas-microsoft-com:vml" Requires="v">
                <p:oleObj spid="_x0000_s17580" r:id="rId5" imgW="1857231" imgH="228771" progId="Equation.3">
                  <p:embed/>
                </p:oleObj>
              </mc:Choice>
              <mc:Fallback>
                <p:oleObj r:id="rId5" imgW="1857231" imgH="22877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3268663"/>
                        <a:ext cx="3897313"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5" name="Rectangle 6"/>
          <p:cNvSpPr>
            <a:spLocks noChangeArrowheads="1"/>
          </p:cNvSpPr>
          <p:nvPr/>
        </p:nvSpPr>
        <p:spPr bwMode="auto">
          <a:xfrm>
            <a:off x="1547813" y="3860800"/>
            <a:ext cx="5832475" cy="579438"/>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dirty="0">
                <a:latin typeface="楷体_GB2312" pitchFamily="49" charset="-122"/>
              </a:rPr>
              <a:t>其中，因为（</a:t>
            </a:r>
            <a:r>
              <a:rPr lang="en-US" dirty="0">
                <a:latin typeface="楷体_GB2312" pitchFamily="49" charset="-122"/>
              </a:rPr>
              <a:t>x 0</a:t>
            </a:r>
            <a:r>
              <a:rPr lang="zh-CN" altLang="en-US" dirty="0">
                <a:latin typeface="楷体_GB2312" pitchFamily="49" charset="-122"/>
              </a:rPr>
              <a:t>，</a:t>
            </a:r>
            <a:r>
              <a:rPr lang="en-US" dirty="0">
                <a:latin typeface="楷体_GB2312" pitchFamily="49" charset="-122"/>
              </a:rPr>
              <a:t>y 0</a:t>
            </a:r>
            <a:r>
              <a:rPr lang="zh-CN" altLang="en-US" dirty="0">
                <a:latin typeface="楷体_GB2312" pitchFamily="49" charset="-122"/>
              </a:rPr>
              <a:t>）在直线上，所以</a:t>
            </a:r>
            <a:r>
              <a:rPr lang="zh-CN" altLang="en-US" sz="3200" dirty="0">
                <a:solidFill>
                  <a:schemeClr val="folHlink"/>
                </a:solidFill>
                <a:effectLst>
                  <a:outerShdw blurRad="38100" dist="38100" dir="2700000" algn="tl">
                    <a:srgbClr val="C0C0C0"/>
                  </a:outerShdw>
                </a:effectLst>
                <a:latin typeface="楷体_GB2312" pitchFamily="49" charset="-122"/>
              </a:rPr>
              <a:t> </a:t>
            </a:r>
          </a:p>
        </p:txBody>
      </p:sp>
      <p:graphicFrame>
        <p:nvGraphicFramePr>
          <p:cNvPr id="20486" name="Object 6"/>
          <p:cNvGraphicFramePr>
            <a:graphicFrameLocks noChangeAspect="1"/>
          </p:cNvGraphicFramePr>
          <p:nvPr/>
        </p:nvGraphicFramePr>
        <p:xfrm>
          <a:off x="1979613" y="4652963"/>
          <a:ext cx="2278062" cy="574675"/>
        </p:xfrm>
        <a:graphic>
          <a:graphicData uri="http://schemas.openxmlformats.org/presentationml/2006/ole">
            <mc:AlternateContent xmlns:mc="http://schemas.openxmlformats.org/markup-compatibility/2006">
              <mc:Choice xmlns:v="urn:schemas-microsoft-com:vml" Requires="v">
                <p:oleObj spid="_x0000_s17581" r:id="rId7" imgW="1257492" imgH="228771" progId="Equation.3">
                  <p:embed/>
                </p:oleObj>
              </mc:Choice>
              <mc:Fallback>
                <p:oleObj r:id="rId7" imgW="1257492" imgH="228771"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4652963"/>
                        <a:ext cx="22780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7" name="Rectangle 8"/>
          <p:cNvSpPr>
            <a:spLocks noChangeArrowheads="1"/>
          </p:cNvSpPr>
          <p:nvPr/>
        </p:nvSpPr>
        <p:spPr bwMode="auto">
          <a:xfrm>
            <a:off x="1476375" y="5516563"/>
            <a:ext cx="971550" cy="519112"/>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dirty="0">
                <a:latin typeface="楷体_GB2312" pitchFamily="49" charset="-122"/>
              </a:rPr>
              <a:t>则：</a:t>
            </a:r>
            <a:r>
              <a:rPr lang="zh-CN" altLang="en-US" sz="2800" dirty="0">
                <a:solidFill>
                  <a:schemeClr val="folHlink"/>
                </a:solidFill>
                <a:effectLst>
                  <a:outerShdw blurRad="38100" dist="38100" dir="2700000" algn="tl">
                    <a:srgbClr val="C0C0C0"/>
                  </a:outerShdw>
                </a:effectLst>
                <a:latin typeface="楷体_GB2312" pitchFamily="49" charset="-122"/>
              </a:rPr>
              <a:t> </a:t>
            </a:r>
          </a:p>
        </p:txBody>
      </p:sp>
      <p:graphicFrame>
        <p:nvGraphicFramePr>
          <p:cNvPr id="20488" name="Object 8"/>
          <p:cNvGraphicFramePr>
            <a:graphicFrameLocks noChangeAspect="1"/>
          </p:cNvGraphicFramePr>
          <p:nvPr/>
        </p:nvGraphicFramePr>
        <p:xfrm>
          <a:off x="2487613" y="5516563"/>
          <a:ext cx="2278062" cy="576262"/>
        </p:xfrm>
        <a:graphic>
          <a:graphicData uri="http://schemas.openxmlformats.org/presentationml/2006/ole">
            <mc:AlternateContent xmlns:mc="http://schemas.openxmlformats.org/markup-compatibility/2006">
              <mc:Choice xmlns:v="urn:schemas-microsoft-com:vml" Requires="v">
                <p:oleObj spid="_x0000_s17582" r:id="rId9" imgW="952436" imgH="228771" progId="Equation.3">
                  <p:embed/>
                </p:oleObj>
              </mc:Choice>
              <mc:Fallback>
                <p:oleObj r:id="rId9" imgW="952436" imgH="228771"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7613" y="5516563"/>
                        <a:ext cx="2278062" cy="5762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9" name="Rectangle 10"/>
          <p:cNvSpPr>
            <a:spLocks noChangeArrowheads="1"/>
          </p:cNvSpPr>
          <p:nvPr/>
        </p:nvSpPr>
        <p:spPr bwMode="auto">
          <a:xfrm>
            <a:off x="7451725" y="5373688"/>
            <a:ext cx="1428750" cy="519112"/>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a:latin typeface="楷体_GB2312" pitchFamily="49" charset="-122"/>
              </a:rPr>
              <a:t>（</a:t>
            </a:r>
            <a:r>
              <a:rPr lang="en-US">
                <a:latin typeface="楷体_GB2312" pitchFamily="49" charset="-122"/>
              </a:rPr>
              <a:t>3-6</a:t>
            </a:r>
            <a:r>
              <a:rPr lang="zh-CN" altLang="en-US">
                <a:latin typeface="楷体_GB2312" pitchFamily="49" charset="-122"/>
              </a:rPr>
              <a:t>）</a:t>
            </a:r>
            <a:r>
              <a:rPr lang="zh-CN" altLang="en-US" sz="2800">
                <a:solidFill>
                  <a:schemeClr val="folHlink"/>
                </a:solidFill>
                <a:effectLst>
                  <a:outerShdw blurRad="38100" dist="38100" dir="2700000" algn="tl">
                    <a:srgbClr val="C0C0C0"/>
                  </a:outerShdw>
                </a:effectLst>
                <a:latin typeface="楷体_GB2312" pitchFamily="49" charset="-122"/>
              </a:rPr>
              <a:t> </a:t>
            </a:r>
          </a:p>
        </p:txBody>
      </p:sp>
      <p:sp>
        <p:nvSpPr>
          <p:cNvPr id="17418" name="Rectangle 11"/>
          <p:cNvSpPr>
            <a:spLocks noChangeArrowheads="1"/>
          </p:cNvSpPr>
          <p:nvPr/>
        </p:nvSpPr>
        <p:spPr bwMode="auto">
          <a:xfrm>
            <a:off x="1403350" y="250825"/>
            <a:ext cx="3757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tabLst>
                <a:tab pos="361950"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361950"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361950"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800" b="1">
                <a:latin typeface="楷体_GB2312" pitchFamily="49" charset="-122"/>
              </a:rPr>
              <a:t>2.</a:t>
            </a:r>
            <a:r>
              <a:rPr lang="zh-CN" altLang="en-US" sz="2800" b="1">
                <a:latin typeface="楷体_GB2312" pitchFamily="49" charset="-122"/>
              </a:rPr>
              <a:t>中点误差项的初始值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48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048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5" grpId="0"/>
      <p:bldP spid="20487" grpId="0"/>
      <p:bldP spid="20489"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3"/>
          <p:cNvSpPr>
            <a:spLocks noRot="1" noChangeAspect="1" noMove="1" noResize="1" noEditPoints="1" noAdjustHandles="1" noChangeArrowheads="1" noChangeShapeType="1" noTextEdit="1"/>
          </p:cNvSpPr>
          <p:nvPr/>
        </p:nvSpPr>
        <p:spPr bwMode="auto">
          <a:xfrm>
            <a:off x="323528" y="240263"/>
            <a:ext cx="8496944" cy="6330451"/>
          </a:xfrm>
          <a:prstGeom prst="rect">
            <a:avLst/>
          </a:prstGeom>
          <a:blipFill>
            <a:blip r:embed="rId2"/>
            <a:stretch>
              <a:fillRect l="-1076" r="-4735"/>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1258888" y="188913"/>
            <a:ext cx="7705725"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void CTestView::BresenhamLine(CDC *pDC)</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CPoint p0(-100,-50),p1(200,50),p;</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int dx,dy;</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dx=p1.x-p0.x;</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dy=p1.y-p0.y;</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double k,d;</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k=(double)dy/dx;</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d=0.5-k;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for(p=p0;p.x&lt;p1.x;p.x++)//</a:t>
            </a:r>
            <a:r>
              <a:rPr lang="zh-CN" altLang="en-US" sz="2000">
                <a:latin typeface="Tahoma" panose="020B0604030504040204" pitchFamily="34" charset="0"/>
              </a:rPr>
              <a:t>不包括终点</a:t>
            </a:r>
            <a:r>
              <a:rPr lang="en-US" altLang="zh-CN" sz="2000">
                <a:latin typeface="Tahoma" panose="020B0604030504040204" pitchFamily="34" charset="0"/>
              </a:rPr>
              <a:t>(x1,y1)</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pDC-&gt;SetPixelV(p,RGB(0,0,0));</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if(d&lt;0)</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p.y++;</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d+=1-k;</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else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d-=k;</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a:t>
            </a:r>
          </a:p>
        </p:txBody>
      </p:sp>
      <p:pic>
        <p:nvPicPr>
          <p:cNvPr id="819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3500" y="911225"/>
            <a:ext cx="554355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1187450" y="0"/>
            <a:ext cx="77057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void CTestView::CLine(CDC *pDC)</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CPoint p0(-100,-50),p1(200,50),p;</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int  dx=p1.x-p0.x</a:t>
            </a:r>
            <a:r>
              <a:rPr lang="en-US" altLang="zh-CN" sz="2400">
                <a:latin typeface="Tahoma" panose="020B0604030504040204" pitchFamily="34" charset="0"/>
              </a:rPr>
              <a:t>,</a:t>
            </a:r>
            <a:r>
              <a:rPr lang="en-US" altLang="zh-CN" sz="2000">
                <a:latin typeface="Tahoma" panose="020B0604030504040204" pitchFamily="34" charset="0"/>
              </a:rPr>
              <a:t>dy=p1.y-p0.y;</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double k,d;</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k=(double)dy/dx;</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d=0.5-k;</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double dc=1/(double)dx;</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for(p=p0;p.x&lt;p1.x;p.x++)//</a:t>
            </a:r>
            <a:r>
              <a:rPr lang="zh-CN" altLang="en-US" sz="2000">
                <a:latin typeface="Tahoma" panose="020B0604030504040204" pitchFamily="34" charset="0"/>
              </a:rPr>
              <a:t>不包括终点</a:t>
            </a:r>
            <a:r>
              <a:rPr lang="en-US" altLang="zh-CN" sz="2000">
                <a:latin typeface="Tahoma" panose="020B0604030504040204" pitchFamily="34" charset="0"/>
              </a:rPr>
              <a:t>p1</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double r,g,b;</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r=(1-(p.x-p0.x)*dc),g=0,b=(p.x-p0.x)*dc;</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pDC-&gt;SetPixelV(p,RGB(r*255,g*255,b*255));</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if(d&lt;0)</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p.y++;</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d+=1-k;</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else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d-=k;</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2000">
                <a:latin typeface="Tahoma" panose="020B0604030504040204" pitchFamily="34" charset="0"/>
              </a:rPr>
              <a:t>}</a:t>
            </a:r>
          </a:p>
        </p:txBody>
      </p:sp>
      <p:pic>
        <p:nvPicPr>
          <p:cNvPr id="849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3888" y="904875"/>
            <a:ext cx="5953125"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0" y="2243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21507" name="Object 4"/>
          <p:cNvGraphicFramePr>
            <a:graphicFrameLocks noChangeAspect="1"/>
          </p:cNvGraphicFramePr>
          <p:nvPr/>
        </p:nvGraphicFramePr>
        <p:xfrm>
          <a:off x="2700338" y="1387475"/>
          <a:ext cx="4535487" cy="4535488"/>
        </p:xfrm>
        <a:graphic>
          <a:graphicData uri="http://schemas.openxmlformats.org/presentationml/2006/ole">
            <mc:AlternateContent xmlns:mc="http://schemas.openxmlformats.org/markup-compatibility/2006">
              <mc:Choice xmlns:v="urn:schemas-microsoft-com:vml" Requires="v">
                <p:oleObj spid="_x0000_s21562" r:id="rId3" imgW="7150680" imgH="7150680" progId="Visio.Drawing.11">
                  <p:embed/>
                </p:oleObj>
              </mc:Choice>
              <mc:Fallback>
                <p:oleObj r:id="rId3" imgW="7150680" imgH="715068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1387475"/>
                        <a:ext cx="4535487"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8" name="Text Box 6"/>
          <p:cNvSpPr txBox="1">
            <a:spLocks noChangeArrowheads="1"/>
          </p:cNvSpPr>
          <p:nvPr/>
        </p:nvSpPr>
        <p:spPr bwMode="auto">
          <a:xfrm>
            <a:off x="1979613" y="1171575"/>
            <a:ext cx="1152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 =-1</a:t>
            </a:r>
            <a:endParaRPr lang="en-US" altLang="zh-CN" sz="2400">
              <a:latin typeface="Tahoma" panose="020B0604030504040204" pitchFamily="34" charset="0"/>
            </a:endParaRPr>
          </a:p>
        </p:txBody>
      </p:sp>
      <p:sp>
        <p:nvSpPr>
          <p:cNvPr id="21509" name="Text Box 7"/>
          <p:cNvSpPr txBox="1">
            <a:spLocks noChangeArrowheads="1"/>
          </p:cNvSpPr>
          <p:nvPr/>
        </p:nvSpPr>
        <p:spPr bwMode="auto">
          <a:xfrm>
            <a:off x="7019925" y="1171575"/>
            <a:ext cx="10080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 =1</a:t>
            </a:r>
            <a:endParaRPr lang="en-US" altLang="zh-CN" sz="2400">
              <a:latin typeface="Tahoma" panose="020B0604030504040204" pitchFamily="34" charset="0"/>
            </a:endParaRPr>
          </a:p>
        </p:txBody>
      </p:sp>
      <p:sp>
        <p:nvSpPr>
          <p:cNvPr id="21510" name="Text Box 8"/>
          <p:cNvSpPr txBox="1">
            <a:spLocks noChangeArrowheads="1"/>
          </p:cNvSpPr>
          <p:nvPr/>
        </p:nvSpPr>
        <p:spPr bwMode="auto">
          <a:xfrm>
            <a:off x="6156325" y="2755900"/>
            <a:ext cx="16541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0≤k≤1</a:t>
            </a:r>
            <a:endParaRPr lang="en-US" altLang="zh-CN" sz="2400">
              <a:latin typeface="Tahoma" panose="020B0604030504040204" pitchFamily="34" charset="0"/>
            </a:endParaRPr>
          </a:p>
        </p:txBody>
      </p:sp>
      <p:sp>
        <p:nvSpPr>
          <p:cNvPr id="21511" name="Text Box 9"/>
          <p:cNvSpPr txBox="1">
            <a:spLocks noChangeArrowheads="1"/>
          </p:cNvSpPr>
          <p:nvPr/>
        </p:nvSpPr>
        <p:spPr bwMode="auto">
          <a:xfrm>
            <a:off x="7380288" y="3403600"/>
            <a:ext cx="10080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 =0</a:t>
            </a:r>
            <a:endParaRPr lang="en-US" altLang="zh-CN" sz="2400">
              <a:latin typeface="Tahoma" panose="020B0604030504040204" pitchFamily="34" charset="0"/>
            </a:endParaRPr>
          </a:p>
        </p:txBody>
      </p:sp>
      <p:sp>
        <p:nvSpPr>
          <p:cNvPr id="21512" name="Text Box 10"/>
          <p:cNvSpPr txBox="1">
            <a:spLocks noChangeArrowheads="1"/>
          </p:cNvSpPr>
          <p:nvPr/>
        </p:nvSpPr>
        <p:spPr bwMode="auto">
          <a:xfrm>
            <a:off x="4427538" y="981075"/>
            <a:ext cx="11525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a:t>
            </a:r>
            <a:endParaRPr lang="en-US" altLang="zh-CN" sz="2400">
              <a:latin typeface="Tahoma" panose="020B0604030504040204" pitchFamily="34" charset="0"/>
            </a:endParaRPr>
          </a:p>
        </p:txBody>
      </p:sp>
      <p:sp>
        <p:nvSpPr>
          <p:cNvPr id="21513" name="Text Box 11"/>
          <p:cNvSpPr txBox="1">
            <a:spLocks noChangeArrowheads="1"/>
          </p:cNvSpPr>
          <p:nvPr/>
        </p:nvSpPr>
        <p:spPr bwMode="auto">
          <a:xfrm>
            <a:off x="3851275" y="1674813"/>
            <a:ext cx="108108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-1</a:t>
            </a:r>
            <a:endParaRPr lang="en-US" altLang="zh-CN" sz="2400">
              <a:latin typeface="Tahoma" panose="020B0604030504040204" pitchFamily="34" charset="0"/>
            </a:endParaRPr>
          </a:p>
        </p:txBody>
      </p:sp>
      <p:sp>
        <p:nvSpPr>
          <p:cNvPr id="21514" name="Text Box 12"/>
          <p:cNvSpPr txBox="1">
            <a:spLocks noChangeArrowheads="1"/>
          </p:cNvSpPr>
          <p:nvPr/>
        </p:nvSpPr>
        <p:spPr bwMode="auto">
          <a:xfrm>
            <a:off x="5364163" y="1674813"/>
            <a:ext cx="10080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1</a:t>
            </a:r>
            <a:endParaRPr lang="en-US" altLang="zh-CN" sz="2400">
              <a:latin typeface="Tahoma" panose="020B0604030504040204" pitchFamily="34" charset="0"/>
            </a:endParaRPr>
          </a:p>
        </p:txBody>
      </p:sp>
      <p:sp>
        <p:nvSpPr>
          <p:cNvPr id="21515" name="Text Box 13"/>
          <p:cNvSpPr txBox="1">
            <a:spLocks noChangeArrowheads="1"/>
          </p:cNvSpPr>
          <p:nvPr/>
        </p:nvSpPr>
        <p:spPr bwMode="auto">
          <a:xfrm>
            <a:off x="5940425" y="3979863"/>
            <a:ext cx="16557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-1≤k</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0</a:t>
            </a:r>
            <a:endParaRPr lang="en-US" altLang="zh-CN" sz="2400">
              <a:latin typeface="Tahoma" panose="020B0604030504040204" pitchFamily="34" charset="0"/>
            </a:endParaRPr>
          </a:p>
        </p:txBody>
      </p:sp>
      <p:sp>
        <p:nvSpPr>
          <p:cNvPr id="21516" name="Text Box 14"/>
          <p:cNvSpPr txBox="1">
            <a:spLocks noChangeArrowheads="1"/>
          </p:cNvSpPr>
          <p:nvPr/>
        </p:nvSpPr>
        <p:spPr bwMode="auto">
          <a:xfrm>
            <a:off x="3779838" y="5132388"/>
            <a:ext cx="9366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k&gt;-1</a:t>
            </a:r>
            <a:endParaRPr lang="en-US" altLang="zh-CN" sz="2400">
              <a:latin typeface="Tahoma" panose="020B0604030504040204" pitchFamily="34" charset="0"/>
            </a:endParaRPr>
          </a:p>
        </p:txBody>
      </p:sp>
      <p:sp>
        <p:nvSpPr>
          <p:cNvPr id="21517" name="Text Box 15"/>
          <p:cNvSpPr txBox="1">
            <a:spLocks noChangeArrowheads="1"/>
          </p:cNvSpPr>
          <p:nvPr/>
        </p:nvSpPr>
        <p:spPr bwMode="auto">
          <a:xfrm>
            <a:off x="2339975" y="3979863"/>
            <a:ext cx="1728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0≤k≤1</a:t>
            </a:r>
            <a:endParaRPr lang="en-US" altLang="zh-CN" sz="2400">
              <a:latin typeface="Tahoma" panose="020B0604030504040204" pitchFamily="34" charset="0"/>
            </a:endParaRPr>
          </a:p>
        </p:txBody>
      </p:sp>
      <p:sp>
        <p:nvSpPr>
          <p:cNvPr id="21518" name="Text Box 16"/>
          <p:cNvSpPr txBox="1">
            <a:spLocks noChangeArrowheads="1"/>
          </p:cNvSpPr>
          <p:nvPr/>
        </p:nvSpPr>
        <p:spPr bwMode="auto">
          <a:xfrm>
            <a:off x="2268538" y="2900363"/>
            <a:ext cx="15827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-1≤k</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0</a:t>
            </a:r>
            <a:endParaRPr lang="en-US" altLang="zh-CN" sz="2400">
              <a:latin typeface="Tahoma" panose="020B0604030504040204" pitchFamily="34" charset="0"/>
            </a:endParaRPr>
          </a:p>
        </p:txBody>
      </p:sp>
      <p:sp>
        <p:nvSpPr>
          <p:cNvPr id="21519" name="Text Box 17"/>
          <p:cNvSpPr txBox="1">
            <a:spLocks noChangeArrowheads="1"/>
          </p:cNvSpPr>
          <p:nvPr/>
        </p:nvSpPr>
        <p:spPr bwMode="auto">
          <a:xfrm>
            <a:off x="5219700" y="5203825"/>
            <a:ext cx="12239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k</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-1</a:t>
            </a:r>
            <a:endParaRPr lang="en-US" altLang="zh-CN" sz="2400">
              <a:latin typeface="Tahoma" panose="020B0604030504040204" pitchFamily="34" charset="0"/>
            </a:endParaRPr>
          </a:p>
        </p:txBody>
      </p:sp>
      <p:sp>
        <p:nvSpPr>
          <p:cNvPr id="21520" name="Rectangle 18"/>
          <p:cNvSpPr>
            <a:spLocks noChangeArrowheads="1"/>
          </p:cNvSpPr>
          <p:nvPr/>
        </p:nvSpPr>
        <p:spPr bwMode="auto">
          <a:xfrm>
            <a:off x="3635375" y="6211888"/>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直线斜率的对称性</a:t>
            </a:r>
          </a:p>
        </p:txBody>
      </p:sp>
      <p:sp>
        <p:nvSpPr>
          <p:cNvPr id="22545" name="Rectangle 6"/>
          <p:cNvSpPr>
            <a:spLocks noChangeArrowheads="1"/>
          </p:cNvSpPr>
          <p:nvPr/>
        </p:nvSpPr>
        <p:spPr bwMode="auto">
          <a:xfrm>
            <a:off x="1331913" y="0"/>
            <a:ext cx="525780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a:effectLst>
                  <a:outerShdw blurRad="38100" dist="38100" dir="2700000" algn="tl">
                    <a:srgbClr val="C0C0C0"/>
                  </a:outerShdw>
                </a:effectLst>
                <a:latin typeface="楷体_GB2312" pitchFamily="49" charset="-122"/>
              </a:rPr>
              <a:t>3.1.4 </a:t>
            </a:r>
            <a:r>
              <a:rPr lang="zh-CN" altLang="en-US" sz="3200" b="1">
                <a:effectLst>
                  <a:outerShdw blurRad="38100" dist="38100" dir="2700000" algn="tl">
                    <a:srgbClr val="C0C0C0"/>
                  </a:outerShdw>
                </a:effectLst>
                <a:latin typeface="楷体_GB2312" pitchFamily="49" charset="-122"/>
              </a:rPr>
              <a:t>绘制任意斜率的直线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323850" y="3349625"/>
            <a:ext cx="86407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zh-CN" altLang="en-US" sz="2400" dirty="0">
                <a:latin typeface="楷体_GB2312" pitchFamily="49" charset="-122"/>
              </a:rPr>
              <a:t>   后面讲解的圆的中点 </a:t>
            </a:r>
            <a:r>
              <a:rPr lang="en-US" altLang="zh-CN" sz="2400" dirty="0" err="1">
                <a:latin typeface="楷体_GB2312" pitchFamily="49" charset="-122"/>
              </a:rPr>
              <a:t>Bresenham</a:t>
            </a:r>
            <a:r>
              <a:rPr lang="en-US" altLang="zh-CN" sz="2400" dirty="0">
                <a:latin typeface="楷体_GB2312" pitchFamily="49" charset="-122"/>
              </a:rPr>
              <a:t> </a:t>
            </a:r>
            <a:r>
              <a:rPr lang="zh-CN" altLang="en-US" sz="2400" dirty="0">
                <a:latin typeface="楷体_GB2312" pitchFamily="49" charset="-122"/>
              </a:rPr>
              <a:t>算法与椭圆的</a:t>
            </a:r>
            <a:r>
              <a:rPr lang="zh-CN" altLang="en-US" sz="2400" dirty="0">
                <a:latin typeface="Tahoma" panose="020B0604030504040204" pitchFamily="34" charset="0"/>
              </a:rPr>
              <a:t>中点</a:t>
            </a:r>
            <a:r>
              <a:rPr lang="en-US" altLang="zh-CN" sz="2400" dirty="0" err="1">
                <a:latin typeface="Tahoma" panose="020B0604030504040204" pitchFamily="34" charset="0"/>
              </a:rPr>
              <a:t>Bresenham</a:t>
            </a:r>
            <a:r>
              <a:rPr lang="en-US" altLang="zh-CN" sz="2400" dirty="0">
                <a:latin typeface="Tahoma" panose="020B0604030504040204" pitchFamily="34" charset="0"/>
              </a:rPr>
              <a:t> </a:t>
            </a:r>
            <a:r>
              <a:rPr lang="zh-CN" altLang="en-US" sz="2400" dirty="0">
                <a:latin typeface="Tahoma" panose="020B0604030504040204" pitchFamily="34" charset="0"/>
              </a:rPr>
              <a:t>算法，采用类似的步骤，请同学们掌握学习的技巧。</a:t>
            </a:r>
          </a:p>
          <a:p>
            <a:pPr eaLnBrk="1" hangingPunct="1">
              <a:lnSpc>
                <a:spcPct val="120000"/>
              </a:lnSpc>
              <a:spcBef>
                <a:spcPct val="0"/>
              </a:spcBef>
              <a:buFont typeface="Arial" panose="020B0604020202020204" pitchFamily="34" charset="0"/>
              <a:buNone/>
            </a:pPr>
            <a:r>
              <a:rPr lang="zh-CN" altLang="en-US" sz="2400" dirty="0">
                <a:latin typeface="Tahoma" panose="020B0604030504040204" pitchFamily="34" charset="0"/>
              </a:rPr>
              <a:t>      直线是构成复杂图形的基本图元，场景中的模型往往由成千上万条直线组成，所以直线的中点</a:t>
            </a:r>
            <a:r>
              <a:rPr lang="en-US" altLang="zh-CN" sz="2400" dirty="0" err="1">
                <a:latin typeface="Tahoma" panose="020B0604030504040204" pitchFamily="34" charset="0"/>
              </a:rPr>
              <a:t>Bresenham</a:t>
            </a:r>
            <a:r>
              <a:rPr lang="zh-CN" altLang="en-US" sz="2400" dirty="0">
                <a:latin typeface="Tahoma" panose="020B0604030504040204" pitchFamily="34" charset="0"/>
              </a:rPr>
              <a:t>算法是本章学习的重点。</a:t>
            </a:r>
          </a:p>
        </p:txBody>
      </p:sp>
      <mc:AlternateContent xmlns:mc="http://schemas.openxmlformats.org/markup-compatibility/2006" xmlns:a14="http://schemas.microsoft.com/office/drawing/2010/main">
        <mc:Choice Requires="a14">
          <p:sp>
            <p:nvSpPr>
              <p:cNvPr id="22531" name="Rectangle 5"/>
              <p:cNvSpPr>
                <a:spLocks noChangeArrowheads="1"/>
              </p:cNvSpPr>
              <p:nvPr/>
            </p:nvSpPr>
            <p:spPr bwMode="auto">
              <a:xfrm>
                <a:off x="323850" y="320626"/>
                <a:ext cx="8604250" cy="23083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marL="457200" indent="-4572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zh-CN" altLang="en-US" sz="2400" dirty="0" smtClean="0">
                    <a:latin typeface="楷体_GB2312" pitchFamily="49" charset="-122"/>
                  </a:rPr>
                  <a:t>直线的中点</a:t>
                </a:r>
                <a:r>
                  <a:rPr lang="en-US" altLang="zh-CN" sz="2400" dirty="0" err="1">
                    <a:latin typeface="楷体_GB2312" pitchFamily="49" charset="-122"/>
                  </a:rPr>
                  <a:t>Bresenham</a:t>
                </a:r>
                <a:r>
                  <a:rPr lang="zh-CN" altLang="en-US" sz="2400" dirty="0">
                    <a:latin typeface="楷体_GB2312" pitchFamily="49" charset="-122"/>
                  </a:rPr>
                  <a:t>算法小结：</a:t>
                </a:r>
              </a:p>
              <a:p>
                <a:pPr eaLnBrk="1" hangingPunct="1">
                  <a:lnSpc>
                    <a:spcPct val="120000"/>
                  </a:lnSpc>
                  <a:spcBef>
                    <a:spcPct val="0"/>
                  </a:spcBef>
                  <a:buFont typeface="Arial" panose="020B0604020202020204" pitchFamily="34" charset="0"/>
                  <a:buAutoNum type="arabicPeriod"/>
                </a:pPr>
                <a:r>
                  <a:rPr lang="zh-CN" altLang="en-US" sz="2400" b="1" dirty="0">
                    <a:solidFill>
                      <a:srgbClr val="FF0000"/>
                    </a:solidFill>
                    <a:latin typeface="方正粗黑宋简体" panose="02000000000000000000" pitchFamily="2" charset="-122"/>
                    <a:ea typeface="方正粗黑宋简体" panose="02000000000000000000" pitchFamily="2" charset="-122"/>
                  </a:rPr>
                  <a:t>确定主位移方向</a:t>
                </a:r>
                <a:r>
                  <a:rPr lang="zh-CN" altLang="en-US" sz="2400" dirty="0">
                    <a:latin typeface="楷体_GB2312" pitchFamily="49" charset="-122"/>
                  </a:rPr>
                  <a:t>。在</a:t>
                </a:r>
                <a:r>
                  <a:rPr lang="zh-CN" altLang="en-US" sz="2400" b="1" dirty="0">
                    <a:solidFill>
                      <a:srgbClr val="002060"/>
                    </a:solidFill>
                    <a:latin typeface="方正粗黑宋简体" panose="02000000000000000000" pitchFamily="2" charset="-122"/>
                    <a:ea typeface="方正粗黑宋简体" panose="02000000000000000000" pitchFamily="2" charset="-122"/>
                  </a:rPr>
                  <a:t>主位移方向上每次加</a:t>
                </a:r>
                <a:r>
                  <a:rPr lang="en-US" altLang="zh-CN" sz="2400" b="1" dirty="0">
                    <a:solidFill>
                      <a:srgbClr val="002060"/>
                    </a:solidFill>
                    <a:latin typeface="方正粗黑宋简体" panose="02000000000000000000" pitchFamily="2" charset="-122"/>
                    <a:ea typeface="方正粗黑宋简体" panose="02000000000000000000" pitchFamily="2" charset="-122"/>
                  </a:rPr>
                  <a:t>1</a:t>
                </a:r>
                <a:r>
                  <a:rPr lang="zh-CN" altLang="en-US" sz="2400" dirty="0">
                    <a:latin typeface="楷体_GB2312" pitchFamily="49" charset="-122"/>
                  </a:rPr>
                  <a:t>，</a:t>
                </a:r>
                <a:r>
                  <a:rPr lang="zh-CN" altLang="en-US" sz="2400" b="1" dirty="0">
                    <a:solidFill>
                      <a:srgbClr val="002060"/>
                    </a:solidFill>
                    <a:latin typeface="方正粗黑宋简体" panose="02000000000000000000" pitchFamily="2" charset="-122"/>
                    <a:ea typeface="方正粗黑宋简体" panose="02000000000000000000" pitchFamily="2" charset="-122"/>
                  </a:rPr>
                  <a:t>另一个方向上加不加</a:t>
                </a:r>
                <a:r>
                  <a:rPr lang="en-US" altLang="zh-CN" sz="2400" b="1" dirty="0">
                    <a:solidFill>
                      <a:srgbClr val="002060"/>
                    </a:solidFill>
                    <a:latin typeface="方正粗黑宋简体" panose="02000000000000000000" pitchFamily="2" charset="-122"/>
                    <a:ea typeface="方正粗黑宋简体" panose="02000000000000000000" pitchFamily="2" charset="-122"/>
                  </a:rPr>
                  <a:t>1</a:t>
                </a:r>
                <a:r>
                  <a:rPr lang="zh-CN" altLang="en-US" sz="2400" b="1" dirty="0">
                    <a:solidFill>
                      <a:srgbClr val="002060"/>
                    </a:solidFill>
                    <a:latin typeface="方正粗黑宋简体" panose="02000000000000000000" pitchFamily="2" charset="-122"/>
                    <a:ea typeface="方正粗黑宋简体" panose="02000000000000000000" pitchFamily="2" charset="-122"/>
                  </a:rPr>
                  <a:t>，取决于中点误差项</a:t>
                </a:r>
                <a:r>
                  <a:rPr lang="zh-CN" altLang="en-US" sz="2400" dirty="0">
                    <a:latin typeface="楷体_GB2312" pitchFamily="49" charset="-122"/>
                  </a:rPr>
                  <a:t>。</a:t>
                </a:r>
              </a:p>
              <a:p>
                <a:pPr eaLnBrk="1" hangingPunct="1">
                  <a:lnSpc>
                    <a:spcPct val="120000"/>
                  </a:lnSpc>
                  <a:spcBef>
                    <a:spcPct val="0"/>
                  </a:spcBef>
                  <a:buFont typeface="Arial" panose="020B0604020202020204" pitchFamily="34" charset="0"/>
                  <a:buAutoNum type="arabicPeriod"/>
                </a:pPr>
                <a:r>
                  <a:rPr lang="zh-CN" altLang="en-US" sz="2400" dirty="0">
                    <a:latin typeface="楷体_GB2312" pitchFamily="49" charset="-122"/>
                  </a:rPr>
                  <a:t>计算</a:t>
                </a:r>
                <a:r>
                  <a:rPr lang="zh-CN" altLang="en-US" sz="2400" dirty="0" smtClean="0">
                    <a:latin typeface="楷体_GB2312" pitchFamily="49" charset="-122"/>
                  </a:rPr>
                  <a:t> </a:t>
                </a:r>
                <a14:m>
                  <m:oMath xmlns:m="http://schemas.openxmlformats.org/officeDocument/2006/math">
                    <m:r>
                      <a:rPr lang="en-US" altLang="zh-CN" sz="2400" b="1" i="1" smtClean="0">
                        <a:solidFill>
                          <a:srgbClr val="FF0000"/>
                        </a:solidFill>
                        <a:latin typeface="Cambria Math" panose="02040503050406030204" pitchFamily="18" charset="0"/>
                      </a:rPr>
                      <m:t>𝒅</m:t>
                    </m:r>
                  </m:oMath>
                </a14:m>
                <a:r>
                  <a:rPr lang="zh-CN" altLang="en-US" sz="2400" b="1" dirty="0" smtClean="0">
                    <a:solidFill>
                      <a:srgbClr val="002060"/>
                    </a:solidFill>
                    <a:latin typeface="方正粗黑宋简体" panose="02000000000000000000" pitchFamily="2" charset="-122"/>
                    <a:ea typeface="方正粗黑宋简体" panose="02000000000000000000" pitchFamily="2" charset="-122"/>
                  </a:rPr>
                  <a:t> </a:t>
                </a:r>
                <a:r>
                  <a:rPr lang="zh-CN" altLang="en-US" sz="2400" b="1" dirty="0">
                    <a:solidFill>
                      <a:srgbClr val="002060"/>
                    </a:solidFill>
                    <a:latin typeface="方正粗黑宋简体" panose="02000000000000000000" pitchFamily="2" charset="-122"/>
                    <a:ea typeface="方正粗黑宋简体" panose="02000000000000000000" pitchFamily="2" charset="-122"/>
                  </a:rPr>
                  <a:t>的初始值</a:t>
                </a:r>
                <a:r>
                  <a:rPr lang="zh-CN" altLang="en-US" sz="2400" dirty="0">
                    <a:latin typeface="楷体_GB2312" pitchFamily="49" charset="-122"/>
                  </a:rPr>
                  <a:t>。</a:t>
                </a:r>
              </a:p>
              <a:p>
                <a:pPr eaLnBrk="1" hangingPunct="1">
                  <a:lnSpc>
                    <a:spcPct val="120000"/>
                  </a:lnSpc>
                  <a:spcBef>
                    <a:spcPct val="0"/>
                  </a:spcBef>
                  <a:buFont typeface="Arial" panose="020B0604020202020204" pitchFamily="34" charset="0"/>
                  <a:buAutoNum type="arabicPeriod"/>
                </a:pPr>
                <a:r>
                  <a:rPr lang="zh-CN" altLang="en-US" sz="2400" dirty="0" smtClean="0">
                    <a:latin typeface="楷体_GB2312" pitchFamily="49" charset="-122"/>
                  </a:rPr>
                  <a:t>区分 </a:t>
                </a:r>
                <a14:m>
                  <m:oMath xmlns:m="http://schemas.openxmlformats.org/officeDocument/2006/math">
                    <m:sSub>
                      <m:sSubPr>
                        <m:ctrlPr>
                          <a:rPr lang="en-US" altLang="zh-CN" sz="2400" b="1" i="1" smtClean="0">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𝒅</m:t>
                        </m:r>
                      </m:e>
                      <m:sub>
                        <m:r>
                          <a:rPr lang="en-US" altLang="zh-CN" sz="2400" b="1" i="1" smtClean="0">
                            <a:solidFill>
                              <a:srgbClr val="FF0000"/>
                            </a:solidFill>
                            <a:latin typeface="Cambria Math" panose="02040503050406030204" pitchFamily="18" charset="0"/>
                          </a:rPr>
                          <m:t>𝒊</m:t>
                        </m:r>
                      </m:sub>
                    </m:sSub>
                    <m:r>
                      <a:rPr lang="en-US" altLang="zh-CN" sz="2400" b="1" i="1" smtClean="0">
                        <a:solidFill>
                          <a:srgbClr val="FF0000"/>
                        </a:solidFill>
                        <a:latin typeface="Cambria Math" panose="02040503050406030204" pitchFamily="18" charset="0"/>
                      </a:rPr>
                      <m:t>&lt;</m:t>
                    </m:r>
                    <m:r>
                      <a:rPr lang="en-US" altLang="zh-CN" sz="2400" b="1" i="1" smtClean="0">
                        <a:solidFill>
                          <a:srgbClr val="FF0000"/>
                        </a:solidFill>
                        <a:latin typeface="Cambria Math" panose="02040503050406030204" pitchFamily="18" charset="0"/>
                      </a:rPr>
                      <m:t>𝟎</m:t>
                    </m:r>
                  </m:oMath>
                </a14:m>
                <a:r>
                  <a:rPr lang="en-US" altLang="zh-CN" sz="2400" baseline="-25000" dirty="0" smtClean="0">
                    <a:latin typeface="Tahoma" panose="020B0604030504040204" pitchFamily="34" charset="0"/>
                  </a:rPr>
                  <a:t> </a:t>
                </a:r>
                <a:r>
                  <a:rPr lang="zh-CN" altLang="en-US" sz="2400" dirty="0" smtClean="0">
                    <a:latin typeface="楷体_GB2312" pitchFamily="49" charset="-122"/>
                  </a:rPr>
                  <a:t>与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𝒅</m:t>
                        </m:r>
                      </m:e>
                      <m:sub>
                        <m:r>
                          <a:rPr lang="en-US" altLang="zh-CN" sz="2400" b="1" i="1">
                            <a:solidFill>
                              <a:srgbClr val="FF0000"/>
                            </a:solidFill>
                            <a:latin typeface="Cambria Math" panose="02040503050406030204" pitchFamily="18" charset="0"/>
                          </a:rPr>
                          <m:t>𝒊</m:t>
                        </m:r>
                      </m:sub>
                    </m:sSub>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a:solidFill>
                          <a:srgbClr val="FF0000"/>
                        </a:solidFill>
                        <a:latin typeface="Cambria Math" panose="02040503050406030204" pitchFamily="18" charset="0"/>
                      </a:rPr>
                      <m:t>𝟎</m:t>
                    </m:r>
                  </m:oMath>
                </a14:m>
                <a:r>
                  <a:rPr lang="zh-CN" altLang="en-US" sz="2400" dirty="0" smtClean="0">
                    <a:latin typeface="楷体_GB2312" pitchFamily="49" charset="-122"/>
                  </a:rPr>
                  <a:t> </a:t>
                </a:r>
                <a:r>
                  <a:rPr lang="zh-CN" altLang="en-US" sz="2400" dirty="0">
                    <a:latin typeface="楷体_GB2312" pitchFamily="49" charset="-122"/>
                  </a:rPr>
                  <a:t>两种情况，分别计算</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𝒅</m:t>
                        </m:r>
                      </m:e>
                      <m:sub>
                        <m:r>
                          <a:rPr lang="en-US" altLang="zh-CN" sz="2400" b="1" i="1">
                            <a:solidFill>
                              <a:srgbClr val="FF0000"/>
                            </a:solidFill>
                            <a:latin typeface="Cambria Math" panose="02040503050406030204" pitchFamily="18" charset="0"/>
                          </a:rPr>
                          <m:t>𝒊</m:t>
                        </m:r>
                      </m:sub>
                    </m:sSub>
                  </m:oMath>
                </a14:m>
                <a:r>
                  <a:rPr lang="zh-CN" altLang="en-US" sz="2400" dirty="0">
                    <a:latin typeface="楷体_GB2312" pitchFamily="49" charset="-122"/>
                  </a:rPr>
                  <a:t>的</a:t>
                </a:r>
                <a:r>
                  <a:rPr lang="zh-CN" altLang="en-US" sz="2400" b="1" dirty="0">
                    <a:solidFill>
                      <a:srgbClr val="002060"/>
                    </a:solidFill>
                    <a:latin typeface="方正粗黑宋简体" panose="02000000000000000000" pitchFamily="2" charset="-122"/>
                    <a:ea typeface="方正粗黑宋简体" panose="02000000000000000000" pitchFamily="2" charset="-122"/>
                  </a:rPr>
                  <a:t>递推公式</a:t>
                </a:r>
                <a:r>
                  <a:rPr lang="zh-CN" altLang="en-US" sz="2400" dirty="0">
                    <a:latin typeface="楷体_GB2312" pitchFamily="49" charset="-122"/>
                  </a:rPr>
                  <a:t>。</a:t>
                </a:r>
              </a:p>
            </p:txBody>
          </p:sp>
        </mc:Choice>
        <mc:Fallback xmlns="">
          <p:sp>
            <p:nvSpPr>
              <p:cNvPr id="22531" name="Rectangle 5"/>
              <p:cNvSpPr>
                <a:spLocks noRot="1" noChangeAspect="1" noMove="1" noResize="1" noEditPoints="1" noAdjustHandles="1" noChangeArrowheads="1" noChangeShapeType="1" noTextEdit="1"/>
              </p:cNvSpPr>
              <p:nvPr/>
            </p:nvSpPr>
            <p:spPr bwMode="auto">
              <a:xfrm>
                <a:off x="323850" y="320626"/>
                <a:ext cx="8604250" cy="2308324"/>
              </a:xfrm>
              <a:prstGeom prst="rect">
                <a:avLst/>
              </a:prstGeom>
              <a:blipFill>
                <a:blip r:embed="rId2"/>
                <a:stretch>
                  <a:fillRect l="-1133" t="-1323" r="-4533" b="-47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1403350" y="188913"/>
            <a:ext cx="3816350" cy="641350"/>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600" b="1">
                <a:effectLst>
                  <a:outerShdw blurRad="38100" dist="38100" dir="2700000" algn="tl">
                    <a:srgbClr val="C0C0C0"/>
                  </a:outerShdw>
                </a:effectLst>
                <a:latin typeface="楷体_GB2312" pitchFamily="49" charset="-122"/>
              </a:rPr>
              <a:t>3.2</a:t>
            </a:r>
            <a:r>
              <a:rPr lang="zh-CN" altLang="en-US" sz="3600" b="1">
                <a:effectLst>
                  <a:outerShdw blurRad="38100" dist="38100" dir="2700000" algn="tl">
                    <a:srgbClr val="C0C0C0"/>
                  </a:outerShdw>
                </a:effectLst>
                <a:latin typeface="楷体_GB2312" pitchFamily="49" charset="-122"/>
              </a:rPr>
              <a:t>圆的扫描转换</a:t>
            </a:r>
          </a:p>
        </p:txBody>
      </p:sp>
      <p:sp>
        <p:nvSpPr>
          <p:cNvPr id="23555" name="Rectangle 5"/>
          <p:cNvSpPr>
            <a:spLocks noChangeArrowheads="1"/>
          </p:cNvSpPr>
          <p:nvPr/>
        </p:nvSpPr>
        <p:spPr bwMode="auto">
          <a:xfrm>
            <a:off x="395288" y="1152525"/>
            <a:ext cx="849788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      圆的扫描转换是</a:t>
            </a:r>
            <a:r>
              <a:rPr lang="zh-CN" altLang="en-US" sz="2400" b="1">
                <a:solidFill>
                  <a:srgbClr val="FF0000"/>
                </a:solidFill>
                <a:latin typeface="方正粗黑宋简体" panose="02000000000000000000" pitchFamily="2" charset="-122"/>
                <a:ea typeface="方正粗黑宋简体" panose="02000000000000000000" pitchFamily="2" charset="-122"/>
              </a:rPr>
              <a:t>在屏幕像素点阵中确定最佳逼近于理想圆的像素点集的过程</a:t>
            </a:r>
            <a:r>
              <a:rPr lang="zh-CN" altLang="en-US" sz="2400">
                <a:latin typeface="Tahoma" panose="020B0604030504040204" pitchFamily="34" charset="0"/>
              </a:rPr>
              <a:t>。圆的绘制可以使用简单方程画圆算法或极坐标画圆算法，但这些算法涉及开方运算或三角运算，效率很低。主要讲解仅包含加减运算的顺时针绘制</a:t>
            </a:r>
            <a:r>
              <a:rPr lang="en-US" altLang="zh-CN" sz="2400">
                <a:latin typeface="Tahoma" panose="020B0604030504040204" pitchFamily="34" charset="0"/>
              </a:rPr>
              <a:t>1/8</a:t>
            </a:r>
            <a:r>
              <a:rPr lang="zh-CN" altLang="en-US" sz="2400">
                <a:latin typeface="Tahoma" panose="020B0604030504040204" pitchFamily="34" charset="0"/>
              </a:rPr>
              <a:t>圆的</a:t>
            </a:r>
            <a:r>
              <a:rPr lang="zh-CN" altLang="en-US" sz="2400" b="1">
                <a:solidFill>
                  <a:srgbClr val="FF0000"/>
                </a:solidFill>
                <a:latin typeface="方正粗黑宋简体" panose="02000000000000000000" pitchFamily="2" charset="-122"/>
                <a:ea typeface="方正粗黑宋简体" panose="02000000000000000000" pitchFamily="2" charset="-122"/>
              </a:rPr>
              <a:t>中点</a:t>
            </a:r>
            <a:r>
              <a:rPr lang="en-US" altLang="zh-CN" sz="2400" b="1">
                <a:solidFill>
                  <a:srgbClr val="FF0000"/>
                </a:solidFill>
                <a:latin typeface="方正粗黑宋简体" panose="02000000000000000000" pitchFamily="2" charset="-122"/>
                <a:ea typeface="方正粗黑宋简体" panose="02000000000000000000" pitchFamily="2" charset="-122"/>
              </a:rPr>
              <a:t>Bresenham</a:t>
            </a:r>
            <a:r>
              <a:rPr lang="zh-CN" altLang="en-US" sz="2400">
                <a:latin typeface="Tahoma" panose="020B0604030504040204" pitchFamily="34" charset="0"/>
              </a:rPr>
              <a:t>算法原理，根据对称性可以绘制整圆 。</a:t>
            </a:r>
          </a:p>
        </p:txBody>
      </p:sp>
      <p:sp>
        <p:nvSpPr>
          <p:cNvPr id="23556" name="Rectangle 7"/>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23557" name="Object 6"/>
          <p:cNvGraphicFramePr>
            <a:graphicFrameLocks noChangeAspect="1"/>
          </p:cNvGraphicFramePr>
          <p:nvPr/>
        </p:nvGraphicFramePr>
        <p:xfrm>
          <a:off x="3348038" y="3155950"/>
          <a:ext cx="3240087" cy="3021013"/>
        </p:xfrm>
        <a:graphic>
          <a:graphicData uri="http://schemas.openxmlformats.org/presentationml/2006/ole">
            <mc:AlternateContent xmlns:mc="http://schemas.openxmlformats.org/markup-compatibility/2006">
              <mc:Choice xmlns:v="urn:schemas-microsoft-com:vml" Requires="v">
                <p:oleObj spid="_x0000_s23599" r:id="rId3" imgW="5783760" imgH="5406120" progId="Visio.Drawing.11">
                  <p:embed/>
                </p:oleObj>
              </mc:Choice>
              <mc:Fallback>
                <p:oleObj r:id="rId3" imgW="5783760" imgH="5406120"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3155950"/>
                        <a:ext cx="32400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58" name="Rectangle 8"/>
          <p:cNvSpPr>
            <a:spLocks noChangeArrowheads="1"/>
          </p:cNvSpPr>
          <p:nvPr/>
        </p:nvSpPr>
        <p:spPr bwMode="auto">
          <a:xfrm>
            <a:off x="4140200" y="6237288"/>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圆的扫描转换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Rot="1" noChangeAspect="1" noMove="1" noResize="1" noEditPoints="1" noAdjustHandles="1" noChangeArrowheads="1" noChangeShapeType="1" noTextEdit="1"/>
          </p:cNvSpPr>
          <p:nvPr/>
        </p:nvSpPr>
        <p:spPr bwMode="auto">
          <a:xfrm>
            <a:off x="539552" y="841842"/>
            <a:ext cx="8425061" cy="1938992"/>
          </a:xfrm>
          <a:prstGeom prst="rect">
            <a:avLst/>
          </a:prstGeom>
          <a:blipFill>
            <a:blip r:embed="rId3"/>
            <a:stretch>
              <a:fillRect l="-1158" t="-2516" r="-1085" b="-691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noFill/>
              </a:rPr>
              <a:t> </a:t>
            </a:r>
            <a:endParaRPr lang="zh-CN" altLang="en-US">
              <a:noFill/>
            </a:endParaRPr>
          </a:p>
        </p:txBody>
      </p:sp>
      <p:graphicFrame>
        <p:nvGraphicFramePr>
          <p:cNvPr id="24579" name="Object 7"/>
          <p:cNvGraphicFramePr>
            <a:graphicFrameLocks noChangeAspect="1"/>
          </p:cNvGraphicFramePr>
          <p:nvPr/>
        </p:nvGraphicFramePr>
        <p:xfrm>
          <a:off x="2051050" y="3775075"/>
          <a:ext cx="2519363" cy="2103438"/>
        </p:xfrm>
        <a:graphic>
          <a:graphicData uri="http://schemas.openxmlformats.org/presentationml/2006/ole">
            <mc:AlternateContent xmlns:mc="http://schemas.openxmlformats.org/markup-compatibility/2006">
              <mc:Choice xmlns:v="urn:schemas-microsoft-com:vml" Requires="v">
                <p:oleObj spid="_x0000_s24663" r:id="rId4" imgW="5751000" imgH="4728240" progId="Visio.Drawing.11">
                  <p:embed/>
                </p:oleObj>
              </mc:Choice>
              <mc:Fallback>
                <p:oleObj r:id="rId4" imgW="5751000" imgH="4728240"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775075"/>
                        <a:ext cx="2519363"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0" name="Object 8"/>
          <p:cNvGraphicFramePr>
            <a:graphicFrameLocks noChangeAspect="1"/>
          </p:cNvGraphicFramePr>
          <p:nvPr/>
        </p:nvGraphicFramePr>
        <p:xfrm>
          <a:off x="5722938" y="3630613"/>
          <a:ext cx="2305050" cy="1887537"/>
        </p:xfrm>
        <a:graphic>
          <a:graphicData uri="http://schemas.openxmlformats.org/presentationml/2006/ole">
            <mc:AlternateContent xmlns:mc="http://schemas.openxmlformats.org/markup-compatibility/2006">
              <mc:Choice xmlns:v="urn:schemas-microsoft-com:vml" Requires="v">
                <p:oleObj spid="_x0000_s24664" r:id="rId6" imgW="4559400" imgH="3735360" progId="Visio.Drawing.11">
                  <p:embed/>
                </p:oleObj>
              </mc:Choice>
              <mc:Fallback>
                <p:oleObj r:id="rId6" imgW="4559400" imgH="3735360" progId="Visio.Drawing.11">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2938" y="3630613"/>
                        <a:ext cx="2305050"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1" name="Rectangle 9"/>
          <p:cNvSpPr>
            <a:spLocks noChangeArrowheads="1"/>
          </p:cNvSpPr>
          <p:nvPr/>
        </p:nvSpPr>
        <p:spPr bwMode="auto">
          <a:xfrm>
            <a:off x="2554288" y="599598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设备坐标系</a:t>
            </a:r>
          </a:p>
        </p:txBody>
      </p:sp>
      <p:sp>
        <p:nvSpPr>
          <p:cNvPr id="24582" name="Rectangle 10"/>
          <p:cNvSpPr>
            <a:spLocks noChangeArrowheads="1"/>
          </p:cNvSpPr>
          <p:nvPr/>
        </p:nvSpPr>
        <p:spPr bwMode="auto">
          <a:xfrm>
            <a:off x="5722938" y="592455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自定义坐标系</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4"/>
          <p:cNvSpPr>
            <a:spLocks noRot="1" noChangeAspect="1" noMove="1" noResize="1" noEditPoints="1" noAdjustHandles="1" noChangeArrowheads="1" noChangeShapeType="1" noTextEdit="1"/>
          </p:cNvSpPr>
          <p:nvPr/>
        </p:nvSpPr>
        <p:spPr bwMode="auto">
          <a:xfrm>
            <a:off x="539552" y="895499"/>
            <a:ext cx="8293298" cy="461665"/>
          </a:xfrm>
          <a:prstGeom prst="rect">
            <a:avLst/>
          </a:prstGeom>
          <a:blipFill>
            <a:blip r:embed="rId2"/>
            <a:stretch>
              <a:fillRect l="-1176" t="-15789" b="-3157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p:sp>
        <p:nvSpPr>
          <p:cNvPr id="25604" name="Rectangle 6"/>
          <p:cNvSpPr>
            <a:spLocks noRot="1" noChangeAspect="1" noMove="1" noResize="1" noEditPoints="1" noAdjustHandles="1" noChangeArrowheads="1" noChangeShapeType="1" noTextEdit="1"/>
          </p:cNvSpPr>
          <p:nvPr/>
        </p:nvSpPr>
        <p:spPr bwMode="auto">
          <a:xfrm>
            <a:off x="429444" y="2492896"/>
            <a:ext cx="8513514" cy="3490186"/>
          </a:xfrm>
          <a:prstGeom prst="rect">
            <a:avLst/>
          </a:prstGeom>
          <a:blipFill>
            <a:blip r:embed="rId3"/>
            <a:stretch>
              <a:fillRect l="-716" r="-1432" b="-699"/>
            </a:stretch>
          </a:blipFill>
          <a:ln w="9525">
            <a:solidFill>
              <a:srgbClr val="000000"/>
            </a:solidFill>
            <a:miter lim="800000"/>
            <a:headEnd/>
            <a:tailEnd/>
          </a:ln>
          <a:extLst/>
        </p:spPr>
        <p:txBody>
          <a:bodyPr/>
          <a:lstStyle/>
          <a:p>
            <a:r>
              <a:rPr lang="zh-CN" altLang="en-US">
                <a:noFill/>
              </a:rPr>
              <a:t> </a:t>
            </a:r>
          </a:p>
        </p:txBody>
      </p:sp>
      <p:sp>
        <p:nvSpPr>
          <p:cNvPr id="28677" name="Rectangle 7"/>
          <p:cNvSpPr>
            <a:spLocks noChangeArrowheads="1"/>
          </p:cNvSpPr>
          <p:nvPr/>
        </p:nvSpPr>
        <p:spPr bwMode="auto">
          <a:xfrm>
            <a:off x="7740650" y="1557338"/>
            <a:ext cx="1403350"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a:latin typeface="楷体_GB2312" pitchFamily="49" charset="-122"/>
              </a:rPr>
              <a:t>（</a:t>
            </a:r>
            <a:r>
              <a:rPr lang="en-US">
                <a:latin typeface="楷体_GB2312" pitchFamily="49" charset="-122"/>
              </a:rPr>
              <a:t>3-7</a:t>
            </a:r>
            <a:r>
              <a:rPr lang="zh-CN" altLang="en-US">
                <a:latin typeface="楷体_GB2312" pitchFamily="49" charset="-122"/>
              </a:rPr>
              <a:t>）</a:t>
            </a:r>
            <a:r>
              <a:rPr lang="zh-CN" altLang="en-US">
                <a:effectLst>
                  <a:outerShdw blurRad="38100" dist="38100" dir="2700000" algn="tl">
                    <a:srgbClr val="C0C0C0"/>
                  </a:outerShdw>
                </a:effectLst>
                <a:latin typeface="楷体_GB2312" pitchFamily="49" charset="-122"/>
              </a:rPr>
              <a:t> </a:t>
            </a:r>
          </a:p>
        </p:txBody>
      </p:sp>
      <p:sp>
        <p:nvSpPr>
          <p:cNvPr id="28678" name="Rectangle 10"/>
          <p:cNvSpPr>
            <a:spLocks noChangeArrowheads="1"/>
          </p:cNvSpPr>
          <p:nvPr/>
        </p:nvSpPr>
        <p:spPr bwMode="auto">
          <a:xfrm>
            <a:off x="1403350" y="188913"/>
            <a:ext cx="3313113"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a:effectLst>
                  <a:outerShdw blurRad="38100" dist="38100" dir="2700000" algn="tl">
                    <a:srgbClr val="C0C0C0"/>
                  </a:outerShdw>
                </a:effectLst>
                <a:latin typeface="楷体_GB2312" pitchFamily="49" charset="-122"/>
              </a:rPr>
              <a:t>3.2.1 </a:t>
            </a:r>
            <a:r>
              <a:rPr lang="zh-CN" altLang="en-US" sz="3200" b="1">
                <a:effectLst>
                  <a:outerShdw blurRad="38100" dist="38100" dir="2700000" algn="tl">
                    <a:srgbClr val="C0C0C0"/>
                  </a:outerShdw>
                </a:effectLst>
                <a:latin typeface="楷体_GB2312" pitchFamily="49" charset="-122"/>
              </a:rPr>
              <a:t>算法原理</a:t>
            </a:r>
          </a:p>
        </p:txBody>
      </p:sp>
      <p:sp>
        <p:nvSpPr>
          <p:cNvPr id="2" name="矩形 1"/>
          <p:cNvSpPr>
            <a:spLocks noRot="1" noChangeAspect="1" noMove="1" noResize="1" noEditPoints="1" noAdjustHandles="1" noChangeArrowheads="1" noChangeShapeType="1" noTextEdit="1"/>
          </p:cNvSpPr>
          <p:nvPr/>
        </p:nvSpPr>
        <p:spPr>
          <a:xfrm>
            <a:off x="2123728" y="1653067"/>
            <a:ext cx="3657733" cy="470000"/>
          </a:xfrm>
          <a:prstGeom prst="rect">
            <a:avLst/>
          </a:prstGeom>
          <a:blipFill>
            <a:blip r:embed="rId4"/>
            <a:stretch>
              <a:fillRect t="-10390" r="-1500" b="-27273"/>
            </a:stretch>
          </a:blipFill>
        </p:spPr>
        <p:txBody>
          <a:bodyPr/>
          <a:lstStyle/>
          <a:p>
            <a:r>
              <a:rPr lang="zh-CN" altLang="en-US">
                <a:noFill/>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6626" name="Object 3"/>
          <p:cNvGraphicFramePr>
            <a:graphicFrameLocks noChangeAspect="1"/>
          </p:cNvGraphicFramePr>
          <p:nvPr/>
        </p:nvGraphicFramePr>
        <p:xfrm>
          <a:off x="1763713" y="620713"/>
          <a:ext cx="5903912" cy="5226050"/>
        </p:xfrm>
        <a:graphic>
          <a:graphicData uri="http://schemas.openxmlformats.org/presentationml/2006/ole">
            <mc:AlternateContent xmlns:mc="http://schemas.openxmlformats.org/markup-compatibility/2006">
              <mc:Choice xmlns:v="urn:schemas-microsoft-com:vml" Requires="v">
                <p:oleObj spid="_x0000_s26680" r:id="rId3" imgW="5136120" imgH="4551480" progId="Visio.Drawing.11">
                  <p:embed/>
                </p:oleObj>
              </mc:Choice>
              <mc:Fallback>
                <p:oleObj r:id="rId3" imgW="5136120" imgH="455148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620713"/>
                        <a:ext cx="5903912"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7" name="Rectangle 4"/>
          <p:cNvSpPr>
            <a:spLocks noChangeArrowheads="1"/>
          </p:cNvSpPr>
          <p:nvPr/>
        </p:nvSpPr>
        <p:spPr bwMode="auto">
          <a:xfrm>
            <a:off x="1763713" y="2308225"/>
            <a:ext cx="1211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p>
        </p:txBody>
      </p:sp>
      <p:sp>
        <p:nvSpPr>
          <p:cNvPr id="26628" name="Rectangle 5"/>
          <p:cNvSpPr>
            <a:spLocks noChangeArrowheads="1"/>
          </p:cNvSpPr>
          <p:nvPr/>
        </p:nvSpPr>
        <p:spPr bwMode="auto">
          <a:xfrm>
            <a:off x="1763713" y="3819525"/>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p>
        </p:txBody>
      </p:sp>
      <p:sp>
        <p:nvSpPr>
          <p:cNvPr id="26629" name="Rectangle 6"/>
          <p:cNvSpPr>
            <a:spLocks noChangeArrowheads="1"/>
          </p:cNvSpPr>
          <p:nvPr/>
        </p:nvSpPr>
        <p:spPr bwMode="auto">
          <a:xfrm>
            <a:off x="1979613" y="1155700"/>
            <a:ext cx="596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x=-y</a:t>
            </a:r>
          </a:p>
        </p:txBody>
      </p:sp>
      <p:sp>
        <p:nvSpPr>
          <p:cNvPr id="26630" name="Rectangle 7"/>
          <p:cNvSpPr>
            <a:spLocks noChangeArrowheads="1"/>
          </p:cNvSpPr>
          <p:nvPr/>
        </p:nvSpPr>
        <p:spPr bwMode="auto">
          <a:xfrm>
            <a:off x="2700338" y="4972050"/>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p>
        </p:txBody>
      </p:sp>
      <p:sp>
        <p:nvSpPr>
          <p:cNvPr id="26631" name="Rectangle 8"/>
          <p:cNvSpPr>
            <a:spLocks noChangeArrowheads="1"/>
          </p:cNvSpPr>
          <p:nvPr/>
        </p:nvSpPr>
        <p:spPr bwMode="auto">
          <a:xfrm>
            <a:off x="5254625" y="4887913"/>
            <a:ext cx="1211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1">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p>
        </p:txBody>
      </p:sp>
      <p:sp>
        <p:nvSpPr>
          <p:cNvPr id="26632" name="Rectangle 9"/>
          <p:cNvSpPr>
            <a:spLocks noChangeArrowheads="1"/>
          </p:cNvSpPr>
          <p:nvPr/>
        </p:nvSpPr>
        <p:spPr bwMode="auto">
          <a:xfrm>
            <a:off x="6443663" y="3890963"/>
            <a:ext cx="1211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p>
        </p:txBody>
      </p:sp>
      <p:sp>
        <p:nvSpPr>
          <p:cNvPr id="26633" name="Rectangle 10"/>
          <p:cNvSpPr>
            <a:spLocks noChangeArrowheads="1"/>
          </p:cNvSpPr>
          <p:nvPr/>
        </p:nvSpPr>
        <p:spPr bwMode="auto">
          <a:xfrm>
            <a:off x="6300788" y="2379663"/>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p>
        </p:txBody>
      </p:sp>
      <p:sp>
        <p:nvSpPr>
          <p:cNvPr id="26634" name="Rectangle 11"/>
          <p:cNvSpPr>
            <a:spLocks noChangeArrowheads="1"/>
          </p:cNvSpPr>
          <p:nvPr/>
        </p:nvSpPr>
        <p:spPr bwMode="auto">
          <a:xfrm>
            <a:off x="5219700" y="144303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p>
        </p:txBody>
      </p:sp>
      <p:sp>
        <p:nvSpPr>
          <p:cNvPr id="26635" name="Rectangle 12"/>
          <p:cNvSpPr>
            <a:spLocks noChangeArrowheads="1"/>
          </p:cNvSpPr>
          <p:nvPr/>
        </p:nvSpPr>
        <p:spPr bwMode="auto">
          <a:xfrm>
            <a:off x="3419475" y="1227138"/>
            <a:ext cx="12112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P</a:t>
            </a:r>
            <a:r>
              <a:rPr lang="zh-CN" altLang="en-US" sz="1600" b="1">
                <a:latin typeface="楷体_GB2312" pitchFamily="49" charset="-122"/>
              </a:rPr>
              <a:t>（</a:t>
            </a:r>
            <a:r>
              <a:rPr lang="pt-BR" altLang="en-US" sz="1600" b="1">
                <a:latin typeface="楷体_GB2312" pitchFamily="49" charset="-122"/>
              </a:rPr>
              <a:t>-x</a:t>
            </a:r>
            <a:r>
              <a:rPr lang="zh-CN" altLang="en-US" sz="1600" b="1">
                <a:latin typeface="楷体_GB2312" pitchFamily="49" charset="-122"/>
              </a:rPr>
              <a:t>，</a:t>
            </a:r>
            <a:r>
              <a:rPr lang="pt-BR" altLang="en-US" sz="1600" b="1">
                <a:latin typeface="楷体_GB2312" pitchFamily="49" charset="-122"/>
              </a:rPr>
              <a:t>y</a:t>
            </a:r>
            <a:r>
              <a:rPr lang="zh-CN" altLang="en-US" sz="1600" b="1">
                <a:latin typeface="楷体_GB2312" pitchFamily="49" charset="-122"/>
              </a:rPr>
              <a:t>）</a:t>
            </a:r>
          </a:p>
        </p:txBody>
      </p:sp>
      <p:sp>
        <p:nvSpPr>
          <p:cNvPr id="26636" name="Rectangle 13"/>
          <p:cNvSpPr>
            <a:spLocks noChangeArrowheads="1"/>
          </p:cNvSpPr>
          <p:nvPr/>
        </p:nvSpPr>
        <p:spPr bwMode="auto">
          <a:xfrm>
            <a:off x="6588125" y="1082675"/>
            <a:ext cx="493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1600" b="1">
                <a:latin typeface="楷体_GB2312" pitchFamily="49" charset="-122"/>
              </a:rPr>
              <a:t>x=y</a:t>
            </a:r>
          </a:p>
        </p:txBody>
      </p:sp>
      <p:sp>
        <p:nvSpPr>
          <p:cNvPr id="26637" name="Rectangle 14"/>
          <p:cNvSpPr>
            <a:spLocks noChangeArrowheads="1"/>
          </p:cNvSpPr>
          <p:nvPr/>
        </p:nvSpPr>
        <p:spPr bwMode="auto">
          <a:xfrm>
            <a:off x="4500563" y="301625"/>
            <a:ext cx="752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solidFill>
                  <a:srgbClr val="FF0000"/>
                </a:solidFill>
                <a:latin typeface="华文琥珀" panose="02010800040101010101" pitchFamily="2" charset="-122"/>
                <a:ea typeface="华文琥珀" panose="02010800040101010101" pitchFamily="2" charset="-122"/>
              </a:rPr>
              <a:t>x=0</a:t>
            </a:r>
          </a:p>
        </p:txBody>
      </p:sp>
      <p:sp>
        <p:nvSpPr>
          <p:cNvPr id="26638" name="Rectangle 15"/>
          <p:cNvSpPr>
            <a:spLocks noChangeArrowheads="1"/>
          </p:cNvSpPr>
          <p:nvPr/>
        </p:nvSpPr>
        <p:spPr bwMode="auto">
          <a:xfrm>
            <a:off x="7380288" y="2965450"/>
            <a:ext cx="7556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solidFill>
                  <a:srgbClr val="FF0000"/>
                </a:solidFill>
                <a:latin typeface="华文琥珀" panose="02010800040101010101" pitchFamily="2" charset="-122"/>
                <a:ea typeface="华文琥珀" panose="02010800040101010101" pitchFamily="2" charset="-122"/>
              </a:rPr>
              <a:t>y=0</a:t>
            </a:r>
          </a:p>
        </p:txBody>
      </p:sp>
      <p:sp>
        <p:nvSpPr>
          <p:cNvPr id="29711" name="Rectangle 16"/>
          <p:cNvSpPr>
            <a:spLocks noChangeArrowheads="1"/>
          </p:cNvSpPr>
          <p:nvPr/>
        </p:nvSpPr>
        <p:spPr bwMode="auto">
          <a:xfrm>
            <a:off x="3995738" y="6051550"/>
            <a:ext cx="1860550" cy="457200"/>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a:latin typeface="楷体_GB2312" pitchFamily="49" charset="-122"/>
              </a:rPr>
              <a:t>圆的对称性</a:t>
            </a:r>
            <a:r>
              <a:rPr lang="zh-CN" altLang="en-US">
                <a:effectLst>
                  <a:outerShdw blurRad="38100" dist="38100" dir="2700000" algn="tl">
                    <a:srgbClr val="C0C0C0"/>
                  </a:outerShdw>
                </a:effectLst>
                <a:latin typeface="楷体_GB2312" pitchFamily="49" charset="-122"/>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650" name="Rectangle 4"/>
              <p:cNvSpPr>
                <a:spLocks noChangeArrowheads="1"/>
              </p:cNvSpPr>
              <p:nvPr/>
            </p:nvSpPr>
            <p:spPr bwMode="auto">
              <a:xfrm>
                <a:off x="323850" y="287456"/>
                <a:ext cx="8585200" cy="33239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indent="261938">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50000"/>
                  </a:lnSpc>
                  <a:spcBef>
                    <a:spcPct val="0"/>
                  </a:spcBef>
                  <a:buNone/>
                </a:pPr>
                <a:r>
                  <a:rPr lang="zh-CN" altLang="en-US" sz="2000" dirty="0" smtClean="0">
                    <a:latin typeface="Tahoma" panose="020B0604030504040204" pitchFamily="34" charset="0"/>
                  </a:rPr>
                  <a:t>中点</a:t>
                </a:r>
                <a:r>
                  <a:rPr lang="en-US" altLang="zh-CN" sz="2000" dirty="0" err="1">
                    <a:latin typeface="Tahoma" panose="020B0604030504040204" pitchFamily="34" charset="0"/>
                  </a:rPr>
                  <a:t>Bresenham</a:t>
                </a:r>
                <a:r>
                  <a:rPr lang="zh-CN" altLang="en-US" sz="2000" dirty="0">
                    <a:latin typeface="Tahoma" panose="020B0604030504040204" pitchFamily="34" charset="0"/>
                  </a:rPr>
                  <a:t>算法要</a:t>
                </a:r>
                <a:r>
                  <a:rPr lang="zh-CN" altLang="en-US" sz="2000" dirty="0" smtClean="0">
                    <a:latin typeface="Tahoma" panose="020B0604030504040204" pitchFamily="34" charset="0"/>
                  </a:rPr>
                  <a:t>从 </a:t>
                </a:r>
                <a14:m>
                  <m:oMath xmlns:m="http://schemas.openxmlformats.org/officeDocument/2006/math">
                    <m:d>
                      <m:dPr>
                        <m:ctrlPr>
                          <a:rPr lang="en-US" altLang="zh-CN" sz="2000" b="1"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𝑹</m:t>
                        </m:r>
                      </m:e>
                    </m:d>
                  </m:oMath>
                </a14:m>
                <a:r>
                  <a:rPr lang="zh-CN" altLang="en-US" sz="2000" dirty="0" smtClean="0">
                    <a:latin typeface="Tahoma" panose="020B0604030504040204" pitchFamily="34" charset="0"/>
                  </a:rPr>
                  <a:t> 顺时针</a:t>
                </a:r>
                <a:r>
                  <a:rPr lang="zh-CN" altLang="en-US" sz="2000" dirty="0">
                    <a:latin typeface="Tahoma" panose="020B0604030504040204" pitchFamily="34" charset="0"/>
                  </a:rPr>
                  <a:t>确定最佳逼近于该段圆弧的像素点集。此段圆弧的</a:t>
                </a:r>
                <a:r>
                  <a:rPr lang="zh-CN" altLang="en-US" sz="2000" dirty="0" smtClean="0">
                    <a:latin typeface="Tahoma" panose="020B0604030504040204" pitchFamily="34" charset="0"/>
                  </a:rPr>
                  <a:t>斜率 </a:t>
                </a:r>
                <a14:m>
                  <m:oMath xmlns:m="http://schemas.openxmlformats.org/officeDocument/2006/math">
                    <m:r>
                      <a:rPr lang="en-US" altLang="zh-CN" sz="2000" b="1" i="1" smtClean="0">
                        <a:solidFill>
                          <a:srgbClr val="FF0000"/>
                        </a:solidFill>
                        <a:latin typeface="Cambria Math" panose="02040503050406030204" pitchFamily="18" charset="0"/>
                      </a:rPr>
                      <m:t>𝒌</m:t>
                    </m:r>
                  </m:oMath>
                </a14:m>
                <a:r>
                  <a:rPr lang="zh-CN" altLang="en-US" sz="2000" dirty="0" smtClean="0">
                    <a:latin typeface="Tahoma" panose="020B0604030504040204" pitchFamily="34" charset="0"/>
                  </a:rPr>
                  <a:t> </a:t>
                </a:r>
                <a:r>
                  <a:rPr lang="zh-CN" altLang="en-US" sz="2000" dirty="0">
                    <a:latin typeface="Tahoma" panose="020B0604030504040204" pitchFamily="34" charset="0"/>
                  </a:rPr>
                  <a:t>处处满足</a:t>
                </a:r>
                <a:r>
                  <a:rPr lang="en-US" altLang="zh-CN" sz="2000" dirty="0">
                    <a:latin typeface="Tahoma" panose="020B0604030504040204" pitchFamily="34" charset="0"/>
                  </a:rPr>
                  <a:t>|</a:t>
                </a:r>
                <a14:m>
                  <m:oMath xmlns:m="http://schemas.openxmlformats.org/officeDocument/2006/math">
                    <m:r>
                      <a:rPr lang="en-US" altLang="zh-CN" sz="2000" b="1" i="1">
                        <a:solidFill>
                          <a:srgbClr val="FF0000"/>
                        </a:solidFill>
                        <a:latin typeface="Cambria Math" panose="02040503050406030204" pitchFamily="18" charset="0"/>
                      </a:rPr>
                      <m:t>𝒌</m:t>
                    </m:r>
                  </m:oMath>
                </a14:m>
                <a:r>
                  <a:rPr lang="en-US" altLang="zh-CN" sz="2000" dirty="0">
                    <a:latin typeface="Tahoma" panose="020B0604030504040204" pitchFamily="34" charset="0"/>
                  </a:rPr>
                  <a:t>|</a:t>
                </a:r>
                <a:r>
                  <a:rPr lang="zh-CN" altLang="en-US" sz="2000" dirty="0">
                    <a:latin typeface="Tahoma" panose="020B0604030504040204" pitchFamily="34" charset="0"/>
                  </a:rPr>
                  <a:t>＜</a:t>
                </a:r>
                <a:r>
                  <a:rPr lang="en-US" altLang="zh-CN" sz="2000" dirty="0">
                    <a:latin typeface="Tahoma" panose="020B0604030504040204" pitchFamily="34" charset="0"/>
                  </a:rPr>
                  <a:t>1</a:t>
                </a:r>
                <a:r>
                  <a:rPr lang="zh-CN" altLang="en-US" sz="2000" dirty="0">
                    <a:latin typeface="Tahoma" panose="020B0604030504040204" pitchFamily="34" charset="0"/>
                  </a:rPr>
                  <a:t>，即</a:t>
                </a:r>
                <a:r>
                  <a:rPr lang="en-US" altLang="zh-CN" sz="2000" dirty="0">
                    <a:latin typeface="Tahoma" panose="020B0604030504040204" pitchFamily="34" charset="0"/>
                  </a:rPr>
                  <a:t>|△x|</a:t>
                </a:r>
                <a:r>
                  <a:rPr lang="zh-CN" altLang="en-US" sz="2000" dirty="0">
                    <a:latin typeface="Tahoma" panose="020B0604030504040204" pitchFamily="34" charset="0"/>
                  </a:rPr>
                  <a:t>＞</a:t>
                </a:r>
                <a:r>
                  <a:rPr lang="en-US" altLang="zh-CN" sz="2000" dirty="0">
                    <a:latin typeface="Tahoma" panose="020B0604030504040204" pitchFamily="34" charset="0"/>
                  </a:rPr>
                  <a:t>|△y|</a:t>
                </a:r>
                <a:r>
                  <a:rPr lang="zh-CN" altLang="en-US" sz="2000" dirty="0">
                    <a:latin typeface="Tahoma" panose="020B0604030504040204" pitchFamily="34" charset="0"/>
                  </a:rPr>
                  <a:t>，所以</a:t>
                </a:r>
                <a:r>
                  <a:rPr lang="en-US" altLang="zh-CN" sz="2000" dirty="0">
                    <a:solidFill>
                      <a:srgbClr val="FF0000"/>
                    </a:solidFill>
                    <a:latin typeface="华文琥珀" panose="02010800040101010101" pitchFamily="2" charset="-122"/>
                    <a:ea typeface="华文琥珀" panose="02010800040101010101" pitchFamily="2" charset="-122"/>
                  </a:rPr>
                  <a:t>x</a:t>
                </a:r>
                <a:r>
                  <a:rPr lang="zh-CN" altLang="en-US" sz="2000" b="1" dirty="0">
                    <a:solidFill>
                      <a:srgbClr val="FF0000"/>
                    </a:solidFill>
                    <a:latin typeface="方正粗黑宋简体" panose="02000000000000000000" pitchFamily="2" charset="-122"/>
                    <a:ea typeface="方正粗黑宋简体" panose="02000000000000000000" pitchFamily="2" charset="-122"/>
                  </a:rPr>
                  <a:t>方向为主位移方向</a:t>
                </a:r>
                <a:r>
                  <a:rPr lang="zh-CN" altLang="en-US" sz="2000" dirty="0">
                    <a:latin typeface="Tahoma" panose="020B0604030504040204" pitchFamily="34" charset="0"/>
                  </a:rPr>
                  <a:t>，因此中点</a:t>
                </a:r>
                <a:r>
                  <a:rPr lang="en-US" altLang="zh-CN" sz="2000" dirty="0" err="1">
                    <a:latin typeface="Tahoma" panose="020B0604030504040204" pitchFamily="34" charset="0"/>
                  </a:rPr>
                  <a:t>Bresenham</a:t>
                </a:r>
                <a:r>
                  <a:rPr lang="zh-CN" altLang="en-US" sz="2000" dirty="0">
                    <a:latin typeface="Tahoma" panose="020B0604030504040204" pitchFamily="34" charset="0"/>
                  </a:rPr>
                  <a:t>算法的原理简化如下：</a:t>
                </a:r>
                <a:r>
                  <a:rPr lang="en-US" altLang="zh-CN" sz="2000" dirty="0">
                    <a:latin typeface="Tahoma" panose="020B0604030504040204" pitchFamily="34" charset="0"/>
                  </a:rPr>
                  <a:t>x</a:t>
                </a:r>
                <a:r>
                  <a:rPr lang="zh-CN" altLang="en-US" sz="2000" dirty="0">
                    <a:latin typeface="Tahoma" panose="020B0604030504040204" pitchFamily="34" charset="0"/>
                  </a:rPr>
                  <a:t>方向上每次加</a:t>
                </a:r>
                <a:r>
                  <a:rPr lang="en-US" altLang="zh-CN" sz="2000" dirty="0">
                    <a:latin typeface="Tahoma" panose="020B0604030504040204" pitchFamily="34" charset="0"/>
                  </a:rPr>
                  <a:t>1</a:t>
                </a:r>
                <a:r>
                  <a:rPr lang="zh-CN" altLang="en-US" sz="2000" dirty="0">
                    <a:latin typeface="Tahoma" panose="020B0604030504040204" pitchFamily="34" charset="0"/>
                  </a:rPr>
                  <a:t>，</a:t>
                </a:r>
                <a:r>
                  <a:rPr lang="en-US" altLang="zh-CN" sz="2000" dirty="0">
                    <a:latin typeface="Tahoma" panose="020B0604030504040204" pitchFamily="34" charset="0"/>
                  </a:rPr>
                  <a:t>y</a:t>
                </a:r>
                <a:r>
                  <a:rPr lang="zh-CN" altLang="en-US" sz="2000" dirty="0">
                    <a:latin typeface="Tahoma" panose="020B0604030504040204" pitchFamily="34" charset="0"/>
                  </a:rPr>
                  <a:t>方向上减不减</a:t>
                </a:r>
                <a:r>
                  <a:rPr lang="en-US" altLang="zh-CN" sz="2000" dirty="0">
                    <a:latin typeface="Tahoma" panose="020B0604030504040204" pitchFamily="34" charset="0"/>
                  </a:rPr>
                  <a:t>1</a:t>
                </a:r>
                <a:r>
                  <a:rPr lang="zh-CN" altLang="en-US" sz="2000" dirty="0">
                    <a:latin typeface="Tahoma" panose="020B0604030504040204" pitchFamily="34" charset="0"/>
                  </a:rPr>
                  <a:t>取决于中点误差项的值。</a:t>
                </a:r>
              </a:p>
              <a:p>
                <a:pPr algn="just" eaLnBrk="1" hangingPunct="1">
                  <a:lnSpc>
                    <a:spcPct val="150000"/>
                  </a:lnSpc>
                  <a:spcBef>
                    <a:spcPct val="0"/>
                  </a:spcBef>
                  <a:buNone/>
                </a:pPr>
                <a:r>
                  <a:rPr lang="zh-CN" altLang="en-US" sz="2000" dirty="0" smtClean="0">
                    <a:latin typeface="Tahoma" panose="020B0604030504040204" pitchFamily="34" charset="0"/>
                  </a:rPr>
                  <a:t>假定</a:t>
                </a:r>
                <a:r>
                  <a:rPr lang="zh-CN" altLang="en-US" sz="2000" dirty="0">
                    <a:latin typeface="Tahoma" panose="020B0604030504040204" pitchFamily="34" charset="0"/>
                  </a:rPr>
                  <a:t>圆上当前点</a:t>
                </a:r>
                <a:r>
                  <a:rPr lang="zh-CN" altLang="en-US" sz="2000" dirty="0" smtClean="0">
                    <a:latin typeface="Tahoma" panose="020B0604030504040204" pitchFamily="34" charset="0"/>
                  </a:rPr>
                  <a:t>是 </a:t>
                </a:r>
                <a14:m>
                  <m:oMath xmlns:m="http://schemas.openxmlformats.org/officeDocument/2006/math">
                    <m:r>
                      <a:rPr lang="en-US" altLang="zh-CN" sz="2000" b="1" i="1" smtClean="0">
                        <a:solidFill>
                          <a:srgbClr val="FF0000"/>
                        </a:solidFill>
                        <a:latin typeface="Cambria Math" panose="02040503050406030204" pitchFamily="18" charset="0"/>
                      </a:rPr>
                      <m:t>𝑷</m:t>
                    </m:r>
                    <m:d>
                      <m:dPr>
                        <m:ctrlPr>
                          <a:rPr lang="en-US" altLang="zh-CN" sz="2000" b="1" i="1" smtClean="0">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a:t>
                </a:r>
                <a:r>
                  <a:rPr lang="zh-CN" altLang="en-US" sz="2000" dirty="0">
                    <a:latin typeface="Tahoma" panose="020B0604030504040204" pitchFamily="34" charset="0"/>
                  </a:rPr>
                  <a:t>下一像素只能在</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𝒖</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和</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𝒅</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a14:m>
                <a:r>
                  <a:rPr lang="en-US" altLang="zh-CN" sz="2000" dirty="0" smtClean="0">
                    <a:latin typeface="Tahoma" panose="020B0604030504040204" pitchFamily="34" charset="0"/>
                  </a:rPr>
                  <a:t> </a:t>
                </a:r>
                <a:r>
                  <a:rPr lang="zh-CN" altLang="en-US" sz="2000" dirty="0" smtClean="0">
                    <a:latin typeface="Tahoma" panose="020B0604030504040204" pitchFamily="34" charset="0"/>
                  </a:rPr>
                  <a:t>中</a:t>
                </a:r>
                <a:r>
                  <a:rPr lang="zh-CN" altLang="en-US" sz="2000" dirty="0">
                    <a:latin typeface="Tahoma" panose="020B0604030504040204" pitchFamily="34" charset="0"/>
                  </a:rPr>
                  <a:t>选取。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smtClean="0">
                    <a:solidFill>
                      <a:srgbClr val="FF0000"/>
                    </a:solidFill>
                    <a:latin typeface="华文琥珀" panose="02010800040101010101" pitchFamily="2" charset="-122"/>
                    <a:ea typeface="华文琥珀" panose="02010800040101010101" pitchFamily="2" charset="-122"/>
                  </a:rPr>
                  <a:t> 和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smtClean="0">
                    <a:solidFill>
                      <a:srgbClr val="FF0000"/>
                    </a:solidFill>
                    <a:latin typeface="华文琥珀" panose="02010800040101010101" pitchFamily="2" charset="-122"/>
                    <a:ea typeface="华文琥珀" panose="02010800040101010101" pitchFamily="2" charset="-122"/>
                  </a:rPr>
                  <a:t> 的</a:t>
                </a:r>
                <a:r>
                  <a:rPr lang="zh-CN" altLang="en-US" sz="2000" dirty="0">
                    <a:solidFill>
                      <a:srgbClr val="FF0000"/>
                    </a:solidFill>
                    <a:latin typeface="华文琥珀" panose="02010800040101010101" pitchFamily="2" charset="-122"/>
                    <a:ea typeface="华文琥珀" panose="02010800040101010101" pitchFamily="2" charset="-122"/>
                  </a:rPr>
                  <a:t>中点</a:t>
                </a:r>
                <a:r>
                  <a:rPr lang="zh-CN" altLang="en-US" sz="2000" dirty="0" smtClean="0">
                    <a:solidFill>
                      <a:srgbClr val="FF0000"/>
                    </a:solidFill>
                    <a:latin typeface="华文琥珀" panose="02010800040101010101" pitchFamily="2" charset="-122"/>
                    <a:ea typeface="华文琥珀" panose="02010800040101010101" pitchFamily="2" charset="-122"/>
                  </a:rPr>
                  <a:t>为 </a:t>
                </a:r>
                <a14:m>
                  <m:oMath xmlns:m="http://schemas.openxmlformats.org/officeDocument/2006/math">
                    <m:r>
                      <a:rPr lang="en-US" altLang="zh-CN" sz="2000" b="1" i="1" smtClean="0">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𝟓</m:t>
                        </m:r>
                      </m:e>
                    </m:d>
                  </m:oMath>
                </a14:m>
                <a:r>
                  <a:rPr lang="en-US" altLang="zh-CN" sz="2000" dirty="0" smtClean="0">
                    <a:solidFill>
                      <a:srgbClr val="FF0000"/>
                    </a:solidFill>
                    <a:latin typeface="华文琥珀" panose="02010800040101010101" pitchFamily="2" charset="-122"/>
                    <a:ea typeface="华文琥珀" panose="02010800040101010101" pitchFamily="2" charset="-122"/>
                  </a:rPr>
                  <a:t>.</a:t>
                </a:r>
                <a:r>
                  <a:rPr lang="zh-CN" altLang="en-US" sz="2000" dirty="0" smtClean="0">
                    <a:solidFill>
                      <a:srgbClr val="FF0000"/>
                    </a:solidFill>
                    <a:latin typeface="华文琥珀" panose="02010800040101010101" pitchFamily="2" charset="-122"/>
                    <a:ea typeface="华文琥珀" panose="02010800040101010101" pitchFamily="2" charset="-122"/>
                  </a:rPr>
                  <a:t>显然</a:t>
                </a:r>
                <a:r>
                  <a:rPr lang="zh-CN" altLang="en-US" sz="2000" dirty="0">
                    <a:solidFill>
                      <a:srgbClr val="FF0000"/>
                    </a:solidFill>
                    <a:latin typeface="华文琥珀" panose="02010800040101010101" pitchFamily="2" charset="-122"/>
                    <a:ea typeface="华文琥珀" panose="02010800040101010101" pitchFamily="2" charset="-122"/>
                  </a:rPr>
                  <a:t>，若</a:t>
                </a:r>
                <a:r>
                  <a:rPr lang="pt-BR" altLang="en-US" sz="2000" dirty="0">
                    <a:solidFill>
                      <a:srgbClr val="FF0000"/>
                    </a:solidFill>
                    <a:latin typeface="华文琥珀" panose="02010800040101010101" pitchFamily="2" charset="-122"/>
                    <a:ea typeface="华文琥珀" panose="02010800040101010101" pitchFamily="2" charset="-122"/>
                  </a:rPr>
                  <a:t>M</a:t>
                </a:r>
                <a:r>
                  <a:rPr lang="zh-CN" altLang="en-US" sz="2000" dirty="0">
                    <a:solidFill>
                      <a:srgbClr val="FF0000"/>
                    </a:solidFill>
                    <a:latin typeface="华文琥珀" panose="02010800040101010101" pitchFamily="2" charset="-122"/>
                    <a:ea typeface="华文琥珀" panose="02010800040101010101" pitchFamily="2" charset="-122"/>
                  </a:rPr>
                  <a:t>点在理想圆弧的下方，</a:t>
                </a:r>
                <a:r>
                  <a:rPr lang="zh-CN" altLang="en-US" sz="2000" dirty="0" smtClean="0">
                    <a:solidFill>
                      <a:srgbClr val="FF0000"/>
                    </a:solidFill>
                    <a:latin typeface="华文琥珀" panose="02010800040101010101" pitchFamily="2" charset="-122"/>
                    <a:ea typeface="华文琥珀" panose="02010800040101010101" pitchFamily="2" charset="-122"/>
                  </a:rPr>
                  <a:t>则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smtClean="0">
                    <a:solidFill>
                      <a:srgbClr val="FF0000"/>
                    </a:solidFill>
                    <a:latin typeface="华文琥珀" panose="02010800040101010101" pitchFamily="2" charset="-122"/>
                    <a:ea typeface="华文琥珀" panose="02010800040101010101" pitchFamily="2" charset="-122"/>
                  </a:rPr>
                  <a:t> 点</a:t>
                </a:r>
                <a:r>
                  <a:rPr lang="zh-CN" altLang="en-US" sz="2000" dirty="0">
                    <a:solidFill>
                      <a:srgbClr val="FF0000"/>
                    </a:solidFill>
                    <a:latin typeface="华文琥珀" panose="02010800040101010101" pitchFamily="2" charset="-122"/>
                    <a:ea typeface="华文琥珀" panose="02010800040101010101" pitchFamily="2" charset="-122"/>
                  </a:rPr>
                  <a:t>离圆弧近，</a:t>
                </a:r>
                <a:r>
                  <a:rPr lang="zh-CN" altLang="en-US" sz="2000" dirty="0" smtClean="0">
                    <a:solidFill>
                      <a:srgbClr val="FF0000"/>
                    </a:solidFill>
                    <a:latin typeface="华文琥珀" panose="02010800040101010101" pitchFamily="2" charset="-122"/>
                    <a:ea typeface="华文琥珀" panose="02010800040101010101" pitchFamily="2" charset="-122"/>
                  </a:rPr>
                  <a:t>选取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a:solidFill>
                      <a:srgbClr val="FF0000"/>
                    </a:solidFill>
                    <a:latin typeface="华文琥珀" panose="02010800040101010101" pitchFamily="2" charset="-122"/>
                    <a:ea typeface="华文琥珀" panose="02010800040101010101" pitchFamily="2" charset="-122"/>
                  </a:rPr>
                  <a:t>；否则应选取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solidFill>
                      <a:srgbClr val="FF0000"/>
                    </a:solidFill>
                    <a:latin typeface="华文琥珀" panose="02010800040101010101" pitchFamily="2" charset="-122"/>
                    <a:ea typeface="华文琥珀" panose="02010800040101010101" pitchFamily="2" charset="-122"/>
                  </a:rPr>
                  <a:t>。</a:t>
                </a:r>
              </a:p>
            </p:txBody>
          </p:sp>
        </mc:Choice>
        <mc:Fallback>
          <p:sp>
            <p:nvSpPr>
              <p:cNvPr id="27650" name="Rectangle 4"/>
              <p:cNvSpPr>
                <a:spLocks noRot="1" noChangeAspect="1" noMove="1" noResize="1" noEditPoints="1" noAdjustHandles="1" noChangeArrowheads="1" noChangeShapeType="1" noTextEdit="1"/>
              </p:cNvSpPr>
              <p:nvPr/>
            </p:nvSpPr>
            <p:spPr bwMode="auto">
              <a:xfrm>
                <a:off x="323850" y="287456"/>
                <a:ext cx="8585200" cy="3323987"/>
              </a:xfrm>
              <a:prstGeom prst="rect">
                <a:avLst/>
              </a:prstGeom>
              <a:blipFill>
                <a:blip r:embed="rId3"/>
                <a:stretch>
                  <a:fillRect l="-710" r="-1776" b="-75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27651" name="Object 5"/>
          <p:cNvGraphicFramePr>
            <a:graphicFrameLocks noChangeAspect="1"/>
          </p:cNvGraphicFramePr>
          <p:nvPr/>
        </p:nvGraphicFramePr>
        <p:xfrm>
          <a:off x="1417638" y="3933825"/>
          <a:ext cx="2589212" cy="2146300"/>
        </p:xfrm>
        <a:graphic>
          <a:graphicData uri="http://schemas.openxmlformats.org/presentationml/2006/ole">
            <mc:AlternateContent xmlns:mc="http://schemas.openxmlformats.org/markup-compatibility/2006">
              <mc:Choice xmlns:v="urn:schemas-microsoft-com:vml" Requires="v">
                <p:oleObj spid="_x0000_s27775" r:id="rId4" imgW="3249000" imgH="2692800" progId="Visio.Drawing.11">
                  <p:embed/>
                </p:oleObj>
              </mc:Choice>
              <mc:Fallback>
                <p:oleObj r:id="rId4" imgW="3249000" imgH="2692800"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7638" y="3933825"/>
                        <a:ext cx="2589212"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52" name="Object 6"/>
          <p:cNvGraphicFramePr>
            <a:graphicFrameLocks noChangeAspect="1"/>
          </p:cNvGraphicFramePr>
          <p:nvPr/>
        </p:nvGraphicFramePr>
        <p:xfrm>
          <a:off x="3938588" y="3933825"/>
          <a:ext cx="2605087" cy="2328863"/>
        </p:xfrm>
        <a:graphic>
          <a:graphicData uri="http://schemas.openxmlformats.org/presentationml/2006/ole">
            <mc:AlternateContent xmlns:mc="http://schemas.openxmlformats.org/markup-compatibility/2006">
              <mc:Choice xmlns:v="urn:schemas-microsoft-com:vml" Requires="v">
                <p:oleObj spid="_x0000_s27776" r:id="rId6" imgW="3269160" imgH="2922120" progId="Visio.Drawing.11">
                  <p:embed/>
                </p:oleObj>
              </mc:Choice>
              <mc:Fallback>
                <p:oleObj r:id="rId6" imgW="3269160" imgH="2922120" progId="Visio.Drawing.11">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8588" y="3933825"/>
                        <a:ext cx="2605087" cy="232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53" name="Object 7"/>
          <p:cNvGraphicFramePr>
            <a:graphicFrameLocks noChangeAspect="1"/>
          </p:cNvGraphicFramePr>
          <p:nvPr/>
        </p:nvGraphicFramePr>
        <p:xfrm>
          <a:off x="6386513" y="4078288"/>
          <a:ext cx="2506662" cy="1931987"/>
        </p:xfrm>
        <a:graphic>
          <a:graphicData uri="http://schemas.openxmlformats.org/presentationml/2006/ole">
            <mc:AlternateContent xmlns:mc="http://schemas.openxmlformats.org/markup-compatibility/2006">
              <mc:Choice xmlns:v="urn:schemas-microsoft-com:vml" Requires="v">
                <p:oleObj spid="_x0000_s27777" r:id="rId8" imgW="3144960" imgH="2425320" progId="Visio.Drawing.11">
                  <p:embed/>
                </p:oleObj>
              </mc:Choice>
              <mc:Fallback>
                <p:oleObj r:id="rId8" imgW="3144960" imgH="2425320" progId="Visio.Drawing.11">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86513" y="4078288"/>
                        <a:ext cx="2506662"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54" name="Rectangle 8"/>
          <p:cNvSpPr>
            <a:spLocks noChangeArrowheads="1"/>
          </p:cNvSpPr>
          <p:nvPr/>
        </p:nvSpPr>
        <p:spPr bwMode="auto">
          <a:xfrm>
            <a:off x="3419475" y="6237288"/>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楷体_GB2312" pitchFamily="49" charset="-122"/>
              </a:rPr>
              <a:t>圆中点</a:t>
            </a:r>
            <a:r>
              <a:rPr lang="en-US" altLang="zh-CN" sz="2400">
                <a:latin typeface="楷体_GB2312" pitchFamily="49" charset="-122"/>
              </a:rPr>
              <a:t>Bresenham</a:t>
            </a:r>
            <a:r>
              <a:rPr lang="zh-CN" altLang="en-US" sz="2400">
                <a:latin typeface="楷体_GB2312" pitchFamily="49" charset="-122"/>
              </a:rPr>
              <a:t>算法原理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3"/>
          <p:cNvSpPr>
            <a:spLocks noGrp="1" noChangeArrowheads="1"/>
          </p:cNvSpPr>
          <p:nvPr>
            <p:ph type="title" idx="4294967295"/>
          </p:nvPr>
        </p:nvSpPr>
        <p:spPr>
          <a:xfrm>
            <a:off x="0" y="188913"/>
            <a:ext cx="5410200" cy="579437"/>
          </a:xfrm>
          <a:ln>
            <a:miter lim="800000"/>
          </a:ln>
        </p:spPr>
        <p:txBody>
          <a:bodyPr rtlCol="0">
            <a:spAutoFit/>
          </a:bodyPr>
          <a:lstStyle/>
          <a:p>
            <a:pPr eaLnBrk="1" fontAlgn="auto" hangingPunct="1">
              <a:spcAft>
                <a:spcPts val="0"/>
              </a:spcAft>
              <a:defRPr/>
            </a:pPr>
            <a:r>
              <a:rPr lang="en-US" sz="3200" smtClean="0">
                <a:effectLst>
                  <a:outerShdw blurRad="38100" dist="38100" dir="2700000" algn="tl">
                    <a:srgbClr val="C0C0C0"/>
                  </a:outerShdw>
                </a:effectLst>
                <a:latin typeface="楷体_GB2312" pitchFamily="49" charset="-122"/>
                <a:ea typeface="楷体_GB2312" pitchFamily="49" charset="-122"/>
              </a:rPr>
              <a:t>3.2.2 </a:t>
            </a:r>
            <a:r>
              <a:rPr lang="zh-CN" altLang="en-US" sz="3200" smtClean="0">
                <a:effectLst>
                  <a:outerShdw blurRad="38100" dist="38100" dir="2700000" algn="tl">
                    <a:srgbClr val="C0C0C0"/>
                  </a:outerShdw>
                </a:effectLst>
                <a:latin typeface="楷体_GB2312" pitchFamily="49" charset="-122"/>
                <a:ea typeface="楷体_GB2312" pitchFamily="49" charset="-122"/>
              </a:rPr>
              <a:t>构造中点误差项</a:t>
            </a:r>
            <a:endParaRPr lang="en-US" sz="3200" smtClean="0">
              <a:effectLst>
                <a:outerShdw blurRad="38100" dist="38100" dir="2700000" algn="tl">
                  <a:srgbClr val="C0C0C0"/>
                </a:outerShdw>
              </a:effectLst>
              <a:latin typeface="楷体_GB2312" pitchFamily="49" charset="-122"/>
              <a:ea typeface="楷体_GB2312" pitchFamily="49" charset="-122"/>
            </a:endParaRPr>
          </a:p>
        </p:txBody>
      </p:sp>
      <p:graphicFrame>
        <p:nvGraphicFramePr>
          <p:cNvPr id="28675" name="Object 11"/>
          <p:cNvGraphicFramePr>
            <a:graphicFrameLocks noGrp="1" noChangeAspect="1"/>
          </p:cNvGraphicFramePr>
          <p:nvPr>
            <p:ph idx="4294967295"/>
            <p:extLst>
              <p:ext uri="{D42A27DB-BD31-4B8C-83A1-F6EECF244321}">
                <p14:modId xmlns:p14="http://schemas.microsoft.com/office/powerpoint/2010/main" val="3056795085"/>
              </p:ext>
            </p:extLst>
          </p:nvPr>
        </p:nvGraphicFramePr>
        <p:xfrm>
          <a:off x="3338513" y="2724150"/>
          <a:ext cx="3760787" cy="441325"/>
        </p:xfrm>
        <a:graphic>
          <a:graphicData uri="http://schemas.openxmlformats.org/presentationml/2006/ole">
            <mc:AlternateContent xmlns:mc="http://schemas.openxmlformats.org/markup-compatibility/2006">
              <mc:Choice xmlns:v="urn:schemas-microsoft-com:vml" Requires="v">
                <p:oleObj spid="_x0000_s28813" name="公式" r:id="rId3" imgW="2057400" imgH="241200" progId="Equation.3">
                  <p:embed/>
                </p:oleObj>
              </mc:Choice>
              <mc:Fallback>
                <p:oleObj name="公式" r:id="rId3" imgW="2057400" imgH="241200" progId="Equation.3">
                  <p:embed/>
                  <p:pic>
                    <p:nvPicPr>
                      <p:cNvPr id="0" name="Object 11"/>
                      <p:cNvPicPr>
                        <a:picLocks noGrp="1" noChangeAspect="1" noChangeArrowheads="1"/>
                      </p:cNvPicPr>
                      <p:nvPr/>
                    </p:nvPicPr>
                    <p:blipFill>
                      <a:blip r:embed="rId4"/>
                      <a:srcRect/>
                      <a:stretch>
                        <a:fillRect/>
                      </a:stretch>
                    </p:blipFill>
                    <p:spPr bwMode="auto">
                      <a:xfrm>
                        <a:off x="3338513" y="2724150"/>
                        <a:ext cx="37607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8676" name="Rectangle 4"/>
              <p:cNvSpPr>
                <a:spLocks noChangeArrowheads="1"/>
              </p:cNvSpPr>
              <p:nvPr/>
            </p:nvSpPr>
            <p:spPr bwMode="auto">
              <a:xfrm>
                <a:off x="179512" y="940973"/>
                <a:ext cx="8756526" cy="9787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None/>
                </a:pPr>
                <a:r>
                  <a:rPr lang="zh-CN" altLang="en-US" sz="2400" dirty="0" smtClean="0">
                    <a:latin typeface="楷体_GB2312" pitchFamily="49" charset="-122"/>
                  </a:rPr>
                  <a:t>从 </a:t>
                </a:r>
                <a14:m>
                  <m:oMath xmlns:m="http://schemas.openxmlformats.org/officeDocument/2006/math">
                    <m:r>
                      <a:rPr lang="en-US" altLang="zh-CN" sz="2400" b="1" i="1">
                        <a:solidFill>
                          <a:srgbClr val="FF0000"/>
                        </a:solidFill>
                        <a:latin typeface="Cambria Math" panose="02040503050406030204" pitchFamily="18" charset="0"/>
                      </a:rPr>
                      <m:t>𝑷</m:t>
                    </m:r>
                    <m:d>
                      <m:dPr>
                        <m:ctrlPr>
                          <a:rPr lang="en-US" altLang="zh-CN" sz="2400" b="1" i="1">
                            <a:solidFill>
                              <a:srgbClr val="FF0000"/>
                            </a:solidFill>
                            <a:latin typeface="Cambria Math" panose="02040503050406030204" pitchFamily="18" charset="0"/>
                          </a:rPr>
                        </m:ctrlPr>
                      </m:dPr>
                      <m:e>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𝒙</m:t>
                            </m:r>
                          </m:e>
                          <m:sub>
                            <m:r>
                              <a:rPr lang="en-US" altLang="zh-CN" sz="2400" b="1" i="1">
                                <a:solidFill>
                                  <a:srgbClr val="FF0000"/>
                                </a:solidFill>
                                <a:latin typeface="Cambria Math" panose="02040503050406030204" pitchFamily="18" charset="0"/>
                              </a:rPr>
                              <m:t>𝒊</m:t>
                            </m:r>
                          </m:sub>
                        </m:sSub>
                        <m:r>
                          <a:rPr lang="en-US" altLang="zh-CN" sz="2400" b="1" i="1">
                            <a:solidFill>
                              <a:srgbClr val="FF0000"/>
                            </a:solidFill>
                            <a:latin typeface="Cambria Math" panose="02040503050406030204" pitchFamily="18" charset="0"/>
                          </a:rPr>
                          <m:t>,</m:t>
                        </m:r>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𝒚</m:t>
                            </m:r>
                          </m:e>
                          <m:sub>
                            <m:r>
                              <a:rPr lang="en-US" altLang="zh-CN" sz="2400" b="1" i="1">
                                <a:solidFill>
                                  <a:srgbClr val="FF0000"/>
                                </a:solidFill>
                                <a:latin typeface="Cambria Math" panose="02040503050406030204" pitchFamily="18" charset="0"/>
                              </a:rPr>
                              <m:t>𝒊</m:t>
                            </m:r>
                          </m:sub>
                        </m:sSub>
                      </m:e>
                    </m:d>
                  </m:oMath>
                </a14:m>
                <a:r>
                  <a:rPr lang="en-US" altLang="en-US" sz="2400" dirty="0" smtClean="0">
                    <a:latin typeface="楷体_GB2312" pitchFamily="49" charset="-122"/>
                  </a:rPr>
                  <a:t> </a:t>
                </a:r>
                <a:r>
                  <a:rPr lang="zh-CN" altLang="en-US" sz="2400" dirty="0" smtClean="0">
                    <a:latin typeface="楷体_GB2312" pitchFamily="49" charset="-122"/>
                  </a:rPr>
                  <a:t>开始</a:t>
                </a:r>
                <a:r>
                  <a:rPr lang="zh-CN" altLang="en-US" sz="2400" dirty="0">
                    <a:latin typeface="楷体_GB2312" pitchFamily="49" charset="-122"/>
                  </a:rPr>
                  <a:t>，为了进行下一像素点的选取，需</a:t>
                </a:r>
                <a:r>
                  <a:rPr lang="zh-CN" altLang="en-US" sz="2400" dirty="0" smtClean="0">
                    <a:latin typeface="楷体_GB2312" pitchFamily="49" charset="-122"/>
                  </a:rPr>
                  <a:t>将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a:solidFill>
                              <a:srgbClr val="FF0000"/>
                            </a:solidFill>
                            <a:latin typeface="Cambria Math" panose="02040503050406030204" pitchFamily="18" charset="0"/>
                          </a:rPr>
                          <m:t>𝒖</m:t>
                        </m:r>
                      </m:sub>
                    </m:sSub>
                  </m:oMath>
                </a14:m>
                <a:r>
                  <a:rPr lang="zh-CN" altLang="en-US" sz="2400" dirty="0" smtClean="0">
                    <a:latin typeface="楷体_GB2312" pitchFamily="49" charset="-122"/>
                  </a:rPr>
                  <a:t>和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𝑷</m:t>
                        </m:r>
                      </m:e>
                      <m:sub>
                        <m:r>
                          <a:rPr lang="en-US" altLang="zh-CN" sz="2400" b="1" i="1" smtClean="0">
                            <a:solidFill>
                              <a:srgbClr val="FF0000"/>
                            </a:solidFill>
                            <a:latin typeface="Cambria Math" panose="02040503050406030204" pitchFamily="18" charset="0"/>
                          </a:rPr>
                          <m:t>𝒅</m:t>
                        </m:r>
                      </m:sub>
                    </m:sSub>
                    <m:r>
                      <a:rPr lang="en-US" altLang="zh-CN" sz="2400" b="1" i="1" smtClean="0">
                        <a:solidFill>
                          <a:srgbClr val="FF0000"/>
                        </a:solidFill>
                        <a:latin typeface="Cambria Math" panose="02040503050406030204" pitchFamily="18" charset="0"/>
                      </a:rPr>
                      <m:t> </m:t>
                    </m:r>
                  </m:oMath>
                </a14:m>
                <a:r>
                  <a:rPr lang="zh-CN" altLang="en-US" sz="2400" dirty="0" smtClean="0">
                    <a:latin typeface="楷体_GB2312" pitchFamily="49" charset="-122"/>
                  </a:rPr>
                  <a:t>的</a:t>
                </a:r>
                <a:r>
                  <a:rPr lang="zh-CN" altLang="en-US" sz="2400" dirty="0">
                    <a:latin typeface="楷体_GB2312" pitchFamily="49" charset="-122"/>
                  </a:rPr>
                  <a:t>中点</a:t>
                </a:r>
                <a:r>
                  <a:rPr lang="zh-CN" altLang="en-US" sz="2400" dirty="0" smtClean="0">
                    <a:latin typeface="楷体_GB2312" pitchFamily="49" charset="-122"/>
                  </a:rPr>
                  <a:t> </a:t>
                </a:r>
                <a14:m>
                  <m:oMath xmlns:m="http://schemas.openxmlformats.org/officeDocument/2006/math">
                    <m:r>
                      <a:rPr lang="en-US" altLang="zh-CN" sz="2400" b="1" i="1">
                        <a:solidFill>
                          <a:srgbClr val="FF0000"/>
                        </a:solidFill>
                        <a:latin typeface="Cambria Math" panose="02040503050406030204" pitchFamily="18" charset="0"/>
                      </a:rPr>
                      <m:t>𝑴</m:t>
                    </m:r>
                    <m:d>
                      <m:dPr>
                        <m:ctrlPr>
                          <a:rPr lang="en-US" altLang="zh-CN" sz="2400" b="1" i="1">
                            <a:solidFill>
                              <a:srgbClr val="FF0000"/>
                            </a:solidFill>
                            <a:latin typeface="Cambria Math" panose="02040503050406030204" pitchFamily="18" charset="0"/>
                          </a:rPr>
                        </m:ctrlPr>
                      </m:dPr>
                      <m:e>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𝒙</m:t>
                            </m:r>
                          </m:e>
                          <m:sub>
                            <m:r>
                              <a:rPr lang="en-US" altLang="zh-CN" sz="2400" b="1" i="1">
                                <a:solidFill>
                                  <a:srgbClr val="FF0000"/>
                                </a:solidFill>
                                <a:latin typeface="Cambria Math" panose="02040503050406030204" pitchFamily="18" charset="0"/>
                              </a:rPr>
                              <m:t>𝒊</m:t>
                            </m:r>
                          </m:sub>
                        </m:sSub>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𝟏</m:t>
                        </m:r>
                        <m:r>
                          <a:rPr lang="en-US" altLang="zh-CN" sz="2400" b="1" i="1">
                            <a:solidFill>
                              <a:srgbClr val="FF0000"/>
                            </a:solidFill>
                            <a:latin typeface="Cambria Math" panose="02040503050406030204" pitchFamily="18" charset="0"/>
                          </a:rPr>
                          <m:t>,</m:t>
                        </m:r>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𝒚</m:t>
                            </m:r>
                          </m:e>
                          <m:sub>
                            <m:r>
                              <a:rPr lang="en-US" altLang="zh-CN" sz="2400" b="1" i="1">
                                <a:solidFill>
                                  <a:srgbClr val="FF0000"/>
                                </a:solidFill>
                                <a:latin typeface="Cambria Math" panose="02040503050406030204" pitchFamily="18" charset="0"/>
                              </a:rPr>
                              <m:t>𝒊</m:t>
                            </m:r>
                          </m:sub>
                        </m:sSub>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𝟎</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𝟓</m:t>
                        </m:r>
                      </m:e>
                    </m:d>
                  </m:oMath>
                </a14:m>
                <a:r>
                  <a:rPr lang="zh-CN" altLang="en-US" sz="2400" dirty="0" smtClean="0">
                    <a:latin typeface="楷体_GB2312" pitchFamily="49" charset="-122"/>
                  </a:rPr>
                  <a:t> 代入</a:t>
                </a:r>
                <a:r>
                  <a:rPr lang="zh-CN" altLang="en-US" sz="2400" dirty="0">
                    <a:latin typeface="楷体_GB2312" pitchFamily="49" charset="-122"/>
                  </a:rPr>
                  <a:t>隐函数，构造中点误差项：</a:t>
                </a:r>
              </a:p>
            </p:txBody>
          </p:sp>
        </mc:Choice>
        <mc:Fallback xmlns="">
          <p:sp>
            <p:nvSpPr>
              <p:cNvPr id="28676" name="Rectangle 4"/>
              <p:cNvSpPr>
                <a:spLocks noRot="1" noChangeAspect="1" noMove="1" noResize="1" noEditPoints="1" noAdjustHandles="1" noChangeArrowheads="1" noChangeShapeType="1" noTextEdit="1"/>
              </p:cNvSpPr>
              <p:nvPr/>
            </p:nvSpPr>
            <p:spPr bwMode="auto">
              <a:xfrm>
                <a:off x="179512" y="940973"/>
                <a:ext cx="8756526" cy="978729"/>
              </a:xfrm>
              <a:prstGeom prst="rect">
                <a:avLst/>
              </a:prstGeom>
              <a:blipFill>
                <a:blip r:embed="rId5"/>
                <a:stretch>
                  <a:fillRect l="-1044" t="-3106" r="-209" b="-74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28677" name="Object 4"/>
          <p:cNvGraphicFramePr>
            <a:graphicFrameLocks noChangeAspect="1"/>
          </p:cNvGraphicFramePr>
          <p:nvPr>
            <p:extLst>
              <p:ext uri="{D42A27DB-BD31-4B8C-83A1-F6EECF244321}">
                <p14:modId xmlns:p14="http://schemas.microsoft.com/office/powerpoint/2010/main" val="2112172540"/>
              </p:ext>
            </p:extLst>
          </p:nvPr>
        </p:nvGraphicFramePr>
        <p:xfrm>
          <a:off x="1509713" y="2132013"/>
          <a:ext cx="4368800" cy="463550"/>
        </p:xfrm>
        <a:graphic>
          <a:graphicData uri="http://schemas.openxmlformats.org/presentationml/2006/ole">
            <mc:AlternateContent xmlns:mc="http://schemas.openxmlformats.org/markup-compatibility/2006">
              <mc:Choice xmlns:v="urn:schemas-microsoft-com:vml" Requires="v">
                <p:oleObj spid="_x0000_s28814" name="公式" r:id="rId6" imgW="2501640" imgH="228600" progId="Equation.3">
                  <p:embed/>
                </p:oleObj>
              </mc:Choice>
              <mc:Fallback>
                <p:oleObj name="公式" r:id="rId6" imgW="2501640" imgH="228600" progId="Equation.3">
                  <p:embed/>
                  <p:pic>
                    <p:nvPicPr>
                      <p:cNvPr id="0" name="Object 4"/>
                      <p:cNvPicPr>
                        <a:picLocks noChangeAspect="1" noChangeArrowheads="1"/>
                      </p:cNvPicPr>
                      <p:nvPr/>
                    </p:nvPicPr>
                    <p:blipFill>
                      <a:blip r:embed="rId7"/>
                      <a:srcRect/>
                      <a:stretch>
                        <a:fillRect/>
                      </a:stretch>
                    </p:blipFill>
                    <p:spPr bwMode="auto">
                      <a:xfrm>
                        <a:off x="1509713" y="2132013"/>
                        <a:ext cx="4368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49" name="Rectangle 6"/>
          <p:cNvSpPr>
            <a:spLocks noChangeArrowheads="1"/>
          </p:cNvSpPr>
          <p:nvPr/>
        </p:nvSpPr>
        <p:spPr bwMode="auto">
          <a:xfrm>
            <a:off x="7524750" y="2636838"/>
            <a:ext cx="1365250"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a:latin typeface="楷体_GB2312" pitchFamily="49" charset="-122"/>
              </a:rPr>
              <a:t>（</a:t>
            </a:r>
            <a:r>
              <a:rPr lang="en-US">
                <a:latin typeface="楷体_GB2312" pitchFamily="49" charset="-122"/>
              </a:rPr>
              <a:t>3-8</a:t>
            </a:r>
            <a:r>
              <a:rPr lang="zh-CN" altLang="en-US">
                <a:latin typeface="楷体_GB2312" pitchFamily="49" charset="-122"/>
              </a:rPr>
              <a:t>）</a:t>
            </a:r>
            <a:r>
              <a:rPr lang="zh-CN" altLang="en-US">
                <a:effectLst>
                  <a:outerShdw blurRad="38100" dist="38100" dir="2700000" algn="tl">
                    <a:srgbClr val="C0C0C0"/>
                  </a:outerShdw>
                </a:effectLst>
                <a:latin typeface="楷体_GB2312" pitchFamily="49" charset="-122"/>
              </a:rPr>
              <a:t> </a:t>
            </a:r>
          </a:p>
        </p:txBody>
      </p:sp>
      <mc:AlternateContent xmlns:mc="http://schemas.openxmlformats.org/markup-compatibility/2006" xmlns:a14="http://schemas.microsoft.com/office/drawing/2010/main">
        <mc:Choice Requires="a14">
          <p:sp>
            <p:nvSpPr>
              <p:cNvPr id="28679" name="Rectangle 7"/>
              <p:cNvSpPr>
                <a:spLocks noChangeArrowheads="1"/>
              </p:cNvSpPr>
              <p:nvPr/>
            </p:nvSpPr>
            <p:spPr bwMode="auto">
              <a:xfrm>
                <a:off x="179513" y="3605123"/>
                <a:ext cx="8964488"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eaLnBrk="1" hangingPunct="1">
                  <a:lnSpc>
                    <a:spcPct val="100000"/>
                  </a:lnSpc>
                  <a:spcBef>
                    <a:spcPct val="0"/>
                  </a:spcBef>
                  <a:buFont typeface="Wingdings" panose="05000000000000000000" pitchFamily="2" charset="2"/>
                  <a:buChar char="n"/>
                </a:pPr>
                <a:r>
                  <a:rPr lang="zh-CN" altLang="en-US" sz="1800" dirty="0" smtClean="0">
                    <a:latin typeface="楷体_GB2312" pitchFamily="49" charset="-122"/>
                  </a:rPr>
                  <a:t>当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smtClean="0">
                            <a:solidFill>
                              <a:srgbClr val="FF0000"/>
                            </a:solidFill>
                            <a:latin typeface="Cambria Math" panose="02040503050406030204" pitchFamily="18" charset="0"/>
                          </a:rPr>
                          <m:t>𝒅</m:t>
                        </m:r>
                      </m:e>
                      <m:sub>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&lt;</m:t>
                    </m:r>
                    <m:r>
                      <a:rPr lang="en-US" altLang="zh-CN" sz="1800" b="1" i="1" smtClean="0">
                        <a:solidFill>
                          <a:srgbClr val="FF0000"/>
                        </a:solidFill>
                        <a:latin typeface="Cambria Math" panose="02040503050406030204" pitchFamily="18" charset="0"/>
                      </a:rPr>
                      <m:t>𝟎</m:t>
                    </m:r>
                  </m:oMath>
                </a14:m>
                <a:r>
                  <a:rPr lang="pt-BR" altLang="en-US" sz="1800" dirty="0" smtClean="0">
                    <a:latin typeface="楷体_GB2312" pitchFamily="49" charset="-122"/>
                  </a:rPr>
                  <a:t> </a:t>
                </a:r>
                <a:r>
                  <a:rPr lang="zh-CN" altLang="en-US" sz="1800" dirty="0">
                    <a:latin typeface="楷体_GB2312" pitchFamily="49" charset="-122"/>
                  </a:rPr>
                  <a:t>时，中点</a:t>
                </a:r>
                <a:r>
                  <a:rPr lang="zh-CN" altLang="en-US" sz="1800" dirty="0" smtClean="0">
                    <a:latin typeface="楷体_GB2312" pitchFamily="49" charset="-122"/>
                  </a:rPr>
                  <a:t> </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dirty="0" smtClean="0">
                    <a:latin typeface="楷体_GB2312" pitchFamily="49" charset="-122"/>
                  </a:rPr>
                  <a:t> </a:t>
                </a:r>
                <a:r>
                  <a:rPr lang="zh-CN" altLang="en-US" sz="1800" dirty="0">
                    <a:latin typeface="楷体_GB2312" pitchFamily="49" charset="-122"/>
                  </a:rPr>
                  <a:t>在圆内，下一像素点应选</a:t>
                </a:r>
                <a:r>
                  <a:rPr lang="zh-CN" altLang="en-US" sz="1800" dirty="0" smtClean="0">
                    <a:latin typeface="楷体_GB2312" pitchFamily="49" charset="-122"/>
                  </a:rPr>
                  <a:t>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𝒖</m:t>
                        </m:r>
                      </m:sub>
                    </m:sSub>
                  </m:oMath>
                </a14:m>
                <a:r>
                  <a:rPr lang="zh-CN" altLang="en-US" sz="1800" dirty="0">
                    <a:latin typeface="楷体_GB2312" pitchFamily="49" charset="-122"/>
                  </a:rPr>
                  <a:t>，</a:t>
                </a:r>
                <a:r>
                  <a:rPr lang="zh-CN" altLang="en-US" sz="1800" dirty="0" smtClean="0">
                    <a:latin typeface="楷体_GB2312" pitchFamily="49" charset="-122"/>
                  </a:rPr>
                  <a:t>即 </a:t>
                </a:r>
                <a14:m>
                  <m:oMath xmlns:m="http://schemas.openxmlformats.org/officeDocument/2006/math">
                    <m:r>
                      <a:rPr lang="en-US" altLang="zh-CN" sz="1800" b="1" i="1" smtClean="0">
                        <a:solidFill>
                          <a:srgbClr val="FF0000"/>
                        </a:solidFill>
                        <a:latin typeface="Cambria Math" panose="02040503050406030204" pitchFamily="18" charset="0"/>
                      </a:rPr>
                      <m:t>𝒚</m:t>
                    </m:r>
                  </m:oMath>
                </a14:m>
                <a:r>
                  <a:rPr lang="zh-CN" altLang="en-US" sz="1800" dirty="0" smtClean="0">
                    <a:latin typeface="楷体_GB2312" pitchFamily="49" charset="-122"/>
                  </a:rPr>
                  <a:t> </a:t>
                </a:r>
                <a:r>
                  <a:rPr lang="zh-CN" altLang="en-US" sz="1800" dirty="0">
                    <a:latin typeface="楷体_GB2312" pitchFamily="49" charset="-122"/>
                  </a:rPr>
                  <a:t>方向上不退步</a:t>
                </a:r>
                <a:r>
                  <a:rPr lang="zh-CN" altLang="en-US" sz="1800" dirty="0" smtClean="0">
                    <a:latin typeface="楷体_GB2312" pitchFamily="49" charset="-122"/>
                  </a:rPr>
                  <a:t>；</a:t>
                </a:r>
                <a:endParaRPr lang="en-US" altLang="zh-CN" sz="1800" dirty="0" smtClean="0">
                  <a:latin typeface="楷体_GB2312" pitchFamily="49" charset="-122"/>
                </a:endParaRPr>
              </a:p>
              <a:p>
                <a:pPr marL="342900" indent="-342900" eaLnBrk="1" hangingPunct="1">
                  <a:lnSpc>
                    <a:spcPct val="100000"/>
                  </a:lnSpc>
                  <a:spcBef>
                    <a:spcPct val="0"/>
                  </a:spcBef>
                  <a:buFont typeface="Wingdings" panose="05000000000000000000" pitchFamily="2" charset="2"/>
                  <a:buChar char="n"/>
                </a:pPr>
                <a:r>
                  <a:rPr lang="zh-CN" altLang="en-US" sz="1800" dirty="0" smtClean="0">
                    <a:latin typeface="楷体_GB2312" pitchFamily="49" charset="-122"/>
                  </a:rPr>
                  <a:t>当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𝒅</m:t>
                        </m:r>
                      </m:e>
                      <m:sub>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&gt;</m:t>
                    </m:r>
                    <m:r>
                      <a:rPr lang="en-US" altLang="zh-CN" sz="1800" b="1" i="1">
                        <a:solidFill>
                          <a:srgbClr val="FF0000"/>
                        </a:solidFill>
                        <a:latin typeface="Cambria Math" panose="02040503050406030204" pitchFamily="18" charset="0"/>
                      </a:rPr>
                      <m:t>𝟎</m:t>
                    </m:r>
                  </m:oMath>
                </a14:m>
                <a:r>
                  <a:rPr lang="en-US" altLang="en-US" sz="1800" dirty="0" smtClean="0">
                    <a:latin typeface="楷体_GB2312" pitchFamily="49" charset="-122"/>
                  </a:rPr>
                  <a:t> </a:t>
                </a:r>
                <a:r>
                  <a:rPr lang="zh-CN" altLang="en-US" sz="1800" dirty="0">
                    <a:latin typeface="楷体_GB2312" pitchFamily="49" charset="-122"/>
                  </a:rPr>
                  <a:t>时，中点</a:t>
                </a:r>
                <a:r>
                  <a:rPr lang="zh-CN" altLang="en-US" sz="1800" dirty="0" smtClean="0">
                    <a:latin typeface="楷体_GB2312" pitchFamily="49" charset="-122"/>
                  </a:rPr>
                  <a:t> </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dirty="0" smtClean="0">
                    <a:latin typeface="楷体_GB2312" pitchFamily="49" charset="-122"/>
                  </a:rPr>
                  <a:t> </a:t>
                </a:r>
                <a:r>
                  <a:rPr lang="zh-CN" altLang="en-US" sz="1800" dirty="0">
                    <a:latin typeface="楷体_GB2312" pitchFamily="49" charset="-122"/>
                  </a:rPr>
                  <a:t>在圆外，下一像素点应选</a:t>
                </a:r>
                <a:r>
                  <a:rPr lang="zh-CN" altLang="en-US" sz="1800" dirty="0" smtClean="0">
                    <a:latin typeface="楷体_GB2312" pitchFamily="49" charset="-122"/>
                  </a:rPr>
                  <a:t>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𝒅</m:t>
                        </m:r>
                      </m:sub>
                    </m:sSub>
                  </m:oMath>
                </a14:m>
                <a:r>
                  <a:rPr lang="zh-CN" altLang="en-US" sz="1800" dirty="0">
                    <a:latin typeface="楷体_GB2312" pitchFamily="49" charset="-122"/>
                  </a:rPr>
                  <a:t>，即</a:t>
                </a:r>
                <a:r>
                  <a:rPr lang="zh-CN" altLang="en-US" sz="1800" dirty="0" smtClean="0">
                    <a:latin typeface="楷体_GB2312" pitchFamily="49" charset="-122"/>
                  </a:rPr>
                  <a:t> </a:t>
                </a:r>
                <a14:m>
                  <m:oMath xmlns:m="http://schemas.openxmlformats.org/officeDocument/2006/math">
                    <m:r>
                      <a:rPr lang="en-US" altLang="zh-CN" sz="1800" b="1" i="1">
                        <a:solidFill>
                          <a:srgbClr val="FF0000"/>
                        </a:solidFill>
                        <a:latin typeface="Cambria Math" panose="02040503050406030204" pitchFamily="18" charset="0"/>
                      </a:rPr>
                      <m:t>𝒚</m:t>
                    </m:r>
                  </m:oMath>
                </a14:m>
                <a:r>
                  <a:rPr lang="zh-CN" altLang="en-US" sz="1800" dirty="0" smtClean="0">
                    <a:latin typeface="楷体_GB2312" pitchFamily="49" charset="-122"/>
                  </a:rPr>
                  <a:t> </a:t>
                </a:r>
                <a:r>
                  <a:rPr lang="zh-CN" altLang="en-US" sz="1800" dirty="0">
                    <a:latin typeface="楷体_GB2312" pitchFamily="49" charset="-122"/>
                  </a:rPr>
                  <a:t>方向上退一步</a:t>
                </a:r>
                <a:r>
                  <a:rPr lang="zh-CN" altLang="en-US" sz="1800" dirty="0" smtClean="0">
                    <a:latin typeface="楷体_GB2312" pitchFamily="49" charset="-122"/>
                  </a:rPr>
                  <a:t>；</a:t>
                </a:r>
                <a:endParaRPr lang="en-US" altLang="zh-CN" sz="1800" dirty="0" smtClean="0">
                  <a:latin typeface="楷体_GB2312" pitchFamily="49" charset="-122"/>
                </a:endParaRPr>
              </a:p>
              <a:p>
                <a:pPr marL="342900" indent="-342900" eaLnBrk="1" hangingPunct="1">
                  <a:lnSpc>
                    <a:spcPct val="100000"/>
                  </a:lnSpc>
                  <a:spcBef>
                    <a:spcPct val="0"/>
                  </a:spcBef>
                  <a:buFont typeface="Wingdings" panose="05000000000000000000" pitchFamily="2" charset="2"/>
                  <a:buChar char="n"/>
                </a:pPr>
                <a:r>
                  <a:rPr lang="zh-CN" altLang="en-US" sz="1800" dirty="0" smtClean="0">
                    <a:latin typeface="楷体_GB2312" pitchFamily="49" charset="-122"/>
                  </a:rPr>
                  <a:t>当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𝒅</m:t>
                        </m:r>
                      </m:e>
                      <m:sub>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m:t>
                    </m:r>
                    <m:r>
                      <a:rPr lang="en-US" altLang="zh-CN" sz="1800" b="1" i="1">
                        <a:solidFill>
                          <a:srgbClr val="FF0000"/>
                        </a:solidFill>
                        <a:latin typeface="Cambria Math" panose="02040503050406030204" pitchFamily="18" charset="0"/>
                      </a:rPr>
                      <m:t>𝟎</m:t>
                    </m:r>
                  </m:oMath>
                </a14:m>
                <a:r>
                  <a:rPr lang="en-US" altLang="en-US" sz="1800" dirty="0" smtClean="0">
                    <a:latin typeface="楷体_GB2312" pitchFamily="49" charset="-122"/>
                  </a:rPr>
                  <a:t> </a:t>
                </a:r>
                <a:r>
                  <a:rPr lang="zh-CN" altLang="en-US" sz="1800" dirty="0">
                    <a:latin typeface="楷体_GB2312" pitchFamily="49" charset="-122"/>
                  </a:rPr>
                  <a:t>时，中点</a:t>
                </a:r>
                <a:r>
                  <a:rPr lang="zh-CN" altLang="en-US" sz="1800" dirty="0" smtClean="0">
                    <a:latin typeface="楷体_GB2312" pitchFamily="49" charset="-122"/>
                  </a:rPr>
                  <a:t> </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dirty="0" smtClean="0">
                    <a:latin typeface="楷体_GB2312" pitchFamily="49" charset="-122"/>
                  </a:rPr>
                  <a:t> </a:t>
                </a:r>
                <a:r>
                  <a:rPr lang="zh-CN" altLang="en-US" sz="1800" dirty="0">
                    <a:latin typeface="楷体_GB2312" pitchFamily="49" charset="-122"/>
                  </a:rPr>
                  <a:t>在圆上，</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𝒖</m:t>
                        </m:r>
                      </m:sub>
                    </m:sSub>
                    <m:r>
                      <a:rPr lang="en-US" altLang="zh-CN" sz="1800" b="0" i="0" smtClean="0">
                        <a:solidFill>
                          <a:srgbClr val="FF0000"/>
                        </a:solidFill>
                        <a:latin typeface="Cambria Math" panose="02040503050406030204" pitchFamily="18" charset="0"/>
                      </a:rPr>
                      <m:t>,</m:t>
                    </m:r>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𝒅</m:t>
                        </m:r>
                      </m:sub>
                    </m:sSub>
                  </m:oMath>
                </a14:m>
                <a:r>
                  <a:rPr lang="zh-CN" altLang="en-US" sz="1800" dirty="0" smtClean="0">
                    <a:latin typeface="楷体_GB2312" pitchFamily="49" charset="-122"/>
                  </a:rPr>
                  <a:t> 和</a:t>
                </a:r>
                <a:r>
                  <a:rPr lang="zh-CN" altLang="en-US" sz="1800" dirty="0">
                    <a:latin typeface="楷体_GB2312" pitchFamily="49" charset="-122"/>
                  </a:rPr>
                  <a:t>圆的距离相等，</a:t>
                </a:r>
                <a:r>
                  <a:rPr lang="zh-CN" altLang="en-US" sz="1800" dirty="0" smtClean="0">
                    <a:latin typeface="楷体_GB2312" pitchFamily="49" charset="-122"/>
                  </a:rPr>
                  <a:t>选取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𝒖</m:t>
                        </m:r>
                      </m:sub>
                    </m:sSub>
                  </m:oMath>
                </a14:m>
                <a:r>
                  <a:rPr lang="zh-CN" altLang="en-US" sz="1800" dirty="0" smtClean="0">
                    <a:latin typeface="楷体_GB2312" pitchFamily="49" charset="-122"/>
                  </a:rPr>
                  <a:t> 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𝒅</m:t>
                        </m:r>
                      </m:sub>
                    </m:sSub>
                  </m:oMath>
                </a14:m>
                <a:r>
                  <a:rPr lang="zh-CN" altLang="en-US" sz="1800" dirty="0" smtClean="0">
                    <a:latin typeface="楷体_GB2312" pitchFamily="49" charset="-122"/>
                  </a:rPr>
                  <a:t> 均</a:t>
                </a:r>
                <a:r>
                  <a:rPr lang="zh-CN" altLang="en-US" sz="1800" dirty="0">
                    <a:latin typeface="楷体_GB2312" pitchFamily="49" charset="-122"/>
                  </a:rPr>
                  <a:t>可，约定</a:t>
                </a:r>
                <a:r>
                  <a:rPr lang="zh-CN" altLang="en-US" sz="1800" dirty="0" smtClean="0">
                    <a:latin typeface="楷体_GB2312" pitchFamily="49" charset="-122"/>
                  </a:rPr>
                  <a:t>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𝒅</m:t>
                        </m:r>
                      </m:sub>
                    </m:sSub>
                  </m:oMath>
                </a14:m>
                <a:r>
                  <a:rPr lang="zh-CN" altLang="en-US" sz="1800" dirty="0">
                    <a:latin typeface="楷体_GB2312" pitchFamily="49" charset="-122"/>
                  </a:rPr>
                  <a:t>。</a:t>
                </a:r>
              </a:p>
            </p:txBody>
          </p:sp>
        </mc:Choice>
        <mc:Fallback xmlns="">
          <p:sp>
            <p:nvSpPr>
              <p:cNvPr id="28679" name="Rectangle 7"/>
              <p:cNvSpPr>
                <a:spLocks noRot="1" noChangeAspect="1" noMove="1" noResize="1" noEditPoints="1" noAdjustHandles="1" noChangeArrowheads="1" noChangeShapeType="1" noTextEdit="1"/>
              </p:cNvSpPr>
              <p:nvPr/>
            </p:nvSpPr>
            <p:spPr bwMode="auto">
              <a:xfrm>
                <a:off x="179513" y="3605123"/>
                <a:ext cx="8964488" cy="1200329"/>
              </a:xfrm>
              <a:prstGeom prst="rect">
                <a:avLst/>
              </a:prstGeom>
              <a:blipFill>
                <a:blip r:embed="rId8"/>
                <a:stretch>
                  <a:fillRect l="-408" t="-3046" b="-659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1751" name="Rectangle 8"/>
          <p:cNvSpPr>
            <a:spLocks noChangeArrowheads="1"/>
          </p:cNvSpPr>
          <p:nvPr/>
        </p:nvSpPr>
        <p:spPr bwMode="auto">
          <a:xfrm>
            <a:off x="1331913" y="5589588"/>
            <a:ext cx="1276350" cy="519112"/>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a:latin typeface="楷体_GB2312" pitchFamily="49" charset="-122"/>
              </a:rPr>
              <a:t>因此，</a:t>
            </a:r>
            <a:r>
              <a:rPr lang="zh-CN" altLang="en-US" sz="2800">
                <a:effectLst>
                  <a:outerShdw blurRad="38100" dist="38100" dir="2700000" algn="tl">
                    <a:srgbClr val="C0C0C0"/>
                  </a:outerShdw>
                </a:effectLst>
                <a:latin typeface="楷体_GB2312" pitchFamily="49" charset="-122"/>
              </a:rPr>
              <a:t> </a:t>
            </a:r>
          </a:p>
        </p:txBody>
      </p:sp>
      <p:sp>
        <p:nvSpPr>
          <p:cNvPr id="28681" name="Rectangle 9"/>
          <p:cNvSpPr>
            <a:spLocks noChangeArrowheads="1"/>
          </p:cNvSpPr>
          <p:nvPr/>
        </p:nvSpPr>
        <p:spPr bwMode="auto">
          <a:xfrm>
            <a:off x="811213" y="3186113"/>
            <a:ext cx="83327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28682" name="Object 9"/>
          <p:cNvGraphicFramePr>
            <a:graphicFrameLocks noChangeAspect="1"/>
          </p:cNvGraphicFramePr>
          <p:nvPr>
            <p:extLst>
              <p:ext uri="{D42A27DB-BD31-4B8C-83A1-F6EECF244321}">
                <p14:modId xmlns:p14="http://schemas.microsoft.com/office/powerpoint/2010/main" val="3777516176"/>
              </p:ext>
            </p:extLst>
          </p:nvPr>
        </p:nvGraphicFramePr>
        <p:xfrm>
          <a:off x="2717800" y="5451475"/>
          <a:ext cx="4425950" cy="852488"/>
        </p:xfrm>
        <a:graphic>
          <a:graphicData uri="http://schemas.openxmlformats.org/presentationml/2006/ole">
            <mc:AlternateContent xmlns:mc="http://schemas.openxmlformats.org/markup-compatibility/2006">
              <mc:Choice xmlns:v="urn:schemas-microsoft-com:vml" Requires="v">
                <p:oleObj spid="_x0000_s28815" name="公式" r:id="rId9" imgW="3098520" imgH="482400" progId="Equation.3">
                  <p:embed/>
                </p:oleObj>
              </mc:Choice>
              <mc:Fallback>
                <p:oleObj name="公式" r:id="rId9" imgW="3098520" imgH="482400" progId="Equation.3">
                  <p:embed/>
                  <p:pic>
                    <p:nvPicPr>
                      <p:cNvPr id="0" name="Object 9"/>
                      <p:cNvPicPr>
                        <a:picLocks noChangeAspect="1" noChangeArrowheads="1"/>
                      </p:cNvPicPr>
                      <p:nvPr/>
                    </p:nvPicPr>
                    <p:blipFill>
                      <a:blip r:embed="rId10"/>
                      <a:srcRect/>
                      <a:stretch>
                        <a:fillRect/>
                      </a:stretch>
                    </p:blipFill>
                    <p:spPr bwMode="auto">
                      <a:xfrm>
                        <a:off x="2717800" y="5451475"/>
                        <a:ext cx="442595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83" name="Rectangle 11"/>
          <p:cNvSpPr>
            <a:spLocks noChangeArrowheads="1"/>
          </p:cNvSpPr>
          <p:nvPr/>
        </p:nvSpPr>
        <p:spPr bwMode="auto">
          <a:xfrm>
            <a:off x="7596188" y="5589588"/>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400">
                <a:latin typeface="楷体_GB2312" pitchFamily="49" charset="-122"/>
              </a:rPr>
              <a:t>（</a:t>
            </a:r>
            <a:r>
              <a:rPr lang="en-US" altLang="zh-CN" sz="2400">
                <a:latin typeface="楷体_GB2312" pitchFamily="49" charset="-122"/>
              </a:rPr>
              <a:t>3-9</a:t>
            </a:r>
            <a:r>
              <a:rPr lang="zh-CN" altLang="en-US" sz="2400">
                <a:latin typeface="楷体_GB2312" pitchFamily="49" charset="-12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5"/>
          <p:cNvSpPr>
            <a:spLocks noChangeArrowheads="1"/>
          </p:cNvSpPr>
          <p:nvPr/>
        </p:nvSpPr>
        <p:spPr bwMode="auto">
          <a:xfrm>
            <a:off x="388141" y="1157198"/>
            <a:ext cx="843613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tabLst>
                <a:tab pos="361950"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361950"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361950"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en-US" altLang="zh-CN" sz="2000" b="1" dirty="0">
                <a:latin typeface="楷体_GB2312" pitchFamily="49" charset="-122"/>
              </a:rPr>
              <a:t>1.</a:t>
            </a:r>
            <a:r>
              <a:rPr lang="zh-CN" altLang="en-US" sz="2000" b="1" dirty="0">
                <a:latin typeface="楷体_GB2312" pitchFamily="49" charset="-122"/>
              </a:rPr>
              <a:t>中点误差项的递推公式</a:t>
            </a:r>
          </a:p>
          <a:p>
            <a:pPr eaLnBrk="1" hangingPunct="1">
              <a:lnSpc>
                <a:spcPct val="120000"/>
              </a:lnSpc>
              <a:spcBef>
                <a:spcPct val="0"/>
              </a:spcBef>
              <a:buFont typeface="Arial" panose="020B0604020202020204" pitchFamily="34" charset="0"/>
              <a:buNone/>
            </a:pPr>
            <a:r>
              <a:rPr lang="zh-CN" altLang="en-US" sz="2000" dirty="0" smtClean="0">
                <a:latin typeface="楷体_GB2312" pitchFamily="49" charset="-122"/>
              </a:rPr>
              <a:t>现在</a:t>
            </a:r>
            <a:r>
              <a:rPr lang="zh-CN" altLang="en-US" sz="2000" dirty="0">
                <a:latin typeface="楷体_GB2312" pitchFamily="49" charset="-122"/>
              </a:rPr>
              <a:t>如果考虑主位移方向再走一步，应该选择哪个中点代入中点误差项以决定下一步应该选取的像素，分两种情况讨论。</a:t>
            </a:r>
          </a:p>
        </p:txBody>
      </p:sp>
      <p:sp>
        <p:nvSpPr>
          <p:cNvPr id="32771" name="Rectangle 14"/>
          <p:cNvSpPr>
            <a:spLocks noChangeArrowheads="1"/>
          </p:cNvSpPr>
          <p:nvPr/>
        </p:nvSpPr>
        <p:spPr bwMode="auto">
          <a:xfrm>
            <a:off x="388141" y="355871"/>
            <a:ext cx="3313112"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3.2.3 </a:t>
            </a:r>
            <a:r>
              <a:rPr lang="zh-CN" altLang="en-US" sz="3200" b="1" dirty="0">
                <a:effectLst>
                  <a:outerShdw blurRad="38100" dist="38100" dir="2700000" algn="tl">
                    <a:srgbClr val="C0C0C0"/>
                  </a:outerShdw>
                </a:effectLst>
                <a:latin typeface="楷体_GB2312" pitchFamily="49" charset="-122"/>
              </a:rPr>
              <a:t>递推公式</a:t>
            </a:r>
            <a:r>
              <a:rPr lang="zh-CN" altLang="en-US" dirty="0"/>
              <a:t> </a:t>
            </a:r>
          </a:p>
        </p:txBody>
      </p:sp>
      <p:sp>
        <p:nvSpPr>
          <p:cNvPr id="29700" name="Rectangle 16"/>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29701" name="Object 15"/>
          <p:cNvGraphicFramePr>
            <a:graphicFrameLocks noChangeAspect="1"/>
          </p:cNvGraphicFramePr>
          <p:nvPr/>
        </p:nvGraphicFramePr>
        <p:xfrm>
          <a:off x="1979613" y="3430588"/>
          <a:ext cx="2303462" cy="2303462"/>
        </p:xfrm>
        <a:graphic>
          <a:graphicData uri="http://schemas.openxmlformats.org/presentationml/2006/ole">
            <mc:AlternateContent xmlns:mc="http://schemas.openxmlformats.org/markup-compatibility/2006">
              <mc:Choice xmlns:v="urn:schemas-microsoft-com:vml" Requires="v">
                <p:oleObj spid="_x0000_s29789" r:id="rId3" imgW="3673080" imgH="3673080" progId="Visio.Drawing.11">
                  <p:embed/>
                </p:oleObj>
              </mc:Choice>
              <mc:Fallback>
                <p:oleObj r:id="rId3" imgW="3673080" imgH="3673080" progId="Visio.Drawing.11">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3430588"/>
                        <a:ext cx="2303462"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02" name="Rectangle 18"/>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29703" name="Object 17"/>
          <p:cNvGraphicFramePr>
            <a:graphicFrameLocks noChangeAspect="1"/>
          </p:cNvGraphicFramePr>
          <p:nvPr>
            <p:extLst>
              <p:ext uri="{D42A27DB-BD31-4B8C-83A1-F6EECF244321}">
                <p14:modId xmlns:p14="http://schemas.microsoft.com/office/powerpoint/2010/main" val="484159280"/>
              </p:ext>
            </p:extLst>
          </p:nvPr>
        </p:nvGraphicFramePr>
        <p:xfrm>
          <a:off x="5439174" y="3502025"/>
          <a:ext cx="2232025" cy="2232025"/>
        </p:xfrm>
        <a:graphic>
          <a:graphicData uri="http://schemas.openxmlformats.org/presentationml/2006/ole">
            <mc:AlternateContent xmlns:mc="http://schemas.openxmlformats.org/markup-compatibility/2006">
              <mc:Choice xmlns:v="urn:schemas-microsoft-com:vml" Requires="v">
                <p:oleObj spid="_x0000_s29790" r:id="rId5" imgW="3673080" imgH="3673080" progId="Visio.Drawing.11">
                  <p:embed/>
                </p:oleObj>
              </mc:Choice>
              <mc:Fallback>
                <p:oleObj r:id="rId5" imgW="3673080" imgH="3673080" progId="Visio.Drawing.11">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9174" y="3502025"/>
                        <a:ext cx="22320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9708" name="Rectangle 23"/>
              <p:cNvSpPr>
                <a:spLocks noChangeArrowheads="1"/>
              </p:cNvSpPr>
              <p:nvPr/>
            </p:nvSpPr>
            <p:spPr bwMode="auto">
              <a:xfrm>
                <a:off x="2259922" y="5816275"/>
                <a:ext cx="5305620"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nchor="ctr">
                <a:spAutoFit/>
              </a:bodyPr>
              <a:lstStyle>
                <a:lvl1pPr indent="265113">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None/>
                </a:pPr>
                <a:r>
                  <a:rPr lang="en-US" altLang="zh-CN" sz="2400" dirty="0" smtClean="0">
                    <a:latin typeface="楷体_GB2312" pitchFamily="49" charset="-122"/>
                  </a:rPr>
                  <a:t>(a)</a:t>
                </a:r>
                <a:r>
                  <a:rPr lang="en-US" altLang="zh-CN" sz="2400" b="1" dirty="0">
                    <a:solidFill>
                      <a:srgbClr val="FF0000"/>
                    </a:solidFill>
                  </a:rPr>
                  <a:t>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smtClean="0">
                            <a:solidFill>
                              <a:srgbClr val="FF0000"/>
                            </a:solidFill>
                            <a:latin typeface="Cambria Math" panose="02040503050406030204" pitchFamily="18" charset="0"/>
                          </a:rPr>
                          <m:t>𝒅</m:t>
                        </m:r>
                      </m:e>
                      <m:sub>
                        <m:r>
                          <a:rPr lang="en-US" altLang="zh-CN" sz="2400" b="1" i="1">
                            <a:solidFill>
                              <a:srgbClr val="FF0000"/>
                            </a:solidFill>
                            <a:latin typeface="Cambria Math" panose="02040503050406030204" pitchFamily="18" charset="0"/>
                          </a:rPr>
                          <m:t>𝒊</m:t>
                        </m:r>
                      </m:sub>
                    </m:sSub>
                    <m:r>
                      <a:rPr lang="en-US" altLang="zh-CN" sz="2400" b="1" i="1" smtClean="0">
                        <a:solidFill>
                          <a:srgbClr val="FF0000"/>
                        </a:solidFill>
                        <a:latin typeface="Cambria Math" panose="02040503050406030204" pitchFamily="18" charset="0"/>
                      </a:rPr>
                      <m:t>&lt;</m:t>
                    </m:r>
                    <m:r>
                      <a:rPr lang="en-US" altLang="zh-CN" sz="2400" b="1" i="1" smtClean="0">
                        <a:solidFill>
                          <a:srgbClr val="FF0000"/>
                        </a:solidFill>
                        <a:latin typeface="Cambria Math" panose="02040503050406030204" pitchFamily="18" charset="0"/>
                      </a:rPr>
                      <m:t>𝟎</m:t>
                    </m:r>
                  </m:oMath>
                </a14:m>
                <a:r>
                  <a:rPr lang="en-US" altLang="zh-CN" sz="2400" dirty="0">
                    <a:latin typeface="楷体_GB2312" pitchFamily="49" charset="-122"/>
                  </a:rPr>
                  <a:t> </a:t>
                </a:r>
                <a:r>
                  <a:rPr lang="en-US" altLang="zh-CN" sz="2400" dirty="0" smtClean="0">
                    <a:latin typeface="楷体_GB2312" pitchFamily="49" charset="-122"/>
                  </a:rPr>
                  <a:t>			(</a:t>
                </a:r>
                <a:r>
                  <a:rPr lang="en-US" altLang="zh-CN" sz="2400" dirty="0">
                    <a:latin typeface="楷体_GB2312" pitchFamily="49" charset="-122"/>
                  </a:rPr>
                  <a:t>b)</a:t>
                </a:r>
                <a:r>
                  <a:rPr lang="en-US" altLang="zh-CN" sz="2400" b="1" dirty="0">
                    <a:solidFill>
                      <a:srgbClr val="FF0000"/>
                    </a:solidFill>
                  </a:rPr>
                  <a:t> </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𝒅</m:t>
                        </m:r>
                      </m:e>
                      <m:sub>
                        <m:r>
                          <a:rPr lang="en-US" altLang="zh-CN" sz="2400" b="1" i="1">
                            <a:solidFill>
                              <a:srgbClr val="FF0000"/>
                            </a:solidFill>
                            <a:latin typeface="Cambria Math" panose="02040503050406030204" pitchFamily="18" charset="0"/>
                          </a:rPr>
                          <m:t>𝒊</m:t>
                        </m:r>
                      </m:sub>
                    </m:sSub>
                    <m:r>
                      <a:rPr lang="en-US" altLang="zh-CN" sz="2400" b="1" i="1" smtClean="0">
                        <a:solidFill>
                          <a:srgbClr val="FF0000"/>
                        </a:solidFill>
                        <a:latin typeface="Cambria Math" panose="02040503050406030204" pitchFamily="18" charset="0"/>
                        <a:ea typeface="Cambria Math" panose="02040503050406030204" pitchFamily="18" charset="0"/>
                      </a:rPr>
                      <m:t>≥</m:t>
                    </m:r>
                    <m:r>
                      <a:rPr lang="en-US" altLang="zh-CN" sz="2400" b="1" i="1">
                        <a:solidFill>
                          <a:srgbClr val="FF0000"/>
                        </a:solidFill>
                        <a:latin typeface="Cambria Math" panose="02040503050406030204" pitchFamily="18" charset="0"/>
                      </a:rPr>
                      <m:t>𝟎</m:t>
                    </m:r>
                  </m:oMath>
                </a14:m>
                <a:endParaRPr lang="en-US" altLang="zh-CN" sz="2400" dirty="0">
                  <a:latin typeface="楷体_GB2312" pitchFamily="49" charset="-122"/>
                </a:endParaRPr>
              </a:p>
              <a:p>
                <a:pPr algn="ctr" eaLnBrk="1" hangingPunct="1">
                  <a:lnSpc>
                    <a:spcPct val="100000"/>
                  </a:lnSpc>
                  <a:spcBef>
                    <a:spcPct val="0"/>
                  </a:spcBef>
                  <a:buFont typeface="Arial" panose="020B0604020202020204" pitchFamily="34" charset="0"/>
                  <a:buNone/>
                </a:pPr>
                <a:r>
                  <a:rPr lang="zh-CN" altLang="en-US" sz="2400" dirty="0">
                    <a:latin typeface="楷体_GB2312" pitchFamily="49" charset="-122"/>
                  </a:rPr>
                  <a:t>中点的递推</a:t>
                </a:r>
              </a:p>
            </p:txBody>
          </p:sp>
        </mc:Choice>
        <mc:Fallback xmlns="">
          <p:sp>
            <p:nvSpPr>
              <p:cNvPr id="29708" name="Rectangle 23"/>
              <p:cNvSpPr>
                <a:spLocks noRot="1" noChangeAspect="1" noMove="1" noResize="1" noEditPoints="1" noAdjustHandles="1" noChangeArrowheads="1" noChangeShapeType="1" noTextEdit="1"/>
              </p:cNvSpPr>
              <p:nvPr/>
            </p:nvSpPr>
            <p:spPr bwMode="auto">
              <a:xfrm>
                <a:off x="2259922" y="5816275"/>
                <a:ext cx="5305620" cy="830997"/>
              </a:xfrm>
              <a:prstGeom prst="rect">
                <a:avLst/>
              </a:prstGeom>
              <a:blipFill>
                <a:blip r:embed="rId7"/>
                <a:stretch>
                  <a:fillRect t="-8088" r="-230" b="-169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88142" y="3199755"/>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388142" y="3199755"/>
                <a:ext cx="1416222" cy="461665"/>
              </a:xfrm>
              <a:prstGeom prst="rect">
                <a:avLst/>
              </a:prstGeom>
              <a:blipFill>
                <a:blip r:embed="rId8"/>
                <a:stretch>
                  <a:fillRect b="-13158"/>
                </a:stretch>
              </a:blipFill>
            </p:spPr>
            <p:txBody>
              <a:bodyPr/>
              <a:lstStyle/>
              <a:p>
                <a:r>
                  <a:rPr lang="zh-CN" altLang="en-US">
                    <a:noFill/>
                  </a:rPr>
                  <a:t> </a:t>
                </a:r>
              </a:p>
            </p:txBody>
          </p:sp>
        </mc:Fallback>
      </mc:AlternateContent>
      <p:cxnSp>
        <p:nvCxnSpPr>
          <p:cNvPr id="4" name="直接箭头连接符 3"/>
          <p:cNvCxnSpPr/>
          <p:nvPr/>
        </p:nvCxnSpPr>
        <p:spPr>
          <a:xfrm>
            <a:off x="1691680" y="3486675"/>
            <a:ext cx="758041" cy="4209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矩形 17"/>
              <p:cNvSpPr/>
              <p:nvPr/>
            </p:nvSpPr>
            <p:spPr>
              <a:xfrm>
                <a:off x="4151227" y="4660404"/>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4151227" y="4660404"/>
                <a:ext cx="1416222" cy="461665"/>
              </a:xfrm>
              <a:prstGeom prst="rect">
                <a:avLst/>
              </a:prstGeom>
              <a:blipFill>
                <a:blip r:embed="rId9"/>
                <a:stretch>
                  <a:fillRect b="-14667"/>
                </a:stretch>
              </a:blipFill>
            </p:spPr>
            <p:txBody>
              <a:bodyPr/>
              <a:lstStyle/>
              <a:p>
                <a:r>
                  <a:rPr lang="zh-CN" altLang="en-US">
                    <a:noFill/>
                  </a:rPr>
                  <a:t> </a:t>
                </a:r>
              </a:p>
            </p:txBody>
          </p:sp>
        </mc:Fallback>
      </mc:AlternateContent>
      <p:cxnSp>
        <p:nvCxnSpPr>
          <p:cNvPr id="20" name="直接箭头连接符 19"/>
          <p:cNvCxnSpPr/>
          <p:nvPr/>
        </p:nvCxnSpPr>
        <p:spPr>
          <a:xfrm flipV="1">
            <a:off x="4947467" y="4202357"/>
            <a:ext cx="951568" cy="4497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矩形 7"/>
              <p:cNvSpPr/>
              <p:nvPr/>
            </p:nvSpPr>
            <p:spPr>
              <a:xfrm>
                <a:off x="2683326" y="2772318"/>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2683326" y="2772318"/>
                <a:ext cx="2884123" cy="461665"/>
              </a:xfrm>
              <a:prstGeom prst="rect">
                <a:avLst/>
              </a:prstGeom>
              <a:blipFill>
                <a:blip r:embed="rId10"/>
                <a:stretch>
                  <a:fillRect b="-13158"/>
                </a:stretch>
              </a:blipFill>
            </p:spPr>
            <p:txBody>
              <a:bodyPr/>
              <a:lstStyle/>
              <a:p>
                <a:r>
                  <a:rPr lang="zh-CN" altLang="en-US">
                    <a:noFill/>
                  </a:rPr>
                  <a:t> </a:t>
                </a:r>
              </a:p>
            </p:txBody>
          </p:sp>
        </mc:Fallback>
      </mc:AlternateContent>
      <p:cxnSp>
        <p:nvCxnSpPr>
          <p:cNvPr id="23" name="直接箭头连接符 22"/>
          <p:cNvCxnSpPr>
            <a:stCxn id="8" idx="2"/>
          </p:cNvCxnSpPr>
          <p:nvPr/>
        </p:nvCxnSpPr>
        <p:spPr>
          <a:xfrm flipH="1">
            <a:off x="3753260" y="3233983"/>
            <a:ext cx="372128" cy="9744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矩形 25"/>
              <p:cNvSpPr/>
              <p:nvPr/>
            </p:nvSpPr>
            <p:spPr>
              <a:xfrm>
                <a:off x="5940152" y="2683154"/>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e>
                      </m:d>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5940152" y="2683154"/>
                <a:ext cx="2884123" cy="461665"/>
              </a:xfrm>
              <a:prstGeom prst="rect">
                <a:avLst/>
              </a:prstGeom>
              <a:blipFill>
                <a:blip r:embed="rId11"/>
                <a:stretch>
                  <a:fillRect b="-13158"/>
                </a:stretch>
              </a:blipFill>
            </p:spPr>
            <p:txBody>
              <a:bodyPr/>
              <a:lstStyle/>
              <a:p>
                <a:r>
                  <a:rPr lang="zh-CN" altLang="en-US">
                    <a:noFill/>
                  </a:rPr>
                  <a:t> </a:t>
                </a:r>
              </a:p>
            </p:txBody>
          </p:sp>
        </mc:Fallback>
      </mc:AlternateContent>
      <p:cxnSp>
        <p:nvCxnSpPr>
          <p:cNvPr id="27" name="直接箭头连接符 26"/>
          <p:cNvCxnSpPr/>
          <p:nvPr/>
        </p:nvCxnSpPr>
        <p:spPr>
          <a:xfrm flipH="1">
            <a:off x="7164288" y="3146961"/>
            <a:ext cx="800526" cy="17442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3794" name="Rectangle 3"/>
              <p:cNvSpPr>
                <a:spLocks noChangeArrowheads="1"/>
              </p:cNvSpPr>
              <p:nvPr/>
            </p:nvSpPr>
            <p:spPr bwMode="auto">
              <a:xfrm>
                <a:off x="539552" y="312461"/>
                <a:ext cx="8245673" cy="943528"/>
              </a:xfrm>
              <a:prstGeom prst="rect">
                <a:avLst/>
              </a:prstGeom>
              <a:noFill/>
              <a:ln w="9525">
                <a:noFill/>
                <a:miter lim="800000"/>
              </a:ln>
            </p:spPr>
            <p:txBody>
              <a:bodyPr wrap="square" anchor="ctr">
                <a:spAutoFit/>
              </a:bodyPr>
              <a:lstStyle/>
              <a:p>
                <a:pPr eaLnBrk="1" hangingPunct="1">
                  <a:lnSpc>
                    <a:spcPct val="150000"/>
                  </a:lnSpc>
                  <a:buFont typeface="Arial" panose="020B0604020202020204" pitchFamily="34" charset="0"/>
                  <a:buNone/>
                  <a:defRPr/>
                </a:pPr>
                <a:r>
                  <a:rPr lang="zh-CN" altLang="en-US" sz="2000" dirty="0">
                    <a:latin typeface="楷体_GB2312" pitchFamily="49" charset="-122"/>
                  </a:rPr>
                  <a:t>⑴</a:t>
                </a:r>
                <a:r>
                  <a:rPr lang="zh-CN" altLang="en-US" sz="2000" dirty="0" smtClean="0">
                    <a:solidFill>
                      <a:srgbClr val="FF0000"/>
                    </a:solidFill>
                    <a:latin typeface="华文琥珀" panose="02010800040101010101" pitchFamily="2" charset="-122"/>
                    <a:ea typeface="华文琥珀" panose="02010800040101010101" pitchFamily="2" charset="-122"/>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&lt;</m:t>
                    </m:r>
                    <m:r>
                      <a:rPr lang="en-US" altLang="zh-CN" sz="2000" b="1" i="1">
                        <a:solidFill>
                          <a:srgbClr val="FF0000"/>
                        </a:solidFill>
                        <a:latin typeface="Cambria Math" panose="02040503050406030204" pitchFamily="18" charset="0"/>
                      </a:rPr>
                      <m:t>𝟎</m:t>
                    </m:r>
                  </m:oMath>
                </a14:m>
                <a:r>
                  <a:rPr lang="zh-CN" altLang="en-US" sz="2000" dirty="0" smtClean="0">
                    <a:solidFill>
                      <a:srgbClr val="FF0000"/>
                    </a:solidFill>
                    <a:latin typeface="华文琥珀" panose="02010800040101010101" pitchFamily="2" charset="-122"/>
                    <a:ea typeface="华文琥珀" panose="02010800040101010101" pitchFamily="2" charset="-122"/>
                  </a:rPr>
                  <a:t>时</a:t>
                </a:r>
                <a:r>
                  <a:rPr lang="zh-CN" altLang="en-US" sz="2000" dirty="0">
                    <a:solidFill>
                      <a:srgbClr val="FF0000"/>
                    </a:solidFill>
                    <a:latin typeface="华文琥珀" panose="02010800040101010101" pitchFamily="2" charset="-122"/>
                    <a:ea typeface="华文琥珀" panose="02010800040101010101" pitchFamily="2" charset="-122"/>
                  </a:rPr>
                  <a:t>，下一步的</a:t>
                </a:r>
                <a:r>
                  <a:rPr lang="zh-CN" altLang="en-US" sz="2000" dirty="0">
                    <a:solidFill>
                      <a:srgbClr val="3366FF"/>
                    </a:solidFill>
                    <a:latin typeface="华文琥珀" panose="02010800040101010101" pitchFamily="2" charset="-122"/>
                    <a:ea typeface="华文琥珀" panose="02010800040101010101" pitchFamily="2" charset="-122"/>
                  </a:rPr>
                  <a:t>中点坐标</a:t>
                </a:r>
                <a:r>
                  <a:rPr lang="zh-CN" altLang="en-US" sz="2000" dirty="0">
                    <a:solidFill>
                      <a:srgbClr val="FF0000"/>
                    </a:solidFill>
                    <a:latin typeface="华文琥珀" panose="02010800040101010101" pitchFamily="2" charset="-122"/>
                    <a:ea typeface="华文琥珀" panose="02010800040101010101" pitchFamily="2" charset="-122"/>
                  </a:rPr>
                  <a:t>为</a:t>
                </a:r>
                <a:r>
                  <a:rPr lang="zh-CN" altLang="en-US" sz="2000" dirty="0" smtClean="0">
                    <a:solidFill>
                      <a:srgbClr val="FF0000"/>
                    </a:solidFill>
                    <a:latin typeface="华文琥珀" panose="02010800040101010101" pitchFamily="2" charset="-122"/>
                    <a:ea typeface="华文琥珀" panose="02010800040101010101" pitchFamily="2" charset="-122"/>
                  </a:rPr>
                  <a:t>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oMath>
                </a14:m>
                <a:r>
                  <a:rPr lang="zh-CN" altLang="en-US" sz="2000" dirty="0" smtClean="0">
                    <a:solidFill>
                      <a:srgbClr val="FF0000"/>
                    </a:solidFill>
                    <a:latin typeface="华文琥珀" panose="02010800040101010101" pitchFamily="2" charset="-122"/>
                    <a:ea typeface="华文琥珀" panose="02010800040101010101" pitchFamily="2" charset="-122"/>
                  </a:rPr>
                  <a:t>，</a:t>
                </a:r>
                <a:r>
                  <a:rPr lang="zh-CN" altLang="en-US" sz="2000" dirty="0">
                    <a:latin typeface="楷体_GB2312" pitchFamily="49" charset="-122"/>
                  </a:rPr>
                  <a:t>下一步中点误差项为</a:t>
                </a:r>
                <a:r>
                  <a:rPr lang="en-US" sz="2000" dirty="0">
                    <a:latin typeface="楷体_GB2312" pitchFamily="49" charset="-122"/>
                  </a:rPr>
                  <a:t>        </a:t>
                </a:r>
                <a:endParaRPr lang="zh-CN" altLang="en-US" sz="2000" dirty="0">
                  <a:effectLst>
                    <a:outerShdw blurRad="38100" dist="38100" dir="2700000" algn="tl">
                      <a:srgbClr val="C0C0C0"/>
                    </a:outerShdw>
                  </a:effectLst>
                  <a:latin typeface="楷体_GB2312" pitchFamily="49" charset="-122"/>
                </a:endParaRPr>
              </a:p>
            </p:txBody>
          </p:sp>
        </mc:Choice>
        <mc:Fallback xmlns="">
          <p:sp>
            <p:nvSpPr>
              <p:cNvPr id="33794" name="Rectangle 3"/>
              <p:cNvSpPr>
                <a:spLocks noRot="1" noChangeAspect="1" noMove="1" noResize="1" noEditPoints="1" noAdjustHandles="1" noChangeArrowheads="1" noChangeShapeType="1" noTextEdit="1"/>
              </p:cNvSpPr>
              <p:nvPr/>
            </p:nvSpPr>
            <p:spPr bwMode="auto">
              <a:xfrm>
                <a:off x="539552" y="312461"/>
                <a:ext cx="8245673" cy="943528"/>
              </a:xfrm>
              <a:prstGeom prst="rect">
                <a:avLst/>
              </a:prstGeom>
              <a:blipFill>
                <a:blip r:embed="rId3"/>
                <a:stretch>
                  <a:fillRect l="-814" r="-444" b="-7097"/>
                </a:stretch>
              </a:blipFill>
              <a:ln w="9525">
                <a:noFill/>
                <a:miter lim="800000"/>
              </a:ln>
            </p:spPr>
            <p:txBody>
              <a:bodyPr/>
              <a:lstStyle/>
              <a:p>
                <a:r>
                  <a:rPr lang="zh-CN" altLang="en-US">
                    <a:noFill/>
                  </a:rPr>
                  <a:t> </a:t>
                </a:r>
              </a:p>
            </p:txBody>
          </p:sp>
        </mc:Fallback>
      </mc:AlternateContent>
      <p:sp>
        <p:nvSpPr>
          <p:cNvPr id="33795" name="Rectangle 6"/>
          <p:cNvSpPr>
            <a:spLocks noChangeArrowheads="1"/>
          </p:cNvSpPr>
          <p:nvPr/>
        </p:nvSpPr>
        <p:spPr bwMode="auto">
          <a:xfrm>
            <a:off x="7631113" y="2636838"/>
            <a:ext cx="1512887"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a:effectLst>
                  <a:outerShdw blurRad="38100" dist="38100" dir="2700000" algn="tl">
                    <a:srgbClr val="C0C0C0"/>
                  </a:outerShdw>
                </a:effectLst>
                <a:latin typeface="Arial" panose="020B0604020202020204" pitchFamily="34" charset="0"/>
                <a:ea typeface="宋体" panose="02010600030101010101" pitchFamily="2" charset="-122"/>
              </a:rPr>
              <a:t> </a:t>
            </a:r>
            <a:r>
              <a:rPr lang="zh-CN" altLang="en-US">
                <a:latin typeface="楷体_GB2312" pitchFamily="49" charset="-122"/>
              </a:rPr>
              <a:t>（</a:t>
            </a:r>
            <a:r>
              <a:rPr lang="en-US">
                <a:latin typeface="楷体_GB2312" pitchFamily="49" charset="-122"/>
              </a:rPr>
              <a:t>3-10</a:t>
            </a:r>
            <a:r>
              <a:rPr lang="zh-CN" altLang="en-US">
                <a:latin typeface="楷体_GB2312" pitchFamily="49" charset="-122"/>
              </a:rPr>
              <a:t>）</a:t>
            </a:r>
            <a:endParaRPr lang="zh-CN" altLang="en-US" sz="2800">
              <a:effectLst>
                <a:outerShdw blurRad="38100" dist="38100" dir="2700000" algn="tl">
                  <a:srgbClr val="C0C0C0"/>
                </a:outerShdw>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3796" name="Rectangle 7"/>
              <p:cNvSpPr>
                <a:spLocks noChangeArrowheads="1"/>
              </p:cNvSpPr>
              <p:nvPr/>
            </p:nvSpPr>
            <p:spPr bwMode="auto">
              <a:xfrm>
                <a:off x="539552" y="3259713"/>
                <a:ext cx="8066286" cy="9513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None/>
                </a:pPr>
                <a:r>
                  <a:rPr lang="zh-CN" altLang="en-US" sz="2000" dirty="0">
                    <a:latin typeface="楷体_GB2312" pitchFamily="49" charset="-122"/>
                  </a:rPr>
                  <a:t>⑵</a:t>
                </a:r>
                <a:r>
                  <a:rPr lang="zh-CN" altLang="en-US" sz="2000" dirty="0">
                    <a:solidFill>
                      <a:srgbClr val="FF0000"/>
                    </a:solidFill>
                    <a:latin typeface="华文琥珀" panose="02010800040101010101" pitchFamily="2" charset="-122"/>
                    <a:ea typeface="华文琥珀" panose="02010800040101010101" pitchFamily="2" charset="-122"/>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rPr>
                      <m:t>𝟎</m:t>
                    </m:r>
                  </m:oMath>
                </a14:m>
                <a:r>
                  <a:rPr lang="zh-CN" altLang="en-US" sz="2000" dirty="0">
                    <a:solidFill>
                      <a:srgbClr val="FF0000"/>
                    </a:solidFill>
                    <a:latin typeface="华文琥珀" panose="02010800040101010101" pitchFamily="2" charset="-122"/>
                    <a:ea typeface="华文琥珀" panose="02010800040101010101" pitchFamily="2" charset="-122"/>
                  </a:rPr>
                  <a:t>时，下一步的</a:t>
                </a:r>
                <a:r>
                  <a:rPr lang="zh-CN" altLang="en-US" sz="2000" dirty="0">
                    <a:solidFill>
                      <a:srgbClr val="3366FF"/>
                    </a:solidFill>
                    <a:latin typeface="华文琥珀" panose="02010800040101010101" pitchFamily="2" charset="-122"/>
                    <a:ea typeface="华文琥珀" panose="02010800040101010101" pitchFamily="2" charset="-122"/>
                  </a:rPr>
                  <a:t>中点坐标</a:t>
                </a:r>
                <a:r>
                  <a:rPr lang="zh-CN" altLang="en-US" sz="2000" dirty="0" smtClean="0">
                    <a:solidFill>
                      <a:srgbClr val="FF0000"/>
                    </a:solidFill>
                    <a:latin typeface="华文琥珀" panose="02010800040101010101" pitchFamily="2" charset="-122"/>
                    <a:ea typeface="华文琥珀" panose="02010800040101010101" pitchFamily="2" charset="-122"/>
                  </a:rPr>
                  <a:t>为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oMath>
                </a14:m>
                <a:r>
                  <a:rPr lang="zh-CN" altLang="en-US" sz="2000" dirty="0">
                    <a:solidFill>
                      <a:srgbClr val="FF0000"/>
                    </a:solidFill>
                    <a:latin typeface="华文琥珀" panose="02010800040101010101" pitchFamily="2" charset="-122"/>
                    <a:ea typeface="华文琥珀" panose="02010800040101010101" pitchFamily="2" charset="-122"/>
                  </a:rPr>
                  <a:t>，</a:t>
                </a:r>
                <a:r>
                  <a:rPr lang="zh-CN" altLang="en-US" sz="2000" dirty="0">
                    <a:latin typeface="Tahoma" panose="020B0604030504040204" pitchFamily="34" charset="0"/>
                  </a:rPr>
                  <a:t>下一步中点误差项为 </a:t>
                </a:r>
              </a:p>
            </p:txBody>
          </p:sp>
        </mc:Choice>
        <mc:Fallback xmlns="">
          <p:sp>
            <p:nvSpPr>
              <p:cNvPr id="33796" name="Rectangle 7"/>
              <p:cNvSpPr>
                <a:spLocks noRot="1" noChangeAspect="1" noMove="1" noResize="1" noEditPoints="1" noAdjustHandles="1" noChangeArrowheads="1" noChangeShapeType="1" noTextEdit="1"/>
              </p:cNvSpPr>
              <p:nvPr/>
            </p:nvSpPr>
            <p:spPr bwMode="auto">
              <a:xfrm>
                <a:off x="539552" y="3259713"/>
                <a:ext cx="8066286" cy="951351"/>
              </a:xfrm>
              <a:prstGeom prst="rect">
                <a:avLst/>
              </a:prstGeom>
              <a:blipFill>
                <a:blip r:embed="rId4"/>
                <a:stretch>
                  <a:fillRect l="-831" b="-64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3797" name="Rectangle 13"/>
          <p:cNvSpPr>
            <a:spLocks noChangeArrowheads="1"/>
          </p:cNvSpPr>
          <p:nvPr/>
        </p:nvSpPr>
        <p:spPr bwMode="auto">
          <a:xfrm>
            <a:off x="7451725" y="5876925"/>
            <a:ext cx="1476375"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b="1">
                <a:latin typeface="楷体_GB2312" pitchFamily="49" charset="-122"/>
              </a:rPr>
              <a:t>（</a:t>
            </a:r>
            <a:r>
              <a:rPr lang="en-US" b="1">
                <a:latin typeface="楷体_GB2312" pitchFamily="49" charset="-122"/>
              </a:rPr>
              <a:t>3-12</a:t>
            </a:r>
            <a:r>
              <a:rPr lang="zh-CN" altLang="en-US" b="1">
                <a:latin typeface="楷体_GB2312" pitchFamily="49" charset="-122"/>
              </a:rPr>
              <a:t>）</a:t>
            </a:r>
            <a:r>
              <a:rPr lang="zh-CN" altLang="en-US" b="1">
                <a:effectLst>
                  <a:outerShdw blurRad="38100" dist="38100" dir="2700000" algn="tl">
                    <a:srgbClr val="C0C0C0"/>
                  </a:outerShdw>
                </a:effectLst>
                <a:latin typeface="楷体_GB2312" pitchFamily="49" charset="-122"/>
              </a:rPr>
              <a:t> </a:t>
            </a:r>
          </a:p>
        </p:txBody>
      </p:sp>
      <p:sp>
        <p:nvSpPr>
          <p:cNvPr id="30726" name="Rectangle 1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3799" name="Object 7"/>
          <p:cNvGraphicFramePr>
            <a:graphicFrameLocks noChangeAspect="1"/>
          </p:cNvGraphicFramePr>
          <p:nvPr/>
        </p:nvGraphicFramePr>
        <p:xfrm>
          <a:off x="2051050" y="2708275"/>
          <a:ext cx="1728788" cy="473075"/>
        </p:xfrm>
        <a:graphic>
          <a:graphicData uri="http://schemas.openxmlformats.org/presentationml/2006/ole">
            <mc:AlternateContent xmlns:mc="http://schemas.openxmlformats.org/markup-compatibility/2006">
              <mc:Choice xmlns:v="urn:schemas-microsoft-com:vml" Requires="v">
                <p:oleObj spid="_x0000_s30974" r:id="rId5" imgW="825858" imgH="228699" progId="Equation.3">
                  <p:embed/>
                </p:oleObj>
              </mc:Choice>
              <mc:Fallback>
                <p:oleObj r:id="rId5" imgW="825858" imgH="22869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2708275"/>
                        <a:ext cx="17287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8" name="Rectangle 2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3801" name="Object 9"/>
          <p:cNvGraphicFramePr>
            <a:graphicFrameLocks noChangeAspect="1"/>
          </p:cNvGraphicFramePr>
          <p:nvPr/>
        </p:nvGraphicFramePr>
        <p:xfrm>
          <a:off x="1476375" y="1341438"/>
          <a:ext cx="7308850" cy="525462"/>
        </p:xfrm>
        <a:graphic>
          <a:graphicData uri="http://schemas.openxmlformats.org/presentationml/2006/ole">
            <mc:AlternateContent xmlns:mc="http://schemas.openxmlformats.org/markup-compatibility/2006">
              <mc:Choice xmlns:v="urn:schemas-microsoft-com:vml" Requires="v">
                <p:oleObj spid="_x0000_s30975" r:id="rId7" imgW="3314700" imgH="241300" progId="Equation.3">
                  <p:embed/>
                </p:oleObj>
              </mc:Choice>
              <mc:Fallback>
                <p:oleObj r:id="rId7" imgW="3314700" imgH="241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6375" y="1341438"/>
                        <a:ext cx="73088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02" name="Object 10"/>
          <p:cNvGraphicFramePr>
            <a:graphicFrameLocks noChangeAspect="1"/>
          </p:cNvGraphicFramePr>
          <p:nvPr/>
        </p:nvGraphicFramePr>
        <p:xfrm>
          <a:off x="1979613" y="2060575"/>
          <a:ext cx="4257675" cy="454025"/>
        </p:xfrm>
        <a:graphic>
          <a:graphicData uri="http://schemas.openxmlformats.org/presentationml/2006/ole">
            <mc:AlternateContent xmlns:mc="http://schemas.openxmlformats.org/markup-compatibility/2006">
              <mc:Choice xmlns:v="urn:schemas-microsoft-com:vml" Requires="v">
                <p:oleObj spid="_x0000_s30976" r:id="rId9" imgW="2235200" imgH="241300" progId="Equation.3">
                  <p:embed/>
                </p:oleObj>
              </mc:Choice>
              <mc:Fallback>
                <p:oleObj r:id="rId9" imgW="2235200" imgH="2413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9613" y="2060575"/>
                        <a:ext cx="42576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03" name="Object 11"/>
          <p:cNvGraphicFramePr>
            <a:graphicFrameLocks noChangeAspect="1"/>
          </p:cNvGraphicFramePr>
          <p:nvPr/>
        </p:nvGraphicFramePr>
        <p:xfrm>
          <a:off x="1547813" y="4292600"/>
          <a:ext cx="7019925" cy="509588"/>
        </p:xfrm>
        <a:graphic>
          <a:graphicData uri="http://schemas.openxmlformats.org/presentationml/2006/ole">
            <mc:AlternateContent xmlns:mc="http://schemas.openxmlformats.org/markup-compatibility/2006">
              <mc:Choice xmlns:v="urn:schemas-microsoft-com:vml" Requires="v">
                <p:oleObj spid="_x0000_s30977" r:id="rId11" imgW="3289300" imgH="241300" progId="Equation.3">
                  <p:embed/>
                </p:oleObj>
              </mc:Choice>
              <mc:Fallback>
                <p:oleObj r:id="rId11" imgW="3289300" imgH="2413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7813" y="4292600"/>
                        <a:ext cx="70199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04" name="Object 12"/>
          <p:cNvGraphicFramePr>
            <a:graphicFrameLocks noChangeAspect="1"/>
          </p:cNvGraphicFramePr>
          <p:nvPr/>
        </p:nvGraphicFramePr>
        <p:xfrm>
          <a:off x="2124075" y="5084763"/>
          <a:ext cx="6337300" cy="482600"/>
        </p:xfrm>
        <a:graphic>
          <a:graphicData uri="http://schemas.openxmlformats.org/presentationml/2006/ole">
            <mc:AlternateContent xmlns:mc="http://schemas.openxmlformats.org/markup-compatibility/2006">
              <mc:Choice xmlns:v="urn:schemas-microsoft-com:vml" Requires="v">
                <p:oleObj spid="_x0000_s30978" r:id="rId13" imgW="3124200" imgH="241300" progId="Equation.3">
                  <p:embed/>
                </p:oleObj>
              </mc:Choice>
              <mc:Fallback>
                <p:oleObj r:id="rId13" imgW="3124200" imgH="2413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24075" y="5084763"/>
                        <a:ext cx="63373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05" name="Object 13"/>
          <p:cNvGraphicFramePr>
            <a:graphicFrameLocks noChangeAspect="1"/>
          </p:cNvGraphicFramePr>
          <p:nvPr/>
        </p:nvGraphicFramePr>
        <p:xfrm>
          <a:off x="2124075" y="5876925"/>
          <a:ext cx="2303463" cy="442913"/>
        </p:xfrm>
        <a:graphic>
          <a:graphicData uri="http://schemas.openxmlformats.org/presentationml/2006/ole">
            <mc:AlternateContent xmlns:mc="http://schemas.openxmlformats.org/markup-compatibility/2006">
              <mc:Choice xmlns:v="urn:schemas-microsoft-com:vml" Requires="v">
                <p:oleObj spid="_x0000_s30979" r:id="rId15" imgW="1194318" imgH="228699" progId="Equation.3">
                  <p:embed/>
                </p:oleObj>
              </mc:Choice>
              <mc:Fallback>
                <p:oleObj r:id="rId15" imgW="1194318" imgH="228699"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24075" y="5876925"/>
                        <a:ext cx="230346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8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380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379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79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79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380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380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380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5" grpId="0"/>
      <p:bldP spid="33796" grpId="0"/>
      <p:bldP spid="33797"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8" name="Rectangle 4"/>
              <p:cNvSpPr>
                <a:spLocks noChangeArrowheads="1"/>
              </p:cNvSpPr>
              <p:nvPr/>
            </p:nvSpPr>
            <p:spPr bwMode="auto">
              <a:xfrm>
                <a:off x="539553" y="925539"/>
                <a:ext cx="8426648" cy="933397"/>
              </a:xfrm>
              <a:prstGeom prst="rect">
                <a:avLst/>
              </a:prstGeom>
              <a:noFill/>
              <a:ln w="9525">
                <a:noFill/>
                <a:miter lim="800000"/>
              </a:ln>
            </p:spPr>
            <p:txBody>
              <a:bodyPr wrap="square" anchor="ctr">
                <a:spAutoFit/>
              </a:bodyPr>
              <a:lstStyle/>
              <a:p>
                <a:pPr eaLnBrk="1" hangingPunct="1">
                  <a:lnSpc>
                    <a:spcPct val="120000"/>
                  </a:lnSpc>
                  <a:buFont typeface="Arial" panose="020B0604020202020204" pitchFamily="34" charset="0"/>
                  <a:buNone/>
                  <a:tabLst>
                    <a:tab pos="361950" algn="l"/>
                  </a:tabLst>
                  <a:defRPr/>
                </a:pPr>
                <a:r>
                  <a:rPr lang="zh-CN" altLang="en-US" dirty="0" smtClean="0">
                    <a:latin typeface="楷体_GB2312" pitchFamily="49" charset="-122"/>
                  </a:rPr>
                  <a:t>圆</a:t>
                </a:r>
                <a:r>
                  <a:rPr lang="zh-CN" altLang="en-US" dirty="0">
                    <a:latin typeface="楷体_GB2312" pitchFamily="49" charset="-122"/>
                  </a:rPr>
                  <a:t>的起点</a:t>
                </a:r>
                <a:r>
                  <a:rPr lang="zh-CN" altLang="en-US" dirty="0" smtClean="0">
                    <a:latin typeface="楷体_GB2312" pitchFamily="49" charset="-122"/>
                  </a:rPr>
                  <a:t>为</a:t>
                </a:r>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𝟎</m:t>
                        </m:r>
                      </m:sub>
                    </m:sSub>
                    <m:d>
                      <m:dPr>
                        <m:ctrlPr>
                          <a:rPr lang="en-US" altLang="zh-CN" b="1" i="1">
                            <a:solidFill>
                              <a:srgbClr val="FF0000"/>
                            </a:solidFill>
                            <a:latin typeface="Cambria Math" panose="02040503050406030204" pitchFamily="18" charset="0"/>
                          </a:rPr>
                        </m:ctrlPr>
                      </m:dPr>
                      <m:e>
                        <m:r>
                          <a:rPr lang="en-US" altLang="zh-CN" b="1" i="1" smtClean="0">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𝑹</m:t>
                        </m:r>
                      </m:e>
                    </m:d>
                  </m:oMath>
                </a14:m>
                <a:r>
                  <a:rPr lang="zh-CN" altLang="en-US" dirty="0" smtClean="0">
                    <a:latin typeface="楷体_GB2312" pitchFamily="49" charset="-122"/>
                  </a:rPr>
                  <a:t>，</a:t>
                </a:r>
                <a:r>
                  <a:rPr lang="en-US" altLang="zh-CN" b="1" dirty="0" smtClean="0">
                    <a:solidFill>
                      <a:srgbClr val="FF0000"/>
                    </a:solidFill>
                  </a:rPr>
                  <a:t> </a:t>
                </a:r>
                <a14:m>
                  <m:oMath xmlns:m="http://schemas.openxmlformats.org/officeDocument/2006/math">
                    <m:r>
                      <a:rPr lang="en-US" altLang="zh-CN" b="1" i="1" smtClean="0">
                        <a:solidFill>
                          <a:srgbClr val="FF0000"/>
                        </a:solidFill>
                        <a:latin typeface="Cambria Math" panose="02040503050406030204" pitchFamily="18" charset="0"/>
                      </a:rPr>
                      <m:t>𝒙</m:t>
                    </m:r>
                  </m:oMath>
                </a14:m>
                <a:r>
                  <a:rPr lang="zh-CN" altLang="en-US" dirty="0" smtClean="0">
                    <a:latin typeface="楷体_GB2312" pitchFamily="49" charset="-122"/>
                  </a:rPr>
                  <a:t> </a:t>
                </a:r>
                <a:r>
                  <a:rPr lang="zh-CN" altLang="en-US" dirty="0">
                    <a:latin typeface="楷体_GB2312" pitchFamily="49" charset="-122"/>
                  </a:rPr>
                  <a:t>为主位移方向。因此，第一个中点是</a:t>
                </a:r>
                <a14:m>
                  <m:oMath xmlns:m="http://schemas.openxmlformats.org/officeDocument/2006/math">
                    <m:d>
                      <m:dPr>
                        <m:ctrlPr>
                          <a:rPr lang="en-US" altLang="zh-CN" b="1" i="1">
                            <a:solidFill>
                              <a:srgbClr val="FF0000"/>
                            </a:solidFill>
                            <a:latin typeface="Cambria Math" panose="02040503050406030204" pitchFamily="18" charset="0"/>
                          </a:rPr>
                        </m:ctrlPr>
                      </m:dPr>
                      <m:e>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𝑹</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𝟎</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𝟓</m:t>
                        </m:r>
                      </m:e>
                    </m:d>
                  </m:oMath>
                </a14:m>
                <a:r>
                  <a:rPr lang="zh-CN" altLang="en-US" dirty="0" smtClean="0">
                    <a:latin typeface="楷体_GB2312" pitchFamily="49" charset="-122"/>
                  </a:rPr>
                  <a:t>，</a:t>
                </a:r>
                <a:r>
                  <a:rPr lang="zh-CN" altLang="en-US" dirty="0">
                    <a:latin typeface="楷体_GB2312" pitchFamily="49" charset="-122"/>
                  </a:rPr>
                  <a:t>对应的</a:t>
                </a:r>
                <a14:m>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𝒅</m:t>
                        </m:r>
                      </m:e>
                      <m:sub>
                        <m:r>
                          <a:rPr lang="en-US" altLang="zh-CN" b="1" i="1">
                            <a:solidFill>
                              <a:srgbClr val="FF0000"/>
                            </a:solidFill>
                            <a:latin typeface="Cambria Math" panose="02040503050406030204" pitchFamily="18" charset="0"/>
                          </a:rPr>
                          <m:t>𝒊</m:t>
                        </m:r>
                      </m:sub>
                    </m:sSub>
                  </m:oMath>
                </a14:m>
                <a:r>
                  <a:rPr lang="zh-CN" altLang="en-US" dirty="0">
                    <a:latin typeface="楷体_GB2312" pitchFamily="49" charset="-122"/>
                  </a:rPr>
                  <a:t>的初始值为：</a:t>
                </a:r>
                <a:r>
                  <a:rPr lang="zh-CN" altLang="en-US" dirty="0">
                    <a:effectLst>
                      <a:outerShdw blurRad="38100" dist="38100" dir="2700000" algn="tl">
                        <a:srgbClr val="C0C0C0"/>
                      </a:outerShdw>
                    </a:effectLst>
                    <a:latin typeface="楷体_GB2312" pitchFamily="49" charset="-122"/>
                  </a:rPr>
                  <a:t>  </a:t>
                </a:r>
              </a:p>
            </p:txBody>
          </p:sp>
        </mc:Choice>
        <mc:Fallback xmlns="">
          <p:sp>
            <p:nvSpPr>
              <p:cNvPr id="34818" name="Rectangle 4"/>
              <p:cNvSpPr>
                <a:spLocks noRot="1" noChangeAspect="1" noMove="1" noResize="1" noEditPoints="1" noAdjustHandles="1" noChangeArrowheads="1" noChangeShapeType="1" noTextEdit="1"/>
              </p:cNvSpPr>
              <p:nvPr/>
            </p:nvSpPr>
            <p:spPr bwMode="auto">
              <a:xfrm>
                <a:off x="539553" y="925539"/>
                <a:ext cx="8426648" cy="933397"/>
              </a:xfrm>
              <a:prstGeom prst="rect">
                <a:avLst/>
              </a:prstGeom>
              <a:blipFill>
                <a:blip r:embed="rId3"/>
                <a:stretch>
                  <a:fillRect l="-1158" t="-5882" r="-1085" b="-10458"/>
                </a:stretch>
              </a:blipFill>
              <a:ln w="9525">
                <a:noFill/>
                <a:miter lim="800000"/>
              </a:ln>
            </p:spPr>
            <p:txBody>
              <a:bodyPr/>
              <a:lstStyle/>
              <a:p>
                <a:r>
                  <a:rPr lang="zh-CN" altLang="en-US">
                    <a:noFill/>
                  </a:rPr>
                  <a:t> </a:t>
                </a:r>
              </a:p>
            </p:txBody>
          </p:sp>
        </mc:Fallback>
      </mc:AlternateContent>
      <p:sp>
        <p:nvSpPr>
          <p:cNvPr id="34819" name="Rectangle 6"/>
          <p:cNvSpPr>
            <a:spLocks noChangeArrowheads="1"/>
          </p:cNvSpPr>
          <p:nvPr/>
        </p:nvSpPr>
        <p:spPr bwMode="auto">
          <a:xfrm>
            <a:off x="7612922" y="2465415"/>
            <a:ext cx="1555750" cy="457200"/>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dirty="0">
                <a:latin typeface="楷体_GB2312" pitchFamily="49" charset="-122"/>
              </a:rPr>
              <a:t>（</a:t>
            </a:r>
            <a:r>
              <a:rPr lang="en-US" dirty="0">
                <a:latin typeface="楷体_GB2312" pitchFamily="49" charset="-122"/>
              </a:rPr>
              <a:t>3-13</a:t>
            </a:r>
            <a:r>
              <a:rPr lang="zh-CN" altLang="en-US" dirty="0">
                <a:latin typeface="楷体_GB2312" pitchFamily="49" charset="-122"/>
              </a:rPr>
              <a:t>）</a:t>
            </a:r>
            <a:r>
              <a:rPr lang="zh-CN" altLang="en-US" dirty="0">
                <a:effectLst>
                  <a:outerShdw blurRad="38100" dist="38100" dir="2700000" algn="tl">
                    <a:srgbClr val="C0C0C0"/>
                  </a:outerShdw>
                </a:effectLst>
                <a:latin typeface="楷体_GB2312" pitchFamily="49" charset="-122"/>
              </a:rPr>
              <a:t> </a:t>
            </a:r>
          </a:p>
        </p:txBody>
      </p:sp>
      <p:sp>
        <p:nvSpPr>
          <p:cNvPr id="31748" name="Rectangle 8"/>
          <p:cNvSpPr>
            <a:spLocks noChangeArrowheads="1"/>
          </p:cNvSpPr>
          <p:nvPr/>
        </p:nvSpPr>
        <p:spPr bwMode="auto">
          <a:xfrm>
            <a:off x="539452" y="328589"/>
            <a:ext cx="324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tabLst>
                <a:tab pos="361950"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361950"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361950"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b="1" dirty="0">
                <a:latin typeface="楷体_GB2312" pitchFamily="49" charset="-122"/>
              </a:rPr>
              <a:t>2.</a:t>
            </a:r>
            <a:r>
              <a:rPr lang="zh-CN" altLang="en-US" sz="2400" b="1" dirty="0">
                <a:latin typeface="楷体_GB2312" pitchFamily="49" charset="-122"/>
              </a:rPr>
              <a:t>中点误差项的初始值</a:t>
            </a:r>
          </a:p>
        </p:txBody>
      </p:sp>
      <p:sp>
        <p:nvSpPr>
          <p:cNvPr id="31749" name="Rectangle 13"/>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1750" name="Object 6"/>
          <p:cNvGraphicFramePr>
            <a:graphicFrameLocks noChangeAspect="1"/>
          </p:cNvGraphicFramePr>
          <p:nvPr>
            <p:extLst>
              <p:ext uri="{D42A27DB-BD31-4B8C-83A1-F6EECF244321}">
                <p14:modId xmlns:p14="http://schemas.microsoft.com/office/powerpoint/2010/main" val="1869118538"/>
              </p:ext>
            </p:extLst>
          </p:nvPr>
        </p:nvGraphicFramePr>
        <p:xfrm>
          <a:off x="909638" y="2046288"/>
          <a:ext cx="7031037" cy="460375"/>
        </p:xfrm>
        <a:graphic>
          <a:graphicData uri="http://schemas.openxmlformats.org/presentationml/2006/ole">
            <mc:AlternateContent xmlns:mc="http://schemas.openxmlformats.org/markup-compatibility/2006">
              <mc:Choice xmlns:v="urn:schemas-microsoft-com:vml" Requires="v">
                <p:oleObj spid="_x0000_s31830" name="公式" r:id="rId4" imgW="3644640" imgH="241200" progId="Equation.3">
                  <p:embed/>
                </p:oleObj>
              </mc:Choice>
              <mc:Fallback>
                <p:oleObj name="公式" r:id="rId4" imgW="3644640" imgH="241200" progId="Equation.3">
                  <p:embed/>
                  <p:pic>
                    <p:nvPicPr>
                      <p:cNvPr id="0" name="Object 6"/>
                      <p:cNvPicPr>
                        <a:picLocks noChangeAspect="1" noChangeArrowheads="1"/>
                      </p:cNvPicPr>
                      <p:nvPr/>
                    </p:nvPicPr>
                    <p:blipFill>
                      <a:blip r:embed="rId5"/>
                      <a:srcRect/>
                      <a:stretch>
                        <a:fillRect/>
                      </a:stretch>
                    </p:blipFill>
                    <p:spPr bwMode="auto">
                      <a:xfrm>
                        <a:off x="909638" y="2046288"/>
                        <a:ext cx="70310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1752" name="Picture 1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28925" y="3297700"/>
            <a:ext cx="3527425"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Rectangle 17"/>
          <p:cNvSpPr>
            <a:spLocks noChangeArrowheads="1"/>
          </p:cNvSpPr>
          <p:nvPr/>
        </p:nvSpPr>
        <p:spPr bwMode="auto">
          <a:xfrm>
            <a:off x="3276600" y="6237288"/>
            <a:ext cx="307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楷体_GB2312" pitchFamily="49" charset="-122"/>
                <a:hlinkClick r:id="rId7" action="ppaction://hlinkfile"/>
              </a:rPr>
              <a:t>圆中点</a:t>
            </a:r>
            <a:r>
              <a:rPr lang="en-US" altLang="zh-CN" sz="2400">
                <a:latin typeface="楷体_GB2312" pitchFamily="49" charset="-122"/>
                <a:hlinkClick r:id="rId7" action="ppaction://hlinkfile"/>
              </a:rPr>
              <a:t>Bresenham</a:t>
            </a:r>
            <a:r>
              <a:rPr lang="zh-CN" altLang="en-US" sz="2400">
                <a:latin typeface="楷体_GB2312" pitchFamily="49" charset="-122"/>
                <a:hlinkClick r:id="rId7" action="ppaction://hlinkfile"/>
              </a:rPr>
              <a:t>算法</a:t>
            </a:r>
            <a:endParaRPr lang="zh-CN" altLang="en-US" sz="2400">
              <a:latin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611560" y="404664"/>
            <a:ext cx="7885112"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a:t>
            </a:r>
            <a:r>
              <a:rPr lang="zh-CN" altLang="en-US" sz="1400" dirty="0">
                <a:latin typeface="Tahoma" panose="020B0604030504040204" pitchFamily="34" charset="0"/>
              </a:rPr>
              <a:t>圆中点</a:t>
            </a:r>
            <a:r>
              <a:rPr lang="en-US" altLang="zh-CN" sz="1400" dirty="0" err="1">
                <a:latin typeface="Tahoma" panose="020B0604030504040204" pitchFamily="34" charset="0"/>
              </a:rPr>
              <a:t>Bresenham</a:t>
            </a:r>
            <a:r>
              <a:rPr lang="zh-CN" altLang="en-US" sz="1400" dirty="0">
                <a:latin typeface="Tahoma" panose="020B0604030504040204" pitchFamily="34" charset="0"/>
              </a:rPr>
              <a:t>算法</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void </a:t>
            </a:r>
            <a:r>
              <a:rPr lang="en-US" altLang="zh-CN" sz="1400" dirty="0" err="1">
                <a:latin typeface="Tahoma" panose="020B0604030504040204" pitchFamily="34" charset="0"/>
              </a:rPr>
              <a:t>CTestView</a:t>
            </a:r>
            <a:r>
              <a:rPr lang="en-US" altLang="zh-CN" sz="1400" dirty="0">
                <a:latin typeface="Tahoma" panose="020B0604030504040204" pitchFamily="34" charset="0"/>
              </a:rPr>
              <a:t>::</a:t>
            </a:r>
            <a:r>
              <a:rPr lang="en-US" altLang="zh-CN" sz="1400" dirty="0" err="1">
                <a:latin typeface="Tahoma" panose="020B0604030504040204" pitchFamily="34" charset="0"/>
              </a:rPr>
              <a:t>MBCircle</a:t>
            </a:r>
            <a:r>
              <a:rPr lang="en-US" altLang="zh-CN" sz="1400" dirty="0">
                <a:latin typeface="Tahoma" panose="020B0604030504040204" pitchFamily="34" charset="0"/>
              </a:rPr>
              <a:t>(double R,CDC *</a:t>
            </a:r>
            <a:r>
              <a:rPr lang="en-US" altLang="zh-CN" sz="1400" dirty="0" err="1">
                <a:latin typeface="Tahoma" panose="020B0604030504040204" pitchFamily="34" charset="0"/>
              </a:rPr>
              <a:t>pDC</a:t>
            </a:r>
            <a:r>
              <a:rPr lang="en-US" altLang="zh-CN" sz="14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400" dirty="0" smtClean="0">
                <a:latin typeface="Tahoma" panose="020B0604030504040204" pitchFamily="34" charset="0"/>
              </a:rPr>
              <a:t>{</a:t>
            </a:r>
            <a:r>
              <a:rPr lang="en-US" altLang="zh-CN" sz="1400" dirty="0">
                <a:latin typeface="Tahoma" panose="020B0604030504040204" pitchFamily="34" charset="0"/>
              </a:rPr>
              <a:t>	double </a:t>
            </a:r>
            <a:r>
              <a:rPr lang="en-US" altLang="zh-CN" sz="1400" dirty="0" err="1">
                <a:latin typeface="Tahoma" panose="020B0604030504040204" pitchFamily="34" charset="0"/>
              </a:rPr>
              <a:t>x,y,d</a:t>
            </a:r>
            <a:r>
              <a:rPr lang="en-US" altLang="zh-CN" sz="14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d=1.25-R;x=0;y=R;</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for(x=0;x&lt;=</a:t>
            </a:r>
            <a:r>
              <a:rPr lang="en-US" altLang="zh-CN" sz="1400" dirty="0" err="1">
                <a:latin typeface="Tahoma" panose="020B0604030504040204" pitchFamily="34" charset="0"/>
              </a:rPr>
              <a:t>y;x</a:t>
            </a:r>
            <a:r>
              <a:rPr lang="en-US" altLang="zh-CN" sz="14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smtClean="0">
                <a:latin typeface="Tahoma" panose="020B0604030504040204" pitchFamily="34" charset="0"/>
              </a:rPr>
              <a:t>{       </a:t>
            </a:r>
            <a:r>
              <a:rPr lang="en-US" altLang="zh-CN" sz="1400" dirty="0" err="1" smtClean="0">
                <a:latin typeface="Tahoma" panose="020B0604030504040204" pitchFamily="34" charset="0"/>
              </a:rPr>
              <a:t>CirclePoint</a:t>
            </a:r>
            <a:r>
              <a:rPr lang="en-US" altLang="zh-CN" sz="1400" dirty="0" smtClean="0">
                <a:latin typeface="Tahoma" panose="020B0604030504040204" pitchFamily="34" charset="0"/>
              </a:rPr>
              <a:t>(</a:t>
            </a:r>
            <a:r>
              <a:rPr lang="en-US" altLang="zh-CN" sz="1400" dirty="0" err="1" smtClean="0">
                <a:latin typeface="Tahoma" panose="020B0604030504040204" pitchFamily="34" charset="0"/>
              </a:rPr>
              <a:t>x,y,pDC</a:t>
            </a:r>
            <a:r>
              <a:rPr lang="en-US" altLang="zh-CN" sz="1400" dirty="0">
                <a:latin typeface="Tahoma" panose="020B0604030504040204" pitchFamily="34" charset="0"/>
              </a:rPr>
              <a:t>);//</a:t>
            </a:r>
            <a:r>
              <a:rPr lang="zh-CN" altLang="en-US" sz="1400" dirty="0">
                <a:latin typeface="Tahoma" panose="020B0604030504040204" pitchFamily="34" charset="0"/>
              </a:rPr>
              <a:t>调用八分法画圆子函数</a:t>
            </a:r>
          </a:p>
          <a:p>
            <a:pPr eaLnBrk="1" hangingPunct="1">
              <a:lnSpc>
                <a:spcPct val="100000"/>
              </a:lnSpc>
              <a:spcBef>
                <a:spcPct val="0"/>
              </a:spcBef>
              <a:buFont typeface="Arial" panose="020B0604020202020204" pitchFamily="34" charset="0"/>
              <a:buNone/>
            </a:pPr>
            <a:r>
              <a:rPr lang="zh-CN" altLang="en-US" sz="1400" dirty="0">
                <a:latin typeface="Tahoma" panose="020B0604030504040204" pitchFamily="34" charset="0"/>
              </a:rPr>
              <a:t>                       </a:t>
            </a:r>
            <a:r>
              <a:rPr lang="en-US" altLang="zh-CN" sz="1400" dirty="0">
                <a:latin typeface="Tahoma" panose="020B0604030504040204" pitchFamily="34" charset="0"/>
              </a:rPr>
              <a:t>if (d&lt;0)</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d+=2*x+3;</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else</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smtClean="0">
                <a:latin typeface="Tahoma" panose="020B0604030504040204" pitchFamily="34" charset="0"/>
              </a:rPr>
              <a:t>{</a:t>
            </a:r>
            <a:r>
              <a:rPr lang="en-US" altLang="zh-CN" sz="1400" dirty="0">
                <a:latin typeface="Tahoma" panose="020B0604030504040204" pitchFamily="34" charset="0"/>
              </a:rPr>
              <a:t>	d+=2*(x-y)+5;</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y-</a:t>
            </a:r>
            <a:r>
              <a:rPr lang="en-US" altLang="zh-CN" sz="1400" dirty="0" smtClean="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smtClean="0">
                <a:latin typeface="Tahoma" panose="020B0604030504040204" pitchFamily="34" charset="0"/>
              </a:rPr>
              <a:t>            }</a:t>
            </a:r>
            <a:endParaRPr lang="en-US" altLang="zh-CN" sz="1400" dirty="0">
              <a:latin typeface="Tahoma" panose="020B0604030504040204" pitchFamily="34" charset="0"/>
            </a:endParaRP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a:t>
            </a:r>
            <a:endParaRPr lang="zh-CN" altLang="en-US" sz="1400" dirty="0">
              <a:latin typeface="Tahoma" panose="020B0604030504040204" pitchFamily="34" charset="0"/>
            </a:endParaRPr>
          </a:p>
        </p:txBody>
      </p:sp>
      <p:sp>
        <p:nvSpPr>
          <p:cNvPr id="3" name="Rectangle 4"/>
          <p:cNvSpPr>
            <a:spLocks noChangeArrowheads="1"/>
          </p:cNvSpPr>
          <p:nvPr/>
        </p:nvSpPr>
        <p:spPr bwMode="auto">
          <a:xfrm>
            <a:off x="611560" y="3310834"/>
            <a:ext cx="6624736" cy="33239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void </a:t>
            </a:r>
            <a:r>
              <a:rPr lang="en-US" altLang="zh-CN" sz="1400" dirty="0" err="1">
                <a:latin typeface="Tahoma" panose="020B0604030504040204" pitchFamily="34" charset="0"/>
              </a:rPr>
              <a:t>CTestView</a:t>
            </a:r>
            <a:r>
              <a:rPr lang="en-US" altLang="zh-CN" sz="1400" dirty="0">
                <a:latin typeface="Tahoma" panose="020B0604030504040204" pitchFamily="34" charset="0"/>
              </a:rPr>
              <a:t>::</a:t>
            </a:r>
            <a:r>
              <a:rPr lang="en-US" altLang="zh-CN" sz="1400" dirty="0" err="1">
                <a:latin typeface="Tahoma" panose="020B0604030504040204" pitchFamily="34" charset="0"/>
              </a:rPr>
              <a:t>CirclePoint</a:t>
            </a:r>
            <a:r>
              <a:rPr lang="en-US" altLang="zh-CN" sz="1400" dirty="0">
                <a:latin typeface="Tahoma" panose="020B0604030504040204" pitchFamily="34" charset="0"/>
              </a:rPr>
              <a:t>(double x, double </a:t>
            </a:r>
            <a:r>
              <a:rPr lang="en-US" altLang="zh-CN" sz="1400" dirty="0" err="1">
                <a:latin typeface="Tahoma" panose="020B0604030504040204" pitchFamily="34" charset="0"/>
              </a:rPr>
              <a:t>y,CDC</a:t>
            </a: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a:t>
            </a:r>
            <a:r>
              <a:rPr lang="zh-CN" altLang="en-US" sz="1400" dirty="0">
                <a:latin typeface="Tahoma" panose="020B0604030504040204" pitchFamily="34" charset="0"/>
              </a:rPr>
              <a:t>八分法画圆子函数</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zh-CN" altLang="en-US" sz="1400" dirty="0">
                <a:latin typeface="Tahoma" panose="020B0604030504040204" pitchFamily="34" charset="0"/>
              </a:rPr>
              <a:t>圆心坐标</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CP2 pc=CP2((p0.x+p1.x)/2.0,(p0.y+p1.y)/2.0);        </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zh-CN" altLang="en-US" sz="1400" dirty="0">
                <a:latin typeface="Tahoma" panose="020B0604030504040204" pitchFamily="34" charset="0"/>
              </a:rPr>
              <a:t>定义圆的边界颜色 </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COLORREF  </a:t>
            </a:r>
            <a:r>
              <a:rPr lang="en-US" altLang="zh-CN" sz="1400" dirty="0" err="1">
                <a:latin typeface="Tahoma" panose="020B0604030504040204" pitchFamily="34" charset="0"/>
              </a:rPr>
              <a:t>clr</a:t>
            </a:r>
            <a:r>
              <a:rPr lang="en-US" altLang="zh-CN" sz="1400" dirty="0">
                <a:latin typeface="Tahoma" panose="020B0604030504040204" pitchFamily="34" charset="0"/>
              </a:rPr>
              <a:t>=RGB(0,0,255);                         </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x+pc.x</a:t>
            </a:r>
            <a:r>
              <a:rPr lang="en-US" altLang="zh-CN" sz="1400" dirty="0">
                <a:latin typeface="Tahoma" panose="020B0604030504040204" pitchFamily="34" charset="0"/>
              </a:rPr>
              <a:t>),Round(</a:t>
            </a:r>
            <a:r>
              <a:rPr lang="en-US" altLang="zh-CN" sz="1400" dirty="0" err="1">
                <a:latin typeface="Tahoma" panose="020B0604030504040204" pitchFamily="34" charset="0"/>
              </a:rPr>
              <a:t>y+pc.y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 //</a:t>
            </a:r>
            <a:r>
              <a:rPr lang="en-US" altLang="zh-CN" sz="1400" dirty="0" err="1">
                <a:latin typeface="Tahoma" panose="020B0604030504040204" pitchFamily="34" charset="0"/>
              </a:rPr>
              <a:t>x,y</a:t>
            </a:r>
            <a:endParaRPr lang="en-US" altLang="zh-CN" sz="1400" dirty="0">
              <a:latin typeface="Tahoma" panose="020B0604030504040204" pitchFamily="34" charset="0"/>
            </a:endParaRP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y+pc.x</a:t>
            </a:r>
            <a:r>
              <a:rPr lang="en-US" altLang="zh-CN" sz="1400" dirty="0">
                <a:latin typeface="Tahoma" panose="020B0604030504040204" pitchFamily="34" charset="0"/>
              </a:rPr>
              <a:t>),Round(</a:t>
            </a:r>
            <a:r>
              <a:rPr lang="en-US" altLang="zh-CN" sz="1400" dirty="0" err="1">
                <a:latin typeface="Tahoma" panose="020B0604030504040204" pitchFamily="34" charset="0"/>
              </a:rPr>
              <a:t>x+pc.y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 //</a:t>
            </a:r>
            <a:r>
              <a:rPr lang="en-US" altLang="zh-CN" sz="1400" dirty="0" err="1">
                <a:latin typeface="Tahoma" panose="020B0604030504040204" pitchFamily="34" charset="0"/>
              </a:rPr>
              <a:t>y,x</a:t>
            </a:r>
            <a:endParaRPr lang="en-US" altLang="zh-CN" sz="1400" dirty="0">
              <a:latin typeface="Tahoma" panose="020B0604030504040204" pitchFamily="34" charset="0"/>
            </a:endParaRP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y+pc.x</a:t>
            </a:r>
            <a:r>
              <a:rPr lang="en-US" altLang="zh-CN" sz="1400" dirty="0">
                <a:latin typeface="Tahoma" panose="020B0604030504040204" pitchFamily="34" charset="0"/>
              </a:rPr>
              <a:t>),Round(-</a:t>
            </a:r>
            <a:r>
              <a:rPr lang="en-US" altLang="zh-CN" sz="1400" dirty="0" err="1">
                <a:latin typeface="Tahoma" panose="020B0604030504040204" pitchFamily="34" charset="0"/>
              </a:rPr>
              <a:t>x+pc.y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);//y,-x</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x+pc.x</a:t>
            </a:r>
            <a:r>
              <a:rPr lang="en-US" altLang="zh-CN" sz="1400" dirty="0">
                <a:latin typeface="Tahoma" panose="020B0604030504040204" pitchFamily="34" charset="0"/>
              </a:rPr>
              <a:t>),Round(-</a:t>
            </a:r>
            <a:r>
              <a:rPr lang="en-US" altLang="zh-CN" sz="1400" dirty="0" err="1">
                <a:latin typeface="Tahoma" panose="020B0604030504040204" pitchFamily="34" charset="0"/>
              </a:rPr>
              <a:t>y+pc.y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);//x,-y</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x+pc.x</a:t>
            </a:r>
            <a:r>
              <a:rPr lang="en-US" altLang="zh-CN" sz="1400" dirty="0">
                <a:latin typeface="Tahoma" panose="020B0604030504040204" pitchFamily="34" charset="0"/>
              </a:rPr>
              <a:t>),Round(-</a:t>
            </a:r>
            <a:r>
              <a:rPr lang="en-US" altLang="zh-CN" sz="1400" dirty="0" err="1">
                <a:latin typeface="Tahoma" panose="020B0604030504040204" pitchFamily="34" charset="0"/>
              </a:rPr>
              <a:t>y+pc.y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);//-x,-y</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y+pc.x</a:t>
            </a:r>
            <a:r>
              <a:rPr lang="en-US" altLang="zh-CN" sz="1400" dirty="0">
                <a:latin typeface="Tahoma" panose="020B0604030504040204" pitchFamily="34" charset="0"/>
              </a:rPr>
              <a:t>),Round(-</a:t>
            </a:r>
            <a:r>
              <a:rPr lang="en-US" altLang="zh-CN" sz="1400" dirty="0" err="1">
                <a:latin typeface="Tahoma" panose="020B0604030504040204" pitchFamily="34" charset="0"/>
              </a:rPr>
              <a:t>x+pc.y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);//-y,-x</a:t>
            </a: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y+pc.x</a:t>
            </a:r>
            <a:r>
              <a:rPr lang="en-US" altLang="zh-CN" sz="1400" dirty="0">
                <a:latin typeface="Tahoma" panose="020B0604030504040204" pitchFamily="34" charset="0"/>
              </a:rPr>
              <a:t>),Round(</a:t>
            </a:r>
            <a:r>
              <a:rPr lang="en-US" altLang="zh-CN" sz="1400" dirty="0" err="1">
                <a:latin typeface="Tahoma" panose="020B0604030504040204" pitchFamily="34" charset="0"/>
              </a:rPr>
              <a:t>x+pc.y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a:t>
            </a:r>
            <a:r>
              <a:rPr lang="en-US" altLang="zh-CN" sz="1400" dirty="0" err="1">
                <a:latin typeface="Tahoma" panose="020B0604030504040204" pitchFamily="34" charset="0"/>
              </a:rPr>
              <a:t>y,x</a:t>
            </a:r>
            <a:endParaRPr lang="en-US" altLang="zh-CN" sz="1400" dirty="0">
              <a:latin typeface="Tahoma" panose="020B0604030504040204" pitchFamily="34" charset="0"/>
            </a:endParaRP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	</a:t>
            </a:r>
            <a:r>
              <a:rPr lang="en-US" altLang="zh-CN" sz="1400" dirty="0" err="1">
                <a:latin typeface="Tahoma" panose="020B0604030504040204" pitchFamily="34" charset="0"/>
              </a:rPr>
              <a:t>pDC</a:t>
            </a:r>
            <a:r>
              <a:rPr lang="en-US" altLang="zh-CN" sz="1400" dirty="0">
                <a:latin typeface="Tahoma" panose="020B0604030504040204" pitchFamily="34" charset="0"/>
              </a:rPr>
              <a:t>-&gt;</a:t>
            </a:r>
            <a:r>
              <a:rPr lang="en-US" altLang="zh-CN" sz="1400" dirty="0" err="1">
                <a:latin typeface="Tahoma" panose="020B0604030504040204" pitchFamily="34" charset="0"/>
              </a:rPr>
              <a:t>SetPixelV</a:t>
            </a:r>
            <a:r>
              <a:rPr lang="en-US" altLang="zh-CN" sz="1400" dirty="0">
                <a:latin typeface="Tahoma" panose="020B0604030504040204" pitchFamily="34" charset="0"/>
              </a:rPr>
              <a:t>(Round(-</a:t>
            </a:r>
            <a:r>
              <a:rPr lang="en-US" altLang="zh-CN" sz="1400" dirty="0" err="1">
                <a:latin typeface="Tahoma" panose="020B0604030504040204" pitchFamily="34" charset="0"/>
              </a:rPr>
              <a:t>x+pc.x</a:t>
            </a:r>
            <a:r>
              <a:rPr lang="en-US" altLang="zh-CN" sz="1400" dirty="0">
                <a:latin typeface="Tahoma" panose="020B0604030504040204" pitchFamily="34" charset="0"/>
              </a:rPr>
              <a:t>),Round(</a:t>
            </a:r>
            <a:r>
              <a:rPr lang="en-US" altLang="zh-CN" sz="1400" dirty="0" err="1">
                <a:latin typeface="Tahoma" panose="020B0604030504040204" pitchFamily="34" charset="0"/>
              </a:rPr>
              <a:t>y+pc.y</a:t>
            </a:r>
            <a:r>
              <a:rPr lang="en-US" altLang="zh-CN" sz="1400" dirty="0">
                <a:latin typeface="Tahoma" panose="020B0604030504040204" pitchFamily="34" charset="0"/>
              </a:rPr>
              <a:t>),</a:t>
            </a:r>
            <a:r>
              <a:rPr lang="en-US" altLang="zh-CN" sz="1400" dirty="0" err="1">
                <a:latin typeface="Tahoma" panose="020B0604030504040204" pitchFamily="34" charset="0"/>
              </a:rPr>
              <a:t>clr</a:t>
            </a:r>
            <a:r>
              <a:rPr lang="en-US" altLang="zh-CN" sz="1400" dirty="0">
                <a:latin typeface="Tahoma" panose="020B0604030504040204" pitchFamily="34" charset="0"/>
              </a:rPr>
              <a:t>);//-</a:t>
            </a:r>
            <a:r>
              <a:rPr lang="en-US" altLang="zh-CN" sz="1400" dirty="0" err="1">
                <a:latin typeface="Tahoma" panose="020B0604030504040204" pitchFamily="34" charset="0"/>
              </a:rPr>
              <a:t>x,y</a:t>
            </a:r>
            <a:endParaRPr lang="en-US" altLang="zh-CN" sz="1400" dirty="0">
              <a:latin typeface="Tahoma" panose="020B0604030504040204" pitchFamily="34" charset="0"/>
            </a:endParaRPr>
          </a:p>
          <a:p>
            <a:pPr eaLnBrk="1" hangingPunct="1">
              <a:lnSpc>
                <a:spcPct val="100000"/>
              </a:lnSpc>
              <a:spcBef>
                <a:spcPct val="0"/>
              </a:spcBef>
              <a:buFont typeface="Arial" panose="020B0604020202020204" pitchFamily="34" charset="0"/>
              <a:buNone/>
            </a:pPr>
            <a:r>
              <a:rPr lang="en-US" altLang="zh-CN" sz="1400" dirty="0">
                <a:latin typeface="Tahoma" panose="020B0604030504040204" pitchFamily="34" charset="0"/>
              </a:rPr>
              <a:t>}</a:t>
            </a:r>
            <a:endParaRPr lang="zh-CN" altLang="en-US" sz="1400" dirty="0">
              <a:latin typeface="Tahoma" panose="020B060403050404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1403350" y="188913"/>
            <a:ext cx="4465638" cy="647700"/>
          </a:xfrm>
          <a:prstGeom prst="rect">
            <a:avLst/>
          </a:prstGeom>
          <a:noFill/>
          <a:ln w="9525">
            <a:noFill/>
            <a:miter lim="800000"/>
          </a:ln>
        </p:spPr>
        <p:txBody>
          <a:bodyPr anchor="b"/>
          <a:lstStyle/>
          <a:p>
            <a:pPr eaLnBrk="1" hangingPunct="1">
              <a:buFont typeface="Arial" panose="020B0604020202020204" pitchFamily="34" charset="0"/>
              <a:buNone/>
              <a:defRPr/>
            </a:pPr>
            <a:r>
              <a:rPr lang="en-US" sz="3600" b="1">
                <a:effectLst>
                  <a:outerShdw blurRad="38100" dist="38100" dir="2700000" algn="tl">
                    <a:srgbClr val="C0C0C0"/>
                  </a:outerShdw>
                </a:effectLst>
                <a:latin typeface="楷体_GB2312" pitchFamily="49" charset="-122"/>
              </a:rPr>
              <a:t>3.3 </a:t>
            </a:r>
            <a:r>
              <a:rPr lang="zh-CN" altLang="en-US" sz="3600" b="1">
                <a:effectLst>
                  <a:outerShdw blurRad="38100" dist="38100" dir="2700000" algn="tl">
                    <a:srgbClr val="C0C0C0"/>
                  </a:outerShdw>
                </a:effectLst>
                <a:latin typeface="楷体_GB2312" pitchFamily="49" charset="-122"/>
              </a:rPr>
              <a:t>椭圆的扫描转换</a:t>
            </a:r>
          </a:p>
        </p:txBody>
      </p:sp>
      <p:sp>
        <p:nvSpPr>
          <p:cNvPr id="34819" name="Rectangle 3"/>
          <p:cNvSpPr>
            <a:spLocks noChangeArrowheads="1"/>
          </p:cNvSpPr>
          <p:nvPr/>
        </p:nvSpPr>
        <p:spPr bwMode="auto">
          <a:xfrm>
            <a:off x="395288" y="1152992"/>
            <a:ext cx="84978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50000"/>
              </a:lnSpc>
              <a:spcBef>
                <a:spcPct val="0"/>
              </a:spcBef>
              <a:buFont typeface="Arial" panose="020B0604020202020204" pitchFamily="34" charset="0"/>
              <a:buNone/>
            </a:pPr>
            <a:r>
              <a:rPr lang="zh-CN" altLang="en-US" sz="2000" dirty="0" smtClean="0">
                <a:latin typeface="Tahoma" panose="020B0604030504040204" pitchFamily="34" charset="0"/>
              </a:rPr>
              <a:t>椭圆</a:t>
            </a:r>
            <a:r>
              <a:rPr lang="zh-CN" altLang="en-US" sz="2000" dirty="0">
                <a:latin typeface="Tahoma" panose="020B0604030504040204" pitchFamily="34" charset="0"/>
              </a:rPr>
              <a:t>的扫描转换是</a:t>
            </a:r>
            <a:r>
              <a:rPr lang="zh-CN" altLang="en-US" sz="2000" dirty="0">
                <a:solidFill>
                  <a:srgbClr val="FF0000"/>
                </a:solidFill>
                <a:latin typeface="华文琥珀" panose="02010800040101010101" pitchFamily="2" charset="-122"/>
                <a:ea typeface="华文琥珀" panose="02010800040101010101" pitchFamily="2" charset="-122"/>
              </a:rPr>
              <a:t>在屏幕像素点阵中选取最佳逼近于理想椭圆像素点集的过程</a:t>
            </a:r>
            <a:r>
              <a:rPr lang="zh-CN" altLang="en-US" sz="2000" dirty="0">
                <a:latin typeface="Tahoma" panose="020B0604030504040204" pitchFamily="34" charset="0"/>
              </a:rPr>
              <a:t>。椭圆是</a:t>
            </a:r>
            <a:r>
              <a:rPr lang="zh-CN" altLang="en-US" sz="2000" b="1" dirty="0">
                <a:solidFill>
                  <a:srgbClr val="FF0000"/>
                </a:solidFill>
                <a:latin typeface="方正粗黑宋简体" panose="02000000000000000000" pitchFamily="2" charset="-122"/>
                <a:ea typeface="方正粗黑宋简体" panose="02000000000000000000" pitchFamily="2" charset="-122"/>
              </a:rPr>
              <a:t>长半轴</a:t>
            </a:r>
            <a:r>
              <a:rPr lang="zh-CN" altLang="en-US" sz="2000" dirty="0">
                <a:latin typeface="Tahoma" panose="020B0604030504040204" pitchFamily="34" charset="0"/>
              </a:rPr>
              <a:t>和</a:t>
            </a:r>
            <a:r>
              <a:rPr lang="zh-CN" altLang="en-US" sz="2000" b="1" dirty="0">
                <a:solidFill>
                  <a:srgbClr val="FF0000"/>
                </a:solidFill>
                <a:latin typeface="方正粗黑宋简体" panose="02000000000000000000" pitchFamily="2" charset="-122"/>
                <a:ea typeface="方正粗黑宋简体" panose="02000000000000000000" pitchFamily="2" charset="-122"/>
              </a:rPr>
              <a:t>短半轴</a:t>
            </a:r>
            <a:r>
              <a:rPr lang="zh-CN" altLang="en-US" sz="2000" dirty="0">
                <a:latin typeface="Tahoma" panose="020B0604030504040204" pitchFamily="34" charset="0"/>
              </a:rPr>
              <a:t>不相等的圆，椭圆的扫描转换与圆的扫描转换有类似之处。本节主要讲解顺时针</a:t>
            </a:r>
            <a:r>
              <a:rPr lang="zh-CN" altLang="en-US" sz="2000" dirty="0" smtClean="0">
                <a:latin typeface="Tahoma" panose="020B0604030504040204" pitchFamily="34" charset="0"/>
              </a:rPr>
              <a:t>绘制 </a:t>
            </a:r>
            <a:r>
              <a:rPr lang="en-US" altLang="zh-CN" sz="2000" b="1" dirty="0">
                <a:solidFill>
                  <a:srgbClr val="3366FF"/>
                </a:solidFill>
                <a:latin typeface="方正粗黑宋简体" panose="02000000000000000000" pitchFamily="2" charset="-122"/>
                <a:ea typeface="方正粗黑宋简体" panose="02000000000000000000" pitchFamily="2" charset="-122"/>
              </a:rPr>
              <a:t>1/4</a:t>
            </a:r>
            <a:r>
              <a:rPr lang="en-US" altLang="zh-CN" sz="2000" dirty="0" smtClean="0">
                <a:solidFill>
                  <a:srgbClr val="FF0000"/>
                </a:solidFill>
                <a:latin typeface="华文琥珀" panose="02010800040101010101" pitchFamily="2" charset="-122"/>
                <a:ea typeface="华文琥珀" panose="02010800040101010101" pitchFamily="2" charset="-122"/>
              </a:rPr>
              <a:t> </a:t>
            </a:r>
            <a:r>
              <a:rPr lang="zh-CN" altLang="en-US" sz="2000" b="1" dirty="0">
                <a:solidFill>
                  <a:srgbClr val="FF0000"/>
                </a:solidFill>
                <a:latin typeface="方正粗黑宋简体" panose="02000000000000000000" pitchFamily="2" charset="-122"/>
                <a:ea typeface="方正粗黑宋简体" panose="02000000000000000000" pitchFamily="2" charset="-122"/>
              </a:rPr>
              <a:t>椭圆</a:t>
            </a:r>
            <a:r>
              <a:rPr lang="zh-CN" altLang="en-US" sz="2000" b="1" dirty="0">
                <a:solidFill>
                  <a:srgbClr val="FF0000"/>
                </a:solidFill>
                <a:latin typeface="方正粗黑宋简体" panose="02000000000000000000" pitchFamily="2" charset="-122"/>
                <a:ea typeface="方正粗黑宋简体" panose="02000000000000000000" pitchFamily="2" charset="-122"/>
              </a:rPr>
              <a:t>的</a:t>
            </a:r>
            <a:r>
              <a:rPr lang="zh-CN" altLang="en-US" sz="2000" b="1" dirty="0">
                <a:solidFill>
                  <a:srgbClr val="FF0000"/>
                </a:solidFill>
                <a:latin typeface="方正粗黑宋简体" panose="02000000000000000000" pitchFamily="2" charset="-122"/>
                <a:ea typeface="方正粗黑宋简体" panose="02000000000000000000" pitchFamily="2" charset="-122"/>
              </a:rPr>
              <a:t>中点 </a:t>
            </a:r>
            <a:r>
              <a:rPr lang="en-US" altLang="zh-CN" sz="2000" b="1" dirty="0" err="1" smtClean="0">
                <a:solidFill>
                  <a:srgbClr val="FF0000"/>
                </a:solidFill>
                <a:latin typeface="方正粗黑宋简体" panose="02000000000000000000" pitchFamily="2" charset="-122"/>
                <a:ea typeface="方正粗黑宋简体" panose="02000000000000000000" pitchFamily="2" charset="-122"/>
              </a:rPr>
              <a:t>Bresenham</a:t>
            </a:r>
            <a:r>
              <a:rPr lang="en-US" altLang="zh-CN" sz="2000" b="1" dirty="0" smtClean="0">
                <a:solidFill>
                  <a:srgbClr val="FF0000"/>
                </a:solidFill>
                <a:latin typeface="方正粗黑宋简体" panose="02000000000000000000" pitchFamily="2" charset="-122"/>
                <a:ea typeface="方正粗黑宋简体" panose="02000000000000000000" pitchFamily="2" charset="-122"/>
              </a:rPr>
              <a:t> </a:t>
            </a:r>
            <a:r>
              <a:rPr lang="zh-CN" altLang="en-US" sz="2000" dirty="0" smtClean="0">
                <a:solidFill>
                  <a:srgbClr val="FF0000"/>
                </a:solidFill>
                <a:latin typeface="华文琥珀" panose="02010800040101010101" pitchFamily="2" charset="-122"/>
                <a:ea typeface="华文琥珀" panose="02010800040101010101" pitchFamily="2" charset="-122"/>
              </a:rPr>
              <a:t>算法</a:t>
            </a:r>
            <a:r>
              <a:rPr lang="zh-CN" altLang="en-US" sz="2000" dirty="0">
                <a:solidFill>
                  <a:srgbClr val="FF0000"/>
                </a:solidFill>
                <a:latin typeface="华文琥珀" panose="02010800040101010101" pitchFamily="2" charset="-122"/>
                <a:ea typeface="华文琥珀" panose="02010800040101010101" pitchFamily="2" charset="-122"/>
              </a:rPr>
              <a:t>原理</a:t>
            </a:r>
            <a:r>
              <a:rPr lang="zh-CN" altLang="en-US" sz="2000" dirty="0">
                <a:latin typeface="Tahoma" panose="020B0604030504040204" pitchFamily="34" charset="0"/>
              </a:rPr>
              <a:t>，根据对称性可以绘制完整椭圆。 </a:t>
            </a:r>
          </a:p>
        </p:txBody>
      </p:sp>
      <p:sp>
        <p:nvSpPr>
          <p:cNvPr id="34820" name="Rectangle 4"/>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34821" name="Rectangle 6"/>
          <p:cNvSpPr>
            <a:spLocks noChangeArrowheads="1"/>
          </p:cNvSpPr>
          <p:nvPr/>
        </p:nvSpPr>
        <p:spPr bwMode="auto">
          <a:xfrm>
            <a:off x="3635375" y="6165850"/>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椭圆的扫描转换 </a:t>
            </a:r>
          </a:p>
        </p:txBody>
      </p:sp>
      <p:sp>
        <p:nvSpPr>
          <p:cNvPr id="34822" name="Rectangle 8"/>
          <p:cNvSpPr>
            <a:spLocks noChangeArrowheads="1"/>
          </p:cNvSpPr>
          <p:nvPr/>
        </p:nvSpPr>
        <p:spPr bwMode="auto">
          <a:xfrm>
            <a:off x="0" y="251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4823" name="Object 7"/>
          <p:cNvGraphicFramePr>
            <a:graphicFrameLocks noChangeAspect="1"/>
          </p:cNvGraphicFramePr>
          <p:nvPr/>
        </p:nvGraphicFramePr>
        <p:xfrm>
          <a:off x="2771775" y="2781300"/>
          <a:ext cx="4321175" cy="3557588"/>
        </p:xfrm>
        <a:graphic>
          <a:graphicData uri="http://schemas.openxmlformats.org/presentationml/2006/ole">
            <mc:AlternateContent xmlns:mc="http://schemas.openxmlformats.org/markup-compatibility/2006">
              <mc:Choice xmlns:v="urn:schemas-microsoft-com:vml" Requires="v">
                <p:oleObj spid="_x0000_s34864" r:id="rId3" imgW="5188320" imgH="4285800" progId="Visio.Drawing.11">
                  <p:embed/>
                </p:oleObj>
              </mc:Choice>
              <mc:Fallback>
                <p:oleObj r:id="rId3" imgW="5188320" imgH="4285800"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781300"/>
                        <a:ext cx="4321175"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9937" name="Rectangle 2"/>
              <p:cNvSpPr>
                <a:spLocks noChangeArrowheads="1"/>
              </p:cNvSpPr>
              <p:nvPr/>
            </p:nvSpPr>
            <p:spPr bwMode="auto">
              <a:xfrm>
                <a:off x="323850" y="648167"/>
                <a:ext cx="8640763"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p>
                <a:pPr algn="just" eaLnBrk="1" hangingPunct="1">
                  <a:lnSpc>
                    <a:spcPct val="120000"/>
                  </a:lnSpc>
                  <a:buFont typeface="Arial" panose="020B0604020202020204" pitchFamily="34" charset="0"/>
                  <a:buNone/>
                  <a:defRPr/>
                </a:pPr>
                <a:r>
                  <a:rPr lang="zh-CN" altLang="en-US" sz="2000" dirty="0" smtClean="0"/>
                  <a:t>提出问题：</a:t>
                </a:r>
              </a:p>
              <a:p>
                <a:pPr marL="342900" indent="-342900" algn="just" eaLnBrk="1" hangingPunct="1">
                  <a:lnSpc>
                    <a:spcPct val="120000"/>
                  </a:lnSpc>
                  <a:buFont typeface="Wingdings" panose="05000000000000000000" pitchFamily="2" charset="2"/>
                  <a:buChar char="n"/>
                  <a:defRPr/>
                </a:pPr>
                <a:r>
                  <a:rPr lang="zh-CN" altLang="en-US" sz="2000" dirty="0"/>
                  <a:t>默认的</a:t>
                </a:r>
                <a:r>
                  <a:rPr lang="zh-CN" altLang="en-US" sz="2000" b="1" dirty="0">
                    <a:solidFill>
                      <a:srgbClr val="FF0000"/>
                    </a:solidFill>
                    <a:latin typeface="方正粗黑宋简体" panose="02000000000000000000" pitchFamily="2" charset="-122"/>
                    <a:ea typeface="方正粗黑宋简体" panose="02000000000000000000" pitchFamily="2" charset="-122"/>
                  </a:rPr>
                  <a:t>椭圆是圆心位于坐标系原点</a:t>
                </a:r>
                <a:r>
                  <a:rPr lang="zh-CN" altLang="en-US" sz="2000" dirty="0"/>
                  <a:t>，长半轴</a:t>
                </a:r>
                <a:r>
                  <a:rPr lang="zh-CN" altLang="en-US" sz="2000" dirty="0" smtClean="0"/>
                  <a:t>为 </a:t>
                </a:r>
                <a14:m>
                  <m:oMath xmlns:m="http://schemas.openxmlformats.org/officeDocument/2006/math">
                    <m:r>
                      <a:rPr lang="en-US" altLang="zh-CN" sz="2000" b="1" i="1" smtClean="0">
                        <a:solidFill>
                          <a:srgbClr val="FF0000"/>
                        </a:solidFill>
                        <a:latin typeface="Cambria Math" panose="02040503050406030204" pitchFamily="18" charset="0"/>
                      </a:rPr>
                      <m:t>𝒂</m:t>
                    </m:r>
                  </m:oMath>
                </a14:m>
                <a:r>
                  <a:rPr lang="zh-CN" altLang="en-US" sz="2000" dirty="0"/>
                  <a:t>、短半轴为</a:t>
                </a:r>
                <a:r>
                  <a:rPr lang="zh-CN" altLang="en-US" sz="2000" dirty="0" smtClean="0"/>
                  <a:t> </a:t>
                </a:r>
                <a14:m>
                  <m:oMath xmlns:m="http://schemas.openxmlformats.org/officeDocument/2006/math">
                    <m:r>
                      <a:rPr lang="en-US" altLang="zh-CN" sz="2000" b="1" i="1" smtClean="0">
                        <a:solidFill>
                          <a:srgbClr val="FF0000"/>
                        </a:solidFill>
                        <a:latin typeface="Cambria Math" panose="02040503050406030204" pitchFamily="18" charset="0"/>
                      </a:rPr>
                      <m:t>𝒃</m:t>
                    </m:r>
                  </m:oMath>
                </a14:m>
                <a:r>
                  <a:rPr lang="zh-CN" altLang="en-US" sz="2000" dirty="0" smtClean="0"/>
                  <a:t> </a:t>
                </a:r>
                <a:r>
                  <a:rPr lang="zh-CN" altLang="en-US" sz="2000" dirty="0"/>
                  <a:t>的椭圆 。需要进行圆心平移或使用自定义坐标系可以绘制椭圆。</a:t>
                </a:r>
              </a:p>
              <a:p>
                <a:pPr marL="342900" indent="-342900" algn="just" eaLnBrk="1" hangingPunct="1">
                  <a:lnSpc>
                    <a:spcPct val="120000"/>
                  </a:lnSpc>
                  <a:buFont typeface="Wingdings" panose="05000000000000000000" pitchFamily="2" charset="2"/>
                  <a:buChar char="n"/>
                  <a:defRPr/>
                </a:pPr>
                <a:r>
                  <a:rPr lang="zh-CN" altLang="en-US" sz="2000" dirty="0"/>
                  <a:t>如果“</a:t>
                </a:r>
                <a14:m>
                  <m:oMath xmlns:m="http://schemas.openxmlformats.org/officeDocument/2006/math">
                    <m:r>
                      <a:rPr lang="en-US" altLang="zh-CN" sz="2000" b="1" i="1" smtClean="0">
                        <a:solidFill>
                          <a:srgbClr val="FF0000"/>
                        </a:solidFill>
                        <a:latin typeface="Cambria Math" panose="02040503050406030204" pitchFamily="18" charset="0"/>
                      </a:rPr>
                      <m:t>𝒙</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方向</a:t>
                </a:r>
                <a:r>
                  <a:rPr lang="zh-CN" altLang="en-US" sz="2000" b="1" dirty="0">
                    <a:solidFill>
                      <a:srgbClr val="3366FF"/>
                    </a:solidFill>
                    <a:latin typeface="方正粗黑宋简体" panose="02000000000000000000" pitchFamily="2" charset="-122"/>
                    <a:ea typeface="方正粗黑宋简体" panose="02000000000000000000" pitchFamily="2" charset="-122"/>
                  </a:rPr>
                  <a:t>上每次</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加 </a:t>
                </a:r>
                <a:r>
                  <a:rPr lang="en-US" altLang="zh-CN" sz="2000" b="1" dirty="0" smtClean="0">
                    <a:solidFill>
                      <a:srgbClr val="3366FF"/>
                    </a:solidFill>
                    <a:latin typeface="方正粗黑宋简体" panose="02000000000000000000" pitchFamily="2" charset="-122"/>
                    <a:ea typeface="方正粗黑宋简体" panose="02000000000000000000" pitchFamily="2" charset="-122"/>
                  </a:rPr>
                  <a:t>1</a:t>
                </a:r>
                <a:r>
                  <a:rPr lang="zh-CN" altLang="en-US" sz="2000" b="1" dirty="0">
                    <a:solidFill>
                      <a:srgbClr val="3366FF"/>
                    </a:solidFill>
                    <a:latin typeface="方正粗黑宋简体" panose="02000000000000000000" pitchFamily="2" charset="-122"/>
                    <a:ea typeface="方正粗黑宋简体" panose="02000000000000000000" pitchFamily="2" charset="-122"/>
                  </a:rPr>
                  <a:t>，</a:t>
                </a:r>
                <a14:m>
                  <m:oMath xmlns:m="http://schemas.openxmlformats.org/officeDocument/2006/math">
                    <m:r>
                      <a:rPr lang="en-US" altLang="zh-CN" sz="2000" b="1" i="1" smtClean="0">
                        <a:solidFill>
                          <a:srgbClr val="FF0000"/>
                        </a:solidFill>
                        <a:latin typeface="Cambria Math" panose="02040503050406030204" pitchFamily="18" charset="0"/>
                      </a:rPr>
                      <m:t>𝒚</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方向上减</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不减 </a:t>
                </a:r>
                <a:r>
                  <a:rPr lang="en-US" altLang="zh-CN" sz="2000" b="1" dirty="0" smtClean="0">
                    <a:solidFill>
                      <a:srgbClr val="3366FF"/>
                    </a:solidFill>
                    <a:latin typeface="方正粗黑宋简体" panose="02000000000000000000" pitchFamily="2" charset="-122"/>
                    <a:ea typeface="方正粗黑宋简体" panose="02000000000000000000" pitchFamily="2" charset="-122"/>
                  </a:rPr>
                  <a:t>1 </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取决于</a:t>
                </a:r>
                <a:r>
                  <a:rPr lang="zh-CN" altLang="en-US" sz="2000" b="1" dirty="0">
                    <a:solidFill>
                      <a:srgbClr val="3366FF"/>
                    </a:solidFill>
                    <a:latin typeface="方正粗黑宋简体" panose="02000000000000000000" pitchFamily="2" charset="-122"/>
                    <a:ea typeface="方正粗黑宋简体" panose="02000000000000000000" pitchFamily="2" charset="-122"/>
                  </a:rPr>
                  <a:t>中点误差项的值</a:t>
                </a:r>
                <a:r>
                  <a:rPr lang="zh-CN" altLang="en-US" sz="2000" dirty="0"/>
                  <a:t>”。绘制结果是圆，如何能绘制为椭圆？</a:t>
                </a:r>
              </a:p>
            </p:txBody>
          </p:sp>
        </mc:Choice>
        <mc:Fallback>
          <p:sp>
            <p:nvSpPr>
              <p:cNvPr id="39937" name="Rectangle 2"/>
              <p:cNvSpPr>
                <a:spLocks noRot="1" noChangeAspect="1" noMove="1" noResize="1" noEditPoints="1" noAdjustHandles="1" noChangeArrowheads="1" noChangeShapeType="1" noTextEdit="1"/>
              </p:cNvSpPr>
              <p:nvPr/>
            </p:nvSpPr>
            <p:spPr bwMode="auto">
              <a:xfrm>
                <a:off x="323850" y="648167"/>
                <a:ext cx="8640763" cy="1938992"/>
              </a:xfrm>
              <a:prstGeom prst="rect">
                <a:avLst/>
              </a:prstGeom>
              <a:blipFill>
                <a:blip r:embed="rId3"/>
                <a:stretch>
                  <a:fillRect l="-705" t="-629" r="-705" b="-28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8915" name="Rectangle 7"/>
          <p:cNvSpPr>
            <a:spLocks noChangeArrowheads="1"/>
          </p:cNvSpPr>
          <p:nvPr/>
        </p:nvSpPr>
        <p:spPr bwMode="auto">
          <a:xfrm>
            <a:off x="323850" y="2650606"/>
            <a:ext cx="3313112"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3.3.1 </a:t>
            </a:r>
            <a:r>
              <a:rPr lang="zh-CN" altLang="en-US" sz="3200" b="1" dirty="0">
                <a:effectLst>
                  <a:outerShdw blurRad="38100" dist="38100" dir="2700000" algn="tl">
                    <a:srgbClr val="C0C0C0"/>
                  </a:outerShdw>
                </a:effectLst>
                <a:latin typeface="楷体_GB2312" pitchFamily="49" charset="-122"/>
              </a:rPr>
              <a:t>算法原理</a:t>
            </a:r>
          </a:p>
        </p:txBody>
      </p:sp>
      <mc:AlternateContent xmlns:mc="http://schemas.openxmlformats.org/markup-compatibility/2006">
        <mc:Choice xmlns:a14="http://schemas.microsoft.com/office/drawing/2010/main" Requires="a14">
          <p:sp>
            <p:nvSpPr>
              <p:cNvPr id="35844" name="Rectangle 8"/>
              <p:cNvSpPr>
                <a:spLocks noChangeArrowheads="1"/>
              </p:cNvSpPr>
              <p:nvPr/>
            </p:nvSpPr>
            <p:spPr bwMode="auto">
              <a:xfrm>
                <a:off x="305987" y="3382873"/>
                <a:ext cx="8509000"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r>
                  <a:rPr lang="zh-CN" altLang="en-US" sz="2000" dirty="0" smtClean="0">
                    <a:latin typeface="Tahoma" panose="020B0604030504040204" pitchFamily="34" charset="0"/>
                  </a:rPr>
                  <a:t>圆心</a:t>
                </a:r>
                <a:r>
                  <a:rPr lang="zh-CN" altLang="en-US" sz="2000" dirty="0">
                    <a:latin typeface="Tahoma" panose="020B0604030504040204" pitchFamily="34" charset="0"/>
                  </a:rPr>
                  <a:t>在原点、长半轴为</a:t>
                </a:r>
                <a:r>
                  <a:rPr lang="zh-CN" altLang="en-US" sz="2000" dirty="0" smtClean="0">
                    <a:latin typeface="Tahoma" panose="020B0604030504040204" pitchFamily="34" charset="0"/>
                  </a:rPr>
                  <a:t> </a:t>
                </a:r>
                <a14:m>
                  <m:oMath xmlns:m="http://schemas.openxmlformats.org/officeDocument/2006/math">
                    <m:r>
                      <a:rPr lang="en-US" altLang="zh-CN" sz="2000" b="1" i="1">
                        <a:solidFill>
                          <a:srgbClr val="FF0000"/>
                        </a:solidFill>
                        <a:latin typeface="Cambria Math" panose="02040503050406030204" pitchFamily="18" charset="0"/>
                      </a:rPr>
                      <m:t>𝒂</m:t>
                    </m:r>
                    <m:r>
                      <a:rPr lang="en-US" altLang="zh-CN" sz="2000" b="1" i="1">
                        <a:solidFill>
                          <a:srgbClr val="FF0000"/>
                        </a:solidFill>
                        <a:latin typeface="Cambria Math" panose="02040503050406030204" pitchFamily="18" charset="0"/>
                      </a:rPr>
                      <m:t> </m:t>
                    </m:r>
                  </m:oMath>
                </a14:m>
                <a:r>
                  <a:rPr lang="zh-CN" altLang="en-US" sz="2000" dirty="0">
                    <a:latin typeface="Tahoma" panose="020B0604030504040204" pitchFamily="34" charset="0"/>
                  </a:rPr>
                  <a:t>、短半轴为</a:t>
                </a:r>
                <a14:m>
                  <m:oMath xmlns:m="http://schemas.openxmlformats.org/officeDocument/2006/math">
                    <m:r>
                      <a:rPr lang="en-US" altLang="zh-CN" sz="2000" b="1" i="1">
                        <a:solidFill>
                          <a:srgbClr val="FF0000"/>
                        </a:solidFill>
                        <a:latin typeface="Cambria Math" panose="02040503050406030204" pitchFamily="18" charset="0"/>
                      </a:rPr>
                      <m:t>𝒃</m:t>
                    </m:r>
                  </m:oMath>
                </a14:m>
                <a:r>
                  <a:rPr lang="zh-CN" altLang="en-US" sz="2000" dirty="0">
                    <a:latin typeface="Tahoma" panose="020B0604030504040204" pitchFamily="34" charset="0"/>
                  </a:rPr>
                  <a:t>的椭圆方程的隐函数表达式为 </a:t>
                </a:r>
                <a:r>
                  <a:rPr lang="zh-CN" altLang="en-US" sz="2000" dirty="0">
                    <a:latin typeface="楷体_GB2312" pitchFamily="49" charset="-122"/>
                  </a:rPr>
                  <a:t>：</a:t>
                </a:r>
              </a:p>
            </p:txBody>
          </p:sp>
        </mc:Choice>
        <mc:Fallback>
          <p:sp>
            <p:nvSpPr>
              <p:cNvPr id="35844" name="Rectangle 8"/>
              <p:cNvSpPr>
                <a:spLocks noRot="1" noChangeAspect="1" noMove="1" noResize="1" noEditPoints="1" noAdjustHandles="1" noChangeArrowheads="1" noChangeShapeType="1" noTextEdit="1"/>
              </p:cNvSpPr>
              <p:nvPr/>
            </p:nvSpPr>
            <p:spPr bwMode="auto">
              <a:xfrm>
                <a:off x="305987" y="3382873"/>
                <a:ext cx="8509000" cy="400110"/>
              </a:xfrm>
              <a:prstGeom prst="rect">
                <a:avLst/>
              </a:prstGeom>
              <a:blipFill>
                <a:blip r:embed="rId4"/>
                <a:stretch>
                  <a:fillRect l="-716" t="-10606" b="-227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5845" name="Rectangle 1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5846" name="Object 6"/>
          <p:cNvGraphicFramePr>
            <a:graphicFrameLocks noChangeAspect="1"/>
          </p:cNvGraphicFramePr>
          <p:nvPr>
            <p:extLst>
              <p:ext uri="{D42A27DB-BD31-4B8C-83A1-F6EECF244321}">
                <p14:modId xmlns:p14="http://schemas.microsoft.com/office/powerpoint/2010/main" val="3794493788"/>
              </p:ext>
            </p:extLst>
          </p:nvPr>
        </p:nvGraphicFramePr>
        <p:xfrm>
          <a:off x="1547664" y="3883982"/>
          <a:ext cx="5514975" cy="631825"/>
        </p:xfrm>
        <a:graphic>
          <a:graphicData uri="http://schemas.openxmlformats.org/presentationml/2006/ole">
            <mc:AlternateContent xmlns:mc="http://schemas.openxmlformats.org/markup-compatibility/2006">
              <mc:Choice xmlns:v="urn:schemas-microsoft-com:vml" Requires="v">
                <p:oleObj spid="_x0000_s35889" r:id="rId5" imgW="1994766" imgH="228699" progId="Equation.3">
                  <p:embed/>
                </p:oleObj>
              </mc:Choice>
              <mc:Fallback>
                <p:oleObj r:id="rId5" imgW="1994766" imgH="22869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664" y="3883982"/>
                        <a:ext cx="5514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9" name="Rectangle 11"/>
          <p:cNvSpPr>
            <a:spLocks noChangeArrowheads="1"/>
          </p:cNvSpPr>
          <p:nvPr/>
        </p:nvSpPr>
        <p:spPr bwMode="auto">
          <a:xfrm>
            <a:off x="7524328" y="3881762"/>
            <a:ext cx="1403350"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dirty="0">
                <a:latin typeface="楷体_GB2312" pitchFamily="49" charset="-122"/>
              </a:rPr>
              <a:t>（</a:t>
            </a:r>
            <a:r>
              <a:rPr lang="en-US" dirty="0">
                <a:latin typeface="楷体_GB2312" pitchFamily="49" charset="-122"/>
              </a:rPr>
              <a:t>3-13</a:t>
            </a:r>
            <a:r>
              <a:rPr lang="zh-CN" altLang="en-US" dirty="0">
                <a:latin typeface="楷体_GB2312" pitchFamily="49" charset="-122"/>
              </a:rPr>
              <a:t>）</a:t>
            </a:r>
            <a:r>
              <a:rPr lang="zh-CN" altLang="en-US" dirty="0">
                <a:effectLst>
                  <a:outerShdw blurRad="38100" dist="38100" dir="2700000" algn="tl">
                    <a:srgbClr val="C0C0C0"/>
                  </a:outerShdw>
                </a:effectLst>
                <a:latin typeface="楷体_GB2312" pitchFamily="49" charset="-122"/>
              </a:rPr>
              <a:t> </a:t>
            </a:r>
          </a:p>
        </p:txBody>
      </p:sp>
      <mc:AlternateContent xmlns:mc="http://schemas.openxmlformats.org/markup-compatibility/2006" xmlns:a14="http://schemas.microsoft.com/office/drawing/2010/main">
        <mc:Choice Requires="a14">
          <p:sp>
            <p:nvSpPr>
              <p:cNvPr id="35848" name="Rectangle 12"/>
              <p:cNvSpPr>
                <a:spLocks noChangeArrowheads="1"/>
              </p:cNvSpPr>
              <p:nvPr/>
            </p:nvSpPr>
            <p:spPr bwMode="auto">
              <a:xfrm>
                <a:off x="323850" y="4581128"/>
                <a:ext cx="4968230"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000" dirty="0" smtClean="0">
                    <a:latin typeface="Tahoma" panose="020B0604030504040204" pitchFamily="34" charset="0"/>
                  </a:rPr>
                  <a:t>椭圆将平面划分成</a:t>
                </a:r>
                <a:r>
                  <a:rPr lang="zh-CN" altLang="en-US" sz="2000" dirty="0">
                    <a:solidFill>
                      <a:srgbClr val="FF0000"/>
                    </a:solidFill>
                    <a:latin typeface="华文琥珀" panose="02010800040101010101" pitchFamily="2" charset="-122"/>
                    <a:ea typeface="华文琥珀" panose="02010800040101010101" pitchFamily="2" charset="-122"/>
                  </a:rPr>
                  <a:t>三个区域</a:t>
                </a:r>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lvl="1" eaLnBrk="1" hangingPunct="1">
                  <a:lnSpc>
                    <a:spcPct val="150000"/>
                  </a:lnSpc>
                  <a:spcBef>
                    <a:spcPct val="0"/>
                  </a:spcBef>
                  <a:buFont typeface="Wingdings" panose="05000000000000000000" pitchFamily="2" charset="2"/>
                  <a:buChar char="n"/>
                </a:pPr>
                <a:r>
                  <a:rPr lang="zh-CN" altLang="en-US" sz="2000" dirty="0" smtClean="0">
                    <a:latin typeface="Tahoma" panose="020B0604030504040204" pitchFamily="34" charset="0"/>
                  </a:rPr>
                  <a:t>对于</a:t>
                </a:r>
                <a:r>
                  <a:rPr lang="zh-CN" altLang="en-US" sz="2000" b="1" dirty="0">
                    <a:solidFill>
                      <a:srgbClr val="3366FF"/>
                    </a:solidFill>
                    <a:latin typeface="方正粗黑宋简体" panose="02000000000000000000" pitchFamily="2" charset="-122"/>
                    <a:ea typeface="方正粗黑宋简体" panose="02000000000000000000" pitchFamily="2" charset="-122"/>
                  </a:rPr>
                  <a:t>椭圆上点</a:t>
                </a:r>
                <a:r>
                  <a:rPr lang="zh-CN" altLang="en-US" sz="2000" dirty="0">
                    <a:latin typeface="Tahoma" panose="020B0604030504040204" pitchFamily="34" charset="0"/>
                  </a:rPr>
                  <a:t>，</a:t>
                </a:r>
                <a:r>
                  <a:rPr lang="en-US" altLang="zh-CN" sz="2000" b="1" dirty="0">
                    <a:solidFill>
                      <a:srgbClr val="FF0000"/>
                    </a:solidFill>
                  </a:rPr>
                  <a:t> </a:t>
                </a:r>
                <a14:m>
                  <m:oMath xmlns:m="http://schemas.openxmlformats.org/officeDocument/2006/math">
                    <m:r>
                      <a:rPr lang="en-US" altLang="zh-CN" sz="2000" b="1" i="1" smtClean="0">
                        <a:solidFill>
                          <a:srgbClr val="FF0000"/>
                        </a:solidFill>
                        <a:latin typeface="Cambria Math" panose="02040503050406030204" pitchFamily="18" charset="0"/>
                      </a:rPr>
                      <m:t>𝑭</m:t>
                    </m:r>
                    <m:d>
                      <m:dPr>
                        <m:ctrlPr>
                          <a:rPr lang="en-US" altLang="zh-CN" sz="2000" b="1"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𝒙</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𝒚</m:t>
                        </m:r>
                      </m:e>
                    </m:d>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oMath>
                </a14:m>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lvl="1" eaLnBrk="1" hangingPunct="1">
                  <a:lnSpc>
                    <a:spcPct val="150000"/>
                  </a:lnSpc>
                  <a:spcBef>
                    <a:spcPct val="0"/>
                  </a:spcBef>
                  <a:buFont typeface="Wingdings" panose="05000000000000000000" pitchFamily="2" charset="2"/>
                  <a:buChar char="n"/>
                </a:pPr>
                <a:r>
                  <a:rPr lang="zh-CN" altLang="en-US" sz="2000" dirty="0" smtClean="0">
                    <a:latin typeface="Tahoma" panose="020B0604030504040204" pitchFamily="34" charset="0"/>
                  </a:rPr>
                  <a:t>对于</a:t>
                </a:r>
                <a:r>
                  <a:rPr lang="zh-CN" altLang="en-US" sz="2000" b="1" dirty="0">
                    <a:solidFill>
                      <a:srgbClr val="3366FF"/>
                    </a:solidFill>
                    <a:latin typeface="方正粗黑宋简体" panose="02000000000000000000" pitchFamily="2" charset="-122"/>
                    <a:ea typeface="方正粗黑宋简体" panose="02000000000000000000" pitchFamily="2" charset="-122"/>
                  </a:rPr>
                  <a:t>椭圆外点</a:t>
                </a:r>
                <a:r>
                  <a:rPr lang="zh-CN" altLang="en-US" sz="2000" dirty="0">
                    <a:latin typeface="Tahoma" panose="020B0604030504040204" pitchFamily="34" charset="0"/>
                  </a:rPr>
                  <a:t>，</a:t>
                </a:r>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𝑭</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r>
                      <a:rPr lang="en-US" altLang="zh-CN" sz="2000" b="1" i="1" smtClean="0">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 </m:t>
                    </m:r>
                  </m:oMath>
                </a14:m>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lvl="1" eaLnBrk="1" hangingPunct="1">
                  <a:lnSpc>
                    <a:spcPct val="150000"/>
                  </a:lnSpc>
                  <a:spcBef>
                    <a:spcPct val="0"/>
                  </a:spcBef>
                  <a:buFont typeface="Wingdings" panose="05000000000000000000" pitchFamily="2" charset="2"/>
                  <a:buChar char="n"/>
                </a:pPr>
                <a:r>
                  <a:rPr lang="zh-CN" altLang="en-US" sz="2000" dirty="0" smtClean="0">
                    <a:latin typeface="Tahoma" panose="020B0604030504040204" pitchFamily="34" charset="0"/>
                  </a:rPr>
                  <a:t>对于</a:t>
                </a:r>
                <a:r>
                  <a:rPr lang="zh-CN" altLang="en-US" sz="2000" b="1" dirty="0">
                    <a:solidFill>
                      <a:srgbClr val="3366FF"/>
                    </a:solidFill>
                    <a:latin typeface="方正粗黑宋简体" panose="02000000000000000000" pitchFamily="2" charset="-122"/>
                    <a:ea typeface="方正粗黑宋简体" panose="02000000000000000000" pitchFamily="2" charset="-122"/>
                  </a:rPr>
                  <a:t>椭圆内点</a:t>
                </a:r>
                <a:r>
                  <a:rPr lang="zh-CN" altLang="en-US" sz="2000" dirty="0">
                    <a:latin typeface="Tahoma" panose="020B0604030504040204" pitchFamily="34" charset="0"/>
                  </a:rPr>
                  <a:t>，</a:t>
                </a:r>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𝑭</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r>
                      <a:rPr lang="en-US" altLang="zh-CN" sz="2000" b="1" i="1" smtClean="0">
                        <a:solidFill>
                          <a:srgbClr val="FF0000"/>
                        </a:solidFill>
                        <a:latin typeface="Cambria Math" panose="02040503050406030204" pitchFamily="18" charset="0"/>
                      </a:rPr>
                      <m:t>&lt;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 </m:t>
                    </m:r>
                  </m:oMath>
                </a14:m>
                <a:r>
                  <a:rPr lang="zh-CN" altLang="en-US" sz="2000" dirty="0">
                    <a:latin typeface="Tahoma" panose="020B0604030504040204" pitchFamily="34" charset="0"/>
                  </a:rPr>
                  <a:t>。</a:t>
                </a:r>
              </a:p>
            </p:txBody>
          </p:sp>
        </mc:Choice>
        <mc:Fallback xmlns="">
          <p:sp>
            <p:nvSpPr>
              <p:cNvPr id="35848" name="Rectangle 12"/>
              <p:cNvSpPr>
                <a:spLocks noRot="1" noChangeAspect="1" noMove="1" noResize="1" noEditPoints="1" noAdjustHandles="1" noChangeArrowheads="1" noChangeShapeType="1" noTextEdit="1"/>
              </p:cNvSpPr>
              <p:nvPr/>
            </p:nvSpPr>
            <p:spPr bwMode="auto">
              <a:xfrm>
                <a:off x="323850" y="4581128"/>
                <a:ext cx="4968230" cy="1938992"/>
              </a:xfrm>
              <a:prstGeom prst="rect">
                <a:avLst/>
              </a:prstGeom>
              <a:blipFill>
                <a:blip r:embed="rId7"/>
                <a:stretch>
                  <a:fillRect l="-1227" b="-28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866" name="Rectangle 4"/>
              <p:cNvSpPr>
                <a:spLocks noChangeArrowheads="1"/>
              </p:cNvSpPr>
              <p:nvPr/>
            </p:nvSpPr>
            <p:spPr bwMode="auto">
              <a:xfrm>
                <a:off x="292364" y="352628"/>
                <a:ext cx="8585200"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indent="261938">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20000"/>
                  </a:lnSpc>
                  <a:spcBef>
                    <a:spcPct val="0"/>
                  </a:spcBef>
                  <a:buNone/>
                </a:pPr>
                <a:r>
                  <a:rPr lang="zh-CN" altLang="en-US" sz="2000" dirty="0" smtClean="0">
                    <a:latin typeface="Tahoma" panose="020B0604030504040204" pitchFamily="34" charset="0"/>
                  </a:rPr>
                  <a:t>考虑到</a:t>
                </a:r>
                <a:r>
                  <a:rPr lang="zh-CN" altLang="en-US" sz="2000" b="1" dirty="0">
                    <a:solidFill>
                      <a:srgbClr val="FF0000"/>
                    </a:solidFill>
                    <a:latin typeface="方正粗黑宋简体" panose="02000000000000000000" pitchFamily="2" charset="-122"/>
                    <a:ea typeface="方正粗黑宋简体" panose="02000000000000000000" pitchFamily="2" charset="-122"/>
                  </a:rPr>
                  <a:t>椭圆的对称性</a:t>
                </a:r>
                <a:r>
                  <a:rPr lang="zh-CN" altLang="en-US" sz="2000" dirty="0">
                    <a:latin typeface="Tahoma" panose="020B0604030504040204" pitchFamily="34" charset="0"/>
                  </a:rPr>
                  <a:t>，可以用</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对称轴 </a:t>
                </a:r>
                <a14:m>
                  <m:oMath xmlns:m="http://schemas.openxmlformats.org/officeDocument/2006/math">
                    <m:r>
                      <a:rPr lang="en-US" altLang="zh-CN" sz="2000" b="1" i="1">
                        <a:solidFill>
                          <a:srgbClr val="FF0000"/>
                        </a:solidFill>
                        <a:latin typeface="Cambria Math" panose="02040503050406030204" pitchFamily="18" charset="0"/>
                      </a:rPr>
                      <m:t>𝒙</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𝒚</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oMath>
                </a14:m>
                <a:r>
                  <a:rPr lang="zh-CN" altLang="en-US" sz="2000" dirty="0">
                    <a:latin typeface="Tahoma" panose="020B0604030504040204" pitchFamily="34" charset="0"/>
                  </a:rPr>
                  <a:t>，把椭圆</a:t>
                </a:r>
                <a:r>
                  <a:rPr lang="zh-CN" altLang="en-US" sz="2000" dirty="0" smtClean="0">
                    <a:latin typeface="Tahoma" panose="020B0604030504040204" pitchFamily="34" charset="0"/>
                  </a:rPr>
                  <a:t>分成 </a:t>
                </a:r>
                <a:r>
                  <a:rPr lang="en-US" altLang="zh-CN" sz="2000" dirty="0" smtClean="0">
                    <a:latin typeface="Tahoma" panose="020B0604030504040204" pitchFamily="34" charset="0"/>
                  </a:rPr>
                  <a:t>4 </a:t>
                </a:r>
                <a:r>
                  <a:rPr lang="zh-CN" altLang="en-US" sz="2000" dirty="0" smtClean="0">
                    <a:latin typeface="Tahoma" panose="020B0604030504040204" pitchFamily="34" charset="0"/>
                  </a:rPr>
                  <a:t>等份</a:t>
                </a:r>
                <a:r>
                  <a:rPr lang="zh-CN" altLang="en-US" sz="2000" dirty="0">
                    <a:latin typeface="Tahoma" panose="020B0604030504040204" pitchFamily="34" charset="0"/>
                  </a:rPr>
                  <a:t>。只要绘制出第一象限内</a:t>
                </a:r>
                <a:r>
                  <a:rPr lang="zh-CN" altLang="en-US" sz="2000" dirty="0" smtClean="0">
                    <a:latin typeface="Tahoma" panose="020B0604030504040204" pitchFamily="34" charset="0"/>
                  </a:rPr>
                  <a:t>的 </a:t>
                </a:r>
                <a:r>
                  <a:rPr lang="en-US" altLang="zh-CN" sz="2000" b="1" dirty="0">
                    <a:solidFill>
                      <a:srgbClr val="3366FF"/>
                    </a:solidFill>
                    <a:latin typeface="方正粗黑宋简体" panose="02000000000000000000" pitchFamily="2" charset="-122"/>
                    <a:ea typeface="方正粗黑宋简体" panose="02000000000000000000" pitchFamily="2" charset="-122"/>
                  </a:rPr>
                  <a:t>¼</a:t>
                </a:r>
                <a:r>
                  <a:rPr lang="en-US" altLang="zh-CN" sz="2000" dirty="0" smtClean="0">
                    <a:latin typeface="Tahoma" panose="020B0604030504040204" pitchFamily="34" charset="0"/>
                  </a:rPr>
                  <a:t> </a:t>
                </a:r>
                <a:r>
                  <a:rPr lang="zh-CN" altLang="en-US" sz="2000" dirty="0" smtClean="0">
                    <a:latin typeface="Tahoma" panose="020B0604030504040204" pitchFamily="34" charset="0"/>
                  </a:rPr>
                  <a:t>椭圆</a:t>
                </a:r>
                <a:r>
                  <a:rPr lang="zh-CN" altLang="en-US" sz="2000" dirty="0">
                    <a:latin typeface="Tahoma" panose="020B0604030504040204" pitchFamily="34" charset="0"/>
                  </a:rPr>
                  <a:t>弧，如图</a:t>
                </a:r>
                <a:r>
                  <a:rPr lang="en-US" altLang="zh-CN" sz="2000" dirty="0">
                    <a:latin typeface="Tahoma" panose="020B0604030504040204" pitchFamily="34" charset="0"/>
                  </a:rPr>
                  <a:t>3-10</a:t>
                </a:r>
                <a:r>
                  <a:rPr lang="zh-CN" altLang="en-US" sz="2000" dirty="0">
                    <a:latin typeface="Tahoma" panose="020B0604030504040204" pitchFamily="34" charset="0"/>
                  </a:rPr>
                  <a:t>的</a:t>
                </a:r>
                <a:r>
                  <a:rPr lang="zh-CN" altLang="en-US" sz="2000" b="1" dirty="0">
                    <a:solidFill>
                      <a:srgbClr val="3366FF"/>
                    </a:solidFill>
                    <a:latin typeface="方正粗黑宋简体" panose="02000000000000000000" pitchFamily="2" charset="-122"/>
                    <a:ea typeface="方正粗黑宋简体" panose="02000000000000000000" pitchFamily="2" charset="-122"/>
                  </a:rPr>
                  <a:t>阴影部分</a:t>
                </a:r>
                <a:r>
                  <a:rPr lang="en-US" altLang="zh-CN" sz="2000" b="1" dirty="0">
                    <a:solidFill>
                      <a:srgbClr val="3366FF"/>
                    </a:solidFill>
                    <a:latin typeface="方正粗黑宋简体" panose="02000000000000000000" pitchFamily="2" charset="-122"/>
                    <a:ea typeface="方正粗黑宋简体" panose="02000000000000000000" pitchFamily="2" charset="-122"/>
                  </a:rPr>
                  <a:t>Ⅰ</a:t>
                </a:r>
                <a:r>
                  <a:rPr lang="zh-CN" altLang="en-US" sz="2000" b="1" dirty="0">
                    <a:solidFill>
                      <a:srgbClr val="3366FF"/>
                    </a:solidFill>
                    <a:latin typeface="方正粗黑宋简体" panose="02000000000000000000" pitchFamily="2" charset="-122"/>
                    <a:ea typeface="方正粗黑宋简体" panose="02000000000000000000" pitchFamily="2" charset="-122"/>
                  </a:rPr>
                  <a:t>和</a:t>
                </a:r>
                <a:r>
                  <a:rPr lang="en-US" altLang="zh-CN" sz="2000" b="1" dirty="0">
                    <a:solidFill>
                      <a:srgbClr val="3366FF"/>
                    </a:solidFill>
                    <a:latin typeface="方正粗黑宋简体" panose="02000000000000000000" pitchFamily="2" charset="-122"/>
                    <a:ea typeface="方正粗黑宋简体" panose="02000000000000000000" pitchFamily="2" charset="-122"/>
                  </a:rPr>
                  <a:t>Ⅱ</a:t>
                </a:r>
                <a:r>
                  <a:rPr lang="zh-CN" altLang="en-US" sz="2000" dirty="0">
                    <a:latin typeface="Tahoma" panose="020B0604030504040204" pitchFamily="34" charset="0"/>
                  </a:rPr>
                  <a:t>所示，根据对称性就可绘制出整个椭圆，这</a:t>
                </a:r>
                <a:r>
                  <a:rPr lang="zh-CN" altLang="en-US" sz="2000" dirty="0" smtClean="0">
                    <a:latin typeface="Tahoma" panose="020B0604030504040204" pitchFamily="34" charset="0"/>
                  </a:rPr>
                  <a:t>称为 </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四分法</a:t>
                </a:r>
                <a:r>
                  <a:rPr lang="zh-CN" altLang="en-US" sz="2000" b="1" dirty="0">
                    <a:solidFill>
                      <a:srgbClr val="3366FF"/>
                    </a:solidFill>
                    <a:latin typeface="方正粗黑宋简体" panose="02000000000000000000" pitchFamily="2" charset="-122"/>
                    <a:ea typeface="方正粗黑宋简体" panose="02000000000000000000" pitchFamily="2" charset="-122"/>
                  </a:rPr>
                  <a:t>绘制椭圆算法</a:t>
                </a:r>
                <a:r>
                  <a:rPr lang="zh-CN" altLang="en-US" sz="2000" dirty="0">
                    <a:latin typeface="Tahoma" panose="020B0604030504040204" pitchFamily="34" charset="0"/>
                  </a:rPr>
                  <a:t>。已知第一象限内的</a:t>
                </a:r>
                <a:r>
                  <a:rPr lang="zh-CN" altLang="en-US" sz="2000" dirty="0" smtClean="0">
                    <a:latin typeface="Tahoma" panose="020B0604030504040204" pitchFamily="34" charset="0"/>
                  </a:rPr>
                  <a:t>点 </a:t>
                </a:r>
                <a14:m>
                  <m:oMath xmlns:m="http://schemas.openxmlformats.org/officeDocument/2006/math">
                    <m:r>
                      <a:rPr lang="en-US" altLang="zh-CN" sz="2000" b="1" i="1" smtClean="0">
                        <a:solidFill>
                          <a:srgbClr val="FF0000"/>
                        </a:solidFill>
                        <a:latin typeface="Cambria Math" panose="02040503050406030204" pitchFamily="18" charset="0"/>
                      </a:rPr>
                      <m:t>𝑷</m:t>
                    </m:r>
                    <m:d>
                      <m:dPr>
                        <m:ctrlPr>
                          <a:rPr lang="en-US" altLang="zh-CN" sz="2000" b="1"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𝒙</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𝒚</m:t>
                        </m:r>
                      </m:e>
                    </m:d>
                  </m:oMath>
                </a14:m>
                <a:r>
                  <a:rPr lang="zh-CN" altLang="en-US" sz="2000" dirty="0" smtClean="0">
                    <a:latin typeface="Tahoma" panose="020B0604030504040204" pitchFamily="34" charset="0"/>
                  </a:rPr>
                  <a:t>，</a:t>
                </a:r>
                <a:r>
                  <a:rPr lang="zh-CN" altLang="en-US" sz="2000" dirty="0">
                    <a:latin typeface="Tahoma" panose="020B0604030504040204" pitchFamily="34" charset="0"/>
                  </a:rPr>
                  <a:t>可以顺时针得到</a:t>
                </a:r>
                <a:r>
                  <a:rPr lang="zh-CN" altLang="en-US" sz="2000" dirty="0" smtClean="0">
                    <a:latin typeface="Tahoma" panose="020B0604030504040204" pitchFamily="34" charset="0"/>
                  </a:rPr>
                  <a:t>另外 </a:t>
                </a:r>
                <a:r>
                  <a:rPr lang="en-US" altLang="zh-CN" sz="2000" dirty="0" smtClean="0">
                    <a:latin typeface="Tahoma" panose="020B0604030504040204" pitchFamily="34" charset="0"/>
                  </a:rPr>
                  <a:t>3 </a:t>
                </a:r>
                <a:r>
                  <a:rPr lang="zh-CN" altLang="en-US" sz="2000" dirty="0" smtClean="0">
                    <a:latin typeface="Tahoma" panose="020B0604030504040204" pitchFamily="34" charset="0"/>
                  </a:rPr>
                  <a:t>个</a:t>
                </a:r>
                <a:r>
                  <a:rPr lang="zh-CN" altLang="en-US" sz="2000" dirty="0">
                    <a:latin typeface="Tahoma" panose="020B0604030504040204" pitchFamily="34" charset="0"/>
                  </a:rPr>
                  <a:t>对称点：</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r>
                      <a:rPr lang="en-US" altLang="zh-CN" sz="2000" b="1" i="1" smtClean="0">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a14:m>
                <a:r>
                  <a:rPr lang="en-US" altLang="zh-CN" sz="2000" dirty="0" smtClean="0">
                    <a:latin typeface="Tahoma" panose="020B0604030504040204" pitchFamily="34" charset="0"/>
                  </a:rPr>
                  <a:t> </a:t>
                </a:r>
                <a:r>
                  <a:rPr lang="zh-CN" altLang="en-US" sz="2000" dirty="0" smtClean="0">
                    <a:latin typeface="Tahoma" panose="020B0604030504040204" pitchFamily="34" charset="0"/>
                  </a:rPr>
                  <a:t>和</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a14:m>
                <a:r>
                  <a:rPr lang="zh-CN" altLang="en-US" sz="2000" dirty="0" smtClean="0">
                    <a:latin typeface="Tahoma" panose="020B0604030504040204" pitchFamily="34" charset="0"/>
                  </a:rPr>
                  <a:t>。</a:t>
                </a:r>
                <a:endParaRPr lang="zh-CN" altLang="en-US" sz="2000" dirty="0">
                  <a:latin typeface="Tahoma" panose="020B0604030504040204" pitchFamily="34" charset="0"/>
                </a:endParaRPr>
              </a:p>
            </p:txBody>
          </p:sp>
        </mc:Choice>
        <mc:Fallback>
          <p:sp>
            <p:nvSpPr>
              <p:cNvPr id="36866" name="Rectangle 4"/>
              <p:cNvSpPr>
                <a:spLocks noRot="1" noChangeAspect="1" noMove="1" noResize="1" noEditPoints="1" noAdjustHandles="1" noChangeArrowheads="1" noChangeShapeType="1" noTextEdit="1"/>
              </p:cNvSpPr>
              <p:nvPr/>
            </p:nvSpPr>
            <p:spPr bwMode="auto">
              <a:xfrm>
                <a:off x="292364" y="352628"/>
                <a:ext cx="8585200" cy="1938992"/>
              </a:xfrm>
              <a:prstGeom prst="rect">
                <a:avLst/>
              </a:prstGeom>
              <a:blipFill>
                <a:blip r:embed="rId3"/>
                <a:stretch>
                  <a:fillRect l="-781" t="-629" r="-710" b="-25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6868" name="Object 7"/>
          <p:cNvGraphicFramePr>
            <a:graphicFrameLocks noChangeAspect="1"/>
          </p:cNvGraphicFramePr>
          <p:nvPr>
            <p:extLst>
              <p:ext uri="{D42A27DB-BD31-4B8C-83A1-F6EECF244321}">
                <p14:modId xmlns:p14="http://schemas.microsoft.com/office/powerpoint/2010/main" val="137742394"/>
              </p:ext>
            </p:extLst>
          </p:nvPr>
        </p:nvGraphicFramePr>
        <p:xfrm>
          <a:off x="703985" y="3335286"/>
          <a:ext cx="3600450" cy="2130425"/>
        </p:xfrm>
        <a:graphic>
          <a:graphicData uri="http://schemas.openxmlformats.org/presentationml/2006/ole">
            <mc:AlternateContent xmlns:mc="http://schemas.openxmlformats.org/markup-compatibility/2006">
              <mc:Choice xmlns:v="urn:schemas-microsoft-com:vml" Requires="v">
                <p:oleObj spid="_x0000_s36939" r:id="rId4" imgW="4274280" imgH="2530800" progId="Visio.Drawing.11">
                  <p:embed/>
                </p:oleObj>
              </mc:Choice>
              <mc:Fallback>
                <p:oleObj r:id="rId4" imgW="4274280" imgH="2530800"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985" y="3335286"/>
                        <a:ext cx="360045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73" name="Rectangle 13"/>
          <p:cNvSpPr>
            <a:spLocks noChangeArrowheads="1"/>
          </p:cNvSpPr>
          <p:nvPr/>
        </p:nvSpPr>
        <p:spPr bwMode="auto">
          <a:xfrm>
            <a:off x="1712047" y="6027656"/>
            <a:ext cx="18517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a:latin typeface="楷体_GB2312" pitchFamily="49" charset="-122"/>
              </a:rPr>
              <a:t>椭圆的对称性 </a:t>
            </a:r>
          </a:p>
        </p:txBody>
      </p:sp>
      <mc:AlternateContent xmlns:mc="http://schemas.openxmlformats.org/markup-compatibility/2006" xmlns:a14="http://schemas.microsoft.com/office/drawing/2010/main">
        <mc:Choice Requires="a14">
          <p:sp>
            <p:nvSpPr>
              <p:cNvPr id="2" name="矩形 1"/>
              <p:cNvSpPr/>
              <p:nvPr/>
            </p:nvSpPr>
            <p:spPr>
              <a:xfrm>
                <a:off x="3296347" y="3391790"/>
                <a:ext cx="105105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3296347" y="3391790"/>
                <a:ext cx="1051057" cy="400110"/>
              </a:xfrm>
              <a:prstGeom prst="rect">
                <a:avLst/>
              </a:prstGeom>
              <a:blipFill>
                <a:blip r:embed="rId6"/>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181732" y="5013176"/>
                <a:ext cx="124341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m:oMathPara>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3181732" y="5013176"/>
                <a:ext cx="1243417" cy="400110"/>
              </a:xfrm>
              <a:prstGeom prst="rect">
                <a:avLst/>
              </a:prstGeom>
              <a:blipFill>
                <a:blip r:embed="rId7"/>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9599" y="5017839"/>
                <a:ext cx="143577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m:oMathPara>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29599" y="5017839"/>
                <a:ext cx="1435778" cy="400110"/>
              </a:xfrm>
              <a:prstGeom prst="rect">
                <a:avLst/>
              </a:prstGeom>
              <a:blipFill>
                <a:blip r:embed="rId8"/>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58829" y="3436519"/>
                <a:ext cx="124341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𝒙</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𝒚</m:t>
                          </m:r>
                        </m:e>
                      </m:d>
                    </m:oMath>
                  </m:oMathPara>
                </a14:m>
                <a:endParaRPr lang="zh-CN" altLang="en-US" sz="2000" dirty="0"/>
              </a:p>
            </p:txBody>
          </p:sp>
        </mc:Choice>
        <mc:Fallback xmlns="">
          <p:sp>
            <p:nvSpPr>
              <p:cNvPr id="5" name="矩形 4"/>
              <p:cNvSpPr>
                <a:spLocks noRot="1" noChangeAspect="1" noMove="1" noResize="1" noEditPoints="1" noAdjustHandles="1" noChangeArrowheads="1" noChangeShapeType="1" noTextEdit="1"/>
              </p:cNvSpPr>
              <p:nvPr/>
            </p:nvSpPr>
            <p:spPr>
              <a:xfrm>
                <a:off x="258829" y="3436519"/>
                <a:ext cx="1243417" cy="400110"/>
              </a:xfrm>
              <a:prstGeom prst="rect">
                <a:avLst/>
              </a:prstGeom>
              <a:blipFill>
                <a:blip r:embed="rId9"/>
                <a:stretch>
                  <a:fillRect b="-12308"/>
                </a:stretch>
              </a:blipFill>
            </p:spPr>
            <p:txBody>
              <a:bodyPr/>
              <a:lstStyle/>
              <a:p>
                <a:r>
                  <a:rPr lang="zh-CN" altLang="en-US">
                    <a:noFill/>
                  </a:rPr>
                  <a:t> </a:t>
                </a:r>
              </a:p>
            </p:txBody>
          </p:sp>
        </mc:Fallback>
      </mc:AlternateContent>
      <p:graphicFrame>
        <p:nvGraphicFramePr>
          <p:cNvPr id="14" name="Object 5"/>
          <p:cNvGraphicFramePr>
            <a:graphicFrameLocks noChangeAspect="1"/>
          </p:cNvGraphicFramePr>
          <p:nvPr>
            <p:extLst>
              <p:ext uri="{D42A27DB-BD31-4B8C-83A1-F6EECF244321}">
                <p14:modId xmlns:p14="http://schemas.microsoft.com/office/powerpoint/2010/main" val="773737470"/>
              </p:ext>
            </p:extLst>
          </p:nvPr>
        </p:nvGraphicFramePr>
        <p:xfrm>
          <a:off x="4565081" y="3213720"/>
          <a:ext cx="3600450" cy="2481263"/>
        </p:xfrm>
        <a:graphic>
          <a:graphicData uri="http://schemas.openxmlformats.org/presentationml/2006/ole">
            <mc:AlternateContent xmlns:mc="http://schemas.openxmlformats.org/markup-compatibility/2006">
              <mc:Choice xmlns:v="urn:schemas-microsoft-com:vml" Requires="v">
                <p:oleObj spid="_x0000_s36940" r:id="rId10" imgW="3471840" imgH="2395800" progId="Visio.Drawing.11">
                  <p:embed/>
                </p:oleObj>
              </mc:Choice>
              <mc:Fallback>
                <p:oleObj r:id="rId10" imgW="3471840" imgH="2395800" progId="Visio.Drawing.11">
                  <p:embed/>
                  <p:pic>
                    <p:nvPicPr>
                      <p:cNvPr id="37892"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5081" y="3213720"/>
                        <a:ext cx="3600450"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Text Box 7"/>
          <p:cNvSpPr txBox="1">
            <a:spLocks noChangeArrowheads="1"/>
          </p:cNvSpPr>
          <p:nvPr/>
        </p:nvSpPr>
        <p:spPr bwMode="auto">
          <a:xfrm>
            <a:off x="5011458" y="3502645"/>
            <a:ext cx="2873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dirty="0">
                <a:latin typeface="Times New Roman" panose="02020603050405020304" pitchFamily="18" charset="0"/>
                <a:ea typeface="宋体" panose="02010600030101010101" pitchFamily="2" charset="-122"/>
              </a:rPr>
              <a:t>A</a:t>
            </a:r>
          </a:p>
        </p:txBody>
      </p:sp>
      <p:sp>
        <p:nvSpPr>
          <p:cNvPr id="16" name="Text Box 8"/>
          <p:cNvSpPr txBox="1">
            <a:spLocks noChangeArrowheads="1"/>
          </p:cNvSpPr>
          <p:nvPr/>
        </p:nvSpPr>
        <p:spPr bwMode="auto">
          <a:xfrm>
            <a:off x="7454331" y="4166220"/>
            <a:ext cx="3524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dirty="0">
                <a:latin typeface="Times New Roman" panose="02020603050405020304" pitchFamily="18" charset="0"/>
                <a:ea typeface="宋体" panose="02010600030101010101" pitchFamily="2" charset="-122"/>
              </a:rPr>
              <a:t>C</a:t>
            </a:r>
            <a:endParaRPr lang="en-US" altLang="zh-CN" sz="2000" dirty="0">
              <a:latin typeface="Tahoma" panose="020B0604030504040204" pitchFamily="34" charset="0"/>
            </a:endParaRPr>
          </a:p>
        </p:txBody>
      </p:sp>
      <p:sp>
        <p:nvSpPr>
          <p:cNvPr id="17" name="Text Box 9"/>
          <p:cNvSpPr txBox="1">
            <a:spLocks noChangeArrowheads="1"/>
          </p:cNvSpPr>
          <p:nvPr/>
        </p:nvSpPr>
        <p:spPr bwMode="auto">
          <a:xfrm>
            <a:off x="7403424" y="5177575"/>
            <a:ext cx="287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dirty="0">
                <a:latin typeface="Times New Roman" panose="02020603050405020304" pitchFamily="18" charset="0"/>
                <a:ea typeface="宋体" panose="02010600030101010101" pitchFamily="2" charset="-122"/>
              </a:rPr>
              <a:t>B</a:t>
            </a:r>
          </a:p>
        </p:txBody>
      </p:sp>
      <mc:AlternateContent xmlns:mc="http://schemas.openxmlformats.org/markup-compatibility/2006" xmlns:a14="http://schemas.microsoft.com/office/drawing/2010/main">
        <mc:Choice Requires="a14">
          <p:sp>
            <p:nvSpPr>
              <p:cNvPr id="18" name="Text Box 11"/>
              <p:cNvSpPr txBox="1">
                <a:spLocks noChangeArrowheads="1"/>
              </p:cNvSpPr>
              <p:nvPr/>
            </p:nvSpPr>
            <p:spPr bwMode="auto">
              <a:xfrm>
                <a:off x="7949631" y="4509120"/>
                <a:ext cx="1728788" cy="431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None/>
                </a:pP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方向分量</a:t>
                </a:r>
              </a:p>
            </p:txBody>
          </p:sp>
        </mc:Choice>
        <mc:Fallback xmlns="">
          <p:sp>
            <p:nvSpPr>
              <p:cNvPr id="18" name="Text Box 11"/>
              <p:cNvSpPr txBox="1">
                <a:spLocks noRot="1" noChangeAspect="1" noMove="1" noResize="1" noEditPoints="1" noAdjustHandles="1" noChangeArrowheads="1" noChangeShapeType="1" noTextEdit="1"/>
              </p:cNvSpPr>
              <p:nvPr/>
            </p:nvSpPr>
            <p:spPr bwMode="auto">
              <a:xfrm>
                <a:off x="7949631" y="4509120"/>
                <a:ext cx="1728788" cy="431800"/>
              </a:xfrm>
              <a:prstGeom prst="rect">
                <a:avLst/>
              </a:prstGeom>
              <a:blipFill>
                <a:blip r:embed="rId12"/>
                <a:stretch>
                  <a:fillRect l="-3873" t="-18310" b="-56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 Box 12"/>
              <p:cNvSpPr txBox="1">
                <a:spLocks noChangeArrowheads="1"/>
              </p:cNvSpPr>
              <p:nvPr/>
            </p:nvSpPr>
            <p:spPr bwMode="auto">
              <a:xfrm>
                <a:off x="6365306" y="3429620"/>
                <a:ext cx="1584325" cy="3603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None/>
                </a:pP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方向分量</a:t>
                </a:r>
              </a:p>
            </p:txBody>
          </p:sp>
        </mc:Choice>
        <mc:Fallback xmlns="">
          <p:sp>
            <p:nvSpPr>
              <p:cNvPr id="19" name="Text Box 12"/>
              <p:cNvSpPr txBox="1">
                <a:spLocks noRot="1" noChangeAspect="1" noMove="1" noResize="1" noEditPoints="1" noAdjustHandles="1" noChangeArrowheads="1" noChangeShapeType="1" noTextEdit="1"/>
              </p:cNvSpPr>
              <p:nvPr/>
            </p:nvSpPr>
            <p:spPr bwMode="auto">
              <a:xfrm>
                <a:off x="6365306" y="3429620"/>
                <a:ext cx="1584325" cy="360363"/>
              </a:xfrm>
              <a:prstGeom prst="rect">
                <a:avLst/>
              </a:prstGeom>
              <a:blipFill>
                <a:blip r:embed="rId13"/>
                <a:stretch>
                  <a:fillRect l="-5769" t="-22034" b="-271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Text Box 13"/>
          <p:cNvSpPr txBox="1">
            <a:spLocks noChangeArrowheads="1"/>
          </p:cNvSpPr>
          <p:nvPr/>
        </p:nvSpPr>
        <p:spPr bwMode="auto">
          <a:xfrm>
            <a:off x="8022656" y="3718545"/>
            <a:ext cx="98901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000" b="1">
                <a:solidFill>
                  <a:srgbClr val="3366FF"/>
                </a:solidFill>
                <a:latin typeface="方正粗黑宋简体" panose="02000000000000000000" pitchFamily="2" charset="-122"/>
                <a:ea typeface="方正粗黑宋简体" panose="02000000000000000000" pitchFamily="2" charset="-122"/>
              </a:rPr>
              <a:t>法矢量</a:t>
            </a:r>
          </a:p>
        </p:txBody>
      </p:sp>
      <p:sp>
        <p:nvSpPr>
          <p:cNvPr id="21" name="Rectangle 14"/>
          <p:cNvSpPr>
            <a:spLocks noChangeArrowheads="1"/>
          </p:cNvSpPr>
          <p:nvPr/>
        </p:nvSpPr>
        <p:spPr bwMode="auto">
          <a:xfrm>
            <a:off x="5285806" y="5763215"/>
            <a:ext cx="18036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a:latin typeface="Tahoma" panose="020B0604030504040204" pitchFamily="34" charset="0"/>
              </a:rPr>
              <a:t>椭圆的法矢量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38915" name="Object 3"/>
          <p:cNvGraphicFramePr>
            <a:graphicFrameLocks noChangeAspect="1"/>
          </p:cNvGraphicFramePr>
          <p:nvPr>
            <p:extLst>
              <p:ext uri="{D42A27DB-BD31-4B8C-83A1-F6EECF244321}">
                <p14:modId xmlns:p14="http://schemas.microsoft.com/office/powerpoint/2010/main" val="3658577231"/>
              </p:ext>
            </p:extLst>
          </p:nvPr>
        </p:nvGraphicFramePr>
        <p:xfrm>
          <a:off x="1422400" y="476250"/>
          <a:ext cx="6372225" cy="947738"/>
        </p:xfrm>
        <a:graphic>
          <a:graphicData uri="http://schemas.openxmlformats.org/presentationml/2006/ole">
            <mc:AlternateContent xmlns:mc="http://schemas.openxmlformats.org/markup-compatibility/2006">
              <mc:Choice xmlns:v="urn:schemas-microsoft-com:vml" Requires="v">
                <p:oleObj spid="_x0000_s38960" name="公式" r:id="rId3" imgW="2819160" imgH="419040" progId="Equation.3">
                  <p:embed/>
                </p:oleObj>
              </mc:Choice>
              <mc:Fallback>
                <p:oleObj name="公式" r:id="rId3" imgW="2819160" imgH="419040" progId="Equation.3">
                  <p:embed/>
                  <p:pic>
                    <p:nvPicPr>
                      <p:cNvPr id="0" name="Object 3"/>
                      <p:cNvPicPr>
                        <a:picLocks noChangeAspect="1" noChangeArrowheads="1"/>
                      </p:cNvPicPr>
                      <p:nvPr/>
                    </p:nvPicPr>
                    <p:blipFill>
                      <a:blip r:embed="rId4"/>
                      <a:srcRect/>
                      <a:stretch>
                        <a:fillRect/>
                      </a:stretch>
                    </p:blipFill>
                    <p:spPr bwMode="auto">
                      <a:xfrm>
                        <a:off x="1422400" y="476250"/>
                        <a:ext cx="6372225"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6" name="Rectangle 7"/>
          <p:cNvSpPr>
            <a:spLocks noChangeArrowheads="1"/>
          </p:cNvSpPr>
          <p:nvPr/>
        </p:nvSpPr>
        <p:spPr bwMode="auto">
          <a:xfrm>
            <a:off x="7524750" y="549275"/>
            <a:ext cx="121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3-14)</a:t>
            </a:r>
            <a:endParaRPr lang="zh-CN" altLang="en-US" sz="2400">
              <a:latin typeface="Tahoma" panose="020B0604030504040204" pitchFamily="34" charset="0"/>
            </a:endParaRPr>
          </a:p>
        </p:txBody>
      </p:sp>
      <mc:AlternateContent xmlns:mc="http://schemas.openxmlformats.org/markup-compatibility/2006">
        <mc:Choice xmlns:a14="http://schemas.microsoft.com/office/drawing/2010/main" Requires="a14">
          <p:sp>
            <p:nvSpPr>
              <p:cNvPr id="38917" name="Rectangle 8"/>
              <p:cNvSpPr>
                <a:spLocks noChangeArrowheads="1"/>
              </p:cNvSpPr>
              <p:nvPr/>
            </p:nvSpPr>
            <p:spPr bwMode="auto">
              <a:xfrm>
                <a:off x="467544" y="1844824"/>
                <a:ext cx="8570913" cy="32932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30000"/>
                  </a:lnSpc>
                  <a:spcBef>
                    <a:spcPct val="0"/>
                  </a:spcBef>
                  <a:buFont typeface="Wingdings" panose="05000000000000000000" pitchFamily="2" charset="2"/>
                  <a:buChar char="n"/>
                </a:pPr>
                <a:r>
                  <a:rPr lang="zh-CN" altLang="en-US" sz="2000" dirty="0" smtClean="0">
                    <a:solidFill>
                      <a:srgbClr val="FF0000"/>
                    </a:solidFill>
                    <a:latin typeface="华文琥珀" panose="02010800040101010101" pitchFamily="2" charset="-122"/>
                    <a:ea typeface="华文琥珀" panose="02010800040101010101" pitchFamily="2" charset="-122"/>
                  </a:rPr>
                  <a:t>部分</a:t>
                </a:r>
                <a:r>
                  <a:rPr lang="en-US" altLang="zh-CN" sz="2000" dirty="0">
                    <a:solidFill>
                      <a:srgbClr val="FF0000"/>
                    </a:solidFill>
                    <a:latin typeface="华文琥珀" panose="02010800040101010101" pitchFamily="2" charset="-122"/>
                    <a:ea typeface="华文琥珀" panose="02010800040101010101" pitchFamily="2" charset="-122"/>
                  </a:rPr>
                  <a:t>Ⅰ</a:t>
                </a:r>
                <a:r>
                  <a:rPr lang="zh-CN" altLang="en-US" sz="2000" dirty="0" smtClean="0">
                    <a:solidFill>
                      <a:srgbClr val="FF0000"/>
                    </a:solidFill>
                    <a:latin typeface="华文琥珀" panose="02010800040101010101" pitchFamily="2" charset="-122"/>
                    <a:ea typeface="华文琥珀" panose="02010800040101010101" pitchFamily="2" charset="-122"/>
                  </a:rPr>
                  <a:t>的 </a:t>
                </a:r>
                <a:r>
                  <a:rPr lang="en-US" altLang="zh-CN" sz="2000" dirty="0" smtClean="0">
                    <a:solidFill>
                      <a:srgbClr val="FF0000"/>
                    </a:solidFill>
                    <a:latin typeface="华文琥珀" panose="02010800040101010101" pitchFamily="2" charset="-122"/>
                    <a:ea typeface="华文琥珀" panose="02010800040101010101" pitchFamily="2" charset="-122"/>
                  </a:rPr>
                  <a:t>AC </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椭圆</a:t>
                </a:r>
                <a:r>
                  <a:rPr lang="zh-CN" altLang="en-US" sz="2000" b="1" dirty="0">
                    <a:solidFill>
                      <a:srgbClr val="3366FF"/>
                    </a:solidFill>
                    <a:latin typeface="方正粗黑宋简体" panose="02000000000000000000" pitchFamily="2" charset="-122"/>
                    <a:ea typeface="方正粗黑宋简体" panose="02000000000000000000" pitchFamily="2" charset="-122"/>
                  </a:rPr>
                  <a:t>弧段</a:t>
                </a:r>
                <a:r>
                  <a:rPr lang="zh-CN" altLang="en-US" sz="2000" dirty="0">
                    <a:latin typeface="Tahoma" panose="020B0604030504040204" pitchFamily="34" charset="0"/>
                  </a:rPr>
                  <a:t>，</a:t>
                </a:r>
                <a:r>
                  <a:rPr lang="zh-CN" altLang="en-US" sz="2000" dirty="0">
                    <a:solidFill>
                      <a:srgbClr val="FF0000"/>
                    </a:solidFill>
                    <a:latin typeface="华文琥珀" panose="02010800040101010101" pitchFamily="2" charset="-122"/>
                    <a:ea typeface="华文琥珀" panose="02010800040101010101" pitchFamily="2" charset="-122"/>
                  </a:rPr>
                  <a:t>法矢量</a:t>
                </a:r>
                <a:r>
                  <a:rPr lang="zh-CN" altLang="en-US" sz="2000" dirty="0" smtClean="0">
                    <a:solidFill>
                      <a:srgbClr val="FF0000"/>
                    </a:solidFill>
                    <a:latin typeface="华文琥珀" panose="02010800040101010101" pitchFamily="2" charset="-122"/>
                    <a:ea typeface="华文琥珀" panose="02010800040101010101" pitchFamily="2" charset="-122"/>
                  </a:rPr>
                  <a:t>的 </a:t>
                </a:r>
                <a14:m>
                  <m:oMath xmlns:m="http://schemas.openxmlformats.org/officeDocument/2006/math">
                    <m:r>
                      <a:rPr lang="en-US" altLang="zh-CN" sz="2000" b="1" i="1" smtClean="0">
                        <a:solidFill>
                          <a:srgbClr val="3366FF"/>
                        </a:solidFill>
                        <a:latin typeface="Cambria Math" panose="02040503050406030204" pitchFamily="18" charset="0"/>
                      </a:rPr>
                      <m:t>𝒙</m:t>
                    </m:r>
                  </m:oMath>
                </a14:m>
                <a:r>
                  <a:rPr lang="en-US" altLang="zh-CN"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dirty="0" smtClean="0">
                    <a:solidFill>
                      <a:srgbClr val="FF0000"/>
                    </a:solidFill>
                    <a:latin typeface="华文琥珀" panose="02010800040101010101" pitchFamily="2" charset="-122"/>
                    <a:ea typeface="华文琥珀" panose="02010800040101010101" pitchFamily="2" charset="-122"/>
                  </a:rPr>
                  <a:t>向</a:t>
                </a:r>
                <a:r>
                  <a:rPr lang="zh-CN" altLang="en-US" sz="2000" dirty="0">
                    <a:solidFill>
                      <a:srgbClr val="FF0000"/>
                    </a:solidFill>
                    <a:latin typeface="华文琥珀" panose="02010800040101010101" pitchFamily="2" charset="-122"/>
                    <a:ea typeface="华文琥珀" panose="02010800040101010101" pitchFamily="2" charset="-122"/>
                  </a:rPr>
                  <a:t>分量</a:t>
                </a:r>
                <a:r>
                  <a:rPr lang="zh-CN" altLang="en-US" sz="2000" dirty="0" smtClean="0">
                    <a:solidFill>
                      <a:srgbClr val="FF0000"/>
                    </a:solidFill>
                    <a:latin typeface="华文琥珀" panose="02010800040101010101" pitchFamily="2" charset="-122"/>
                    <a:ea typeface="华文琥珀" panose="02010800040101010101" pitchFamily="2" charset="-122"/>
                  </a:rPr>
                  <a:t>小于 </a:t>
                </a:r>
                <a14:m>
                  <m:oMath xmlns:m="http://schemas.openxmlformats.org/officeDocument/2006/math">
                    <m:r>
                      <a:rPr lang="en-US" altLang="zh-CN" sz="2000" b="1" i="1" smtClean="0">
                        <a:solidFill>
                          <a:srgbClr val="3366FF"/>
                        </a:solidFill>
                        <a:latin typeface="Cambria Math" panose="02040503050406030204" pitchFamily="18" charset="0"/>
                        <a:ea typeface="华文琥珀" panose="02010800040101010101" pitchFamily="2" charset="-122"/>
                      </a:rPr>
                      <m:t>𝒚</m:t>
                    </m:r>
                  </m:oMath>
                </a14:m>
                <a:r>
                  <a:rPr lang="en-US" altLang="zh-CN"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dirty="0" smtClean="0">
                    <a:solidFill>
                      <a:srgbClr val="FF0000"/>
                    </a:solidFill>
                    <a:latin typeface="华文琥珀" panose="02010800040101010101" pitchFamily="2" charset="-122"/>
                    <a:ea typeface="华文琥珀" panose="02010800040101010101" pitchFamily="2" charset="-122"/>
                  </a:rPr>
                  <a:t>向</a:t>
                </a:r>
                <a:r>
                  <a:rPr lang="zh-CN" altLang="en-US" sz="2000" dirty="0">
                    <a:solidFill>
                      <a:srgbClr val="FF0000"/>
                    </a:solidFill>
                    <a:latin typeface="华文琥珀" panose="02010800040101010101" pitchFamily="2" charset="-122"/>
                    <a:ea typeface="华文琥珀" panose="02010800040101010101" pitchFamily="2" charset="-122"/>
                  </a:rPr>
                  <a:t>分量</a:t>
                </a:r>
                <a:r>
                  <a:rPr lang="zh-CN" altLang="en-US" sz="2000" dirty="0">
                    <a:latin typeface="Tahoma" panose="020B0604030504040204" pitchFamily="34" charset="0"/>
                  </a:rPr>
                  <a:t>，</a:t>
                </a:r>
                <a:r>
                  <a:rPr lang="zh-CN" altLang="en-US" sz="2000" dirty="0" smtClean="0">
                    <a:latin typeface="Tahoma" panose="020B0604030504040204" pitchFamily="34" charset="0"/>
                  </a:rPr>
                  <a:t>斜率 </a:t>
                </a:r>
                <a14:m>
                  <m:oMath xmlns:m="http://schemas.openxmlformats.org/officeDocument/2006/math">
                    <m:r>
                      <a:rPr lang="en-US" altLang="zh-CN" sz="2000" b="1" i="1" smtClean="0">
                        <a:solidFill>
                          <a:srgbClr val="3366FF"/>
                        </a:solidFill>
                        <a:latin typeface="Cambria Math" panose="02040503050406030204" pitchFamily="18" charset="0"/>
                      </a:rPr>
                      <m:t>𝒌</m:t>
                    </m:r>
                  </m:oMath>
                </a14:m>
                <a:r>
                  <a:rPr lang="zh-CN" altLang="en-US" sz="2000" dirty="0" smtClean="0">
                    <a:latin typeface="Tahoma" panose="020B0604030504040204" pitchFamily="34" charset="0"/>
                  </a:rPr>
                  <a:t> 满足</a:t>
                </a:r>
                <a14:m>
                  <m:oMath xmlns:m="http://schemas.openxmlformats.org/officeDocument/2006/math">
                    <m:d>
                      <m:dPr>
                        <m:begChr m:val="|"/>
                        <m:endChr m:val="|"/>
                        <m:ctrlPr>
                          <a:rPr lang="en-US" altLang="zh-CN" sz="2000" b="1" i="1" smtClean="0">
                            <a:solidFill>
                              <a:srgbClr val="3366FF"/>
                            </a:solidFill>
                            <a:latin typeface="Cambria Math" panose="02040503050406030204" pitchFamily="18" charset="0"/>
                          </a:rPr>
                        </m:ctrlPr>
                      </m:dPr>
                      <m:e>
                        <m:r>
                          <a:rPr lang="en-US" altLang="zh-CN" sz="2000" b="1" i="1">
                            <a:solidFill>
                              <a:srgbClr val="3366FF"/>
                            </a:solidFill>
                            <a:latin typeface="Cambria Math" panose="02040503050406030204" pitchFamily="18" charset="0"/>
                          </a:rPr>
                          <m:t>𝒌</m:t>
                        </m:r>
                      </m:e>
                    </m:d>
                    <m:r>
                      <a:rPr lang="en-US" altLang="zh-CN" sz="2000" b="1" i="1" smtClean="0">
                        <a:solidFill>
                          <a:srgbClr val="3366FF"/>
                        </a:solidFill>
                        <a:latin typeface="Cambria Math" panose="02040503050406030204" pitchFamily="18" charset="0"/>
                      </a:rPr>
                      <m:t>&lt;</m:t>
                    </m:r>
                    <m:r>
                      <a:rPr lang="en-US" altLang="zh-CN" sz="2000" b="1" i="1" smtClean="0">
                        <a:solidFill>
                          <a:srgbClr val="3366FF"/>
                        </a:solidFill>
                        <a:latin typeface="Cambria Math" panose="02040503050406030204" pitchFamily="18" charset="0"/>
                      </a:rPr>
                      <m:t>𝟏</m:t>
                    </m:r>
                    <m:r>
                      <a:rPr lang="zh-CN" altLang="en-US" sz="2000" b="1" i="1">
                        <a:solidFill>
                          <a:srgbClr val="3366FF"/>
                        </a:solidFill>
                        <a:latin typeface="Cambria Math" panose="02040503050406030204" pitchFamily="18" charset="0"/>
                      </a:rPr>
                      <m:t>，</m:t>
                    </m:r>
                    <m:d>
                      <m:dPr>
                        <m:begChr m:val="|"/>
                        <m:endChr m:val="|"/>
                        <m:ctrlPr>
                          <a:rPr lang="en-US" altLang="zh-CN" sz="2000" b="1" i="1" smtClean="0">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𝒙</m:t>
                        </m:r>
                      </m:e>
                    </m:d>
                    <m:r>
                      <a:rPr lang="en-US" altLang="zh-CN" sz="2000" b="1" i="1" smtClean="0">
                        <a:solidFill>
                          <a:srgbClr val="3366FF"/>
                        </a:solidFill>
                        <a:latin typeface="Cambria Math" panose="02040503050406030204" pitchFamily="18" charset="0"/>
                      </a:rPr>
                      <m:t>&gt;</m:t>
                    </m:r>
                    <m:d>
                      <m:dPr>
                        <m:begChr m:val="|"/>
                        <m:endChr m:val="|"/>
                        <m:ctrlPr>
                          <a:rPr lang="en-US" altLang="zh-CN" sz="2000" b="1" i="1">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smtClean="0">
                            <a:solidFill>
                              <a:srgbClr val="3366FF"/>
                            </a:solidFill>
                            <a:latin typeface="Cambria Math" panose="02040503050406030204" pitchFamily="18" charset="0"/>
                          </a:rPr>
                          <m:t>𝒚</m:t>
                        </m:r>
                      </m:e>
                    </m:d>
                  </m:oMath>
                </a14:m>
                <a:r>
                  <a:rPr lang="zh-CN" altLang="en-US" sz="2000" dirty="0" smtClean="0">
                    <a:latin typeface="Tahoma" panose="020B0604030504040204" pitchFamily="34" charset="0"/>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所以</a:t>
                </a:r>
                <a:r>
                  <a:rPr lang="zh-CN" altLang="en-US" sz="2000" b="1" dirty="0">
                    <a:solidFill>
                      <a:srgbClr val="FF0000"/>
                    </a:solidFill>
                    <a:latin typeface="方正粗黑宋简体" panose="02000000000000000000" pitchFamily="2" charset="-122"/>
                    <a:ea typeface="方正粗黑宋简体" panose="02000000000000000000" pitchFamily="2" charset="-122"/>
                  </a:rPr>
                  <a:t> </a:t>
                </a:r>
                <a14:m>
                  <m:oMath xmlns:m="http://schemas.openxmlformats.org/officeDocument/2006/math">
                    <m:r>
                      <a:rPr lang="en-US" altLang="zh-CN" sz="2000" b="1">
                        <a:solidFill>
                          <a:srgbClr val="FF0000"/>
                        </a:solidFill>
                        <a:latin typeface="方正粗黑宋简体" panose="02000000000000000000" pitchFamily="2" charset="-122"/>
                        <a:ea typeface="方正粗黑宋简体" panose="02000000000000000000" pitchFamily="2" charset="-122"/>
                      </a:rPr>
                      <m:t>𝒙</m:t>
                    </m:r>
                  </m:oMath>
                </a14:m>
                <a:r>
                  <a:rPr lang="zh-CN" altLang="en-US" sz="2000" b="1" dirty="0">
                    <a:solidFill>
                      <a:srgbClr val="FF0000"/>
                    </a:solidFill>
                    <a:latin typeface="方正粗黑宋简体" panose="02000000000000000000" pitchFamily="2" charset="-122"/>
                    <a:ea typeface="方正粗黑宋简体" panose="02000000000000000000" pitchFamily="2" charset="-122"/>
                  </a:rPr>
                  <a:t> </a:t>
                </a:r>
                <a:r>
                  <a:rPr lang="zh-CN" altLang="en-US" sz="2000" b="1" dirty="0">
                    <a:solidFill>
                      <a:srgbClr val="FF0000"/>
                    </a:solidFill>
                    <a:latin typeface="方正粗黑宋简体" panose="02000000000000000000" pitchFamily="2" charset="-122"/>
                    <a:ea typeface="方正粗黑宋简体" panose="02000000000000000000" pitchFamily="2" charset="-122"/>
                  </a:rPr>
                  <a:t>方向为主位移方向</a:t>
                </a:r>
                <a:r>
                  <a:rPr lang="zh-CN" altLang="en-US" sz="2000" dirty="0" smtClean="0">
                    <a:latin typeface="Tahoma" panose="020B0604030504040204" pitchFamily="34" charset="0"/>
                  </a:rPr>
                  <a:t>；每次</a:t>
                </a:r>
                <a:r>
                  <a:rPr lang="zh-CN" altLang="en-US" sz="2000" b="1" dirty="0">
                    <a:solidFill>
                      <a:srgbClr val="3366FF"/>
                    </a:solidFill>
                    <a:latin typeface="方正粗黑宋简体" panose="02000000000000000000" pitchFamily="2" charset="-122"/>
                    <a:ea typeface="方正粗黑宋简体" panose="02000000000000000000" pitchFamily="2" charset="-122"/>
                  </a:rPr>
                  <a:t>在主位移</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方向上走一</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步</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a:t>
                </a:r>
                <a:r>
                  <a:rPr lang="en-US" altLang="zh-CN" sz="2000" b="1" dirty="0" smtClean="0">
                    <a:solidFill>
                      <a:srgbClr val="FF0000"/>
                    </a:solidFill>
                    <a:latin typeface="方正粗黑宋简体" panose="02000000000000000000" pitchFamily="2" charset="-122"/>
                    <a:ea typeface="方正粗黑宋简体" panose="02000000000000000000" pitchFamily="2" charset="-122"/>
                  </a:rPr>
                  <a:t>+1</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方向上退不</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退步（</a:t>
                </a:r>
                <a:r>
                  <a:rPr lang="en-US" altLang="zh-CN" sz="2000" b="1" dirty="0" smtClean="0">
                    <a:solidFill>
                      <a:srgbClr val="3366FF"/>
                    </a:solidFill>
                    <a:latin typeface="方正粗黑宋简体" panose="02000000000000000000" pitchFamily="2" charset="-122"/>
                    <a:ea typeface="方正粗黑宋简体" panose="02000000000000000000" pitchFamily="2" charset="-122"/>
                  </a:rPr>
                  <a:t>-1</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）取决于</a:t>
                </a:r>
                <a:r>
                  <a:rPr lang="zh-CN" altLang="en-US" sz="2000" b="1" dirty="0">
                    <a:solidFill>
                      <a:srgbClr val="3366FF"/>
                    </a:solidFill>
                    <a:latin typeface="方正粗黑宋简体" panose="02000000000000000000" pitchFamily="2" charset="-122"/>
                    <a:ea typeface="方正粗黑宋简体" panose="02000000000000000000" pitchFamily="2" charset="-122"/>
                  </a:rPr>
                  <a:t>中点误差项的值</a:t>
                </a:r>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eaLnBrk="1" hangingPunct="1">
                  <a:lnSpc>
                    <a:spcPct val="130000"/>
                  </a:lnSpc>
                  <a:spcBef>
                    <a:spcPct val="0"/>
                  </a:spcBef>
                  <a:buFont typeface="Wingdings" panose="05000000000000000000" pitchFamily="2" charset="2"/>
                  <a:buChar char="n"/>
                </a:pPr>
                <a:r>
                  <a:rPr lang="zh-CN" altLang="en-US" sz="2000" dirty="0">
                    <a:solidFill>
                      <a:srgbClr val="FF0000"/>
                    </a:solidFill>
                    <a:latin typeface="华文琥珀" panose="02010800040101010101" pitchFamily="2" charset="-122"/>
                    <a:ea typeface="华文琥珀" panose="02010800040101010101" pitchFamily="2" charset="-122"/>
                  </a:rPr>
                  <a:t>在</a:t>
                </a:r>
                <a:r>
                  <a:rPr lang="en-US" altLang="zh-CN" sz="2000" dirty="0">
                    <a:solidFill>
                      <a:srgbClr val="FF0000"/>
                    </a:solidFill>
                    <a:latin typeface="华文琥珀" panose="02010800040101010101" pitchFamily="2" charset="-122"/>
                    <a:ea typeface="华文琥珀" panose="02010800040101010101" pitchFamily="2" charset="-122"/>
                  </a:rPr>
                  <a:t>C</a:t>
                </a:r>
                <a:r>
                  <a:rPr lang="zh-CN" altLang="en-US" sz="2000" dirty="0">
                    <a:solidFill>
                      <a:srgbClr val="FF0000"/>
                    </a:solidFill>
                    <a:latin typeface="华文琥珀" panose="02010800040101010101" pitchFamily="2" charset="-122"/>
                    <a:ea typeface="华文琥珀" panose="02010800040101010101" pitchFamily="2" charset="-122"/>
                  </a:rPr>
                  <a:t>点，法矢量的</a:t>
                </a:r>
                <a:r>
                  <a:rPr lang="zh-CN" altLang="en-US" sz="2000" dirty="0" smtClean="0">
                    <a:solidFill>
                      <a:srgbClr val="FF0000"/>
                    </a:solidFill>
                    <a:latin typeface="华文琥珀" panose="02010800040101010101" pitchFamily="2" charset="-122"/>
                    <a:ea typeface="华文琥珀" panose="02010800040101010101" pitchFamily="2" charset="-122"/>
                  </a:rPr>
                  <a:t> </a:t>
                </a:r>
                <a14:m>
                  <m:oMath xmlns:m="http://schemas.openxmlformats.org/officeDocument/2006/math">
                    <m:r>
                      <a:rPr lang="en-US" altLang="zh-CN" sz="2000" b="1" i="1">
                        <a:solidFill>
                          <a:srgbClr val="3366FF"/>
                        </a:solidFill>
                        <a:latin typeface="Cambria Math" panose="02040503050406030204" pitchFamily="18" charset="0"/>
                      </a:rPr>
                      <m:t>𝒙</m:t>
                    </m:r>
                  </m:oMath>
                </a14:m>
                <a:r>
                  <a:rPr lang="zh-CN" altLang="en-US" sz="2000" dirty="0" smtClean="0">
                    <a:solidFill>
                      <a:srgbClr val="FF0000"/>
                    </a:solidFill>
                    <a:latin typeface="华文琥珀" panose="02010800040101010101" pitchFamily="2" charset="-122"/>
                    <a:ea typeface="华文琥珀" panose="02010800040101010101" pitchFamily="2" charset="-122"/>
                  </a:rPr>
                  <a:t> </a:t>
                </a:r>
                <a:r>
                  <a:rPr lang="zh-CN" altLang="en-US" sz="2000" dirty="0">
                    <a:solidFill>
                      <a:srgbClr val="FF0000"/>
                    </a:solidFill>
                    <a:latin typeface="华文琥珀" panose="02010800040101010101" pitchFamily="2" charset="-122"/>
                    <a:ea typeface="华文琥珀" panose="02010800040101010101" pitchFamily="2" charset="-122"/>
                  </a:rPr>
                  <a:t>向分量等于</a:t>
                </a:r>
                <a:r>
                  <a:rPr lang="zh-CN" altLang="en-US" sz="2000" dirty="0" smtClean="0">
                    <a:solidFill>
                      <a:srgbClr val="FF0000"/>
                    </a:solidFill>
                    <a:latin typeface="华文琥珀" panose="02010800040101010101" pitchFamily="2" charset="-122"/>
                    <a:ea typeface="华文琥珀" panose="02010800040101010101" pitchFamily="2" charset="-122"/>
                  </a:rPr>
                  <a:t> </a:t>
                </a:r>
                <a14:m>
                  <m:oMath xmlns:m="http://schemas.openxmlformats.org/officeDocument/2006/math">
                    <m:r>
                      <a:rPr lang="en-US" altLang="zh-CN" sz="2000" b="1" i="1">
                        <a:solidFill>
                          <a:srgbClr val="3366FF"/>
                        </a:solidFill>
                        <a:latin typeface="Cambria Math" panose="02040503050406030204" pitchFamily="18" charset="0"/>
                        <a:ea typeface="华文琥珀" panose="02010800040101010101" pitchFamily="2" charset="-122"/>
                      </a:rPr>
                      <m:t>𝒚</m:t>
                    </m:r>
                  </m:oMath>
                </a14:m>
                <a:r>
                  <a:rPr lang="zh-CN" altLang="en-US" sz="2000" dirty="0" smtClean="0">
                    <a:solidFill>
                      <a:srgbClr val="FF0000"/>
                    </a:solidFill>
                    <a:latin typeface="华文琥珀" panose="02010800040101010101" pitchFamily="2" charset="-122"/>
                    <a:ea typeface="华文琥珀" panose="02010800040101010101" pitchFamily="2" charset="-122"/>
                  </a:rPr>
                  <a:t> </a:t>
                </a:r>
                <a:r>
                  <a:rPr lang="zh-CN" altLang="en-US" sz="2000" dirty="0">
                    <a:solidFill>
                      <a:srgbClr val="FF0000"/>
                    </a:solidFill>
                    <a:latin typeface="华文琥珀" panose="02010800040101010101" pitchFamily="2" charset="-122"/>
                    <a:ea typeface="华文琥珀" panose="02010800040101010101" pitchFamily="2" charset="-122"/>
                  </a:rPr>
                  <a:t>向分量</a:t>
                </a:r>
                <a:r>
                  <a:rPr lang="zh-CN" altLang="en-US" sz="2000" dirty="0">
                    <a:latin typeface="Tahoma" panose="020B0604030504040204" pitchFamily="34" charset="0"/>
                  </a:rPr>
                  <a:t>，斜率</a:t>
                </a:r>
                <a:r>
                  <a:rPr lang="zh-CN" altLang="en-US" sz="2000" dirty="0" smtClean="0">
                    <a:latin typeface="Tahoma" panose="020B0604030504040204" pitchFamily="34" charset="0"/>
                  </a:rPr>
                  <a:t> </a:t>
                </a:r>
                <a14:m>
                  <m:oMath xmlns:m="http://schemas.openxmlformats.org/officeDocument/2006/math">
                    <m:r>
                      <a:rPr lang="en-US" altLang="zh-CN" sz="2000" b="1" i="1">
                        <a:solidFill>
                          <a:srgbClr val="3366FF"/>
                        </a:solidFill>
                        <a:latin typeface="Cambria Math" panose="02040503050406030204" pitchFamily="18" charset="0"/>
                      </a:rPr>
                      <m:t>𝒌</m:t>
                    </m:r>
                  </m:oMath>
                </a14:m>
                <a:r>
                  <a:rPr lang="zh-CN" altLang="en-US" sz="2000" dirty="0" smtClean="0">
                    <a:latin typeface="Tahoma" panose="020B0604030504040204" pitchFamily="34" charset="0"/>
                  </a:rPr>
                  <a:t> </a:t>
                </a:r>
                <a:r>
                  <a:rPr lang="zh-CN" altLang="en-US" sz="2000" dirty="0">
                    <a:latin typeface="Tahoma" panose="020B0604030504040204" pitchFamily="34" charset="0"/>
                  </a:rPr>
                  <a:t>满足</a:t>
                </a:r>
                <a14:m>
                  <m:oMath xmlns:m="http://schemas.openxmlformats.org/officeDocument/2006/math">
                    <m:d>
                      <m:dPr>
                        <m:begChr m:val="|"/>
                        <m:endChr m:val="|"/>
                        <m:ctrlPr>
                          <a:rPr lang="en-US" altLang="zh-CN" sz="2000" b="1" i="1">
                            <a:solidFill>
                              <a:srgbClr val="3366FF"/>
                            </a:solidFill>
                            <a:latin typeface="Cambria Math" panose="02040503050406030204" pitchFamily="18" charset="0"/>
                          </a:rPr>
                        </m:ctrlPr>
                      </m:dPr>
                      <m:e>
                        <m:r>
                          <a:rPr lang="en-US" altLang="zh-CN" sz="2000" b="1" i="1">
                            <a:solidFill>
                              <a:srgbClr val="3366FF"/>
                            </a:solidFill>
                            <a:latin typeface="Cambria Math" panose="02040503050406030204" pitchFamily="18" charset="0"/>
                          </a:rPr>
                          <m:t>𝒌</m:t>
                        </m:r>
                      </m:e>
                    </m:d>
                    <m:r>
                      <a:rPr lang="en-US" altLang="zh-CN"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𝟏</m:t>
                    </m:r>
                    <m:r>
                      <a:rPr lang="zh-CN" altLang="en-US" sz="2000" b="1" i="1">
                        <a:solidFill>
                          <a:srgbClr val="3366FF"/>
                        </a:solidFill>
                        <a:latin typeface="Cambria Math" panose="02040503050406030204" pitchFamily="18" charset="0"/>
                      </a:rPr>
                      <m:t>，</m:t>
                    </m:r>
                    <m:d>
                      <m:dPr>
                        <m:begChr m:val="|"/>
                        <m:endChr m:val="|"/>
                        <m:ctrlPr>
                          <a:rPr lang="en-US" altLang="zh-CN" sz="2000" b="1" i="1">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𝒙</m:t>
                        </m:r>
                      </m:e>
                    </m:d>
                    <m:r>
                      <a:rPr lang="en-US" altLang="zh-CN" sz="2000" b="1" i="1">
                        <a:solidFill>
                          <a:srgbClr val="3366FF"/>
                        </a:solidFill>
                        <a:latin typeface="Cambria Math" panose="02040503050406030204" pitchFamily="18" charset="0"/>
                      </a:rPr>
                      <m:t>=</m:t>
                    </m:r>
                    <m:d>
                      <m:dPr>
                        <m:begChr m:val="|"/>
                        <m:endChr m:val="|"/>
                        <m:ctrlPr>
                          <a:rPr lang="en-US" altLang="zh-CN" sz="2000" b="1" i="1">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𝒚</m:t>
                        </m:r>
                      </m:e>
                    </m:d>
                  </m:oMath>
                </a14:m>
                <a:r>
                  <a:rPr lang="zh-CN" altLang="en-US" sz="2000" dirty="0" smtClean="0">
                    <a:latin typeface="Tahoma" panose="020B0604030504040204" pitchFamily="34" charset="0"/>
                  </a:rPr>
                  <a:t>；</a:t>
                </a:r>
                <a:endParaRPr lang="en-US" altLang="zh-CN" sz="2000" dirty="0">
                  <a:latin typeface="Tahoma" panose="020B0604030504040204" pitchFamily="34" charset="0"/>
                </a:endParaRPr>
              </a:p>
              <a:p>
                <a:pPr eaLnBrk="1" hangingPunct="1">
                  <a:lnSpc>
                    <a:spcPct val="130000"/>
                  </a:lnSpc>
                  <a:spcBef>
                    <a:spcPct val="0"/>
                  </a:spcBef>
                  <a:buFont typeface="Wingdings" panose="05000000000000000000" pitchFamily="2" charset="2"/>
                  <a:buChar char="n"/>
                </a:pPr>
                <a:r>
                  <a:rPr lang="zh-CN" altLang="en-US" sz="2000" dirty="0" smtClean="0">
                    <a:solidFill>
                      <a:srgbClr val="FF0000"/>
                    </a:solidFill>
                    <a:latin typeface="华文琥珀" panose="02010800040101010101" pitchFamily="2" charset="-122"/>
                    <a:ea typeface="华文琥珀" panose="02010800040101010101" pitchFamily="2" charset="-122"/>
                  </a:rPr>
                  <a:t>部分</a:t>
                </a:r>
                <a:r>
                  <a:rPr lang="en-US" altLang="zh-CN" sz="2000" dirty="0">
                    <a:solidFill>
                      <a:srgbClr val="FF0000"/>
                    </a:solidFill>
                    <a:latin typeface="华文琥珀" panose="02010800040101010101" pitchFamily="2" charset="-122"/>
                    <a:ea typeface="华文琥珀" panose="02010800040101010101" pitchFamily="2" charset="-122"/>
                  </a:rPr>
                  <a:t>Ⅱ</a:t>
                </a:r>
                <a:r>
                  <a:rPr lang="zh-CN" altLang="en-US" sz="2000" dirty="0" smtClean="0">
                    <a:solidFill>
                      <a:srgbClr val="FF0000"/>
                    </a:solidFill>
                    <a:latin typeface="华文琥珀" panose="02010800040101010101" pitchFamily="2" charset="-122"/>
                    <a:ea typeface="华文琥珀" panose="02010800040101010101" pitchFamily="2" charset="-122"/>
                  </a:rPr>
                  <a:t>的 </a:t>
                </a:r>
                <a:r>
                  <a:rPr lang="en-US" altLang="zh-CN" sz="2000" dirty="0" smtClean="0">
                    <a:solidFill>
                      <a:srgbClr val="FF0000"/>
                    </a:solidFill>
                    <a:latin typeface="华文琥珀" panose="02010800040101010101" pitchFamily="2" charset="-122"/>
                    <a:ea typeface="华文琥珀" panose="02010800040101010101" pitchFamily="2" charset="-122"/>
                  </a:rPr>
                  <a:t>CB </a:t>
                </a:r>
                <a:r>
                  <a:rPr lang="zh-CN" altLang="en-US" sz="2000" dirty="0" smtClean="0">
                    <a:latin typeface="Tahoma" panose="020B0604030504040204" pitchFamily="34" charset="0"/>
                  </a:rPr>
                  <a:t>椭圆</a:t>
                </a:r>
                <a:r>
                  <a:rPr lang="zh-CN" altLang="en-US" sz="2000" dirty="0">
                    <a:latin typeface="Tahoma" panose="020B0604030504040204" pitchFamily="34" charset="0"/>
                  </a:rPr>
                  <a:t>弧段，</a:t>
                </a:r>
                <a:r>
                  <a:rPr lang="zh-CN" altLang="en-US" sz="2000" b="1" dirty="0">
                    <a:solidFill>
                      <a:srgbClr val="FF0000"/>
                    </a:solidFill>
                    <a:latin typeface="方正粗黑宋简体" panose="02000000000000000000" pitchFamily="2" charset="-122"/>
                    <a:ea typeface="方正粗黑宋简体" panose="02000000000000000000" pitchFamily="2" charset="-122"/>
                  </a:rPr>
                  <a:t>法矢量的</a:t>
                </a:r>
                <a14:m>
                  <m:oMath xmlns:m="http://schemas.openxmlformats.org/officeDocument/2006/math">
                    <m:r>
                      <a:rPr lang="en-US" altLang="zh-CN" sz="2000" b="1">
                        <a:solidFill>
                          <a:srgbClr val="FF0000"/>
                        </a:solidFill>
                        <a:latin typeface="方正粗黑宋简体" panose="02000000000000000000" pitchFamily="2" charset="-122"/>
                        <a:ea typeface="方正粗黑宋简体" panose="02000000000000000000" pitchFamily="2" charset="-122"/>
                      </a:rPr>
                      <m:t>𝒙</m:t>
                    </m:r>
                  </m:oMath>
                </a14:m>
                <a:r>
                  <a:rPr lang="zh-CN" altLang="en-US" sz="2000" b="1" dirty="0">
                    <a:solidFill>
                      <a:srgbClr val="FF0000"/>
                    </a:solidFill>
                    <a:latin typeface="方正粗黑宋简体" panose="02000000000000000000" pitchFamily="2" charset="-122"/>
                    <a:ea typeface="方正粗黑宋简体" panose="02000000000000000000" pitchFamily="2" charset="-122"/>
                  </a:rPr>
                  <a:t>向分量大于</a:t>
                </a:r>
                <a14:m>
                  <m:oMath xmlns:m="http://schemas.openxmlformats.org/officeDocument/2006/math">
                    <m:r>
                      <a:rPr lang="en-US" altLang="zh-CN" sz="2000" b="1">
                        <a:solidFill>
                          <a:srgbClr val="FF0000"/>
                        </a:solidFill>
                        <a:latin typeface="方正粗黑宋简体" panose="02000000000000000000" pitchFamily="2" charset="-122"/>
                        <a:ea typeface="方正粗黑宋简体" panose="02000000000000000000" pitchFamily="2" charset="-122"/>
                      </a:rPr>
                      <m:t>𝒚</m:t>
                    </m:r>
                  </m:oMath>
                </a14:m>
                <a:r>
                  <a:rPr lang="zh-CN" altLang="en-US" sz="2000" b="1" dirty="0">
                    <a:solidFill>
                      <a:srgbClr val="FF0000"/>
                    </a:solidFill>
                    <a:latin typeface="方正粗黑宋简体" panose="02000000000000000000" pitchFamily="2" charset="-122"/>
                    <a:ea typeface="方正粗黑宋简体" panose="02000000000000000000" pitchFamily="2" charset="-122"/>
                  </a:rPr>
                  <a:t>向分量</a:t>
                </a:r>
                <a:r>
                  <a:rPr lang="zh-CN" altLang="en-US" sz="2000" dirty="0">
                    <a:latin typeface="Tahoma" panose="020B0604030504040204" pitchFamily="34" charset="0"/>
                  </a:rPr>
                  <a:t>，斜率</a:t>
                </a:r>
                <a:r>
                  <a:rPr lang="en-US" altLang="zh-CN" sz="2000" dirty="0">
                    <a:latin typeface="Tahoma" panose="020B0604030504040204" pitchFamily="34" charset="0"/>
                  </a:rPr>
                  <a:t>k</a:t>
                </a:r>
                <a:r>
                  <a:rPr lang="zh-CN" altLang="en-US" sz="2000" dirty="0">
                    <a:latin typeface="Tahoma" panose="020B0604030504040204" pitchFamily="34" charset="0"/>
                  </a:rPr>
                  <a:t>处处满足</a:t>
                </a:r>
                <a14:m>
                  <m:oMath xmlns:m="http://schemas.openxmlformats.org/officeDocument/2006/math">
                    <m:d>
                      <m:dPr>
                        <m:begChr m:val="|"/>
                        <m:endChr m:val="|"/>
                        <m:ctrlPr>
                          <a:rPr lang="en-US" altLang="zh-CN" sz="2000" b="1" i="1">
                            <a:solidFill>
                              <a:srgbClr val="3366FF"/>
                            </a:solidFill>
                            <a:latin typeface="Cambria Math" panose="02040503050406030204" pitchFamily="18" charset="0"/>
                          </a:rPr>
                        </m:ctrlPr>
                      </m:dPr>
                      <m:e>
                        <m:r>
                          <a:rPr lang="en-US" altLang="zh-CN" sz="2000" b="1" i="1">
                            <a:solidFill>
                              <a:srgbClr val="3366FF"/>
                            </a:solidFill>
                            <a:latin typeface="Cambria Math" panose="02040503050406030204" pitchFamily="18" charset="0"/>
                          </a:rPr>
                          <m:t>𝒌</m:t>
                        </m:r>
                      </m:e>
                    </m:d>
                    <m:r>
                      <a:rPr lang="en-US" altLang="zh-CN" sz="2000" b="1" i="1" smtClean="0">
                        <a:solidFill>
                          <a:srgbClr val="3366FF"/>
                        </a:solidFill>
                        <a:latin typeface="Cambria Math" panose="02040503050406030204" pitchFamily="18" charset="0"/>
                      </a:rPr>
                      <m:t>&gt;</m:t>
                    </m:r>
                    <m:r>
                      <a:rPr lang="en-US" altLang="zh-CN" sz="2000" b="1" i="1">
                        <a:solidFill>
                          <a:srgbClr val="3366FF"/>
                        </a:solidFill>
                        <a:latin typeface="Cambria Math" panose="02040503050406030204" pitchFamily="18" charset="0"/>
                      </a:rPr>
                      <m:t>𝟏</m:t>
                    </m:r>
                    <m:r>
                      <a:rPr lang="zh-CN" altLang="en-US" sz="2000" b="1" i="1">
                        <a:solidFill>
                          <a:srgbClr val="3366FF"/>
                        </a:solidFill>
                        <a:latin typeface="Cambria Math" panose="02040503050406030204" pitchFamily="18" charset="0"/>
                      </a:rPr>
                      <m:t>，</m:t>
                    </m:r>
                    <m:d>
                      <m:dPr>
                        <m:begChr m:val="|"/>
                        <m:endChr m:val="|"/>
                        <m:ctrlPr>
                          <a:rPr lang="en-US" altLang="zh-CN" sz="2000" b="1" i="1">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𝒙</m:t>
                        </m:r>
                      </m:e>
                    </m:d>
                    <m:r>
                      <a:rPr lang="en-US" altLang="zh-CN" sz="2000" b="1" i="1" smtClean="0">
                        <a:solidFill>
                          <a:srgbClr val="3366FF"/>
                        </a:solidFill>
                        <a:latin typeface="Cambria Math" panose="02040503050406030204" pitchFamily="18" charset="0"/>
                      </a:rPr>
                      <m:t>&lt;</m:t>
                    </m:r>
                    <m:d>
                      <m:dPr>
                        <m:begChr m:val="|"/>
                        <m:endChr m:val="|"/>
                        <m:ctrlPr>
                          <a:rPr lang="en-US" altLang="zh-CN" sz="2000" b="1" i="1">
                            <a:solidFill>
                              <a:srgbClr val="3366FF"/>
                            </a:solidFill>
                            <a:latin typeface="Cambria Math" panose="02040503050406030204" pitchFamily="18" charset="0"/>
                          </a:rPr>
                        </m:ctrlPr>
                      </m:dPr>
                      <m:e>
                        <m:r>
                          <a:rPr lang="zh-CN" altLang="en-US" sz="2000" b="1" i="1">
                            <a:solidFill>
                              <a:srgbClr val="3366FF"/>
                            </a:solidFill>
                            <a:latin typeface="Cambria Math" panose="02040503050406030204" pitchFamily="18" charset="0"/>
                          </a:rPr>
                          <m:t>∆</m:t>
                        </m:r>
                        <m:r>
                          <a:rPr lang="en-US" altLang="zh-CN" sz="2000" b="1" i="1">
                            <a:solidFill>
                              <a:srgbClr val="3366FF"/>
                            </a:solidFill>
                            <a:latin typeface="Cambria Math" panose="02040503050406030204" pitchFamily="18" charset="0"/>
                          </a:rPr>
                          <m:t>𝒚</m:t>
                        </m:r>
                      </m:e>
                    </m:d>
                  </m:oMath>
                </a14:m>
                <a:r>
                  <a:rPr lang="zh-CN" altLang="en-US" sz="2000" dirty="0">
                    <a:latin typeface="Tahoma" panose="020B0604030504040204" pitchFamily="34" charset="0"/>
                  </a:rPr>
                  <a:t>，</a:t>
                </a:r>
                <a:r>
                  <a:rPr lang="zh-CN" altLang="en-US" sz="2000" b="1" dirty="0">
                    <a:solidFill>
                      <a:srgbClr val="FF0000"/>
                    </a:solidFill>
                    <a:latin typeface="方正粗黑宋简体" panose="02000000000000000000" pitchFamily="2" charset="-122"/>
                    <a:ea typeface="方正粗黑宋简体" panose="02000000000000000000" pitchFamily="2" charset="-122"/>
                  </a:rPr>
                  <a:t>所以</a:t>
                </a:r>
                <a14:m>
                  <m:oMath xmlns:m="http://schemas.openxmlformats.org/officeDocument/2006/math">
                    <m:r>
                      <a:rPr lang="en-US" altLang="zh-CN" sz="2000" b="1">
                        <a:solidFill>
                          <a:srgbClr val="FF0000"/>
                        </a:solidFill>
                        <a:latin typeface="方正粗黑宋简体" panose="02000000000000000000" pitchFamily="2" charset="-122"/>
                        <a:ea typeface="方正粗黑宋简体" panose="02000000000000000000" pitchFamily="2" charset="-122"/>
                      </a:rPr>
                      <m:t>𝒚</m:t>
                    </m:r>
                  </m:oMath>
                </a14:m>
                <a:r>
                  <a:rPr lang="zh-CN" altLang="en-US" sz="2000" b="1" dirty="0">
                    <a:solidFill>
                      <a:srgbClr val="FF0000"/>
                    </a:solidFill>
                    <a:latin typeface="方正粗黑宋简体" panose="02000000000000000000" pitchFamily="2" charset="-122"/>
                    <a:ea typeface="方正粗黑宋简体" panose="02000000000000000000" pitchFamily="2" charset="-122"/>
                  </a:rPr>
                  <a:t>方向为主位移方向</a:t>
                </a:r>
                <a:r>
                  <a:rPr lang="zh-CN" altLang="en-US" sz="2000" dirty="0" smtClean="0">
                    <a:latin typeface="Tahoma" panose="020B0604030504040204" pitchFamily="34" charset="0"/>
                  </a:rPr>
                  <a:t>。每次</a:t>
                </a:r>
                <a:r>
                  <a:rPr lang="zh-CN" altLang="en-US" sz="2000" b="1" dirty="0">
                    <a:solidFill>
                      <a:srgbClr val="3366FF"/>
                    </a:solidFill>
                    <a:latin typeface="方正粗黑宋简体" panose="02000000000000000000" pitchFamily="2" charset="-122"/>
                    <a:ea typeface="方正粗黑宋简体" panose="02000000000000000000" pitchFamily="2" charset="-122"/>
                  </a:rPr>
                  <a:t>在主位移方向</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上退一</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步</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a:t>
                </a:r>
                <a:r>
                  <a:rPr lang="en-US" altLang="zh-CN" sz="2000" b="1" dirty="0" smtClean="0">
                    <a:solidFill>
                      <a:srgbClr val="FF0000"/>
                    </a:solidFill>
                    <a:latin typeface="方正粗黑宋简体" panose="02000000000000000000" pitchFamily="2" charset="-122"/>
                    <a:ea typeface="方正粗黑宋简体" panose="02000000000000000000" pitchFamily="2" charset="-122"/>
                  </a:rPr>
                  <a:t>-1</a:t>
                </a:r>
                <a:r>
                  <a:rPr lang="zh-CN" altLang="en-US" sz="2000" b="1" dirty="0" smtClean="0">
                    <a:solidFill>
                      <a:srgbClr val="FF0000"/>
                    </a:solidFill>
                    <a:latin typeface="方正粗黑宋简体" panose="02000000000000000000" pitchFamily="2" charset="-122"/>
                    <a:ea typeface="方正粗黑宋简体" panose="02000000000000000000" pitchFamily="2" charset="-122"/>
                  </a:rPr>
                  <a:t>）</a:t>
                </a:r>
                <a:r>
                  <a:rPr lang="zh-CN" altLang="en-US" sz="2000" dirty="0" smtClean="0">
                    <a:latin typeface="Tahoma" panose="020B0604030504040204" pitchFamily="34" charset="0"/>
                  </a:rPr>
                  <a:t>，</a:t>
                </a:r>
                <a:r>
                  <a:rPr lang="en-US" altLang="zh-CN" sz="2000" b="1" dirty="0" smtClean="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dirty="0" smtClean="0">
                    <a:latin typeface="Tahoma" panose="020B0604030504040204" pitchFamily="34" charset="0"/>
                  </a:rPr>
                  <a:t> </a:t>
                </a:r>
                <a:r>
                  <a:rPr lang="zh-CN" altLang="en-US" sz="2000" dirty="0">
                    <a:latin typeface="Tahoma" panose="020B0604030504040204" pitchFamily="34" charset="0"/>
                  </a:rPr>
                  <a:t>方向上</a:t>
                </a:r>
                <a:r>
                  <a:rPr lang="zh-CN" altLang="en-US" sz="2000" dirty="0" smtClean="0">
                    <a:latin typeface="Tahoma" panose="020B0604030504040204" pitchFamily="34" charset="0"/>
                  </a:rPr>
                  <a:t>走不走步（</a:t>
                </a:r>
                <a:r>
                  <a:rPr lang="en-US" altLang="zh-CN" sz="2000" dirty="0" smtClean="0">
                    <a:latin typeface="Tahoma" panose="020B0604030504040204" pitchFamily="34" charset="0"/>
                  </a:rPr>
                  <a:t>+1</a:t>
                </a:r>
                <a:r>
                  <a:rPr lang="zh-CN" altLang="en-US" sz="2000" dirty="0" smtClean="0">
                    <a:latin typeface="Tahoma" panose="020B0604030504040204" pitchFamily="34" charset="0"/>
                  </a:rPr>
                  <a:t>）取决于</a:t>
                </a:r>
                <a:r>
                  <a:rPr lang="zh-CN" altLang="en-US" sz="2000" dirty="0">
                    <a:latin typeface="Tahoma" panose="020B0604030504040204" pitchFamily="34" charset="0"/>
                  </a:rPr>
                  <a:t>中点误差项的值</a:t>
                </a:r>
                <a:r>
                  <a:rPr lang="zh-CN" altLang="en-US" sz="2000" dirty="0" smtClean="0">
                    <a:latin typeface="Tahoma" panose="020B0604030504040204" pitchFamily="34" charset="0"/>
                  </a:rPr>
                  <a:t>。</a:t>
                </a:r>
                <a:endParaRPr lang="zh-CN" altLang="en-US" sz="2000" dirty="0">
                  <a:latin typeface="Tahoma" panose="020B0604030504040204" pitchFamily="34" charset="0"/>
                </a:endParaRPr>
              </a:p>
            </p:txBody>
          </p:sp>
        </mc:Choice>
        <mc:Fallback>
          <p:sp>
            <p:nvSpPr>
              <p:cNvPr id="38917" name="Rectangle 8"/>
              <p:cNvSpPr>
                <a:spLocks noRot="1" noChangeAspect="1" noMove="1" noResize="1" noEditPoints="1" noAdjustHandles="1" noChangeArrowheads="1" noChangeShapeType="1" noTextEdit="1"/>
              </p:cNvSpPr>
              <p:nvPr/>
            </p:nvSpPr>
            <p:spPr bwMode="auto">
              <a:xfrm>
                <a:off x="467544" y="1844824"/>
                <a:ext cx="8570913" cy="3293209"/>
              </a:xfrm>
              <a:prstGeom prst="rect">
                <a:avLst/>
              </a:prstGeom>
              <a:blipFill>
                <a:blip r:embed="rId5"/>
                <a:stretch>
                  <a:fillRect l="-640" r="-569" b="-20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4"/>
          <p:cNvGraphicFramePr>
            <a:graphicFrameLocks noChangeAspect="1"/>
          </p:cNvGraphicFramePr>
          <p:nvPr/>
        </p:nvGraphicFramePr>
        <p:xfrm>
          <a:off x="2051050" y="765175"/>
          <a:ext cx="6191250" cy="4013200"/>
        </p:xfrm>
        <a:graphic>
          <a:graphicData uri="http://schemas.openxmlformats.org/presentationml/2006/ole">
            <mc:AlternateContent xmlns:mc="http://schemas.openxmlformats.org/markup-compatibility/2006">
              <mc:Choice xmlns:v="urn:schemas-microsoft-com:vml" Requires="v">
                <p:oleObj spid="_x0000_s39995" r:id="rId3" imgW="4907520" imgH="3185280" progId="Visio.Drawing.11">
                  <p:embed/>
                </p:oleObj>
              </mc:Choice>
              <mc:Fallback>
                <p:oleObj r:id="rId3" imgW="4907520" imgH="318528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765175"/>
                        <a:ext cx="6191250"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40" name="Text Box 6"/>
          <p:cNvSpPr txBox="1">
            <a:spLocks noChangeArrowheads="1"/>
          </p:cNvSpPr>
          <p:nvPr/>
        </p:nvSpPr>
        <p:spPr bwMode="auto">
          <a:xfrm>
            <a:off x="2986088" y="5367338"/>
            <a:ext cx="1333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pt-BR" altLang="en-US" sz="2000">
                <a:solidFill>
                  <a:srgbClr val="FFFFFF"/>
                </a:solidFill>
                <a:latin typeface="Times New Roman" panose="02020603050405020304" pitchFamily="18" charset="0"/>
                <a:ea typeface="宋体" panose="02010600030101010101" pitchFamily="2" charset="-122"/>
              </a:rPr>
              <a:t>P</a:t>
            </a:r>
            <a:endParaRPr lang="en-US" altLang="zh-CN" sz="2000">
              <a:latin typeface="Tahoma" panose="020B0604030504040204" pitchFamily="34" charset="0"/>
            </a:endParaRPr>
          </a:p>
        </p:txBody>
      </p:sp>
      <p:sp>
        <p:nvSpPr>
          <p:cNvPr id="39943" name="Text Box 9"/>
          <p:cNvSpPr txBox="1">
            <a:spLocks noChangeArrowheads="1"/>
          </p:cNvSpPr>
          <p:nvPr/>
        </p:nvSpPr>
        <p:spPr bwMode="auto">
          <a:xfrm>
            <a:off x="4305300" y="6261100"/>
            <a:ext cx="1333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pt-BR" altLang="en-US" sz="2000">
                <a:solidFill>
                  <a:srgbClr val="FFFFFF"/>
                </a:solidFill>
                <a:latin typeface="Times New Roman" panose="02020603050405020304" pitchFamily="18" charset="0"/>
                <a:ea typeface="宋体" panose="02010600030101010101" pitchFamily="2" charset="-122"/>
              </a:rPr>
              <a:t>P</a:t>
            </a:r>
            <a:endParaRPr lang="en-US" altLang="zh-CN" sz="2000">
              <a:latin typeface="Tahoma" panose="020B0604030504040204" pitchFamily="34" charset="0"/>
            </a:endParaRPr>
          </a:p>
        </p:txBody>
      </p:sp>
      <p:sp>
        <p:nvSpPr>
          <p:cNvPr id="39946" name="Text Box 12"/>
          <p:cNvSpPr txBox="1">
            <a:spLocks noChangeArrowheads="1"/>
          </p:cNvSpPr>
          <p:nvPr/>
        </p:nvSpPr>
        <p:spPr bwMode="auto">
          <a:xfrm>
            <a:off x="1779588" y="1818404"/>
            <a:ext cx="12065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dirty="0" smtClean="0">
                <a:latin typeface="Times New Roman" panose="02020603050405020304" pitchFamily="18" charset="0"/>
                <a:ea typeface="宋体" panose="02010600030101010101" pitchFamily="2" charset="-122"/>
              </a:rPr>
              <a:t>A(0,b)</a:t>
            </a:r>
            <a:endParaRPr lang="zh-CN" altLang="en-US" sz="2000" dirty="0">
              <a:latin typeface="Tahoma" panose="020B0604030504040204" pitchFamily="34" charset="0"/>
            </a:endParaRPr>
          </a:p>
        </p:txBody>
      </p:sp>
      <p:sp>
        <p:nvSpPr>
          <p:cNvPr id="39947" name="Text Box 13"/>
          <p:cNvSpPr txBox="1">
            <a:spLocks noChangeArrowheads="1"/>
          </p:cNvSpPr>
          <p:nvPr/>
        </p:nvSpPr>
        <p:spPr bwMode="auto">
          <a:xfrm>
            <a:off x="6697862" y="4198751"/>
            <a:ext cx="684349"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dirty="0" smtClean="0">
                <a:latin typeface="Times New Roman" panose="02020603050405020304" pitchFamily="18" charset="0"/>
                <a:ea typeface="宋体" panose="02010600030101010101" pitchFamily="2" charset="-122"/>
              </a:rPr>
              <a:t>B(a,0)</a:t>
            </a:r>
            <a:endParaRPr lang="zh-CN" altLang="en-US" sz="2000" dirty="0">
              <a:latin typeface="Tahoma" panose="020B0604030504040204" pitchFamily="34" charset="0"/>
            </a:endParaRPr>
          </a:p>
        </p:txBody>
      </p:sp>
      <p:sp>
        <p:nvSpPr>
          <p:cNvPr id="39948" name="Text Box 14"/>
          <p:cNvSpPr txBox="1">
            <a:spLocks noChangeArrowheads="1"/>
          </p:cNvSpPr>
          <p:nvPr/>
        </p:nvSpPr>
        <p:spPr bwMode="auto">
          <a:xfrm>
            <a:off x="3492500" y="2133600"/>
            <a:ext cx="2873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Ⅰ</a:t>
            </a:r>
            <a:endParaRPr lang="en-US" altLang="zh-CN" sz="2000">
              <a:latin typeface="Tahoma" panose="020B0604030504040204" pitchFamily="34" charset="0"/>
            </a:endParaRPr>
          </a:p>
        </p:txBody>
      </p:sp>
      <p:sp>
        <p:nvSpPr>
          <p:cNvPr id="39949" name="Text Box 15"/>
          <p:cNvSpPr txBox="1">
            <a:spLocks noChangeArrowheads="1"/>
          </p:cNvSpPr>
          <p:nvPr/>
        </p:nvSpPr>
        <p:spPr bwMode="auto">
          <a:xfrm>
            <a:off x="5508625" y="3716338"/>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Ⅱ</a:t>
            </a:r>
            <a:endParaRPr lang="en-US" altLang="zh-CN" sz="2000">
              <a:latin typeface="Tahoma" panose="020B0604030504040204" pitchFamily="34" charset="0"/>
            </a:endParaRPr>
          </a:p>
        </p:txBody>
      </p:sp>
      <p:sp>
        <p:nvSpPr>
          <p:cNvPr id="39950" name="Text Box 16"/>
          <p:cNvSpPr txBox="1">
            <a:spLocks noChangeArrowheads="1"/>
          </p:cNvSpPr>
          <p:nvPr/>
        </p:nvSpPr>
        <p:spPr bwMode="auto">
          <a:xfrm>
            <a:off x="6084888" y="2636838"/>
            <a:ext cx="2159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C</a:t>
            </a:r>
            <a:endParaRPr lang="en-US" altLang="zh-CN" sz="2000">
              <a:latin typeface="Tahoma" panose="020B0604030504040204" pitchFamily="34" charset="0"/>
            </a:endParaRPr>
          </a:p>
        </p:txBody>
      </p:sp>
      <p:sp>
        <p:nvSpPr>
          <p:cNvPr id="39953" name="Rectangle 19"/>
          <p:cNvSpPr>
            <a:spLocks noChangeArrowheads="1"/>
          </p:cNvSpPr>
          <p:nvPr/>
        </p:nvSpPr>
        <p:spPr bwMode="auto">
          <a:xfrm>
            <a:off x="2771775" y="5445125"/>
            <a:ext cx="4219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椭圆中点</a:t>
            </a:r>
            <a:r>
              <a:rPr lang="en-US" altLang="zh-CN" sz="2400">
                <a:latin typeface="Tahoma" panose="020B0604030504040204" pitchFamily="34" charset="0"/>
              </a:rPr>
              <a:t>Bresenham</a:t>
            </a:r>
            <a:r>
              <a:rPr lang="zh-CN" altLang="en-US" sz="2400">
                <a:latin typeface="Tahoma" panose="020B0604030504040204" pitchFamily="34" charset="0"/>
              </a:rPr>
              <a:t>算法原理 </a:t>
            </a:r>
          </a:p>
        </p:txBody>
      </p:sp>
      <mc:AlternateContent xmlns:mc="http://schemas.openxmlformats.org/markup-compatibility/2006" xmlns:a14="http://schemas.microsoft.com/office/drawing/2010/main">
        <mc:Choice Requires="a14">
          <p:sp>
            <p:nvSpPr>
              <p:cNvPr id="2" name="矩形 1"/>
              <p:cNvSpPr/>
              <p:nvPr/>
            </p:nvSpPr>
            <p:spPr>
              <a:xfrm>
                <a:off x="4556826" y="1747162"/>
                <a:ext cx="64947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a:solidFill>
                                <a:srgbClr val="FF0000"/>
                              </a:solidFill>
                              <a:latin typeface="Cambria Math" panose="02040503050406030204" pitchFamily="18" charset="0"/>
                            </a:rPr>
                            <m:t>𝒖</m:t>
                          </m:r>
                        </m:sub>
                      </m:sSub>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4556826" y="1747162"/>
                <a:ext cx="649472" cy="461665"/>
              </a:xfrm>
              <a:prstGeom prst="rect">
                <a:avLst/>
              </a:prstGeom>
              <a:blipFill>
                <a:blip r:embed="rId5"/>
                <a:stretch>
                  <a:fillRect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4079557" y="1725910"/>
                <a:ext cx="4924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4079557" y="1725910"/>
                <a:ext cx="492443"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259194" y="2781300"/>
                <a:ext cx="4924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6259194" y="2781300"/>
                <a:ext cx="492443"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533716" y="2224932"/>
                <a:ext cx="64947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𝒅</m:t>
                          </m:r>
                        </m:sub>
                      </m:sSub>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4533716" y="2224932"/>
                <a:ext cx="649473" cy="461665"/>
              </a:xfrm>
              <a:prstGeom prst="rect">
                <a:avLst/>
              </a:prstGeom>
              <a:blipFill>
                <a:blip r:embed="rId8"/>
                <a:stretch>
                  <a:fillRect b="-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180679" y="3323580"/>
                <a:ext cx="5885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𝒍</m:t>
                          </m:r>
                        </m:sub>
                      </m:sSub>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6180679" y="3323580"/>
                <a:ext cx="588558" cy="461665"/>
              </a:xfrm>
              <a:prstGeom prst="rect">
                <a:avLst/>
              </a:prstGeom>
              <a:blipFill>
                <a:blip r:embed="rId9"/>
                <a:stretch>
                  <a:fillRect b="-6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696869" y="3322750"/>
                <a:ext cx="6254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𝒓</m:t>
                          </m:r>
                        </m:sub>
                      </m:sSub>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696869" y="3322750"/>
                <a:ext cx="625428" cy="461665"/>
              </a:xfrm>
              <a:prstGeom prst="rect">
                <a:avLst/>
              </a:prstGeom>
              <a:blipFill>
                <a:blip r:embed="rId10"/>
                <a:stretch>
                  <a:fillRect/>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sz="quarter" idx="4294967295"/>
          </p:nvPr>
        </p:nvSpPr>
        <p:spPr>
          <a:xfrm>
            <a:off x="267596" y="204809"/>
            <a:ext cx="6923087" cy="579438"/>
          </a:xfrm>
          <a:ln>
            <a:miter lim="800000"/>
          </a:ln>
        </p:spPr>
        <p:txBody>
          <a:bodyPr rtlCol="0">
            <a:spAutoFit/>
          </a:bodyPr>
          <a:lstStyle/>
          <a:p>
            <a:pPr eaLnBrk="1" fontAlgn="auto" hangingPunct="1">
              <a:spcAft>
                <a:spcPts val="0"/>
              </a:spcAft>
              <a:defRPr/>
            </a:pPr>
            <a:r>
              <a:rPr lang="en-US" sz="3200" dirty="0" smtClean="0">
                <a:effectLst>
                  <a:outerShdw blurRad="38100" dist="38100" dir="2700000" algn="tl">
                    <a:srgbClr val="C0C0C0"/>
                  </a:outerShdw>
                </a:effectLst>
                <a:latin typeface="楷体_GB2312" pitchFamily="49" charset="-122"/>
                <a:ea typeface="楷体_GB2312" pitchFamily="49" charset="-122"/>
              </a:rPr>
              <a:t>3.3.2 </a:t>
            </a:r>
            <a:r>
              <a:rPr lang="zh-CN" altLang="en-US" sz="3200" dirty="0" smtClean="0">
                <a:effectLst>
                  <a:outerShdw blurRad="38100" dist="38100" dir="2700000" algn="tl">
                    <a:srgbClr val="C0C0C0"/>
                  </a:outerShdw>
                </a:effectLst>
                <a:latin typeface="楷体_GB2312" pitchFamily="49" charset="-122"/>
                <a:ea typeface="楷体_GB2312" pitchFamily="49" charset="-122"/>
              </a:rPr>
              <a:t>构造上半部分</a:t>
            </a:r>
            <a:r>
              <a:rPr lang="en-US" sz="3200" dirty="0" smtClean="0">
                <a:effectLst>
                  <a:outerShdw blurRad="38100" dist="38100" dir="2700000" algn="tl">
                    <a:srgbClr val="C0C0C0"/>
                  </a:outerShdw>
                </a:effectLst>
                <a:latin typeface="楷体_GB2312" pitchFamily="49" charset="-122"/>
                <a:ea typeface="楷体_GB2312" pitchFamily="49" charset="-122"/>
              </a:rPr>
              <a:t>Ⅰ</a:t>
            </a:r>
            <a:r>
              <a:rPr lang="zh-CN" altLang="en-US" sz="3200" dirty="0" smtClean="0">
                <a:effectLst>
                  <a:outerShdw blurRad="38100" dist="38100" dir="2700000" algn="tl">
                    <a:srgbClr val="C0C0C0"/>
                  </a:outerShdw>
                </a:effectLst>
                <a:latin typeface="楷体_GB2312" pitchFamily="49" charset="-122"/>
                <a:ea typeface="楷体_GB2312" pitchFamily="49" charset="-122"/>
              </a:rPr>
              <a:t>的中点误差项</a:t>
            </a:r>
            <a:endParaRPr lang="en-US" sz="3200" dirty="0" smtClean="0">
              <a:effectLst>
                <a:outerShdw blurRad="38100" dist="38100" dir="2700000" algn="tl">
                  <a:srgbClr val="C0C0C0"/>
                </a:outerShdw>
              </a:effectLst>
              <a:latin typeface="楷体_GB2312" pitchFamily="49" charset="-122"/>
              <a:ea typeface="楷体_GB2312" pitchFamily="49" charset="-122"/>
            </a:endParaRPr>
          </a:p>
        </p:txBody>
      </p:sp>
      <p:graphicFrame>
        <p:nvGraphicFramePr>
          <p:cNvPr id="40963" name="Object 3"/>
          <p:cNvGraphicFramePr>
            <a:graphicFrameLocks noGrp="1" noChangeAspect="1"/>
          </p:cNvGraphicFramePr>
          <p:nvPr>
            <p:ph sz="quarter" idx="4294967295"/>
          </p:nvPr>
        </p:nvGraphicFramePr>
        <p:xfrm>
          <a:off x="2168525" y="3260725"/>
          <a:ext cx="5329238" cy="617538"/>
        </p:xfrm>
        <a:graphic>
          <a:graphicData uri="http://schemas.openxmlformats.org/presentationml/2006/ole">
            <mc:AlternateContent xmlns:mc="http://schemas.openxmlformats.org/markup-compatibility/2006">
              <mc:Choice xmlns:v="urn:schemas-microsoft-com:vml" Requires="v">
                <p:oleObj spid="_x0000_s41178" r:id="rId3" imgW="2082800" imgH="241300" progId="Equation.3">
                  <p:embed/>
                </p:oleObj>
              </mc:Choice>
              <mc:Fallback>
                <p:oleObj r:id="rId3" imgW="2082800" imgH="241300"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8525" y="3260725"/>
                        <a:ext cx="5329238"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64" name="Object 23"/>
          <p:cNvGraphicFramePr>
            <a:graphicFrameLocks noGrp="1" noChangeAspect="1"/>
          </p:cNvGraphicFramePr>
          <p:nvPr>
            <p:ph sz="quarter" idx="4294967295"/>
            <p:extLst>
              <p:ext uri="{D42A27DB-BD31-4B8C-83A1-F6EECF244321}">
                <p14:modId xmlns:p14="http://schemas.microsoft.com/office/powerpoint/2010/main" val="3699372957"/>
              </p:ext>
            </p:extLst>
          </p:nvPr>
        </p:nvGraphicFramePr>
        <p:xfrm>
          <a:off x="267596" y="4253674"/>
          <a:ext cx="2606675" cy="1930400"/>
        </p:xfrm>
        <a:graphic>
          <a:graphicData uri="http://schemas.openxmlformats.org/presentationml/2006/ole">
            <mc:AlternateContent xmlns:mc="http://schemas.openxmlformats.org/markup-compatibility/2006">
              <mc:Choice xmlns:v="urn:schemas-microsoft-com:vml" Requires="v">
                <p:oleObj spid="_x0000_s41179" r:id="rId5" imgW="3079080" imgH="2279520" progId="Visio.Drawing.11">
                  <p:embed/>
                </p:oleObj>
              </mc:Choice>
              <mc:Fallback>
                <p:oleObj r:id="rId5" imgW="3079080" imgH="2279520" progId="Visio.Drawing.11">
                  <p:embed/>
                  <p:pic>
                    <p:nvPicPr>
                      <p:cNvPr id="0" name="Object 2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596" y="4253674"/>
                        <a:ext cx="2606675"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65" name="Object 25"/>
          <p:cNvGraphicFramePr>
            <a:graphicFrameLocks noGrp="1" noChangeAspect="1"/>
          </p:cNvGraphicFramePr>
          <p:nvPr>
            <p:ph sz="quarter" idx="4294967295"/>
          </p:nvPr>
        </p:nvGraphicFramePr>
        <p:xfrm>
          <a:off x="6680200" y="4437063"/>
          <a:ext cx="2463800" cy="1930400"/>
        </p:xfrm>
        <a:graphic>
          <a:graphicData uri="http://schemas.openxmlformats.org/presentationml/2006/ole">
            <mc:AlternateContent xmlns:mc="http://schemas.openxmlformats.org/markup-compatibility/2006">
              <mc:Choice xmlns:v="urn:schemas-microsoft-com:vml" Requires="v">
                <p:oleObj spid="_x0000_s41180" r:id="rId7" imgW="2909160" imgH="2279520" progId="Visio.Drawing.11">
                  <p:embed/>
                </p:oleObj>
              </mc:Choice>
              <mc:Fallback>
                <p:oleObj r:id="rId7" imgW="2909160" imgH="2279520" progId="Visio.Drawing.11">
                  <p:embed/>
                  <p:pic>
                    <p:nvPicPr>
                      <p:cNvPr id="0" name="Object 25"/>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0200" y="4437063"/>
                        <a:ext cx="2463800"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966" name="Object 27"/>
          <p:cNvGraphicFramePr>
            <a:graphicFrameLocks noGrp="1" noChangeAspect="1"/>
          </p:cNvGraphicFramePr>
          <p:nvPr>
            <p:ph sz="quarter" idx="4294967295"/>
          </p:nvPr>
        </p:nvGraphicFramePr>
        <p:xfrm>
          <a:off x="3257550" y="4311650"/>
          <a:ext cx="2822575" cy="2062163"/>
        </p:xfrm>
        <a:graphic>
          <a:graphicData uri="http://schemas.openxmlformats.org/presentationml/2006/ole">
            <mc:AlternateContent xmlns:mc="http://schemas.openxmlformats.org/markup-compatibility/2006">
              <mc:Choice xmlns:v="urn:schemas-microsoft-com:vml" Requires="v">
                <p:oleObj spid="_x0000_s41181" r:id="rId9" imgW="3333960" imgH="2436480" progId="Visio.Drawing.11">
                  <p:embed/>
                </p:oleObj>
              </mc:Choice>
              <mc:Fallback>
                <p:oleObj r:id="rId9" imgW="3333960" imgH="2436480" progId="Visio.Drawing.11">
                  <p:embed/>
                  <p:pic>
                    <p:nvPicPr>
                      <p:cNvPr id="0" name="Object 27"/>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57550" y="4311650"/>
                        <a:ext cx="282257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40967" name="Rectangle 3"/>
              <p:cNvSpPr>
                <a:spLocks noChangeArrowheads="1"/>
              </p:cNvSpPr>
              <p:nvPr/>
            </p:nvSpPr>
            <p:spPr bwMode="auto">
              <a:xfrm>
                <a:off x="267596" y="754191"/>
                <a:ext cx="8685213"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eaLnBrk="1" hangingPunct="1">
                  <a:lnSpc>
                    <a:spcPct val="150000"/>
                  </a:lnSpc>
                  <a:spcBef>
                    <a:spcPct val="0"/>
                  </a:spcBef>
                  <a:buFont typeface="Wingdings" panose="05000000000000000000" pitchFamily="2" charset="2"/>
                  <a:buChar char="n"/>
                </a:pPr>
                <a:r>
                  <a:rPr lang="zh-CN" altLang="en-US" sz="2000" dirty="0" smtClean="0">
                    <a:latin typeface="Tahoma" panose="020B0604030504040204" pitchFamily="34" charset="0"/>
                  </a:rPr>
                  <a:t>在</a:t>
                </a:r>
                <a:r>
                  <a:rPr lang="zh-CN" altLang="en-US" sz="2000" b="1" dirty="0">
                    <a:solidFill>
                      <a:srgbClr val="3366FF"/>
                    </a:solidFill>
                    <a:latin typeface="方正粗黑宋简体" panose="02000000000000000000" pitchFamily="2" charset="-122"/>
                    <a:ea typeface="方正粗黑宋简体" panose="02000000000000000000" pitchFamily="2" charset="-122"/>
                  </a:rPr>
                  <a:t>上半部分</a:t>
                </a:r>
                <a:r>
                  <a:rPr lang="pt-BR" altLang="en-US" sz="2000" b="1" dirty="0">
                    <a:solidFill>
                      <a:srgbClr val="3366FF"/>
                    </a:solidFill>
                    <a:latin typeface="方正粗黑宋简体" panose="02000000000000000000" pitchFamily="2" charset="-122"/>
                    <a:ea typeface="方正粗黑宋简体" panose="02000000000000000000" pitchFamily="2" charset="-122"/>
                  </a:rPr>
                  <a:t>Ⅰ</a:t>
                </a:r>
                <a:r>
                  <a:rPr lang="zh-CN" altLang="en-US" sz="2000" dirty="0">
                    <a:latin typeface="Tahoma" panose="020B0604030504040204" pitchFamily="34" charset="0"/>
                  </a:rPr>
                  <a:t>，</a:t>
                </a:r>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dirty="0" smtClean="0">
                    <a:latin typeface="Tahoma" panose="020B0604030504040204" pitchFamily="34" charset="0"/>
                  </a:rPr>
                  <a:t> </a:t>
                </a:r>
                <a:r>
                  <a:rPr lang="zh-CN" altLang="en-US" sz="2000" dirty="0">
                    <a:latin typeface="Tahoma" panose="020B0604030504040204" pitchFamily="34" charset="0"/>
                  </a:rPr>
                  <a:t>方向每次加</a:t>
                </a:r>
                <a:r>
                  <a:rPr lang="en-US" altLang="zh-CN" sz="2000" dirty="0">
                    <a:latin typeface="Tahoma" panose="020B0604030504040204" pitchFamily="34" charset="0"/>
                  </a:rPr>
                  <a:t>1</a:t>
                </a:r>
                <a:r>
                  <a:rPr lang="zh-CN" altLang="en-US" sz="2000" dirty="0">
                    <a:latin typeface="Tahoma" panose="020B0604030504040204" pitchFamily="34" charset="0"/>
                  </a:rPr>
                  <a:t>，</a:t>
                </a:r>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smtClean="0">
                    <a:latin typeface="Tahoma" panose="020B0604030504040204" pitchFamily="34" charset="0"/>
                  </a:rPr>
                  <a:t> </a:t>
                </a:r>
                <a:r>
                  <a:rPr lang="zh-CN" altLang="en-US" sz="2000" dirty="0">
                    <a:latin typeface="Tahoma" panose="020B0604030504040204" pitchFamily="34" charset="0"/>
                  </a:rPr>
                  <a:t>方向上减不减</a:t>
                </a:r>
                <a:r>
                  <a:rPr lang="en-US" altLang="zh-CN" sz="2000" dirty="0">
                    <a:latin typeface="Tahoma" panose="020B0604030504040204" pitchFamily="34" charset="0"/>
                  </a:rPr>
                  <a:t>1</a:t>
                </a:r>
                <a:r>
                  <a:rPr lang="zh-CN" altLang="en-US" sz="2000" dirty="0">
                    <a:latin typeface="Tahoma" panose="020B0604030504040204" pitchFamily="34" charset="0"/>
                  </a:rPr>
                  <a:t>取决于中点误差项的值。</a:t>
                </a:r>
                <a:r>
                  <a:rPr lang="zh-CN" altLang="en-US" sz="2000" dirty="0" smtClean="0">
                    <a:latin typeface="Tahoma" panose="020B0604030504040204" pitchFamily="34" charset="0"/>
                  </a:rPr>
                  <a:t>从</a:t>
                </a:r>
                <a:r>
                  <a:rPr lang="en-US" altLang="en-US" sz="2000" dirty="0" smtClean="0">
                    <a:latin typeface="Tahoma" panose="020B0604030504040204" pitchFamily="34" charset="0"/>
                  </a:rPr>
                  <a:t> </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 点</a:t>
                </a:r>
                <a:r>
                  <a:rPr lang="zh-CN" altLang="en-US" sz="2000" dirty="0">
                    <a:latin typeface="Tahoma" panose="020B0604030504040204" pitchFamily="34" charset="0"/>
                  </a:rPr>
                  <a:t>出发选取下一像素时，需</a:t>
                </a:r>
                <a:r>
                  <a:rPr lang="zh-CN" altLang="en-US" sz="2000" dirty="0" smtClean="0">
                    <a:latin typeface="Tahoma" panose="020B0604030504040204" pitchFamily="34" charset="0"/>
                  </a:rPr>
                  <a:t>将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𝒖</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en-US" altLang="en-US" sz="2000" dirty="0" smtClean="0">
                    <a:latin typeface="Tahoma" panose="020B0604030504040204" pitchFamily="34" charset="0"/>
                  </a:rPr>
                  <a:t> </a:t>
                </a:r>
                <a:r>
                  <a:rPr lang="zh-CN" altLang="en-US" sz="2000" dirty="0" smtClean="0">
                    <a:latin typeface="Tahoma" panose="020B0604030504040204" pitchFamily="34" charset="0"/>
                  </a:rPr>
                  <a:t>和</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𝒅</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a14:m>
                <a:r>
                  <a:rPr lang="en-US" altLang="en-US" sz="2000" dirty="0" smtClean="0">
                    <a:latin typeface="Tahoma" panose="020B0604030504040204" pitchFamily="34" charset="0"/>
                  </a:rPr>
                  <a:t> </a:t>
                </a:r>
                <a:r>
                  <a:rPr lang="zh-CN" altLang="en-US" sz="2000" dirty="0" smtClean="0">
                    <a:latin typeface="Tahoma" panose="020B0604030504040204" pitchFamily="34" charset="0"/>
                  </a:rPr>
                  <a:t>的</a:t>
                </a:r>
                <a:r>
                  <a:rPr lang="zh-CN" altLang="en-US" sz="2000" dirty="0">
                    <a:latin typeface="Tahoma" panose="020B0604030504040204" pitchFamily="34" charset="0"/>
                  </a:rPr>
                  <a:t>中点</a:t>
                </a:r>
                <a:r>
                  <a:rPr lang="zh-CN" altLang="en-US" sz="2000" dirty="0" smtClean="0">
                    <a:latin typeface="Tahoma" panose="020B0604030504040204" pitchFamily="34" charset="0"/>
                  </a:rPr>
                  <a:t>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r>
                      <a:rPr lang="en-US" altLang="zh-CN" sz="2000" b="1" i="1" smtClean="0">
                        <a:solidFill>
                          <a:srgbClr val="FF0000"/>
                        </a:solidFill>
                        <a:latin typeface="Cambria Math" panose="02040503050406030204" pitchFamily="18" charset="0"/>
                      </a:rPr>
                      <m:t> </m:t>
                    </m:r>
                  </m:oMath>
                </a14:m>
                <a:r>
                  <a:rPr lang="zh-CN" altLang="en-US" sz="2000" dirty="0" smtClean="0">
                    <a:latin typeface="Tahoma" panose="020B0604030504040204" pitchFamily="34" charset="0"/>
                  </a:rPr>
                  <a:t>代入</a:t>
                </a:r>
                <a:r>
                  <a:rPr lang="zh-CN" altLang="en-US" sz="2000" dirty="0">
                    <a:latin typeface="Tahoma" panose="020B0604030504040204" pitchFamily="34" charset="0"/>
                  </a:rPr>
                  <a:t>隐函数，构造中点误差项</a:t>
                </a:r>
              </a:p>
            </p:txBody>
          </p:sp>
        </mc:Choice>
        <mc:Fallback>
          <p:sp>
            <p:nvSpPr>
              <p:cNvPr id="40967" name="Rectangle 3"/>
              <p:cNvSpPr>
                <a:spLocks noRot="1" noChangeAspect="1" noMove="1" noResize="1" noEditPoints="1" noAdjustHandles="1" noChangeArrowheads="1" noChangeShapeType="1" noTextEdit="1"/>
              </p:cNvSpPr>
              <p:nvPr/>
            </p:nvSpPr>
            <p:spPr bwMode="auto">
              <a:xfrm>
                <a:off x="267596" y="754191"/>
                <a:ext cx="8685213" cy="1938992"/>
              </a:xfrm>
              <a:prstGeom prst="rect">
                <a:avLst/>
              </a:prstGeom>
              <a:blipFill>
                <a:blip r:embed="rId11"/>
                <a:stretch>
                  <a:fillRect l="-632" r="-702" b="-12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4039" name="Rectangle 5"/>
          <p:cNvSpPr>
            <a:spLocks noChangeArrowheads="1"/>
          </p:cNvSpPr>
          <p:nvPr/>
        </p:nvSpPr>
        <p:spPr bwMode="auto">
          <a:xfrm>
            <a:off x="7524750" y="3500438"/>
            <a:ext cx="1365250" cy="457200"/>
          </a:xfrm>
          <a:prstGeom prst="rect">
            <a:avLst/>
          </a:prstGeom>
          <a:noFill/>
          <a:ln w="9525">
            <a:noFill/>
            <a:miter lim="800000"/>
          </a:ln>
        </p:spPr>
        <p:txBody>
          <a:bodyPr anchor="ctr">
            <a:spAutoFit/>
          </a:bodyPr>
          <a:lstStyle/>
          <a:p>
            <a:pPr eaLnBrk="1" hangingPunct="1">
              <a:buFont typeface="Arial" panose="020B0604020202020204" pitchFamily="34" charset="0"/>
              <a:buNone/>
              <a:defRPr/>
            </a:pPr>
            <a:r>
              <a:rPr lang="zh-CN" altLang="en-US">
                <a:latin typeface="楷体_GB2312" pitchFamily="49" charset="-122"/>
              </a:rPr>
              <a:t>（</a:t>
            </a:r>
            <a:r>
              <a:rPr lang="en-US">
                <a:latin typeface="楷体_GB2312" pitchFamily="49" charset="-122"/>
              </a:rPr>
              <a:t>3-15</a:t>
            </a:r>
            <a:r>
              <a:rPr lang="zh-CN" altLang="en-US">
                <a:latin typeface="楷体_GB2312" pitchFamily="49" charset="-122"/>
              </a:rPr>
              <a:t>）</a:t>
            </a:r>
            <a:r>
              <a:rPr lang="zh-CN" altLang="en-US">
                <a:effectLst>
                  <a:outerShdw blurRad="38100" dist="38100" dir="2700000" algn="tl">
                    <a:srgbClr val="C0C0C0"/>
                  </a:outerShdw>
                </a:effectLst>
                <a:latin typeface="楷体_GB2312" pitchFamily="49" charset="-122"/>
              </a:rPr>
              <a:t> </a:t>
            </a:r>
          </a:p>
        </p:txBody>
      </p:sp>
      <p:sp>
        <p:nvSpPr>
          <p:cNvPr id="40969" name="Rectangle 8"/>
          <p:cNvSpPr>
            <a:spLocks noChangeArrowheads="1"/>
          </p:cNvSpPr>
          <p:nvPr/>
        </p:nvSpPr>
        <p:spPr bwMode="auto">
          <a:xfrm>
            <a:off x="811213" y="3186113"/>
            <a:ext cx="83327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40970" name="Rectangle 1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0971" name="Object 10"/>
          <p:cNvGraphicFramePr>
            <a:graphicFrameLocks noChangeAspect="1"/>
          </p:cNvGraphicFramePr>
          <p:nvPr>
            <p:extLst>
              <p:ext uri="{D42A27DB-BD31-4B8C-83A1-F6EECF244321}">
                <p14:modId xmlns:p14="http://schemas.microsoft.com/office/powerpoint/2010/main" val="1569662910"/>
              </p:ext>
            </p:extLst>
          </p:nvPr>
        </p:nvGraphicFramePr>
        <p:xfrm>
          <a:off x="1174750" y="2692400"/>
          <a:ext cx="4491038" cy="619125"/>
        </p:xfrm>
        <a:graphic>
          <a:graphicData uri="http://schemas.openxmlformats.org/presentationml/2006/ole">
            <mc:AlternateContent xmlns:mc="http://schemas.openxmlformats.org/markup-compatibility/2006">
              <mc:Choice xmlns:v="urn:schemas-microsoft-com:vml" Requires="v">
                <p:oleObj spid="_x0000_s41182" name="公式" r:id="rId12" imgW="1726920" imgH="241200" progId="Equation.3">
                  <p:embed/>
                </p:oleObj>
              </mc:Choice>
              <mc:Fallback>
                <p:oleObj name="公式" r:id="rId12" imgW="1726920" imgH="241200" progId="Equation.3">
                  <p:embed/>
                  <p:pic>
                    <p:nvPicPr>
                      <p:cNvPr id="0" name="Object 10"/>
                      <p:cNvPicPr>
                        <a:picLocks noChangeAspect="1" noChangeArrowheads="1"/>
                      </p:cNvPicPr>
                      <p:nvPr/>
                    </p:nvPicPr>
                    <p:blipFill>
                      <a:blip r:embed="rId13"/>
                      <a:srcRect/>
                      <a:stretch>
                        <a:fillRect/>
                      </a:stretch>
                    </p:blipFill>
                    <p:spPr bwMode="auto">
                      <a:xfrm>
                        <a:off x="1174750" y="2692400"/>
                        <a:ext cx="44910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2" name="Rectangle 22"/>
          <p:cNvSpPr>
            <a:spLocks noChangeArrowheads="1"/>
          </p:cNvSpPr>
          <p:nvPr/>
        </p:nvSpPr>
        <p:spPr bwMode="auto">
          <a:xfrm>
            <a:off x="1927327" y="6242405"/>
            <a:ext cx="536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楷体_GB2312" pitchFamily="49" charset="-122"/>
              </a:rPr>
              <a:t>上半部分椭圆中点</a:t>
            </a:r>
            <a:r>
              <a:rPr lang="en-US" altLang="zh-CN" sz="2400" dirty="0" err="1">
                <a:latin typeface="楷体_GB2312" pitchFamily="49" charset="-122"/>
              </a:rPr>
              <a:t>Bresenham</a:t>
            </a:r>
            <a:r>
              <a:rPr lang="zh-CN" altLang="en-US" sz="2400" dirty="0">
                <a:latin typeface="楷体_GB2312" pitchFamily="49" charset="-122"/>
              </a:rPr>
              <a:t>算法原理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986" name="Rectangle 4"/>
              <p:cNvSpPr>
                <a:spLocks noChangeArrowheads="1"/>
              </p:cNvSpPr>
              <p:nvPr/>
            </p:nvSpPr>
            <p:spPr bwMode="auto">
              <a:xfrm>
                <a:off x="179512" y="391255"/>
                <a:ext cx="8928992" cy="187814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Wingdings" panose="05000000000000000000" pitchFamily="2" charset="2"/>
                  <a:buChar char="n"/>
                </a:pP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𝒅</m:t>
                        </m:r>
                      </m:e>
                      <m:sub>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&lt;</m:t>
                    </m:r>
                    <m:r>
                      <a:rPr lang="en-US" altLang="zh-CN" sz="2000" b="1" i="1" smtClean="0">
                        <a:solidFill>
                          <a:srgbClr val="FF0000"/>
                        </a:solidFill>
                        <a:latin typeface="Cambria Math" panose="02040503050406030204" pitchFamily="18" charset="0"/>
                      </a:rPr>
                      <m:t>𝟎</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时</a:t>
                </a:r>
                <a:r>
                  <a:rPr lang="zh-CN" altLang="en-US" sz="2000" dirty="0">
                    <a:latin typeface="Tahoma" panose="020B0604030504040204" pitchFamily="34" charset="0"/>
                  </a:rPr>
                  <a:t>，中点</a:t>
                </a:r>
                <a14:m>
                  <m:oMath xmlns:m="http://schemas.openxmlformats.org/officeDocument/2006/math">
                    <m:r>
                      <a:rPr lang="en-US" altLang="zh-CN" sz="2000" b="1" i="1">
                        <a:solidFill>
                          <a:srgbClr val="FF0000"/>
                        </a:solidFill>
                        <a:latin typeface="Cambria Math" panose="02040503050406030204" pitchFamily="18" charset="0"/>
                      </a:rPr>
                      <m:t>𝑴</m:t>
                    </m:r>
                  </m:oMath>
                </a14:m>
                <a:r>
                  <a:rPr lang="zh-CN" altLang="en-US" sz="2000" dirty="0">
                    <a:latin typeface="Tahoma" panose="020B0604030504040204" pitchFamily="34" charset="0"/>
                  </a:rPr>
                  <a:t>在椭圆内，下一像素点应选取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a:latin typeface="Tahoma" panose="020B0604030504040204" pitchFamily="34" charset="0"/>
                  </a:rPr>
                  <a:t>，即</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a:latin typeface="Tahoma" panose="020B0604030504040204" pitchFamily="34" charset="0"/>
                  </a:rPr>
                  <a:t>方向上不退步；</a:t>
                </a:r>
                <a:endParaRPr lang="en-US" altLang="zh-CN" sz="2000" dirty="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2000" b="1" dirty="0">
                    <a:solidFill>
                      <a:srgbClr val="3366FF"/>
                    </a:solidFill>
                    <a:latin typeface="方正粗黑宋简体" panose="02000000000000000000" pitchFamily="2" charset="-122"/>
                    <a:ea typeface="方正粗黑宋简体" panose="02000000000000000000" pitchFamily="2" charset="-122"/>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𝟎</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时</a:t>
                </a:r>
                <a:r>
                  <a:rPr lang="zh-CN" altLang="en-US" sz="2000" dirty="0">
                    <a:latin typeface="Tahoma" panose="020B0604030504040204" pitchFamily="34" charset="0"/>
                  </a:rPr>
                  <a:t>，中点</a:t>
                </a:r>
                <a14:m>
                  <m:oMath xmlns:m="http://schemas.openxmlformats.org/officeDocument/2006/math">
                    <m:r>
                      <a:rPr lang="en-US" altLang="zh-CN" sz="2000" b="1" i="1">
                        <a:solidFill>
                          <a:srgbClr val="FF0000"/>
                        </a:solidFill>
                        <a:latin typeface="Cambria Math" panose="02040503050406030204" pitchFamily="18" charset="0"/>
                      </a:rPr>
                      <m:t>𝑴</m:t>
                    </m:r>
                  </m:oMath>
                </a14:m>
                <a:r>
                  <a:rPr lang="zh-CN" altLang="en-US" sz="2000" dirty="0">
                    <a:latin typeface="Tahoma" panose="020B0604030504040204" pitchFamily="34" charset="0"/>
                  </a:rPr>
                  <a:t>在椭圆外，下一像素点应选取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latin typeface="Tahoma" panose="020B0604030504040204" pitchFamily="34" charset="0"/>
                  </a:rPr>
                  <a:t>，即</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a:latin typeface="Tahoma" panose="020B0604030504040204" pitchFamily="34" charset="0"/>
                  </a:rPr>
                  <a:t>方向上退一步；</a:t>
                </a:r>
                <a:endParaRPr lang="en-US" altLang="zh-CN" sz="2000" dirty="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2000" b="1" dirty="0">
                    <a:solidFill>
                      <a:srgbClr val="3366FF"/>
                    </a:solidFill>
                    <a:latin typeface="方正粗黑宋简体" panose="02000000000000000000" pitchFamily="2" charset="-122"/>
                    <a:ea typeface="方正粗黑宋简体" panose="02000000000000000000" pitchFamily="2" charset="-122"/>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时</a:t>
                </a:r>
                <a:r>
                  <a:rPr lang="zh-CN" altLang="en-US" sz="2000" dirty="0">
                    <a:latin typeface="Tahoma" panose="020B0604030504040204" pitchFamily="34" charset="0"/>
                  </a:rPr>
                  <a:t>，</a:t>
                </a:r>
                <a:r>
                  <a:rPr lang="zh-CN" altLang="en-US" sz="2000" dirty="0" smtClean="0">
                    <a:latin typeface="Tahoma" panose="020B0604030504040204" pitchFamily="34" charset="0"/>
                  </a:rPr>
                  <a:t>中点</a:t>
                </a:r>
                <a14:m>
                  <m:oMath xmlns:m="http://schemas.openxmlformats.org/officeDocument/2006/math">
                    <m:r>
                      <a:rPr lang="en-US" altLang="zh-CN" sz="2000" b="1" i="1">
                        <a:solidFill>
                          <a:srgbClr val="FF0000"/>
                        </a:solidFill>
                        <a:latin typeface="Cambria Math" panose="02040503050406030204" pitchFamily="18" charset="0"/>
                      </a:rPr>
                      <m:t>𝑴</m:t>
                    </m:r>
                  </m:oMath>
                </a14:m>
                <a:r>
                  <a:rPr lang="zh-CN" altLang="en-US" sz="2000" dirty="0" smtClean="0">
                    <a:latin typeface="Tahoma" panose="020B0604030504040204" pitchFamily="34" charset="0"/>
                  </a:rPr>
                  <a:t>在</a:t>
                </a:r>
                <a:r>
                  <a:rPr lang="zh-CN" altLang="en-US" sz="2000" dirty="0">
                    <a:latin typeface="Tahoma" panose="020B0604030504040204" pitchFamily="34" charset="0"/>
                  </a:rPr>
                  <a:t>椭圆上，</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a:latin typeface="Tahoma" panose="020B0604030504040204" pitchFamily="34" charset="0"/>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latin typeface="Tahoma" panose="020B0604030504040204" pitchFamily="34" charset="0"/>
                  </a:rPr>
                  <a:t>和椭圆的距离相等，选取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a:latin typeface="Tahoma" panose="020B0604030504040204" pitchFamily="34" charset="0"/>
                  </a:rPr>
                  <a:t>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latin typeface="Tahoma" panose="020B0604030504040204" pitchFamily="34" charset="0"/>
                  </a:rPr>
                  <a:t>均可，约定取</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latin typeface="Tahoma" panose="020B0604030504040204" pitchFamily="34" charset="0"/>
                  </a:rPr>
                  <a:t>。</a:t>
                </a:r>
              </a:p>
            </p:txBody>
          </p:sp>
        </mc:Choice>
        <mc:Fallback xmlns="">
          <p:sp>
            <p:nvSpPr>
              <p:cNvPr id="41986" name="Rectangle 4"/>
              <p:cNvSpPr>
                <a:spLocks noRot="1" noChangeAspect="1" noMove="1" noResize="1" noEditPoints="1" noAdjustHandles="1" noChangeArrowheads="1" noChangeShapeType="1" noTextEdit="1"/>
              </p:cNvSpPr>
              <p:nvPr/>
            </p:nvSpPr>
            <p:spPr bwMode="auto">
              <a:xfrm>
                <a:off x="179512" y="391255"/>
                <a:ext cx="8928992" cy="1878143"/>
              </a:xfrm>
              <a:prstGeom prst="rect">
                <a:avLst/>
              </a:prstGeom>
              <a:blipFill>
                <a:blip r:embed="rId3"/>
                <a:stretch>
                  <a:fillRect l="-614" r="-751" b="-32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5059" name="Rectangle 5"/>
          <p:cNvSpPr>
            <a:spLocks noChangeArrowheads="1"/>
          </p:cNvSpPr>
          <p:nvPr/>
        </p:nvSpPr>
        <p:spPr bwMode="auto">
          <a:xfrm>
            <a:off x="1403350" y="2708275"/>
            <a:ext cx="1276350" cy="519113"/>
          </a:xfrm>
          <a:prstGeom prst="rect">
            <a:avLst/>
          </a:prstGeom>
          <a:noFill/>
          <a:ln w="9525">
            <a:noFill/>
            <a:miter lim="800000"/>
          </a:ln>
        </p:spPr>
        <p:txBody>
          <a:bodyPr wrap="none" anchor="ctr">
            <a:spAutoFit/>
          </a:bodyPr>
          <a:lstStyle/>
          <a:p>
            <a:pPr eaLnBrk="1" hangingPunct="1">
              <a:buFont typeface="Arial" panose="020B0604020202020204" pitchFamily="34" charset="0"/>
              <a:buNone/>
              <a:defRPr/>
            </a:pPr>
            <a:r>
              <a:rPr lang="zh-CN" altLang="en-US">
                <a:latin typeface="楷体_GB2312" pitchFamily="49" charset="-122"/>
              </a:rPr>
              <a:t>因此，</a:t>
            </a:r>
            <a:r>
              <a:rPr lang="zh-CN" altLang="en-US" sz="2800">
                <a:effectLst>
                  <a:outerShdw blurRad="38100" dist="38100" dir="2700000" algn="tl">
                    <a:srgbClr val="C0C0C0"/>
                  </a:outerShdw>
                </a:effectLst>
                <a:latin typeface="楷体_GB2312" pitchFamily="49" charset="-122"/>
              </a:rPr>
              <a:t> </a:t>
            </a:r>
          </a:p>
        </p:txBody>
      </p:sp>
      <p:graphicFrame>
        <p:nvGraphicFramePr>
          <p:cNvPr id="41988" name="Object 4"/>
          <p:cNvGraphicFramePr>
            <a:graphicFrameLocks noChangeAspect="1"/>
          </p:cNvGraphicFramePr>
          <p:nvPr/>
        </p:nvGraphicFramePr>
        <p:xfrm>
          <a:off x="2987675" y="2636838"/>
          <a:ext cx="3741738" cy="1008062"/>
        </p:xfrm>
        <a:graphic>
          <a:graphicData uri="http://schemas.openxmlformats.org/presentationml/2006/ole">
            <mc:AlternateContent xmlns:mc="http://schemas.openxmlformats.org/markup-compatibility/2006">
              <mc:Choice xmlns:v="urn:schemas-microsoft-com:vml" Requires="v">
                <p:oleObj spid="_x0000_s42033" r:id="rId4" imgW="2619487" imgH="571543" progId="Equation.3">
                  <p:embed/>
                </p:oleObj>
              </mc:Choice>
              <mc:Fallback>
                <p:oleObj r:id="rId4" imgW="2619487" imgH="57154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2636838"/>
                        <a:ext cx="3741738"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9" name="Rectangle 7"/>
          <p:cNvSpPr>
            <a:spLocks noChangeArrowheads="1"/>
          </p:cNvSpPr>
          <p:nvPr/>
        </p:nvSpPr>
        <p:spPr bwMode="auto">
          <a:xfrm>
            <a:off x="7308850" y="285273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400">
                <a:latin typeface="楷体_GB2312" pitchFamily="49" charset="-122"/>
              </a:rPr>
              <a:t>（</a:t>
            </a:r>
            <a:r>
              <a:rPr lang="en-US" altLang="zh-CN" sz="2400">
                <a:latin typeface="楷体_GB2312" pitchFamily="49" charset="-122"/>
              </a:rPr>
              <a:t>3-16</a:t>
            </a:r>
            <a:r>
              <a:rPr lang="zh-CN" altLang="en-US" sz="2400">
                <a:latin typeface="楷体_GB2312" pitchFamily="49" charset="-122"/>
              </a:rPr>
              <a:t>）</a:t>
            </a:r>
          </a:p>
        </p:txBody>
      </p:sp>
      <p:sp>
        <p:nvSpPr>
          <p:cNvPr id="45062" name="Rectangle 8"/>
          <p:cNvSpPr>
            <a:spLocks noChangeArrowheads="1"/>
          </p:cNvSpPr>
          <p:nvPr/>
        </p:nvSpPr>
        <p:spPr bwMode="auto">
          <a:xfrm>
            <a:off x="359345" y="3942126"/>
            <a:ext cx="575945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3.3.3 </a:t>
            </a:r>
            <a:r>
              <a:rPr lang="zh-CN" altLang="en-US" sz="3200" b="1" dirty="0">
                <a:effectLst>
                  <a:outerShdw blurRad="38100" dist="38100" dir="2700000" algn="tl">
                    <a:srgbClr val="C0C0C0"/>
                  </a:outerShdw>
                </a:effectLst>
                <a:latin typeface="楷体_GB2312" pitchFamily="49" charset="-122"/>
              </a:rPr>
              <a:t>上半部分</a:t>
            </a:r>
            <a:r>
              <a:rPr lang="en-US" sz="3200" b="1" dirty="0">
                <a:effectLst>
                  <a:outerShdw blurRad="38100" dist="38100" dir="2700000" algn="tl">
                    <a:srgbClr val="C0C0C0"/>
                  </a:outerShdw>
                </a:effectLst>
                <a:latin typeface="楷体_GB2312" pitchFamily="49" charset="-122"/>
              </a:rPr>
              <a:t>Ⅰ</a:t>
            </a:r>
            <a:r>
              <a:rPr lang="zh-CN" altLang="en-US" sz="3200" b="1" dirty="0">
                <a:effectLst>
                  <a:outerShdw blurRad="38100" dist="38100" dir="2700000" algn="tl">
                    <a:srgbClr val="C0C0C0"/>
                  </a:outerShdw>
                </a:effectLst>
                <a:latin typeface="楷体_GB2312" pitchFamily="49" charset="-122"/>
              </a:rPr>
              <a:t>的递推公式</a:t>
            </a:r>
            <a:r>
              <a:rPr lang="zh-CN" altLang="en-US" dirty="0"/>
              <a:t> </a:t>
            </a:r>
          </a:p>
        </p:txBody>
      </p:sp>
      <p:sp>
        <p:nvSpPr>
          <p:cNvPr id="41991" name="Rectangle 9"/>
          <p:cNvSpPr>
            <a:spLocks noChangeArrowheads="1"/>
          </p:cNvSpPr>
          <p:nvPr/>
        </p:nvSpPr>
        <p:spPr bwMode="auto">
          <a:xfrm>
            <a:off x="359345" y="4818790"/>
            <a:ext cx="85693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361950"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361950"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361950"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en-US" altLang="zh-CN" sz="2000" b="1" dirty="0">
                <a:latin typeface="楷体_GB2312" pitchFamily="49" charset="-122"/>
              </a:rPr>
              <a:t>1.</a:t>
            </a:r>
            <a:r>
              <a:rPr lang="zh-CN" altLang="en-US" sz="2000" b="1" dirty="0">
                <a:latin typeface="楷体_GB2312" pitchFamily="49" charset="-122"/>
              </a:rPr>
              <a:t>中点误差项的递推公式</a:t>
            </a:r>
          </a:p>
          <a:p>
            <a:pPr eaLnBrk="1" hangingPunct="1">
              <a:lnSpc>
                <a:spcPct val="120000"/>
              </a:lnSpc>
              <a:spcBef>
                <a:spcPct val="0"/>
              </a:spcBef>
              <a:buFont typeface="Arial" panose="020B0604020202020204" pitchFamily="34" charset="0"/>
              <a:buNone/>
            </a:pPr>
            <a:r>
              <a:rPr lang="zh-CN" altLang="en-US" sz="2000" dirty="0" smtClean="0">
                <a:latin typeface="楷体_GB2312" pitchFamily="49" charset="-122"/>
              </a:rPr>
              <a:t>如果</a:t>
            </a:r>
            <a:r>
              <a:rPr lang="zh-CN" altLang="en-US" sz="2000" dirty="0">
                <a:latin typeface="楷体_GB2312" pitchFamily="49" charset="-122"/>
              </a:rPr>
              <a:t>考虑主位移方向再走一步，应该选择哪个中点代入中点误差项以决定下一步应该选取的像素，分两种情况讨论。</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3011" name="Object 5"/>
          <p:cNvGraphicFramePr>
            <a:graphicFrameLocks noChangeAspect="1"/>
          </p:cNvGraphicFramePr>
          <p:nvPr/>
        </p:nvGraphicFramePr>
        <p:xfrm>
          <a:off x="1979613" y="982663"/>
          <a:ext cx="2303462" cy="2303462"/>
        </p:xfrm>
        <a:graphic>
          <a:graphicData uri="http://schemas.openxmlformats.org/presentationml/2006/ole">
            <mc:AlternateContent xmlns:mc="http://schemas.openxmlformats.org/markup-compatibility/2006">
              <mc:Choice xmlns:v="urn:schemas-microsoft-com:vml" Requires="v">
                <p:oleObj spid="_x0000_s43227" r:id="rId3" imgW="3673080" imgH="3673080" progId="Visio.Drawing.11">
                  <p:embed/>
                </p:oleObj>
              </mc:Choice>
              <mc:Fallback>
                <p:oleObj r:id="rId3" imgW="3673080" imgH="3673080"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982663"/>
                        <a:ext cx="2303462"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2" name="Rectangle 6"/>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3013" name="Object 7"/>
          <p:cNvGraphicFramePr>
            <a:graphicFrameLocks noChangeAspect="1"/>
          </p:cNvGraphicFramePr>
          <p:nvPr/>
        </p:nvGraphicFramePr>
        <p:xfrm>
          <a:off x="5435600" y="909638"/>
          <a:ext cx="2232025" cy="2232025"/>
        </p:xfrm>
        <a:graphic>
          <a:graphicData uri="http://schemas.openxmlformats.org/presentationml/2006/ole">
            <mc:AlternateContent xmlns:mc="http://schemas.openxmlformats.org/markup-compatibility/2006">
              <mc:Choice xmlns:v="urn:schemas-microsoft-com:vml" Requires="v">
                <p:oleObj spid="_x0000_s43228" r:id="rId5" imgW="3673080" imgH="3673080" progId="Visio.Drawing.11">
                  <p:embed/>
                </p:oleObj>
              </mc:Choice>
              <mc:Fallback>
                <p:oleObj r:id="rId5" imgW="3673080" imgH="3673080" progId="Visio.Drawing.11">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909638"/>
                        <a:ext cx="22320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8" name="Rectangle 12"/>
          <p:cNvSpPr>
            <a:spLocks noChangeArrowheads="1"/>
          </p:cNvSpPr>
          <p:nvPr/>
        </p:nvSpPr>
        <p:spPr bwMode="auto">
          <a:xfrm>
            <a:off x="2554288" y="3357563"/>
            <a:ext cx="52244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5113">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en-US" altLang="zh-CN" sz="2400" dirty="0">
                <a:latin typeface="楷体_GB2312" pitchFamily="49" charset="-122"/>
              </a:rPr>
              <a:t>(a)d</a:t>
            </a:r>
            <a:r>
              <a:rPr lang="en-US" altLang="zh-CN" sz="2400" baseline="-25000" dirty="0">
                <a:latin typeface="楷体_GB2312" pitchFamily="49" charset="-122"/>
              </a:rPr>
              <a:t>i</a:t>
            </a:r>
            <a:r>
              <a:rPr lang="en-US" altLang="zh-CN" sz="2400" dirty="0">
                <a:latin typeface="楷体_GB2312" pitchFamily="49" charset="-122"/>
              </a:rPr>
              <a:t>&lt;0                 (b)d</a:t>
            </a:r>
            <a:r>
              <a:rPr lang="en-US" altLang="zh-CN" sz="2400" baseline="-25000" dirty="0">
                <a:latin typeface="楷体_GB2312" pitchFamily="49" charset="-122"/>
              </a:rPr>
              <a:t>i</a:t>
            </a:r>
            <a:r>
              <a:rPr lang="en-US" altLang="zh-CN" sz="2400" dirty="0">
                <a:latin typeface="楷体_GB2312" pitchFamily="49" charset="-122"/>
              </a:rPr>
              <a:t>≥0</a:t>
            </a:r>
          </a:p>
          <a:p>
            <a:pPr algn="ctr" eaLnBrk="1" hangingPunct="1">
              <a:lnSpc>
                <a:spcPct val="100000"/>
              </a:lnSpc>
              <a:spcBef>
                <a:spcPct val="0"/>
              </a:spcBef>
              <a:buFont typeface="Arial" panose="020B0604020202020204" pitchFamily="34" charset="0"/>
              <a:buNone/>
            </a:pPr>
            <a:r>
              <a:rPr lang="zh-CN" altLang="en-US" sz="2400" dirty="0">
                <a:latin typeface="楷体_GB2312" pitchFamily="49" charset="-122"/>
              </a:rPr>
              <a:t>上半部分中点的递推</a:t>
            </a:r>
          </a:p>
        </p:txBody>
      </p:sp>
      <p:sp>
        <p:nvSpPr>
          <p:cNvPr id="43019" name="Rectangle 1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3020" name="Object 12"/>
          <p:cNvGraphicFramePr>
            <a:graphicFrameLocks noChangeAspect="1"/>
          </p:cNvGraphicFramePr>
          <p:nvPr>
            <p:extLst>
              <p:ext uri="{D42A27DB-BD31-4B8C-83A1-F6EECF244321}">
                <p14:modId xmlns:p14="http://schemas.microsoft.com/office/powerpoint/2010/main" val="1716377402"/>
              </p:ext>
            </p:extLst>
          </p:nvPr>
        </p:nvGraphicFramePr>
        <p:xfrm>
          <a:off x="647700" y="4849277"/>
          <a:ext cx="7848600" cy="523875"/>
        </p:xfrm>
        <a:graphic>
          <a:graphicData uri="http://schemas.openxmlformats.org/presentationml/2006/ole">
            <mc:AlternateContent xmlns:mc="http://schemas.openxmlformats.org/markup-compatibility/2006">
              <mc:Choice xmlns:v="urn:schemas-microsoft-com:vml" Requires="v">
                <p:oleObj spid="_x0000_s43229" r:id="rId7" imgW="3848100" imgH="254000" progId="Equation.3">
                  <p:embed/>
                </p:oleObj>
              </mc:Choice>
              <mc:Fallback>
                <p:oleObj r:id="rId7" imgW="3848100" imgH="2540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700" y="4849277"/>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1" name="Rectangle 1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3022" name="Object 14"/>
          <p:cNvGraphicFramePr>
            <a:graphicFrameLocks noChangeAspect="1"/>
          </p:cNvGraphicFramePr>
          <p:nvPr>
            <p:extLst>
              <p:ext uri="{D42A27DB-BD31-4B8C-83A1-F6EECF244321}">
                <p14:modId xmlns:p14="http://schemas.microsoft.com/office/powerpoint/2010/main" val="279329184"/>
              </p:ext>
            </p:extLst>
          </p:nvPr>
        </p:nvGraphicFramePr>
        <p:xfrm>
          <a:off x="1403350" y="5373152"/>
          <a:ext cx="6048375" cy="473075"/>
        </p:xfrm>
        <a:graphic>
          <a:graphicData uri="http://schemas.openxmlformats.org/presentationml/2006/ole">
            <mc:AlternateContent xmlns:mc="http://schemas.openxmlformats.org/markup-compatibility/2006">
              <mc:Choice xmlns:v="urn:schemas-microsoft-com:vml" Requires="v">
                <p:oleObj spid="_x0000_s43230" r:id="rId9" imgW="3048000" imgH="241300" progId="Equation.3">
                  <p:embed/>
                </p:oleObj>
              </mc:Choice>
              <mc:Fallback>
                <p:oleObj r:id="rId9" imgW="3048000" imgH="2413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5373152"/>
                        <a:ext cx="6048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24" name="Object 16"/>
          <p:cNvGraphicFramePr>
            <a:graphicFrameLocks noChangeAspect="1"/>
          </p:cNvGraphicFramePr>
          <p:nvPr>
            <p:extLst>
              <p:ext uri="{D42A27DB-BD31-4B8C-83A1-F6EECF244321}">
                <p14:modId xmlns:p14="http://schemas.microsoft.com/office/powerpoint/2010/main" val="1512935992"/>
              </p:ext>
            </p:extLst>
          </p:nvPr>
        </p:nvGraphicFramePr>
        <p:xfrm>
          <a:off x="1403350" y="5891212"/>
          <a:ext cx="2449513" cy="498475"/>
        </p:xfrm>
        <a:graphic>
          <a:graphicData uri="http://schemas.openxmlformats.org/presentationml/2006/ole">
            <mc:AlternateContent xmlns:mc="http://schemas.openxmlformats.org/markup-compatibility/2006">
              <mc:Choice xmlns:v="urn:schemas-microsoft-com:vml" Requires="v">
                <p:oleObj spid="_x0000_s43231" r:id="rId11" imgW="1168907" imgH="241405" progId="Equation.3">
                  <p:embed/>
                </p:oleObj>
              </mc:Choice>
              <mc:Fallback>
                <p:oleObj r:id="rId11" imgW="1168907" imgH="241405"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5891212"/>
                        <a:ext cx="244951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5" name="Rectangle 19"/>
          <p:cNvSpPr>
            <a:spLocks noChangeArrowheads="1"/>
          </p:cNvSpPr>
          <p:nvPr/>
        </p:nvSpPr>
        <p:spPr bwMode="auto">
          <a:xfrm>
            <a:off x="7588250" y="6140450"/>
            <a:ext cx="155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楷体_GB2312" pitchFamily="49" charset="-122"/>
              </a:rPr>
              <a:t>（</a:t>
            </a:r>
            <a:r>
              <a:rPr lang="en-US" altLang="zh-CN" sz="2400">
                <a:latin typeface="楷体_GB2312" pitchFamily="49" charset="-122"/>
              </a:rPr>
              <a:t>3-17</a:t>
            </a:r>
            <a:r>
              <a:rPr lang="zh-CN" altLang="en-US" sz="2400">
                <a:latin typeface="楷体_GB2312" pitchFamily="49" charset="-122"/>
              </a:rPr>
              <a:t>） </a:t>
            </a:r>
          </a:p>
        </p:txBody>
      </p:sp>
      <mc:AlternateContent xmlns:mc="http://schemas.openxmlformats.org/markup-compatibility/2006" xmlns:a14="http://schemas.microsoft.com/office/drawing/2010/main">
        <mc:Choice Requires="a14">
          <p:sp>
            <p:nvSpPr>
              <p:cNvPr id="43026" name="Rectangle 20"/>
              <p:cNvSpPr>
                <a:spLocks noChangeArrowheads="1"/>
              </p:cNvSpPr>
              <p:nvPr/>
            </p:nvSpPr>
            <p:spPr bwMode="auto">
              <a:xfrm>
                <a:off x="323850" y="4295745"/>
                <a:ext cx="8820150"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r>
                  <a:rPr lang="zh-CN" altLang="en-US" sz="2000" dirty="0" smtClean="0">
                    <a:latin typeface="楷体_GB2312" pitchFamily="49" charset="-122"/>
                  </a:rPr>
                  <a:t>⑴当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&lt;</m:t>
                    </m:r>
                    <m:r>
                      <a:rPr lang="en-US" altLang="zh-CN" sz="2000" b="1" i="1">
                        <a:solidFill>
                          <a:srgbClr val="FF0000"/>
                        </a:solidFill>
                        <a:latin typeface="Cambria Math" panose="02040503050406030204" pitchFamily="18" charset="0"/>
                      </a:rPr>
                      <m:t>𝟎</m:t>
                    </m:r>
                  </m:oMath>
                </a14:m>
                <a:r>
                  <a:rPr lang="zh-CN" altLang="en-US" sz="2000" dirty="0">
                    <a:latin typeface="楷体_GB2312" pitchFamily="49" charset="-122"/>
                  </a:rPr>
                  <a:t>，</a:t>
                </a:r>
                <a:r>
                  <a:rPr lang="zh-CN" altLang="en-US" sz="2000" dirty="0">
                    <a:latin typeface="Tahoma" panose="020B0604030504040204" pitchFamily="34" charset="0"/>
                  </a:rPr>
                  <a:t>下一步的中点坐标</a:t>
                </a:r>
                <a:r>
                  <a:rPr lang="zh-CN" altLang="en-US" sz="2000" dirty="0" smtClean="0">
                    <a:latin typeface="Tahoma" panose="020B0604030504040204" pitchFamily="34" charset="0"/>
                  </a:rPr>
                  <a:t>为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oMath>
                </a14:m>
                <a:r>
                  <a:rPr lang="zh-CN" altLang="en-US" sz="2000" dirty="0" smtClean="0">
                    <a:latin typeface="Tahoma" panose="020B0604030504040204" pitchFamily="34" charset="0"/>
                  </a:rPr>
                  <a:t>，</a:t>
                </a:r>
                <a:r>
                  <a:rPr lang="zh-CN" altLang="en-US" sz="2000" dirty="0">
                    <a:latin typeface="Tahoma" panose="020B0604030504040204" pitchFamily="34" charset="0"/>
                  </a:rPr>
                  <a:t>其</a:t>
                </a:r>
                <a:r>
                  <a:rPr lang="zh-CN" altLang="en-US" sz="2000" dirty="0" smtClean="0">
                    <a:latin typeface="Tahoma" panose="020B0604030504040204" pitchFamily="34" charset="0"/>
                  </a:rPr>
                  <a:t>中点</a:t>
                </a:r>
                <a:r>
                  <a:rPr lang="zh-CN" altLang="en-US" sz="2000" dirty="0">
                    <a:latin typeface="Tahoma" panose="020B0604030504040204" pitchFamily="34" charset="0"/>
                  </a:rPr>
                  <a:t>误差项</a:t>
                </a:r>
                <a:r>
                  <a:rPr lang="zh-CN" altLang="en-US" sz="2000" dirty="0" smtClean="0">
                    <a:latin typeface="Tahoma" panose="020B0604030504040204" pitchFamily="34" charset="0"/>
                  </a:rPr>
                  <a:t>为：</a:t>
                </a:r>
                <a:endParaRPr lang="zh-CN" altLang="en-US" sz="2000" dirty="0">
                  <a:latin typeface="Tahoma" panose="020B0604030504040204" pitchFamily="34" charset="0"/>
                </a:endParaRPr>
              </a:p>
            </p:txBody>
          </p:sp>
        </mc:Choice>
        <mc:Fallback xmlns="">
          <p:sp>
            <p:nvSpPr>
              <p:cNvPr id="43026" name="Rectangle 20"/>
              <p:cNvSpPr>
                <a:spLocks noRot="1" noChangeAspect="1" noMove="1" noResize="1" noEditPoints="1" noAdjustHandles="1" noChangeArrowheads="1" noChangeShapeType="1" noTextEdit="1"/>
              </p:cNvSpPr>
              <p:nvPr/>
            </p:nvSpPr>
            <p:spPr bwMode="auto">
              <a:xfrm>
                <a:off x="323850" y="4295745"/>
                <a:ext cx="8820150" cy="400110"/>
              </a:xfrm>
              <a:prstGeom prst="rect">
                <a:avLst/>
              </a:prstGeom>
              <a:blipFill>
                <a:blip r:embed="rId13"/>
                <a:stretch>
                  <a:fillRect l="-691" t="-10769" b="-2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57026" y="808007"/>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257026" y="808007"/>
                <a:ext cx="1416222" cy="461665"/>
              </a:xfrm>
              <a:prstGeom prst="rect">
                <a:avLst/>
              </a:prstGeom>
              <a:blipFill>
                <a:blip r:embed="rId14"/>
                <a:stretch>
                  <a:fillRect b="-14667"/>
                </a:stretch>
              </a:blipFill>
            </p:spPr>
            <p:txBody>
              <a:bodyPr/>
              <a:lstStyle/>
              <a:p>
                <a:r>
                  <a:rPr lang="zh-CN" altLang="en-US">
                    <a:noFill/>
                  </a:rPr>
                  <a:t> </a:t>
                </a:r>
              </a:p>
            </p:txBody>
          </p:sp>
        </mc:Fallback>
      </mc:AlternateContent>
      <p:cxnSp>
        <p:nvCxnSpPr>
          <p:cNvPr id="20" name="直接箭头连接符 19"/>
          <p:cNvCxnSpPr/>
          <p:nvPr/>
        </p:nvCxnSpPr>
        <p:spPr>
          <a:xfrm>
            <a:off x="1619672" y="1120461"/>
            <a:ext cx="934616" cy="4273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矩形 3"/>
              <p:cNvSpPr/>
              <p:nvPr/>
            </p:nvSpPr>
            <p:spPr>
              <a:xfrm>
                <a:off x="2195736" y="415512"/>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𝟐</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195736" y="415512"/>
                <a:ext cx="2884123" cy="461665"/>
              </a:xfrm>
              <a:prstGeom prst="rect">
                <a:avLst/>
              </a:prstGeom>
              <a:blipFill>
                <a:blip r:embed="rId15"/>
                <a:stretch>
                  <a:fillRect b="-13158"/>
                </a:stretch>
              </a:blipFill>
            </p:spPr>
            <p:txBody>
              <a:bodyPr/>
              <a:lstStyle/>
              <a:p>
                <a:r>
                  <a:rPr lang="zh-CN" altLang="en-US">
                    <a:noFill/>
                  </a:rPr>
                  <a:t> </a:t>
                </a:r>
              </a:p>
            </p:txBody>
          </p:sp>
        </mc:Fallback>
      </mc:AlternateContent>
      <p:cxnSp>
        <p:nvCxnSpPr>
          <p:cNvPr id="24" name="直接箭头连接符 23"/>
          <p:cNvCxnSpPr/>
          <p:nvPr/>
        </p:nvCxnSpPr>
        <p:spPr>
          <a:xfrm flipH="1">
            <a:off x="3706813" y="922162"/>
            <a:ext cx="361131" cy="8590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矩形 25"/>
              <p:cNvSpPr/>
              <p:nvPr/>
            </p:nvSpPr>
            <p:spPr>
              <a:xfrm>
                <a:off x="4151227" y="2062925"/>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4151227" y="2062925"/>
                <a:ext cx="1416222" cy="461665"/>
              </a:xfrm>
              <a:prstGeom prst="rect">
                <a:avLst/>
              </a:prstGeom>
              <a:blipFill>
                <a:blip r:embed="rId16"/>
                <a:stretch>
                  <a:fillRect b="-13158"/>
                </a:stretch>
              </a:blipFill>
            </p:spPr>
            <p:txBody>
              <a:bodyPr/>
              <a:lstStyle/>
              <a:p>
                <a:r>
                  <a:rPr lang="zh-CN" altLang="en-US">
                    <a:noFill/>
                  </a:rPr>
                  <a:t> </a:t>
                </a:r>
              </a:p>
            </p:txBody>
          </p:sp>
        </mc:Fallback>
      </mc:AlternateContent>
      <p:cxnSp>
        <p:nvCxnSpPr>
          <p:cNvPr id="27" name="直接箭头连接符 26"/>
          <p:cNvCxnSpPr/>
          <p:nvPr/>
        </p:nvCxnSpPr>
        <p:spPr>
          <a:xfrm flipV="1">
            <a:off x="4968292" y="1547844"/>
            <a:ext cx="899852" cy="5512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矩形 28"/>
              <p:cNvSpPr/>
              <p:nvPr/>
            </p:nvSpPr>
            <p:spPr>
              <a:xfrm>
                <a:off x="5896754" y="324308"/>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𝟐</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e>
                      </m:d>
                    </m:oMath>
                  </m:oMathPara>
                </a14:m>
                <a:endParaRPr lang="zh-CN"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5896754" y="324308"/>
                <a:ext cx="2884123" cy="461665"/>
              </a:xfrm>
              <a:prstGeom prst="rect">
                <a:avLst/>
              </a:prstGeom>
              <a:blipFill>
                <a:blip r:embed="rId17"/>
                <a:stretch>
                  <a:fillRect b="-13158"/>
                </a:stretch>
              </a:blipFill>
            </p:spPr>
            <p:txBody>
              <a:bodyPr/>
              <a:lstStyle/>
              <a:p>
                <a:r>
                  <a:rPr lang="zh-CN" altLang="en-US">
                    <a:noFill/>
                  </a:rPr>
                  <a:t> </a:t>
                </a:r>
              </a:p>
            </p:txBody>
          </p:sp>
        </mc:Fallback>
      </mc:AlternateContent>
      <p:cxnSp>
        <p:nvCxnSpPr>
          <p:cNvPr id="30" name="直接箭头连接符 29"/>
          <p:cNvCxnSpPr/>
          <p:nvPr/>
        </p:nvCxnSpPr>
        <p:spPr>
          <a:xfrm flipH="1">
            <a:off x="7113424" y="832672"/>
            <a:ext cx="649543" cy="14610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4" name="Rectangle 6"/>
              <p:cNvSpPr>
                <a:spLocks noChangeArrowheads="1"/>
              </p:cNvSpPr>
              <p:nvPr/>
            </p:nvSpPr>
            <p:spPr bwMode="auto">
              <a:xfrm>
                <a:off x="179512" y="471458"/>
                <a:ext cx="8784976"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r>
                  <a:rPr lang="zh-CN" altLang="en-US" sz="2000" dirty="0">
                    <a:latin typeface="楷体_GB2312" pitchFamily="49" charset="-122"/>
                  </a:rPr>
                  <a:t>⑴</a:t>
                </a:r>
                <a:r>
                  <a:rPr lang="zh-CN" altLang="en-US" sz="2000" dirty="0">
                    <a:latin typeface="Tahoma" panose="020B0604030504040204" pitchFamily="34" charset="0"/>
                  </a:rPr>
                  <a:t>当</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rPr>
                      <m:t>𝟎</m:t>
                    </m:r>
                  </m:oMath>
                </a14:m>
                <a:r>
                  <a:rPr lang="zh-CN" altLang="en-US" sz="2000" dirty="0">
                    <a:latin typeface="Tahoma" panose="020B0604030504040204" pitchFamily="34" charset="0"/>
                  </a:rPr>
                  <a:t>时，下一步的</a:t>
                </a:r>
                <a:r>
                  <a:rPr lang="zh-CN" altLang="en-US" sz="2000" b="1" dirty="0">
                    <a:solidFill>
                      <a:srgbClr val="3366FF"/>
                    </a:solidFill>
                    <a:latin typeface="方正粗黑宋简体" panose="02000000000000000000" pitchFamily="2" charset="-122"/>
                    <a:ea typeface="方正粗黑宋简体" panose="02000000000000000000" pitchFamily="2" charset="-122"/>
                  </a:rPr>
                  <a:t>中点坐标</a:t>
                </a:r>
                <a:r>
                  <a:rPr lang="zh-CN" altLang="en-US" sz="2000" dirty="0" smtClean="0">
                    <a:latin typeface="Tahoma" panose="020B0604030504040204" pitchFamily="34" charset="0"/>
                  </a:rPr>
                  <a:t>为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oMath>
                </a14:m>
                <a:r>
                  <a:rPr lang="zh-CN" altLang="en-US" sz="2000" dirty="0" smtClean="0">
                    <a:latin typeface="Tahoma" panose="020B0604030504040204" pitchFamily="34" charset="0"/>
                  </a:rPr>
                  <a:t>，其中点</a:t>
                </a:r>
                <a:r>
                  <a:rPr lang="zh-CN" altLang="en-US" sz="2000" dirty="0">
                    <a:latin typeface="Tahoma" panose="020B0604030504040204" pitchFamily="34" charset="0"/>
                  </a:rPr>
                  <a:t>误差项</a:t>
                </a:r>
                <a:r>
                  <a:rPr lang="zh-CN" altLang="en-US" sz="2000" dirty="0" smtClean="0">
                    <a:latin typeface="Tahoma" panose="020B0604030504040204" pitchFamily="34" charset="0"/>
                  </a:rPr>
                  <a:t>为： </a:t>
                </a:r>
                <a:endParaRPr lang="zh-CN" altLang="en-US" sz="2000" dirty="0">
                  <a:latin typeface="Tahoma" panose="020B0604030504040204" pitchFamily="34" charset="0"/>
                </a:endParaRPr>
              </a:p>
            </p:txBody>
          </p:sp>
        </mc:Choice>
        <mc:Fallback xmlns="">
          <p:sp>
            <p:nvSpPr>
              <p:cNvPr id="44034" name="Rectangle 6"/>
              <p:cNvSpPr>
                <a:spLocks noRot="1" noChangeAspect="1" noMove="1" noResize="1" noEditPoints="1" noAdjustHandles="1" noChangeArrowheads="1" noChangeShapeType="1" noTextEdit="1"/>
              </p:cNvSpPr>
              <p:nvPr/>
            </p:nvSpPr>
            <p:spPr bwMode="auto">
              <a:xfrm>
                <a:off x="179512" y="471458"/>
                <a:ext cx="8784976" cy="400110"/>
              </a:xfrm>
              <a:prstGeom prst="rect">
                <a:avLst/>
              </a:prstGeom>
              <a:blipFill>
                <a:blip r:embed="rId3"/>
                <a:stretch>
                  <a:fillRect l="-693" t="-13636" r="-3606" b="-2878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4035" name="Rectangle 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4036" name="Object 4"/>
          <p:cNvGraphicFramePr>
            <a:graphicFrameLocks noChangeAspect="1"/>
          </p:cNvGraphicFramePr>
          <p:nvPr>
            <p:extLst>
              <p:ext uri="{D42A27DB-BD31-4B8C-83A1-F6EECF244321}">
                <p14:modId xmlns:p14="http://schemas.microsoft.com/office/powerpoint/2010/main" val="244151427"/>
              </p:ext>
            </p:extLst>
          </p:nvPr>
        </p:nvGraphicFramePr>
        <p:xfrm>
          <a:off x="683568" y="1025488"/>
          <a:ext cx="7200900" cy="484188"/>
        </p:xfrm>
        <a:graphic>
          <a:graphicData uri="http://schemas.openxmlformats.org/presentationml/2006/ole">
            <mc:AlternateContent xmlns:mc="http://schemas.openxmlformats.org/markup-compatibility/2006">
              <mc:Choice xmlns:v="urn:schemas-microsoft-com:vml" Requires="v">
                <p:oleObj spid="_x0000_s44252" r:id="rId4" imgW="3822700" imgH="254000" progId="Equation.3">
                  <p:embed/>
                </p:oleObj>
              </mc:Choice>
              <mc:Fallback>
                <p:oleObj r:id="rId4" imgW="3822700" imgH="254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1025488"/>
                        <a:ext cx="72009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7" name="Rectangle 1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4038" name="Object 6"/>
          <p:cNvGraphicFramePr>
            <a:graphicFrameLocks noChangeAspect="1"/>
          </p:cNvGraphicFramePr>
          <p:nvPr>
            <p:extLst>
              <p:ext uri="{D42A27DB-BD31-4B8C-83A1-F6EECF244321}">
                <p14:modId xmlns:p14="http://schemas.microsoft.com/office/powerpoint/2010/main" val="2140887599"/>
              </p:ext>
            </p:extLst>
          </p:nvPr>
        </p:nvGraphicFramePr>
        <p:xfrm>
          <a:off x="1403648" y="1486573"/>
          <a:ext cx="6840537" cy="409575"/>
        </p:xfrm>
        <a:graphic>
          <a:graphicData uri="http://schemas.openxmlformats.org/presentationml/2006/ole">
            <mc:AlternateContent xmlns:mc="http://schemas.openxmlformats.org/markup-compatibility/2006">
              <mc:Choice xmlns:v="urn:schemas-microsoft-com:vml" Requires="v">
                <p:oleObj spid="_x0000_s44253" r:id="rId6" imgW="3975100" imgH="241300" progId="Equation.3">
                  <p:embed/>
                </p:oleObj>
              </mc:Choice>
              <mc:Fallback>
                <p:oleObj r:id="rId6" imgW="3975100" imgH="2413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648" y="1486573"/>
                        <a:ext cx="684053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9" name="Rectangle 1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4040" name="Object 8"/>
          <p:cNvGraphicFramePr>
            <a:graphicFrameLocks noChangeAspect="1"/>
          </p:cNvGraphicFramePr>
          <p:nvPr>
            <p:extLst>
              <p:ext uri="{D42A27DB-BD31-4B8C-83A1-F6EECF244321}">
                <p14:modId xmlns:p14="http://schemas.microsoft.com/office/powerpoint/2010/main" val="2784123645"/>
              </p:ext>
            </p:extLst>
          </p:nvPr>
        </p:nvGraphicFramePr>
        <p:xfrm>
          <a:off x="1378986" y="1849233"/>
          <a:ext cx="4464050" cy="508000"/>
        </p:xfrm>
        <a:graphic>
          <a:graphicData uri="http://schemas.openxmlformats.org/presentationml/2006/ole">
            <mc:AlternateContent xmlns:mc="http://schemas.openxmlformats.org/markup-compatibility/2006">
              <mc:Choice xmlns:v="urn:schemas-microsoft-com:vml" Requires="v">
                <p:oleObj spid="_x0000_s44254" r:id="rId8" imgW="2096410" imgH="241405" progId="Equation.3">
                  <p:embed/>
                </p:oleObj>
              </mc:Choice>
              <mc:Fallback>
                <p:oleObj r:id="rId8" imgW="2096410" imgH="241405"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8986" y="1849233"/>
                        <a:ext cx="44640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1" name="Rectangle 13"/>
          <p:cNvSpPr>
            <a:spLocks noChangeArrowheads="1"/>
          </p:cNvSpPr>
          <p:nvPr/>
        </p:nvSpPr>
        <p:spPr bwMode="auto">
          <a:xfrm>
            <a:off x="7345462" y="1916786"/>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Tahoma" panose="020B0604030504040204" pitchFamily="34" charset="0"/>
              </a:rPr>
              <a:t> （</a:t>
            </a:r>
            <a:r>
              <a:rPr lang="en-US" altLang="zh-CN" sz="2400" dirty="0">
                <a:latin typeface="Tahoma" panose="020B0604030504040204" pitchFamily="34" charset="0"/>
              </a:rPr>
              <a:t>3-18</a:t>
            </a:r>
            <a:r>
              <a:rPr lang="zh-CN" altLang="en-US" sz="2400" dirty="0">
                <a:latin typeface="Tahoma" panose="020B0604030504040204" pitchFamily="34" charset="0"/>
              </a:rPr>
              <a:t>）</a:t>
            </a:r>
          </a:p>
        </p:txBody>
      </p:sp>
      <mc:AlternateContent xmlns:mc="http://schemas.openxmlformats.org/markup-compatibility/2006">
        <mc:Choice xmlns:a14="http://schemas.microsoft.com/office/drawing/2010/main" Requires="a14">
          <p:sp>
            <p:nvSpPr>
              <p:cNvPr id="44042" name="Rectangle 14"/>
              <p:cNvSpPr>
                <a:spLocks noChangeArrowheads="1"/>
              </p:cNvSpPr>
              <p:nvPr/>
            </p:nvSpPr>
            <p:spPr bwMode="auto">
              <a:xfrm>
                <a:off x="349350" y="2690483"/>
                <a:ext cx="8496300"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361950"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361950"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361950"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361950"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361950" algn="l"/>
                  </a:tabLst>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en-US" altLang="zh-CN" sz="2000" b="1" dirty="0" smtClean="0">
                    <a:latin typeface="楷体_GB2312" pitchFamily="49" charset="-122"/>
                  </a:rPr>
                  <a:t>2.</a:t>
                </a:r>
                <a:r>
                  <a:rPr lang="zh-CN" altLang="en-US" sz="2000" b="1" dirty="0">
                    <a:solidFill>
                      <a:srgbClr val="3366FF"/>
                    </a:solidFill>
                    <a:latin typeface="方正粗黑宋简体" panose="02000000000000000000" pitchFamily="2" charset="-122"/>
                    <a:ea typeface="方正粗黑宋简体" panose="02000000000000000000" pitchFamily="2" charset="-122"/>
                  </a:rPr>
                  <a:t>中点误差项的初始值</a:t>
                </a:r>
              </a:p>
              <a:p>
                <a:pPr eaLnBrk="1" hangingPunct="1">
                  <a:lnSpc>
                    <a:spcPct val="120000"/>
                  </a:lnSpc>
                  <a:spcBef>
                    <a:spcPct val="0"/>
                  </a:spcBef>
                  <a:buNone/>
                </a:pPr>
                <a:r>
                  <a:rPr lang="zh-CN" altLang="en-US" sz="2000" dirty="0">
                    <a:latin typeface="Tahoma" panose="020B0604030504040204" pitchFamily="34" charset="0"/>
                  </a:rPr>
                  <a:t>      上半部分椭圆的起点</a:t>
                </a:r>
                <a:r>
                  <a:rPr lang="zh-CN" altLang="en-US" sz="2000" b="1" dirty="0">
                    <a:solidFill>
                      <a:srgbClr val="3366FF"/>
                    </a:solidFill>
                    <a:latin typeface="方正粗黑宋简体" panose="02000000000000000000" pitchFamily="2" charset="-122"/>
                    <a:ea typeface="方正粗黑宋简体" panose="02000000000000000000" pitchFamily="2" charset="-122"/>
                  </a:rPr>
                  <a:t>为 </a:t>
                </a:r>
                <a:r>
                  <a:rPr lang="en-US" altLang="zh-CN" sz="2000" b="1" dirty="0">
                    <a:solidFill>
                      <a:srgbClr val="3366FF"/>
                    </a:solidFill>
                    <a:latin typeface="方正粗黑宋简体" panose="02000000000000000000" pitchFamily="2" charset="-122"/>
                    <a:ea typeface="方正粗黑宋简体" panose="02000000000000000000" pitchFamily="2" charset="-122"/>
                  </a:rPr>
                  <a:t>A(0,b)</a:t>
                </a:r>
                <a:r>
                  <a:rPr lang="zh-CN" altLang="en-US" sz="2000" dirty="0" smtClean="0">
                    <a:latin typeface="Tahoma" panose="020B0604030504040204" pitchFamily="34" charset="0"/>
                  </a:rPr>
                  <a:t>，</a:t>
                </a:r>
                <a:r>
                  <a:rPr lang="zh-CN" altLang="en-US" sz="2000" dirty="0">
                    <a:latin typeface="Tahoma" panose="020B0604030504040204" pitchFamily="34" charset="0"/>
                  </a:rPr>
                  <a:t>因此，第一个中点</a:t>
                </a:r>
                <a:r>
                  <a:rPr lang="zh-CN" altLang="en-US" sz="2000" dirty="0" smtClean="0">
                    <a:latin typeface="Tahoma" panose="020B0604030504040204" pitchFamily="34" charset="0"/>
                  </a:rPr>
                  <a:t>是</a:t>
                </a:r>
                <a14:m>
                  <m:oMath xmlns:m="http://schemas.openxmlformats.org/officeDocument/2006/math">
                    <m:d>
                      <m:dPr>
                        <m:ctrlPr>
                          <a:rPr lang="en-US" altLang="zh-CN" sz="2000" b="1" i="1">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𝟏</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𝒃</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𝟓</m:t>
                        </m:r>
                        <m:r>
                          <a:rPr lang="en-US" altLang="zh-CN" sz="2000" b="1" i="1" smtClean="0">
                            <a:solidFill>
                              <a:srgbClr val="FF0000"/>
                            </a:solidFill>
                            <a:latin typeface="Cambria Math" panose="02040503050406030204" pitchFamily="18" charset="0"/>
                          </a:rPr>
                          <m:t> </m:t>
                        </m:r>
                      </m:e>
                    </m:d>
                  </m:oMath>
                </a14:m>
                <a:r>
                  <a:rPr lang="zh-CN" altLang="en-US" sz="2000" dirty="0" smtClean="0">
                    <a:latin typeface="Tahoma" panose="020B0604030504040204" pitchFamily="34" charset="0"/>
                  </a:rPr>
                  <a:t>，</a:t>
                </a:r>
                <a:r>
                  <a:rPr lang="zh-CN" altLang="en-US" sz="2000" dirty="0">
                    <a:latin typeface="Tahoma" panose="020B0604030504040204" pitchFamily="34" charset="0"/>
                  </a:rPr>
                  <a:t>对应</a:t>
                </a:r>
                <a:r>
                  <a:rPr lang="zh-CN" altLang="en-US" sz="2000" dirty="0" smtClean="0">
                    <a:latin typeface="Tahoma" panose="020B0604030504040204" pitchFamily="34" charset="0"/>
                  </a:rPr>
                  <a:t>的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𝒊</m:t>
                        </m:r>
                      </m:sub>
                    </m:sSub>
                  </m:oMath>
                </a14:m>
                <a:r>
                  <a:rPr lang="zh-CN" altLang="en-US" sz="2000" dirty="0" smtClean="0">
                    <a:latin typeface="Tahoma" panose="020B0604030504040204" pitchFamily="34" charset="0"/>
                  </a:rPr>
                  <a:t> 的初值</a:t>
                </a:r>
                <a:r>
                  <a:rPr lang="zh-CN" altLang="en-US" sz="2000" dirty="0">
                    <a:latin typeface="Tahoma" panose="020B0604030504040204" pitchFamily="34" charset="0"/>
                  </a:rPr>
                  <a:t>为 </a:t>
                </a:r>
              </a:p>
            </p:txBody>
          </p:sp>
        </mc:Choice>
        <mc:Fallback>
          <p:sp>
            <p:nvSpPr>
              <p:cNvPr id="44042" name="Rectangle 14"/>
              <p:cNvSpPr>
                <a:spLocks noRot="1" noChangeAspect="1" noMove="1" noResize="1" noEditPoints="1" noAdjustHandles="1" noChangeArrowheads="1" noChangeShapeType="1" noTextEdit="1"/>
              </p:cNvSpPr>
              <p:nvPr/>
            </p:nvSpPr>
            <p:spPr bwMode="auto">
              <a:xfrm>
                <a:off x="349350" y="2690483"/>
                <a:ext cx="8496300" cy="1200329"/>
              </a:xfrm>
              <a:prstGeom prst="rect">
                <a:avLst/>
              </a:prstGeom>
              <a:blipFill>
                <a:blip r:embed="rId10"/>
                <a:stretch>
                  <a:fillRect l="-717" t="-1015" b="-45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4043" name="Rectangle 1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4044" name="Object 12"/>
          <p:cNvGraphicFramePr>
            <a:graphicFrameLocks noChangeAspect="1"/>
          </p:cNvGraphicFramePr>
          <p:nvPr>
            <p:extLst>
              <p:ext uri="{D42A27DB-BD31-4B8C-83A1-F6EECF244321}">
                <p14:modId xmlns:p14="http://schemas.microsoft.com/office/powerpoint/2010/main" val="4255606963"/>
              </p:ext>
            </p:extLst>
          </p:nvPr>
        </p:nvGraphicFramePr>
        <p:xfrm>
          <a:off x="1475656" y="4235191"/>
          <a:ext cx="5743575" cy="517525"/>
        </p:xfrm>
        <a:graphic>
          <a:graphicData uri="http://schemas.openxmlformats.org/presentationml/2006/ole">
            <mc:AlternateContent xmlns:mc="http://schemas.openxmlformats.org/markup-compatibility/2006">
              <mc:Choice xmlns:v="urn:schemas-microsoft-com:vml" Requires="v">
                <p:oleObj spid="_x0000_s44255" r:id="rId11" imgW="2641600" imgH="241300" progId="Equation.3">
                  <p:embed/>
                </p:oleObj>
              </mc:Choice>
              <mc:Fallback>
                <p:oleObj r:id="rId11" imgW="2641600" imgH="2413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5656" y="4235191"/>
                        <a:ext cx="57435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45" name="Object 13"/>
          <p:cNvGraphicFramePr>
            <a:graphicFrameLocks noChangeAspect="1"/>
          </p:cNvGraphicFramePr>
          <p:nvPr>
            <p:extLst>
              <p:ext uri="{D42A27DB-BD31-4B8C-83A1-F6EECF244321}">
                <p14:modId xmlns:p14="http://schemas.microsoft.com/office/powerpoint/2010/main" val="3966699604"/>
              </p:ext>
            </p:extLst>
          </p:nvPr>
        </p:nvGraphicFramePr>
        <p:xfrm>
          <a:off x="1907704" y="4752716"/>
          <a:ext cx="3024187" cy="541338"/>
        </p:xfrm>
        <a:graphic>
          <a:graphicData uri="http://schemas.openxmlformats.org/presentationml/2006/ole">
            <mc:AlternateContent xmlns:mc="http://schemas.openxmlformats.org/markup-compatibility/2006">
              <mc:Choice xmlns:v="urn:schemas-microsoft-com:vml" Requires="v">
                <p:oleObj spid="_x0000_s44256" r:id="rId13" imgW="1257846" imgH="228699" progId="Equation.3">
                  <p:embed/>
                </p:oleObj>
              </mc:Choice>
              <mc:Fallback>
                <p:oleObj r:id="rId13" imgW="1257846" imgH="228699"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7704" y="4752716"/>
                        <a:ext cx="30241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6" name="Rectangle 19"/>
          <p:cNvSpPr>
            <a:spLocks noChangeArrowheads="1"/>
          </p:cNvSpPr>
          <p:nvPr/>
        </p:nvSpPr>
        <p:spPr bwMode="auto">
          <a:xfrm>
            <a:off x="7571401" y="4794785"/>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Tahoma" panose="020B0604030504040204" pitchFamily="34" charset="0"/>
              </a:rPr>
              <a:t>（</a:t>
            </a:r>
            <a:r>
              <a:rPr lang="en-US" altLang="zh-CN" sz="2400" dirty="0">
                <a:latin typeface="Tahoma" panose="020B0604030504040204" pitchFamily="34" charset="0"/>
              </a:rPr>
              <a:t>3-19</a:t>
            </a:r>
            <a:r>
              <a:rPr lang="zh-CN" altLang="en-US" sz="2400" dirty="0">
                <a:latin typeface="Tahoma" panose="020B0604030504040204" pitchFamily="34"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ChangeArrowheads="1"/>
          </p:cNvSpPr>
          <p:nvPr/>
        </p:nvSpPr>
        <p:spPr bwMode="auto">
          <a:xfrm>
            <a:off x="250825" y="431652"/>
            <a:ext cx="7416800"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3.3.4 </a:t>
            </a:r>
            <a:r>
              <a:rPr lang="zh-CN" altLang="en-US" sz="3200" b="1" dirty="0">
                <a:effectLst>
                  <a:outerShdw blurRad="38100" dist="38100" dir="2700000" algn="tl">
                    <a:srgbClr val="C0C0C0"/>
                  </a:outerShdw>
                </a:effectLst>
                <a:latin typeface="楷体_GB2312" pitchFamily="49" charset="-122"/>
              </a:rPr>
              <a:t>构造下半部分</a:t>
            </a:r>
            <a:r>
              <a:rPr lang="en-US" sz="3200" b="1" dirty="0">
                <a:effectLst>
                  <a:outerShdw blurRad="38100" dist="38100" dir="2700000" algn="tl">
                    <a:srgbClr val="C0C0C0"/>
                  </a:outerShdw>
                </a:effectLst>
                <a:latin typeface="楷体_GB2312" pitchFamily="49" charset="-122"/>
              </a:rPr>
              <a:t>Ⅱ</a:t>
            </a:r>
            <a:r>
              <a:rPr lang="zh-CN" altLang="en-US" sz="3200" b="1" dirty="0">
                <a:effectLst>
                  <a:outerShdw blurRad="38100" dist="38100" dir="2700000" algn="tl">
                    <a:srgbClr val="C0C0C0"/>
                  </a:outerShdw>
                </a:effectLst>
                <a:latin typeface="楷体_GB2312" pitchFamily="49" charset="-122"/>
              </a:rPr>
              <a:t>的中点误差项</a:t>
            </a:r>
            <a:r>
              <a:rPr lang="zh-CN" altLang="en-US" dirty="0"/>
              <a:t> </a:t>
            </a:r>
          </a:p>
        </p:txBody>
      </p:sp>
      <mc:AlternateContent xmlns:mc="http://schemas.openxmlformats.org/markup-compatibility/2006">
        <mc:Choice xmlns:a14="http://schemas.microsoft.com/office/drawing/2010/main" Requires="a14">
          <p:sp>
            <p:nvSpPr>
              <p:cNvPr id="45059" name="Rectangle 5"/>
              <p:cNvSpPr>
                <a:spLocks noChangeArrowheads="1"/>
              </p:cNvSpPr>
              <p:nvPr/>
            </p:nvSpPr>
            <p:spPr bwMode="auto">
              <a:xfrm>
                <a:off x="269081" y="1088367"/>
                <a:ext cx="8605838" cy="21901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algn="just" eaLnBrk="1" hangingPunct="1">
                  <a:lnSpc>
                    <a:spcPct val="140000"/>
                  </a:lnSpc>
                  <a:spcBef>
                    <a:spcPct val="0"/>
                  </a:spcBef>
                  <a:buFont typeface="Wingdings" panose="05000000000000000000" pitchFamily="2" charset="2"/>
                  <a:buChar char="n"/>
                </a:pPr>
                <a:r>
                  <a:rPr lang="zh-CN" altLang="en-US" sz="2000" dirty="0" smtClean="0">
                    <a:latin typeface="Tahoma" panose="020B0604030504040204" pitchFamily="34" charset="0"/>
                  </a:rPr>
                  <a:t>在</a:t>
                </a:r>
                <a:r>
                  <a:rPr lang="zh-CN" altLang="en-US" sz="2000" dirty="0" smtClean="0">
                    <a:latin typeface="Tahoma" panose="020B0604030504040204" pitchFamily="34" charset="0"/>
                  </a:rPr>
                  <a:t>下半</a:t>
                </a:r>
                <a:r>
                  <a:rPr lang="zh-CN" altLang="en-US" sz="2000" dirty="0" smtClean="0">
                    <a:latin typeface="Tahoma" panose="020B0604030504040204" pitchFamily="34" charset="0"/>
                  </a:rPr>
                  <a:t>部分 </a:t>
                </a:r>
                <a:r>
                  <a:rPr lang="pt-BR" altLang="en-US" sz="2000" dirty="0" smtClean="0">
                    <a:latin typeface="Tahoma" panose="020B0604030504040204" pitchFamily="34" charset="0"/>
                  </a:rPr>
                  <a:t>Ⅱ</a:t>
                </a:r>
                <a:r>
                  <a:rPr lang="zh-CN" altLang="en-US" sz="2000" dirty="0">
                    <a:latin typeface="Tahoma" panose="020B0604030504040204" pitchFamily="34" charset="0"/>
                  </a:rPr>
                  <a:t>，主位移方向发生变化，</a:t>
                </a:r>
                <a:r>
                  <a:rPr lang="zh-CN" altLang="en-US" sz="2000" dirty="0" smtClean="0">
                    <a:latin typeface="Tahoma" panose="020B0604030504040204" pitchFamily="34" charset="0"/>
                  </a:rPr>
                  <a:t>中点 </a:t>
                </a:r>
                <a:r>
                  <a:rPr lang="en-US" altLang="zh-CN" sz="2000" dirty="0" err="1" smtClean="0">
                    <a:latin typeface="Tahoma" panose="020B0604030504040204" pitchFamily="34" charset="0"/>
                  </a:rPr>
                  <a:t>Bresenham</a:t>
                </a:r>
                <a:r>
                  <a:rPr lang="en-US" altLang="zh-CN" sz="2000" dirty="0" smtClean="0">
                    <a:latin typeface="Tahoma" panose="020B0604030504040204" pitchFamily="34" charset="0"/>
                  </a:rPr>
                  <a:t> </a:t>
                </a:r>
                <a:r>
                  <a:rPr lang="zh-CN" altLang="en-US" sz="2000" dirty="0" smtClean="0">
                    <a:latin typeface="Tahoma" panose="020B0604030504040204" pitchFamily="34" charset="0"/>
                  </a:rPr>
                  <a:t>算法</a:t>
                </a:r>
                <a:r>
                  <a:rPr lang="zh-CN" altLang="en-US" sz="2000" dirty="0">
                    <a:latin typeface="Tahoma" panose="020B0604030504040204" pitchFamily="34" charset="0"/>
                  </a:rPr>
                  <a:t>原理为：</a:t>
                </a:r>
                <a:r>
                  <a:rPr lang="en-US" altLang="zh-CN" sz="2000" b="1" dirty="0">
                    <a:solidFill>
                      <a:srgbClr val="FF0000"/>
                    </a:solidFill>
                  </a:rPr>
                  <a:t> </a:t>
                </a:r>
                <a14:m>
                  <m:oMath xmlns:m="http://schemas.openxmlformats.org/officeDocument/2006/math">
                    <m:r>
                      <a:rPr lang="en-US" altLang="zh-CN" sz="2000" b="1" i="1" dirty="0" smtClean="0">
                        <a:solidFill>
                          <a:srgbClr val="FF0000"/>
                        </a:solidFill>
                        <a:latin typeface="Cambria Math" panose="02040503050406030204" pitchFamily="18" charset="0"/>
                      </a:rPr>
                      <m:t>𝒚</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方向</a:t>
                </a:r>
                <a:r>
                  <a:rPr lang="zh-CN" altLang="en-US" sz="2000" b="1" dirty="0">
                    <a:solidFill>
                      <a:srgbClr val="3366FF"/>
                    </a:solidFill>
                    <a:latin typeface="方正粗黑宋简体" panose="02000000000000000000" pitchFamily="2" charset="-122"/>
                    <a:ea typeface="方正粗黑宋简体" panose="02000000000000000000" pitchFamily="2" charset="-122"/>
                  </a:rPr>
                  <a:t>上每次</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减 </a:t>
                </a:r>
                <a:r>
                  <a:rPr lang="en-US" altLang="zh-CN" sz="2000" b="1" dirty="0" smtClean="0">
                    <a:solidFill>
                      <a:srgbClr val="3366FF"/>
                    </a:solidFill>
                    <a:latin typeface="方正粗黑宋简体" panose="02000000000000000000" pitchFamily="2" charset="-122"/>
                    <a:ea typeface="方正粗黑宋简体" panose="02000000000000000000" pitchFamily="2" charset="-122"/>
                  </a:rPr>
                  <a:t>1</a:t>
                </a:r>
                <a:r>
                  <a:rPr lang="zh-CN" altLang="en-US" sz="2000" b="1" dirty="0">
                    <a:solidFill>
                      <a:srgbClr val="3366FF"/>
                    </a:solidFill>
                    <a:latin typeface="方正粗黑宋简体" panose="02000000000000000000" pitchFamily="2" charset="-122"/>
                    <a:ea typeface="方正粗黑宋简体" panose="02000000000000000000" pitchFamily="2" charset="-122"/>
                  </a:rPr>
                  <a:t>，</a:t>
                </a:r>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b="1" dirty="0">
                    <a:solidFill>
                      <a:srgbClr val="3366FF"/>
                    </a:solidFill>
                    <a:latin typeface="方正粗黑宋简体" panose="02000000000000000000" pitchFamily="2" charset="-122"/>
                    <a:ea typeface="方正粗黑宋简体" panose="02000000000000000000" pitchFamily="2" charset="-122"/>
                  </a:rPr>
                  <a:t>方向上加</a:t>
                </a:r>
                <a:r>
                  <a:rPr lang="en-US" altLang="zh-CN" sz="2000" b="1" dirty="0">
                    <a:solidFill>
                      <a:srgbClr val="3366FF"/>
                    </a:solidFill>
                    <a:latin typeface="方正粗黑宋简体" panose="02000000000000000000" pitchFamily="2" charset="-122"/>
                    <a:ea typeface="方正粗黑宋简体" panose="02000000000000000000" pitchFamily="2" charset="-122"/>
                  </a:rPr>
                  <a:t>1</a:t>
                </a:r>
                <a:r>
                  <a:rPr lang="zh-CN" altLang="en-US" sz="2000" b="1" dirty="0">
                    <a:solidFill>
                      <a:srgbClr val="3366FF"/>
                    </a:solidFill>
                    <a:latin typeface="方正粗黑宋简体" panose="02000000000000000000" pitchFamily="2" charset="-122"/>
                    <a:ea typeface="方正粗黑宋简体" panose="02000000000000000000" pitchFamily="2" charset="-122"/>
                  </a:rPr>
                  <a:t>不</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加 </a:t>
                </a:r>
                <a:r>
                  <a:rPr lang="en-US" altLang="zh-CN" sz="2000" b="1" dirty="0" smtClean="0">
                    <a:solidFill>
                      <a:srgbClr val="3366FF"/>
                    </a:solidFill>
                    <a:latin typeface="方正粗黑宋简体" panose="02000000000000000000" pitchFamily="2" charset="-122"/>
                    <a:ea typeface="方正粗黑宋简体" panose="02000000000000000000" pitchFamily="2" charset="-122"/>
                  </a:rPr>
                  <a:t>1 </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取决于</a:t>
                </a:r>
                <a:r>
                  <a:rPr lang="zh-CN" altLang="en-US" sz="2000" b="1" dirty="0">
                    <a:solidFill>
                      <a:srgbClr val="3366FF"/>
                    </a:solidFill>
                    <a:latin typeface="方正粗黑宋简体" panose="02000000000000000000" pitchFamily="2" charset="-122"/>
                    <a:ea typeface="方正粗黑宋简体" panose="02000000000000000000" pitchFamily="2" charset="-122"/>
                  </a:rPr>
                  <a:t>中点误差项的值</a:t>
                </a:r>
                <a:r>
                  <a:rPr lang="zh-CN" altLang="en-US" sz="2000" dirty="0">
                    <a:latin typeface="Tahoma" panose="020B0604030504040204" pitchFamily="34" charset="0"/>
                  </a:rPr>
                  <a:t>。从上半部分</a:t>
                </a:r>
                <a:r>
                  <a:rPr lang="pt-BR" altLang="en-US" sz="2000" dirty="0" smtClean="0">
                    <a:latin typeface="Tahoma" panose="020B0604030504040204" pitchFamily="34" charset="0"/>
                  </a:rPr>
                  <a:t>Ⅰ </a:t>
                </a:r>
                <a:r>
                  <a:rPr lang="zh-CN" altLang="en-US" sz="2000" dirty="0" smtClean="0">
                    <a:latin typeface="Tahoma" panose="020B0604030504040204" pitchFamily="34" charset="0"/>
                  </a:rPr>
                  <a:t>的</a:t>
                </a:r>
                <a:r>
                  <a:rPr lang="zh-CN" altLang="en-US" sz="2000" dirty="0">
                    <a:latin typeface="Tahoma" panose="020B0604030504040204" pitchFamily="34" charset="0"/>
                  </a:rPr>
                  <a:t>终止点</a:t>
                </a:r>
                <a:r>
                  <a:rPr lang="zh-CN" altLang="en-US" sz="2000" dirty="0" smtClean="0">
                    <a:latin typeface="Tahoma" panose="020B0604030504040204" pitchFamily="34" charset="0"/>
                  </a:rPr>
                  <a:t> </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 出发</a:t>
                </a:r>
                <a:r>
                  <a:rPr lang="zh-CN" altLang="en-US" sz="2000" dirty="0">
                    <a:latin typeface="Tahoma" panose="020B0604030504040204" pitchFamily="34" charset="0"/>
                  </a:rPr>
                  <a:t>选取下一像素时，需</a:t>
                </a:r>
                <a:r>
                  <a:rPr lang="zh-CN" altLang="en-US" sz="2000" dirty="0" smtClean="0">
                    <a:latin typeface="Tahoma" panose="020B0604030504040204" pitchFamily="34" charset="0"/>
                  </a:rPr>
                  <a:t>将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𝒍</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a14:m>
                <a:r>
                  <a:rPr lang="zh-CN" altLang="en-US" sz="2000" dirty="0" smtClean="0">
                    <a:latin typeface="Tahoma" panose="020B0604030504040204" pitchFamily="34" charset="0"/>
                  </a:rPr>
                  <a:t> 和 </a:t>
                </a: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𝒓</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e>
                    </m:d>
                  </m:oMath>
                </a14:m>
                <a:r>
                  <a:rPr lang="en-US" altLang="en-US" sz="2000" dirty="0" smtClean="0">
                    <a:latin typeface="Tahoma" panose="020B0604030504040204" pitchFamily="34" charset="0"/>
                  </a:rPr>
                  <a:t> </a:t>
                </a:r>
                <a:r>
                  <a:rPr lang="zh-CN" altLang="en-US" sz="2000" dirty="0" smtClean="0">
                    <a:latin typeface="Tahoma" panose="020B0604030504040204" pitchFamily="34" charset="0"/>
                  </a:rPr>
                  <a:t>的中点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𝟓</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e>
                    </m:d>
                  </m:oMath>
                </a14:m>
                <a:r>
                  <a:rPr lang="en-US" altLang="zh-CN" sz="2000" dirty="0" smtClean="0">
                    <a:latin typeface="Tahoma" panose="020B0604030504040204" pitchFamily="34" charset="0"/>
                  </a:rPr>
                  <a:t> </a:t>
                </a:r>
                <a:r>
                  <a:rPr lang="zh-CN" altLang="en-US" sz="2000" dirty="0" smtClean="0">
                    <a:latin typeface="Tahoma" panose="020B0604030504040204" pitchFamily="34" charset="0"/>
                  </a:rPr>
                  <a:t>代入</a:t>
                </a:r>
                <a:r>
                  <a:rPr lang="zh-CN" altLang="en-US" sz="2000" dirty="0">
                    <a:latin typeface="Tahoma" panose="020B0604030504040204" pitchFamily="34" charset="0"/>
                  </a:rPr>
                  <a:t>隐函数，构造中点误差项</a:t>
                </a:r>
              </a:p>
            </p:txBody>
          </p:sp>
        </mc:Choice>
        <mc:Fallback>
          <p:sp>
            <p:nvSpPr>
              <p:cNvPr id="45059" name="Rectangle 5"/>
              <p:cNvSpPr>
                <a:spLocks noRot="1" noChangeAspect="1" noMove="1" noResize="1" noEditPoints="1" noAdjustHandles="1" noChangeArrowheads="1" noChangeShapeType="1" noTextEdit="1"/>
              </p:cNvSpPr>
              <p:nvPr/>
            </p:nvSpPr>
            <p:spPr bwMode="auto">
              <a:xfrm>
                <a:off x="269081" y="1088367"/>
                <a:ext cx="8605838" cy="2190151"/>
              </a:xfrm>
              <a:prstGeom prst="rect">
                <a:avLst/>
              </a:prstGeom>
              <a:blipFill>
                <a:blip r:embed="rId3"/>
                <a:stretch>
                  <a:fillRect l="-637" r="-779" b="-30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5060" name="Rectangle 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5061" name="Object 5"/>
          <p:cNvGraphicFramePr>
            <a:graphicFrameLocks noChangeAspect="1"/>
          </p:cNvGraphicFramePr>
          <p:nvPr/>
        </p:nvGraphicFramePr>
        <p:xfrm>
          <a:off x="2339975" y="4365625"/>
          <a:ext cx="2695575" cy="436563"/>
        </p:xfrm>
        <a:graphic>
          <a:graphicData uri="http://schemas.openxmlformats.org/presentationml/2006/ole">
            <mc:AlternateContent xmlns:mc="http://schemas.openxmlformats.org/markup-compatibility/2006">
              <mc:Choice xmlns:v="urn:schemas-microsoft-com:vml" Requires="v">
                <p:oleObj spid="_x0000_s45148" r:id="rId4" imgW="1397607" imgH="228699" progId="Equation.3">
                  <p:embed/>
                </p:oleObj>
              </mc:Choice>
              <mc:Fallback>
                <p:oleObj r:id="rId4" imgW="1397607" imgH="22869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4365625"/>
                        <a:ext cx="26955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62" name="Object 6"/>
          <p:cNvGraphicFramePr>
            <a:graphicFrameLocks noChangeAspect="1"/>
          </p:cNvGraphicFramePr>
          <p:nvPr>
            <p:extLst>
              <p:ext uri="{D42A27DB-BD31-4B8C-83A1-F6EECF244321}">
                <p14:modId xmlns:p14="http://schemas.microsoft.com/office/powerpoint/2010/main" val="294775656"/>
              </p:ext>
            </p:extLst>
          </p:nvPr>
        </p:nvGraphicFramePr>
        <p:xfrm>
          <a:off x="2699792" y="4768850"/>
          <a:ext cx="4019550" cy="460375"/>
        </p:xfrm>
        <a:graphic>
          <a:graphicData uri="http://schemas.openxmlformats.org/presentationml/2006/ole">
            <mc:AlternateContent xmlns:mc="http://schemas.openxmlformats.org/markup-compatibility/2006">
              <mc:Choice xmlns:v="urn:schemas-microsoft-com:vml" Requires="v">
                <p:oleObj spid="_x0000_s45149" r:id="rId6" imgW="2082800" imgH="241300" progId="Equation.3">
                  <p:embed/>
                </p:oleObj>
              </mc:Choice>
              <mc:Fallback>
                <p:oleObj r:id="rId6" imgW="2082800" imgH="2413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9792" y="4768850"/>
                        <a:ext cx="4019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3" name="Rectangle 10"/>
          <p:cNvSpPr>
            <a:spLocks noChangeArrowheads="1"/>
          </p:cNvSpPr>
          <p:nvPr/>
        </p:nvSpPr>
        <p:spPr bwMode="auto">
          <a:xfrm>
            <a:off x="7451725" y="522922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3-20</a:t>
            </a:r>
            <a:r>
              <a:rPr lang="zh-CN" altLang="en-US" sz="2400">
                <a:latin typeface="Tahoma" panose="020B0604030504040204" pitchFamily="34"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4"/>
          <p:cNvGraphicFramePr>
            <a:graphicFrameLocks noChangeAspect="1"/>
          </p:cNvGraphicFramePr>
          <p:nvPr/>
        </p:nvGraphicFramePr>
        <p:xfrm>
          <a:off x="1476375" y="765175"/>
          <a:ext cx="2239963" cy="1785938"/>
        </p:xfrm>
        <a:graphic>
          <a:graphicData uri="http://schemas.openxmlformats.org/presentationml/2006/ole">
            <mc:AlternateContent xmlns:mc="http://schemas.openxmlformats.org/markup-compatibility/2006">
              <mc:Choice xmlns:v="urn:schemas-microsoft-com:vml" Requires="v">
                <p:oleObj spid="_x0000_s46254" r:id="rId3" imgW="3244320" imgH="2266200" progId="Visio.Drawing.11">
                  <p:embed/>
                </p:oleObj>
              </mc:Choice>
              <mc:Fallback>
                <p:oleObj r:id="rId3" imgW="3244320" imgH="22662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765175"/>
                        <a:ext cx="2239963"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3" name="Object 5"/>
          <p:cNvGraphicFramePr>
            <a:graphicFrameLocks noChangeAspect="1"/>
          </p:cNvGraphicFramePr>
          <p:nvPr/>
        </p:nvGraphicFramePr>
        <p:xfrm>
          <a:off x="3995738" y="765175"/>
          <a:ext cx="2239962" cy="1785938"/>
        </p:xfrm>
        <a:graphic>
          <a:graphicData uri="http://schemas.openxmlformats.org/presentationml/2006/ole">
            <mc:AlternateContent xmlns:mc="http://schemas.openxmlformats.org/markup-compatibility/2006">
              <mc:Choice xmlns:v="urn:schemas-microsoft-com:vml" Requires="v">
                <p:oleObj spid="_x0000_s46255" r:id="rId5" imgW="3244320" imgH="2266200" progId="Visio.Drawing.11">
                  <p:embed/>
                </p:oleObj>
              </mc:Choice>
              <mc:Fallback>
                <p:oleObj r:id="rId5" imgW="3244320" imgH="2266200" progId="Visio.Drawing.11">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738" y="765175"/>
                        <a:ext cx="2239962"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4" name="Object 6"/>
          <p:cNvGraphicFramePr>
            <a:graphicFrameLocks noChangeAspect="1"/>
          </p:cNvGraphicFramePr>
          <p:nvPr/>
        </p:nvGraphicFramePr>
        <p:xfrm>
          <a:off x="6443663" y="765175"/>
          <a:ext cx="2239962" cy="1785938"/>
        </p:xfrm>
        <a:graphic>
          <a:graphicData uri="http://schemas.openxmlformats.org/presentationml/2006/ole">
            <mc:AlternateContent xmlns:mc="http://schemas.openxmlformats.org/markup-compatibility/2006">
              <mc:Choice xmlns:v="urn:schemas-microsoft-com:vml" Requires="v">
                <p:oleObj spid="_x0000_s46256" r:id="rId7" imgW="3244320" imgH="2266200" progId="Visio.Drawing.11">
                  <p:embed/>
                </p:oleObj>
              </mc:Choice>
              <mc:Fallback>
                <p:oleObj r:id="rId7" imgW="3244320" imgH="2266200"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765175"/>
                        <a:ext cx="2239962"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85" name="Rectangle 8"/>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6086" name="Object 6"/>
          <p:cNvGraphicFramePr>
            <a:graphicFrameLocks noChangeAspect="1"/>
          </p:cNvGraphicFramePr>
          <p:nvPr>
            <p:extLst>
              <p:ext uri="{D42A27DB-BD31-4B8C-83A1-F6EECF244321}">
                <p14:modId xmlns:p14="http://schemas.microsoft.com/office/powerpoint/2010/main" val="3967371132"/>
              </p:ext>
            </p:extLst>
          </p:nvPr>
        </p:nvGraphicFramePr>
        <p:xfrm>
          <a:off x="1631950" y="2997200"/>
          <a:ext cx="6311900" cy="955675"/>
        </p:xfrm>
        <a:graphic>
          <a:graphicData uri="http://schemas.openxmlformats.org/presentationml/2006/ole">
            <mc:AlternateContent xmlns:mc="http://schemas.openxmlformats.org/markup-compatibility/2006">
              <mc:Choice xmlns:v="urn:schemas-microsoft-com:vml" Requires="v">
                <p:oleObj spid="_x0000_s46257" name="公式" r:id="rId9" imgW="3200400" imgH="482400" progId="Equation.3">
                  <p:embed/>
                </p:oleObj>
              </mc:Choice>
              <mc:Fallback>
                <p:oleObj name="公式" r:id="rId9" imgW="3200400" imgH="482400" progId="Equation.3">
                  <p:embed/>
                  <p:pic>
                    <p:nvPicPr>
                      <p:cNvPr id="0" name="Object 6"/>
                      <p:cNvPicPr>
                        <a:picLocks noChangeAspect="1" noChangeArrowheads="1"/>
                      </p:cNvPicPr>
                      <p:nvPr/>
                    </p:nvPicPr>
                    <p:blipFill>
                      <a:blip r:embed="rId10"/>
                      <a:srcRect/>
                      <a:stretch>
                        <a:fillRect/>
                      </a:stretch>
                    </p:blipFill>
                    <p:spPr bwMode="auto">
                      <a:xfrm>
                        <a:off x="1631950" y="2997200"/>
                        <a:ext cx="6311900" cy="955675"/>
                      </a:xfrm>
                      <a:prstGeom prst="rect">
                        <a:avLst/>
                      </a:prstGeom>
                      <a:noFill/>
                      <a:ln>
                        <a:noFill/>
                      </a:ln>
                      <a:extLst/>
                    </p:spPr>
                  </p:pic>
                </p:oleObj>
              </mc:Fallback>
            </mc:AlternateContent>
          </a:graphicData>
        </a:graphic>
      </p:graphicFrame>
      <p:sp>
        <p:nvSpPr>
          <p:cNvPr id="46087" name="Rectangle 10"/>
          <p:cNvSpPr>
            <a:spLocks noChangeArrowheads="1"/>
          </p:cNvSpPr>
          <p:nvPr/>
        </p:nvSpPr>
        <p:spPr bwMode="auto">
          <a:xfrm>
            <a:off x="755576" y="264001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Tahoma" panose="020B0604030504040204" pitchFamily="34" charset="0"/>
              </a:rPr>
              <a:t>因此，</a:t>
            </a:r>
          </a:p>
        </p:txBody>
      </p:sp>
      <p:sp>
        <p:nvSpPr>
          <p:cNvPr id="46088" name="Rectangle 11"/>
          <p:cNvSpPr>
            <a:spLocks noChangeArrowheads="1"/>
          </p:cNvSpPr>
          <p:nvPr/>
        </p:nvSpPr>
        <p:spPr bwMode="auto">
          <a:xfrm>
            <a:off x="7643813" y="328453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3-21</a:t>
            </a:r>
            <a:r>
              <a:rPr lang="zh-CN" altLang="en-US" sz="2400">
                <a:latin typeface="Tahoma" panose="020B0604030504040204" pitchFamily="34" charset="0"/>
              </a:rPr>
              <a:t>） </a:t>
            </a:r>
          </a:p>
        </p:txBody>
      </p:sp>
      <mc:AlternateContent xmlns:mc="http://schemas.openxmlformats.org/markup-compatibility/2006">
        <mc:Choice xmlns:a14="http://schemas.microsoft.com/office/drawing/2010/main" Requires="a14">
          <p:sp>
            <p:nvSpPr>
              <p:cNvPr id="46089" name="Rectangle 12"/>
              <p:cNvSpPr>
                <a:spLocks noChangeArrowheads="1"/>
              </p:cNvSpPr>
              <p:nvPr/>
            </p:nvSpPr>
            <p:spPr bwMode="auto">
              <a:xfrm>
                <a:off x="251618" y="4141788"/>
                <a:ext cx="8640763" cy="25853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Wingdings" panose="05000000000000000000" pitchFamily="2" charset="2"/>
                  <a:buChar char="n"/>
                </a:pPr>
                <a:r>
                  <a:rPr lang="zh-CN" altLang="en-US" sz="1800" dirty="0" smtClean="0">
                    <a:latin typeface="Tahoma" panose="020B0604030504040204" pitchFamily="34" charset="0"/>
                  </a:rPr>
                  <a:t>当</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smtClean="0">
                            <a:solidFill>
                              <a:srgbClr val="FF0000"/>
                            </a:solidFill>
                            <a:latin typeface="Cambria Math" panose="02040503050406030204" pitchFamily="18" charset="0"/>
                          </a:rPr>
                          <m:t>𝒅</m:t>
                        </m:r>
                      </m:e>
                      <m:sub>
                        <m:r>
                          <a:rPr lang="en-US" altLang="zh-CN" sz="1800" b="1" i="1" smtClean="0">
                            <a:solidFill>
                              <a:srgbClr val="FF0000"/>
                            </a:solidFill>
                            <a:latin typeface="Cambria Math" panose="02040503050406030204" pitchFamily="18" charset="0"/>
                          </a:rPr>
                          <m:t>𝟐</m:t>
                        </m:r>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&lt;</m:t>
                    </m:r>
                    <m:r>
                      <a:rPr lang="en-US" altLang="zh-CN" sz="1800" b="1" i="1" smtClean="0">
                        <a:solidFill>
                          <a:srgbClr val="FF0000"/>
                        </a:solidFill>
                        <a:latin typeface="Cambria Math" panose="02040503050406030204" pitchFamily="18" charset="0"/>
                      </a:rPr>
                      <m:t>𝟎</m:t>
                    </m:r>
                  </m:oMath>
                </a14:m>
                <a:r>
                  <a:rPr lang="en-US" altLang="zh-CN" sz="1800" dirty="0" smtClean="0">
                    <a:latin typeface="Tahoma" panose="020B0604030504040204" pitchFamily="34" charset="0"/>
                  </a:rPr>
                  <a:t> </a:t>
                </a:r>
                <a:r>
                  <a:rPr lang="zh-CN" altLang="en-US" sz="1800" dirty="0">
                    <a:latin typeface="Tahoma" panose="020B0604030504040204" pitchFamily="34" charset="0"/>
                  </a:rPr>
                  <a:t>时，</a:t>
                </a:r>
                <a:r>
                  <a:rPr lang="zh-CN" altLang="en-US" sz="1800" b="1" dirty="0">
                    <a:solidFill>
                      <a:srgbClr val="3366FF"/>
                    </a:solidFill>
                    <a:latin typeface="方正粗黑宋简体" panose="02000000000000000000" pitchFamily="2" charset="-122"/>
                    <a:ea typeface="方正粗黑宋简体" panose="02000000000000000000" pitchFamily="2" charset="-122"/>
                  </a:rPr>
                  <a:t>中点</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b="1" dirty="0">
                    <a:solidFill>
                      <a:srgbClr val="3366FF"/>
                    </a:solidFill>
                    <a:latin typeface="方正粗黑宋简体" panose="02000000000000000000" pitchFamily="2" charset="-122"/>
                    <a:ea typeface="方正粗黑宋简体" panose="02000000000000000000" pitchFamily="2" charset="-122"/>
                  </a:rPr>
                  <a:t>在椭圆内</a:t>
                </a:r>
                <a:r>
                  <a:rPr lang="zh-CN" altLang="en-US" sz="1800" dirty="0">
                    <a:latin typeface="Tahoma" panose="020B0604030504040204" pitchFamily="34" charset="0"/>
                  </a:rPr>
                  <a:t>，下一像素点应选</a:t>
                </a:r>
                <a:r>
                  <a:rPr lang="zh-CN" altLang="en-US" sz="1800" dirty="0" smtClean="0">
                    <a:latin typeface="Tahoma" panose="020B0604030504040204" pitchFamily="34" charset="0"/>
                  </a:rPr>
                  <a:t>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𝒓</m:t>
                        </m:r>
                      </m:sub>
                    </m:sSub>
                  </m:oMath>
                </a14:m>
                <a:r>
                  <a:rPr lang="zh-CN" altLang="en-US" sz="1800" dirty="0">
                    <a:latin typeface="Tahoma" panose="020B0604030504040204" pitchFamily="34" charset="0"/>
                  </a:rPr>
                  <a:t>，即</a:t>
                </a:r>
                <a:r>
                  <a:rPr lang="zh-CN" altLang="en-US" sz="1800" dirty="0" smtClean="0">
                    <a:latin typeface="Tahoma" panose="020B0604030504040204" pitchFamily="34" charset="0"/>
                  </a:rPr>
                  <a:t> </a:t>
                </a:r>
                <a14:m>
                  <m:oMath xmlns:m="http://schemas.openxmlformats.org/officeDocument/2006/math">
                    <m:r>
                      <a:rPr lang="en-US" altLang="zh-CN" sz="1800" b="1" i="1">
                        <a:solidFill>
                          <a:srgbClr val="FF0000"/>
                        </a:solidFill>
                        <a:latin typeface="Cambria Math" panose="02040503050406030204" pitchFamily="18" charset="0"/>
                      </a:rPr>
                      <m:t>𝒙</m:t>
                    </m:r>
                  </m:oMath>
                </a14:m>
                <a:r>
                  <a:rPr lang="zh-CN" altLang="en-US" sz="1800" dirty="0" smtClean="0">
                    <a:latin typeface="Tahoma" panose="020B0604030504040204" pitchFamily="34" charset="0"/>
                  </a:rPr>
                  <a:t> </a:t>
                </a:r>
                <a:r>
                  <a:rPr lang="zh-CN" altLang="en-US" sz="1800" dirty="0">
                    <a:latin typeface="Tahoma" panose="020B0604030504040204" pitchFamily="34" charset="0"/>
                  </a:rPr>
                  <a:t>方向上走一</a:t>
                </a:r>
                <a:r>
                  <a:rPr lang="zh-CN" altLang="en-US" sz="1800" dirty="0" smtClean="0">
                    <a:latin typeface="Tahoma" panose="020B0604030504040204" pitchFamily="34" charset="0"/>
                  </a:rPr>
                  <a:t>步（</a:t>
                </a:r>
                <a:r>
                  <a:rPr lang="en-US" altLang="zh-CN" sz="1800" dirty="0" smtClean="0">
                    <a:latin typeface="Tahoma" panose="020B0604030504040204" pitchFamily="34" charset="0"/>
                  </a:rPr>
                  <a:t>+1</a:t>
                </a:r>
                <a:r>
                  <a:rPr lang="zh-CN" altLang="en-US" sz="1800" dirty="0" smtClean="0">
                    <a:latin typeface="Tahoma" panose="020B0604030504040204" pitchFamily="34" charset="0"/>
                  </a:rPr>
                  <a:t>）；</a:t>
                </a:r>
                <a:endParaRPr lang="en-US" altLang="zh-CN" sz="1800" dirty="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1800" dirty="0">
                    <a:latin typeface="Tahoma" panose="020B0604030504040204" pitchFamily="34" charset="0"/>
                  </a:rPr>
                  <a:t>当</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𝒅</m:t>
                        </m:r>
                      </m:e>
                      <m:sub>
                        <m:r>
                          <a:rPr lang="en-US" altLang="zh-CN" sz="1800" b="1" i="1">
                            <a:solidFill>
                              <a:srgbClr val="FF0000"/>
                            </a:solidFill>
                            <a:latin typeface="Cambria Math" panose="02040503050406030204" pitchFamily="18" charset="0"/>
                          </a:rPr>
                          <m:t>𝟐</m:t>
                        </m:r>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&gt;</m:t>
                    </m:r>
                    <m:r>
                      <a:rPr lang="en-US" altLang="zh-CN" sz="1800" b="1" i="1">
                        <a:solidFill>
                          <a:srgbClr val="FF0000"/>
                        </a:solidFill>
                        <a:latin typeface="Cambria Math" panose="02040503050406030204" pitchFamily="18" charset="0"/>
                      </a:rPr>
                      <m:t>𝟎</m:t>
                    </m:r>
                  </m:oMath>
                </a14:m>
                <a:r>
                  <a:rPr lang="en-US" altLang="zh-CN" sz="1800" dirty="0" smtClean="0">
                    <a:latin typeface="Tahoma" panose="020B0604030504040204" pitchFamily="34" charset="0"/>
                  </a:rPr>
                  <a:t> </a:t>
                </a:r>
                <a:r>
                  <a:rPr lang="zh-CN" altLang="en-US" sz="1800" dirty="0">
                    <a:latin typeface="Tahoma" panose="020B0604030504040204" pitchFamily="34" charset="0"/>
                  </a:rPr>
                  <a:t>时，</a:t>
                </a:r>
                <a:r>
                  <a:rPr lang="zh-CN" altLang="en-US" sz="1800" b="1" dirty="0">
                    <a:solidFill>
                      <a:srgbClr val="3366FF"/>
                    </a:solidFill>
                    <a:latin typeface="方正粗黑宋简体" panose="02000000000000000000" pitchFamily="2" charset="-122"/>
                    <a:ea typeface="方正粗黑宋简体" panose="02000000000000000000" pitchFamily="2" charset="-122"/>
                  </a:rPr>
                  <a:t>中点</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b="1" dirty="0">
                    <a:solidFill>
                      <a:srgbClr val="3366FF"/>
                    </a:solidFill>
                    <a:latin typeface="方正粗黑宋简体" panose="02000000000000000000" pitchFamily="2" charset="-122"/>
                    <a:ea typeface="方正粗黑宋简体" panose="02000000000000000000" pitchFamily="2" charset="-122"/>
                  </a:rPr>
                  <a:t>在椭圆外</a:t>
                </a:r>
                <a:r>
                  <a:rPr lang="zh-CN" altLang="en-US" sz="1800" dirty="0">
                    <a:latin typeface="Tahoma" panose="020B0604030504040204" pitchFamily="34" charset="0"/>
                  </a:rPr>
                  <a:t>，下一像素点应选</a:t>
                </a:r>
                <a:r>
                  <a:rPr lang="zh-CN" altLang="en-US" sz="1800" dirty="0" smtClean="0">
                    <a:latin typeface="Tahoma" panose="020B0604030504040204" pitchFamily="34" charset="0"/>
                  </a:rPr>
                  <a:t>取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𝒍</m:t>
                        </m:r>
                      </m:sub>
                    </m:sSub>
                  </m:oMath>
                </a14:m>
                <a:r>
                  <a:rPr lang="zh-CN" altLang="en-US" sz="1800" dirty="0">
                    <a:latin typeface="Tahoma" panose="020B0604030504040204" pitchFamily="34" charset="0"/>
                  </a:rPr>
                  <a:t>，即</a:t>
                </a:r>
                <a:r>
                  <a:rPr lang="zh-CN" altLang="en-US" sz="1800" dirty="0" smtClean="0">
                    <a:latin typeface="Tahoma" panose="020B0604030504040204" pitchFamily="34" charset="0"/>
                  </a:rPr>
                  <a:t> </a:t>
                </a:r>
                <a14:m>
                  <m:oMath xmlns:m="http://schemas.openxmlformats.org/officeDocument/2006/math">
                    <m:r>
                      <a:rPr lang="en-US" altLang="zh-CN" sz="1800" b="1" i="1">
                        <a:solidFill>
                          <a:srgbClr val="FF0000"/>
                        </a:solidFill>
                        <a:latin typeface="Cambria Math" panose="02040503050406030204" pitchFamily="18" charset="0"/>
                      </a:rPr>
                      <m:t>𝒙</m:t>
                    </m:r>
                  </m:oMath>
                </a14:m>
                <a:r>
                  <a:rPr lang="zh-CN" altLang="en-US" sz="1800" dirty="0" smtClean="0">
                    <a:latin typeface="Tahoma" panose="020B0604030504040204" pitchFamily="34" charset="0"/>
                  </a:rPr>
                  <a:t> </a:t>
                </a:r>
                <a:r>
                  <a:rPr lang="zh-CN" altLang="en-US" sz="1800" dirty="0">
                    <a:latin typeface="Tahoma" panose="020B0604030504040204" pitchFamily="34" charset="0"/>
                  </a:rPr>
                  <a:t>方向上不</a:t>
                </a:r>
                <a:r>
                  <a:rPr lang="zh-CN" altLang="en-US" sz="1800" dirty="0" smtClean="0">
                    <a:latin typeface="Tahoma" panose="020B0604030504040204" pitchFamily="34" charset="0"/>
                  </a:rPr>
                  <a:t>走步（不变）；</a:t>
                </a:r>
                <a:endParaRPr lang="en-US" altLang="zh-CN" sz="1800" dirty="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1800" dirty="0">
                    <a:latin typeface="Tahoma" panose="020B0604030504040204" pitchFamily="34" charset="0"/>
                  </a:rPr>
                  <a:t>当</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𝒅</m:t>
                        </m:r>
                      </m:e>
                      <m:sub>
                        <m:r>
                          <a:rPr lang="en-US" altLang="zh-CN" sz="1800" b="1" i="1">
                            <a:solidFill>
                              <a:srgbClr val="FF0000"/>
                            </a:solidFill>
                            <a:latin typeface="Cambria Math" panose="02040503050406030204" pitchFamily="18" charset="0"/>
                          </a:rPr>
                          <m:t>𝟐</m:t>
                        </m:r>
                        <m:r>
                          <a:rPr lang="en-US" altLang="zh-CN" sz="1800" b="1" i="1">
                            <a:solidFill>
                              <a:srgbClr val="FF0000"/>
                            </a:solidFill>
                            <a:latin typeface="Cambria Math" panose="02040503050406030204" pitchFamily="18" charset="0"/>
                          </a:rPr>
                          <m:t>𝒊</m:t>
                        </m:r>
                      </m:sub>
                    </m:sSub>
                    <m:r>
                      <a:rPr lang="en-US" altLang="zh-CN" sz="1800" b="1" i="1" smtClean="0">
                        <a:solidFill>
                          <a:srgbClr val="FF0000"/>
                        </a:solidFill>
                        <a:latin typeface="Cambria Math" panose="02040503050406030204" pitchFamily="18" charset="0"/>
                      </a:rPr>
                      <m:t>=</m:t>
                    </m:r>
                    <m:r>
                      <a:rPr lang="en-US" altLang="zh-CN" sz="1800" b="1" i="1">
                        <a:solidFill>
                          <a:srgbClr val="FF0000"/>
                        </a:solidFill>
                        <a:latin typeface="Cambria Math" panose="02040503050406030204" pitchFamily="18" charset="0"/>
                      </a:rPr>
                      <m:t>𝟎</m:t>
                    </m:r>
                  </m:oMath>
                </a14:m>
                <a:r>
                  <a:rPr lang="en-US" altLang="zh-CN" sz="1800" dirty="0" smtClean="0">
                    <a:latin typeface="Tahoma" panose="020B0604030504040204" pitchFamily="34" charset="0"/>
                  </a:rPr>
                  <a:t> </a:t>
                </a:r>
                <a:r>
                  <a:rPr lang="zh-CN" altLang="en-US" sz="1800" dirty="0">
                    <a:latin typeface="Tahoma" panose="020B0604030504040204" pitchFamily="34" charset="0"/>
                  </a:rPr>
                  <a:t>时，</a:t>
                </a:r>
                <a:r>
                  <a:rPr lang="zh-CN" altLang="en-US" sz="1800" b="1" dirty="0">
                    <a:solidFill>
                      <a:srgbClr val="3366FF"/>
                    </a:solidFill>
                    <a:latin typeface="方正粗黑宋简体" panose="02000000000000000000" pitchFamily="2" charset="-122"/>
                    <a:ea typeface="方正粗黑宋简体" panose="02000000000000000000" pitchFamily="2" charset="-122"/>
                  </a:rPr>
                  <a:t>中点</a:t>
                </a:r>
                <a14:m>
                  <m:oMath xmlns:m="http://schemas.openxmlformats.org/officeDocument/2006/math">
                    <m:r>
                      <a:rPr lang="en-US" altLang="zh-CN" sz="1800" b="1" i="1">
                        <a:solidFill>
                          <a:srgbClr val="FF0000"/>
                        </a:solidFill>
                        <a:latin typeface="Cambria Math" panose="02040503050406030204" pitchFamily="18" charset="0"/>
                      </a:rPr>
                      <m:t>𝑴</m:t>
                    </m:r>
                  </m:oMath>
                </a14:m>
                <a:r>
                  <a:rPr lang="zh-CN" altLang="en-US" sz="1800" b="1" dirty="0">
                    <a:solidFill>
                      <a:srgbClr val="3366FF"/>
                    </a:solidFill>
                    <a:latin typeface="方正粗黑宋简体" panose="02000000000000000000" pitchFamily="2" charset="-122"/>
                    <a:ea typeface="方正粗黑宋简体" panose="02000000000000000000" pitchFamily="2" charset="-122"/>
                  </a:rPr>
                  <a:t>在椭圆上</a:t>
                </a:r>
                <a:r>
                  <a:rPr lang="zh-CN" altLang="en-US" sz="1800" dirty="0">
                    <a:latin typeface="Tahoma" panose="020B0604030504040204" pitchFamily="34" charset="0"/>
                  </a:rPr>
                  <a:t>，</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𝒍</m:t>
                        </m:r>
                      </m:sub>
                    </m:sSub>
                  </m:oMath>
                </a14:m>
                <a:r>
                  <a:rPr lang="zh-CN" altLang="en-US" sz="1800" dirty="0">
                    <a:latin typeface="Tahoma" panose="020B0604030504040204" pitchFamily="34" charset="0"/>
                  </a:rPr>
                  <a:t>、</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𝒓</m:t>
                        </m:r>
                      </m:sub>
                    </m:sSub>
                  </m:oMath>
                </a14:m>
                <a:r>
                  <a:rPr lang="zh-CN" altLang="en-US" sz="1800" dirty="0">
                    <a:latin typeface="Tahoma" panose="020B0604030504040204" pitchFamily="34" charset="0"/>
                  </a:rPr>
                  <a:t>和椭圆的距离相等，选取</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𝒍</m:t>
                        </m:r>
                      </m:sub>
                    </m:sSub>
                  </m:oMath>
                </a14:m>
                <a:r>
                  <a:rPr lang="zh-CN" altLang="en-US" sz="1800" dirty="0">
                    <a:latin typeface="Tahoma" panose="020B0604030504040204" pitchFamily="34" charset="0"/>
                  </a:rPr>
                  <a:t>或</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𝒓</m:t>
                        </m:r>
                      </m:sub>
                    </m:sSub>
                  </m:oMath>
                </a14:m>
                <a:r>
                  <a:rPr lang="zh-CN" altLang="en-US" sz="1800" dirty="0">
                    <a:latin typeface="Tahoma" panose="020B0604030504040204" pitchFamily="34" charset="0"/>
                  </a:rPr>
                  <a:t>均可，约定取</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a:solidFill>
                              <a:srgbClr val="FF0000"/>
                            </a:solidFill>
                            <a:latin typeface="Cambria Math" panose="02040503050406030204" pitchFamily="18" charset="0"/>
                          </a:rPr>
                          <m:t>𝒍</m:t>
                        </m:r>
                      </m:sub>
                    </m:sSub>
                  </m:oMath>
                </a14:m>
                <a:r>
                  <a:rPr lang="zh-CN" altLang="en-US" sz="1800" dirty="0">
                    <a:latin typeface="Tahoma" panose="020B0604030504040204" pitchFamily="34" charset="0"/>
                  </a:rPr>
                  <a:t>。</a:t>
                </a:r>
              </a:p>
            </p:txBody>
          </p:sp>
        </mc:Choice>
        <mc:Fallback>
          <p:sp>
            <p:nvSpPr>
              <p:cNvPr id="46089" name="Rectangle 12"/>
              <p:cNvSpPr>
                <a:spLocks noRot="1" noChangeAspect="1" noMove="1" noResize="1" noEditPoints="1" noAdjustHandles="1" noChangeArrowheads="1" noChangeShapeType="1" noTextEdit="1"/>
              </p:cNvSpPr>
              <p:nvPr/>
            </p:nvSpPr>
            <p:spPr bwMode="auto">
              <a:xfrm>
                <a:off x="251618" y="4141788"/>
                <a:ext cx="8640763" cy="2585323"/>
              </a:xfrm>
              <a:prstGeom prst="rect">
                <a:avLst/>
              </a:prstGeom>
              <a:blipFill>
                <a:blip r:embed="rId11"/>
                <a:stretch>
                  <a:fillRect l="-42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ChangeArrowheads="1"/>
          </p:cNvSpPr>
          <p:nvPr/>
        </p:nvSpPr>
        <p:spPr bwMode="auto">
          <a:xfrm>
            <a:off x="1258888" y="404813"/>
            <a:ext cx="5759450"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a:effectLst>
                  <a:outerShdw blurRad="38100" dist="38100" dir="2700000" algn="tl">
                    <a:srgbClr val="C0C0C0"/>
                  </a:outerShdw>
                </a:effectLst>
                <a:latin typeface="楷体_GB2312" pitchFamily="49" charset="-122"/>
              </a:rPr>
              <a:t>3.3.5 </a:t>
            </a:r>
            <a:r>
              <a:rPr lang="zh-CN" altLang="en-US" sz="3200" b="1">
                <a:effectLst>
                  <a:outerShdw blurRad="38100" dist="38100" dir="2700000" algn="tl">
                    <a:srgbClr val="C0C0C0"/>
                  </a:outerShdw>
                </a:effectLst>
                <a:latin typeface="楷体_GB2312" pitchFamily="49" charset="-122"/>
              </a:rPr>
              <a:t>下半部分</a:t>
            </a:r>
            <a:r>
              <a:rPr lang="en-US" b="1">
                <a:effectLst>
                  <a:outerShdw blurRad="38100" dist="38100" dir="2700000" algn="tl">
                    <a:srgbClr val="C0C0C0"/>
                  </a:outerShdw>
                </a:effectLst>
              </a:rPr>
              <a:t>Ⅱ</a:t>
            </a:r>
            <a:r>
              <a:rPr lang="zh-CN" altLang="en-US" sz="3200" b="1">
                <a:effectLst>
                  <a:outerShdw blurRad="38100" dist="38100" dir="2700000" algn="tl">
                    <a:srgbClr val="C0C0C0"/>
                  </a:outerShdw>
                </a:effectLst>
                <a:latin typeface="楷体_GB2312" pitchFamily="49" charset="-122"/>
              </a:rPr>
              <a:t>的递推公式</a:t>
            </a:r>
            <a:r>
              <a:rPr lang="zh-CN" altLang="en-US"/>
              <a:t> </a:t>
            </a:r>
          </a:p>
        </p:txBody>
      </p:sp>
      <p:sp>
        <p:nvSpPr>
          <p:cNvPr id="47107" name="Rectangle 8"/>
          <p:cNvSpPr>
            <a:spLocks noChangeArrowheads="1"/>
          </p:cNvSpPr>
          <p:nvPr/>
        </p:nvSpPr>
        <p:spPr bwMode="auto">
          <a:xfrm>
            <a:off x="0" y="3105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47108" name="Rectangle 12"/>
          <p:cNvSpPr>
            <a:spLocks noChangeArrowheads="1"/>
          </p:cNvSpPr>
          <p:nvPr/>
        </p:nvSpPr>
        <p:spPr bwMode="auto">
          <a:xfrm>
            <a:off x="250825" y="1508195"/>
            <a:ext cx="85899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zh-CN" altLang="en-US" sz="2000" dirty="0" smtClean="0">
                <a:latin typeface="楷体_GB2312" pitchFamily="49" charset="-122"/>
              </a:rPr>
              <a:t>现在</a:t>
            </a:r>
            <a:r>
              <a:rPr lang="zh-CN" altLang="en-US" sz="2000" dirty="0">
                <a:latin typeface="楷体_GB2312" pitchFamily="49" charset="-122"/>
              </a:rPr>
              <a:t>如果考虑主位移方向再走一步，应该选择哪个中点代入中点误差项以决定应该</a:t>
            </a:r>
            <a:r>
              <a:rPr lang="zh-CN" altLang="en-US" sz="2000" dirty="0">
                <a:latin typeface="楷体_GB2312" pitchFamily="49" charset="-122"/>
                <a:ea typeface="宋体" panose="02010600030101010101" pitchFamily="2" charset="-122"/>
              </a:rPr>
              <a:t>选取</a:t>
            </a:r>
            <a:r>
              <a:rPr lang="zh-CN" altLang="en-US" sz="2000" dirty="0">
                <a:latin typeface="楷体_GB2312" pitchFamily="49" charset="-122"/>
              </a:rPr>
              <a:t>的像素。分两种情况讨论。</a:t>
            </a:r>
          </a:p>
        </p:txBody>
      </p:sp>
      <p:sp>
        <p:nvSpPr>
          <p:cNvPr id="47109" name="Rectangle 14"/>
          <p:cNvSpPr>
            <a:spLocks noChangeArrowheads="1"/>
          </p:cNvSpPr>
          <p:nvPr/>
        </p:nvSpPr>
        <p:spPr bwMode="auto">
          <a:xfrm>
            <a:off x="0" y="2362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7110" name="Object 13"/>
          <p:cNvGraphicFramePr>
            <a:graphicFrameLocks noChangeAspect="1"/>
          </p:cNvGraphicFramePr>
          <p:nvPr>
            <p:extLst>
              <p:ext uri="{D42A27DB-BD31-4B8C-83A1-F6EECF244321}">
                <p14:modId xmlns:p14="http://schemas.microsoft.com/office/powerpoint/2010/main" val="1847310960"/>
              </p:ext>
            </p:extLst>
          </p:nvPr>
        </p:nvGraphicFramePr>
        <p:xfrm>
          <a:off x="1980611" y="2968356"/>
          <a:ext cx="2663825" cy="2663825"/>
        </p:xfrm>
        <a:graphic>
          <a:graphicData uri="http://schemas.openxmlformats.org/presentationml/2006/ole">
            <mc:AlternateContent xmlns:mc="http://schemas.openxmlformats.org/markup-compatibility/2006">
              <mc:Choice xmlns:v="urn:schemas-microsoft-com:vml" Requires="v">
                <p:oleObj spid="_x0000_s47200" r:id="rId3" imgW="3457080" imgH="3457080" progId="Visio.Drawing.11">
                  <p:embed/>
                </p:oleObj>
              </mc:Choice>
              <mc:Fallback>
                <p:oleObj r:id="rId3" imgW="3457080" imgH="3457080" progId="Visio.Drawing.11">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0611" y="2968356"/>
                        <a:ext cx="26638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1" name="Rectangle 16"/>
          <p:cNvSpPr>
            <a:spLocks noChangeArrowheads="1"/>
          </p:cNvSpPr>
          <p:nvPr/>
        </p:nvSpPr>
        <p:spPr bwMode="auto">
          <a:xfrm>
            <a:off x="0" y="2386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7112" name="Object 15"/>
          <p:cNvGraphicFramePr>
            <a:graphicFrameLocks noChangeAspect="1"/>
          </p:cNvGraphicFramePr>
          <p:nvPr>
            <p:extLst>
              <p:ext uri="{D42A27DB-BD31-4B8C-83A1-F6EECF244321}">
                <p14:modId xmlns:p14="http://schemas.microsoft.com/office/powerpoint/2010/main" val="348438093"/>
              </p:ext>
            </p:extLst>
          </p:nvPr>
        </p:nvGraphicFramePr>
        <p:xfrm>
          <a:off x="5908415" y="2984769"/>
          <a:ext cx="2447925" cy="2447925"/>
        </p:xfrm>
        <a:graphic>
          <a:graphicData uri="http://schemas.openxmlformats.org/presentationml/2006/ole">
            <mc:AlternateContent xmlns:mc="http://schemas.openxmlformats.org/markup-compatibility/2006">
              <mc:Choice xmlns:v="urn:schemas-microsoft-com:vml" Requires="v">
                <p:oleObj spid="_x0000_s47201" r:id="rId5" imgW="3457080" imgH="3457080" progId="Visio.Drawing.11">
                  <p:embed/>
                </p:oleObj>
              </mc:Choice>
              <mc:Fallback>
                <p:oleObj r:id="rId5" imgW="3457080" imgH="3457080" progId="Visio.Drawing.11">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8415" y="2984769"/>
                        <a:ext cx="244792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7113" name="Rectangle 17"/>
              <p:cNvSpPr>
                <a:spLocks noChangeArrowheads="1"/>
              </p:cNvSpPr>
              <p:nvPr/>
            </p:nvSpPr>
            <p:spPr bwMode="auto">
              <a:xfrm>
                <a:off x="2267744" y="5677679"/>
                <a:ext cx="5734647" cy="7694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nchor="ctr">
                <a:spAutoFit/>
              </a:bodyPr>
              <a:lstStyle>
                <a:lvl1pPr indent="265113">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10000"/>
                  </a:lnSpc>
                  <a:spcBef>
                    <a:spcPct val="0"/>
                  </a:spcBef>
                  <a:buNone/>
                </a:pPr>
                <a:r>
                  <a:rPr lang="zh-CN" altLang="en-US" sz="2000" dirty="0" smtClean="0">
                    <a:latin typeface="楷体_GB2312" pitchFamily="49" charset="-122"/>
                  </a:rPr>
                  <a:t>（</a:t>
                </a:r>
                <a:r>
                  <a:rPr lang="en-US" altLang="zh-CN" sz="2000" dirty="0">
                    <a:latin typeface="楷体_GB2312" pitchFamily="49" charset="-122"/>
                  </a:rPr>
                  <a:t>a</a:t>
                </a:r>
                <a:r>
                  <a:rPr lang="zh-CN" altLang="en-US" sz="2000" dirty="0">
                    <a:latin typeface="楷体_GB2312" pitchFamily="49" charset="-122"/>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&lt;</m:t>
                    </m:r>
                    <m:r>
                      <a:rPr lang="en-US" altLang="zh-CN" sz="2000" b="1" i="1" smtClean="0">
                        <a:solidFill>
                          <a:srgbClr val="FF0000"/>
                        </a:solidFill>
                        <a:latin typeface="Cambria Math" panose="02040503050406030204" pitchFamily="18" charset="0"/>
                      </a:rPr>
                      <m:t>𝟎</m:t>
                    </m:r>
                  </m:oMath>
                </a14:m>
                <a:r>
                  <a:rPr lang="en-US" altLang="zh-CN" sz="2000" dirty="0">
                    <a:latin typeface="楷体_GB2312" pitchFamily="49" charset="-122"/>
                  </a:rPr>
                  <a:t>            </a:t>
                </a:r>
                <a:r>
                  <a:rPr lang="en-US" altLang="zh-CN" sz="2000" dirty="0" smtClean="0">
                    <a:latin typeface="楷体_GB2312" pitchFamily="49" charset="-122"/>
                  </a:rPr>
                  <a:t>      </a:t>
                </a:r>
                <a:r>
                  <a:rPr lang="zh-CN" altLang="en-US" sz="2000" dirty="0">
                    <a:latin typeface="楷体_GB2312" pitchFamily="49" charset="-122"/>
                  </a:rPr>
                  <a:t>（</a:t>
                </a:r>
                <a:r>
                  <a:rPr lang="en-US" altLang="zh-CN" sz="2000" dirty="0">
                    <a:latin typeface="楷体_GB2312" pitchFamily="49" charset="-122"/>
                  </a:rPr>
                  <a:t>b</a:t>
                </a:r>
                <a:r>
                  <a:rPr lang="zh-CN" altLang="en-US" sz="2000" dirty="0">
                    <a:latin typeface="楷体_GB2312" pitchFamily="49" charset="-122"/>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rPr>
                      <m:t>𝟎</m:t>
                    </m:r>
                  </m:oMath>
                </a14:m>
                <a:endParaRPr lang="en-US" altLang="zh-CN" sz="2000" dirty="0">
                  <a:latin typeface="楷体_GB2312" pitchFamily="49" charset="-122"/>
                </a:endParaRPr>
              </a:p>
              <a:p>
                <a:pPr algn="ctr" eaLnBrk="1" hangingPunct="1">
                  <a:lnSpc>
                    <a:spcPct val="110000"/>
                  </a:lnSpc>
                  <a:spcBef>
                    <a:spcPct val="0"/>
                  </a:spcBef>
                  <a:buFont typeface="Arial" panose="020B0604020202020204" pitchFamily="34" charset="0"/>
                  <a:buNone/>
                </a:pPr>
                <a:r>
                  <a:rPr lang="zh-CN" altLang="en-US" sz="2000" dirty="0">
                    <a:latin typeface="楷体_GB2312" pitchFamily="49" charset="-122"/>
                  </a:rPr>
                  <a:t>下半部分中点的递推</a:t>
                </a:r>
              </a:p>
            </p:txBody>
          </p:sp>
        </mc:Choice>
        <mc:Fallback xmlns="">
          <p:sp>
            <p:nvSpPr>
              <p:cNvPr id="47113" name="Rectangle 17"/>
              <p:cNvSpPr>
                <a:spLocks noRot="1" noChangeAspect="1" noMove="1" noResize="1" noEditPoints="1" noAdjustHandles="1" noChangeArrowheads="1" noChangeShapeType="1" noTextEdit="1"/>
              </p:cNvSpPr>
              <p:nvPr/>
            </p:nvSpPr>
            <p:spPr bwMode="auto">
              <a:xfrm>
                <a:off x="2267744" y="5677679"/>
                <a:ext cx="5734647" cy="769441"/>
              </a:xfrm>
              <a:prstGeom prst="rect">
                <a:avLst/>
              </a:prstGeom>
              <a:blipFill>
                <a:blip r:embed="rId7"/>
                <a:stretch>
                  <a:fillRect t="-5512" b="-787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50768" y="2997200"/>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50768" y="2997200"/>
                <a:ext cx="1416222" cy="461665"/>
              </a:xfrm>
              <a:prstGeom prst="rect">
                <a:avLst/>
              </a:prstGeom>
              <a:blipFill>
                <a:blip r:embed="rId8"/>
                <a:stretch>
                  <a:fillRect b="-14667"/>
                </a:stretch>
              </a:blipFill>
            </p:spPr>
            <p:txBody>
              <a:bodyPr/>
              <a:lstStyle/>
              <a:p>
                <a:r>
                  <a:rPr lang="zh-CN" altLang="en-US">
                    <a:noFill/>
                  </a:rPr>
                  <a:t> </a:t>
                </a:r>
              </a:p>
            </p:txBody>
          </p:sp>
        </mc:Fallback>
      </mc:AlternateContent>
      <p:cxnSp>
        <p:nvCxnSpPr>
          <p:cNvPr id="15" name="直接箭头连接符 14"/>
          <p:cNvCxnSpPr/>
          <p:nvPr/>
        </p:nvCxnSpPr>
        <p:spPr>
          <a:xfrm>
            <a:off x="1462352" y="3371380"/>
            <a:ext cx="1041263" cy="2319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4660531" y="4055509"/>
                <a:ext cx="126142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4660531" y="4055509"/>
                <a:ext cx="1261424" cy="461665"/>
              </a:xfrm>
              <a:prstGeom prst="rect">
                <a:avLst/>
              </a:prstGeom>
              <a:blipFill>
                <a:blip r:embed="rId9"/>
                <a:stretch>
                  <a:fillRect l="-1456" b="-13158"/>
                </a:stretch>
              </a:blipFill>
            </p:spPr>
            <p:txBody>
              <a:bodyPr/>
              <a:lstStyle/>
              <a:p>
                <a:r>
                  <a:rPr lang="zh-CN" altLang="en-US">
                    <a:noFill/>
                  </a:rPr>
                  <a:t> </a:t>
                </a:r>
              </a:p>
            </p:txBody>
          </p:sp>
        </mc:Fallback>
      </mc:AlternateContent>
      <p:cxnSp>
        <p:nvCxnSpPr>
          <p:cNvPr id="18" name="直接箭头连接符 17"/>
          <p:cNvCxnSpPr/>
          <p:nvPr/>
        </p:nvCxnSpPr>
        <p:spPr>
          <a:xfrm flipV="1">
            <a:off x="5534041" y="3687082"/>
            <a:ext cx="854587" cy="4373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矩形 3"/>
              <p:cNvSpPr/>
              <p:nvPr/>
            </p:nvSpPr>
            <p:spPr>
              <a:xfrm>
                <a:off x="2123728" y="2344766"/>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123728" y="2344766"/>
                <a:ext cx="2884123" cy="461665"/>
              </a:xfrm>
              <a:prstGeom prst="rect">
                <a:avLst/>
              </a:prstGeom>
              <a:blipFill>
                <a:blip r:embed="rId10"/>
                <a:stretch>
                  <a:fillRect b="-14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576276" y="2351384"/>
                <a:ext cx="28841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𝑴</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e>
                      </m:d>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5576276" y="2351384"/>
                <a:ext cx="2884123" cy="461665"/>
              </a:xfrm>
              <a:prstGeom prst="rect">
                <a:avLst/>
              </a:prstGeom>
              <a:blipFill>
                <a:blip r:embed="rId11"/>
                <a:stretch>
                  <a:fillRect b="-14667"/>
                </a:stretch>
              </a:blipFill>
            </p:spPr>
            <p:txBody>
              <a:bodyPr/>
              <a:lstStyle/>
              <a:p>
                <a:r>
                  <a:rPr lang="zh-CN" altLang="en-US">
                    <a:noFill/>
                  </a:rPr>
                  <a:t> </a:t>
                </a:r>
              </a:p>
            </p:txBody>
          </p:sp>
        </mc:Fallback>
      </mc:AlternateContent>
      <p:cxnSp>
        <p:nvCxnSpPr>
          <p:cNvPr id="22" name="直接箭头连接符 21"/>
          <p:cNvCxnSpPr/>
          <p:nvPr/>
        </p:nvCxnSpPr>
        <p:spPr>
          <a:xfrm flipH="1">
            <a:off x="6870626" y="2864064"/>
            <a:ext cx="814136" cy="18422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3635896" y="2823349"/>
            <a:ext cx="153953" cy="19519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8130" name="Rectangle 4"/>
              <p:cNvSpPr>
                <a:spLocks noChangeArrowheads="1"/>
              </p:cNvSpPr>
              <p:nvPr/>
            </p:nvSpPr>
            <p:spPr bwMode="auto">
              <a:xfrm>
                <a:off x="323850" y="566807"/>
                <a:ext cx="8569325"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r>
                  <a:rPr lang="zh-CN" altLang="en-US" sz="2000" dirty="0">
                    <a:latin typeface="楷体_GB2312" pitchFamily="49" charset="-122"/>
                  </a:rPr>
                  <a:t>⑴</a:t>
                </a:r>
                <a:r>
                  <a:rPr lang="zh-CN" altLang="en-US" sz="2000" dirty="0" smtClean="0">
                    <a:latin typeface="楷体_GB2312" pitchFamily="49" charset="-122"/>
                  </a:rPr>
                  <a:t>当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&lt;</m:t>
                    </m:r>
                    <m:r>
                      <a:rPr lang="en-US" altLang="zh-CN" sz="2000" b="1" i="1">
                        <a:solidFill>
                          <a:srgbClr val="FF0000"/>
                        </a:solidFill>
                        <a:latin typeface="Cambria Math" panose="02040503050406030204" pitchFamily="18" charset="0"/>
                      </a:rPr>
                      <m:t>𝟎</m:t>
                    </m:r>
                  </m:oMath>
                </a14:m>
                <a:r>
                  <a:rPr lang="zh-CN" altLang="en-US" sz="2000" dirty="0">
                    <a:latin typeface="楷体_GB2312" pitchFamily="49" charset="-122"/>
                  </a:rPr>
                  <a:t>，</a:t>
                </a:r>
                <a:r>
                  <a:rPr lang="zh-CN" altLang="en-US" sz="2000" dirty="0">
                    <a:latin typeface="Tahoma" panose="020B0604030504040204" pitchFamily="34" charset="0"/>
                  </a:rPr>
                  <a:t>下一步的</a:t>
                </a:r>
                <a:r>
                  <a:rPr lang="zh-CN" altLang="en-US" sz="2000" b="1" dirty="0">
                    <a:solidFill>
                      <a:srgbClr val="3366FF"/>
                    </a:solidFill>
                    <a:latin typeface="方正粗黑宋简体" panose="02000000000000000000" pitchFamily="2" charset="-122"/>
                    <a:ea typeface="方正粗黑宋简体" panose="02000000000000000000" pitchFamily="2" charset="-122"/>
                  </a:rPr>
                  <a:t>中点坐标为</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𝟐</m:t>
                        </m:r>
                      </m:e>
                    </m:d>
                  </m:oMath>
                </a14:m>
                <a:r>
                  <a:rPr lang="zh-CN" altLang="en-US" sz="2000" dirty="0">
                    <a:latin typeface="Tahoma" panose="020B0604030504040204" pitchFamily="34" charset="0"/>
                  </a:rPr>
                  <a:t>，下一步中点误差项为</a:t>
                </a:r>
                <a:r>
                  <a:rPr lang="zh-CN" altLang="en-US" sz="2000" dirty="0">
                    <a:latin typeface="楷体_GB2312" pitchFamily="49" charset="-122"/>
                  </a:rPr>
                  <a:t>        </a:t>
                </a:r>
              </a:p>
            </p:txBody>
          </p:sp>
        </mc:Choice>
        <mc:Fallback xmlns="">
          <p:sp>
            <p:nvSpPr>
              <p:cNvPr id="48130" name="Rectangle 4"/>
              <p:cNvSpPr>
                <a:spLocks noRot="1" noChangeAspect="1" noMove="1" noResize="1" noEditPoints="1" noAdjustHandles="1" noChangeArrowheads="1" noChangeShapeType="1" noTextEdit="1"/>
              </p:cNvSpPr>
              <p:nvPr/>
            </p:nvSpPr>
            <p:spPr bwMode="auto">
              <a:xfrm>
                <a:off x="323850" y="566807"/>
                <a:ext cx="8569325" cy="707886"/>
              </a:xfrm>
              <a:prstGeom prst="rect">
                <a:avLst/>
              </a:prstGeom>
              <a:blipFill>
                <a:blip r:embed="rId3"/>
                <a:stretch>
                  <a:fillRect l="-711" t="-7759" b="-155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8131" name="Rectangle 6"/>
          <p:cNvSpPr>
            <a:spLocks noChangeArrowheads="1"/>
          </p:cNvSpPr>
          <p:nvPr/>
        </p:nvSpPr>
        <p:spPr bwMode="auto">
          <a:xfrm>
            <a:off x="0" y="3100358"/>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000">
              <a:latin typeface="Tahoma" panose="020B0604030504040204" pitchFamily="34" charset="0"/>
            </a:endParaRPr>
          </a:p>
        </p:txBody>
      </p:sp>
      <p:graphicFrame>
        <p:nvGraphicFramePr>
          <p:cNvPr id="48132" name="Object 4"/>
          <p:cNvGraphicFramePr>
            <a:graphicFrameLocks noChangeAspect="1"/>
          </p:cNvGraphicFramePr>
          <p:nvPr>
            <p:extLst>
              <p:ext uri="{D42A27DB-BD31-4B8C-83A1-F6EECF244321}">
                <p14:modId xmlns:p14="http://schemas.microsoft.com/office/powerpoint/2010/main" val="3434773614"/>
              </p:ext>
            </p:extLst>
          </p:nvPr>
        </p:nvGraphicFramePr>
        <p:xfrm>
          <a:off x="1403350" y="1341438"/>
          <a:ext cx="6672263" cy="469900"/>
        </p:xfrm>
        <a:graphic>
          <a:graphicData uri="http://schemas.openxmlformats.org/presentationml/2006/ole">
            <mc:AlternateContent xmlns:mc="http://schemas.openxmlformats.org/markup-compatibility/2006">
              <mc:Choice xmlns:v="urn:schemas-microsoft-com:vml" Requires="v">
                <p:oleObj spid="_x0000_s48392" r:id="rId4" imgW="3654428" imgH="253780" progId="Equation.3">
                  <p:embed/>
                </p:oleObj>
              </mc:Choice>
              <mc:Fallback>
                <p:oleObj r:id="rId4" imgW="3654428" imgH="2537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341438"/>
                        <a:ext cx="66722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3" name="Rectangle 10"/>
          <p:cNvSpPr>
            <a:spLocks noChangeArrowheads="1"/>
          </p:cNvSpPr>
          <p:nvPr/>
        </p:nvSpPr>
        <p:spPr bwMode="auto">
          <a:xfrm>
            <a:off x="0" y="3109883"/>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000">
              <a:latin typeface="Tahoma" panose="020B0604030504040204" pitchFamily="34" charset="0"/>
            </a:endParaRPr>
          </a:p>
        </p:txBody>
      </p:sp>
      <p:graphicFrame>
        <p:nvGraphicFramePr>
          <p:cNvPr id="48134" name="Object 6"/>
          <p:cNvGraphicFramePr>
            <a:graphicFrameLocks noChangeAspect="1"/>
          </p:cNvGraphicFramePr>
          <p:nvPr>
            <p:extLst>
              <p:ext uri="{D42A27DB-BD31-4B8C-83A1-F6EECF244321}">
                <p14:modId xmlns:p14="http://schemas.microsoft.com/office/powerpoint/2010/main" val="4136139127"/>
              </p:ext>
            </p:extLst>
          </p:nvPr>
        </p:nvGraphicFramePr>
        <p:xfrm>
          <a:off x="1692275" y="1989138"/>
          <a:ext cx="7218363" cy="455612"/>
        </p:xfrm>
        <a:graphic>
          <a:graphicData uri="http://schemas.openxmlformats.org/presentationml/2006/ole">
            <mc:AlternateContent xmlns:mc="http://schemas.openxmlformats.org/markup-compatibility/2006">
              <mc:Choice xmlns:v="urn:schemas-microsoft-com:vml" Requires="v">
                <p:oleObj spid="_x0000_s48393" r:id="rId6" imgW="3770264" imgH="241195" progId="Equation.3">
                  <p:embed/>
                </p:oleObj>
              </mc:Choice>
              <mc:Fallback>
                <p:oleObj r:id="rId6" imgW="3770264" imgH="24119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1989138"/>
                        <a:ext cx="721836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5" name="Rectangle 14"/>
          <p:cNvSpPr>
            <a:spLocks noChangeArrowheads="1"/>
          </p:cNvSpPr>
          <p:nvPr/>
        </p:nvSpPr>
        <p:spPr bwMode="auto">
          <a:xfrm>
            <a:off x="0" y="3109883"/>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000">
              <a:latin typeface="Tahoma" panose="020B0604030504040204" pitchFamily="34" charset="0"/>
            </a:endParaRPr>
          </a:p>
        </p:txBody>
      </p:sp>
      <p:graphicFrame>
        <p:nvGraphicFramePr>
          <p:cNvPr id="48136" name="Object 8"/>
          <p:cNvGraphicFramePr>
            <a:graphicFrameLocks noChangeAspect="1"/>
          </p:cNvGraphicFramePr>
          <p:nvPr>
            <p:extLst>
              <p:ext uri="{D42A27DB-BD31-4B8C-83A1-F6EECF244321}">
                <p14:modId xmlns:p14="http://schemas.microsoft.com/office/powerpoint/2010/main" val="101907506"/>
              </p:ext>
            </p:extLst>
          </p:nvPr>
        </p:nvGraphicFramePr>
        <p:xfrm>
          <a:off x="1692275" y="2708275"/>
          <a:ext cx="4606925" cy="541338"/>
        </p:xfrm>
        <a:graphic>
          <a:graphicData uri="http://schemas.openxmlformats.org/presentationml/2006/ole">
            <mc:AlternateContent xmlns:mc="http://schemas.openxmlformats.org/markup-compatibility/2006">
              <mc:Choice xmlns:v="urn:schemas-microsoft-com:vml" Requires="v">
                <p:oleObj spid="_x0000_s48394" r:id="rId8" imgW="2019300" imgH="241300" progId="Equation.3">
                  <p:embed/>
                </p:oleObj>
              </mc:Choice>
              <mc:Fallback>
                <p:oleObj r:id="rId8" imgW="2019300" imgH="2413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2708275"/>
                        <a:ext cx="460692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7" name="Rectangle 15"/>
          <p:cNvSpPr>
            <a:spLocks noChangeArrowheads="1"/>
          </p:cNvSpPr>
          <p:nvPr/>
        </p:nvSpPr>
        <p:spPr bwMode="auto">
          <a:xfrm>
            <a:off x="7643813" y="2809845"/>
            <a:ext cx="12891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a:latin typeface="Tahoma" panose="020B0604030504040204" pitchFamily="34" charset="0"/>
              </a:rPr>
              <a:t>（</a:t>
            </a:r>
            <a:r>
              <a:rPr lang="en-US" altLang="zh-CN" sz="2000">
                <a:latin typeface="Tahoma" panose="020B0604030504040204" pitchFamily="34" charset="0"/>
              </a:rPr>
              <a:t>3-22</a:t>
            </a:r>
            <a:r>
              <a:rPr lang="zh-CN" altLang="en-US" sz="2000">
                <a:latin typeface="Tahoma" panose="020B0604030504040204" pitchFamily="34" charset="0"/>
              </a:rPr>
              <a:t>） </a:t>
            </a:r>
          </a:p>
        </p:txBody>
      </p:sp>
      <p:sp>
        <p:nvSpPr>
          <p:cNvPr id="48138" name="Rectangle 18"/>
          <p:cNvSpPr>
            <a:spLocks noChangeArrowheads="1"/>
          </p:cNvSpPr>
          <p:nvPr/>
        </p:nvSpPr>
        <p:spPr bwMode="auto">
          <a:xfrm>
            <a:off x="0" y="3100358"/>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000">
              <a:latin typeface="Tahoma" panose="020B0604030504040204" pitchFamily="34" charset="0"/>
            </a:endParaRPr>
          </a:p>
        </p:txBody>
      </p:sp>
      <p:graphicFrame>
        <p:nvGraphicFramePr>
          <p:cNvPr id="48139" name="Object 11"/>
          <p:cNvGraphicFramePr>
            <a:graphicFrameLocks noChangeAspect="1"/>
          </p:cNvGraphicFramePr>
          <p:nvPr>
            <p:extLst>
              <p:ext uri="{D42A27DB-BD31-4B8C-83A1-F6EECF244321}">
                <p14:modId xmlns:p14="http://schemas.microsoft.com/office/powerpoint/2010/main" val="4086061499"/>
              </p:ext>
            </p:extLst>
          </p:nvPr>
        </p:nvGraphicFramePr>
        <p:xfrm>
          <a:off x="1547813" y="4483100"/>
          <a:ext cx="7345362" cy="487363"/>
        </p:xfrm>
        <a:graphic>
          <a:graphicData uri="http://schemas.openxmlformats.org/presentationml/2006/ole">
            <mc:AlternateContent xmlns:mc="http://schemas.openxmlformats.org/markup-compatibility/2006">
              <mc:Choice xmlns:v="urn:schemas-microsoft-com:vml" Requires="v">
                <p:oleObj spid="_x0000_s48395" r:id="rId10" imgW="3873500" imgH="254000" progId="Equation.3">
                  <p:embed/>
                </p:oleObj>
              </mc:Choice>
              <mc:Fallback>
                <p:oleObj r:id="rId10" imgW="3873500" imgH="2540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813" y="4483100"/>
                        <a:ext cx="73453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40" name="Rectangle 20"/>
          <p:cNvSpPr>
            <a:spLocks noChangeArrowheads="1"/>
          </p:cNvSpPr>
          <p:nvPr/>
        </p:nvSpPr>
        <p:spPr bwMode="auto">
          <a:xfrm>
            <a:off x="0" y="3109883"/>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000">
              <a:latin typeface="Tahoma" panose="020B0604030504040204" pitchFamily="34" charset="0"/>
            </a:endParaRPr>
          </a:p>
        </p:txBody>
      </p:sp>
      <p:graphicFrame>
        <p:nvGraphicFramePr>
          <p:cNvPr id="48141" name="Object 13"/>
          <p:cNvGraphicFramePr>
            <a:graphicFrameLocks noChangeAspect="1"/>
          </p:cNvGraphicFramePr>
          <p:nvPr>
            <p:extLst>
              <p:ext uri="{D42A27DB-BD31-4B8C-83A1-F6EECF244321}">
                <p14:modId xmlns:p14="http://schemas.microsoft.com/office/powerpoint/2010/main" val="2641704046"/>
              </p:ext>
            </p:extLst>
          </p:nvPr>
        </p:nvGraphicFramePr>
        <p:xfrm>
          <a:off x="1619250" y="5275263"/>
          <a:ext cx="6553200" cy="498475"/>
        </p:xfrm>
        <a:graphic>
          <a:graphicData uri="http://schemas.openxmlformats.org/presentationml/2006/ole">
            <mc:AlternateContent xmlns:mc="http://schemas.openxmlformats.org/markup-compatibility/2006">
              <mc:Choice xmlns:v="urn:schemas-microsoft-com:vml" Requires="v">
                <p:oleObj spid="_x0000_s48396" r:id="rId12" imgW="3136900" imgH="241300" progId="Equation.3">
                  <p:embed/>
                </p:oleObj>
              </mc:Choice>
              <mc:Fallback>
                <p:oleObj r:id="rId12" imgW="3136900" imgH="2413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5275263"/>
                        <a:ext cx="65532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43" name="Object 15"/>
          <p:cNvGraphicFramePr>
            <a:graphicFrameLocks noChangeAspect="1"/>
          </p:cNvGraphicFramePr>
          <p:nvPr>
            <p:extLst>
              <p:ext uri="{D42A27DB-BD31-4B8C-83A1-F6EECF244321}">
                <p14:modId xmlns:p14="http://schemas.microsoft.com/office/powerpoint/2010/main" val="1687585927"/>
              </p:ext>
            </p:extLst>
          </p:nvPr>
        </p:nvGraphicFramePr>
        <p:xfrm>
          <a:off x="1692275" y="5922963"/>
          <a:ext cx="3095625" cy="573087"/>
        </p:xfrm>
        <a:graphic>
          <a:graphicData uri="http://schemas.openxmlformats.org/presentationml/2006/ole">
            <mc:AlternateContent xmlns:mc="http://schemas.openxmlformats.org/markup-compatibility/2006">
              <mc:Choice xmlns:v="urn:schemas-microsoft-com:vml" Requires="v">
                <p:oleObj spid="_x0000_s48397" r:id="rId14" imgW="1283257" imgH="241405" progId="Equation.3">
                  <p:embed/>
                </p:oleObj>
              </mc:Choice>
              <mc:Fallback>
                <p:oleObj r:id="rId14" imgW="1283257" imgH="241405"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5922963"/>
                        <a:ext cx="309562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44" name="Rectangle 23"/>
          <p:cNvSpPr>
            <a:spLocks noChangeArrowheads="1"/>
          </p:cNvSpPr>
          <p:nvPr/>
        </p:nvSpPr>
        <p:spPr bwMode="auto">
          <a:xfrm>
            <a:off x="7451725" y="6265833"/>
            <a:ext cx="12891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a:latin typeface="Tahoma" panose="020B0604030504040204" pitchFamily="34" charset="0"/>
              </a:rPr>
              <a:t>（</a:t>
            </a:r>
            <a:r>
              <a:rPr lang="en-US" altLang="zh-CN" sz="2000">
                <a:latin typeface="Tahoma" panose="020B0604030504040204" pitchFamily="34" charset="0"/>
              </a:rPr>
              <a:t>3-23</a:t>
            </a:r>
            <a:r>
              <a:rPr lang="zh-CN" altLang="en-US" sz="2000">
                <a:latin typeface="Tahoma" panose="020B0604030504040204" pitchFamily="34" charset="0"/>
              </a:rPr>
              <a:t>） </a:t>
            </a:r>
          </a:p>
        </p:txBody>
      </p:sp>
      <mc:AlternateContent xmlns:mc="http://schemas.openxmlformats.org/markup-compatibility/2006">
        <mc:Choice xmlns:a14="http://schemas.microsoft.com/office/drawing/2010/main" Requires="a14">
          <p:sp>
            <p:nvSpPr>
              <p:cNvPr id="48145" name="Rectangle 24"/>
              <p:cNvSpPr>
                <a:spLocks noChangeArrowheads="1"/>
              </p:cNvSpPr>
              <p:nvPr/>
            </p:nvSpPr>
            <p:spPr bwMode="auto">
              <a:xfrm>
                <a:off x="323850" y="3573463"/>
                <a:ext cx="8675688"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r>
                  <a:rPr lang="zh-CN" altLang="en-US" sz="2000" dirty="0">
                    <a:latin typeface="Tahoma" panose="020B0604030504040204" pitchFamily="34" charset="0"/>
                  </a:rPr>
                  <a:t>⑵</a:t>
                </a:r>
                <a:r>
                  <a:rPr lang="zh-CN" altLang="en-US" sz="2000" dirty="0" smtClean="0">
                    <a:latin typeface="Tahoma" panose="020B0604030504040204" pitchFamily="34" charset="0"/>
                  </a:rPr>
                  <a:t>当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𝟐</m:t>
                        </m:r>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ea typeface="Cambria Math" panose="02040503050406030204" pitchFamily="18" charset="0"/>
                      </a:rPr>
                      <m:t>≥</m:t>
                    </m:r>
                    <m:r>
                      <a:rPr lang="en-US" altLang="zh-CN" sz="2000" b="1" i="1">
                        <a:solidFill>
                          <a:srgbClr val="FF0000"/>
                        </a:solidFill>
                        <a:latin typeface="Cambria Math" panose="02040503050406030204" pitchFamily="18" charset="0"/>
                      </a:rPr>
                      <m:t>𝟎</m:t>
                    </m:r>
                  </m:oMath>
                </a14:m>
                <a:r>
                  <a:rPr lang="zh-CN" altLang="en-US" sz="2000" dirty="0">
                    <a:latin typeface="Tahoma" panose="020B0604030504040204" pitchFamily="34" charset="0"/>
                  </a:rPr>
                  <a:t>时，下一步的</a:t>
                </a:r>
                <a:r>
                  <a:rPr lang="zh-CN" altLang="en-US" sz="2000" b="1" dirty="0">
                    <a:solidFill>
                      <a:srgbClr val="3366FF"/>
                    </a:solidFill>
                    <a:latin typeface="方正粗黑宋简体" panose="02000000000000000000" pitchFamily="2" charset="-122"/>
                    <a:ea typeface="方正粗黑宋简体" panose="02000000000000000000" pitchFamily="2" charset="-122"/>
                  </a:rPr>
                  <a:t>中点坐标为</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𝟐</m:t>
                        </m:r>
                      </m:e>
                    </m:d>
                  </m:oMath>
                </a14:m>
                <a:r>
                  <a:rPr lang="zh-CN" altLang="en-US" sz="2000" dirty="0">
                    <a:latin typeface="Tahoma" panose="020B0604030504040204" pitchFamily="34" charset="0"/>
                  </a:rPr>
                  <a:t>，下一步中点误差项为 </a:t>
                </a:r>
              </a:p>
            </p:txBody>
          </p:sp>
        </mc:Choice>
        <mc:Fallback>
          <p:sp>
            <p:nvSpPr>
              <p:cNvPr id="48145" name="Rectangle 24"/>
              <p:cNvSpPr>
                <a:spLocks noRot="1" noChangeAspect="1" noMove="1" noResize="1" noEditPoints="1" noAdjustHandles="1" noChangeArrowheads="1" noChangeShapeType="1" noTextEdit="1"/>
              </p:cNvSpPr>
              <p:nvPr/>
            </p:nvSpPr>
            <p:spPr bwMode="auto">
              <a:xfrm>
                <a:off x="323850" y="3573463"/>
                <a:ext cx="8675688" cy="707886"/>
              </a:xfrm>
              <a:prstGeom prst="rect">
                <a:avLst/>
              </a:prstGeom>
              <a:blipFill>
                <a:blip r:embed="rId16"/>
                <a:stretch>
                  <a:fillRect l="-703" t="-7759" r="-773" b="-1379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3249" name="Rectangle 5"/>
              <p:cNvSpPr>
                <a:spLocks noChangeArrowheads="1"/>
              </p:cNvSpPr>
              <p:nvPr/>
            </p:nvSpPr>
            <p:spPr bwMode="auto">
              <a:xfrm>
                <a:off x="395288" y="655479"/>
                <a:ext cx="8426450" cy="29546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tabLst>
                    <a:tab pos="361950" algn="l"/>
                  </a:tabLst>
                  <a:defRPr sz="2400">
                    <a:solidFill>
                      <a:schemeClr val="tx1"/>
                    </a:solidFill>
                    <a:latin typeface="Tahoma" panose="020B0604030504040204" pitchFamily="34" charset="0"/>
                    <a:ea typeface="楷体_GB2312" pitchFamily="49" charset="-122"/>
                  </a:defRPr>
                </a:lvl1pPr>
                <a:lvl2pPr>
                  <a:tabLst>
                    <a:tab pos="361950" algn="l"/>
                  </a:tabLst>
                  <a:defRPr sz="2400">
                    <a:solidFill>
                      <a:schemeClr val="tx1"/>
                    </a:solidFill>
                    <a:latin typeface="Tahoma" panose="020B0604030504040204" pitchFamily="34" charset="0"/>
                    <a:ea typeface="楷体_GB2312" pitchFamily="49" charset="-122"/>
                  </a:defRPr>
                </a:lvl2pPr>
                <a:lvl3pPr>
                  <a:tabLst>
                    <a:tab pos="361950" algn="l"/>
                  </a:tabLst>
                  <a:defRPr sz="2400">
                    <a:solidFill>
                      <a:schemeClr val="tx1"/>
                    </a:solidFill>
                    <a:latin typeface="Tahoma" panose="020B0604030504040204" pitchFamily="34" charset="0"/>
                    <a:ea typeface="楷体_GB2312" pitchFamily="49" charset="-122"/>
                  </a:defRPr>
                </a:lvl3pPr>
                <a:lvl4pPr>
                  <a:tabLst>
                    <a:tab pos="361950" algn="l"/>
                  </a:tabLst>
                  <a:defRPr sz="2400">
                    <a:solidFill>
                      <a:schemeClr val="tx1"/>
                    </a:solidFill>
                    <a:latin typeface="Tahoma" panose="020B0604030504040204" pitchFamily="34" charset="0"/>
                    <a:ea typeface="楷体_GB2312" pitchFamily="49" charset="-122"/>
                  </a:defRPr>
                </a:lvl4pPr>
                <a:lvl5pPr>
                  <a:tabLst>
                    <a:tab pos="361950" algn="l"/>
                  </a:tabLst>
                  <a:defRPr sz="2400">
                    <a:solidFill>
                      <a:schemeClr val="tx1"/>
                    </a:solidFill>
                    <a:latin typeface="Tahoma" panose="020B0604030504040204" pitchFamily="34" charset="0"/>
                    <a:ea typeface="楷体_GB2312" pitchFamily="49" charset="-122"/>
                  </a:defRPr>
                </a:lvl5pPr>
                <a:lvl6pPr fontAlgn="base">
                  <a:spcBef>
                    <a:spcPct val="0"/>
                  </a:spcBef>
                  <a:spcAft>
                    <a:spcPct val="0"/>
                  </a:spcAft>
                  <a:buFont typeface="Arial" panose="020B0604020202020204" pitchFamily="34" charset="0"/>
                  <a:tabLst>
                    <a:tab pos="361950" algn="l"/>
                  </a:tabLst>
                  <a:defRPr sz="2400">
                    <a:solidFill>
                      <a:schemeClr val="tx1"/>
                    </a:solidFill>
                    <a:latin typeface="Tahoma" panose="020B0604030504040204" pitchFamily="34" charset="0"/>
                    <a:ea typeface="楷体_GB2312" pitchFamily="49" charset="-122"/>
                  </a:defRPr>
                </a:lvl6pPr>
                <a:lvl7pPr fontAlgn="base">
                  <a:spcBef>
                    <a:spcPct val="0"/>
                  </a:spcBef>
                  <a:spcAft>
                    <a:spcPct val="0"/>
                  </a:spcAft>
                  <a:buFont typeface="Arial" panose="020B0604020202020204" pitchFamily="34" charset="0"/>
                  <a:tabLst>
                    <a:tab pos="361950" algn="l"/>
                  </a:tabLst>
                  <a:defRPr sz="2400">
                    <a:solidFill>
                      <a:schemeClr val="tx1"/>
                    </a:solidFill>
                    <a:latin typeface="Tahoma" panose="020B0604030504040204" pitchFamily="34" charset="0"/>
                    <a:ea typeface="楷体_GB2312" pitchFamily="49" charset="-122"/>
                  </a:defRPr>
                </a:lvl7pPr>
                <a:lvl8pPr fontAlgn="base">
                  <a:spcBef>
                    <a:spcPct val="0"/>
                  </a:spcBef>
                  <a:spcAft>
                    <a:spcPct val="0"/>
                  </a:spcAft>
                  <a:buFont typeface="Arial" panose="020B0604020202020204" pitchFamily="34" charset="0"/>
                  <a:tabLst>
                    <a:tab pos="361950" algn="l"/>
                  </a:tabLst>
                  <a:defRPr sz="2400">
                    <a:solidFill>
                      <a:schemeClr val="tx1"/>
                    </a:solidFill>
                    <a:latin typeface="Tahoma" panose="020B0604030504040204" pitchFamily="34" charset="0"/>
                    <a:ea typeface="楷体_GB2312" pitchFamily="49" charset="-122"/>
                  </a:defRPr>
                </a:lvl8pPr>
                <a:lvl9pPr fontAlgn="base">
                  <a:spcBef>
                    <a:spcPct val="0"/>
                  </a:spcBef>
                  <a:spcAft>
                    <a:spcPct val="0"/>
                  </a:spcAft>
                  <a:buFont typeface="Arial" panose="020B0604020202020204" pitchFamily="34" charset="0"/>
                  <a:tabLst>
                    <a:tab pos="361950" algn="l"/>
                  </a:tabLst>
                  <a:defRPr sz="2400">
                    <a:solidFill>
                      <a:schemeClr val="tx1"/>
                    </a:solidFill>
                    <a:latin typeface="Tahoma" panose="020B0604030504040204" pitchFamily="34" charset="0"/>
                    <a:ea typeface="楷体_GB2312" pitchFamily="49" charset="-122"/>
                  </a:defRPr>
                </a:lvl9pPr>
              </a:lstStyle>
              <a:p>
                <a:pPr eaLnBrk="1" hangingPunct="1">
                  <a:lnSpc>
                    <a:spcPct val="150000"/>
                  </a:lnSpc>
                  <a:buFont typeface="Arial" panose="020B0604020202020204" pitchFamily="34" charset="0"/>
                  <a:buNone/>
                  <a:defRPr/>
                </a:pPr>
                <a:r>
                  <a:rPr lang="en-US" altLang="zh-CN" b="1" dirty="0" smtClean="0">
                    <a:latin typeface="楷体_GB2312" pitchFamily="49" charset="-122"/>
                  </a:rPr>
                  <a:t>2.</a:t>
                </a:r>
                <a:r>
                  <a:rPr lang="zh-CN" altLang="en-US" b="1" dirty="0" smtClean="0">
                    <a:latin typeface="楷体_GB2312" pitchFamily="49" charset="-122"/>
                  </a:rPr>
                  <a:t>中点误差项的初始值</a:t>
                </a:r>
              </a:p>
              <a:p>
                <a:pPr marL="342900" indent="-342900" eaLnBrk="1" hangingPunct="1">
                  <a:lnSpc>
                    <a:spcPct val="150000"/>
                  </a:lnSpc>
                  <a:buFont typeface="Wingdings" panose="05000000000000000000" pitchFamily="2" charset="2"/>
                  <a:buChar char="n"/>
                  <a:defRPr/>
                </a:pPr>
                <a:r>
                  <a:rPr lang="zh-CN" altLang="en-US" sz="2000" dirty="0" smtClean="0">
                    <a:latin typeface="楷体_GB2312" pitchFamily="49" charset="-122"/>
                  </a:rPr>
                  <a:t>在上半部分</a:t>
                </a:r>
                <a:r>
                  <a:rPr lang="en-US" altLang="zh-CN" sz="2000" dirty="0" smtClean="0">
                    <a:latin typeface="楷体_GB2312" pitchFamily="49" charset="-122"/>
                  </a:rPr>
                  <a:t>Ⅰ</a:t>
                </a:r>
                <a:r>
                  <a:rPr lang="zh-CN" altLang="en-US" sz="2000" dirty="0" smtClean="0">
                    <a:latin typeface="楷体_GB2312" pitchFamily="49" charset="-122"/>
                  </a:rPr>
                  <a:t>，法矢量的</a:t>
                </a:r>
                <a:r>
                  <a:rPr lang="zh-CN" altLang="en-US" sz="2000" dirty="0" smtClean="0">
                    <a:latin typeface="楷体_GB2312" pitchFamily="49" charset="-122"/>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dirty="0" smtClean="0">
                    <a:latin typeface="楷体_GB2312" pitchFamily="49" charset="-122"/>
                  </a:rPr>
                  <a:t> </a:t>
                </a:r>
                <a:r>
                  <a:rPr lang="zh-CN" altLang="en-US" sz="2000" dirty="0" smtClean="0">
                    <a:latin typeface="楷体_GB2312" pitchFamily="49" charset="-122"/>
                  </a:rPr>
                  <a:t>向分量小于</a:t>
                </a:r>
                <a:r>
                  <a:rPr lang="zh-CN" altLang="en-US" sz="2000" dirty="0" smtClean="0">
                    <a:latin typeface="楷体_GB2312" pitchFamily="49" charset="-122"/>
                  </a:rPr>
                  <a:t> </a:t>
                </a:r>
                <a14:m>
                  <m:oMath xmlns:m="http://schemas.openxmlformats.org/officeDocument/2006/math">
                    <m:r>
                      <a:rPr lang="en-US" altLang="zh-CN" sz="2000" b="1" i="1" smtClean="0">
                        <a:solidFill>
                          <a:srgbClr val="FF0000"/>
                        </a:solidFill>
                        <a:latin typeface="Cambria Math" panose="02040503050406030204" pitchFamily="18" charset="0"/>
                      </a:rPr>
                      <m:t>𝒚</m:t>
                    </m:r>
                  </m:oMath>
                </a14:m>
                <a:r>
                  <a:rPr lang="zh-CN" altLang="en-US" sz="2000" dirty="0" smtClean="0">
                    <a:latin typeface="楷体_GB2312" pitchFamily="49" charset="-122"/>
                  </a:rPr>
                  <a:t> </a:t>
                </a:r>
                <a:r>
                  <a:rPr lang="zh-CN" altLang="en-US" sz="2000" dirty="0" smtClean="0">
                    <a:latin typeface="楷体_GB2312" pitchFamily="49" charset="-122"/>
                  </a:rPr>
                  <a:t>向分量；</a:t>
                </a:r>
                <a:endParaRPr lang="en-US" altLang="zh-CN" sz="2000" dirty="0" smtClean="0">
                  <a:latin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dirty="0" smtClean="0">
                    <a:latin typeface="楷体_GB2312" pitchFamily="49" charset="-122"/>
                  </a:rPr>
                  <a:t>在</a:t>
                </a:r>
                <a:r>
                  <a:rPr lang="en-US" altLang="zh-CN" sz="2000" dirty="0" smtClean="0">
                    <a:latin typeface="楷体_GB2312" pitchFamily="49" charset="-122"/>
                  </a:rPr>
                  <a:t>C</a:t>
                </a:r>
                <a:r>
                  <a:rPr lang="zh-CN" altLang="en-US" sz="2000" dirty="0" smtClean="0">
                    <a:latin typeface="楷体_GB2312" pitchFamily="49" charset="-122"/>
                  </a:rPr>
                  <a:t>点，法矢量的</a:t>
                </a:r>
                <a:r>
                  <a:rPr lang="zh-CN" altLang="en-US" sz="2000" dirty="0" smtClean="0">
                    <a:latin typeface="楷体_GB2312" pitchFamily="49" charset="-122"/>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dirty="0" smtClean="0">
                    <a:latin typeface="楷体_GB2312" pitchFamily="49" charset="-122"/>
                  </a:rPr>
                  <a:t> </a:t>
                </a:r>
                <a:r>
                  <a:rPr lang="zh-CN" altLang="en-US" sz="2000" dirty="0" smtClean="0">
                    <a:latin typeface="楷体_GB2312" pitchFamily="49" charset="-122"/>
                  </a:rPr>
                  <a:t>向分量等于</a:t>
                </a:r>
                <a:r>
                  <a:rPr lang="zh-CN" altLang="en-US" sz="2000" dirty="0" smtClean="0">
                    <a:latin typeface="楷体_GB2312" pitchFamily="49" charset="-122"/>
                  </a:rPr>
                  <a:t> </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smtClean="0">
                    <a:latin typeface="楷体_GB2312" pitchFamily="49" charset="-122"/>
                  </a:rPr>
                  <a:t> </a:t>
                </a:r>
                <a:r>
                  <a:rPr lang="zh-CN" altLang="en-US" sz="2000" dirty="0" smtClean="0">
                    <a:latin typeface="楷体_GB2312" pitchFamily="49" charset="-122"/>
                  </a:rPr>
                  <a:t>向分量；</a:t>
                </a:r>
                <a:endParaRPr lang="en-US" altLang="zh-CN" sz="2000" dirty="0" smtClean="0">
                  <a:latin typeface="楷体_GB2312" pitchFamily="49" charset="-122"/>
                </a:endParaRPr>
              </a:p>
              <a:p>
                <a:pPr marL="342900" indent="-342900" eaLnBrk="1" hangingPunct="1">
                  <a:lnSpc>
                    <a:spcPct val="150000"/>
                  </a:lnSpc>
                  <a:buFont typeface="Wingdings" panose="05000000000000000000" pitchFamily="2" charset="2"/>
                  <a:buChar char="n"/>
                  <a:defRPr/>
                </a:pPr>
                <a:r>
                  <a:rPr lang="zh-CN" altLang="en-US" sz="2000" dirty="0" smtClean="0">
                    <a:latin typeface="楷体_GB2312" pitchFamily="49" charset="-122"/>
                  </a:rPr>
                  <a:t>在下半部分</a:t>
                </a:r>
                <a:r>
                  <a:rPr lang="en-US" altLang="zh-CN" sz="2000" dirty="0" smtClean="0">
                    <a:latin typeface="楷体_GB2312" pitchFamily="49" charset="-122"/>
                  </a:rPr>
                  <a:t>Ⅱ</a:t>
                </a:r>
                <a:r>
                  <a:rPr lang="zh-CN" altLang="en-US" sz="2000" dirty="0" smtClean="0">
                    <a:latin typeface="楷体_GB2312" pitchFamily="49" charset="-122"/>
                  </a:rPr>
                  <a:t>，法矢量的</a:t>
                </a:r>
                <a:r>
                  <a:rPr lang="zh-CN" altLang="en-US" sz="2000" dirty="0" smtClean="0">
                    <a:latin typeface="楷体_GB2312" pitchFamily="49" charset="-122"/>
                  </a:rPr>
                  <a:t> </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dirty="0" smtClean="0">
                    <a:latin typeface="楷体_GB2312" pitchFamily="49" charset="-122"/>
                  </a:rPr>
                  <a:t> </a:t>
                </a:r>
                <a:r>
                  <a:rPr lang="zh-CN" altLang="en-US" sz="2000" dirty="0" smtClean="0">
                    <a:latin typeface="楷体_GB2312" pitchFamily="49" charset="-122"/>
                  </a:rPr>
                  <a:t>向分量大于</a:t>
                </a:r>
                <a:r>
                  <a:rPr lang="zh-CN" altLang="en-US" sz="2000" dirty="0" smtClean="0">
                    <a:latin typeface="楷体_GB2312" pitchFamily="49" charset="-122"/>
                  </a:rPr>
                  <a:t> </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smtClean="0">
                    <a:latin typeface="楷体_GB2312" pitchFamily="49" charset="-122"/>
                  </a:rPr>
                  <a:t> </a:t>
                </a:r>
                <a:r>
                  <a:rPr lang="zh-CN" altLang="en-US" sz="2000" dirty="0" smtClean="0">
                    <a:latin typeface="楷体_GB2312" pitchFamily="49" charset="-122"/>
                  </a:rPr>
                  <a:t>向分量。</a:t>
                </a:r>
                <a:endParaRPr lang="en-US" altLang="zh-CN" sz="2000" dirty="0" smtClean="0">
                  <a:latin typeface="楷体_GB2312" pitchFamily="49" charset="-122"/>
                </a:endParaRPr>
              </a:p>
              <a:p>
                <a:pPr eaLnBrk="1" hangingPunct="1">
                  <a:lnSpc>
                    <a:spcPct val="150000"/>
                  </a:lnSpc>
                  <a:buFont typeface="Arial" panose="020B0604020202020204" pitchFamily="34" charset="0"/>
                  <a:buNone/>
                  <a:defRPr/>
                </a:pPr>
                <a:r>
                  <a:rPr lang="zh-CN" altLang="en-US" sz="2000" dirty="0" smtClean="0">
                    <a:latin typeface="楷体_GB2312" pitchFamily="49" charset="-122"/>
                  </a:rPr>
                  <a:t>则对于上半</a:t>
                </a:r>
                <a:r>
                  <a:rPr lang="zh-CN" altLang="en-US" sz="2000" dirty="0" smtClean="0">
                    <a:latin typeface="楷体_GB2312" pitchFamily="49" charset="-122"/>
                  </a:rPr>
                  <a:t>部分</a:t>
                </a:r>
                <a:r>
                  <a:rPr lang="en-US" altLang="zh-CN" sz="2000" dirty="0" smtClean="0">
                    <a:latin typeface="楷体_GB2312" pitchFamily="49" charset="-122"/>
                  </a:rPr>
                  <a:t>Ⅰ</a:t>
                </a:r>
                <a:r>
                  <a:rPr lang="zh-CN" altLang="en-US" sz="2000" dirty="0" smtClean="0">
                    <a:latin typeface="楷体_GB2312" pitchFamily="49" charset="-122"/>
                  </a:rPr>
                  <a:t>椭圆</a:t>
                </a:r>
                <a:r>
                  <a:rPr lang="zh-CN" altLang="en-US" sz="2000" dirty="0" smtClean="0">
                    <a:latin typeface="楷体_GB2312" pitchFamily="49" charset="-122"/>
                  </a:rPr>
                  <a:t>上一点 </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楷体_GB2312" pitchFamily="49" charset="-122"/>
                  </a:rPr>
                  <a:t>，如果其当前中点 </a:t>
                </a:r>
                <a14:m>
                  <m:oMath xmlns:m="http://schemas.openxmlformats.org/officeDocument/2006/math">
                    <m:r>
                      <a:rPr lang="en-US" altLang="zh-CN" sz="2000" b="1" i="1">
                        <a:solidFill>
                          <a:srgbClr val="FF0000"/>
                        </a:solidFill>
                        <a:latin typeface="Cambria Math" panose="02040503050406030204" pitchFamily="18" charset="0"/>
                      </a:rPr>
                      <m:t>𝑴</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𝟓</m:t>
                        </m:r>
                      </m:e>
                    </m:d>
                  </m:oMath>
                </a14:m>
                <a:r>
                  <a:rPr lang="zh-CN" altLang="en-US" sz="2000" dirty="0" smtClean="0">
                    <a:latin typeface="楷体_GB2312" pitchFamily="49" charset="-122"/>
                  </a:rPr>
                  <a:t>，满足 </a:t>
                </a:r>
                <a14:m>
                  <m:oMath xmlns:m="http://schemas.openxmlformats.org/officeDocument/2006/math">
                    <m:r>
                      <a:rPr lang="en-US" altLang="zh-CN" sz="2000" b="1" i="1">
                        <a:solidFill>
                          <a:srgbClr val="FF0000"/>
                        </a:solidFill>
                        <a:latin typeface="Cambria Math" panose="02040503050406030204" pitchFamily="18" charset="0"/>
                      </a:rPr>
                      <m:t>𝒙</m:t>
                    </m:r>
                  </m:oMath>
                </a14:m>
                <a:r>
                  <a:rPr lang="pt-BR" altLang="en-US" sz="2000" dirty="0" smtClean="0">
                    <a:solidFill>
                      <a:srgbClr val="FF0000"/>
                    </a:solidFill>
                    <a:latin typeface="华文琥珀" panose="02010800040101010101" pitchFamily="2" charset="-122"/>
                    <a:ea typeface="华文琥珀" panose="02010800040101010101" pitchFamily="2" charset="-122"/>
                  </a:rPr>
                  <a:t> </a:t>
                </a:r>
                <a:r>
                  <a:rPr lang="zh-CN" altLang="en-US" sz="2000" dirty="0" smtClean="0">
                    <a:solidFill>
                      <a:srgbClr val="FF0000"/>
                    </a:solidFill>
                    <a:latin typeface="华文琥珀" panose="02010800040101010101" pitchFamily="2" charset="-122"/>
                    <a:ea typeface="华文琥珀" panose="02010800040101010101" pitchFamily="2" charset="-122"/>
                  </a:rPr>
                  <a:t>向分量小于 </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dirty="0" smtClean="0">
                    <a:solidFill>
                      <a:srgbClr val="FF0000"/>
                    </a:solidFill>
                    <a:latin typeface="华文琥珀" panose="02010800040101010101" pitchFamily="2" charset="-122"/>
                    <a:ea typeface="华文琥珀" panose="02010800040101010101" pitchFamily="2" charset="-122"/>
                  </a:rPr>
                  <a:t> 向分量</a:t>
                </a:r>
              </a:p>
            </p:txBody>
          </p:sp>
        </mc:Choice>
        <mc:Fallback>
          <p:sp>
            <p:nvSpPr>
              <p:cNvPr id="53249" name="Rectangle 5"/>
              <p:cNvSpPr>
                <a:spLocks noRot="1" noChangeAspect="1" noMove="1" noResize="1" noEditPoints="1" noAdjustHandles="1" noChangeArrowheads="1" noChangeShapeType="1" noTextEdit="1"/>
              </p:cNvSpPr>
              <p:nvPr/>
            </p:nvSpPr>
            <p:spPr bwMode="auto">
              <a:xfrm>
                <a:off x="395288" y="655479"/>
                <a:ext cx="8426450" cy="2954655"/>
              </a:xfrm>
              <a:prstGeom prst="rect">
                <a:avLst/>
              </a:prstGeom>
              <a:blipFill>
                <a:blip r:embed="rId3"/>
                <a:stretch>
                  <a:fillRect l="-1158" b="-239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9155" name="Rectangle 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49156" name="Object 4"/>
          <p:cNvGraphicFramePr>
            <a:graphicFrameLocks noChangeAspect="1"/>
          </p:cNvGraphicFramePr>
          <p:nvPr/>
        </p:nvGraphicFramePr>
        <p:xfrm>
          <a:off x="2771775" y="3716338"/>
          <a:ext cx="3529013" cy="555625"/>
        </p:xfrm>
        <a:graphic>
          <a:graphicData uri="http://schemas.openxmlformats.org/presentationml/2006/ole">
            <mc:AlternateContent xmlns:mc="http://schemas.openxmlformats.org/markup-compatibility/2006">
              <mc:Choice xmlns:v="urn:schemas-microsoft-com:vml" Requires="v">
                <p:oleObj spid="_x0000_s49200" r:id="rId4" imgW="1511956" imgH="241405" progId="Equation.3">
                  <p:embed/>
                </p:oleObj>
              </mc:Choice>
              <mc:Fallback>
                <p:oleObj r:id="rId4" imgW="1511956" imgH="24140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3716338"/>
                        <a:ext cx="3529013"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57" name="Rectangle 8"/>
          <p:cNvSpPr>
            <a:spLocks noChangeArrowheads="1"/>
          </p:cNvSpPr>
          <p:nvPr/>
        </p:nvSpPr>
        <p:spPr bwMode="auto">
          <a:xfrm>
            <a:off x="7235825" y="3644900"/>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3-24</a:t>
            </a:r>
            <a:r>
              <a:rPr lang="zh-CN" altLang="en-US" sz="2400">
                <a:latin typeface="Tahoma" panose="020B0604030504040204" pitchFamily="34" charset="0"/>
              </a:rPr>
              <a:t>） </a:t>
            </a:r>
          </a:p>
        </p:txBody>
      </p:sp>
      <p:sp>
        <p:nvSpPr>
          <p:cNvPr id="49158" name="Rectangle 9"/>
          <p:cNvSpPr>
            <a:spLocks noChangeArrowheads="1"/>
          </p:cNvSpPr>
          <p:nvPr/>
        </p:nvSpPr>
        <p:spPr bwMode="auto">
          <a:xfrm>
            <a:off x="395288" y="4503738"/>
            <a:ext cx="842645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20000"/>
              </a:lnSpc>
              <a:spcBef>
                <a:spcPct val="0"/>
              </a:spcBef>
              <a:buFont typeface="Arial" panose="020B0604020202020204" pitchFamily="34" charset="0"/>
              <a:buNone/>
            </a:pPr>
            <a:r>
              <a:rPr lang="zh-CN" altLang="en-US" sz="2400" dirty="0">
                <a:solidFill>
                  <a:srgbClr val="FF0000"/>
                </a:solidFill>
                <a:latin typeface="华文琥珀" panose="02010800040101010101" pitchFamily="2" charset="-122"/>
                <a:ea typeface="华文琥珀" panose="02010800040101010101" pitchFamily="2" charset="-122"/>
              </a:rPr>
              <a:t>而在下一个中点，</a:t>
            </a:r>
            <a:r>
              <a:rPr lang="zh-CN" altLang="en-US" sz="2000" b="1" dirty="0">
                <a:solidFill>
                  <a:srgbClr val="3366FF"/>
                </a:solidFill>
                <a:latin typeface="方正粗黑宋简体" panose="02000000000000000000" pitchFamily="2" charset="-122"/>
                <a:ea typeface="方正粗黑宋简体" panose="02000000000000000000" pitchFamily="2" charset="-122"/>
              </a:rPr>
              <a:t>不等号改变方向</a:t>
            </a:r>
            <a:r>
              <a:rPr lang="zh-CN" altLang="en-US" sz="2400" dirty="0">
                <a:solidFill>
                  <a:srgbClr val="FF0000"/>
                </a:solidFill>
                <a:latin typeface="华文琥珀" panose="02010800040101010101" pitchFamily="2" charset="-122"/>
                <a:ea typeface="华文琥珀" panose="02010800040101010101" pitchFamily="2" charset="-122"/>
              </a:rPr>
              <a:t>，则说明椭圆从上半部分</a:t>
            </a:r>
            <a:r>
              <a:rPr lang="en-US" altLang="zh-CN" sz="2400" dirty="0">
                <a:solidFill>
                  <a:srgbClr val="FF0000"/>
                </a:solidFill>
                <a:latin typeface="华文琥珀" panose="02010800040101010101" pitchFamily="2" charset="-122"/>
                <a:ea typeface="华文琥珀" panose="02010800040101010101" pitchFamily="2" charset="-122"/>
              </a:rPr>
              <a:t>Ⅰ</a:t>
            </a:r>
            <a:r>
              <a:rPr lang="zh-CN" altLang="en-US" sz="2400" dirty="0">
                <a:solidFill>
                  <a:srgbClr val="FF0000"/>
                </a:solidFill>
                <a:latin typeface="华文琥珀" panose="02010800040101010101" pitchFamily="2" charset="-122"/>
                <a:ea typeface="华文琥珀" panose="02010800040101010101" pitchFamily="2" charset="-122"/>
              </a:rPr>
              <a:t>转入了下半部分</a:t>
            </a:r>
            <a:r>
              <a:rPr lang="en-US" altLang="zh-CN" sz="2400" dirty="0">
                <a:solidFill>
                  <a:srgbClr val="FF0000"/>
                </a:solidFill>
                <a:latin typeface="华文琥珀" panose="02010800040101010101" pitchFamily="2" charset="-122"/>
                <a:ea typeface="华文琥珀" panose="02010800040101010101" pitchFamily="2" charset="-122"/>
              </a:rPr>
              <a:t>Ⅱ</a:t>
            </a:r>
            <a:r>
              <a:rPr lang="zh-CN" altLang="en-US" sz="2400" dirty="0">
                <a:solidFill>
                  <a:srgbClr val="FF0000"/>
                </a:solidFill>
                <a:latin typeface="华文琥珀" panose="02010800040101010101" pitchFamily="2" charset="-122"/>
                <a:ea typeface="华文琥珀" panose="02010800040101010101" pitchFamily="2" charset="-122"/>
              </a:rPr>
              <a:t>。</a:t>
            </a:r>
            <a:r>
              <a:rPr lang="zh-CN" altLang="en-US" sz="2400" dirty="0">
                <a:latin typeface="楷体_GB2312" pitchFamily="49" charset="-122"/>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9" name="Object 4"/>
          <p:cNvGraphicFramePr>
            <a:graphicFrameLocks noChangeAspect="1"/>
          </p:cNvGraphicFramePr>
          <p:nvPr/>
        </p:nvGraphicFramePr>
        <p:xfrm>
          <a:off x="2843213" y="404813"/>
          <a:ext cx="3241675" cy="3241675"/>
        </p:xfrm>
        <a:graphic>
          <a:graphicData uri="http://schemas.openxmlformats.org/presentationml/2006/ole">
            <mc:AlternateContent xmlns:mc="http://schemas.openxmlformats.org/markup-compatibility/2006">
              <mc:Choice xmlns:v="urn:schemas-microsoft-com:vml" Requires="v">
                <p:oleObj spid="_x0000_s50272" r:id="rId3" imgW="2627640" imgH="2627640" progId="Visio.Drawing.11">
                  <p:embed/>
                </p:oleObj>
              </mc:Choice>
              <mc:Fallback>
                <p:oleObj r:id="rId3" imgW="2627640" imgH="262764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04813"/>
                        <a:ext cx="32416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50186" name="Rectangle 12"/>
              <p:cNvSpPr>
                <a:spLocks noChangeArrowheads="1"/>
              </p:cNvSpPr>
              <p:nvPr/>
            </p:nvSpPr>
            <p:spPr bwMode="auto">
              <a:xfrm>
                <a:off x="250825" y="4111150"/>
                <a:ext cx="8716963" cy="147732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None/>
                </a:pPr>
                <a:r>
                  <a:rPr lang="zh-CN" altLang="en-US" sz="2000" dirty="0" smtClean="0">
                    <a:latin typeface="Tahoma" panose="020B0604030504040204" pitchFamily="34" charset="0"/>
                  </a:rPr>
                  <a:t>假定 </a:t>
                </a:r>
                <a14:m>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 点</a:t>
                </a:r>
                <a:r>
                  <a:rPr lang="zh-CN" altLang="en-US" sz="2000" dirty="0">
                    <a:latin typeface="Tahoma" panose="020B0604030504040204" pitchFamily="34" charset="0"/>
                  </a:rPr>
                  <a:t>是椭圆上半</a:t>
                </a:r>
                <a:r>
                  <a:rPr lang="zh-CN" altLang="en-US" sz="2000" dirty="0" smtClean="0">
                    <a:latin typeface="Tahoma" panose="020B0604030504040204" pitchFamily="34" charset="0"/>
                  </a:rPr>
                  <a:t>部分 </a:t>
                </a:r>
                <a:r>
                  <a:rPr lang="en-US" altLang="zh-CN" sz="2000" dirty="0" smtClean="0">
                    <a:latin typeface="Tahoma" panose="020B0604030504040204" pitchFamily="34" charset="0"/>
                  </a:rPr>
                  <a:t>Ⅰ </a:t>
                </a:r>
                <a:r>
                  <a:rPr lang="zh-CN" altLang="en-US" sz="2000" dirty="0" smtClean="0">
                    <a:latin typeface="Tahoma" panose="020B0604030504040204" pitchFamily="34" charset="0"/>
                  </a:rPr>
                  <a:t>的</a:t>
                </a:r>
                <a:r>
                  <a:rPr lang="zh-CN" altLang="en-US" sz="2000" dirty="0">
                    <a:latin typeface="Tahoma" panose="020B0604030504040204" pitchFamily="34" charset="0"/>
                  </a:rPr>
                  <a:t>最后一个像素，</a:t>
                </a: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𝑴</m:t>
                        </m:r>
                      </m:e>
                      <m:sub>
                        <m:r>
                          <a:rPr lang="en-US" altLang="zh-CN" sz="2000" b="1" i="0" smtClean="0">
                            <a:solidFill>
                              <a:srgbClr val="FF0000"/>
                            </a:solidFill>
                            <a:latin typeface="Cambria Math" panose="02040503050406030204" pitchFamily="18" charset="0"/>
                          </a:rPr>
                          <m:t>𝐈</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e>
                    </m:d>
                  </m:oMath>
                </a14:m>
                <a:r>
                  <a:rPr lang="en-US" altLang="en-US" sz="2000" dirty="0" smtClean="0">
                    <a:latin typeface="Tahoma" panose="020B0604030504040204" pitchFamily="34" charset="0"/>
                  </a:rPr>
                  <a:t> </a:t>
                </a:r>
                <a:r>
                  <a:rPr lang="zh-CN" altLang="en-US" sz="2000" dirty="0" smtClean="0">
                    <a:latin typeface="Tahoma" panose="020B0604030504040204" pitchFamily="34" charset="0"/>
                  </a:rPr>
                  <a:t>是</a:t>
                </a:r>
                <a:r>
                  <a:rPr lang="zh-CN" altLang="en-US" sz="2000" dirty="0">
                    <a:latin typeface="Tahoma" panose="020B0604030504040204" pitchFamily="34" charset="0"/>
                  </a:rPr>
                  <a:t>用于判断</a:t>
                </a:r>
                <a:r>
                  <a:rPr lang="zh-CN" altLang="en-US" sz="2000" dirty="0" smtClean="0">
                    <a:latin typeface="Tahoma" panose="020B0604030504040204" pitchFamily="34" charset="0"/>
                  </a:rPr>
                  <a:t>选取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a14:m>
                <a:r>
                  <a:rPr lang="zh-CN" altLang="en-US" sz="2000" dirty="0" smtClean="0">
                    <a:latin typeface="Tahoma" panose="020B0604030504040204" pitchFamily="34" charset="0"/>
                  </a:rPr>
                  <a:t>和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a:latin typeface="Tahoma" panose="020B0604030504040204" pitchFamily="34" charset="0"/>
                  </a:rPr>
                  <a:t>像素的中点。由于下一像素转入了下半部分</a:t>
                </a:r>
                <a:r>
                  <a:rPr lang="pt-BR" altLang="en-US" sz="2000" dirty="0">
                    <a:latin typeface="Tahoma" panose="020B0604030504040204" pitchFamily="34" charset="0"/>
                  </a:rPr>
                  <a:t>Ⅱ</a:t>
                </a:r>
                <a:r>
                  <a:rPr lang="zh-CN" altLang="en-US" sz="2000" dirty="0">
                    <a:latin typeface="Tahoma" panose="020B0604030504040204" pitchFamily="34" charset="0"/>
                  </a:rPr>
                  <a:t>，其中点改为判断</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𝒍</m:t>
                        </m:r>
                      </m:sub>
                    </m:sSub>
                  </m:oMath>
                </a14:m>
                <a:r>
                  <a:rPr lang="zh-CN" altLang="en-US" sz="2000" dirty="0">
                    <a:latin typeface="Tahoma" panose="020B0604030504040204" pitchFamily="34" charset="0"/>
                  </a:rPr>
                  <a:t>和</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𝒓</m:t>
                        </m:r>
                      </m:sub>
                    </m:sSub>
                  </m:oMath>
                </a14:m>
                <a:r>
                  <a:rPr lang="zh-CN" altLang="en-US" sz="2000" dirty="0">
                    <a:latin typeface="Tahoma" panose="020B0604030504040204" pitchFamily="34" charset="0"/>
                  </a:rPr>
                  <a:t>的</a:t>
                </a:r>
                <a:r>
                  <a:rPr lang="zh-CN" altLang="en-US" sz="2000" dirty="0" smtClean="0">
                    <a:latin typeface="Tahoma" panose="020B0604030504040204" pitchFamily="34" charset="0"/>
                  </a:rPr>
                  <a:t>中点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𝑴</m:t>
                        </m:r>
                      </m:e>
                      <m:sub>
                        <m:r>
                          <a:rPr lang="en-US" altLang="zh-CN" sz="2000" b="1">
                            <a:solidFill>
                              <a:srgbClr val="FF0000"/>
                            </a:solidFill>
                            <a:latin typeface="Cambria Math" panose="02040503050406030204" pitchFamily="18" charset="0"/>
                          </a:rPr>
                          <m:t>𝐈𝐈</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𝟓</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e>
                    </m:d>
                  </m:oMath>
                </a14:m>
                <a:r>
                  <a:rPr lang="zh-CN" altLang="en-US" sz="2000" dirty="0" smtClean="0">
                    <a:latin typeface="Tahoma" panose="020B0604030504040204" pitchFamily="34" charset="0"/>
                  </a:rPr>
                  <a:t>，</a:t>
                </a:r>
                <a:r>
                  <a:rPr lang="zh-CN" altLang="en-US" sz="2000" dirty="0">
                    <a:latin typeface="Tahoma" panose="020B0604030504040204" pitchFamily="34" charset="0"/>
                  </a:rPr>
                  <a:t>所以下半部分的</a:t>
                </a:r>
                <a:r>
                  <a:rPr lang="zh-CN" altLang="en-US" sz="2000" dirty="0" smtClean="0">
                    <a:latin typeface="Tahoma" panose="020B0604030504040204" pitchFamily="34" charset="0"/>
                  </a:rPr>
                  <a:t>初值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𝒅</m:t>
                        </m:r>
                      </m:e>
                      <m:sub>
                        <m:r>
                          <a:rPr lang="en-US" altLang="zh-CN" sz="2000" b="1" i="1">
                            <a:solidFill>
                              <a:srgbClr val="FF0000"/>
                            </a:solidFill>
                            <a:latin typeface="Cambria Math" panose="02040503050406030204" pitchFamily="18" charset="0"/>
                          </a:rPr>
                          <m:t>𝟐</m:t>
                        </m:r>
                        <m:r>
                          <a:rPr lang="en-US" altLang="zh-CN" sz="2000" b="1" i="1" smtClean="0">
                            <a:solidFill>
                              <a:srgbClr val="FF0000"/>
                            </a:solidFill>
                            <a:latin typeface="Cambria Math" panose="02040503050406030204" pitchFamily="18" charset="0"/>
                          </a:rPr>
                          <m:t>𝟎</m:t>
                        </m:r>
                      </m:sub>
                    </m:sSub>
                  </m:oMath>
                </a14:m>
                <a:r>
                  <a:rPr lang="zh-CN" altLang="en-US" sz="2000" dirty="0" smtClean="0">
                    <a:latin typeface="Tahoma" panose="020B0604030504040204" pitchFamily="34" charset="0"/>
                  </a:rPr>
                  <a:t>为</a:t>
                </a:r>
                <a:endParaRPr lang="zh-CN" altLang="en-US" sz="2000" dirty="0">
                  <a:latin typeface="Tahoma" panose="020B0604030504040204" pitchFamily="34" charset="0"/>
                </a:endParaRPr>
              </a:p>
            </p:txBody>
          </p:sp>
        </mc:Choice>
        <mc:Fallback>
          <p:sp>
            <p:nvSpPr>
              <p:cNvPr id="50186" name="Rectangle 12"/>
              <p:cNvSpPr>
                <a:spLocks noRot="1" noChangeAspect="1" noMove="1" noResize="1" noEditPoints="1" noAdjustHandles="1" noChangeArrowheads="1" noChangeShapeType="1" noTextEdit="1"/>
              </p:cNvSpPr>
              <p:nvPr/>
            </p:nvSpPr>
            <p:spPr bwMode="auto">
              <a:xfrm>
                <a:off x="250825" y="4111150"/>
                <a:ext cx="8716963" cy="1477328"/>
              </a:xfrm>
              <a:prstGeom prst="rect">
                <a:avLst/>
              </a:prstGeom>
              <a:blipFill>
                <a:blip r:embed="rId5"/>
                <a:stretch>
                  <a:fillRect l="-699" r="-280" b="-20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0187" name="Rectangle 13"/>
          <p:cNvSpPr>
            <a:spLocks noChangeArrowheads="1"/>
          </p:cNvSpPr>
          <p:nvPr/>
        </p:nvSpPr>
        <p:spPr bwMode="auto">
          <a:xfrm>
            <a:off x="3419475" y="3649663"/>
            <a:ext cx="2365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a:latin typeface="楷体_GB2312" pitchFamily="49" charset="-122"/>
              </a:rPr>
              <a:t>下半部分的初始值 </a:t>
            </a:r>
          </a:p>
        </p:txBody>
      </p:sp>
      <p:graphicFrame>
        <p:nvGraphicFramePr>
          <p:cNvPr id="50188" name="Object 3"/>
          <p:cNvGraphicFramePr>
            <a:graphicFrameLocks noChangeAspect="1"/>
          </p:cNvGraphicFramePr>
          <p:nvPr/>
        </p:nvGraphicFramePr>
        <p:xfrm>
          <a:off x="1763713" y="5934075"/>
          <a:ext cx="5472112" cy="554038"/>
        </p:xfrm>
        <a:graphic>
          <a:graphicData uri="http://schemas.openxmlformats.org/presentationml/2006/ole">
            <mc:AlternateContent xmlns:mc="http://schemas.openxmlformats.org/markup-compatibility/2006">
              <mc:Choice xmlns:v="urn:schemas-microsoft-com:vml" Requires="v">
                <p:oleObj spid="_x0000_s50273" r:id="rId6" imgW="2350520" imgH="241405" progId="Equation.3">
                  <p:embed/>
                </p:oleObj>
              </mc:Choice>
              <mc:Fallback>
                <p:oleObj r:id="rId6" imgW="2350520" imgH="24140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3" y="5934075"/>
                        <a:ext cx="54721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9" name="Rectangle 6"/>
          <p:cNvSpPr>
            <a:spLocks noChangeArrowheads="1"/>
          </p:cNvSpPr>
          <p:nvPr/>
        </p:nvSpPr>
        <p:spPr bwMode="auto">
          <a:xfrm>
            <a:off x="7523163" y="5934075"/>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3-25</a:t>
            </a:r>
            <a:r>
              <a:rPr lang="zh-CN" altLang="en-US" sz="2400">
                <a:latin typeface="Tahoma" panose="020B0604030504040204" pitchFamily="34" charset="0"/>
              </a:rPr>
              <a:t>） </a:t>
            </a:r>
          </a:p>
        </p:txBody>
      </p:sp>
      <mc:AlternateContent xmlns:mc="http://schemas.openxmlformats.org/markup-compatibility/2006" xmlns:a14="http://schemas.microsoft.com/office/drawing/2010/main">
        <mc:Choice Requires="a14">
          <p:sp>
            <p:nvSpPr>
              <p:cNvPr id="2" name="矩形 1"/>
              <p:cNvSpPr/>
              <p:nvPr/>
            </p:nvSpPr>
            <p:spPr>
              <a:xfrm>
                <a:off x="1426991" y="472430"/>
                <a:ext cx="14162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pitchFamily="18" charset="0"/>
                        </a:rPr>
                        <m:t>𝑷</m:t>
                      </m:r>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426991" y="472430"/>
                <a:ext cx="1416222" cy="461665"/>
              </a:xfrm>
              <a:prstGeom prst="rect">
                <a:avLst/>
              </a:prstGeom>
              <a:blipFill>
                <a:blip r:embed="rId8"/>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6084888" y="472430"/>
                <a:ext cx="21236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𝒖</m:t>
                          </m:r>
                        </m:sub>
                      </m:sSub>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e>
                      </m:d>
                    </m:oMath>
                  </m:oMathPara>
                </a14:m>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6084888" y="472430"/>
                <a:ext cx="2123658" cy="461665"/>
              </a:xfrm>
              <a:prstGeom prst="rect">
                <a:avLst/>
              </a:prstGeom>
              <a:blipFill>
                <a:blip r:embed="rId9"/>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5925800" y="1771992"/>
                <a:ext cx="297863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𝑴</m:t>
                          </m:r>
                        </m:e>
                        <m:sub>
                          <m:r>
                            <a:rPr lang="en-US" altLang="zh-CN" b="1">
                              <a:solidFill>
                                <a:srgbClr val="FF0000"/>
                              </a:solidFill>
                              <a:latin typeface="Cambria Math" panose="02040503050406030204" pitchFamily="18" charset="0"/>
                            </a:rPr>
                            <m:t>𝐈</m:t>
                          </m:r>
                        </m:sub>
                      </m:sSub>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𝟎</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𝟓</m:t>
                          </m:r>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5925800" y="1771992"/>
                <a:ext cx="2978636" cy="461665"/>
              </a:xfrm>
              <a:prstGeom prst="rect">
                <a:avLst/>
              </a:prstGeom>
              <a:blipFill>
                <a:blip r:embed="rId10"/>
                <a:stretch>
                  <a:fillRect b="-14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003067" y="2961481"/>
                <a:ext cx="2964721"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𝒅</m:t>
                          </m:r>
                        </m:sub>
                      </m:sSub>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e>
                      </m:d>
                    </m:oMath>
                  </m:oMathPara>
                </a14:m>
                <a:endParaRPr lang="en-US" altLang="zh-CN" b="1" i="1" dirty="0" smtClean="0">
                  <a:solidFill>
                    <a:srgbClr val="FF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𝒓</m:t>
                          </m:r>
                        </m:sub>
                      </m:sSub>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𝟏</m:t>
                          </m:r>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𝟏</m:t>
                          </m:r>
                        </m:e>
                      </m:d>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6003067" y="2961481"/>
                <a:ext cx="2964721" cy="830997"/>
              </a:xfrm>
              <a:prstGeom prst="rect">
                <a:avLst/>
              </a:prstGeom>
              <a:blipFill>
                <a:blip r:embed="rId11"/>
                <a:stretch>
                  <a:fillRect b="-7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159495" y="2765456"/>
                <a:ext cx="258647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𝑴</m:t>
                          </m:r>
                        </m:e>
                        <m:sub>
                          <m:r>
                            <a:rPr lang="en-US" altLang="zh-CN" sz="2000" b="1">
                              <a:solidFill>
                                <a:srgbClr val="FF0000"/>
                              </a:solidFill>
                              <a:latin typeface="Cambria Math" panose="02040503050406030204" pitchFamily="18" charset="0"/>
                            </a:rPr>
                            <m:t>𝐈</m:t>
                          </m:r>
                          <m:r>
                            <a:rPr lang="en-US" altLang="zh-CN" sz="2000" b="1" i="0" smtClean="0">
                              <a:solidFill>
                                <a:srgbClr val="FF0000"/>
                              </a:solidFill>
                              <a:latin typeface="Cambria Math" panose="02040503050406030204" pitchFamily="18" charset="0"/>
                            </a:rPr>
                            <m:t>𝐈</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𝟎</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𝟓</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m:oMathPara>
                </a14:m>
                <a:endParaRPr lang="zh-CN" altLang="en-US" sz="2000" dirty="0"/>
              </a:p>
            </p:txBody>
          </p:sp>
        </mc:Choice>
        <mc:Fallback xmlns="">
          <p:sp>
            <p:nvSpPr>
              <p:cNvPr id="18" name="矩形 17"/>
              <p:cNvSpPr>
                <a:spLocks noRot="1" noChangeAspect="1" noMove="1" noResize="1" noEditPoints="1" noAdjustHandles="1" noChangeArrowheads="1" noChangeShapeType="1" noTextEdit="1"/>
              </p:cNvSpPr>
              <p:nvPr/>
            </p:nvSpPr>
            <p:spPr>
              <a:xfrm>
                <a:off x="3159495" y="2765456"/>
                <a:ext cx="2586477" cy="400110"/>
              </a:xfrm>
              <a:prstGeom prst="rect">
                <a:avLst/>
              </a:prstGeom>
              <a:blipFill>
                <a:blip r:embed="rId12"/>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839656" y="3146146"/>
                <a:ext cx="20627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𝑷</m:t>
                          </m:r>
                        </m:e>
                        <m:sub>
                          <m:r>
                            <a:rPr lang="en-US" altLang="zh-CN" b="1" i="1" smtClean="0">
                              <a:solidFill>
                                <a:srgbClr val="FF0000"/>
                              </a:solidFill>
                              <a:latin typeface="Cambria Math" panose="02040503050406030204" pitchFamily="18" charset="0"/>
                            </a:rPr>
                            <m:t>𝒍</m:t>
                          </m:r>
                        </m:sub>
                      </m:sSub>
                      <m:d>
                        <m:dPr>
                          <m:ctrlPr>
                            <a:rPr lang="en-US" altLang="zh-CN" b="1" i="1">
                              <a:solidFill>
                                <a:srgbClr val="FF0000"/>
                              </a:solidFill>
                              <a:latin typeface="Cambria Math" panose="02040503050406030204" pitchFamily="18" charset="0"/>
                            </a:rPr>
                          </m:ctrlPr>
                        </m:dPr>
                        <m:e>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a:solidFill>
                                    <a:srgbClr val="FF0000"/>
                                  </a:solidFill>
                                  <a:latin typeface="Cambria Math" panose="02040503050406030204" pitchFamily="18" charset="0"/>
                                </a:rPr>
                                <m:t>𝒊</m:t>
                              </m:r>
                            </m:sub>
                          </m:sSub>
                          <m:r>
                            <a:rPr lang="en-US" altLang="zh-CN" b="1" i="1">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b="1" i="1">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e>
                      </m:d>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839656" y="3146146"/>
                <a:ext cx="2062744" cy="461665"/>
              </a:xfrm>
              <a:prstGeom prst="rect">
                <a:avLst/>
              </a:prstGeom>
              <a:blipFill>
                <a:blip r:embed="rId13"/>
                <a:stretch>
                  <a:fillRect b="-13158"/>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ChangeArrowheads="1"/>
          </p:cNvSpPr>
          <p:nvPr/>
        </p:nvSpPr>
        <p:spPr bwMode="auto">
          <a:xfrm>
            <a:off x="395536" y="332656"/>
            <a:ext cx="7885113" cy="61863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void </a:t>
            </a:r>
            <a:r>
              <a:rPr lang="en-US" altLang="zh-CN" sz="1200" dirty="0" err="1">
                <a:latin typeface="Tahoma" panose="020B0604030504040204" pitchFamily="34" charset="0"/>
              </a:rPr>
              <a:t>CTestView</a:t>
            </a:r>
            <a:r>
              <a:rPr lang="en-US" altLang="zh-CN" sz="1200" dirty="0">
                <a:latin typeface="Tahoma" panose="020B0604030504040204" pitchFamily="34" charset="0"/>
              </a:rPr>
              <a:t>::</a:t>
            </a:r>
            <a:r>
              <a:rPr lang="en-US" altLang="zh-CN" sz="1200" dirty="0" err="1">
                <a:latin typeface="Tahoma" panose="020B0604030504040204" pitchFamily="34" charset="0"/>
              </a:rPr>
              <a:t>MBEllipse</a:t>
            </a:r>
            <a:r>
              <a:rPr lang="en-US" altLang="zh-CN" sz="1200" dirty="0">
                <a:latin typeface="Tahoma" panose="020B0604030504040204" pitchFamily="34" charset="0"/>
              </a:rPr>
              <a:t>(CDC *</a:t>
            </a:r>
            <a:r>
              <a:rPr lang="en-US" altLang="zh-CN" sz="1200" dirty="0" err="1">
                <a:latin typeface="Tahoma" panose="020B0604030504040204" pitchFamily="34" charset="0"/>
              </a:rPr>
              <a:t>pDC</a:t>
            </a:r>
            <a:r>
              <a:rPr lang="en-US" altLang="zh-CN" sz="1200" dirty="0">
                <a:latin typeface="Tahoma" panose="020B0604030504040204" pitchFamily="34" charset="0"/>
              </a:rPr>
              <a:t>)//</a:t>
            </a:r>
            <a:r>
              <a:rPr lang="zh-CN" altLang="en-US" sz="1200" dirty="0">
                <a:latin typeface="Tahoma" panose="020B0604030504040204" pitchFamily="34" charset="0"/>
              </a:rPr>
              <a:t>椭圆中点</a:t>
            </a:r>
            <a:r>
              <a:rPr lang="en-US" altLang="zh-CN" sz="1200" dirty="0" err="1">
                <a:latin typeface="Tahoma" panose="020B0604030504040204" pitchFamily="34" charset="0"/>
              </a:rPr>
              <a:t>Bresenham</a:t>
            </a:r>
            <a:r>
              <a:rPr lang="zh-CN" altLang="en-US" sz="1200" dirty="0">
                <a:latin typeface="Tahoma" panose="020B0604030504040204" pitchFamily="34" charset="0"/>
              </a:rPr>
              <a:t>算法</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double x,y,d1,d2,a,b;</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r>
              <a:rPr lang="en-US" altLang="zh-CN" sz="1200" dirty="0" smtClean="0">
                <a:latin typeface="Tahoma" panose="020B0604030504040204" pitchFamily="34" charset="0"/>
              </a:rPr>
              <a:t>a=</a:t>
            </a:r>
            <a:r>
              <a:rPr lang="en-US" altLang="zh-CN" sz="1200" dirty="0" err="1" smtClean="0">
                <a:latin typeface="Tahoma" panose="020B0604030504040204" pitchFamily="34" charset="0"/>
              </a:rPr>
              <a:t>fabs</a:t>
            </a:r>
            <a:r>
              <a:rPr lang="en-US" altLang="zh-CN" sz="1200" dirty="0" smtClean="0">
                <a:latin typeface="Tahoma" panose="020B0604030504040204" pitchFamily="34" charset="0"/>
              </a:rPr>
              <a:t>(p1.x-p0.x</a:t>
            </a:r>
            <a:r>
              <a:rPr lang="en-US" altLang="zh-CN" sz="1200" dirty="0">
                <a:latin typeface="Tahoma" panose="020B0604030504040204" pitchFamily="34" charset="0"/>
              </a:rPr>
              <a:t>)/2;</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r>
              <a:rPr lang="en-US" altLang="zh-CN" sz="1200" dirty="0" smtClean="0">
                <a:latin typeface="Tahoma" panose="020B0604030504040204" pitchFamily="34" charset="0"/>
              </a:rPr>
              <a:t>b=</a:t>
            </a:r>
            <a:r>
              <a:rPr lang="en-US" altLang="zh-CN" sz="1200" dirty="0" err="1" smtClean="0">
                <a:latin typeface="Tahoma" panose="020B0604030504040204" pitchFamily="34" charset="0"/>
              </a:rPr>
              <a:t>fabs</a:t>
            </a:r>
            <a:r>
              <a:rPr lang="en-US" altLang="zh-CN" sz="1200" dirty="0" smtClean="0">
                <a:latin typeface="Tahoma" panose="020B0604030504040204" pitchFamily="34" charset="0"/>
              </a:rPr>
              <a:t>(p1.y-p0.y</a:t>
            </a:r>
            <a:r>
              <a:rPr lang="en-US" altLang="zh-CN" sz="1200" dirty="0">
                <a:latin typeface="Tahoma" panose="020B0604030504040204" pitchFamily="34" charset="0"/>
              </a:rPr>
              <a:t>)/2;</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x=0;y=b;</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d1=b*</a:t>
            </a:r>
            <a:r>
              <a:rPr lang="en-US" altLang="zh-CN" sz="1200" dirty="0" err="1">
                <a:latin typeface="Tahoma" panose="020B0604030504040204" pitchFamily="34" charset="0"/>
              </a:rPr>
              <a:t>b+a</a:t>
            </a:r>
            <a:r>
              <a:rPr lang="en-US" altLang="zh-CN" sz="1200" dirty="0">
                <a:latin typeface="Tahoma" panose="020B0604030504040204" pitchFamily="34" charset="0"/>
              </a:rPr>
              <a:t>*a*(-b+0.25);</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r>
              <a:rPr lang="en-US" altLang="zh-CN" sz="1200" dirty="0" err="1">
                <a:latin typeface="Tahoma" panose="020B0604030504040204" pitchFamily="34" charset="0"/>
              </a:rPr>
              <a:t>EllipsePoint</a:t>
            </a:r>
            <a:r>
              <a:rPr lang="en-US" altLang="zh-CN" sz="1200" dirty="0">
                <a:latin typeface="Tahoma" panose="020B0604030504040204" pitchFamily="34" charset="0"/>
              </a:rPr>
              <a:t>(</a:t>
            </a:r>
            <a:r>
              <a:rPr lang="en-US" altLang="zh-CN" sz="1200" dirty="0" err="1">
                <a:latin typeface="Tahoma" panose="020B0604030504040204" pitchFamily="34" charset="0"/>
              </a:rPr>
              <a:t>x,y,pDC</a:t>
            </a:r>
            <a:r>
              <a:rPr lang="en-US" altLang="zh-CN" sz="12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while(b*b*(x+1)&lt;a*a*(y-0.5))//</a:t>
            </a:r>
            <a:r>
              <a:rPr lang="zh-CN" altLang="en-US" sz="1200" dirty="0">
                <a:latin typeface="Tahoma" panose="020B0604030504040204" pitchFamily="34" charset="0"/>
              </a:rPr>
              <a:t>椭圆</a:t>
            </a:r>
            <a:r>
              <a:rPr lang="en-US" altLang="zh-CN" sz="1200" dirty="0">
                <a:latin typeface="Tahoma" panose="020B0604030504040204" pitchFamily="34" charset="0"/>
              </a:rPr>
              <a:t>AC</a:t>
            </a:r>
            <a:r>
              <a:rPr lang="zh-CN" altLang="en-US" sz="1200" dirty="0">
                <a:latin typeface="Tahoma" panose="020B0604030504040204" pitchFamily="34" charset="0"/>
              </a:rPr>
              <a:t>弧段</a:t>
            </a:r>
          </a:p>
          <a:p>
            <a:pPr eaLnBrk="1" hangingPunct="1">
              <a:lnSpc>
                <a:spcPct val="100000"/>
              </a:lnSpc>
              <a:spcBef>
                <a:spcPct val="0"/>
              </a:spcBef>
              <a:buFont typeface="Arial" panose="020B0604020202020204" pitchFamily="34" charset="0"/>
              <a:buNone/>
            </a:pPr>
            <a:r>
              <a:rPr lang="zh-CN" altLang="en-US" sz="1200" dirty="0">
                <a:latin typeface="Tahoma" panose="020B0604030504040204" pitchFamily="34" charset="0"/>
              </a:rPr>
              <a:t>	</a:t>
            </a:r>
            <a:r>
              <a:rPr lang="en-US" altLang="zh-CN" sz="1200" dirty="0" smtClean="0">
                <a:latin typeface="Tahoma" panose="020B0604030504040204" pitchFamily="34" charset="0"/>
              </a:rPr>
              <a:t>{	if (d1&lt;0)</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d1+=b*b*(2*x+3);</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else</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d1+=b*b*(2*x+3)+a*a*(-2*y+2);</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y--;</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x++;</a:t>
            </a:r>
          </a:p>
          <a:p>
            <a:pPr eaLnBrk="1" hangingPunct="1">
              <a:lnSpc>
                <a:spcPct val="100000"/>
              </a:lnSpc>
              <a:spcBef>
                <a:spcPct val="0"/>
              </a:spcBef>
              <a:buFont typeface="Arial" panose="020B0604020202020204" pitchFamily="34" charset="0"/>
              <a:buNone/>
            </a:pPr>
            <a:r>
              <a:rPr lang="en-US" altLang="zh-CN" sz="1200" dirty="0">
                <a:latin typeface="Tahoma" panose="020B0604030504040204" pitchFamily="34" charset="0"/>
              </a:rPr>
              <a:t>		</a:t>
            </a:r>
            <a:r>
              <a:rPr lang="en-US" altLang="zh-CN" sz="1200" dirty="0" err="1">
                <a:latin typeface="Tahoma" panose="020B0604030504040204" pitchFamily="34" charset="0"/>
              </a:rPr>
              <a:t>EllipsePoint</a:t>
            </a:r>
            <a:r>
              <a:rPr lang="en-US" altLang="zh-CN" sz="1200" dirty="0">
                <a:latin typeface="Tahoma" panose="020B0604030504040204" pitchFamily="34" charset="0"/>
              </a:rPr>
              <a:t>(</a:t>
            </a:r>
            <a:r>
              <a:rPr lang="en-US" altLang="zh-CN" sz="1200" dirty="0" err="1">
                <a:latin typeface="Tahoma" panose="020B0604030504040204" pitchFamily="34" charset="0"/>
              </a:rPr>
              <a:t>x,y,pDC</a:t>
            </a:r>
            <a:r>
              <a:rPr lang="en-US" altLang="zh-CN" sz="1200" dirty="0" smtClean="0">
                <a:latin typeface="Tahoma" panose="020B0604030504040204" pitchFamily="34" charset="0"/>
              </a:rPr>
              <a:t>);}</a:t>
            </a:r>
          </a:p>
          <a:p>
            <a:pPr eaLnBrk="1" hangingPunct="1">
              <a:lnSpc>
                <a:spcPct val="100000"/>
              </a:lnSpc>
              <a:spcBef>
                <a:spcPct val="0"/>
              </a:spcBef>
              <a:buFont typeface="Arial" panose="020B0604020202020204" pitchFamily="34" charset="0"/>
              <a:buNone/>
            </a:pPr>
            <a:endParaRPr lang="en-US" altLang="zh-CN" sz="1200" dirty="0" smtClean="0">
              <a:latin typeface="Tahoma" panose="020B0604030504040204" pitchFamily="34" charset="0"/>
            </a:endParaRPr>
          </a:p>
          <a:p>
            <a:pPr eaLnBrk="1" hangingPunct="1">
              <a:lnSpc>
                <a:spcPct val="100000"/>
              </a:lnSpc>
              <a:spcBef>
                <a:spcPct val="0"/>
              </a:spcBef>
              <a:buNone/>
            </a:pPr>
            <a:r>
              <a:rPr lang="en-US" altLang="zh-CN" sz="1200" dirty="0">
                <a:latin typeface="Tahoma" panose="020B0604030504040204" pitchFamily="34" charset="0"/>
              </a:rPr>
              <a:t>	d2=b*b*(x+0.5)*(x+0.5)+a*a*(y-1)*(y-1)-a*a*b*b</a:t>
            </a:r>
            <a:r>
              <a:rPr lang="en-US" altLang="zh-CN" sz="1200" dirty="0" smtClean="0">
                <a:latin typeface="Tahoma" panose="020B0604030504040204" pitchFamily="34" charset="0"/>
              </a:rPr>
              <a:t>;	//</a:t>
            </a:r>
            <a:r>
              <a:rPr lang="zh-CN" altLang="en-US" sz="1200" dirty="0">
                <a:latin typeface="Tahoma" panose="020B0604030504040204" pitchFamily="34" charset="0"/>
              </a:rPr>
              <a:t>椭圆</a:t>
            </a:r>
            <a:r>
              <a:rPr lang="en-US" altLang="zh-CN" sz="1200" dirty="0">
                <a:latin typeface="Tahoma" panose="020B0604030504040204" pitchFamily="34" charset="0"/>
              </a:rPr>
              <a:t>CB</a:t>
            </a:r>
            <a:r>
              <a:rPr lang="zh-CN" altLang="en-US" sz="1200" dirty="0">
                <a:latin typeface="Tahoma" panose="020B0604030504040204" pitchFamily="34" charset="0"/>
              </a:rPr>
              <a:t>弧</a:t>
            </a:r>
            <a:r>
              <a:rPr lang="zh-CN" altLang="en-US" sz="1200" dirty="0" smtClean="0">
                <a:latin typeface="Tahoma" panose="020B0604030504040204" pitchFamily="34" charset="0"/>
              </a:rPr>
              <a:t>段</a:t>
            </a:r>
            <a:endParaRPr lang="zh-CN" altLang="en-US" sz="1200" dirty="0">
              <a:latin typeface="Tahoma" panose="020B0604030504040204" pitchFamily="34" charset="0"/>
            </a:endParaRPr>
          </a:p>
          <a:p>
            <a:pPr eaLnBrk="1" hangingPunct="1">
              <a:lnSpc>
                <a:spcPct val="100000"/>
              </a:lnSpc>
              <a:spcBef>
                <a:spcPct val="0"/>
              </a:spcBef>
              <a:buNone/>
            </a:pPr>
            <a:r>
              <a:rPr lang="zh-CN" altLang="en-US" sz="1200" dirty="0">
                <a:latin typeface="Tahoma" panose="020B0604030504040204" pitchFamily="34" charset="0"/>
              </a:rPr>
              <a:t>	</a:t>
            </a:r>
            <a:r>
              <a:rPr lang="en-US" altLang="zh-CN" sz="1200" dirty="0">
                <a:latin typeface="Tahoma" panose="020B0604030504040204" pitchFamily="34" charset="0"/>
              </a:rPr>
              <a:t>while(y&gt;0)</a:t>
            </a:r>
          </a:p>
          <a:p>
            <a:pPr eaLnBrk="1" hangingPunct="1">
              <a:lnSpc>
                <a:spcPct val="100000"/>
              </a:lnSpc>
              <a:spcBef>
                <a:spcPct val="0"/>
              </a:spcBef>
              <a:buNone/>
            </a:pPr>
            <a:r>
              <a:rPr lang="en-US" altLang="zh-CN" sz="1200" dirty="0">
                <a:latin typeface="Tahoma" panose="020B0604030504040204" pitchFamily="34" charset="0"/>
              </a:rPr>
              <a:t>	</a:t>
            </a:r>
            <a:r>
              <a:rPr lang="en-US" altLang="zh-CN" sz="1200" dirty="0" smtClean="0">
                <a:latin typeface="Tahoma" panose="020B0604030504040204" pitchFamily="34" charset="0"/>
              </a:rPr>
              <a:t>{</a:t>
            </a:r>
            <a:r>
              <a:rPr lang="en-US" altLang="zh-CN" sz="1200" dirty="0">
                <a:latin typeface="Tahoma" panose="020B0604030504040204" pitchFamily="34" charset="0"/>
              </a:rPr>
              <a:t>	if (d2&lt;0)</a:t>
            </a:r>
          </a:p>
          <a:p>
            <a:pPr eaLnBrk="1" hangingPunct="1">
              <a:lnSpc>
                <a:spcPct val="100000"/>
              </a:lnSpc>
              <a:spcBef>
                <a:spcPct val="0"/>
              </a:spcBef>
              <a:buNone/>
            </a:pPr>
            <a:r>
              <a:rPr lang="en-US" altLang="zh-CN" sz="1200" dirty="0">
                <a:latin typeface="Tahoma" panose="020B0604030504040204" pitchFamily="34" charset="0"/>
              </a:rPr>
              <a:t>		</a:t>
            </a:r>
            <a:r>
              <a:rPr lang="en-US" altLang="zh-CN" sz="1200" dirty="0" smtClean="0">
                <a:latin typeface="Tahoma" panose="020B0604030504040204" pitchFamily="34" charset="0"/>
              </a:rPr>
              <a:t>{</a:t>
            </a:r>
            <a:r>
              <a:rPr lang="en-US" altLang="zh-CN" sz="1200" dirty="0">
                <a:latin typeface="Tahoma" panose="020B0604030504040204" pitchFamily="34" charset="0"/>
              </a:rPr>
              <a:t>	d2+=b*b*(2*x+2)+a*a*(-2*y+3);</a:t>
            </a:r>
          </a:p>
          <a:p>
            <a:pPr eaLnBrk="1" hangingPunct="1">
              <a:lnSpc>
                <a:spcPct val="100000"/>
              </a:lnSpc>
              <a:spcBef>
                <a:spcPct val="0"/>
              </a:spcBef>
              <a:buNone/>
            </a:pPr>
            <a:r>
              <a:rPr lang="en-US" altLang="zh-CN" sz="1200" dirty="0">
                <a:latin typeface="Tahoma" panose="020B0604030504040204" pitchFamily="34" charset="0"/>
              </a:rPr>
              <a:t>			x</a:t>
            </a:r>
            <a:r>
              <a:rPr lang="en-US" altLang="zh-CN" sz="1200" dirty="0" smtClean="0">
                <a:latin typeface="Tahoma" panose="020B0604030504040204" pitchFamily="34" charset="0"/>
              </a:rPr>
              <a:t>++;}</a:t>
            </a:r>
            <a:endParaRPr lang="en-US" altLang="zh-CN" sz="1200" dirty="0">
              <a:latin typeface="Tahoma" panose="020B0604030504040204" pitchFamily="34" charset="0"/>
            </a:endParaRPr>
          </a:p>
          <a:p>
            <a:pPr eaLnBrk="1" hangingPunct="1">
              <a:lnSpc>
                <a:spcPct val="100000"/>
              </a:lnSpc>
              <a:spcBef>
                <a:spcPct val="0"/>
              </a:spcBef>
              <a:buNone/>
            </a:pPr>
            <a:r>
              <a:rPr lang="en-US" altLang="zh-CN" sz="1200" dirty="0">
                <a:latin typeface="Tahoma" panose="020B0604030504040204" pitchFamily="34" charset="0"/>
              </a:rPr>
              <a:t>		else</a:t>
            </a:r>
          </a:p>
          <a:p>
            <a:pPr eaLnBrk="1" hangingPunct="1">
              <a:lnSpc>
                <a:spcPct val="100000"/>
              </a:lnSpc>
              <a:spcBef>
                <a:spcPct val="0"/>
              </a:spcBef>
              <a:buNone/>
            </a:pPr>
            <a:r>
              <a:rPr lang="en-US" altLang="zh-CN" sz="1200" dirty="0">
                <a:latin typeface="Tahoma" panose="020B0604030504040204" pitchFamily="34" charset="0"/>
              </a:rPr>
              <a:t>		</a:t>
            </a:r>
            <a:r>
              <a:rPr lang="en-US" altLang="zh-CN" sz="1200" dirty="0" smtClean="0">
                <a:latin typeface="Tahoma" panose="020B0604030504040204" pitchFamily="34" charset="0"/>
              </a:rPr>
              <a:t>{</a:t>
            </a:r>
            <a:r>
              <a:rPr lang="en-US" altLang="zh-CN" sz="1200" dirty="0">
                <a:latin typeface="Tahoma" panose="020B0604030504040204" pitchFamily="34" charset="0"/>
              </a:rPr>
              <a:t>	d2+=a*a*(-2*y+3</a:t>
            </a:r>
            <a:r>
              <a:rPr lang="en-US" altLang="zh-CN" sz="1200" dirty="0" smtClean="0">
                <a:latin typeface="Tahoma" panose="020B0604030504040204" pitchFamily="34" charset="0"/>
              </a:rPr>
              <a:t>);}</a:t>
            </a:r>
            <a:endParaRPr lang="en-US" altLang="zh-CN" sz="1200" dirty="0">
              <a:latin typeface="Tahoma" panose="020B0604030504040204" pitchFamily="34" charset="0"/>
            </a:endParaRPr>
          </a:p>
          <a:p>
            <a:pPr eaLnBrk="1" hangingPunct="1">
              <a:lnSpc>
                <a:spcPct val="100000"/>
              </a:lnSpc>
              <a:spcBef>
                <a:spcPct val="0"/>
              </a:spcBef>
              <a:buNone/>
            </a:pPr>
            <a:r>
              <a:rPr lang="en-US" altLang="zh-CN" sz="1200" dirty="0">
                <a:latin typeface="Tahoma" panose="020B0604030504040204" pitchFamily="34" charset="0"/>
              </a:rPr>
              <a:t>		y--;</a:t>
            </a:r>
          </a:p>
          <a:p>
            <a:pPr eaLnBrk="1" hangingPunct="1">
              <a:lnSpc>
                <a:spcPct val="100000"/>
              </a:lnSpc>
              <a:spcBef>
                <a:spcPct val="0"/>
              </a:spcBef>
              <a:buNone/>
            </a:pPr>
            <a:r>
              <a:rPr lang="en-US" altLang="zh-CN" sz="1200" dirty="0">
                <a:latin typeface="Tahoma" panose="020B0604030504040204" pitchFamily="34" charset="0"/>
              </a:rPr>
              <a:t>		</a:t>
            </a:r>
            <a:r>
              <a:rPr lang="en-US" altLang="zh-CN" sz="1200" dirty="0" err="1">
                <a:latin typeface="Tahoma" panose="020B0604030504040204" pitchFamily="34" charset="0"/>
              </a:rPr>
              <a:t>EllipsePoint</a:t>
            </a:r>
            <a:r>
              <a:rPr lang="en-US" altLang="zh-CN" sz="1200" dirty="0">
                <a:latin typeface="Tahoma" panose="020B0604030504040204" pitchFamily="34" charset="0"/>
              </a:rPr>
              <a:t>(</a:t>
            </a:r>
            <a:r>
              <a:rPr lang="en-US" altLang="zh-CN" sz="1200" dirty="0" err="1">
                <a:latin typeface="Tahoma" panose="020B0604030504040204" pitchFamily="34" charset="0"/>
              </a:rPr>
              <a:t>x,y,pDC</a:t>
            </a:r>
            <a:r>
              <a:rPr lang="en-US" altLang="zh-CN" sz="1200" dirty="0">
                <a:latin typeface="Tahoma" panose="020B0604030504040204" pitchFamily="34" charset="0"/>
              </a:rPr>
              <a:t>);</a:t>
            </a:r>
          </a:p>
          <a:p>
            <a:pPr eaLnBrk="1" hangingPunct="1">
              <a:lnSpc>
                <a:spcPct val="100000"/>
              </a:lnSpc>
              <a:spcBef>
                <a:spcPct val="0"/>
              </a:spcBef>
              <a:buNone/>
            </a:pPr>
            <a:r>
              <a:rPr lang="en-US" altLang="zh-CN" sz="1200" dirty="0">
                <a:latin typeface="Tahoma" panose="020B0604030504040204" pitchFamily="34" charset="0"/>
              </a:rPr>
              <a:t>	}</a:t>
            </a:r>
          </a:p>
          <a:p>
            <a:pPr eaLnBrk="1" hangingPunct="1">
              <a:lnSpc>
                <a:spcPct val="100000"/>
              </a:lnSpc>
              <a:spcBef>
                <a:spcPct val="0"/>
              </a:spcBef>
              <a:buNone/>
            </a:pPr>
            <a:r>
              <a:rPr lang="en-US" altLang="zh-CN" sz="1200" dirty="0">
                <a:latin typeface="Tahoma" panose="020B0604030504040204" pitchFamily="34" charset="0"/>
              </a:rPr>
              <a:t>}	</a:t>
            </a:r>
            <a:endParaRPr lang="zh-CN" altLang="en-US" sz="1200" dirty="0">
              <a:latin typeface="Tahoma" panose="020B060403050404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1115616" y="548680"/>
            <a:ext cx="7416800"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void </a:t>
            </a:r>
            <a:r>
              <a:rPr lang="en-US" altLang="zh-CN" sz="1600" dirty="0" err="1">
                <a:latin typeface="Tahoma" panose="020B0604030504040204" pitchFamily="34" charset="0"/>
              </a:rPr>
              <a:t>CTestView</a:t>
            </a:r>
            <a:r>
              <a:rPr lang="en-US" altLang="zh-CN" sz="1600" dirty="0">
                <a:latin typeface="Tahoma" panose="020B0604030504040204" pitchFamily="34" charset="0"/>
              </a:rPr>
              <a:t>::</a:t>
            </a:r>
            <a:r>
              <a:rPr lang="en-US" altLang="zh-CN" sz="1600" dirty="0" err="1">
                <a:latin typeface="Tahoma" panose="020B0604030504040204" pitchFamily="34" charset="0"/>
              </a:rPr>
              <a:t>EllipsePoint</a:t>
            </a:r>
            <a:r>
              <a:rPr lang="en-US" altLang="zh-CN" sz="1600" dirty="0">
                <a:latin typeface="Tahoma" panose="020B0604030504040204" pitchFamily="34" charset="0"/>
              </a:rPr>
              <a:t>(double x, double </a:t>
            </a:r>
            <a:r>
              <a:rPr lang="en-US" altLang="zh-CN" sz="1600" dirty="0" err="1">
                <a:latin typeface="Tahoma" panose="020B0604030504040204" pitchFamily="34" charset="0"/>
              </a:rPr>
              <a:t>y,CDC</a:t>
            </a:r>
            <a:r>
              <a:rPr lang="en-US" altLang="zh-CN"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a:t>
            </a:r>
            <a:r>
              <a:rPr lang="zh-CN" altLang="en-US" sz="1600" dirty="0">
                <a:latin typeface="Tahoma" panose="020B0604030504040204" pitchFamily="34" charset="0"/>
              </a:rPr>
              <a:t>四分法画椭圆子函数</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zh-CN" altLang="en-US" sz="1600" dirty="0">
                <a:latin typeface="Tahoma" panose="020B0604030504040204" pitchFamily="34" charset="0"/>
              </a:rPr>
              <a:t>椭圆中心坐标</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CP2 pc=CP2((p0.x+p1.x)/2.0,(p0.y+p1.y)/2.0); </a:t>
            </a:r>
            <a:r>
              <a:rPr lang="zh-CN" altLang="en-US" sz="16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zh-CN" altLang="en-US" sz="1600" dirty="0">
                <a:latin typeface="Tahoma" panose="020B0604030504040204" pitchFamily="34" charset="0"/>
              </a:rPr>
              <a:t>定义椭圆的颜色</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COLORREF  </a:t>
            </a:r>
            <a:r>
              <a:rPr lang="en-US" altLang="zh-CN" sz="1600" dirty="0" err="1">
                <a:latin typeface="Tahoma" panose="020B0604030504040204" pitchFamily="34" charset="0"/>
              </a:rPr>
              <a:t>clr</a:t>
            </a:r>
            <a:r>
              <a:rPr lang="en-US" altLang="zh-CN" sz="1600" dirty="0">
                <a:latin typeface="Tahoma" panose="020B0604030504040204" pitchFamily="34" charset="0"/>
              </a:rPr>
              <a:t>=RGB(0,0,255); </a:t>
            </a:r>
          </a:p>
          <a:p>
            <a:pPr eaLnBrk="1" hangingPunct="1">
              <a:lnSpc>
                <a:spcPct val="100000"/>
              </a:lnSpc>
              <a:spcBef>
                <a:spcPct val="0"/>
              </a:spcBef>
              <a:buFont typeface="Arial" panose="020B0604020202020204" pitchFamily="34" charset="0"/>
              <a:buNone/>
            </a:pPr>
            <a:r>
              <a:rPr lang="zh-CN" altLang="en-US"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(Round(</a:t>
            </a:r>
            <a:r>
              <a:rPr lang="en-US" altLang="zh-CN" sz="1600" dirty="0" err="1">
                <a:latin typeface="Tahoma" panose="020B0604030504040204" pitchFamily="34" charset="0"/>
              </a:rPr>
              <a:t>x+pc.x</a:t>
            </a:r>
            <a:r>
              <a:rPr lang="en-US" altLang="zh-CN" sz="1600" dirty="0">
                <a:latin typeface="Tahoma" panose="020B0604030504040204" pitchFamily="34" charset="0"/>
              </a:rPr>
              <a:t>),Round(</a:t>
            </a:r>
            <a:r>
              <a:rPr lang="en-US" altLang="zh-CN" sz="1600" dirty="0" err="1">
                <a:latin typeface="Tahoma" panose="020B0604030504040204" pitchFamily="34" charset="0"/>
              </a:rPr>
              <a:t>y+pc.y</a:t>
            </a:r>
            <a:r>
              <a:rPr lang="en-US" altLang="zh-CN" sz="1600" dirty="0">
                <a:latin typeface="Tahoma" panose="020B0604030504040204" pitchFamily="34" charset="0"/>
              </a:rPr>
              <a:t>),</a:t>
            </a:r>
            <a:r>
              <a:rPr lang="en-US" altLang="zh-CN" sz="1600" dirty="0" err="1">
                <a:latin typeface="Tahoma" panose="020B0604030504040204" pitchFamily="34" charset="0"/>
              </a:rPr>
              <a:t>clr</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(Round(-</a:t>
            </a:r>
            <a:r>
              <a:rPr lang="en-US" altLang="zh-CN" sz="1600" dirty="0" err="1">
                <a:latin typeface="Tahoma" panose="020B0604030504040204" pitchFamily="34" charset="0"/>
              </a:rPr>
              <a:t>x+pc.x</a:t>
            </a:r>
            <a:r>
              <a:rPr lang="en-US" altLang="zh-CN" sz="1600" dirty="0">
                <a:latin typeface="Tahoma" panose="020B0604030504040204" pitchFamily="34" charset="0"/>
              </a:rPr>
              <a:t>),Round(</a:t>
            </a:r>
            <a:r>
              <a:rPr lang="en-US" altLang="zh-CN" sz="1600" dirty="0" err="1">
                <a:latin typeface="Tahoma" panose="020B0604030504040204" pitchFamily="34" charset="0"/>
              </a:rPr>
              <a:t>y+pc.y</a:t>
            </a:r>
            <a:r>
              <a:rPr lang="en-US" altLang="zh-CN" sz="1600" dirty="0">
                <a:latin typeface="Tahoma" panose="020B0604030504040204" pitchFamily="34" charset="0"/>
              </a:rPr>
              <a:t>),</a:t>
            </a:r>
            <a:r>
              <a:rPr lang="en-US" altLang="zh-CN" sz="1600" dirty="0" err="1">
                <a:latin typeface="Tahoma" panose="020B0604030504040204" pitchFamily="34" charset="0"/>
              </a:rPr>
              <a:t>clr</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(Round(</a:t>
            </a:r>
            <a:r>
              <a:rPr lang="en-US" altLang="zh-CN" sz="1600" dirty="0" err="1">
                <a:latin typeface="Tahoma" panose="020B0604030504040204" pitchFamily="34" charset="0"/>
              </a:rPr>
              <a:t>x+pc.x</a:t>
            </a:r>
            <a:r>
              <a:rPr lang="en-US" altLang="zh-CN" sz="1600" dirty="0">
                <a:latin typeface="Tahoma" panose="020B0604030504040204" pitchFamily="34" charset="0"/>
              </a:rPr>
              <a:t>),Round(-</a:t>
            </a:r>
            <a:r>
              <a:rPr lang="en-US" altLang="zh-CN" sz="1600" dirty="0" err="1">
                <a:latin typeface="Tahoma" panose="020B0604030504040204" pitchFamily="34" charset="0"/>
              </a:rPr>
              <a:t>y+pc.y</a:t>
            </a:r>
            <a:r>
              <a:rPr lang="en-US" altLang="zh-CN" sz="1600" dirty="0">
                <a:latin typeface="Tahoma" panose="020B0604030504040204" pitchFamily="34" charset="0"/>
              </a:rPr>
              <a:t>),</a:t>
            </a:r>
            <a:r>
              <a:rPr lang="en-US" altLang="zh-CN" sz="1600" dirty="0" err="1">
                <a:latin typeface="Tahoma" panose="020B0604030504040204" pitchFamily="34" charset="0"/>
              </a:rPr>
              <a:t>clr</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(Round(-</a:t>
            </a:r>
            <a:r>
              <a:rPr lang="en-US" altLang="zh-CN" sz="1600" dirty="0" err="1">
                <a:latin typeface="Tahoma" panose="020B0604030504040204" pitchFamily="34" charset="0"/>
              </a:rPr>
              <a:t>x+pc.x</a:t>
            </a:r>
            <a:r>
              <a:rPr lang="en-US" altLang="zh-CN" sz="1600" dirty="0">
                <a:latin typeface="Tahoma" panose="020B0604030504040204" pitchFamily="34" charset="0"/>
              </a:rPr>
              <a:t>),Round(-</a:t>
            </a:r>
            <a:r>
              <a:rPr lang="en-US" altLang="zh-CN" sz="1600" dirty="0" err="1">
                <a:latin typeface="Tahoma" panose="020B0604030504040204" pitchFamily="34" charset="0"/>
              </a:rPr>
              <a:t>y+pc.y</a:t>
            </a:r>
            <a:r>
              <a:rPr lang="en-US" altLang="zh-CN" sz="1600" dirty="0">
                <a:latin typeface="Tahoma" panose="020B0604030504040204" pitchFamily="34" charset="0"/>
              </a:rPr>
              <a:t>),</a:t>
            </a:r>
            <a:r>
              <a:rPr lang="en-US" altLang="zh-CN" sz="1600" dirty="0" err="1">
                <a:latin typeface="Tahoma" panose="020B0604030504040204" pitchFamily="34" charset="0"/>
              </a:rPr>
              <a:t>clr</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pDC</a:t>
            </a:r>
            <a:r>
              <a:rPr lang="en-US" altLang="zh-CN" sz="1600" dirty="0">
                <a:latin typeface="Tahoma" panose="020B0604030504040204" pitchFamily="34" charset="0"/>
              </a:rPr>
              <a:t>-&gt;</a:t>
            </a:r>
            <a:r>
              <a:rPr lang="en-US" altLang="zh-CN" sz="1600" dirty="0" err="1">
                <a:latin typeface="Tahoma" panose="020B0604030504040204" pitchFamily="34" charset="0"/>
              </a:rPr>
              <a:t>MoveTo</a:t>
            </a:r>
            <a:r>
              <a:rPr lang="en-US" altLang="zh-CN" sz="1600" dirty="0">
                <a:latin typeface="Tahoma" panose="020B0604030504040204" pitchFamily="34" charset="0"/>
              </a:rPr>
              <a:t>(Round(p0.x),Round(p0.y));</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a:t>
            </a:r>
            <a:endParaRPr lang="zh-CN" altLang="en-US" sz="1600" dirty="0">
              <a:latin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4"/>
          <p:cNvSpPr>
            <a:spLocks noChangeArrowheads="1"/>
          </p:cNvSpPr>
          <p:nvPr/>
        </p:nvSpPr>
        <p:spPr bwMode="auto">
          <a:xfrm>
            <a:off x="563612" y="-37443"/>
            <a:ext cx="3527425" cy="762000"/>
          </a:xfrm>
          <a:prstGeom prst="rect">
            <a:avLst/>
          </a:prstGeom>
          <a:noFill/>
          <a:ln w="9525">
            <a:noFill/>
            <a:miter lim="800000"/>
          </a:ln>
        </p:spPr>
        <p:txBody>
          <a:bodyPr anchor="b"/>
          <a:lstStyle/>
          <a:p>
            <a:pPr eaLnBrk="1" hangingPunct="1">
              <a:buFont typeface="Arial" panose="020B0604020202020204" pitchFamily="34" charset="0"/>
              <a:buNone/>
              <a:defRPr/>
            </a:pPr>
            <a:r>
              <a:rPr lang="en-US" sz="3600" b="1" dirty="0">
                <a:effectLst>
                  <a:outerShdw blurRad="38100" dist="38100" dir="2700000" algn="tl">
                    <a:srgbClr val="C0C0C0"/>
                  </a:outerShdw>
                </a:effectLst>
                <a:latin typeface="楷体_GB2312" pitchFamily="49" charset="-122"/>
              </a:rPr>
              <a:t>3.4 </a:t>
            </a:r>
            <a:r>
              <a:rPr lang="zh-CN" altLang="en-US" sz="3600" b="1" dirty="0">
                <a:effectLst>
                  <a:outerShdw blurRad="38100" dist="38100" dir="2700000" algn="tl">
                    <a:srgbClr val="C0C0C0"/>
                  </a:outerShdw>
                </a:effectLst>
                <a:latin typeface="楷体_GB2312" pitchFamily="49" charset="-122"/>
              </a:rPr>
              <a:t>反走样技术 </a:t>
            </a:r>
          </a:p>
        </p:txBody>
      </p:sp>
      <p:sp>
        <p:nvSpPr>
          <p:cNvPr id="54275" name="Rectangle 8"/>
          <p:cNvSpPr>
            <a:spLocks noChangeArrowheads="1"/>
          </p:cNvSpPr>
          <p:nvPr/>
        </p:nvSpPr>
        <p:spPr bwMode="auto">
          <a:xfrm>
            <a:off x="0" y="179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54276" name="Rectangle 10"/>
          <p:cNvSpPr>
            <a:spLocks noChangeArrowheads="1"/>
          </p:cNvSpPr>
          <p:nvPr/>
        </p:nvSpPr>
        <p:spPr bwMode="auto">
          <a:xfrm>
            <a:off x="0" y="5060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Arial" panose="020B0604020202020204" pitchFamily="34" charset="0"/>
              <a:ea typeface="宋体" panose="02010600030101010101" pitchFamily="2" charset="-122"/>
            </a:endParaRPr>
          </a:p>
        </p:txBody>
      </p:sp>
      <p:sp>
        <p:nvSpPr>
          <p:cNvPr id="54277" name="Rectangle 12"/>
          <p:cNvSpPr>
            <a:spLocks noChangeArrowheads="1"/>
          </p:cNvSpPr>
          <p:nvPr/>
        </p:nvSpPr>
        <p:spPr bwMode="auto">
          <a:xfrm>
            <a:off x="0" y="2652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54278" name="Rectangle 14"/>
          <p:cNvSpPr>
            <a:spLocks noChangeArrowheads="1"/>
          </p:cNvSpPr>
          <p:nvPr/>
        </p:nvSpPr>
        <p:spPr bwMode="auto">
          <a:xfrm>
            <a:off x="0" y="2471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54279" name="Rectangle 17"/>
          <p:cNvSpPr>
            <a:spLocks noChangeArrowheads="1"/>
          </p:cNvSpPr>
          <p:nvPr/>
        </p:nvSpPr>
        <p:spPr bwMode="auto">
          <a:xfrm>
            <a:off x="359569" y="752106"/>
            <a:ext cx="842486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000" dirty="0" smtClean="0">
                <a:latin typeface="楷体_GB2312" pitchFamily="49" charset="-122"/>
              </a:rPr>
              <a:t>直线</a:t>
            </a:r>
            <a:r>
              <a:rPr lang="zh-CN" altLang="en-US" sz="2000" dirty="0">
                <a:latin typeface="楷体_GB2312" pitchFamily="49" charset="-122"/>
              </a:rPr>
              <a:t>扫描转换算法在</a:t>
            </a:r>
            <a:r>
              <a:rPr lang="zh-CN" altLang="en-US" sz="2000" dirty="0">
                <a:solidFill>
                  <a:srgbClr val="FF0000"/>
                </a:solidFill>
                <a:latin typeface="华文琥珀" panose="02010800040101010101" pitchFamily="2" charset="-122"/>
                <a:ea typeface="华文琥珀" panose="02010800040101010101" pitchFamily="2" charset="-122"/>
              </a:rPr>
              <a:t>处理非水平、非垂直且非</a:t>
            </a:r>
            <a:r>
              <a:rPr lang="en-US" altLang="zh-CN" sz="2000" dirty="0">
                <a:solidFill>
                  <a:srgbClr val="FF0000"/>
                </a:solidFill>
                <a:latin typeface="华文琥珀" panose="02010800040101010101" pitchFamily="2" charset="-122"/>
                <a:ea typeface="华文琥珀" panose="02010800040101010101" pitchFamily="2" charset="-122"/>
              </a:rPr>
              <a:t>45°</a:t>
            </a:r>
            <a:r>
              <a:rPr lang="zh-CN" altLang="en-US" sz="2000" dirty="0">
                <a:solidFill>
                  <a:srgbClr val="FF0000"/>
                </a:solidFill>
                <a:latin typeface="华文琥珀" panose="02010800040101010101" pitchFamily="2" charset="-122"/>
                <a:ea typeface="华文琥珀" panose="02010800040101010101" pitchFamily="2" charset="-122"/>
              </a:rPr>
              <a:t>的直线段时会出现锯齿</a:t>
            </a:r>
            <a:r>
              <a:rPr lang="zh-CN" altLang="en-US" sz="2000" dirty="0">
                <a:latin typeface="楷体_GB2312" pitchFamily="49" charset="-122"/>
              </a:rPr>
              <a:t>，这是因为直线段在光栅扫描显示器上显示的图像是由一系列</a:t>
            </a:r>
            <a:r>
              <a:rPr lang="zh-CN" altLang="en-US" sz="2000" b="1" dirty="0">
                <a:solidFill>
                  <a:srgbClr val="3366FF"/>
                </a:solidFill>
                <a:latin typeface="方正粗黑宋简体" panose="02000000000000000000" pitchFamily="2" charset="-122"/>
                <a:ea typeface="方正粗黑宋简体" panose="02000000000000000000" pitchFamily="2" charset="-122"/>
              </a:rPr>
              <a:t>亮度相同而面积不为零</a:t>
            </a:r>
            <a:r>
              <a:rPr lang="zh-CN" altLang="en-US" sz="2000" dirty="0">
                <a:latin typeface="楷体_GB2312" pitchFamily="49" charset="-122"/>
              </a:rPr>
              <a:t>的离散像素点构成的。这种</a:t>
            </a:r>
            <a:r>
              <a:rPr lang="zh-CN" altLang="en-US" sz="2000" b="1" dirty="0">
                <a:solidFill>
                  <a:srgbClr val="3366FF"/>
                </a:solidFill>
                <a:latin typeface="方正粗黑宋简体" panose="02000000000000000000" pitchFamily="2" charset="-122"/>
                <a:ea typeface="方正粗黑宋简体" panose="02000000000000000000" pitchFamily="2" charset="-122"/>
              </a:rPr>
              <a:t>由离散量表示连续量而引起的失真</a:t>
            </a:r>
            <a:r>
              <a:rPr lang="zh-CN" altLang="en-US" sz="2000" dirty="0">
                <a:solidFill>
                  <a:srgbClr val="FF0000"/>
                </a:solidFill>
                <a:latin typeface="华文琥珀" panose="02010800040101010101" pitchFamily="2" charset="-122"/>
                <a:ea typeface="华文琥珀" panose="02010800040101010101" pitchFamily="2" charset="-122"/>
              </a:rPr>
              <a:t>称为走样（</a:t>
            </a:r>
            <a:r>
              <a:rPr lang="en-US" altLang="zh-CN" sz="2000" dirty="0">
                <a:solidFill>
                  <a:srgbClr val="FF0000"/>
                </a:solidFill>
                <a:latin typeface="华文琥珀" panose="02010800040101010101" pitchFamily="2" charset="-122"/>
                <a:ea typeface="华文琥珀" panose="02010800040101010101" pitchFamily="2" charset="-122"/>
              </a:rPr>
              <a:t>aliasing</a:t>
            </a:r>
            <a:r>
              <a:rPr lang="zh-CN" altLang="en-US" sz="2000" dirty="0">
                <a:solidFill>
                  <a:srgbClr val="FF0000"/>
                </a:solidFill>
                <a:latin typeface="华文琥珀" panose="02010800040101010101" pitchFamily="2" charset="-122"/>
                <a:ea typeface="华文琥珀" panose="02010800040101010101" pitchFamily="2" charset="-122"/>
              </a:rPr>
              <a:t>）</a:t>
            </a:r>
            <a:r>
              <a:rPr lang="zh-CN" altLang="en-US" sz="2000" dirty="0">
                <a:latin typeface="楷体_GB2312" pitchFamily="49" charset="-122"/>
              </a:rPr>
              <a:t>。</a:t>
            </a:r>
            <a:r>
              <a:rPr lang="zh-CN" altLang="en-US" sz="2000" b="1" dirty="0">
                <a:solidFill>
                  <a:srgbClr val="3366FF"/>
                </a:solidFill>
                <a:latin typeface="方正粗黑宋简体" panose="02000000000000000000" pitchFamily="2" charset="-122"/>
                <a:ea typeface="方正粗黑宋简体" panose="02000000000000000000" pitchFamily="2" charset="-122"/>
              </a:rPr>
              <a:t>用于减轻走样现象的技术称为</a:t>
            </a:r>
            <a:r>
              <a:rPr lang="zh-CN" altLang="en-US" sz="2000" b="1" dirty="0">
                <a:solidFill>
                  <a:srgbClr val="FF0000"/>
                </a:solidFill>
                <a:latin typeface="方正粗黑宋简体" panose="02000000000000000000" pitchFamily="2" charset="-122"/>
                <a:ea typeface="方正粗黑宋简体" panose="02000000000000000000" pitchFamily="2" charset="-122"/>
              </a:rPr>
              <a:t>反走样（</a:t>
            </a:r>
            <a:r>
              <a:rPr lang="en-US" altLang="zh-CN" sz="2000" b="1" dirty="0">
                <a:solidFill>
                  <a:srgbClr val="FF0000"/>
                </a:solidFill>
                <a:latin typeface="方正粗黑宋简体" panose="02000000000000000000" pitchFamily="2" charset="-122"/>
                <a:ea typeface="方正粗黑宋简体" panose="02000000000000000000" pitchFamily="2" charset="-122"/>
              </a:rPr>
              <a:t>anti-</a:t>
            </a:r>
            <a:r>
              <a:rPr lang="en-US" altLang="zh-CN" sz="2000" b="1" dirty="0" err="1">
                <a:solidFill>
                  <a:srgbClr val="FF0000"/>
                </a:solidFill>
                <a:latin typeface="方正粗黑宋简体" panose="02000000000000000000" pitchFamily="2" charset="-122"/>
                <a:ea typeface="方正粗黑宋简体" panose="02000000000000000000" pitchFamily="2" charset="-122"/>
              </a:rPr>
              <a:t>aliasing,AA</a:t>
            </a:r>
            <a:r>
              <a:rPr lang="zh-CN" altLang="en-US" sz="2000" b="1" dirty="0">
                <a:solidFill>
                  <a:srgbClr val="FF0000"/>
                </a:solidFill>
                <a:latin typeface="方正粗黑宋简体" panose="02000000000000000000" pitchFamily="2" charset="-122"/>
                <a:ea typeface="方正粗黑宋简体" panose="02000000000000000000" pitchFamily="2" charset="-122"/>
              </a:rPr>
              <a:t>）或者抗锯齿</a:t>
            </a:r>
            <a:r>
              <a:rPr lang="zh-CN" altLang="en-US" sz="2000" dirty="0">
                <a:latin typeface="楷体_GB2312" pitchFamily="49" charset="-122"/>
              </a:rPr>
              <a:t>。走样是理想直线（理想直线宽度为</a:t>
            </a:r>
            <a:r>
              <a:rPr lang="zh-CN" altLang="en-US" sz="2000" dirty="0">
                <a:latin typeface="Tahoma" panose="020B0604030504040204" pitchFamily="34" charset="0"/>
              </a:rPr>
              <a:t>零</a:t>
            </a:r>
            <a:r>
              <a:rPr lang="zh-CN" altLang="en-US" sz="2000" dirty="0">
                <a:latin typeface="楷体_GB2312" pitchFamily="49" charset="-122"/>
              </a:rPr>
              <a:t>）扫描转换后（真实像素点面积不为零）的必然结果。</a:t>
            </a:r>
            <a:r>
              <a:rPr lang="zh-CN" altLang="en-US" sz="2000" b="1" dirty="0">
                <a:solidFill>
                  <a:srgbClr val="3366FF"/>
                </a:solidFill>
                <a:latin typeface="方正粗黑宋简体" panose="02000000000000000000" pitchFamily="2" charset="-122"/>
                <a:ea typeface="方正粗黑宋简体" panose="02000000000000000000" pitchFamily="2" charset="-122"/>
              </a:rPr>
              <a:t>走样是光栅扫描显示器的一种固有现象</a:t>
            </a:r>
            <a:r>
              <a:rPr lang="zh-CN" altLang="en-US" sz="2000" dirty="0">
                <a:latin typeface="楷体_GB2312" pitchFamily="49" charset="-122"/>
              </a:rPr>
              <a:t>，不可避免，只能减轻。</a:t>
            </a:r>
          </a:p>
        </p:txBody>
      </p:sp>
      <p:graphicFrame>
        <p:nvGraphicFramePr>
          <p:cNvPr id="8" name="Object 4"/>
          <p:cNvGraphicFramePr>
            <a:graphicFrameLocks noChangeAspect="1"/>
          </p:cNvGraphicFramePr>
          <p:nvPr>
            <p:extLst>
              <p:ext uri="{D42A27DB-BD31-4B8C-83A1-F6EECF244321}">
                <p14:modId xmlns:p14="http://schemas.microsoft.com/office/powerpoint/2010/main" val="66397623"/>
              </p:ext>
            </p:extLst>
          </p:nvPr>
        </p:nvGraphicFramePr>
        <p:xfrm>
          <a:off x="563612" y="4678100"/>
          <a:ext cx="1584523" cy="1239669"/>
        </p:xfrm>
        <a:graphic>
          <a:graphicData uri="http://schemas.openxmlformats.org/presentationml/2006/ole">
            <mc:AlternateContent xmlns:mc="http://schemas.openxmlformats.org/markup-compatibility/2006">
              <mc:Choice xmlns:v="urn:schemas-microsoft-com:vml" Requires="v">
                <p:oleObj spid="_x0000_s71700" r:id="rId3" imgW="4124880" imgH="3221280" progId="Visio.Drawing.11">
                  <p:embed/>
                </p:oleObj>
              </mc:Choice>
              <mc:Fallback>
                <p:oleObj r:id="rId3" imgW="4124880" imgH="3221280" progId="Visio.Drawing.11">
                  <p:embed/>
                  <p:pic>
                    <p:nvPicPr>
                      <p:cNvPr id="5529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612" y="4678100"/>
                        <a:ext cx="1584523" cy="1239669"/>
                      </a:xfrm>
                      <a:prstGeom prst="rect">
                        <a:avLst/>
                      </a:prstGeom>
                      <a:noFill/>
                      <a:ln>
                        <a:noFill/>
                      </a:ln>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2847275274"/>
              </p:ext>
            </p:extLst>
          </p:nvPr>
        </p:nvGraphicFramePr>
        <p:xfrm>
          <a:off x="2699792" y="4678099"/>
          <a:ext cx="1590189" cy="1239669"/>
        </p:xfrm>
        <a:graphic>
          <a:graphicData uri="http://schemas.openxmlformats.org/presentationml/2006/ole">
            <mc:AlternateContent xmlns:mc="http://schemas.openxmlformats.org/markup-compatibility/2006">
              <mc:Choice xmlns:v="urn:schemas-microsoft-com:vml" Requires="v">
                <p:oleObj spid="_x0000_s71701" r:id="rId5" imgW="4124880" imgH="3221280" progId="Visio.Drawing.11">
                  <p:embed/>
                </p:oleObj>
              </mc:Choice>
              <mc:Fallback>
                <p:oleObj r:id="rId5" imgW="4124880" imgH="3221280" progId="Visio.Drawing.11">
                  <p:embed/>
                  <p:pic>
                    <p:nvPicPr>
                      <p:cNvPr id="5529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9792" y="4678099"/>
                        <a:ext cx="1590189" cy="1239669"/>
                      </a:xfrm>
                      <a:prstGeom prst="rect">
                        <a:avLst/>
                      </a:prstGeom>
                      <a:noFill/>
                      <a:ln>
                        <a:noFill/>
                      </a:ln>
                      <a:extLst/>
                    </p:spPr>
                  </p:pic>
                </p:oleObj>
              </mc:Fallback>
            </mc:AlternateContent>
          </a:graphicData>
        </a:graphic>
      </p:graphicFrame>
      <p:sp>
        <p:nvSpPr>
          <p:cNvPr id="10" name="Text Box 7"/>
          <p:cNvSpPr txBox="1">
            <a:spLocks noChangeArrowheads="1"/>
          </p:cNvSpPr>
          <p:nvPr/>
        </p:nvSpPr>
        <p:spPr bwMode="auto">
          <a:xfrm>
            <a:off x="239860" y="5966335"/>
            <a:ext cx="22320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50000"/>
              </a:spcBef>
              <a:buFont typeface="Arial" panose="020B0604020202020204" pitchFamily="34" charset="0"/>
              <a:buNone/>
            </a:pPr>
            <a:r>
              <a:rPr lang="zh-CN" altLang="en-US" sz="2000" dirty="0">
                <a:latin typeface="Tahoma" panose="020B0604030504040204" pitchFamily="34" charset="0"/>
              </a:rPr>
              <a:t>不走样直线</a:t>
            </a:r>
          </a:p>
        </p:txBody>
      </p:sp>
      <p:sp>
        <p:nvSpPr>
          <p:cNvPr id="11" name="Text Box 8"/>
          <p:cNvSpPr txBox="1">
            <a:spLocks noChangeArrowheads="1"/>
          </p:cNvSpPr>
          <p:nvPr/>
        </p:nvSpPr>
        <p:spPr bwMode="auto">
          <a:xfrm>
            <a:off x="2745166" y="5902681"/>
            <a:ext cx="1499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50000"/>
              </a:spcBef>
              <a:buFont typeface="Arial" panose="020B0604020202020204" pitchFamily="34" charset="0"/>
              <a:buNone/>
            </a:pPr>
            <a:r>
              <a:rPr lang="zh-CN" altLang="en-US" sz="2000" dirty="0">
                <a:latin typeface="Tahoma" panose="020B0604030504040204" pitchFamily="34" charset="0"/>
              </a:rPr>
              <a:t>走样直线</a:t>
            </a:r>
          </a:p>
        </p:txBody>
      </p:sp>
      <p:pic>
        <p:nvPicPr>
          <p:cNvPr id="12" name="Picture 12" descr="no"/>
          <p:cNvPicPr>
            <a:picLocks noChangeAspect="1" noChangeArrowheads="1"/>
          </p:cNvPicPr>
          <p:nvPr/>
        </p:nvPicPr>
        <p:blipFill>
          <a:blip r:embed="rId7">
            <a:extLst>
              <a:ext uri="{28A0092B-C50C-407E-A947-70E740481C1C}">
                <a14:useLocalDpi xmlns:a14="http://schemas.microsoft.com/office/drawing/2010/main" val="0"/>
              </a:ext>
            </a:extLst>
          </a:blip>
          <a:srcRect t="21632" r="45241"/>
          <a:stretch>
            <a:fillRect/>
          </a:stretch>
        </p:blipFill>
        <p:spPr bwMode="auto">
          <a:xfrm>
            <a:off x="4641518" y="3997141"/>
            <a:ext cx="1761883" cy="189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4" descr="8aa"/>
          <p:cNvPicPr>
            <a:picLocks noChangeAspect="1" noChangeArrowheads="1"/>
          </p:cNvPicPr>
          <p:nvPr/>
        </p:nvPicPr>
        <p:blipFill>
          <a:blip r:embed="rId8">
            <a:extLst>
              <a:ext uri="{28A0092B-C50C-407E-A947-70E740481C1C}">
                <a14:useLocalDpi xmlns:a14="http://schemas.microsoft.com/office/drawing/2010/main" val="0"/>
              </a:ext>
            </a:extLst>
          </a:blip>
          <a:srcRect r="27333"/>
          <a:stretch>
            <a:fillRect/>
          </a:stretch>
        </p:blipFill>
        <p:spPr bwMode="auto">
          <a:xfrm>
            <a:off x="6950107" y="3997141"/>
            <a:ext cx="1834324" cy="189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6"/>
          <p:cNvSpPr txBox="1">
            <a:spLocks noChangeArrowheads="1"/>
          </p:cNvSpPr>
          <p:nvPr/>
        </p:nvSpPr>
        <p:spPr bwMode="auto">
          <a:xfrm>
            <a:off x="4321552" y="5976187"/>
            <a:ext cx="22320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50000"/>
              </a:spcBef>
              <a:buFont typeface="Arial" panose="020B0604020202020204" pitchFamily="34" charset="0"/>
              <a:buNone/>
            </a:pPr>
            <a:r>
              <a:rPr lang="zh-CN" altLang="en-US" sz="2000" dirty="0">
                <a:latin typeface="Tahoma" panose="020B0604030504040204" pitchFamily="34" charset="0"/>
              </a:rPr>
              <a:t>未开抗锯齿</a:t>
            </a:r>
          </a:p>
        </p:txBody>
      </p:sp>
      <p:sp>
        <p:nvSpPr>
          <p:cNvPr id="15" name="Text Box 17"/>
          <p:cNvSpPr txBox="1">
            <a:spLocks noChangeArrowheads="1"/>
          </p:cNvSpPr>
          <p:nvPr/>
        </p:nvSpPr>
        <p:spPr bwMode="auto">
          <a:xfrm>
            <a:off x="6751256" y="5918697"/>
            <a:ext cx="22320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50000"/>
              </a:spcBef>
              <a:buFont typeface="Arial" panose="020B0604020202020204" pitchFamily="34" charset="0"/>
              <a:buNone/>
            </a:pPr>
            <a:r>
              <a:rPr lang="zh-CN" altLang="en-US" sz="2000" dirty="0">
                <a:latin typeface="Tahoma" panose="020B0604030504040204" pitchFamily="34" charset="0"/>
              </a:rPr>
              <a:t>开启抗锯齿</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260648"/>
            <a:ext cx="2211086" cy="863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1600" y="1617312"/>
            <a:ext cx="2042230" cy="863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7"/>
          <p:cNvSpPr>
            <a:spLocks noChangeArrowheads="1"/>
          </p:cNvSpPr>
          <p:nvPr/>
        </p:nvSpPr>
        <p:spPr bwMode="auto">
          <a:xfrm>
            <a:off x="679630" y="2462599"/>
            <a:ext cx="24692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dirty="0">
                <a:latin typeface="Tahoma" panose="020B0604030504040204" pitchFamily="34" charset="0"/>
              </a:rPr>
              <a:t>“</a:t>
            </a:r>
            <a:r>
              <a:rPr lang="en-US" altLang="zh-CN" sz="2000" dirty="0">
                <a:latin typeface="Tahoma" panose="020B0604030504040204" pitchFamily="34" charset="0"/>
              </a:rPr>
              <a:t>word”</a:t>
            </a:r>
            <a:r>
              <a:rPr lang="zh-CN" altLang="en-US" sz="2000" dirty="0">
                <a:latin typeface="Tahoma" panose="020B0604030504040204" pitchFamily="34" charset="0"/>
              </a:rPr>
              <a:t>绘制的斜线 </a:t>
            </a:r>
          </a:p>
        </p:txBody>
      </p:sp>
      <p:sp>
        <p:nvSpPr>
          <p:cNvPr id="56325" name="Rectangle 8"/>
          <p:cNvSpPr>
            <a:spLocks noChangeArrowheads="1"/>
          </p:cNvSpPr>
          <p:nvPr/>
        </p:nvSpPr>
        <p:spPr bwMode="auto">
          <a:xfrm>
            <a:off x="683568" y="1212721"/>
            <a:ext cx="2573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dirty="0">
                <a:latin typeface="Tahoma" panose="020B0604030504040204" pitchFamily="34" charset="0"/>
              </a:rPr>
              <a:t>“画图”绘制的斜线 </a:t>
            </a:r>
          </a:p>
        </p:txBody>
      </p:sp>
      <p:sp>
        <p:nvSpPr>
          <p:cNvPr id="56326" name="Rectangle 9"/>
          <p:cNvSpPr>
            <a:spLocks noChangeArrowheads="1"/>
          </p:cNvSpPr>
          <p:nvPr/>
        </p:nvSpPr>
        <p:spPr bwMode="auto">
          <a:xfrm>
            <a:off x="3707904" y="261997"/>
            <a:ext cx="5328592"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61938">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000" dirty="0" smtClean="0">
                <a:latin typeface="Tahoma" panose="020B0604030504040204" pitchFamily="34" charset="0"/>
              </a:rPr>
              <a:t>反</a:t>
            </a:r>
            <a:r>
              <a:rPr lang="zh-CN" altLang="en-US" sz="2000" dirty="0">
                <a:latin typeface="Tahoma" panose="020B0604030504040204" pitchFamily="34" charset="0"/>
              </a:rPr>
              <a:t>走样技术主要分为两类</a:t>
            </a:r>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2000" dirty="0" smtClean="0">
                <a:solidFill>
                  <a:srgbClr val="FF0000"/>
                </a:solidFill>
                <a:latin typeface="华文琥珀" panose="02010800040101010101" pitchFamily="2" charset="-122"/>
                <a:ea typeface="华文琥珀" panose="02010800040101010101" pitchFamily="2" charset="-122"/>
              </a:rPr>
              <a:t>一类</a:t>
            </a:r>
            <a:r>
              <a:rPr lang="zh-CN" altLang="en-US" sz="2000" dirty="0">
                <a:solidFill>
                  <a:srgbClr val="FF0000"/>
                </a:solidFill>
                <a:latin typeface="华文琥珀" panose="02010800040101010101" pitchFamily="2" charset="-122"/>
                <a:ea typeface="华文琥珀" panose="02010800040101010101" pitchFamily="2" charset="-122"/>
              </a:rPr>
              <a:t>是硬件技术</a:t>
            </a:r>
            <a:r>
              <a:rPr lang="zh-CN" altLang="en-US" sz="2000" dirty="0">
                <a:latin typeface="Tahoma" panose="020B0604030504040204" pitchFamily="34" charset="0"/>
              </a:rPr>
              <a:t>，通过</a:t>
            </a:r>
            <a:r>
              <a:rPr lang="zh-CN" altLang="en-US" sz="2000" dirty="0">
                <a:solidFill>
                  <a:srgbClr val="FF0000"/>
                </a:solidFill>
                <a:latin typeface="华文琥珀" panose="02010800040101010101" pitchFamily="2" charset="-122"/>
                <a:ea typeface="华文琥珀" panose="02010800040101010101" pitchFamily="2" charset="-122"/>
              </a:rPr>
              <a:t>提高显示器的分辨率</a:t>
            </a:r>
            <a:r>
              <a:rPr lang="zh-CN" altLang="en-US" sz="2000" dirty="0">
                <a:latin typeface="Tahoma" panose="020B0604030504040204" pitchFamily="34" charset="0"/>
              </a:rPr>
              <a:t>来实现</a:t>
            </a:r>
            <a:r>
              <a:rPr lang="zh-CN" altLang="en-US" sz="2000" dirty="0" smtClean="0">
                <a:latin typeface="Tahoma" panose="020B0604030504040204" pitchFamily="34" charset="0"/>
              </a:rPr>
              <a:t>；</a:t>
            </a:r>
            <a:endParaRPr lang="en-US" altLang="zh-CN" sz="2000" dirty="0" smtClean="0">
              <a:latin typeface="Tahoma" panose="020B0604030504040204" pitchFamily="34" charset="0"/>
            </a:endParaRPr>
          </a:p>
          <a:p>
            <a:pPr eaLnBrk="1" hangingPunct="1">
              <a:lnSpc>
                <a:spcPct val="150000"/>
              </a:lnSpc>
              <a:spcBef>
                <a:spcPct val="0"/>
              </a:spcBef>
              <a:buFont typeface="Wingdings" panose="05000000000000000000" pitchFamily="2" charset="2"/>
              <a:buChar char="n"/>
            </a:pPr>
            <a:r>
              <a:rPr lang="zh-CN" altLang="en-US" sz="2000" dirty="0" smtClean="0">
                <a:latin typeface="Tahoma" panose="020B0604030504040204" pitchFamily="34" charset="0"/>
              </a:rPr>
              <a:t>另</a:t>
            </a:r>
            <a:r>
              <a:rPr lang="zh-CN" altLang="en-US" sz="2000" dirty="0">
                <a:latin typeface="Tahoma" panose="020B0604030504040204" pitchFamily="34" charset="0"/>
              </a:rPr>
              <a:t>一类是</a:t>
            </a:r>
            <a:r>
              <a:rPr lang="zh-CN" altLang="en-US" sz="2000" b="1" dirty="0">
                <a:solidFill>
                  <a:srgbClr val="3366FF"/>
                </a:solidFill>
                <a:latin typeface="方正粗黑宋简体" panose="02000000000000000000" pitchFamily="2" charset="-122"/>
                <a:ea typeface="方正粗黑宋简体" panose="02000000000000000000" pitchFamily="2" charset="-122"/>
              </a:rPr>
              <a:t>软件技术</a:t>
            </a:r>
            <a:r>
              <a:rPr lang="zh-CN" altLang="en-US" sz="2000" dirty="0">
                <a:latin typeface="Tahoma" panose="020B0604030504040204" pitchFamily="34" charset="0"/>
              </a:rPr>
              <a:t>，通过改进软件算法来</a:t>
            </a:r>
            <a:r>
              <a:rPr lang="zh-CN" altLang="en-US" sz="2000" dirty="0" smtClean="0">
                <a:latin typeface="Tahoma" panose="020B0604030504040204" pitchFamily="34" charset="0"/>
              </a:rPr>
              <a:t>实现。</a:t>
            </a:r>
          </a:p>
        </p:txBody>
      </p:sp>
      <mc:AlternateContent xmlns:mc="http://schemas.openxmlformats.org/markup-compatibility/2006">
        <mc:Choice xmlns:a14="http://schemas.microsoft.com/office/drawing/2010/main" Requires="a14">
          <p:sp>
            <p:nvSpPr>
              <p:cNvPr id="2" name="矩形 1"/>
              <p:cNvSpPr/>
              <p:nvPr/>
            </p:nvSpPr>
            <p:spPr>
              <a:xfrm>
                <a:off x="323528" y="2862709"/>
                <a:ext cx="8712968" cy="1292662"/>
              </a:xfrm>
              <a:prstGeom prst="rect">
                <a:avLst/>
              </a:prstGeom>
            </p:spPr>
            <p:txBody>
              <a:bodyPr wrap="square">
                <a:spAutoFit/>
              </a:bodyPr>
              <a:lstStyle/>
              <a:p>
                <a:pPr eaLnBrk="1" hangingPunct="1">
                  <a:lnSpc>
                    <a:spcPct val="130000"/>
                  </a:lnSpc>
                </a:pPr>
                <a:r>
                  <a:rPr lang="zh-CN" altLang="en-US" sz="2000" dirty="0"/>
                  <a:t>从</a:t>
                </a:r>
                <a:r>
                  <a:rPr lang="zh-CN" altLang="en-US" sz="2000" dirty="0">
                    <a:solidFill>
                      <a:srgbClr val="FF0000"/>
                    </a:solidFill>
                    <a:latin typeface="华文琥珀" panose="02010800040101010101" pitchFamily="2" charset="-122"/>
                    <a:ea typeface="华文琥珀" panose="02010800040101010101" pitchFamily="2" charset="-122"/>
                  </a:rPr>
                  <a:t>硬件角度</a:t>
                </a:r>
                <a:r>
                  <a:rPr lang="zh-CN" altLang="en-US" sz="2000" dirty="0"/>
                  <a:t>把显示器的分辩率提高了一倍。由于</a:t>
                </a:r>
                <a:r>
                  <a:rPr lang="zh-CN" altLang="en-US" sz="2000" b="1" dirty="0">
                    <a:solidFill>
                      <a:srgbClr val="3366FF"/>
                    </a:solidFill>
                    <a:latin typeface="方正粗黑宋简体" panose="02000000000000000000" pitchFamily="2" charset="-122"/>
                    <a:ea typeface="方正粗黑宋简体" panose="02000000000000000000" pitchFamily="2" charset="-122"/>
                  </a:rPr>
                  <a:t>每个锯齿在</a:t>
                </a:r>
                <a14:m>
                  <m:oMath xmlns:m="http://schemas.openxmlformats.org/officeDocument/2006/math">
                    <m:r>
                      <a:rPr lang="en-US" altLang="zh-CN" sz="2000" b="1" i="1">
                        <a:solidFill>
                          <a:srgbClr val="FF0000"/>
                        </a:solidFill>
                        <a:latin typeface="Cambria Math" panose="02040503050406030204" pitchFamily="18" charset="0"/>
                      </a:rPr>
                      <m:t>𝒙</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方向和</a:t>
                </a:r>
                <a14:m>
                  <m:oMath xmlns:m="http://schemas.openxmlformats.org/officeDocument/2006/math">
                    <m:r>
                      <a:rPr lang="en-US" altLang="zh-CN" sz="2000" b="1" i="1">
                        <a:solidFill>
                          <a:srgbClr val="FF0000"/>
                        </a:solidFill>
                        <a:latin typeface="Cambria Math" panose="02040503050406030204" pitchFamily="18" charset="0"/>
                      </a:rPr>
                      <m:t>𝒚</m:t>
                    </m:r>
                  </m:oMath>
                </a14:m>
                <a:r>
                  <a:rPr lang="zh-CN" altLang="en-US" sz="2000" b="1" dirty="0">
                    <a:solidFill>
                      <a:srgbClr val="3366FF"/>
                    </a:solidFill>
                    <a:latin typeface="方正粗黑宋简体" panose="02000000000000000000" pitchFamily="2" charset="-122"/>
                    <a:ea typeface="方正粗黑宋简体" panose="02000000000000000000" pitchFamily="2" charset="-122"/>
                  </a:rPr>
                  <a:t> 方向都只有原先分辨率的一半</a:t>
                </a:r>
                <a:r>
                  <a:rPr lang="zh-CN" altLang="en-US" sz="2000" dirty="0"/>
                  <a:t>，走样现象有所</a:t>
                </a:r>
                <a:r>
                  <a:rPr lang="zh-CN" altLang="en-US" sz="1800" dirty="0"/>
                  <a:t>改善</a:t>
                </a:r>
                <a:r>
                  <a:rPr lang="zh-CN" altLang="en-US" sz="2000" dirty="0"/>
                  <a:t>。硬件反走样技术受硬件条件和成本限制，实现起来较为困难，很难达到理想的反走样效果。</a:t>
                </a:r>
              </a:p>
            </p:txBody>
          </p:sp>
        </mc:Choice>
        <mc:Fallback>
          <p:sp>
            <p:nvSpPr>
              <p:cNvPr id="2" name="矩形 1"/>
              <p:cNvSpPr>
                <a:spLocks noRot="1" noChangeAspect="1" noMove="1" noResize="1" noEditPoints="1" noAdjustHandles="1" noChangeArrowheads="1" noChangeShapeType="1" noTextEdit="1"/>
              </p:cNvSpPr>
              <p:nvPr/>
            </p:nvSpPr>
            <p:spPr>
              <a:xfrm>
                <a:off x="323528" y="2862709"/>
                <a:ext cx="8712968" cy="1292662"/>
              </a:xfrm>
              <a:prstGeom prst="rect">
                <a:avLst/>
              </a:prstGeom>
              <a:blipFill>
                <a:blip r:embed="rId5"/>
                <a:stretch>
                  <a:fillRect l="-700" r="-770" b="-3302"/>
                </a:stretch>
              </a:blipFill>
            </p:spPr>
            <p:txBody>
              <a:bodyPr/>
              <a:lstStyle/>
              <a:p>
                <a:r>
                  <a:rPr lang="zh-CN" altLang="en-US">
                    <a:noFill/>
                  </a:rPr>
                  <a:t> </a:t>
                </a:r>
              </a:p>
            </p:txBody>
          </p:sp>
        </mc:Fallback>
      </mc:AlternateContent>
      <p:graphicFrame>
        <p:nvGraphicFramePr>
          <p:cNvPr id="8" name="Object 4"/>
          <p:cNvGraphicFramePr>
            <a:graphicFrameLocks noChangeAspect="1"/>
          </p:cNvGraphicFramePr>
          <p:nvPr>
            <p:extLst>
              <p:ext uri="{D42A27DB-BD31-4B8C-83A1-F6EECF244321}">
                <p14:modId xmlns:p14="http://schemas.microsoft.com/office/powerpoint/2010/main" val="1377732539"/>
              </p:ext>
            </p:extLst>
          </p:nvPr>
        </p:nvGraphicFramePr>
        <p:xfrm>
          <a:off x="493974" y="4252082"/>
          <a:ext cx="2952328" cy="2256331"/>
        </p:xfrm>
        <a:graphic>
          <a:graphicData uri="http://schemas.openxmlformats.org/presentationml/2006/ole">
            <mc:AlternateContent xmlns:mc="http://schemas.openxmlformats.org/markup-compatibility/2006">
              <mc:Choice xmlns:v="urn:schemas-microsoft-com:vml" Requires="v">
                <p:oleObj spid="_x0000_s72715" r:id="rId6" imgW="7738920" imgH="5931720" progId="Visio.Drawing.11">
                  <p:embed/>
                </p:oleObj>
              </mc:Choice>
              <mc:Fallback>
                <p:oleObj r:id="rId6" imgW="7738920" imgH="5931720" progId="Visio.Drawing.11">
                  <p:embed/>
                  <p:pic>
                    <p:nvPicPr>
                      <p:cNvPr id="5734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974" y="4252082"/>
                        <a:ext cx="2952328" cy="2256331"/>
                      </a:xfrm>
                      <a:prstGeom prst="rect">
                        <a:avLst/>
                      </a:prstGeom>
                      <a:noFill/>
                      <a:ln>
                        <a:noFill/>
                      </a:ln>
                      <a:extLst/>
                    </p:spPr>
                  </p:pic>
                </p:oleObj>
              </mc:Fallback>
            </mc:AlternateContent>
          </a:graphicData>
        </a:graphic>
      </p:graphicFrame>
      <p:sp>
        <p:nvSpPr>
          <p:cNvPr id="9" name="Rectangle 5"/>
          <p:cNvSpPr>
            <a:spLocks noChangeArrowheads="1"/>
          </p:cNvSpPr>
          <p:nvPr/>
        </p:nvSpPr>
        <p:spPr bwMode="auto">
          <a:xfrm>
            <a:off x="27618" y="6473279"/>
            <a:ext cx="37192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1800" dirty="0">
                <a:latin typeface="Tahoma" panose="020B0604030504040204" pitchFamily="34" charset="0"/>
              </a:rPr>
              <a:t>显示器的分辨率提高一倍的效果图 </a:t>
            </a:r>
          </a:p>
        </p:txBody>
      </p:sp>
      <p:sp>
        <p:nvSpPr>
          <p:cNvPr id="10" name="Rectangle 6"/>
          <p:cNvSpPr>
            <a:spLocks noChangeArrowheads="1"/>
          </p:cNvSpPr>
          <p:nvPr/>
        </p:nvSpPr>
        <p:spPr bwMode="auto">
          <a:xfrm>
            <a:off x="3563888" y="4385490"/>
            <a:ext cx="547260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dirty="0">
                <a:latin typeface="Tahoma" panose="020B0604030504040204" pitchFamily="34" charset="0"/>
              </a:rPr>
              <a:t>      </a:t>
            </a:r>
            <a:r>
              <a:rPr lang="zh-CN" altLang="en-US" sz="2000" dirty="0">
                <a:solidFill>
                  <a:srgbClr val="FF0000"/>
                </a:solidFill>
                <a:latin typeface="华文琥珀" panose="02010800040101010101" pitchFamily="2" charset="-122"/>
                <a:ea typeface="华文琥珀" panose="02010800040101010101" pitchFamily="2" charset="-122"/>
              </a:rPr>
              <a:t>软件反走样技术</a:t>
            </a:r>
            <a:r>
              <a:rPr lang="zh-CN" altLang="en-US" sz="2000" dirty="0">
                <a:latin typeface="Tahoma" panose="020B0604030504040204" pitchFamily="34" charset="0"/>
              </a:rPr>
              <a:t>主要是</a:t>
            </a:r>
            <a:r>
              <a:rPr lang="zh-CN" altLang="en-US" sz="2000" b="1" dirty="0">
                <a:solidFill>
                  <a:srgbClr val="3366FF"/>
                </a:solidFill>
                <a:latin typeface="方正粗黑宋简体" panose="02000000000000000000" pitchFamily="2" charset="-122"/>
                <a:ea typeface="方正粗黑宋简体" panose="02000000000000000000" pitchFamily="2" charset="-122"/>
              </a:rPr>
              <a:t>加权区域采样</a:t>
            </a:r>
            <a:r>
              <a:rPr lang="zh-CN" altLang="en-US" sz="2000" dirty="0">
                <a:latin typeface="Tahoma" panose="020B0604030504040204" pitchFamily="34" charset="0"/>
              </a:rPr>
              <a:t>。算法的实质是利用人眼视觉特性，</a:t>
            </a:r>
            <a:r>
              <a:rPr lang="zh-CN" altLang="en-US" sz="2000" dirty="0">
                <a:solidFill>
                  <a:srgbClr val="FF0000"/>
                </a:solidFill>
                <a:latin typeface="华文琥珀" panose="02010800040101010101" pitchFamily="2" charset="-122"/>
                <a:ea typeface="华文琥珀" panose="02010800040101010101" pitchFamily="2" charset="-122"/>
              </a:rPr>
              <a:t>通过</a:t>
            </a:r>
            <a:r>
              <a:rPr lang="zh-CN" altLang="en-US" sz="2000" dirty="0" smtClean="0">
                <a:solidFill>
                  <a:srgbClr val="FF0000"/>
                </a:solidFill>
                <a:latin typeface="华文琥珀" panose="02010800040101010101" pitchFamily="2" charset="-122"/>
                <a:ea typeface="华文琥珀" panose="02010800040101010101" pitchFamily="2" charset="-122"/>
              </a:rPr>
              <a:t>加权平均方法</a:t>
            </a:r>
            <a:r>
              <a:rPr lang="zh-CN" altLang="en-US" sz="2000" dirty="0">
                <a:solidFill>
                  <a:srgbClr val="FF0000"/>
                </a:solidFill>
                <a:latin typeface="华文琥珀" panose="02010800040101010101" pitchFamily="2" charset="-122"/>
                <a:ea typeface="华文琥珀" panose="02010800040101010101" pitchFamily="2" charset="-122"/>
              </a:rPr>
              <a:t>，调节像素的亮度和灰度</a:t>
            </a:r>
            <a:r>
              <a:rPr lang="zh-CN" altLang="en-US" sz="2000" dirty="0">
                <a:latin typeface="Tahoma" panose="020B0604030504040204" pitchFamily="34" charset="0"/>
              </a:rPr>
              <a:t>，以产生模糊的边界，从而达到较好的视觉效果以消除 “锯齿”。</a:t>
            </a:r>
            <a:r>
              <a:rPr lang="zh-CN" altLang="en-US" sz="2000" dirty="0">
                <a:solidFill>
                  <a:srgbClr val="FF0000"/>
                </a:solidFill>
                <a:latin typeface="华文琥珀" panose="02010800040101010101" pitchFamily="2" charset="-122"/>
                <a:ea typeface="华文琥珀" panose="02010800040101010101" pitchFamily="2" charset="-122"/>
              </a:rPr>
              <a:t>加权参数可以选择</a:t>
            </a:r>
            <a:r>
              <a:rPr lang="zh-CN" altLang="en-US" sz="2000" b="1" dirty="0">
                <a:solidFill>
                  <a:srgbClr val="3366FF"/>
                </a:solidFill>
                <a:latin typeface="方正粗黑宋简体" panose="02000000000000000000" pitchFamily="2" charset="-122"/>
                <a:ea typeface="方正粗黑宋简体" panose="02000000000000000000" pitchFamily="2" charset="-122"/>
              </a:rPr>
              <a:t>距离</a:t>
            </a:r>
            <a:r>
              <a:rPr lang="zh-CN" altLang="en-US" sz="2000" dirty="0">
                <a:solidFill>
                  <a:srgbClr val="FF0000"/>
                </a:solidFill>
                <a:latin typeface="华文琥珀" panose="02010800040101010101" pitchFamily="2" charset="-122"/>
                <a:ea typeface="华文琥珀" panose="02010800040101010101" pitchFamily="2" charset="-122"/>
              </a:rPr>
              <a:t>、</a:t>
            </a:r>
            <a:r>
              <a:rPr lang="zh-CN" altLang="en-US" sz="2000" b="1" dirty="0">
                <a:solidFill>
                  <a:srgbClr val="3366FF"/>
                </a:solidFill>
                <a:latin typeface="方正粗黑宋简体" panose="02000000000000000000" pitchFamily="2" charset="-122"/>
                <a:ea typeface="方正粗黑宋简体" panose="02000000000000000000" pitchFamily="2" charset="-122"/>
              </a:rPr>
              <a:t>面积</a:t>
            </a:r>
            <a:r>
              <a:rPr lang="zh-CN" altLang="en-US" sz="2000" dirty="0">
                <a:solidFill>
                  <a:srgbClr val="FF0000"/>
                </a:solidFill>
                <a:latin typeface="华文琥珀" panose="02010800040101010101" pitchFamily="2" charset="-122"/>
                <a:ea typeface="华文琥珀" panose="02010800040101010101" pitchFamily="2" charset="-122"/>
              </a:rPr>
              <a:t>和</a:t>
            </a:r>
            <a:r>
              <a:rPr lang="zh-CN" altLang="en-US" sz="2000" b="1" dirty="0">
                <a:solidFill>
                  <a:srgbClr val="3366FF"/>
                </a:solidFill>
                <a:latin typeface="方正粗黑宋简体" panose="02000000000000000000" pitchFamily="2" charset="-122"/>
                <a:ea typeface="方正粗黑宋简体" panose="02000000000000000000" pitchFamily="2" charset="-122"/>
              </a:rPr>
              <a:t>体积</a:t>
            </a:r>
            <a:r>
              <a:rPr lang="zh-CN" altLang="en-US" sz="2000" dirty="0">
                <a:latin typeface="Tahoma" panose="020B0604030504040204" pitchFamily="34" charset="0"/>
              </a:rPr>
              <a:t>等。下面主要讲解</a:t>
            </a:r>
            <a:r>
              <a:rPr lang="zh-CN" altLang="en-US" sz="2000" b="1" dirty="0">
                <a:solidFill>
                  <a:srgbClr val="3366FF"/>
                </a:solidFill>
                <a:latin typeface="方正粗黑宋简体" panose="02000000000000000000" pitchFamily="2" charset="-122"/>
                <a:ea typeface="方正粗黑宋简体" panose="02000000000000000000" pitchFamily="2" charset="-122"/>
              </a:rPr>
              <a:t>直线的距离加权</a:t>
            </a:r>
            <a:r>
              <a:rPr lang="zh-CN" altLang="en-US" sz="2000" dirty="0">
                <a:latin typeface="Tahoma" panose="020B0604030504040204" pitchFamily="34" charset="0"/>
              </a:rPr>
              <a:t>反走样</a:t>
            </a:r>
            <a:r>
              <a:rPr lang="zh-CN" altLang="en-US" sz="2000" dirty="0" smtClean="0">
                <a:latin typeface="Tahoma" panose="020B0604030504040204" pitchFamily="34" charset="0"/>
              </a:rPr>
              <a:t>算法。</a:t>
            </a:r>
            <a:endParaRPr lang="zh-CN" altLang="en-US" sz="2000" dirty="0">
              <a:latin typeface="Tahoma" panose="020B060403050404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ChangeArrowheads="1"/>
          </p:cNvSpPr>
          <p:nvPr/>
        </p:nvSpPr>
        <p:spPr bwMode="auto">
          <a:xfrm>
            <a:off x="467544" y="215755"/>
            <a:ext cx="4805362" cy="584200"/>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3.5.1 </a:t>
            </a:r>
            <a:r>
              <a:rPr lang="zh-CN" altLang="en-US" sz="2000" b="1" dirty="0">
                <a:solidFill>
                  <a:srgbClr val="3366FF"/>
                </a:solidFill>
                <a:latin typeface="方正粗黑宋简体" panose="02000000000000000000" pitchFamily="2" charset="-122"/>
                <a:ea typeface="方正粗黑宋简体" panose="02000000000000000000" pitchFamily="2" charset="-122"/>
              </a:rPr>
              <a:t>算法</a:t>
            </a:r>
            <a:r>
              <a:rPr lang="zh-CN" altLang="en-US" sz="3200" b="1" dirty="0">
                <a:effectLst>
                  <a:outerShdw blurRad="38100" dist="38100" dir="2700000" algn="tl">
                    <a:srgbClr val="C0C0C0"/>
                  </a:outerShdw>
                </a:effectLst>
                <a:latin typeface="楷体_GB2312" pitchFamily="49" charset="-122"/>
              </a:rPr>
              <a:t>原理</a:t>
            </a:r>
            <a:r>
              <a:rPr lang="zh-CN" altLang="en-US" sz="2000" b="1" dirty="0">
                <a:solidFill>
                  <a:srgbClr val="3366FF"/>
                </a:solidFill>
                <a:effectLst>
                  <a:outerShdw blurRad="38100" dist="38100" dir="2700000" algn="tl">
                    <a:srgbClr val="C0C0C0"/>
                  </a:outerShdw>
                </a:effectLst>
                <a:latin typeface="方正粗黑宋简体" panose="02000000000000000000" pitchFamily="2" charset="-122"/>
                <a:ea typeface="方正粗黑宋简体" panose="02000000000000000000" pitchFamily="2" charset="-122"/>
              </a:rPr>
              <a:t>（黑白两色）</a:t>
            </a:r>
            <a:endParaRPr lang="zh-CN" altLang="en-US" sz="3200" b="1" dirty="0">
              <a:effectLst>
                <a:outerShdw blurRad="38100" dist="38100" dir="2700000" algn="tl">
                  <a:srgbClr val="C0C0C0"/>
                </a:outerShdw>
              </a:effectLst>
              <a:latin typeface="楷体_GB2312" pitchFamily="49" charset="-122"/>
            </a:endParaRPr>
          </a:p>
        </p:txBody>
      </p:sp>
      <p:graphicFrame>
        <p:nvGraphicFramePr>
          <p:cNvPr id="58371" name="Object 44"/>
          <p:cNvGraphicFramePr>
            <a:graphicFrameLocks noChangeAspect="1"/>
          </p:cNvGraphicFramePr>
          <p:nvPr>
            <p:extLst>
              <p:ext uri="{D42A27DB-BD31-4B8C-83A1-F6EECF244321}">
                <p14:modId xmlns:p14="http://schemas.microsoft.com/office/powerpoint/2010/main" val="2555546636"/>
              </p:ext>
            </p:extLst>
          </p:nvPr>
        </p:nvGraphicFramePr>
        <p:xfrm>
          <a:off x="2446909" y="1776268"/>
          <a:ext cx="4535487" cy="1768475"/>
        </p:xfrm>
        <a:graphic>
          <a:graphicData uri="http://schemas.openxmlformats.org/presentationml/2006/ole">
            <mc:AlternateContent xmlns:mc="http://schemas.openxmlformats.org/markup-compatibility/2006">
              <mc:Choice xmlns:v="urn:schemas-microsoft-com:vml" Requires="v">
                <p:oleObj spid="_x0000_s58437" r:id="rId3" imgW="21454200" imgH="8559360" progId="Visio.Drawing.11">
                  <p:embed/>
                </p:oleObj>
              </mc:Choice>
              <mc:Fallback>
                <p:oleObj r:id="rId3" imgW="21454200" imgH="8559360" progId="Visio.Drawing.11">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6909" y="1776268"/>
                        <a:ext cx="4535487"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2" name="Text Box 41"/>
          <p:cNvSpPr txBox="1">
            <a:spLocks noChangeArrowheads="1"/>
          </p:cNvSpPr>
          <p:nvPr/>
        </p:nvSpPr>
        <p:spPr bwMode="auto">
          <a:xfrm>
            <a:off x="5472684" y="3647930"/>
            <a:ext cx="28733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b="1"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6</a:t>
            </a:r>
            <a:endParaRPr lang="en-US" altLang="zh-CN" sz="2000" dirty="0">
              <a:latin typeface="Arial" panose="020B0604020202020204" pitchFamily="34" charset="0"/>
              <a:ea typeface="宋体" panose="02010600030101010101" pitchFamily="2" charset="-122"/>
            </a:endParaRPr>
          </a:p>
        </p:txBody>
      </p:sp>
      <p:sp>
        <p:nvSpPr>
          <p:cNvPr id="58373" name="Text Box 40"/>
          <p:cNvSpPr txBox="1">
            <a:spLocks noChangeArrowheads="1"/>
          </p:cNvSpPr>
          <p:nvPr/>
        </p:nvSpPr>
        <p:spPr bwMode="auto">
          <a:xfrm>
            <a:off x="3527996" y="3647930"/>
            <a:ext cx="3159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4</a:t>
            </a:r>
            <a:endParaRPr lang="en-US" altLang="zh-CN" sz="2000" dirty="0">
              <a:latin typeface="Arial" panose="020B0604020202020204" pitchFamily="34" charset="0"/>
              <a:ea typeface="宋体" panose="02010600030101010101" pitchFamily="2" charset="-122"/>
            </a:endParaRPr>
          </a:p>
        </p:txBody>
      </p:sp>
      <p:sp>
        <p:nvSpPr>
          <p:cNvPr id="58374" name="Text Box 53"/>
          <p:cNvSpPr txBox="1">
            <a:spLocks noChangeArrowheads="1"/>
          </p:cNvSpPr>
          <p:nvPr/>
        </p:nvSpPr>
        <p:spPr bwMode="auto">
          <a:xfrm>
            <a:off x="4536059" y="1271443"/>
            <a:ext cx="2889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2</a:t>
            </a:r>
            <a:endParaRPr lang="en-US" altLang="zh-CN" sz="2000" dirty="0">
              <a:latin typeface="Arial" panose="020B0604020202020204" pitchFamily="34" charset="0"/>
              <a:ea typeface="宋体" panose="02010600030101010101" pitchFamily="2" charset="-122"/>
            </a:endParaRPr>
          </a:p>
        </p:txBody>
      </p:sp>
      <p:sp>
        <p:nvSpPr>
          <p:cNvPr id="58375" name="Text Box 52"/>
          <p:cNvSpPr txBox="1">
            <a:spLocks noChangeArrowheads="1"/>
          </p:cNvSpPr>
          <p:nvPr/>
        </p:nvSpPr>
        <p:spPr bwMode="auto">
          <a:xfrm>
            <a:off x="5579839" y="1235723"/>
            <a:ext cx="3603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3</a:t>
            </a:r>
            <a:endParaRPr lang="en-US" altLang="zh-CN" sz="2000" dirty="0">
              <a:latin typeface="Arial" panose="020B0604020202020204" pitchFamily="34" charset="0"/>
              <a:ea typeface="宋体" panose="02010600030101010101" pitchFamily="2" charset="-122"/>
            </a:endParaRPr>
          </a:p>
        </p:txBody>
      </p:sp>
      <p:sp>
        <p:nvSpPr>
          <p:cNvPr id="58376" name="Text Box 51"/>
          <p:cNvSpPr txBox="1">
            <a:spLocks noChangeArrowheads="1"/>
          </p:cNvSpPr>
          <p:nvPr/>
        </p:nvSpPr>
        <p:spPr bwMode="auto">
          <a:xfrm>
            <a:off x="3454971" y="1271443"/>
            <a:ext cx="2889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1</a:t>
            </a:r>
            <a:endParaRPr lang="en-US" altLang="zh-CN" sz="2000" dirty="0">
              <a:latin typeface="Arial" panose="020B0604020202020204" pitchFamily="34" charset="0"/>
              <a:ea typeface="宋体" panose="02010600030101010101" pitchFamily="2" charset="-122"/>
            </a:endParaRPr>
          </a:p>
        </p:txBody>
      </p:sp>
      <p:sp>
        <p:nvSpPr>
          <p:cNvPr id="58377" name="Text Box 39"/>
          <p:cNvSpPr txBox="1">
            <a:spLocks noChangeArrowheads="1"/>
          </p:cNvSpPr>
          <p:nvPr/>
        </p:nvSpPr>
        <p:spPr bwMode="auto">
          <a:xfrm>
            <a:off x="4536059" y="3647930"/>
            <a:ext cx="2667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i="1" dirty="0">
                <a:latin typeface="Times New Roman" panose="02020603050405020304" pitchFamily="18" charset="0"/>
                <a:ea typeface="宋体" panose="02010600030101010101" pitchFamily="2" charset="-122"/>
              </a:rPr>
              <a:t>P</a:t>
            </a:r>
            <a:r>
              <a:rPr lang="en-US" altLang="zh-CN" sz="2000" baseline="-30000" dirty="0">
                <a:latin typeface="Times New Roman" panose="02020603050405020304" pitchFamily="18" charset="0"/>
                <a:ea typeface="宋体" panose="02010600030101010101" pitchFamily="2" charset="-122"/>
              </a:rPr>
              <a:t>5</a:t>
            </a:r>
            <a:endParaRPr lang="en-US" altLang="zh-CN" sz="2000" dirty="0">
              <a:latin typeface="Arial" panose="020B0604020202020204" pitchFamily="34" charset="0"/>
              <a:ea typeface="宋体" panose="02010600030101010101" pitchFamily="2" charset="-122"/>
            </a:endParaRPr>
          </a:p>
        </p:txBody>
      </p:sp>
      <p:sp>
        <p:nvSpPr>
          <p:cNvPr id="58378" name="Text Box 48"/>
          <p:cNvSpPr txBox="1">
            <a:spLocks noChangeArrowheads="1"/>
          </p:cNvSpPr>
          <p:nvPr/>
        </p:nvSpPr>
        <p:spPr bwMode="auto">
          <a:xfrm>
            <a:off x="2088134" y="1119043"/>
            <a:ext cx="4476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1000">
              <a:solidFill>
                <a:srgbClr val="FFFFFF"/>
              </a:solidFill>
              <a:latin typeface="Times New Roman" panose="02020603050405020304" pitchFamily="18" charset="0"/>
              <a:ea typeface="宋体" panose="02010600030101010101" pitchFamily="2" charset="-122"/>
            </a:endParaRPr>
          </a:p>
          <a:p>
            <a:pPr>
              <a:lnSpc>
                <a:spcPct val="100000"/>
              </a:lnSpc>
              <a:spcBef>
                <a:spcPct val="0"/>
              </a:spcBef>
              <a:buFont typeface="Arial" panose="020B0604020202020204" pitchFamily="34" charset="0"/>
              <a:buNone/>
            </a:pPr>
            <a:r>
              <a:rPr lang="en-US" altLang="zh-CN" sz="1000">
                <a:solidFill>
                  <a:srgbClr val="FFFFFF"/>
                </a:solidFill>
                <a:latin typeface="Times New Roman" panose="02020603050405020304" pitchFamily="18" charset="0"/>
                <a:ea typeface="宋体" panose="02010600030101010101" pitchFamily="2" charset="-122"/>
              </a:rPr>
              <a:t>F</a:t>
            </a:r>
            <a:r>
              <a:rPr lang="en-US" altLang="zh-CN" sz="1000" baseline="-30000">
                <a:solidFill>
                  <a:srgbClr val="FFFFFF"/>
                </a:solidFill>
                <a:latin typeface="Times New Roman" panose="02020603050405020304" pitchFamily="18" charset="0"/>
                <a:ea typeface="宋体" panose="02010600030101010101" pitchFamily="2" charset="-122"/>
              </a:rPr>
              <a:t>1</a:t>
            </a:r>
            <a:endParaRPr lang="en-US" altLang="zh-CN" sz="2400">
              <a:latin typeface="Arial" panose="020B0604020202020204" pitchFamily="34" charset="0"/>
              <a:ea typeface="宋体" panose="02010600030101010101" pitchFamily="2" charset="-122"/>
            </a:endParaRPr>
          </a:p>
        </p:txBody>
      </p:sp>
      <p:sp>
        <p:nvSpPr>
          <p:cNvPr id="58379" name="Text Box 49"/>
          <p:cNvSpPr txBox="1">
            <a:spLocks noChangeArrowheads="1"/>
          </p:cNvSpPr>
          <p:nvPr/>
        </p:nvSpPr>
        <p:spPr bwMode="auto">
          <a:xfrm>
            <a:off x="3372421" y="1620693"/>
            <a:ext cx="18891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000">
                <a:solidFill>
                  <a:srgbClr val="FFFFFF"/>
                </a:solidFill>
                <a:latin typeface="Times New Roman" panose="02020603050405020304" pitchFamily="18" charset="0"/>
                <a:ea typeface="宋体" panose="02010600030101010101" pitchFamily="2" charset="-122"/>
              </a:rPr>
              <a:t>F</a:t>
            </a:r>
            <a:r>
              <a:rPr lang="en-US" altLang="zh-CN" sz="1000" baseline="-30000">
                <a:solidFill>
                  <a:srgbClr val="FFFFFF"/>
                </a:solidFill>
                <a:latin typeface="Times New Roman" panose="02020603050405020304" pitchFamily="18" charset="0"/>
                <a:ea typeface="宋体" panose="02010600030101010101" pitchFamily="2" charset="-122"/>
              </a:rPr>
              <a:t>3</a:t>
            </a:r>
            <a:endParaRPr lang="en-US" altLang="zh-CN" sz="2400">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8380" name="Text Box 55"/>
              <p:cNvSpPr txBox="1">
                <a:spLocks noChangeArrowheads="1"/>
              </p:cNvSpPr>
              <p:nvPr/>
            </p:nvSpPr>
            <p:spPr bwMode="auto">
              <a:xfrm>
                <a:off x="219646" y="1257551"/>
                <a:ext cx="2979341" cy="67706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𝟏</m:t>
                        </m:r>
                      </m:sub>
                    </m:sSub>
                  </m:oMath>
                </a14:m>
                <a:r>
                  <a:rPr lang="zh-CN" altLang="en-US" sz="2000" dirty="0" smtClean="0">
                    <a:latin typeface="楷体_GB2312" pitchFamily="49" charset="-122"/>
                  </a:rPr>
                  <a:t>：距离</a:t>
                </a:r>
                <a:r>
                  <a:rPr lang="zh-CN" altLang="en-US" sz="2000" dirty="0">
                    <a:latin typeface="楷体_GB2312" pitchFamily="49" charset="-122"/>
                  </a:rPr>
                  <a:t>理想直线</a:t>
                </a:r>
                <a:r>
                  <a:rPr lang="en-US" altLang="zh-CN" sz="2000" dirty="0">
                    <a:latin typeface="楷体_GB2312" pitchFamily="49" charset="-122"/>
                  </a:rPr>
                  <a:t>0.8</a:t>
                </a:r>
                <a:r>
                  <a:rPr lang="zh-CN" altLang="en-US" sz="2000" dirty="0">
                    <a:latin typeface="楷体_GB2312" pitchFamily="49" charset="-122"/>
                  </a:rPr>
                  <a:t>个像素远的像素亮度为</a:t>
                </a:r>
                <a:r>
                  <a:rPr lang="en-US" altLang="zh-CN" sz="2000" dirty="0">
                    <a:latin typeface="楷体_GB2312" pitchFamily="49" charset="-122"/>
                  </a:rPr>
                  <a:t>80</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0" name="Text Box 55"/>
              <p:cNvSpPr txBox="1">
                <a:spLocks noRot="1" noChangeAspect="1" noMove="1" noResize="1" noEditPoints="1" noAdjustHandles="1" noChangeArrowheads="1" noChangeShapeType="1" noTextEdit="1"/>
              </p:cNvSpPr>
              <p:nvPr/>
            </p:nvSpPr>
            <p:spPr bwMode="auto">
              <a:xfrm>
                <a:off x="219646" y="1257551"/>
                <a:ext cx="2979341" cy="677069"/>
              </a:xfrm>
              <a:prstGeom prst="rect">
                <a:avLst/>
              </a:prstGeom>
              <a:blipFill>
                <a:blip r:embed="rId5"/>
                <a:stretch>
                  <a:fillRect l="-5112" t="-13514" r="-4703" b="-135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81" name="Text Box 43"/>
              <p:cNvSpPr txBox="1">
                <a:spLocks noChangeArrowheads="1"/>
              </p:cNvSpPr>
              <p:nvPr/>
            </p:nvSpPr>
            <p:spPr bwMode="auto">
              <a:xfrm>
                <a:off x="219646" y="3273896"/>
                <a:ext cx="2738320" cy="2583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𝟒</m:t>
                        </m:r>
                      </m:sub>
                    </m:sSub>
                    <m:r>
                      <a:rPr lang="zh-CN" altLang="en-US" sz="2000" b="1" i="1" smtClean="0">
                        <a:solidFill>
                          <a:srgbClr val="FF0000"/>
                        </a:solidFill>
                        <a:latin typeface="Cambria Math" panose="02040503050406030204" pitchFamily="18" charset="0"/>
                      </a:rPr>
                      <m:t>：</m:t>
                    </m:r>
                  </m:oMath>
                </a14:m>
                <a:r>
                  <a:rPr lang="zh-CN" altLang="en-US" sz="2000" dirty="0">
                    <a:latin typeface="楷体_GB2312" pitchFamily="49" charset="-122"/>
                  </a:rPr>
                  <a:t>距离理想直线</a:t>
                </a:r>
                <a:r>
                  <a:rPr lang="en-US" altLang="zh-CN" sz="2000" dirty="0">
                    <a:latin typeface="楷体_GB2312" pitchFamily="49" charset="-122"/>
                  </a:rPr>
                  <a:t>0.2</a:t>
                </a:r>
                <a:r>
                  <a:rPr lang="zh-CN" altLang="en-US" sz="2000" dirty="0">
                    <a:latin typeface="楷体_GB2312" pitchFamily="49" charset="-122"/>
                  </a:rPr>
                  <a:t>个像素远的像素亮度为</a:t>
                </a:r>
                <a:r>
                  <a:rPr lang="en-US" altLang="zh-CN" sz="2000" dirty="0">
                    <a:latin typeface="楷体_GB2312" pitchFamily="49" charset="-122"/>
                  </a:rPr>
                  <a:t>20</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1" name="Text Box 43"/>
              <p:cNvSpPr txBox="1">
                <a:spLocks noRot="1" noChangeAspect="1" noMove="1" noResize="1" noEditPoints="1" noAdjustHandles="1" noChangeArrowheads="1" noChangeShapeType="1" noTextEdit="1"/>
              </p:cNvSpPr>
              <p:nvPr/>
            </p:nvSpPr>
            <p:spPr bwMode="auto">
              <a:xfrm>
                <a:off x="219646" y="3273896"/>
                <a:ext cx="2738320" cy="258366"/>
              </a:xfrm>
              <a:prstGeom prst="rect">
                <a:avLst/>
              </a:prstGeom>
              <a:blipFill>
                <a:blip r:embed="rId6"/>
                <a:stretch>
                  <a:fillRect l="-5568" t="-35714" r="-4677" b="-3190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82" name="Text Box 50"/>
              <p:cNvSpPr txBox="1">
                <a:spLocks noChangeArrowheads="1"/>
              </p:cNvSpPr>
              <p:nvPr/>
            </p:nvSpPr>
            <p:spPr bwMode="auto">
              <a:xfrm>
                <a:off x="210143" y="1960115"/>
                <a:ext cx="2936875" cy="6813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𝟐</m:t>
                        </m:r>
                      </m:sub>
                    </m:sSub>
                    <m:r>
                      <a:rPr lang="zh-CN" altLang="en-US" sz="2000" b="1" i="1" smtClean="0">
                        <a:solidFill>
                          <a:srgbClr val="FF0000"/>
                        </a:solidFill>
                        <a:latin typeface="Cambria Math" panose="02040503050406030204" pitchFamily="18" charset="0"/>
                      </a:rPr>
                      <m:t>：</m:t>
                    </m:r>
                  </m:oMath>
                </a14:m>
                <a:r>
                  <a:rPr lang="zh-CN" altLang="en-US" sz="2000" dirty="0">
                    <a:latin typeface="楷体_GB2312" pitchFamily="49" charset="-122"/>
                  </a:rPr>
                  <a:t>距离理想直线</a:t>
                </a:r>
                <a:r>
                  <a:rPr lang="en-US" altLang="zh-CN" sz="2000" dirty="0">
                    <a:latin typeface="楷体_GB2312" pitchFamily="49" charset="-122"/>
                  </a:rPr>
                  <a:t>0.45</a:t>
                </a:r>
                <a:r>
                  <a:rPr lang="zh-CN" altLang="en-US" sz="2000" dirty="0">
                    <a:latin typeface="楷体_GB2312" pitchFamily="49" charset="-122"/>
                  </a:rPr>
                  <a:t>个像素远的像素亮度为</a:t>
                </a:r>
                <a:r>
                  <a:rPr lang="en-US" altLang="zh-CN" sz="2000" dirty="0">
                    <a:latin typeface="楷体_GB2312" pitchFamily="49" charset="-122"/>
                  </a:rPr>
                  <a:t>45</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2" name="Text Box 50"/>
              <p:cNvSpPr txBox="1">
                <a:spLocks noRot="1" noChangeAspect="1" noMove="1" noResize="1" noEditPoints="1" noAdjustHandles="1" noChangeArrowheads="1" noChangeShapeType="1" noTextEdit="1"/>
              </p:cNvSpPr>
              <p:nvPr/>
            </p:nvSpPr>
            <p:spPr bwMode="auto">
              <a:xfrm>
                <a:off x="210143" y="1960115"/>
                <a:ext cx="2936875" cy="681340"/>
              </a:xfrm>
              <a:prstGeom prst="rect">
                <a:avLst/>
              </a:prstGeom>
              <a:blipFill>
                <a:blip r:embed="rId7"/>
                <a:stretch>
                  <a:fillRect l="-5187" t="-13514" r="-1867" b="-1261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83" name="Text Box 54"/>
              <p:cNvSpPr txBox="1">
                <a:spLocks noChangeArrowheads="1"/>
              </p:cNvSpPr>
              <p:nvPr/>
            </p:nvSpPr>
            <p:spPr bwMode="auto">
              <a:xfrm>
                <a:off x="6172770" y="901161"/>
                <a:ext cx="2811461" cy="6477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𝟑</m:t>
                        </m:r>
                      </m:sub>
                    </m:sSub>
                  </m:oMath>
                </a14:m>
                <a:r>
                  <a:rPr lang="zh-CN" altLang="en-US" sz="2000" dirty="0" smtClean="0">
                    <a:latin typeface="楷体_GB2312" pitchFamily="49" charset="-122"/>
                  </a:rPr>
                  <a:t>：距离</a:t>
                </a:r>
                <a:r>
                  <a:rPr lang="zh-CN" altLang="en-US" sz="2000" dirty="0">
                    <a:latin typeface="楷体_GB2312" pitchFamily="49" charset="-122"/>
                  </a:rPr>
                  <a:t>理想直线</a:t>
                </a:r>
                <a:r>
                  <a:rPr lang="en-US" altLang="zh-CN" sz="2000" dirty="0">
                    <a:latin typeface="楷体_GB2312" pitchFamily="49" charset="-122"/>
                  </a:rPr>
                  <a:t>0.1</a:t>
                </a:r>
                <a:r>
                  <a:rPr lang="zh-CN" altLang="en-US" sz="2000" dirty="0">
                    <a:latin typeface="楷体_GB2312" pitchFamily="49" charset="-122"/>
                  </a:rPr>
                  <a:t>个像素远的像素亮度为</a:t>
                </a:r>
                <a:r>
                  <a:rPr lang="en-US" altLang="zh-CN" sz="2000" dirty="0">
                    <a:latin typeface="楷体_GB2312" pitchFamily="49" charset="-122"/>
                  </a:rPr>
                  <a:t>10</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3" name="Text Box 54"/>
              <p:cNvSpPr txBox="1">
                <a:spLocks noRot="1" noChangeAspect="1" noMove="1" noResize="1" noEditPoints="1" noAdjustHandles="1" noChangeArrowheads="1" noChangeShapeType="1" noTextEdit="1"/>
              </p:cNvSpPr>
              <p:nvPr/>
            </p:nvSpPr>
            <p:spPr bwMode="auto">
              <a:xfrm>
                <a:off x="6172770" y="901161"/>
                <a:ext cx="2811461" cy="647725"/>
              </a:xfrm>
              <a:prstGeom prst="rect">
                <a:avLst/>
              </a:prstGeom>
              <a:blipFill>
                <a:blip r:embed="rId8"/>
                <a:stretch>
                  <a:fillRect l="-5640" t="-14151" r="-4772" b="-179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84" name="Text Box 38"/>
              <p:cNvSpPr txBox="1">
                <a:spLocks noChangeArrowheads="1"/>
              </p:cNvSpPr>
              <p:nvPr/>
            </p:nvSpPr>
            <p:spPr bwMode="auto">
              <a:xfrm>
                <a:off x="6172770" y="2228684"/>
                <a:ext cx="2811461" cy="5867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𝟓</m:t>
                        </m:r>
                      </m:sub>
                    </m:sSub>
                    <m:r>
                      <a:rPr lang="zh-CN" altLang="en-US" sz="2000" b="1" i="1" smtClean="0">
                        <a:solidFill>
                          <a:srgbClr val="FF0000"/>
                        </a:solidFill>
                        <a:latin typeface="Cambria Math" panose="02040503050406030204" pitchFamily="18" charset="0"/>
                      </a:rPr>
                      <m:t>：</m:t>
                    </m:r>
                  </m:oMath>
                </a14:m>
                <a:r>
                  <a:rPr lang="zh-CN" altLang="en-US" sz="2000" dirty="0">
                    <a:latin typeface="楷体_GB2312" pitchFamily="49" charset="-122"/>
                  </a:rPr>
                  <a:t>距离理想直线</a:t>
                </a:r>
                <a:r>
                  <a:rPr lang="en-US" altLang="zh-CN" sz="2000" dirty="0">
                    <a:latin typeface="楷体_GB2312" pitchFamily="49" charset="-122"/>
                  </a:rPr>
                  <a:t>0.55</a:t>
                </a:r>
                <a:r>
                  <a:rPr lang="zh-CN" altLang="en-US" sz="2000" dirty="0">
                    <a:latin typeface="楷体_GB2312" pitchFamily="49" charset="-122"/>
                  </a:rPr>
                  <a:t>个像素远的像素亮度为</a:t>
                </a:r>
                <a:r>
                  <a:rPr lang="en-US" altLang="zh-CN" sz="2000" dirty="0">
                    <a:latin typeface="楷体_GB2312" pitchFamily="49" charset="-122"/>
                  </a:rPr>
                  <a:t>55</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4" name="Text Box 38"/>
              <p:cNvSpPr txBox="1">
                <a:spLocks noRot="1" noChangeAspect="1" noMove="1" noResize="1" noEditPoints="1" noAdjustHandles="1" noChangeArrowheads="1" noChangeShapeType="1" noTextEdit="1"/>
              </p:cNvSpPr>
              <p:nvPr/>
            </p:nvSpPr>
            <p:spPr bwMode="auto">
              <a:xfrm>
                <a:off x="6172770" y="2228684"/>
                <a:ext cx="2811461" cy="586790"/>
              </a:xfrm>
              <a:prstGeom prst="rect">
                <a:avLst/>
              </a:prstGeom>
              <a:blipFill>
                <a:blip r:embed="rId9"/>
                <a:stretch>
                  <a:fillRect l="-5640" t="-15625" r="-4772" b="-822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85" name="Text Box 42"/>
              <p:cNvSpPr txBox="1">
                <a:spLocks noChangeArrowheads="1"/>
              </p:cNvSpPr>
              <p:nvPr/>
            </p:nvSpPr>
            <p:spPr bwMode="auto">
              <a:xfrm>
                <a:off x="6172770" y="3137050"/>
                <a:ext cx="2811461" cy="6572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𝟔</m:t>
                        </m:r>
                      </m:sub>
                    </m:sSub>
                    <m:r>
                      <a:rPr lang="zh-CN" altLang="en-US" sz="2000" b="1" i="1" smtClean="0">
                        <a:solidFill>
                          <a:srgbClr val="FF0000"/>
                        </a:solidFill>
                        <a:latin typeface="Cambria Math" panose="02040503050406030204" pitchFamily="18" charset="0"/>
                      </a:rPr>
                      <m:t>：</m:t>
                    </m:r>
                  </m:oMath>
                </a14:m>
                <a:r>
                  <a:rPr lang="zh-CN" altLang="en-US" sz="2000" dirty="0">
                    <a:latin typeface="楷体_GB2312" pitchFamily="49" charset="-122"/>
                  </a:rPr>
                  <a:t>距离理想直线</a:t>
                </a:r>
                <a:r>
                  <a:rPr lang="en-US" altLang="zh-CN" sz="2000" dirty="0">
                    <a:latin typeface="楷体_GB2312" pitchFamily="49" charset="-122"/>
                  </a:rPr>
                  <a:t>0.9</a:t>
                </a:r>
                <a:r>
                  <a:rPr lang="zh-CN" altLang="en-US" sz="2000" dirty="0">
                    <a:latin typeface="楷体_GB2312" pitchFamily="49" charset="-122"/>
                  </a:rPr>
                  <a:t>个像素远的像素亮度为</a:t>
                </a:r>
                <a:r>
                  <a:rPr lang="en-US" altLang="zh-CN" sz="2000" dirty="0">
                    <a:latin typeface="楷体_GB2312" pitchFamily="49" charset="-122"/>
                  </a:rPr>
                  <a:t>90</a:t>
                </a:r>
                <a:r>
                  <a:rPr lang="zh-CN" altLang="en-US" sz="2000" dirty="0">
                    <a:latin typeface="楷体_GB2312" pitchFamily="49" charset="-122"/>
                  </a:rPr>
                  <a:t>％</a:t>
                </a:r>
                <a:endParaRPr lang="zh-CN" altLang="en-US" sz="2000" dirty="0">
                  <a:latin typeface="楷体_GB2312" pitchFamily="49" charset="-122"/>
                  <a:cs typeface="Times New Roman" panose="02020603050405020304" pitchFamily="18" charset="0"/>
                </a:endParaRPr>
              </a:p>
            </p:txBody>
          </p:sp>
        </mc:Choice>
        <mc:Fallback xmlns="">
          <p:sp>
            <p:nvSpPr>
              <p:cNvPr id="58385" name="Text Box 42"/>
              <p:cNvSpPr txBox="1">
                <a:spLocks noRot="1" noChangeAspect="1" noMove="1" noResize="1" noEditPoints="1" noAdjustHandles="1" noChangeArrowheads="1" noChangeShapeType="1" noTextEdit="1"/>
              </p:cNvSpPr>
              <p:nvPr/>
            </p:nvSpPr>
            <p:spPr bwMode="auto">
              <a:xfrm>
                <a:off x="6172770" y="3137050"/>
                <a:ext cx="2811461" cy="657226"/>
              </a:xfrm>
              <a:prstGeom prst="rect">
                <a:avLst/>
              </a:prstGeom>
              <a:blipFill>
                <a:blip r:embed="rId10"/>
                <a:stretch>
                  <a:fillRect l="-5640" t="-14019" r="-4772" b="-168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8386" name="Text Box 45"/>
          <p:cNvSpPr txBox="1">
            <a:spLocks noChangeArrowheads="1"/>
          </p:cNvSpPr>
          <p:nvPr/>
        </p:nvSpPr>
        <p:spPr bwMode="auto">
          <a:xfrm>
            <a:off x="2464842" y="2924944"/>
            <a:ext cx="234950" cy="31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dirty="0">
                <a:latin typeface="Times New Roman" panose="02020603050405020304" pitchFamily="18" charset="0"/>
                <a:ea typeface="宋体" panose="02010600030101010101" pitchFamily="2" charset="-122"/>
              </a:rPr>
              <a:t>A</a:t>
            </a:r>
            <a:endParaRPr lang="en-US" altLang="zh-CN" sz="2000" dirty="0">
              <a:latin typeface="Arial" panose="020B0604020202020204" pitchFamily="34" charset="0"/>
              <a:ea typeface="宋体" panose="02010600030101010101" pitchFamily="2" charset="-122"/>
            </a:endParaRPr>
          </a:p>
        </p:txBody>
      </p:sp>
      <p:sp>
        <p:nvSpPr>
          <p:cNvPr id="58387" name="Text Box 46"/>
          <p:cNvSpPr txBox="1">
            <a:spLocks noChangeArrowheads="1"/>
          </p:cNvSpPr>
          <p:nvPr/>
        </p:nvSpPr>
        <p:spPr bwMode="auto">
          <a:xfrm>
            <a:off x="6660232" y="1615207"/>
            <a:ext cx="227012"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000" dirty="0">
                <a:latin typeface="Times New Roman" panose="02020603050405020304" pitchFamily="18" charset="0"/>
                <a:ea typeface="宋体" panose="02010600030101010101" pitchFamily="2" charset="-122"/>
              </a:rPr>
              <a:t>B</a:t>
            </a:r>
            <a:endParaRPr lang="en-US" altLang="zh-CN" sz="2000" dirty="0">
              <a:latin typeface="Arial" panose="020B0604020202020204" pitchFamily="34" charset="0"/>
              <a:ea typeface="宋体" panose="02010600030101010101" pitchFamily="2" charset="-122"/>
            </a:endParaRPr>
          </a:p>
        </p:txBody>
      </p:sp>
      <p:sp>
        <p:nvSpPr>
          <p:cNvPr id="58391" name="Rectangle 69"/>
          <p:cNvSpPr>
            <a:spLocks noChangeArrowheads="1"/>
          </p:cNvSpPr>
          <p:nvPr/>
        </p:nvSpPr>
        <p:spPr bwMode="auto">
          <a:xfrm>
            <a:off x="4932040" y="357634"/>
            <a:ext cx="3240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000" dirty="0">
                <a:latin typeface="楷体_GB2312" pitchFamily="49" charset="-122"/>
              </a:rPr>
              <a:t>距离加权反走样算法原理</a:t>
            </a:r>
            <a:endParaRPr lang="zh-CN" altLang="en-US" sz="2000" dirty="0">
              <a:latin typeface="楷体_GB2312" pitchFamily="49" charset="-122"/>
              <a:cs typeface="Times New Roman" panose="02020603050405020304" pitchFamily="18" charset="0"/>
            </a:endParaRPr>
          </a:p>
        </p:txBody>
      </p:sp>
      <p:sp>
        <p:nvSpPr>
          <p:cNvPr id="58392" name="Text Box 70"/>
          <p:cNvSpPr txBox="1">
            <a:spLocks noChangeArrowheads="1"/>
          </p:cNvSpPr>
          <p:nvPr/>
        </p:nvSpPr>
        <p:spPr bwMode="auto">
          <a:xfrm>
            <a:off x="3599434" y="3216130"/>
            <a:ext cx="2873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solidFill>
                  <a:schemeClr val="bg1"/>
                </a:solidFill>
                <a:latin typeface="Times New Roman" panose="02020603050405020304" pitchFamily="18" charset="0"/>
                <a:ea typeface="宋体" panose="02010600030101010101" pitchFamily="2" charset="-122"/>
              </a:rPr>
              <a:t>Q</a:t>
            </a:r>
            <a:r>
              <a:rPr lang="en-US" altLang="zh-CN" sz="2000" baseline="-25000">
                <a:solidFill>
                  <a:schemeClr val="bg1"/>
                </a:solidFill>
                <a:latin typeface="Times New Roman" panose="02020603050405020304" pitchFamily="18" charset="0"/>
                <a:ea typeface="宋体" panose="02010600030101010101" pitchFamily="2" charset="-122"/>
              </a:rPr>
              <a:t>1</a:t>
            </a:r>
            <a:endParaRPr lang="en-US" altLang="zh-CN" sz="2000">
              <a:solidFill>
                <a:schemeClr val="bg1"/>
              </a:solidFill>
              <a:latin typeface="Tahoma" panose="020B0604030504040204" pitchFamily="34" charset="0"/>
            </a:endParaRPr>
          </a:p>
        </p:txBody>
      </p:sp>
      <p:sp>
        <p:nvSpPr>
          <p:cNvPr id="58393" name="Text Box 71"/>
          <p:cNvSpPr txBox="1">
            <a:spLocks noChangeArrowheads="1"/>
          </p:cNvSpPr>
          <p:nvPr/>
        </p:nvSpPr>
        <p:spPr bwMode="auto">
          <a:xfrm>
            <a:off x="4391596" y="2352530"/>
            <a:ext cx="288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solidFill>
                  <a:srgbClr val="FFFFFF"/>
                </a:solidFill>
                <a:latin typeface="Times New Roman" panose="02020603050405020304" pitchFamily="18" charset="0"/>
                <a:ea typeface="宋体" panose="02010600030101010101" pitchFamily="2" charset="-122"/>
              </a:rPr>
              <a:t>Q</a:t>
            </a:r>
            <a:r>
              <a:rPr lang="en-US" altLang="zh-CN" sz="2000" baseline="-25000">
                <a:solidFill>
                  <a:srgbClr val="FFFFFF"/>
                </a:solidFill>
                <a:latin typeface="Times New Roman" panose="02020603050405020304" pitchFamily="18" charset="0"/>
                <a:ea typeface="宋体" panose="02010600030101010101" pitchFamily="2" charset="-122"/>
              </a:rPr>
              <a:t>2</a:t>
            </a:r>
            <a:endParaRPr lang="en-US" altLang="zh-CN" sz="2000">
              <a:latin typeface="Tahoma" panose="020B0604030504040204" pitchFamily="34" charset="0"/>
            </a:endParaRPr>
          </a:p>
        </p:txBody>
      </p:sp>
      <p:sp>
        <p:nvSpPr>
          <p:cNvPr id="58394" name="Text Box 72"/>
          <p:cNvSpPr txBox="1">
            <a:spLocks noChangeArrowheads="1"/>
          </p:cNvSpPr>
          <p:nvPr/>
        </p:nvSpPr>
        <p:spPr bwMode="auto">
          <a:xfrm>
            <a:off x="5544121" y="1847705"/>
            <a:ext cx="28733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just" eaLnBrk="1" hangingPunct="1">
              <a:lnSpc>
                <a:spcPct val="100000"/>
              </a:lnSpc>
              <a:spcBef>
                <a:spcPct val="0"/>
              </a:spcBef>
              <a:buFont typeface="Arial" panose="020B0604020202020204" pitchFamily="34" charset="0"/>
              <a:buNone/>
            </a:pPr>
            <a:r>
              <a:rPr lang="en-US" altLang="zh-CN" sz="2000">
                <a:solidFill>
                  <a:srgbClr val="FFFFFF"/>
                </a:solidFill>
                <a:latin typeface="Times New Roman" panose="02020603050405020304" pitchFamily="18" charset="0"/>
                <a:ea typeface="宋体" panose="02010600030101010101" pitchFamily="2" charset="-122"/>
              </a:rPr>
              <a:t>Q</a:t>
            </a:r>
            <a:r>
              <a:rPr lang="en-US" altLang="zh-CN" sz="2000" baseline="-25000">
                <a:solidFill>
                  <a:srgbClr val="FFFFFF"/>
                </a:solidFill>
                <a:latin typeface="Times New Roman" panose="02020603050405020304" pitchFamily="18" charset="0"/>
                <a:ea typeface="宋体" panose="02010600030101010101" pitchFamily="2" charset="-122"/>
              </a:rPr>
              <a:t>3</a:t>
            </a:r>
            <a:endParaRPr lang="en-US" altLang="zh-CN" sz="2000">
              <a:latin typeface="Tahoma" panose="020B0604030504040204" pitchFamily="34" charset="0"/>
            </a:endParaRPr>
          </a:p>
        </p:txBody>
      </p:sp>
      <mc:AlternateContent xmlns:mc="http://schemas.openxmlformats.org/markup-compatibility/2006" xmlns:a14="http://schemas.microsoft.com/office/drawing/2010/main">
        <mc:Choice Requires="a14">
          <p:sp>
            <p:nvSpPr>
              <p:cNvPr id="27" name="Rectangle 4"/>
              <p:cNvSpPr>
                <a:spLocks noChangeArrowheads="1"/>
              </p:cNvSpPr>
              <p:nvPr/>
            </p:nvSpPr>
            <p:spPr bwMode="auto">
              <a:xfrm>
                <a:off x="219646" y="4121005"/>
                <a:ext cx="8768554" cy="25853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None/>
                </a:pPr>
                <a:r>
                  <a:rPr lang="en-US" altLang="zh-CN" sz="1800" dirty="0" smtClean="0">
                    <a:latin typeface="Tahoma" panose="020B0604030504040204" pitchFamily="34" charset="0"/>
                  </a:rPr>
                  <a:t>      Wu</a:t>
                </a:r>
                <a:r>
                  <a:rPr lang="zh-CN" altLang="en-US" sz="1800" dirty="0">
                    <a:latin typeface="Tahoma" panose="020B0604030504040204" pitchFamily="34" charset="0"/>
                  </a:rPr>
                  <a:t>反走样算法是采用</a:t>
                </a:r>
                <a:r>
                  <a:rPr lang="zh-CN" altLang="en-US" sz="1800" b="1" dirty="0">
                    <a:solidFill>
                      <a:srgbClr val="3366FF"/>
                    </a:solidFill>
                    <a:effectLst>
                      <a:outerShdw blurRad="38100" dist="38100" dir="2700000" algn="tl">
                        <a:srgbClr val="C0C0C0"/>
                      </a:outerShdw>
                    </a:effectLst>
                    <a:latin typeface="方正粗黑宋简体" panose="02000000000000000000" pitchFamily="2" charset="-122"/>
                    <a:ea typeface="方正粗黑宋简体" panose="02000000000000000000" pitchFamily="2" charset="-122"/>
                  </a:rPr>
                  <a:t>空间混色原理</a:t>
                </a:r>
                <a:r>
                  <a:rPr lang="zh-CN" altLang="en-US" sz="1800" dirty="0">
                    <a:latin typeface="Tahoma" panose="020B0604030504040204" pitchFamily="34" charset="0"/>
                  </a:rPr>
                  <a:t>来对走样进行修正。</a:t>
                </a:r>
                <a:r>
                  <a:rPr lang="zh-CN" altLang="en-US" sz="1800" dirty="0">
                    <a:solidFill>
                      <a:srgbClr val="FF0000"/>
                    </a:solidFill>
                    <a:latin typeface="华文琥珀" panose="02010800040101010101" pitchFamily="2" charset="-122"/>
                    <a:ea typeface="华文琥珀" panose="02010800040101010101" pitchFamily="2" charset="-122"/>
                  </a:rPr>
                  <a:t>空间混色原理指出，人眼对某一区域颜色的识别是取这个区域颜色的平均值</a:t>
                </a:r>
                <a:r>
                  <a:rPr lang="zh-CN" altLang="en-US" sz="1800" dirty="0">
                    <a:latin typeface="Tahoma" panose="020B0604030504040204" pitchFamily="34" charset="0"/>
                  </a:rPr>
                  <a:t>。</a:t>
                </a:r>
                <a:r>
                  <a:rPr lang="en-US" altLang="zh-CN" sz="1800" dirty="0">
                    <a:latin typeface="Tahoma" panose="020B0604030504040204" pitchFamily="34" charset="0"/>
                  </a:rPr>
                  <a:t>Wu</a:t>
                </a:r>
                <a:r>
                  <a:rPr lang="zh-CN" altLang="en-US" sz="1800" dirty="0">
                    <a:latin typeface="Tahoma" panose="020B0604030504040204" pitchFamily="34" charset="0"/>
                  </a:rPr>
                  <a:t>反走样算法原理是</a:t>
                </a:r>
                <a:r>
                  <a:rPr lang="zh-CN" altLang="en-US" sz="1800" b="1" dirty="0">
                    <a:solidFill>
                      <a:srgbClr val="3366FF"/>
                    </a:solidFill>
                    <a:effectLst>
                      <a:outerShdw blurRad="38100" dist="38100" dir="2700000" algn="tl">
                        <a:srgbClr val="C0C0C0"/>
                      </a:outerShdw>
                    </a:effectLst>
                    <a:latin typeface="方正粗黑宋简体" panose="02000000000000000000" pitchFamily="2" charset="-122"/>
                    <a:ea typeface="方正粗黑宋简体" panose="02000000000000000000" pitchFamily="2" charset="-122"/>
                  </a:rPr>
                  <a:t>对于理想直线上的任一点，同时以两个不同亮度级别的相邻像素来表示</a:t>
                </a:r>
                <a:r>
                  <a:rPr lang="zh-CN" altLang="en-US" sz="1800" dirty="0">
                    <a:latin typeface="Tahoma" panose="020B0604030504040204" pitchFamily="34" charset="0"/>
                  </a:rPr>
                  <a:t>。理想直线段上的</a:t>
                </a:r>
                <a:r>
                  <a:rPr lang="zh-CN" altLang="en-US" sz="1800" dirty="0" smtClean="0">
                    <a:latin typeface="Tahoma" panose="020B0604030504040204" pitchFamily="34" charset="0"/>
                  </a:rPr>
                  <a:t>点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𝑸</m:t>
                        </m:r>
                      </m:e>
                      <m:sub>
                        <m:r>
                          <a:rPr lang="en-US" altLang="zh-CN" sz="1800" b="1" i="1">
                            <a:solidFill>
                              <a:srgbClr val="FF0000"/>
                            </a:solidFill>
                            <a:latin typeface="Cambria Math" panose="02040503050406030204" pitchFamily="18" charset="0"/>
                          </a:rPr>
                          <m:t>𝟏</m:t>
                        </m:r>
                      </m:sub>
                    </m:sSub>
                  </m:oMath>
                </a14:m>
                <a:r>
                  <a:rPr lang="zh-CN" altLang="en-US" sz="1800" dirty="0" smtClean="0">
                    <a:latin typeface="Tahoma" panose="020B0604030504040204" pitchFamily="34" charset="0"/>
                  </a:rPr>
                  <a:t>，</a:t>
                </a:r>
                <a:r>
                  <a:rPr lang="zh-CN" altLang="en-US" sz="1800" dirty="0">
                    <a:latin typeface="Tahoma" panose="020B0604030504040204" pitchFamily="34" charset="0"/>
                  </a:rPr>
                  <a:t>扫描转换后可用像素</a:t>
                </a:r>
                <a:r>
                  <a:rPr lang="zh-CN" altLang="en-US" sz="1800" dirty="0" smtClean="0">
                    <a:latin typeface="Tahoma" panose="020B0604030504040204" pitchFamily="34" charset="0"/>
                  </a:rPr>
                  <a:t>点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smtClean="0">
                            <a:solidFill>
                              <a:srgbClr val="FF0000"/>
                            </a:solidFill>
                            <a:latin typeface="Cambria Math" panose="02040503050406030204" pitchFamily="18" charset="0"/>
                          </a:rPr>
                          <m:t>𝟏</m:t>
                        </m:r>
                      </m:sub>
                    </m:sSub>
                  </m:oMath>
                </a14:m>
                <a:r>
                  <a:rPr lang="en-US" altLang="zh-CN" sz="1800" dirty="0" smtClean="0">
                    <a:latin typeface="Tahoma" panose="020B0604030504040204" pitchFamily="34" charset="0"/>
                  </a:rPr>
                  <a:t> </a:t>
                </a:r>
                <a:r>
                  <a:rPr lang="zh-CN" altLang="en-US" sz="1800" dirty="0" smtClean="0">
                    <a:latin typeface="Tahoma" panose="020B0604030504040204" pitchFamily="34" charset="0"/>
                  </a:rPr>
                  <a:t>和</a:t>
                </a:r>
                <a:r>
                  <a:rPr lang="zh-CN" altLang="en-US" sz="1800" dirty="0">
                    <a:latin typeface="Tahoma" panose="020B0604030504040204" pitchFamily="34" charset="0"/>
                  </a:rPr>
                  <a:t>像素点</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𝑷</m:t>
                        </m:r>
                      </m:e>
                      <m:sub>
                        <m:r>
                          <a:rPr lang="en-US" altLang="zh-CN" sz="1800" b="1" i="1" smtClean="0">
                            <a:solidFill>
                              <a:srgbClr val="FF0000"/>
                            </a:solidFill>
                            <a:latin typeface="Cambria Math" panose="02040503050406030204" pitchFamily="18" charset="0"/>
                          </a:rPr>
                          <m:t>𝟒</m:t>
                        </m:r>
                      </m:sub>
                    </m:sSub>
                  </m:oMath>
                </a14:m>
                <a:r>
                  <a:rPr lang="en-US" altLang="zh-CN" sz="1800" dirty="0" smtClean="0">
                    <a:latin typeface="Tahoma" panose="020B0604030504040204" pitchFamily="34" charset="0"/>
                  </a:rPr>
                  <a:t> </a:t>
                </a:r>
                <a:r>
                  <a:rPr lang="zh-CN" altLang="en-US" sz="1800" dirty="0" smtClean="0">
                    <a:latin typeface="Tahoma" panose="020B0604030504040204" pitchFamily="34" charset="0"/>
                  </a:rPr>
                  <a:t>以</a:t>
                </a:r>
                <a:r>
                  <a:rPr lang="zh-CN" altLang="en-US" sz="1800" dirty="0">
                    <a:latin typeface="Tahoma" panose="020B0604030504040204" pitchFamily="34" charset="0"/>
                  </a:rPr>
                  <a:t>不同的亮度级别共同显示，像素点离理想直线段越近，其亮度值越小，像素越暗；像素点离理想直线段越远，其亮度值就越大，像素越亮，但二者的亮度级别之和等于</a:t>
                </a:r>
                <a:r>
                  <a:rPr lang="zh-CN" altLang="en-US" sz="1800" dirty="0" smtClean="0">
                    <a:latin typeface="Tahoma" panose="020B0604030504040204" pitchFamily="34" charset="0"/>
                  </a:rPr>
                  <a:t>像素 </a:t>
                </a:r>
                <a14:m>
                  <m:oMath xmlns:m="http://schemas.openxmlformats.org/officeDocument/2006/math">
                    <m:sSub>
                      <m:sSubPr>
                        <m:ctrlPr>
                          <a:rPr lang="en-US" altLang="zh-CN" sz="1800" b="1" i="1">
                            <a:solidFill>
                              <a:srgbClr val="FF0000"/>
                            </a:solidFill>
                            <a:latin typeface="Cambria Math" panose="02040503050406030204" pitchFamily="18" charset="0"/>
                          </a:rPr>
                        </m:ctrlPr>
                      </m:sSubPr>
                      <m:e>
                        <m:r>
                          <a:rPr lang="en-US" altLang="zh-CN" sz="1800" b="1" i="1">
                            <a:solidFill>
                              <a:srgbClr val="FF0000"/>
                            </a:solidFill>
                            <a:latin typeface="Cambria Math" panose="02040503050406030204" pitchFamily="18" charset="0"/>
                          </a:rPr>
                          <m:t>𝑸</m:t>
                        </m:r>
                      </m:e>
                      <m:sub>
                        <m:r>
                          <a:rPr lang="en-US" altLang="zh-CN" sz="1800" b="1" i="1">
                            <a:solidFill>
                              <a:srgbClr val="FF0000"/>
                            </a:solidFill>
                            <a:latin typeface="Cambria Math" panose="02040503050406030204" pitchFamily="18" charset="0"/>
                          </a:rPr>
                          <m:t>𝟏</m:t>
                        </m:r>
                      </m:sub>
                    </m:sSub>
                  </m:oMath>
                </a14:m>
                <a:r>
                  <a:rPr lang="zh-CN" altLang="en-US" sz="1800" dirty="0" smtClean="0">
                    <a:latin typeface="Tahoma" panose="020B0604030504040204" pitchFamily="34" charset="0"/>
                  </a:rPr>
                  <a:t> 的</a:t>
                </a:r>
                <a:r>
                  <a:rPr lang="zh-CN" altLang="en-US" sz="1800" dirty="0">
                    <a:latin typeface="Tahoma" panose="020B0604030504040204" pitchFamily="34" charset="0"/>
                  </a:rPr>
                  <a:t>灰度值。 </a:t>
                </a:r>
              </a:p>
            </p:txBody>
          </p:sp>
        </mc:Choice>
        <mc:Fallback xmlns="">
          <p:sp>
            <p:nvSpPr>
              <p:cNvPr id="27" name="Rectangle 4"/>
              <p:cNvSpPr>
                <a:spLocks noRot="1" noChangeAspect="1" noMove="1" noResize="1" noEditPoints="1" noAdjustHandles="1" noChangeArrowheads="1" noChangeShapeType="1" noTextEdit="1"/>
              </p:cNvSpPr>
              <p:nvPr/>
            </p:nvSpPr>
            <p:spPr bwMode="auto">
              <a:xfrm>
                <a:off x="219646" y="4121005"/>
                <a:ext cx="8768554" cy="2585323"/>
              </a:xfrm>
              <a:prstGeom prst="rect">
                <a:avLst/>
              </a:prstGeom>
              <a:blipFill>
                <a:blip r:embed="rId11"/>
                <a:stretch>
                  <a:fillRect l="-626" r="-3199" b="-7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20" name="Object 10"/>
          <p:cNvGraphicFramePr>
            <a:graphicFrameLocks noChangeAspect="1"/>
          </p:cNvGraphicFramePr>
          <p:nvPr>
            <p:extLst>
              <p:ext uri="{D42A27DB-BD31-4B8C-83A1-F6EECF244321}">
                <p14:modId xmlns:p14="http://schemas.microsoft.com/office/powerpoint/2010/main" val="1351949614"/>
              </p:ext>
            </p:extLst>
          </p:nvPr>
        </p:nvGraphicFramePr>
        <p:xfrm>
          <a:off x="5148064" y="737329"/>
          <a:ext cx="3786250" cy="2879650"/>
        </p:xfrm>
        <a:graphic>
          <a:graphicData uri="http://schemas.openxmlformats.org/presentationml/2006/ole">
            <mc:AlternateContent xmlns:mc="http://schemas.openxmlformats.org/markup-compatibility/2006">
              <mc:Choice xmlns:v="urn:schemas-microsoft-com:vml" Requires="v">
                <p:oleObj spid="_x0000_s60466" r:id="rId3" imgW="1865880" imgH="1414080" progId="Visio.Drawing.11">
                  <p:embed/>
                </p:oleObj>
              </mc:Choice>
              <mc:Fallback>
                <p:oleObj r:id="rId3" imgW="1865880" imgH="1414080"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737329"/>
                        <a:ext cx="3786250" cy="2879650"/>
                      </a:xfrm>
                      <a:prstGeom prst="rect">
                        <a:avLst/>
                      </a:prstGeom>
                      <a:noFill/>
                      <a:ln>
                        <a:noFill/>
                      </a:ln>
                      <a:extLst/>
                    </p:spPr>
                  </p:pic>
                </p:oleObj>
              </mc:Fallback>
            </mc:AlternateContent>
          </a:graphicData>
        </a:graphic>
      </p:graphicFrame>
      <p:sp>
        <p:nvSpPr>
          <p:cNvPr id="65544" name="Rectangle 13"/>
          <p:cNvSpPr>
            <a:spLocks noChangeArrowheads="1"/>
          </p:cNvSpPr>
          <p:nvPr/>
        </p:nvSpPr>
        <p:spPr bwMode="auto">
          <a:xfrm>
            <a:off x="606676" y="217663"/>
            <a:ext cx="4752975" cy="579437"/>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altLang="zh-CN" sz="3200" b="1" dirty="0">
                <a:effectLst>
                  <a:outerShdw blurRad="38100" dist="38100" dir="2700000" algn="tl">
                    <a:srgbClr val="C0C0C0"/>
                  </a:outerShdw>
                </a:effectLst>
                <a:latin typeface="楷体_GB2312" pitchFamily="49" charset="-122"/>
              </a:rPr>
              <a:t>3.5.2 </a:t>
            </a:r>
            <a:r>
              <a:rPr lang="zh-CN" altLang="en-US" sz="3200" b="1" dirty="0">
                <a:effectLst>
                  <a:outerShdw blurRad="38100" dist="38100" dir="2700000" algn="tl">
                    <a:srgbClr val="C0C0C0"/>
                  </a:outerShdw>
                </a:effectLst>
                <a:latin typeface="楷体_GB2312" pitchFamily="49" charset="-122"/>
              </a:rPr>
              <a:t>构造距离误差项</a:t>
            </a:r>
            <a:r>
              <a:rPr lang="zh-CN" altLang="en-US" dirty="0"/>
              <a:t> </a:t>
            </a:r>
          </a:p>
        </p:txBody>
      </p:sp>
      <mc:AlternateContent xmlns:mc="http://schemas.openxmlformats.org/markup-compatibility/2006" xmlns:a14="http://schemas.microsoft.com/office/drawing/2010/main">
        <mc:Choice Requires="a14">
          <p:sp>
            <p:nvSpPr>
              <p:cNvPr id="9" name="矩形 8"/>
              <p:cNvSpPr/>
              <p:nvPr/>
            </p:nvSpPr>
            <p:spPr>
              <a:xfrm>
                <a:off x="4975010" y="3078738"/>
                <a:ext cx="121020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a:solidFill>
                            <a:srgbClr val="FF0000"/>
                          </a:solidFill>
                          <a:latin typeface="Cambria Math" panose="02040503050406030204" pitchFamily="18" charset="0"/>
                        </a:rPr>
                        <m:t>𝑷</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m:oMathPara>
                </a14:m>
                <a:endParaRPr lang="zh-CN" altLang="en-US" sz="2000" dirty="0"/>
              </a:p>
            </p:txBody>
          </p:sp>
        </mc:Choice>
        <mc:Fallback xmlns="">
          <p:sp>
            <p:nvSpPr>
              <p:cNvPr id="9" name="矩形 8"/>
              <p:cNvSpPr>
                <a:spLocks noRot="1" noChangeAspect="1" noMove="1" noResize="1" noEditPoints="1" noAdjustHandles="1" noChangeArrowheads="1" noChangeShapeType="1" noTextEdit="1"/>
              </p:cNvSpPr>
              <p:nvPr/>
            </p:nvSpPr>
            <p:spPr>
              <a:xfrm>
                <a:off x="4975010" y="3078738"/>
                <a:ext cx="1210203" cy="400110"/>
              </a:xfrm>
              <a:prstGeom prst="rect">
                <a:avLst/>
              </a:prstGeom>
              <a:blipFill>
                <a:blip r:embed="rId5"/>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084168" y="1807868"/>
                <a:ext cx="5720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𝒖</m:t>
                          </m:r>
                        </m:sub>
                      </m:sSub>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6084168" y="1807868"/>
                <a:ext cx="572015"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6084168" y="3078462"/>
                <a:ext cx="5720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𝒅</m:t>
                          </m:r>
                        </m:sub>
                      </m:sSub>
                    </m:oMath>
                  </m:oMathPara>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6084168" y="3078462"/>
                <a:ext cx="572015" cy="400110"/>
              </a:xfrm>
              <a:prstGeom prst="rect">
                <a:avLst/>
              </a:prstGeom>
              <a:blipFill>
                <a:blip r:embed="rId7"/>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6509249" y="2618574"/>
                <a:ext cx="53194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𝑸</m:t>
                          </m:r>
                        </m:e>
                        <m:sub>
                          <m:r>
                            <a:rPr lang="en-US" altLang="zh-CN" sz="2000" b="1" i="1" smtClean="0">
                              <a:solidFill>
                                <a:srgbClr val="FF0000"/>
                              </a:solidFill>
                              <a:latin typeface="Cambria Math" panose="02040503050406030204" pitchFamily="18" charset="0"/>
                            </a:rPr>
                            <m:t>𝒊</m:t>
                          </m:r>
                        </m:sub>
                      </m:sSub>
                    </m:oMath>
                  </m:oMathPara>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6509249" y="2618574"/>
                <a:ext cx="531940" cy="400110"/>
              </a:xfrm>
              <a:prstGeom prst="rect">
                <a:avLst/>
              </a:prstGeom>
              <a:blipFill>
                <a:blip r:embed="rId8"/>
                <a:stretch>
                  <a:fillRect b="-153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Rectangle 12"/>
              <p:cNvSpPr>
                <a:spLocks noChangeArrowheads="1"/>
              </p:cNvSpPr>
              <p:nvPr/>
            </p:nvSpPr>
            <p:spPr bwMode="auto">
              <a:xfrm>
                <a:off x="251520" y="980728"/>
                <a:ext cx="4896544"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40000"/>
                  </a:lnSpc>
                  <a:spcBef>
                    <a:spcPct val="0"/>
                  </a:spcBef>
                  <a:buNone/>
                </a:pPr>
                <a:r>
                  <a:rPr lang="zh-CN" altLang="en-US" sz="2000" dirty="0" smtClean="0">
                    <a:latin typeface="Tahoma" panose="020B0604030504040204" pitchFamily="34" charset="0"/>
                  </a:rPr>
                  <a:t>斜率为</a:t>
                </a:r>
                <a:r>
                  <a:rPr lang="zh-CN" altLang="en-US" sz="2000" dirty="0" smtClean="0">
                    <a:latin typeface="Tahoma" panose="020B0604030504040204" pitchFamily="34" charset="0"/>
                  </a:rPr>
                  <a:t> </a:t>
                </a:r>
                <a14:m>
                  <m:oMath xmlns:m="http://schemas.openxmlformats.org/officeDocument/2006/math">
                    <m:r>
                      <a:rPr lang="en-US" altLang="zh-CN" sz="2000" b="1" i="1" smtClean="0">
                        <a:solidFill>
                          <a:srgbClr val="FF0000"/>
                        </a:solidFill>
                        <a:latin typeface="Cambria Math" panose="02040503050406030204" pitchFamily="18" charset="0"/>
                      </a:rPr>
                      <m:t>𝒌</m:t>
                    </m:r>
                  </m:oMath>
                </a14:m>
                <a:r>
                  <a:rPr lang="zh-CN" altLang="en-US" sz="2000" dirty="0" smtClean="0">
                    <a:latin typeface="Tahoma" panose="020B0604030504040204" pitchFamily="34" charset="0"/>
                  </a:rPr>
                  <a:t> </a:t>
                </a:r>
                <a:r>
                  <a:rPr lang="zh-CN" altLang="en-US" sz="2000" dirty="0">
                    <a:latin typeface="Tahoma" panose="020B0604030504040204" pitchFamily="34" charset="0"/>
                  </a:rPr>
                  <a:t>的理想直线段</a:t>
                </a:r>
                <a:r>
                  <a:rPr lang="zh-CN" altLang="en-US" sz="2000" dirty="0" smtClean="0">
                    <a:latin typeface="Tahoma" panose="020B0604030504040204" pitchFamily="34" charset="0"/>
                  </a:rPr>
                  <a:t>与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𝒖</m:t>
                        </m:r>
                      </m:sub>
                    </m:sSub>
                  </m:oMath>
                </a14:m>
                <a:r>
                  <a:rPr lang="zh-CN" altLang="en-US" sz="2000" dirty="0" smtClean="0">
                    <a:latin typeface="Tahoma" panose="020B0604030504040204" pitchFamily="34" charset="0"/>
                  </a:rPr>
                  <a:t> 和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zh-CN" altLang="en-US" sz="2000" dirty="0" smtClean="0">
                    <a:latin typeface="Tahoma" panose="020B0604030504040204" pitchFamily="34" charset="0"/>
                  </a:rPr>
                  <a:t> 像素</a:t>
                </a:r>
                <a:r>
                  <a:rPr lang="zh-CN" altLang="en-US" sz="2000" dirty="0">
                    <a:latin typeface="Tahoma" panose="020B0604030504040204" pitchFamily="34" charset="0"/>
                  </a:rPr>
                  <a:t>中心连线的交点</a:t>
                </a:r>
                <a:r>
                  <a:rPr lang="zh-CN" altLang="en-US" sz="2000" dirty="0" smtClean="0">
                    <a:latin typeface="Tahoma" panose="020B0604030504040204" pitchFamily="34" charset="0"/>
                  </a:rPr>
                  <a:t>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𝑸</m:t>
                        </m:r>
                      </m:e>
                      <m:sub>
                        <m:r>
                          <a:rPr lang="en-US" altLang="zh-CN" sz="2000" b="1" i="1">
                            <a:solidFill>
                              <a:srgbClr val="FF0000"/>
                            </a:solidFill>
                            <a:latin typeface="Cambria Math" panose="02040503050406030204" pitchFamily="18" charset="0"/>
                          </a:rPr>
                          <m:t>𝒊</m:t>
                        </m:r>
                      </m:sub>
                    </m:sSub>
                    <m:d>
                      <m:dPr>
                        <m:ctrlPr>
                          <a:rPr lang="en-US" altLang="zh-CN" sz="2000" b="1" i="1" smtClean="0">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Tahoma" panose="020B0604030504040204" pitchFamily="34" charset="0"/>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baseline="-25000" dirty="0">
                    <a:latin typeface="Tahoma" panose="020B0604030504040204" pitchFamily="34" charset="0"/>
                  </a:rPr>
                  <a:t> </a:t>
                </a:r>
                <a:r>
                  <a:rPr lang="zh-CN" altLang="en-US" sz="2000" dirty="0">
                    <a:latin typeface="Tahoma" panose="020B0604030504040204" pitchFamily="34" charset="0"/>
                  </a:rPr>
                  <a:t>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𝑸</m:t>
                        </m:r>
                      </m:e>
                      <m:sub>
                        <m:r>
                          <a:rPr lang="en-US" altLang="zh-CN" sz="2000" b="1" i="1">
                            <a:solidFill>
                              <a:srgbClr val="FF0000"/>
                            </a:solidFill>
                            <a:latin typeface="Cambria Math" panose="02040503050406030204" pitchFamily="18" charset="0"/>
                          </a:rPr>
                          <m:t>𝒊</m:t>
                        </m:r>
                      </m:sub>
                    </m:sSub>
                  </m:oMath>
                </a14:m>
                <a:r>
                  <a:rPr lang="en-US" altLang="zh-CN" sz="2000" baseline="-25000" dirty="0">
                    <a:latin typeface="Tahoma" panose="020B0604030504040204" pitchFamily="34" charset="0"/>
                  </a:rPr>
                  <a:t> </a:t>
                </a:r>
                <a:r>
                  <a:rPr lang="zh-CN" altLang="en-US" sz="2000" dirty="0">
                    <a:latin typeface="Tahoma" panose="020B0604030504040204" pitchFamily="34" charset="0"/>
                  </a:rPr>
                  <a:t>与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oMath>
                </a14:m>
                <a:r>
                  <a:rPr lang="en-US" altLang="zh-CN" sz="2000" baseline="-25000" dirty="0">
                    <a:latin typeface="Tahoma" panose="020B0604030504040204" pitchFamily="34" charset="0"/>
                  </a:rPr>
                  <a:t> </a:t>
                </a:r>
                <a:r>
                  <a:rPr lang="zh-CN" altLang="en-US" sz="2000" dirty="0">
                    <a:latin typeface="Tahoma" panose="020B0604030504040204" pitchFamily="34" charset="0"/>
                  </a:rPr>
                  <a:t>的距离。。</a:t>
                </a:r>
              </a:p>
            </p:txBody>
          </p:sp>
        </mc:Choice>
        <mc:Fallback>
          <p:sp>
            <p:nvSpPr>
              <p:cNvPr id="13" name="Rectangle 12"/>
              <p:cNvSpPr>
                <a:spLocks noRot="1" noChangeAspect="1" noMove="1" noResize="1" noEditPoints="1" noAdjustHandles="1" noChangeArrowheads="1" noChangeShapeType="1" noTextEdit="1"/>
              </p:cNvSpPr>
              <p:nvPr/>
            </p:nvSpPr>
            <p:spPr bwMode="auto">
              <a:xfrm>
                <a:off x="251520" y="980728"/>
                <a:ext cx="4896544" cy="1384995"/>
              </a:xfrm>
              <a:prstGeom prst="rect">
                <a:avLst/>
              </a:prstGeom>
              <a:blipFill>
                <a:blip r:embed="rId9"/>
                <a:stretch>
                  <a:fillRect l="-1245" b="-30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9"/>
              <p:cNvSpPr>
                <a:spLocks noChangeArrowheads="1"/>
              </p:cNvSpPr>
              <p:nvPr/>
            </p:nvSpPr>
            <p:spPr bwMode="auto">
              <a:xfrm>
                <a:off x="251520" y="2405026"/>
                <a:ext cx="4375750"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eaLnBrk="1" hangingPunct="1">
                  <a:lnSpc>
                    <a:spcPct val="100000"/>
                  </a:lnSpc>
                  <a:spcBef>
                    <a:spcPct val="0"/>
                  </a:spcBef>
                  <a:buFont typeface="Wingdings" panose="05000000000000000000" pitchFamily="2" charset="2"/>
                  <a:buChar char="n"/>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𝒅</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solidFill>
                      <a:srgbClr val="FF0000"/>
                    </a:solidFill>
                    <a:latin typeface="华文琥珀" panose="02010800040101010101" pitchFamily="2" charset="-122"/>
                    <a:ea typeface="华文琥珀" panose="02010800040101010101" pitchFamily="2" charset="-122"/>
                  </a:rPr>
                  <a:t>像素</a:t>
                </a:r>
                <a:r>
                  <a:rPr lang="zh-CN" altLang="en-US" sz="2000" dirty="0">
                    <a:solidFill>
                      <a:srgbClr val="FF0000"/>
                    </a:solidFill>
                    <a:latin typeface="华文琥珀" panose="02010800040101010101" pitchFamily="2" charset="-122"/>
                    <a:ea typeface="华文琥珀" panose="02010800040101010101" pitchFamily="2" charset="-122"/>
                  </a:rPr>
                  <a:t>的亮度级别为</a:t>
                </a:r>
                <a:r>
                  <a:rPr lang="zh-CN" altLang="en-US" sz="2000" dirty="0">
                    <a:latin typeface="Tahoma" panose="020B0604030504040204" pitchFamily="34" charset="0"/>
                  </a:rPr>
                  <a:t>：</a:t>
                </a:r>
              </a:p>
            </p:txBody>
          </p:sp>
        </mc:Choice>
        <mc:Fallback xmlns="">
          <p:sp>
            <p:nvSpPr>
              <p:cNvPr id="14" name="Rectangle 9"/>
              <p:cNvSpPr>
                <a:spLocks noRot="1" noChangeAspect="1" noMove="1" noResize="1" noEditPoints="1" noAdjustHandles="1" noChangeArrowheads="1" noChangeShapeType="1" noTextEdit="1"/>
              </p:cNvSpPr>
              <p:nvPr/>
            </p:nvSpPr>
            <p:spPr bwMode="auto">
              <a:xfrm>
                <a:off x="251520" y="2405026"/>
                <a:ext cx="4375750" cy="400110"/>
              </a:xfrm>
              <a:prstGeom prst="rect">
                <a:avLst/>
              </a:prstGeom>
              <a:blipFill>
                <a:blip r:embed="rId10"/>
                <a:stretch>
                  <a:fillRect l="-1253" t="-13846" r="-975" b="-292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Rectangle 10"/>
              <p:cNvSpPr>
                <a:spLocks noChangeArrowheads="1"/>
              </p:cNvSpPr>
              <p:nvPr/>
            </p:nvSpPr>
            <p:spPr bwMode="auto">
              <a:xfrm>
                <a:off x="251520" y="2853321"/>
                <a:ext cx="4379019"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𝒅</m:t>
                        </m:r>
                      </m:sub>
                    </m:sSub>
                  </m:oMath>
                </a14:m>
                <a:r>
                  <a:rPr lang="en-US" altLang="zh-CN" sz="2000" dirty="0">
                    <a:latin typeface="Tahoma" panose="020B0604030504040204" pitchFamily="34" charset="0"/>
                  </a:rPr>
                  <a:t>=RGB(</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a:t>
                </a:r>
                <a:r>
                  <a:rPr lang="en-US" altLang="zh-CN" sz="2000" b="1" dirty="0">
                    <a:solidFill>
                      <a:srgbClr val="FF0000"/>
                    </a:solidFill>
                  </a:rPr>
                  <a:t>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a:t>
                </a:r>
                <a:r>
                  <a:rPr lang="en-US" altLang="zh-CN" sz="2000" b="1" dirty="0">
                    <a:solidFill>
                      <a:srgbClr val="FF0000"/>
                    </a:solidFill>
                  </a:rPr>
                  <a:t>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a:t>
                </a:r>
                <a:endParaRPr lang="zh-CN" altLang="en-US" sz="2000" dirty="0">
                  <a:latin typeface="Tahoma" panose="020B0604030504040204" pitchFamily="34" charset="0"/>
                </a:endParaRPr>
              </a:p>
            </p:txBody>
          </p:sp>
        </mc:Choice>
        <mc:Fallback xmlns="">
          <p:sp>
            <p:nvSpPr>
              <p:cNvPr id="15" name="Rectangle 10"/>
              <p:cNvSpPr>
                <a:spLocks noRot="1" noChangeAspect="1" noMove="1" noResize="1" noEditPoints="1" noAdjustHandles="1" noChangeArrowheads="1" noChangeShapeType="1" noTextEdit="1"/>
              </p:cNvSpPr>
              <p:nvPr/>
            </p:nvSpPr>
            <p:spPr bwMode="auto">
              <a:xfrm>
                <a:off x="251520" y="2853321"/>
                <a:ext cx="4379019" cy="400110"/>
              </a:xfrm>
              <a:prstGeom prst="rect">
                <a:avLst/>
              </a:prstGeom>
              <a:blipFill>
                <a:blip r:embed="rId11"/>
                <a:stretch>
                  <a:fillRect t="-12121" b="-242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Rectangle 11"/>
              <p:cNvSpPr>
                <a:spLocks noChangeArrowheads="1"/>
              </p:cNvSpPr>
              <p:nvPr/>
            </p:nvSpPr>
            <p:spPr bwMode="auto">
              <a:xfrm>
                <a:off x="251520" y="3308819"/>
                <a:ext cx="4836004"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eaLnBrk="1" hangingPunct="1">
                  <a:lnSpc>
                    <a:spcPct val="100000"/>
                  </a:lnSpc>
                  <a:spcBef>
                    <a:spcPct val="0"/>
                  </a:spcBef>
                  <a:buFont typeface="Wingdings" panose="05000000000000000000" pitchFamily="2" charset="2"/>
                  <a:buChar char="n"/>
                </a:pP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𝒖</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a14:m>
                <a:r>
                  <a:rPr lang="zh-CN" altLang="en-US" sz="2000" dirty="0">
                    <a:solidFill>
                      <a:srgbClr val="FF0000"/>
                    </a:solidFill>
                    <a:latin typeface="华文琥珀" panose="02010800040101010101" pitchFamily="2" charset="-122"/>
                    <a:ea typeface="华文琥珀" panose="02010800040101010101" pitchFamily="2" charset="-122"/>
                  </a:rPr>
                  <a:t>像素的亮度级别为</a:t>
                </a:r>
                <a:r>
                  <a:rPr lang="zh-CN" altLang="en-US" sz="2000" dirty="0">
                    <a:latin typeface="Tahoma" panose="020B0604030504040204" pitchFamily="34" charset="0"/>
                  </a:rPr>
                  <a:t>：</a:t>
                </a:r>
              </a:p>
            </p:txBody>
          </p:sp>
        </mc:Choice>
        <mc:Fallback xmlns="">
          <p:sp>
            <p:nvSpPr>
              <p:cNvPr id="16" name="Rectangle 11"/>
              <p:cNvSpPr>
                <a:spLocks noRot="1" noChangeAspect="1" noMove="1" noResize="1" noEditPoints="1" noAdjustHandles="1" noChangeArrowheads="1" noChangeShapeType="1" noTextEdit="1"/>
              </p:cNvSpPr>
              <p:nvPr/>
            </p:nvSpPr>
            <p:spPr bwMode="auto">
              <a:xfrm>
                <a:off x="251520" y="3308819"/>
                <a:ext cx="4836004" cy="400110"/>
              </a:xfrm>
              <a:prstGeom prst="rect">
                <a:avLst/>
              </a:prstGeom>
              <a:blipFill>
                <a:blip r:embed="rId12"/>
                <a:stretch>
                  <a:fillRect l="-1134" t="-13846" r="-630" b="-292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2"/>
              <p:cNvSpPr>
                <a:spLocks noChangeArrowheads="1"/>
              </p:cNvSpPr>
              <p:nvPr/>
            </p:nvSpPr>
            <p:spPr bwMode="auto">
              <a:xfrm>
                <a:off x="251520" y="3778168"/>
                <a:ext cx="5688673"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None/>
                </a:pP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𝒖</m:t>
                        </m:r>
                      </m:sub>
                    </m:sSub>
                  </m:oMath>
                </a14:m>
                <a:r>
                  <a:rPr lang="en-US" altLang="zh-CN" sz="2000" dirty="0">
                    <a:latin typeface="Tahoma" panose="020B0604030504040204" pitchFamily="34" charset="0"/>
                  </a:rPr>
                  <a:t>=RGB((1-</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)×255,(1-</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)×255,(1-</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)×255)</a:t>
                </a:r>
                <a:r>
                  <a:rPr lang="zh-CN" altLang="en-US" sz="2000" dirty="0">
                    <a:latin typeface="Tahoma" panose="020B0604030504040204" pitchFamily="34" charset="0"/>
                  </a:rPr>
                  <a:t>。</a:t>
                </a:r>
              </a:p>
            </p:txBody>
          </p:sp>
        </mc:Choice>
        <mc:Fallback xmlns="">
          <p:sp>
            <p:nvSpPr>
              <p:cNvPr id="17" name="Rectangle 12"/>
              <p:cNvSpPr>
                <a:spLocks noRot="1" noChangeAspect="1" noMove="1" noResize="1" noEditPoints="1" noAdjustHandles="1" noChangeArrowheads="1" noChangeShapeType="1" noTextEdit="1"/>
              </p:cNvSpPr>
              <p:nvPr/>
            </p:nvSpPr>
            <p:spPr bwMode="auto">
              <a:xfrm>
                <a:off x="251520" y="3778168"/>
                <a:ext cx="5688673" cy="400110"/>
              </a:xfrm>
              <a:prstGeom prst="rect">
                <a:avLst/>
              </a:prstGeom>
              <a:blipFill>
                <a:blip r:embed="rId13"/>
                <a:stretch>
                  <a:fillRect t="-12308" r="-536" b="-276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3"/>
              <p:cNvSpPr>
                <a:spLocks noChangeArrowheads="1"/>
              </p:cNvSpPr>
              <p:nvPr/>
            </p:nvSpPr>
            <p:spPr bwMode="auto">
              <a:xfrm>
                <a:off x="251520" y="4406006"/>
                <a:ext cx="8682794" cy="95410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marL="342900" indent="-342900" eaLnBrk="1" hangingPunct="1">
                  <a:lnSpc>
                    <a:spcPct val="140000"/>
                  </a:lnSpc>
                  <a:spcBef>
                    <a:spcPct val="0"/>
                  </a:spcBef>
                  <a:buFont typeface="Wingdings" panose="05000000000000000000" pitchFamily="2" charset="2"/>
                  <a:buChar char="n"/>
                </a:pPr>
                <a:r>
                  <a:rPr lang="zh-CN" altLang="en-US" sz="2000" dirty="0" smtClean="0">
                    <a:latin typeface="Tahoma" panose="020B0604030504040204" pitchFamily="34" charset="0"/>
                  </a:rPr>
                  <a:t>每右移一个像素，</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sub>
                    </m:sSub>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𝒌</m:t>
                    </m:r>
                  </m:oMath>
                </a14:m>
                <a:r>
                  <a:rPr lang="zh-CN" altLang="en-US" sz="2000" dirty="0" smtClean="0">
                    <a:latin typeface="Tahoma" panose="020B0604030504040204" pitchFamily="34" charset="0"/>
                  </a:rPr>
                  <a:t>。当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en-US" altLang="zh-CN" sz="2000" dirty="0" smtClean="0">
                    <a:latin typeface="Tahoma" panose="020B0604030504040204" pitchFamily="34" charset="0"/>
                  </a:rPr>
                  <a:t> ≥ 1.0 </a:t>
                </a:r>
                <a:r>
                  <a:rPr lang="zh-CN" altLang="en-US" sz="2000" dirty="0" smtClean="0">
                    <a:latin typeface="Tahoma" panose="020B0604030504040204" pitchFamily="34" charset="0"/>
                  </a:rPr>
                  <a:t>时</a:t>
                </a:r>
                <a:r>
                  <a:rPr lang="zh-CN" altLang="en-US" sz="2000" dirty="0">
                    <a:latin typeface="Tahoma" panose="020B0604030504040204" pitchFamily="34" charset="0"/>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sub>
                    </m:sSub>
                  </m:oMath>
                </a14:m>
                <a:r>
                  <a:rPr lang="en-US" altLang="zh-CN" sz="2000" dirty="0">
                    <a:latin typeface="Tahoma" panose="020B0604030504040204" pitchFamily="34" charset="0"/>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oMath>
                </a14:m>
                <a:r>
                  <a:rPr lang="en-US" altLang="zh-CN" sz="2000" dirty="0">
                    <a:latin typeface="Tahoma" panose="020B0604030504040204" pitchFamily="34" charset="0"/>
                  </a:rPr>
                  <a:t>+1</a:t>
                </a:r>
                <a:r>
                  <a:rPr lang="zh-CN" altLang="en-US" sz="2000" dirty="0">
                    <a:latin typeface="Tahoma" panose="020B0604030504040204" pitchFamily="34" charset="0"/>
                  </a:rPr>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oMath>
                </a14:m>
                <a:endParaRPr lang="zh-CN" altLang="en-US" sz="2000" dirty="0">
                  <a:latin typeface="Tahoma" panose="020B0604030504040204" pitchFamily="34" charset="0"/>
                </a:endParaRPr>
              </a:p>
            </p:txBody>
          </p:sp>
        </mc:Choice>
        <mc:Fallback>
          <p:sp>
            <p:nvSpPr>
              <p:cNvPr id="18" name="Rectangle 13"/>
              <p:cNvSpPr>
                <a:spLocks noRot="1" noChangeAspect="1" noMove="1" noResize="1" noEditPoints="1" noAdjustHandles="1" noChangeArrowheads="1" noChangeShapeType="1" noTextEdit="1"/>
              </p:cNvSpPr>
              <p:nvPr/>
            </p:nvSpPr>
            <p:spPr bwMode="auto">
              <a:xfrm>
                <a:off x="251520" y="4406006"/>
                <a:ext cx="8682794" cy="954107"/>
              </a:xfrm>
              <a:prstGeom prst="rect">
                <a:avLst/>
              </a:prstGeom>
              <a:blipFill>
                <a:blip r:embed="rId14"/>
                <a:stretch>
                  <a:fillRect l="-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ChangeArrowheads="1"/>
          </p:cNvSpPr>
          <p:nvPr/>
        </p:nvSpPr>
        <p:spPr bwMode="auto">
          <a:xfrm>
            <a:off x="755576" y="1124744"/>
            <a:ext cx="802798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void </a:t>
            </a:r>
            <a:r>
              <a:rPr lang="en-US" altLang="zh-CN" sz="1600" dirty="0" err="1">
                <a:latin typeface="Tahoma" panose="020B0604030504040204" pitchFamily="34" charset="0"/>
              </a:rPr>
              <a:t>CTestView</a:t>
            </a:r>
            <a:r>
              <a:rPr lang="en-US" altLang="zh-CN" sz="1600" dirty="0">
                <a:latin typeface="Tahoma" panose="020B0604030504040204" pitchFamily="34" charset="0"/>
              </a:rPr>
              <a:t>::</a:t>
            </a:r>
            <a:r>
              <a:rPr lang="en-US" altLang="zh-CN" sz="1600" dirty="0" err="1">
                <a:latin typeface="Tahoma" panose="020B0604030504040204" pitchFamily="34" charset="0"/>
              </a:rPr>
              <a:t>ALine</a:t>
            </a:r>
            <a:r>
              <a:rPr lang="en-US" altLang="zh-CN" sz="1600" dirty="0">
                <a:latin typeface="Tahoma" panose="020B0604030504040204" pitchFamily="34" charset="0"/>
              </a:rPr>
              <a:t>(CDC *</a:t>
            </a:r>
            <a:r>
              <a:rPr lang="en-US" altLang="zh-CN" sz="1600" dirty="0" err="1">
                <a:latin typeface="Tahoma" panose="020B0604030504040204" pitchFamily="34" charset="0"/>
              </a:rPr>
              <a:t>pDC</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CPoint</a:t>
            </a:r>
            <a:r>
              <a:rPr lang="en-US" altLang="zh-CN" sz="1600" dirty="0">
                <a:latin typeface="Tahoma" panose="020B0604030504040204" pitchFamily="34" charset="0"/>
              </a:rPr>
              <a:t> p0(-100,-50),p1(200,50),p;</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int</a:t>
            </a:r>
            <a:r>
              <a:rPr lang="en-US" altLang="zh-CN" sz="1600" dirty="0">
                <a:latin typeface="Tahoma" panose="020B0604030504040204" pitchFamily="34" charset="0"/>
              </a:rPr>
              <a:t> </a:t>
            </a:r>
            <a:r>
              <a:rPr lang="en-US" altLang="zh-CN" sz="1600" dirty="0" err="1">
                <a:latin typeface="Tahoma" panose="020B0604030504040204" pitchFamily="34" charset="0"/>
              </a:rPr>
              <a:t>dx,dy</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dx=p1.x-p0.x;</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dy</a:t>
            </a:r>
            <a:r>
              <a:rPr lang="en-US" altLang="zh-CN" sz="1600" dirty="0">
                <a:latin typeface="Tahoma" panose="020B0604030504040204" pitchFamily="34" charset="0"/>
              </a:rPr>
              <a:t>=p1.y-p0.y;</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double k=(double)</a:t>
            </a:r>
            <a:r>
              <a:rPr lang="en-US" altLang="zh-CN" sz="1600" dirty="0" err="1">
                <a:latin typeface="Tahoma" panose="020B0604030504040204" pitchFamily="34" charset="0"/>
              </a:rPr>
              <a:t>dy</a:t>
            </a:r>
            <a:r>
              <a:rPr lang="en-US" altLang="zh-CN" sz="1600" dirty="0">
                <a:latin typeface="Tahoma" panose="020B0604030504040204" pitchFamily="34" charset="0"/>
              </a:rPr>
              <a:t>/</a:t>
            </a:r>
            <a:r>
              <a:rPr lang="en-US" altLang="zh-CN" sz="1600" dirty="0" err="1">
                <a:latin typeface="Tahoma" panose="020B0604030504040204" pitchFamily="34" charset="0"/>
              </a:rPr>
              <a:t>dx,e</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for(p=p0,e=0;p.x&lt;p1.x;p.x++)//</a:t>
            </a:r>
            <a:r>
              <a:rPr lang="zh-CN" altLang="en-US" sz="1600" dirty="0">
                <a:latin typeface="Tahoma" panose="020B0604030504040204" pitchFamily="34" charset="0"/>
              </a:rPr>
              <a:t>不包括终点</a:t>
            </a:r>
            <a:r>
              <a:rPr lang="en-US" altLang="zh-CN" sz="1600" dirty="0">
                <a:latin typeface="Tahoma" panose="020B0604030504040204" pitchFamily="34" charset="0"/>
              </a:rPr>
              <a:t>p1</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smtClean="0">
                <a:latin typeface="Tahoma" panose="020B0604030504040204" pitchFamily="34" charset="0"/>
              </a:rPr>
              <a:t>{</a:t>
            </a:r>
            <a:r>
              <a:rPr lang="en-US" altLang="zh-CN" sz="1600" dirty="0" err="1" smtClean="0">
                <a:latin typeface="Tahoma" panose="020B0604030504040204" pitchFamily="34" charset="0"/>
              </a:rPr>
              <a:t>pDC</a:t>
            </a:r>
            <a:r>
              <a:rPr lang="en-US" altLang="zh-CN" sz="1600" dirty="0" smtClean="0">
                <a:latin typeface="Tahoma" panose="020B0604030504040204" pitchFamily="34" charset="0"/>
              </a:rPr>
              <a:t>-</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a:t>
            </a:r>
            <a:r>
              <a:rPr lang="en-US" altLang="zh-CN" sz="1600" dirty="0" err="1">
                <a:latin typeface="Tahoma" panose="020B0604030504040204" pitchFamily="34" charset="0"/>
              </a:rPr>
              <a:t>p.x</a:t>
            </a:r>
            <a:r>
              <a:rPr lang="en-US" altLang="zh-CN" sz="1600" dirty="0">
                <a:latin typeface="Tahoma" panose="020B0604030504040204" pitchFamily="34" charset="0"/>
              </a:rPr>
              <a:t>, </a:t>
            </a:r>
            <a:r>
              <a:rPr lang="en-US" altLang="zh-CN" sz="1600" dirty="0" err="1">
                <a:latin typeface="Tahoma" panose="020B0604030504040204" pitchFamily="34" charset="0"/>
              </a:rPr>
              <a:t>p.y,RGB</a:t>
            </a:r>
            <a:r>
              <a:rPr lang="en-US" altLang="zh-CN" sz="1600" dirty="0">
                <a:latin typeface="Tahoma" panose="020B0604030504040204" pitchFamily="34" charset="0"/>
              </a:rPr>
              <a:t>(e*255,e*255,e*255));</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smtClean="0">
                <a:latin typeface="Tahoma" panose="020B0604030504040204" pitchFamily="34" charset="0"/>
              </a:rPr>
              <a:t>pDC</a:t>
            </a:r>
            <a:r>
              <a:rPr lang="en-US" altLang="zh-CN" sz="1600" dirty="0" smtClean="0">
                <a:latin typeface="Tahoma" panose="020B0604030504040204" pitchFamily="34" charset="0"/>
              </a:rPr>
              <a:t>-</a:t>
            </a:r>
            <a:r>
              <a:rPr lang="en-US" altLang="zh-CN" sz="1600" dirty="0">
                <a:latin typeface="Tahoma" panose="020B0604030504040204" pitchFamily="34" charset="0"/>
              </a:rPr>
              <a:t>&gt;</a:t>
            </a:r>
            <a:r>
              <a:rPr lang="en-US" altLang="zh-CN" sz="1600" dirty="0" err="1">
                <a:latin typeface="Tahoma" panose="020B0604030504040204" pitchFamily="34" charset="0"/>
              </a:rPr>
              <a:t>SetPixelV</a:t>
            </a:r>
            <a:r>
              <a:rPr lang="en-US" altLang="zh-CN" sz="1600" dirty="0">
                <a:latin typeface="Tahoma" panose="020B0604030504040204" pitchFamily="34" charset="0"/>
              </a:rPr>
              <a:t>(</a:t>
            </a:r>
            <a:r>
              <a:rPr lang="en-US" altLang="zh-CN" sz="1600" dirty="0" err="1">
                <a:latin typeface="Tahoma" panose="020B0604030504040204" pitchFamily="34" charset="0"/>
              </a:rPr>
              <a:t>p.x</a:t>
            </a:r>
            <a:r>
              <a:rPr lang="en-US" altLang="zh-CN" sz="1600" dirty="0">
                <a:latin typeface="Tahoma" panose="020B0604030504040204" pitchFamily="34" charset="0"/>
              </a:rPr>
              <a:t>, p.y+1,RGB((1-e)*255</a:t>
            </a:r>
            <a:r>
              <a:rPr lang="en-US" altLang="zh-CN" sz="1600" dirty="0" smtClean="0">
                <a:latin typeface="Tahoma" panose="020B0604030504040204" pitchFamily="34" charset="0"/>
              </a:rPr>
              <a:t>, (</a:t>
            </a:r>
            <a:r>
              <a:rPr lang="en-US" altLang="zh-CN" sz="1600" dirty="0">
                <a:latin typeface="Tahoma" panose="020B0604030504040204" pitchFamily="34" charset="0"/>
              </a:rPr>
              <a:t>1-e)*255,(1-e)*255));	           </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e+=k;</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if(e&gt;=1.0)</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r>
              <a:rPr lang="en-US" altLang="zh-CN" sz="1600" dirty="0" err="1">
                <a:latin typeface="Tahoma" panose="020B0604030504040204" pitchFamily="34" charset="0"/>
              </a:rPr>
              <a:t>p.y</a:t>
            </a:r>
            <a:r>
              <a:rPr lang="en-US" altLang="zh-CN" sz="1600" dirty="0">
                <a:latin typeface="Tahoma" panose="020B0604030504040204" pitchFamily="34" charset="0"/>
              </a:rPr>
              <a:t>++;</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e--;</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				     </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             }</a:t>
            </a:r>
          </a:p>
          <a:p>
            <a:pPr eaLnBrk="1" hangingPunct="1">
              <a:lnSpc>
                <a:spcPct val="100000"/>
              </a:lnSpc>
              <a:spcBef>
                <a:spcPct val="0"/>
              </a:spcBef>
              <a:buFont typeface="Arial" panose="020B0604020202020204" pitchFamily="34" charset="0"/>
              <a:buNone/>
            </a:pPr>
            <a:r>
              <a:rPr lang="en-US" altLang="zh-CN" sz="1600" dirty="0">
                <a:latin typeface="Tahoma" panose="020B0604030504040204" pitchFamily="34" charset="0"/>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620713"/>
            <a:ext cx="583247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Rectangle 5"/>
          <p:cNvSpPr>
            <a:spLocks noChangeArrowheads="1"/>
          </p:cNvSpPr>
          <p:nvPr/>
        </p:nvSpPr>
        <p:spPr bwMode="auto">
          <a:xfrm>
            <a:off x="3995738" y="5300663"/>
            <a:ext cx="2247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pt-BR" altLang="en-US" sz="2400">
                <a:latin typeface="Tahoma" panose="020B0604030504040204" pitchFamily="34" charset="0"/>
                <a:hlinkClick r:id="rId3" action="ppaction://hlinkfile"/>
              </a:rPr>
              <a:t>Wu</a:t>
            </a:r>
            <a:r>
              <a:rPr lang="zh-CN" altLang="en-US" sz="2400">
                <a:latin typeface="Tahoma" panose="020B0604030504040204" pitchFamily="34" charset="0"/>
                <a:hlinkClick r:id="rId3" action="ppaction://hlinkfile"/>
              </a:rPr>
              <a:t>反走样算法</a:t>
            </a:r>
            <a:r>
              <a:rPr lang="zh-CN" altLang="en-US" sz="2400">
                <a:latin typeface="Tahoma" panose="020B0604030504040204" pitchFamily="34" charset="0"/>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0657" name="Rectangle 5"/>
              <p:cNvSpPr>
                <a:spLocks noChangeArrowheads="1"/>
              </p:cNvSpPr>
              <p:nvPr/>
            </p:nvSpPr>
            <p:spPr bwMode="auto">
              <a:xfrm>
                <a:off x="323850" y="1040240"/>
                <a:ext cx="8631238" cy="53680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indent="261938">
                  <a:defRPr sz="2400">
                    <a:solidFill>
                      <a:schemeClr val="tx1"/>
                    </a:solidFill>
                    <a:latin typeface="Tahoma" panose="020B0604030504040204" pitchFamily="34" charset="0"/>
                    <a:ea typeface="楷体_GB2312" pitchFamily="49" charset="-122"/>
                  </a:defRPr>
                </a:lvl1pPr>
                <a:lvl2pPr>
                  <a:defRPr sz="2400">
                    <a:solidFill>
                      <a:schemeClr val="tx1"/>
                    </a:solidFill>
                    <a:latin typeface="Tahoma" panose="020B0604030504040204" pitchFamily="34" charset="0"/>
                    <a:ea typeface="楷体_GB2312" pitchFamily="49" charset="-122"/>
                  </a:defRPr>
                </a:lvl2pPr>
                <a:lvl3pPr>
                  <a:defRPr sz="2400">
                    <a:solidFill>
                      <a:schemeClr val="tx1"/>
                    </a:solidFill>
                    <a:latin typeface="Tahoma" panose="020B0604030504040204" pitchFamily="34" charset="0"/>
                    <a:ea typeface="楷体_GB2312" pitchFamily="49" charset="-122"/>
                  </a:defRPr>
                </a:lvl3pPr>
                <a:lvl4pPr>
                  <a:defRPr sz="2400">
                    <a:solidFill>
                      <a:schemeClr val="tx1"/>
                    </a:solidFill>
                    <a:latin typeface="Tahoma" panose="020B0604030504040204" pitchFamily="34" charset="0"/>
                    <a:ea typeface="楷体_GB2312" pitchFamily="49" charset="-122"/>
                  </a:defRPr>
                </a:lvl4pPr>
                <a:lvl5pPr>
                  <a:defRPr sz="2400">
                    <a:solidFill>
                      <a:schemeClr val="tx1"/>
                    </a:solidFill>
                    <a:latin typeface="Tahoma" panose="020B0604030504040204" pitchFamily="34" charset="0"/>
                    <a:ea typeface="楷体_GB2312" pitchFamily="49" charset="-122"/>
                  </a:defRPr>
                </a:lvl5pPr>
                <a:lvl6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楷体_GB2312" pitchFamily="49" charset="-122"/>
                  </a:defRPr>
                </a:lvl6pPr>
                <a:lvl7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楷体_GB2312" pitchFamily="49" charset="-122"/>
                  </a:defRPr>
                </a:lvl7pPr>
                <a:lvl8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楷体_GB2312" pitchFamily="49" charset="-122"/>
                  </a:defRPr>
                </a:lvl8pPr>
                <a:lvl9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楷体_GB2312" pitchFamily="49" charset="-122"/>
                  </a:defRPr>
                </a:lvl9pPr>
              </a:lstStyle>
              <a:p>
                <a:pPr algn="just" eaLnBrk="1" hangingPunct="1">
                  <a:lnSpc>
                    <a:spcPct val="150000"/>
                  </a:lnSpc>
                  <a:buFont typeface="Arial" panose="020B0604020202020204" pitchFamily="34" charset="0"/>
                  <a:buNone/>
                  <a:defRPr/>
                </a:pPr>
                <a:r>
                  <a:rPr lang="en-US" altLang="zh-CN" sz="2000" dirty="0" smtClean="0">
                    <a:latin typeface="楷体_GB2312" pitchFamily="49" charset="-122"/>
                  </a:rPr>
                  <a:t>Wu</a:t>
                </a:r>
                <a:r>
                  <a:rPr lang="zh-CN" altLang="en-US" sz="2000" dirty="0" smtClean="0">
                    <a:latin typeface="楷体_GB2312" pitchFamily="49" charset="-122"/>
                  </a:rPr>
                  <a:t>反走样算法是从前景色过渡到背景色，彩色直线段的反走样需要考虑背景色的影响。</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设直线段的前景色</a:t>
                </a:r>
                <a:r>
                  <a:rPr lang="zh-CN" altLang="en-US" sz="2000" dirty="0" smtClean="0">
                    <a:latin typeface="楷体_GB2312" pitchFamily="49" charset="-122"/>
                  </a:rPr>
                  <a:t>（</a:t>
                </a:r>
                <a:r>
                  <a:rPr lang="en-US" altLang="zh-CN" sz="2000" dirty="0" smtClean="0">
                    <a:latin typeface="楷体_GB2312" pitchFamily="49" charset="-122"/>
                  </a:rPr>
                  <a:t>foreground color</a:t>
                </a:r>
                <a:r>
                  <a:rPr lang="zh-CN" altLang="en-US" sz="2000" dirty="0" smtClean="0">
                    <a:latin typeface="楷体_GB2312" pitchFamily="49" charset="-122"/>
                  </a:rPr>
                  <a:t>）为</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𝒇</m:t>
                        </m:r>
                      </m:sub>
                    </m:sSub>
                  </m:oMath>
                </a14:m>
                <a:r>
                  <a:rPr lang="zh-CN" altLang="en-US" sz="2000" dirty="0" smtClean="0">
                    <a:latin typeface="楷体_GB2312" pitchFamily="49" charset="-122"/>
                  </a:rPr>
                  <a:t>，</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背景色</a:t>
                </a:r>
                <a:r>
                  <a:rPr lang="zh-CN" altLang="en-US" sz="2000" dirty="0" smtClean="0">
                    <a:latin typeface="楷体_GB2312" pitchFamily="49" charset="-122"/>
                  </a:rPr>
                  <a:t>（</a:t>
                </a:r>
                <a:r>
                  <a:rPr lang="en-US" altLang="zh-CN" sz="2000" dirty="0" smtClean="0">
                    <a:latin typeface="楷体_GB2312" pitchFamily="49" charset="-122"/>
                  </a:rPr>
                  <a:t>background color</a:t>
                </a:r>
                <a:r>
                  <a:rPr lang="zh-CN" altLang="en-US" sz="2000" dirty="0" smtClean="0">
                    <a:latin typeface="楷体_GB2312" pitchFamily="49" charset="-122"/>
                  </a:rPr>
                  <a:t>）为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𝒃</m:t>
                        </m:r>
                      </m:sub>
                    </m:sSub>
                  </m:oMath>
                </a14:m>
                <a:r>
                  <a:rPr lang="zh-CN" altLang="en-US" sz="2000" dirty="0" smtClean="0">
                    <a:latin typeface="楷体_GB2312" pitchFamily="49" charset="-122"/>
                  </a:rPr>
                  <a:t>。</a:t>
                </a:r>
                <a:r>
                  <a:rPr lang="zh-CN" altLang="en-US" sz="2000" dirty="0" smtClean="0">
                    <a:solidFill>
                      <a:srgbClr val="FF0000"/>
                    </a:solidFill>
                    <a:latin typeface="华文琥珀" panose="02010800040101010101" pitchFamily="2" charset="-122"/>
                    <a:ea typeface="华文琥珀" panose="02010800040101010101" pitchFamily="2" charset="-122"/>
                  </a:rPr>
                  <a:t>彩色直线段的反走样是从</a:t>
                </a:r>
                <a:r>
                  <a:rPr lang="zh-CN" altLang="en-US" sz="2000" b="1" dirty="0" smtClean="0">
                    <a:solidFill>
                      <a:srgbClr val="3366FF"/>
                    </a:solidFill>
                    <a:latin typeface="方正粗黑宋简体" panose="02000000000000000000" pitchFamily="2" charset="-122"/>
                    <a:ea typeface="方正粗黑宋简体" panose="02000000000000000000" pitchFamily="2" charset="-122"/>
                  </a:rPr>
                  <a:t>前景色变化到背景色</a:t>
                </a:r>
                <a:r>
                  <a:rPr lang="zh-CN" altLang="en-US" sz="2000" dirty="0" smtClean="0">
                    <a:solidFill>
                      <a:srgbClr val="FF0000"/>
                    </a:solidFill>
                    <a:latin typeface="华文琥珀" panose="02010800040101010101" pitchFamily="2" charset="-122"/>
                    <a:ea typeface="华文琥珀" panose="02010800040101010101" pitchFamily="2" charset="-122"/>
                  </a:rPr>
                  <a:t>，出现模糊边界</a:t>
                </a:r>
                <a:r>
                  <a:rPr lang="zh-CN" altLang="en-US" sz="2000" dirty="0" smtClean="0">
                    <a:latin typeface="楷体_GB2312" pitchFamily="49" charset="-122"/>
                  </a:rPr>
                  <a:t>。</a:t>
                </a:r>
                <a:endParaRPr lang="en-US" altLang="zh-CN" sz="2000" dirty="0" smtClean="0">
                  <a:latin typeface="楷体_GB2312" pitchFamily="49" charset="-122"/>
                </a:endParaRPr>
              </a:p>
              <a:p>
                <a:pPr algn="just" eaLnBrk="1" hangingPunct="1">
                  <a:lnSpc>
                    <a:spcPct val="150000"/>
                  </a:lnSpc>
                  <a:buFont typeface="Arial" panose="020B0604020202020204" pitchFamily="34" charset="0"/>
                  <a:buNone/>
                  <a:defRPr/>
                </a:pPr>
                <a:r>
                  <a:rPr lang="zh-CN" altLang="en-US" sz="2000" dirty="0" smtClean="0">
                    <a:latin typeface="楷体_GB2312" pitchFamily="49" charset="-122"/>
                  </a:rPr>
                  <a:t>假定直线的斜率为 </a:t>
                </a:r>
                <a:r>
                  <a:rPr lang="en-US" altLang="zh-CN" sz="2000" dirty="0" smtClean="0">
                    <a:latin typeface="楷体_GB2312" pitchFamily="49" charset="-122"/>
                  </a:rPr>
                  <a:t>0≤</a:t>
                </a:r>
                <a14:m>
                  <m:oMath xmlns:m="http://schemas.openxmlformats.org/officeDocument/2006/math">
                    <m:r>
                      <a:rPr lang="en-US" altLang="zh-CN" sz="2000" b="1" i="1" smtClean="0">
                        <a:solidFill>
                          <a:srgbClr val="FF0000"/>
                        </a:solidFill>
                        <a:latin typeface="Cambria Math" panose="02040503050406030204" pitchFamily="18" charset="0"/>
                      </a:rPr>
                      <m:t>𝒌</m:t>
                    </m:r>
                  </m:oMath>
                </a14:m>
                <a:r>
                  <a:rPr lang="en-US" altLang="zh-CN" sz="2000" dirty="0" smtClean="0">
                    <a:latin typeface="楷体_GB2312" pitchFamily="49" charset="-122"/>
                  </a:rPr>
                  <a:t>≤1</a:t>
                </a:r>
                <a:r>
                  <a:rPr lang="zh-CN" altLang="en-US" sz="2000" dirty="0" smtClean="0">
                    <a:latin typeface="楷体_GB2312" pitchFamily="49" charset="-122"/>
                  </a:rPr>
                  <a:t>，取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oMath>
                </a14:m>
                <a:r>
                  <a:rPr lang="zh-CN" altLang="en-US" sz="2000" dirty="0" smtClean="0">
                    <a:latin typeface="楷体_GB2312" pitchFamily="49" charset="-122"/>
                  </a:rPr>
                  <a:t> 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𝑭</m:t>
                        </m:r>
                      </m:e>
                      <m:sub>
                        <m:r>
                          <a:rPr lang="en-US" altLang="zh-CN" sz="2000" b="1" i="1">
                            <a:solidFill>
                              <a:srgbClr val="FF0000"/>
                            </a:solidFill>
                            <a:latin typeface="Cambria Math" panose="02040503050406030204" pitchFamily="18" charset="0"/>
                          </a:rPr>
                          <m:t>𝒊</m:t>
                        </m:r>
                      </m:sub>
                    </m:sSub>
                  </m:oMath>
                </a14:m>
                <a:r>
                  <a:rPr lang="en-US" altLang="zh-CN" sz="2000" dirty="0" smtClean="0">
                    <a:latin typeface="楷体_GB2312" pitchFamily="49" charset="-122"/>
                  </a:rPr>
                  <a:t> </a:t>
                </a:r>
                <a:r>
                  <a:rPr lang="zh-CN" altLang="en-US" sz="2000" dirty="0" smtClean="0">
                    <a:latin typeface="楷体_GB2312" pitchFamily="49" charset="-122"/>
                  </a:rPr>
                  <a:t>与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𝒅</m:t>
                        </m:r>
                      </m:sub>
                    </m:sSub>
                  </m:oMath>
                </a14:m>
                <a:r>
                  <a:rPr lang="en-US" altLang="en-US" sz="2000" dirty="0" smtClean="0">
                    <a:latin typeface="楷体_GB2312" pitchFamily="49" charset="-122"/>
                  </a:rPr>
                  <a:t> </a:t>
                </a:r>
                <a:r>
                  <a:rPr lang="zh-CN" altLang="en-US" sz="2000" dirty="0" smtClean="0">
                    <a:latin typeface="楷体_GB2312" pitchFamily="49" charset="-122"/>
                  </a:rPr>
                  <a:t>的距离</a:t>
                </a:r>
                <a:r>
                  <a:rPr lang="en-US" altLang="zh-CN" sz="2000" dirty="0" smtClean="0">
                    <a:latin typeface="楷体_GB2312" pitchFamily="49" charset="-122"/>
                  </a:rPr>
                  <a:t>,</a:t>
                </a:r>
                <a:r>
                  <a:rPr lang="zh-CN" altLang="en-US" sz="2000" dirty="0" smtClean="0">
                    <a:latin typeface="楷体_GB2312" pitchFamily="49" charset="-122"/>
                  </a:rPr>
                  <a:t>则</a:t>
                </a:r>
                <a:endParaRPr lang="en-US" altLang="zh-CN" sz="2000" dirty="0" smtClean="0">
                  <a:latin typeface="楷体_GB2312" pitchFamily="49" charset="-122"/>
                </a:endParaRPr>
              </a:p>
              <a:p>
                <a:pPr marL="342900" indent="-342900" algn="just" eaLnBrk="1" hangingPunct="1">
                  <a:lnSpc>
                    <a:spcPct val="150000"/>
                  </a:lnSpc>
                  <a:buFont typeface="Wingdings" panose="05000000000000000000" pitchFamily="2" charset="2"/>
                  <a:buChar char="n"/>
                  <a:defRPr/>
                </a:pPr>
                <a:r>
                  <a:rPr lang="zh-CN" altLang="en-US" sz="2000" dirty="0" smtClean="0">
                    <a:latin typeface="楷体_GB2312" pitchFamily="49" charset="-122"/>
                  </a:rPr>
                  <a:t>像素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a:solidFill>
                              <a:srgbClr val="FF0000"/>
                            </a:solidFill>
                            <a:latin typeface="Cambria Math" panose="02040503050406030204" pitchFamily="18" charset="0"/>
                          </a:rPr>
                          <m:t>𝒅</m:t>
                        </m:r>
                      </m:sub>
                    </m:sSub>
                    <m:d>
                      <m:dPr>
                        <m:ctrlPr>
                          <a:rPr lang="en-US" altLang="zh-CN" sz="2000" b="1" i="1" smtClean="0">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𝒙</m:t>
                            </m:r>
                          </m:e>
                          <m:sub>
                            <m:r>
                              <a:rPr lang="en-US" altLang="zh-CN" sz="2000" b="1" i="1" smtClean="0">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e>
                    </m:d>
                  </m:oMath>
                </a14:m>
                <a:r>
                  <a:rPr lang="zh-CN" altLang="en-US" sz="2000" dirty="0" smtClean="0">
                    <a:latin typeface="楷体_GB2312" pitchFamily="49" charset="-122"/>
                  </a:rPr>
                  <a:t>，颜色为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𝒅</m:t>
                        </m:r>
                      </m:sub>
                    </m:sSub>
                    <m:r>
                      <a:rPr lang="en-US" altLang="zh-CN" sz="2000" b="1" i="1" smtClean="0">
                        <a:solidFill>
                          <a:srgbClr val="FF0000"/>
                        </a:solidFill>
                        <a:latin typeface="Cambria Math" panose="02040503050406030204" pitchFamily="18" charset="0"/>
                      </a:rPr>
                      <m:t>=</m:t>
                    </m:r>
                    <m:d>
                      <m:dPr>
                        <m:ctrlPr>
                          <a:rPr lang="en-US" altLang="zh-CN" sz="2000" b="1" i="1" smtClean="0">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𝒃</m:t>
                            </m:r>
                          </m:sub>
                        </m:sSub>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𝒇</m:t>
                            </m:r>
                          </m:sub>
                        </m:sSub>
                      </m:e>
                    </m:d>
                    <m:r>
                      <a:rPr lang="en-US" altLang="zh-CN" sz="2000" b="1" i="1" smtClean="0">
                        <a:solidFill>
                          <a:srgbClr val="FF0000"/>
                        </a:solidFill>
                        <a:latin typeface="Cambria Math" panose="02040503050406030204" pitchFamily="18" charset="0"/>
                        <a:ea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𝒓</m:t>
                        </m:r>
                      </m:e>
                      <m:sub>
                        <m:r>
                          <a:rPr lang="en-US" altLang="zh-CN" sz="2000" b="1" i="1" smtClean="0">
                            <a:solidFill>
                              <a:srgbClr val="FF0000"/>
                            </a:solidFill>
                            <a:latin typeface="Cambria Math" panose="02040503050406030204" pitchFamily="18" charset="0"/>
                          </a:rPr>
                          <m:t>𝒇</m:t>
                        </m:r>
                      </m:sub>
                    </m:sSub>
                  </m:oMath>
                </a14:m>
                <a:r>
                  <a:rPr lang="zh-CN" altLang="en-US" sz="2000" baseline="-25000" dirty="0" smtClean="0">
                    <a:latin typeface="楷体_GB2312" pitchFamily="49" charset="-122"/>
                  </a:rPr>
                  <a:t>，</a:t>
                </a:r>
                <a:endParaRPr lang="en-US" altLang="zh-CN" sz="2000" baseline="-25000" dirty="0" smtClean="0">
                  <a:latin typeface="楷体_GB2312" pitchFamily="49" charset="-122"/>
                </a:endParaRPr>
              </a:p>
              <a:p>
                <a:pPr marL="342900" indent="-342900" algn="just" eaLnBrk="1" hangingPunct="1">
                  <a:lnSpc>
                    <a:spcPct val="150000"/>
                  </a:lnSpc>
                  <a:buFont typeface="Wingdings" panose="05000000000000000000" pitchFamily="2" charset="2"/>
                  <a:buChar char="n"/>
                  <a:defRPr/>
                </a:pPr>
                <a:r>
                  <a:rPr lang="zh-CN" altLang="en-US" sz="2000" dirty="0" smtClean="0">
                    <a:latin typeface="楷体_GB2312" pitchFamily="49" charset="-122"/>
                  </a:rPr>
                  <a:t>像素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𝑷</m:t>
                        </m:r>
                      </m:e>
                      <m:sub>
                        <m:r>
                          <a:rPr lang="en-US" altLang="zh-CN" sz="2000" b="1" i="1" smtClean="0">
                            <a:solidFill>
                              <a:srgbClr val="FF0000"/>
                            </a:solidFill>
                            <a:latin typeface="Cambria Math" panose="02040503050406030204" pitchFamily="18" charset="0"/>
                          </a:rPr>
                          <m:t>𝒖</m:t>
                        </m:r>
                      </m:sub>
                    </m:sSub>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𝒙</m:t>
                            </m:r>
                          </m:e>
                          <m:sub>
                            <m:r>
                              <a:rPr lang="en-US" altLang="zh-CN" sz="2000" b="1" i="1">
                                <a:solidFill>
                                  <a:srgbClr val="FF0000"/>
                                </a:solidFill>
                                <a:latin typeface="Cambria Math" panose="02040503050406030204" pitchFamily="18" charset="0"/>
                              </a:rPr>
                              <m:t>𝒊</m:t>
                            </m:r>
                          </m:sub>
                        </m:sSub>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𝟏</m:t>
                        </m:r>
                      </m:e>
                    </m:d>
                  </m:oMath>
                </a14:m>
                <a:r>
                  <a:rPr lang="zh-CN" altLang="en-US" sz="2000" dirty="0" smtClean="0">
                    <a:latin typeface="楷体_GB2312" pitchFamily="49" charset="-122"/>
                  </a:rPr>
                  <a:t>，颜色为 </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𝒖</m:t>
                        </m:r>
                      </m:sub>
                    </m:sSub>
                    <m:r>
                      <a:rPr lang="en-US" altLang="zh-CN" sz="2000" b="1" i="1">
                        <a:solidFill>
                          <a:srgbClr val="FF0000"/>
                        </a:solidFill>
                        <a:latin typeface="Cambria Math" panose="02040503050406030204" pitchFamily="18" charset="0"/>
                      </a:rPr>
                      <m:t>=</m:t>
                    </m:r>
                    <m:d>
                      <m:dPr>
                        <m:ctrlPr>
                          <a:rPr lang="en-US" altLang="zh-CN" sz="2000" b="1" i="1">
                            <a:solidFill>
                              <a:srgbClr val="FF0000"/>
                            </a:solidFill>
                            <a:latin typeface="Cambria Math" panose="02040503050406030204" pitchFamily="18" charset="0"/>
                          </a:rPr>
                        </m:ctrlPr>
                      </m:dPr>
                      <m:e>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a:solidFill>
                                  <a:srgbClr val="FF0000"/>
                                </a:solidFill>
                                <a:latin typeface="Cambria Math" panose="02040503050406030204" pitchFamily="18" charset="0"/>
                              </a:rPr>
                              <m:t>𝒃</m:t>
                            </m:r>
                          </m:sub>
                        </m:sSub>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a:solidFill>
                                  <a:srgbClr val="FF0000"/>
                                </a:solidFill>
                                <a:latin typeface="Cambria Math" panose="02040503050406030204" pitchFamily="18" charset="0"/>
                              </a:rPr>
                              <m:t>𝒇</m:t>
                            </m:r>
                          </m:sub>
                        </m:sSub>
                      </m:e>
                    </m:d>
                    <m:r>
                      <a:rPr lang="en-US" altLang="zh-CN" sz="2000" b="1" i="1">
                        <a:solidFill>
                          <a:srgbClr val="FF0000"/>
                        </a:solidFill>
                        <a:latin typeface="Cambria Math" panose="02040503050406030204" pitchFamily="18" charset="0"/>
                        <a:ea typeface="Cambria Math" panose="02040503050406030204" pitchFamily="18" charset="0"/>
                      </a:rPr>
                      <m:t>×</m:t>
                    </m:r>
                    <m:d>
                      <m:dPr>
                        <m:ctrlPr>
                          <a:rPr lang="en-US" altLang="zh-CN" sz="2000" b="1" i="1" smtClean="0">
                            <a:solidFill>
                              <a:srgbClr val="FF0000"/>
                            </a:solidFill>
                            <a:latin typeface="Cambria Math" panose="02040503050406030204" pitchFamily="18" charset="0"/>
                            <a:ea typeface="Cambria Math" panose="02040503050406030204" pitchFamily="18" charset="0"/>
                          </a:rPr>
                        </m:ctrlPr>
                      </m:dPr>
                      <m:e>
                        <m:r>
                          <a:rPr lang="en-US" altLang="zh-CN" sz="2000" b="1" i="1" smtClean="0">
                            <a:solidFill>
                              <a:srgbClr val="FF0000"/>
                            </a:solidFill>
                            <a:latin typeface="Cambria Math" panose="02040503050406030204" pitchFamily="18" charset="0"/>
                            <a:ea typeface="Cambria Math" panose="02040503050406030204" pitchFamily="18" charset="0"/>
                          </a:rPr>
                          <m:t>𝟏</m:t>
                        </m:r>
                        <m:r>
                          <a:rPr lang="en-US" altLang="zh-CN" sz="2000" b="1" i="1" smtClean="0">
                            <a:solidFill>
                              <a:srgbClr val="FF0000"/>
                            </a:solidFill>
                            <a:latin typeface="Cambria Math" panose="02040503050406030204" pitchFamily="18" charset="0"/>
                            <a:ea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𝒆</m:t>
                            </m:r>
                          </m:e>
                          <m:sub>
                            <m:r>
                              <a:rPr lang="en-US" altLang="zh-CN" sz="2000" b="1" i="1">
                                <a:solidFill>
                                  <a:srgbClr val="FF0000"/>
                                </a:solidFill>
                                <a:latin typeface="Cambria Math" panose="02040503050406030204" pitchFamily="18" charset="0"/>
                              </a:rPr>
                              <m:t>𝒊</m:t>
                            </m:r>
                          </m:sub>
                        </m:sSub>
                      </m:e>
                    </m:d>
                    <m:r>
                      <a:rPr lang="en-US" altLang="zh-CN" sz="2000" b="1" i="1">
                        <a:solidFill>
                          <a:srgbClr val="FF0000"/>
                        </a:solidFill>
                        <a:latin typeface="Cambria Math" panose="02040503050406030204" pitchFamily="18" charset="0"/>
                      </a:rPr>
                      <m:t>+</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𝒓</m:t>
                        </m:r>
                      </m:e>
                      <m:sub>
                        <m:r>
                          <a:rPr lang="en-US" altLang="zh-CN" sz="2000" b="1" i="1">
                            <a:solidFill>
                              <a:srgbClr val="FF0000"/>
                            </a:solidFill>
                            <a:latin typeface="Cambria Math" panose="02040503050406030204" pitchFamily="18" charset="0"/>
                          </a:rPr>
                          <m:t>𝒇</m:t>
                        </m:r>
                      </m:sub>
                    </m:sSub>
                  </m:oMath>
                </a14:m>
                <a:r>
                  <a:rPr lang="zh-CN" altLang="en-US" sz="2000" baseline="-25000" dirty="0" smtClean="0">
                    <a:latin typeface="楷体_GB2312" pitchFamily="49" charset="-122"/>
                  </a:rPr>
                  <a:t>。</a:t>
                </a:r>
              </a:p>
              <a:p>
                <a:pPr algn="just" eaLnBrk="1" hangingPunct="1">
                  <a:lnSpc>
                    <a:spcPct val="150000"/>
                  </a:lnSpc>
                  <a:buFont typeface="Arial" panose="020B0604020202020204" pitchFamily="34" charset="0"/>
                  <a:buNone/>
                  <a:defRPr/>
                </a:pPr>
                <a:r>
                  <a:rPr lang="zh-CN" altLang="en-US" sz="2000" dirty="0" smtClean="0"/>
                  <a:t>绘制光滑过渡的彩色直线段时，需要使用式（</a:t>
                </a:r>
                <a:r>
                  <a:rPr lang="en-US" altLang="zh-CN" sz="2000" dirty="0" smtClean="0"/>
                  <a:t>3-28</a:t>
                </a:r>
                <a:r>
                  <a:rPr lang="zh-CN" altLang="en-US" sz="2000" dirty="0" smtClean="0"/>
                  <a:t>）进行前景色线性插值</a:t>
                </a:r>
              </a:p>
              <a:p>
                <a:pPr algn="just" eaLnBrk="1" hangingPunct="1">
                  <a:lnSpc>
                    <a:spcPct val="150000"/>
                  </a:lnSpc>
                  <a:buFont typeface="Arial" panose="020B0604020202020204" pitchFamily="34" charset="0"/>
                  <a:buNone/>
                  <a:defRPr/>
                </a:pPr>
                <a:r>
                  <a:rPr lang="zh-CN" altLang="en-US" sz="2000" dirty="0" smtClean="0"/>
                  <a:t> </a:t>
                </a:r>
                <a14:m>
                  <m:oMath xmlns:m="http://schemas.openxmlformats.org/officeDocument/2006/math">
                    <m:r>
                      <a:rPr lang="en-US" altLang="zh-CN" sz="2000" b="1" i="1">
                        <a:solidFill>
                          <a:srgbClr val="FF0000"/>
                        </a:solidFill>
                        <a:latin typeface="Cambria Math" panose="02040503050406030204" pitchFamily="18" charset="0"/>
                      </a:rPr>
                      <m:t>𝒄</m:t>
                    </m:r>
                    <m:r>
                      <a:rPr lang="en-US" altLang="zh-CN" sz="2000" b="1" i="1" smtClean="0">
                        <a:solidFill>
                          <a:srgbClr val="FF0000"/>
                        </a:solidFill>
                        <a:latin typeface="Cambria Math" panose="02040503050406030204" pitchFamily="18" charset="0"/>
                      </a:rPr>
                      <m:t>=</m:t>
                    </m:r>
                    <m:d>
                      <m:dPr>
                        <m:ctrlPr>
                          <a:rPr lang="en-US" altLang="zh-CN" sz="2000" b="1"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𝟏</m:t>
                        </m:r>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𝒕</m:t>
                        </m:r>
                      </m:e>
                    </m:d>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𝟎</m:t>
                        </m:r>
                      </m:sub>
                    </m:sSub>
                    <m:r>
                      <a:rPr lang="en-US" altLang="zh-CN" sz="2000" b="1"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𝒕</m:t>
                    </m:r>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smtClean="0">
                            <a:solidFill>
                              <a:srgbClr val="FF0000"/>
                            </a:solidFill>
                            <a:latin typeface="Cambria Math" panose="02040503050406030204" pitchFamily="18" charset="0"/>
                          </a:rPr>
                          <m:t>𝟏</m:t>
                        </m:r>
                      </m:sub>
                    </m:sSub>
                  </m:oMath>
                </a14:m>
                <a:r>
                  <a:rPr lang="zh-CN" altLang="en-US" sz="2000" dirty="0" smtClean="0"/>
                  <a:t>                                 （</a:t>
                </a:r>
                <a:r>
                  <a:rPr lang="en-US" altLang="zh-CN" sz="2000" dirty="0" smtClean="0"/>
                  <a:t>3-28</a:t>
                </a:r>
                <a:r>
                  <a:rPr lang="zh-CN" altLang="en-US" sz="2000" dirty="0" smtClean="0"/>
                  <a:t>）</a:t>
                </a:r>
                <a:endParaRPr lang="en-US" altLang="zh-CN" sz="2000" dirty="0"/>
              </a:p>
              <a:p>
                <a:pPr algn="just" eaLnBrk="1" hangingPunct="1">
                  <a:lnSpc>
                    <a:spcPct val="150000"/>
                  </a:lnSpc>
                  <a:buFont typeface="Arial" panose="020B0604020202020204" pitchFamily="34" charset="0"/>
                  <a:buNone/>
                  <a:defRPr/>
                </a:pPr>
                <a14:m>
                  <m:oMath xmlns:m="http://schemas.openxmlformats.org/officeDocument/2006/math">
                    <m:r>
                      <a:rPr lang="en-US" altLang="zh-CN" sz="2000" b="1" i="1">
                        <a:solidFill>
                          <a:srgbClr val="FF0000"/>
                        </a:solidFill>
                        <a:latin typeface="Cambria Math" panose="02040503050406030204" pitchFamily="18" charset="0"/>
                      </a:rPr>
                      <m:t>𝒄</m:t>
                    </m:r>
                  </m:oMath>
                </a14:m>
                <a:r>
                  <a:rPr lang="pt-BR" altLang="en-US" sz="2000" b="1" i="1" dirty="0" smtClean="0">
                    <a:solidFill>
                      <a:srgbClr val="3366FF"/>
                    </a:solidFill>
                    <a:latin typeface="方正粗黑宋简体" panose="02000000000000000000" pitchFamily="2" charset="-122"/>
                    <a:ea typeface="方正粗黑宋简体" panose="02000000000000000000" pitchFamily="2" charset="-122"/>
                  </a:rPr>
                  <a:t> </a:t>
                </a:r>
                <a:r>
                  <a:rPr lang="zh-CN" altLang="en-US" sz="2000" dirty="0" smtClean="0"/>
                  <a:t>为颜色渐变直线段上任一点的颜色；</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a:solidFill>
                              <a:srgbClr val="FF0000"/>
                            </a:solidFill>
                            <a:latin typeface="Cambria Math" panose="02040503050406030204" pitchFamily="18" charset="0"/>
                          </a:rPr>
                          <m:t>𝟎</m:t>
                        </m:r>
                      </m:sub>
                    </m:sSub>
                  </m:oMath>
                </a14:m>
                <a:r>
                  <a:rPr lang="zh-CN" altLang="en-US" sz="2000" dirty="0" smtClean="0"/>
                  <a:t>为</a:t>
                </a:r>
                <a:r>
                  <a:rPr lang="zh-CN" altLang="en-US" sz="2000" b="1" dirty="0">
                    <a:solidFill>
                      <a:srgbClr val="3366FF"/>
                    </a:solidFill>
                    <a:latin typeface="方正粗黑宋简体" panose="02000000000000000000" pitchFamily="2" charset="-122"/>
                    <a:ea typeface="方正粗黑宋简体" panose="02000000000000000000" pitchFamily="2" charset="-122"/>
                  </a:rPr>
                  <a:t>直线段起点颜色</a:t>
                </a:r>
                <a:r>
                  <a:rPr lang="zh-CN" altLang="en-US" sz="2000" dirty="0" smtClean="0"/>
                  <a:t>；</a:t>
                </a:r>
                <a14:m>
                  <m:oMath xmlns:m="http://schemas.openxmlformats.org/officeDocument/2006/math">
                    <m:sSub>
                      <m:sSubPr>
                        <m:ctrlPr>
                          <a:rPr lang="en-US"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𝒄</m:t>
                        </m:r>
                      </m:e>
                      <m:sub>
                        <m:r>
                          <a:rPr lang="en-US" altLang="zh-CN" sz="2000" b="1" i="1">
                            <a:solidFill>
                              <a:srgbClr val="FF0000"/>
                            </a:solidFill>
                            <a:latin typeface="Cambria Math" panose="02040503050406030204" pitchFamily="18" charset="0"/>
                          </a:rPr>
                          <m:t>𝟏</m:t>
                        </m:r>
                      </m:sub>
                    </m:sSub>
                  </m:oMath>
                </a14:m>
                <a:r>
                  <a:rPr lang="zh-CN" altLang="en-US" sz="2000" dirty="0" smtClean="0"/>
                  <a:t>为直线段</a:t>
                </a:r>
                <a:r>
                  <a:rPr lang="zh-CN" altLang="en-US" sz="2000" b="1" dirty="0">
                    <a:solidFill>
                      <a:srgbClr val="3366FF"/>
                    </a:solidFill>
                    <a:latin typeface="方正粗黑宋简体" panose="02000000000000000000" pitchFamily="2" charset="-122"/>
                    <a:ea typeface="方正粗黑宋简体" panose="02000000000000000000" pitchFamily="2" charset="-122"/>
                  </a:rPr>
                  <a:t>终点颜色</a:t>
                </a:r>
                <a:r>
                  <a:rPr lang="zh-CN" altLang="en-US" sz="2000" dirty="0" smtClean="0"/>
                  <a:t>。从红色光滑过渡为蓝色的彩色直线段反走样效果如图</a:t>
                </a:r>
                <a:r>
                  <a:rPr lang="en-US" altLang="zh-CN" sz="2000" dirty="0" smtClean="0"/>
                  <a:t>3-28</a:t>
                </a:r>
                <a:r>
                  <a:rPr lang="zh-CN" altLang="en-US" sz="2000" dirty="0" smtClean="0"/>
                  <a:t>所示。</a:t>
                </a:r>
                <a:endParaRPr lang="zh-CN" altLang="en-US" sz="2000" dirty="0" smtClean="0">
                  <a:latin typeface="楷体_GB2312" pitchFamily="49" charset="-122"/>
                </a:endParaRPr>
              </a:p>
            </p:txBody>
          </p:sp>
        </mc:Choice>
        <mc:Fallback>
          <p:sp>
            <p:nvSpPr>
              <p:cNvPr id="70657" name="Rectangle 5"/>
              <p:cNvSpPr>
                <a:spLocks noRot="1" noChangeAspect="1" noMove="1" noResize="1" noEditPoints="1" noAdjustHandles="1" noChangeArrowheads="1" noChangeShapeType="1" noTextEdit="1"/>
              </p:cNvSpPr>
              <p:nvPr/>
            </p:nvSpPr>
            <p:spPr bwMode="auto">
              <a:xfrm>
                <a:off x="323850" y="1040240"/>
                <a:ext cx="8631238" cy="5368073"/>
              </a:xfrm>
              <a:prstGeom prst="rect">
                <a:avLst/>
              </a:prstGeom>
              <a:blipFill>
                <a:blip r:embed="rId2"/>
                <a:stretch>
                  <a:fillRect l="-706" r="-777" b="-7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8611" name="Rectangle 6"/>
          <p:cNvSpPr>
            <a:spLocks noChangeArrowheads="1"/>
          </p:cNvSpPr>
          <p:nvPr/>
        </p:nvSpPr>
        <p:spPr bwMode="auto">
          <a:xfrm>
            <a:off x="539552" y="332656"/>
            <a:ext cx="5256212" cy="579438"/>
          </a:xfrm>
          <a:prstGeom prst="rect">
            <a:avLst/>
          </a:prstGeom>
          <a:noFill/>
          <a:ln w="9525">
            <a:noFill/>
            <a:miter lim="800000"/>
          </a:ln>
        </p:spPr>
        <p:txBody>
          <a:bodyPr>
            <a:spAutoFit/>
          </a:bodyPr>
          <a:lstStyle/>
          <a:p>
            <a:pPr eaLnBrk="1" hangingPunct="1">
              <a:buFont typeface="Arial" panose="020B0604020202020204" pitchFamily="34" charset="0"/>
              <a:buNone/>
              <a:defRPr/>
            </a:pPr>
            <a:r>
              <a:rPr lang="en-US" sz="3200" b="1" dirty="0">
                <a:effectLst>
                  <a:outerShdw blurRad="38100" dist="38100" dir="2700000" algn="tl">
                    <a:srgbClr val="C0C0C0"/>
                  </a:outerShdw>
                </a:effectLst>
                <a:latin typeface="楷体_GB2312" pitchFamily="49" charset="-122"/>
              </a:rPr>
              <a:t>3.5.4 </a:t>
            </a:r>
            <a:r>
              <a:rPr lang="zh-CN" altLang="en-US" sz="3200" b="1" dirty="0">
                <a:effectLst>
                  <a:outerShdw blurRad="38100" dist="38100" dir="2700000" algn="tl">
                    <a:srgbClr val="C0C0C0"/>
                  </a:outerShdw>
                </a:effectLst>
                <a:latin typeface="楷体_GB2312" pitchFamily="49" charset="-122"/>
              </a:rPr>
              <a:t>彩色直线段的反走样</a:t>
            </a:r>
            <a:r>
              <a:rPr lang="zh-CN" altLang="en-US" dirty="0"/>
              <a:t> </a:t>
            </a:r>
            <a:r>
              <a:rPr lang="zh-CN" altLang="en-US" sz="3200" b="1" dirty="0">
                <a:effectLst>
                  <a:outerShdw blurRad="38100" dist="38100" dir="2700000" algn="tl">
                    <a:srgbClr val="C0C0C0"/>
                  </a:outerShdw>
                </a:effectLst>
                <a:latin typeface="楷体_GB2312" pitchFamily="49" charset="-122"/>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图片 3" desc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42701"/>
            <a:ext cx="3995737"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39" name="图片 4" descr="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3783806"/>
            <a:ext cx="3948112"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矩形 7"/>
          <p:cNvSpPr>
            <a:spLocks noChangeArrowheads="1"/>
          </p:cNvSpPr>
          <p:nvPr/>
        </p:nvSpPr>
        <p:spPr bwMode="auto">
          <a:xfrm>
            <a:off x="2714625" y="6143625"/>
            <a:ext cx="407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图</a:t>
            </a:r>
            <a:r>
              <a:rPr lang="pt-BR" altLang="en-US" sz="2400">
                <a:latin typeface="Tahoma" panose="020B0604030504040204" pitchFamily="34" charset="0"/>
              </a:rPr>
              <a:t>3-28  </a:t>
            </a:r>
            <a:r>
              <a:rPr lang="zh-CN" altLang="en-US" sz="2400">
                <a:latin typeface="Tahoma" panose="020B0604030504040204" pitchFamily="34" charset="0"/>
              </a:rPr>
              <a:t>彩色直线段的反走样</a:t>
            </a:r>
          </a:p>
        </p:txBody>
      </p:sp>
      <p:pic>
        <p:nvPicPr>
          <p:cNvPr id="65541"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454020"/>
            <a:ext cx="3357563"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6375" y="608013"/>
            <a:ext cx="3500438"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692696"/>
            <a:ext cx="583247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5"/>
          <p:cNvSpPr>
            <a:spLocks noChangeArrowheads="1"/>
          </p:cNvSpPr>
          <p:nvPr/>
        </p:nvSpPr>
        <p:spPr bwMode="auto">
          <a:xfrm>
            <a:off x="3276600" y="5445125"/>
            <a:ext cx="424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Tahoma" panose="020B0604030504040204" pitchFamily="34" charset="0"/>
                <a:hlinkClick r:id="rId3" action="ppaction://hlinkfile"/>
              </a:rPr>
              <a:t>彩色反走样直线（白色背景）</a:t>
            </a:r>
            <a:r>
              <a:rPr lang="zh-CN" altLang="en-US" sz="2400" dirty="0">
                <a:latin typeface="Tahoma" panose="020B0604030504040204" pitchFamily="34" charset="0"/>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5"/>
          <p:cNvSpPr>
            <a:spLocks noChangeArrowheads="1"/>
          </p:cNvSpPr>
          <p:nvPr/>
        </p:nvSpPr>
        <p:spPr bwMode="auto">
          <a:xfrm>
            <a:off x="395288" y="1052513"/>
            <a:ext cx="8424862"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2000">
                <a:latin typeface="楷体_GB2312" pitchFamily="49" charset="-122"/>
              </a:rPr>
              <a:t>    直线、圆和椭圆作为二维场景中的基本图形，其生成算法的优劣对整个图形系统的效率至关重要。直线段的扫描转换是计算机图形学中最基本的算法。</a:t>
            </a:r>
            <a:r>
              <a:rPr lang="zh-CN" altLang="en-US" sz="2000" b="1">
                <a:solidFill>
                  <a:srgbClr val="3366FF"/>
                </a:solidFill>
                <a:latin typeface="方正粗黑宋简体" panose="02000000000000000000" pitchFamily="2" charset="-122"/>
                <a:ea typeface="方正粗黑宋简体" panose="02000000000000000000" pitchFamily="2" charset="-122"/>
              </a:rPr>
              <a:t>中点</a:t>
            </a:r>
            <a:r>
              <a:rPr lang="en-US" altLang="zh-CN" sz="2000" b="1">
                <a:solidFill>
                  <a:srgbClr val="3366FF"/>
                </a:solidFill>
                <a:latin typeface="方正粗黑宋简体" panose="02000000000000000000" pitchFamily="2" charset="-122"/>
                <a:ea typeface="方正粗黑宋简体" panose="02000000000000000000" pitchFamily="2" charset="-122"/>
              </a:rPr>
              <a:t>Bresenham </a:t>
            </a:r>
            <a:r>
              <a:rPr lang="zh-CN" altLang="en-US" sz="2000">
                <a:latin typeface="楷体_GB2312" pitchFamily="49" charset="-122"/>
              </a:rPr>
              <a:t>算法避免了复杂运算，使用了</a:t>
            </a:r>
            <a:r>
              <a:rPr lang="zh-CN" altLang="en-US" sz="2000" b="1">
                <a:solidFill>
                  <a:srgbClr val="3366FF"/>
                </a:solidFill>
                <a:latin typeface="方正粗黑宋简体" panose="02000000000000000000" pitchFamily="2" charset="-122"/>
                <a:ea typeface="方正粗黑宋简体" panose="02000000000000000000" pitchFamily="2" charset="-122"/>
              </a:rPr>
              <a:t>增量算法</a:t>
            </a:r>
            <a:r>
              <a:rPr lang="zh-CN" altLang="en-US" sz="2000">
                <a:latin typeface="楷体_GB2312" pitchFamily="49" charset="-122"/>
              </a:rPr>
              <a:t>，使单点基本图形生成算法已无优化的余地，获得了广泛的应用。</a:t>
            </a:r>
            <a:r>
              <a:rPr lang="zh-CN" altLang="en-US" sz="2000" b="1">
                <a:solidFill>
                  <a:srgbClr val="3366FF"/>
                </a:solidFill>
                <a:latin typeface="方正粗黑宋简体" panose="02000000000000000000" pitchFamily="2" charset="-122"/>
                <a:ea typeface="方正粗黑宋简体" panose="02000000000000000000" pitchFamily="2" charset="-122"/>
              </a:rPr>
              <a:t>走样是光栅扫描显示器的固有属性</a:t>
            </a:r>
            <a:r>
              <a:rPr lang="zh-CN" altLang="en-US" sz="2000">
                <a:latin typeface="楷体_GB2312" pitchFamily="49" charset="-122"/>
              </a:rPr>
              <a:t>，只能减轻，不可避免，如何设计直线的反走样算法是计算机图形学的前沿研究课题。在许多计算机图形学教材中，</a:t>
            </a:r>
            <a:r>
              <a:rPr lang="en-US" altLang="zh-CN" sz="2000">
                <a:latin typeface="楷体_GB2312" pitchFamily="49" charset="-122"/>
              </a:rPr>
              <a:t>Bresenham</a:t>
            </a:r>
            <a:r>
              <a:rPr lang="zh-CN" altLang="en-US" sz="2000">
                <a:latin typeface="楷体_GB2312" pitchFamily="49" charset="-122"/>
              </a:rPr>
              <a:t>算法都采用了整数算法。现有的研究已经证明：</a:t>
            </a:r>
            <a:r>
              <a:rPr lang="zh-CN" altLang="en-US" sz="2000" b="1">
                <a:solidFill>
                  <a:srgbClr val="3366FF"/>
                </a:solidFill>
                <a:latin typeface="方正粗黑宋简体" panose="02000000000000000000" pitchFamily="2" charset="-122"/>
                <a:ea typeface="方正粗黑宋简体" panose="02000000000000000000" pitchFamily="2" charset="-122"/>
              </a:rPr>
              <a:t>端点采用整数坐标没有什么益处</a:t>
            </a:r>
            <a:r>
              <a:rPr lang="zh-CN" altLang="en-US" sz="2000">
                <a:latin typeface="楷体_GB2312" pitchFamily="49" charset="-122"/>
              </a:rPr>
              <a:t>，因为现在的</a:t>
            </a:r>
            <a:r>
              <a:rPr lang="en-US" altLang="zh-CN" sz="2000">
                <a:latin typeface="楷体_GB2312" pitchFamily="49" charset="-122"/>
              </a:rPr>
              <a:t>CPU</a:t>
            </a:r>
            <a:r>
              <a:rPr lang="zh-CN" altLang="en-US" sz="2000">
                <a:latin typeface="楷体_GB2312" pitchFamily="49" charset="-122"/>
              </a:rPr>
              <a:t>可以按照与处理整数同样的速度处理浮点数。因此本教材讲解的中点</a:t>
            </a:r>
            <a:r>
              <a:rPr lang="en-US" altLang="zh-CN" sz="2000">
                <a:latin typeface="楷体_GB2312" pitchFamily="49" charset="-122"/>
              </a:rPr>
              <a:t>Bresenham</a:t>
            </a:r>
            <a:r>
              <a:rPr lang="zh-CN" altLang="en-US" sz="2000">
                <a:latin typeface="楷体_GB2312" pitchFamily="49" charset="-122"/>
              </a:rPr>
              <a:t>算法采用了浮点数运算并且方便地解决了直线的反走样问题。</a:t>
            </a:r>
          </a:p>
        </p:txBody>
      </p:sp>
      <p:sp>
        <p:nvSpPr>
          <p:cNvPr id="72707" name="Rectangle 8"/>
          <p:cNvSpPr>
            <a:spLocks noChangeArrowheads="1"/>
          </p:cNvSpPr>
          <p:nvPr/>
        </p:nvSpPr>
        <p:spPr bwMode="auto">
          <a:xfrm>
            <a:off x="1476375" y="260350"/>
            <a:ext cx="2940050" cy="641350"/>
          </a:xfrm>
          <a:prstGeom prst="rect">
            <a:avLst/>
          </a:prstGeom>
          <a:noFill/>
          <a:ln w="9525">
            <a:noFill/>
            <a:miter lim="800000"/>
          </a:ln>
        </p:spPr>
        <p:txBody>
          <a:bodyPr wrap="none">
            <a:spAutoFit/>
          </a:bodyPr>
          <a:lstStyle/>
          <a:p>
            <a:pPr eaLnBrk="1" hangingPunct="1">
              <a:buFont typeface="Arial" panose="020B0604020202020204" pitchFamily="34" charset="0"/>
              <a:buNone/>
              <a:defRPr/>
            </a:pPr>
            <a:r>
              <a:rPr lang="en-US" sz="3600" b="1">
                <a:effectLst>
                  <a:outerShdw blurRad="38100" dist="38100" dir="2700000" algn="tl">
                    <a:srgbClr val="C0C0C0"/>
                  </a:outerShdw>
                </a:effectLst>
                <a:latin typeface="楷体_GB2312" pitchFamily="49" charset="-122"/>
              </a:rPr>
              <a:t>3.6 </a:t>
            </a:r>
            <a:r>
              <a:rPr lang="zh-CN" altLang="en-US" sz="3600" b="1">
                <a:effectLst>
                  <a:outerShdw blurRad="38100" dist="38100" dir="2700000" algn="tl">
                    <a:srgbClr val="C0C0C0"/>
                  </a:outerShdw>
                </a:effectLst>
                <a:latin typeface="楷体_GB2312" pitchFamily="49" charset="-122"/>
              </a:rPr>
              <a:t>本章小结</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4"/>
          <p:cNvSpPr>
            <a:spLocks noGrp="1" noChangeArrowheads="1"/>
          </p:cNvSpPr>
          <p:nvPr>
            <p:ph type="title" idx="4294967295"/>
          </p:nvPr>
        </p:nvSpPr>
        <p:spPr>
          <a:xfrm>
            <a:off x="1506538" y="180975"/>
            <a:ext cx="6130925" cy="923925"/>
          </a:xfrm>
          <a:ln>
            <a:miter lim="800000"/>
          </a:ln>
        </p:spPr>
        <p:txBody>
          <a:bodyPr rtlCol="0" anchorCtr="1">
            <a:normAutofit/>
          </a:bodyPr>
          <a:lstStyle/>
          <a:p>
            <a:pPr eaLnBrk="1" fontAlgn="auto" hangingPunct="1">
              <a:spcAft>
                <a:spcPts val="0"/>
              </a:spcAft>
              <a:defRPr/>
            </a:pPr>
            <a:r>
              <a:rPr lang="zh-CN" altLang="en-US" dirty="0" smtClean="0">
                <a:effectLst>
                  <a:outerShdw blurRad="38100" dist="38100" dir="2700000" algn="tl">
                    <a:srgbClr val="C0C0C0"/>
                  </a:outerShdw>
                </a:effectLst>
                <a:latin typeface="楷体_GB2312" pitchFamily="49" charset="-122"/>
                <a:ea typeface="楷体_GB2312" pitchFamily="49" charset="-122"/>
              </a:rPr>
              <a:t>习题 </a:t>
            </a:r>
            <a:r>
              <a:rPr lang="en-US" dirty="0" smtClean="0">
                <a:effectLst>
                  <a:outerShdw blurRad="38100" dist="38100" dir="2700000" algn="tl">
                    <a:srgbClr val="C0C0C0"/>
                  </a:outerShdw>
                </a:effectLst>
                <a:latin typeface="楷体_GB2312" pitchFamily="49" charset="-122"/>
                <a:ea typeface="楷体_GB2312" pitchFamily="49" charset="-122"/>
              </a:rPr>
              <a:t>3</a:t>
            </a:r>
          </a:p>
        </p:txBody>
      </p:sp>
      <p:sp>
        <p:nvSpPr>
          <p:cNvPr id="68611" name="Rectangle 15"/>
          <p:cNvSpPr>
            <a:spLocks noChangeArrowheads="1"/>
          </p:cNvSpPr>
          <p:nvPr/>
        </p:nvSpPr>
        <p:spPr bwMode="auto">
          <a:xfrm>
            <a:off x="395288" y="1373188"/>
            <a:ext cx="83518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AutoNum type="arabicPeriod"/>
            </a:pPr>
            <a:r>
              <a:rPr lang="zh-CN" altLang="en-US" sz="2000">
                <a:latin typeface="楷体_GB2312" pitchFamily="49" charset="-122"/>
              </a:rPr>
              <a:t>计算起点坐标为（</a:t>
            </a:r>
            <a:r>
              <a:rPr lang="en-US" altLang="zh-CN" sz="2000">
                <a:latin typeface="楷体_GB2312" pitchFamily="49" charset="-122"/>
              </a:rPr>
              <a:t>0,0</a:t>
            </a:r>
            <a:r>
              <a:rPr lang="zh-CN" altLang="en-US" sz="2000">
                <a:latin typeface="楷体_GB2312" pitchFamily="49" charset="-122"/>
              </a:rPr>
              <a:t>），终点坐标（</a:t>
            </a:r>
            <a:r>
              <a:rPr lang="en-US" altLang="zh-CN" sz="2000">
                <a:latin typeface="楷体_GB2312" pitchFamily="49" charset="-122"/>
              </a:rPr>
              <a:t>12,9</a:t>
            </a:r>
            <a:r>
              <a:rPr lang="zh-CN" altLang="en-US" sz="2000">
                <a:latin typeface="楷体_GB2312" pitchFamily="49" charset="-122"/>
              </a:rPr>
              <a:t>）直线的中点</a:t>
            </a:r>
            <a:r>
              <a:rPr lang="en-US" altLang="zh-CN" sz="2000">
                <a:latin typeface="楷体_GB2312" pitchFamily="49" charset="-122"/>
              </a:rPr>
              <a:t>Bresenham</a:t>
            </a:r>
            <a:r>
              <a:rPr lang="zh-CN" altLang="en-US" sz="2000">
                <a:latin typeface="楷体_GB2312" pitchFamily="49" charset="-122"/>
              </a:rPr>
              <a:t>算法的每一步坐标值以及中点偏差判别式</a:t>
            </a:r>
            <a:r>
              <a:rPr lang="en-US" altLang="zh-CN" sz="2000">
                <a:latin typeface="楷体_GB2312" pitchFamily="49" charset="-122"/>
              </a:rPr>
              <a:t>d</a:t>
            </a:r>
            <a:r>
              <a:rPr lang="zh-CN" altLang="en-US" sz="2000">
                <a:latin typeface="楷体_GB2312" pitchFamily="49" charset="-122"/>
              </a:rPr>
              <a:t>的值，填入表</a:t>
            </a:r>
            <a:r>
              <a:rPr lang="en-US" altLang="zh-CN" sz="2000">
                <a:latin typeface="楷体_GB2312" pitchFamily="49" charset="-122"/>
              </a:rPr>
              <a:t>3-1</a:t>
            </a:r>
            <a:r>
              <a:rPr lang="zh-CN" altLang="en-US" sz="2000">
                <a:latin typeface="楷体_GB2312" pitchFamily="49" charset="-122"/>
              </a:rPr>
              <a:t>中，并用黑色绘制图</a:t>
            </a:r>
            <a:r>
              <a:rPr lang="en-US" altLang="zh-CN" sz="2000">
                <a:latin typeface="楷体_GB2312" pitchFamily="49" charset="-122"/>
              </a:rPr>
              <a:t>3-29</a:t>
            </a:r>
            <a:r>
              <a:rPr lang="zh-CN" altLang="en-US" sz="2000">
                <a:latin typeface="楷体_GB2312" pitchFamily="49" charset="-122"/>
              </a:rPr>
              <a:t>中的直线段的扫描转换像素。</a:t>
            </a:r>
          </a:p>
        </p:txBody>
      </p:sp>
      <p:sp>
        <p:nvSpPr>
          <p:cNvPr id="68612" name="Rectangle 17"/>
          <p:cNvSpPr>
            <a:spLocks noChangeArrowheads="1"/>
          </p:cNvSpPr>
          <p:nvPr/>
        </p:nvSpPr>
        <p:spPr bwMode="auto">
          <a:xfrm>
            <a:off x="0" y="2428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graphicFrame>
        <p:nvGraphicFramePr>
          <p:cNvPr id="68613" name="Object 16"/>
          <p:cNvGraphicFramePr>
            <a:graphicFrameLocks noChangeAspect="1"/>
          </p:cNvGraphicFramePr>
          <p:nvPr/>
        </p:nvGraphicFramePr>
        <p:xfrm>
          <a:off x="3203575" y="2636838"/>
          <a:ext cx="3816350" cy="3095625"/>
        </p:xfrm>
        <a:graphic>
          <a:graphicData uri="http://schemas.openxmlformats.org/presentationml/2006/ole">
            <mc:AlternateContent xmlns:mc="http://schemas.openxmlformats.org/markup-compatibility/2006">
              <mc:Choice xmlns:v="urn:schemas-microsoft-com:vml" Requires="v">
                <p:oleObj spid="_x0000_s68655" r:id="rId3" imgW="6353640" imgH="5147640" progId="Visio.Drawing.11">
                  <p:embed/>
                </p:oleObj>
              </mc:Choice>
              <mc:Fallback>
                <p:oleObj r:id="rId3" imgW="6353640" imgH="5147640" progId="Visio.Drawing.11">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636838"/>
                        <a:ext cx="38163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4" name="Rectangle 18"/>
          <p:cNvSpPr>
            <a:spLocks noChangeArrowheads="1"/>
          </p:cNvSpPr>
          <p:nvPr/>
        </p:nvSpPr>
        <p:spPr bwMode="auto">
          <a:xfrm>
            <a:off x="3492500" y="6021388"/>
            <a:ext cx="2640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b="1">
                <a:solidFill>
                  <a:schemeClr val="folHlink"/>
                </a:solidFill>
                <a:latin typeface="楷体_GB2312" pitchFamily="49" charset="-122"/>
              </a:rPr>
              <a:t>图</a:t>
            </a:r>
            <a:r>
              <a:rPr lang="en-US" altLang="zh-CN" sz="2400" b="1">
                <a:solidFill>
                  <a:schemeClr val="folHlink"/>
                </a:solidFill>
                <a:latin typeface="楷体_GB2312" pitchFamily="49" charset="-122"/>
              </a:rPr>
              <a:t>3-29 </a:t>
            </a:r>
            <a:r>
              <a:rPr lang="zh-CN" altLang="en-US" sz="2400" b="1">
                <a:solidFill>
                  <a:schemeClr val="folHlink"/>
                </a:solidFill>
                <a:latin typeface="楷体_GB2312" pitchFamily="49" charset="-122"/>
              </a:rPr>
              <a:t>像素点阵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75"/>
          <p:cNvSpPr>
            <a:spLocks noChangeArrowheads="1"/>
          </p:cNvSpPr>
          <p:nvPr/>
        </p:nvSpPr>
        <p:spPr bwMode="auto">
          <a:xfrm>
            <a:off x="3203575" y="620713"/>
            <a:ext cx="360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b="1">
                <a:latin typeface="楷体_GB2312" pitchFamily="49" charset="-122"/>
              </a:rPr>
              <a:t>表</a:t>
            </a:r>
            <a:r>
              <a:rPr lang="en-US" altLang="zh-CN" sz="2400" b="1">
                <a:latin typeface="楷体_GB2312" pitchFamily="49" charset="-122"/>
              </a:rPr>
              <a:t>3-1 x,y</a:t>
            </a:r>
            <a:r>
              <a:rPr lang="zh-CN" altLang="en-US" sz="2400" b="1">
                <a:latin typeface="楷体_GB2312" pitchFamily="49" charset="-122"/>
              </a:rPr>
              <a:t>和</a:t>
            </a:r>
            <a:r>
              <a:rPr lang="en-US" altLang="zh-CN" sz="2400" b="1">
                <a:latin typeface="楷体_GB2312" pitchFamily="49" charset="-122"/>
              </a:rPr>
              <a:t>d</a:t>
            </a:r>
            <a:r>
              <a:rPr lang="zh-CN" altLang="en-US" sz="2400" b="1">
                <a:latin typeface="楷体_GB2312" pitchFamily="49" charset="-122"/>
              </a:rPr>
              <a:t>的值</a:t>
            </a:r>
            <a:endParaRPr lang="zh-CN" altLang="en-US" sz="2800" b="1">
              <a:solidFill>
                <a:schemeClr val="folHlink"/>
              </a:solidFill>
              <a:latin typeface="楷体_GB2312" pitchFamily="49" charset="-122"/>
              <a:cs typeface="Times New Roman" panose="02020603050405020304" pitchFamily="18" charset="0"/>
            </a:endParaRPr>
          </a:p>
        </p:txBody>
      </p:sp>
      <p:graphicFrame>
        <p:nvGraphicFramePr>
          <p:cNvPr id="74755" name="Group 3"/>
          <p:cNvGraphicFramePr>
            <a:graphicFrameLocks noGrp="1"/>
          </p:cNvGraphicFramePr>
          <p:nvPr/>
        </p:nvGraphicFramePr>
        <p:xfrm>
          <a:off x="1692275" y="1628775"/>
          <a:ext cx="7056438" cy="4392614"/>
        </p:xfrm>
        <a:graphic>
          <a:graphicData uri="http://schemas.openxmlformats.org/drawingml/2006/table">
            <a:tbl>
              <a:tblPr/>
              <a:tblGrid>
                <a:gridCol w="1189038">
                  <a:extLst>
                    <a:ext uri="{9D8B030D-6E8A-4147-A177-3AD203B41FA5}">
                      <a16:colId xmlns:a16="http://schemas.microsoft.com/office/drawing/2014/main" val="20000"/>
                    </a:ext>
                  </a:extLst>
                </a:gridCol>
                <a:gridCol w="1157287">
                  <a:extLst>
                    <a:ext uri="{9D8B030D-6E8A-4147-A177-3AD203B41FA5}">
                      <a16:colId xmlns:a16="http://schemas.microsoft.com/office/drawing/2014/main" val="20001"/>
                    </a:ext>
                  </a:extLst>
                </a:gridCol>
                <a:gridCol w="1198563">
                  <a:extLst>
                    <a:ext uri="{9D8B030D-6E8A-4147-A177-3AD203B41FA5}">
                      <a16:colId xmlns:a16="http://schemas.microsoft.com/office/drawing/2014/main" val="20002"/>
                    </a:ext>
                  </a:extLst>
                </a:gridCol>
                <a:gridCol w="1211262">
                  <a:extLst>
                    <a:ext uri="{9D8B030D-6E8A-4147-A177-3AD203B41FA5}">
                      <a16:colId xmlns:a16="http://schemas.microsoft.com/office/drawing/2014/main" val="20003"/>
                    </a:ext>
                  </a:extLst>
                </a:gridCol>
                <a:gridCol w="1196975">
                  <a:extLst>
                    <a:ext uri="{9D8B030D-6E8A-4147-A177-3AD203B41FA5}">
                      <a16:colId xmlns:a16="http://schemas.microsoft.com/office/drawing/2014/main" val="20004"/>
                    </a:ext>
                  </a:extLst>
                </a:gridCol>
                <a:gridCol w="1103313">
                  <a:extLst>
                    <a:ext uri="{9D8B030D-6E8A-4147-A177-3AD203B41FA5}">
                      <a16:colId xmlns:a16="http://schemas.microsoft.com/office/drawing/2014/main" val="20005"/>
                    </a:ext>
                  </a:extLst>
                </a:gridCol>
              </a:tblGrid>
              <a:tr h="6111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x</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y</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d</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x</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y</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d</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0</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7</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9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1</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8</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9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2</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9</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9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3</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10</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413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4</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11</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9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5</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12</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39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smtClean="0">
                          <a:ln>
                            <a:noFill/>
                          </a:ln>
                          <a:solidFill>
                            <a:schemeClr val="tx1"/>
                          </a:solidFill>
                          <a:effectLst/>
                          <a:latin typeface="楷体_GB2312" pitchFamily="49" charset="-122"/>
                          <a:ea typeface="宋体" panose="02010600030101010101" pitchFamily="2" charset="-122"/>
                          <a:cs typeface="Times New Roman" panose="02020603050405020304" pitchFamily="18" charset="0"/>
                        </a:rPr>
                        <a:t>6</a:t>
                      </a: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smtClean="0">
                        <a:ln>
                          <a:noFill/>
                        </a:ln>
                        <a:solidFill>
                          <a:srgbClr val="A50021"/>
                        </a:solidFill>
                        <a:effectLst/>
                        <a:latin typeface="楷体_GB2312" pitchFamily="49"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None/>
                      </a:pPr>
                      <a:endParaRPr kumimoji="0" lang="zh-CN" altLang="en-US" sz="2000" b="0" i="0" u="none" strike="noStrike" cap="none" normalizeH="0" baseline="0" smtClean="0">
                        <a:ln>
                          <a:noFill/>
                        </a:ln>
                        <a:solidFill>
                          <a:srgbClr val="A50021"/>
                        </a:solidFill>
                        <a:effectLst/>
                        <a:latin typeface="楷体_GB2312" pitchFamily="49"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None/>
                      </a:pPr>
                      <a:endParaRPr kumimoji="0" lang="zh-CN" altLang="en-US" sz="2000" b="0" i="0" u="none" strike="noStrike" cap="none" normalizeH="0" baseline="0" smtClean="0">
                        <a:ln>
                          <a:noFill/>
                        </a:ln>
                        <a:solidFill>
                          <a:srgbClr val="A50021"/>
                        </a:solidFill>
                        <a:effectLst/>
                        <a:latin typeface="楷体_GB2312" pitchFamily="49"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None/>
                      </a:pPr>
                      <a:endParaRPr kumimoji="0" lang="zh-CN" altLang="en-US" sz="2000" b="0" i="0" u="none" strike="noStrike" cap="none" normalizeH="0" baseline="0" dirty="0" smtClean="0">
                        <a:ln>
                          <a:noFill/>
                        </a:ln>
                        <a:solidFill>
                          <a:srgbClr val="A50021"/>
                        </a:solidFill>
                        <a:effectLst/>
                        <a:latin typeface="楷体_GB2312" pitchFamily="49"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19"/>
          <p:cNvSpPr>
            <a:spLocks noChangeArrowheads="1"/>
          </p:cNvSpPr>
          <p:nvPr/>
        </p:nvSpPr>
        <p:spPr bwMode="auto">
          <a:xfrm>
            <a:off x="1331913" y="404813"/>
            <a:ext cx="756126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2.</a:t>
            </a:r>
            <a:r>
              <a:rPr lang="zh-CN" altLang="en-US" sz="2400">
                <a:latin typeface="楷体_GB2312" pitchFamily="49" charset="-122"/>
              </a:rPr>
              <a:t>给定直线的起点坐标为</a:t>
            </a:r>
            <a:r>
              <a:rPr lang="en-US" altLang="zh-CN" sz="2400">
                <a:latin typeface="楷体_GB2312" pitchFamily="49" charset="-122"/>
              </a:rPr>
              <a:t>P</a:t>
            </a:r>
            <a:r>
              <a:rPr lang="en-US" altLang="zh-CN" sz="2400" baseline="-30000">
                <a:latin typeface="楷体_GB2312" pitchFamily="49" charset="-122"/>
              </a:rPr>
              <a:t>0</a:t>
            </a:r>
            <a:r>
              <a:rPr lang="zh-CN" altLang="en-US" sz="2400">
                <a:latin typeface="楷体_GB2312" pitchFamily="49" charset="-122"/>
              </a:rPr>
              <a:t>（</a:t>
            </a:r>
            <a:r>
              <a:rPr lang="en-US" altLang="zh-CN" sz="2400">
                <a:latin typeface="楷体_GB2312" pitchFamily="49" charset="-122"/>
              </a:rPr>
              <a:t>x</a:t>
            </a:r>
            <a:r>
              <a:rPr lang="en-US" altLang="zh-CN" sz="2400" baseline="-30000">
                <a:latin typeface="楷体_GB2312" pitchFamily="49" charset="-122"/>
              </a:rPr>
              <a:t>0</a:t>
            </a:r>
            <a:r>
              <a:rPr lang="zh-CN" altLang="en-US" sz="2400">
                <a:latin typeface="楷体_GB2312" pitchFamily="49" charset="-122"/>
              </a:rPr>
              <a:t>，</a:t>
            </a:r>
            <a:r>
              <a:rPr lang="en-US" altLang="zh-CN" sz="2400">
                <a:latin typeface="楷体_GB2312" pitchFamily="49" charset="-122"/>
              </a:rPr>
              <a:t>y</a:t>
            </a:r>
            <a:r>
              <a:rPr lang="en-US" altLang="zh-CN" sz="2400" baseline="-30000">
                <a:latin typeface="楷体_GB2312" pitchFamily="49" charset="-122"/>
              </a:rPr>
              <a:t>0</a:t>
            </a:r>
            <a:r>
              <a:rPr lang="zh-CN" altLang="en-US" sz="2400">
                <a:latin typeface="楷体_GB2312" pitchFamily="49" charset="-122"/>
              </a:rPr>
              <a:t>）、终点坐标为</a:t>
            </a:r>
            <a:r>
              <a:rPr lang="en-US" altLang="zh-CN" sz="2400">
                <a:latin typeface="楷体_GB2312" pitchFamily="49" charset="-122"/>
              </a:rPr>
              <a:t>P</a:t>
            </a:r>
            <a:r>
              <a:rPr lang="en-US" altLang="zh-CN" sz="2400" baseline="-30000">
                <a:latin typeface="楷体_GB2312" pitchFamily="49" charset="-122"/>
              </a:rPr>
              <a:t>1</a:t>
            </a:r>
            <a:r>
              <a:rPr lang="zh-CN" altLang="en-US" sz="2400">
                <a:latin typeface="楷体_GB2312" pitchFamily="49" charset="-122"/>
              </a:rPr>
              <a:t>（</a:t>
            </a:r>
            <a:r>
              <a:rPr lang="en-US" altLang="zh-CN" sz="2400">
                <a:latin typeface="楷体_GB2312" pitchFamily="49" charset="-122"/>
              </a:rPr>
              <a:t>x</a:t>
            </a:r>
            <a:r>
              <a:rPr lang="en-US" altLang="zh-CN" sz="2400" baseline="-30000">
                <a:latin typeface="楷体_GB2312" pitchFamily="49" charset="-122"/>
              </a:rPr>
              <a:t>1</a:t>
            </a:r>
            <a:r>
              <a:rPr lang="zh-CN" altLang="en-US" sz="2400">
                <a:latin typeface="楷体_GB2312" pitchFamily="49" charset="-122"/>
              </a:rPr>
              <a:t>，</a:t>
            </a:r>
            <a:r>
              <a:rPr lang="en-US" altLang="zh-CN" sz="2400">
                <a:latin typeface="楷体_GB2312" pitchFamily="49" charset="-122"/>
              </a:rPr>
              <a:t>y</a:t>
            </a:r>
            <a:r>
              <a:rPr lang="en-US" altLang="zh-CN" sz="2400" baseline="-30000">
                <a:latin typeface="楷体_GB2312" pitchFamily="49" charset="-122"/>
              </a:rPr>
              <a:t>1</a:t>
            </a:r>
            <a:r>
              <a:rPr lang="zh-CN" altLang="en-US" sz="2400">
                <a:latin typeface="楷体_GB2312" pitchFamily="49" charset="-122"/>
              </a:rPr>
              <a:t>），容易计算出直线的斜率</a:t>
            </a:r>
            <a:r>
              <a:rPr lang="en-US" altLang="zh-CN" sz="2400">
                <a:latin typeface="楷体_GB2312" pitchFamily="49" charset="-122"/>
              </a:rPr>
              <a:t>k</a:t>
            </a:r>
            <a:r>
              <a:rPr lang="zh-CN" altLang="en-US" sz="2400">
                <a:latin typeface="楷体_GB2312" pitchFamily="49" charset="-122"/>
              </a:rPr>
              <a:t>。假设</a:t>
            </a:r>
            <a:r>
              <a:rPr lang="en-US" altLang="zh-CN" sz="2400">
                <a:latin typeface="楷体_GB2312" pitchFamily="49" charset="-122"/>
              </a:rPr>
              <a:t>0≤k≤1</a:t>
            </a:r>
            <a:r>
              <a:rPr lang="zh-CN" altLang="en-US" sz="2400">
                <a:latin typeface="楷体_GB2312" pitchFamily="49" charset="-122"/>
              </a:rPr>
              <a:t>且</a:t>
            </a:r>
            <a:r>
              <a:rPr lang="en-US" altLang="zh-CN" sz="2400">
                <a:latin typeface="楷体_GB2312" pitchFamily="49" charset="-122"/>
              </a:rPr>
              <a:t>x</a:t>
            </a:r>
            <a:r>
              <a:rPr lang="en-US" altLang="zh-CN" sz="2400" baseline="-30000">
                <a:latin typeface="楷体_GB2312" pitchFamily="49" charset="-122"/>
              </a:rPr>
              <a:t>0</a:t>
            </a:r>
            <a:r>
              <a:rPr lang="zh-CN" altLang="en-US" sz="2400">
                <a:latin typeface="楷体_GB2312" pitchFamily="49" charset="-122"/>
              </a:rPr>
              <a:t>＜</a:t>
            </a:r>
            <a:r>
              <a:rPr lang="en-US" altLang="zh-CN" sz="2400">
                <a:latin typeface="楷体_GB2312" pitchFamily="49" charset="-122"/>
              </a:rPr>
              <a:t>x</a:t>
            </a:r>
            <a:r>
              <a:rPr lang="en-US" altLang="zh-CN" sz="2400" baseline="-30000">
                <a:latin typeface="楷体_GB2312" pitchFamily="49" charset="-122"/>
              </a:rPr>
              <a:t>1</a:t>
            </a:r>
            <a:r>
              <a:rPr lang="zh-CN" altLang="en-US" sz="2400">
                <a:latin typeface="楷体_GB2312" pitchFamily="49" charset="-122"/>
              </a:rPr>
              <a:t>，则</a:t>
            </a:r>
            <a:r>
              <a:rPr lang="en-US" altLang="zh-CN" sz="2400">
                <a:latin typeface="楷体_GB2312" pitchFamily="49" charset="-122"/>
              </a:rPr>
              <a:t>x</a:t>
            </a:r>
            <a:r>
              <a:rPr lang="zh-CN" altLang="en-US" sz="2400">
                <a:latin typeface="楷体_GB2312" pitchFamily="49" charset="-122"/>
              </a:rPr>
              <a:t>方向为主位移方向，绘制直线的递推公式为：</a:t>
            </a:r>
            <a:endParaRPr lang="zh-CN" altLang="en-US" sz="2400">
              <a:latin typeface="楷体_GB2312" pitchFamily="49" charset="-122"/>
              <a:cs typeface="Times New Roman" panose="02020603050405020304" pitchFamily="18" charset="0"/>
            </a:endParaRPr>
          </a:p>
        </p:txBody>
      </p:sp>
      <p:graphicFrame>
        <p:nvGraphicFramePr>
          <p:cNvPr id="70659" name="Object 3"/>
          <p:cNvGraphicFramePr>
            <a:graphicFrameLocks noChangeAspect="1"/>
          </p:cNvGraphicFramePr>
          <p:nvPr/>
        </p:nvGraphicFramePr>
        <p:xfrm>
          <a:off x="3563938" y="1628775"/>
          <a:ext cx="1800225" cy="996950"/>
        </p:xfrm>
        <a:graphic>
          <a:graphicData uri="http://schemas.openxmlformats.org/presentationml/2006/ole">
            <mc:AlternateContent xmlns:mc="http://schemas.openxmlformats.org/markup-compatibility/2006">
              <mc:Choice xmlns:v="urn:schemas-microsoft-com:vml" Requires="v">
                <p:oleObj spid="_x0000_s70702" r:id="rId3" imgW="876681" imgH="482810" progId="Equation.DSMT4">
                  <p:embed/>
                </p:oleObj>
              </mc:Choice>
              <mc:Fallback>
                <p:oleObj r:id="rId3" imgW="876681" imgH="48281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628775"/>
                        <a:ext cx="18002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0" name="Rectangle 20"/>
          <p:cNvSpPr>
            <a:spLocks noChangeArrowheads="1"/>
          </p:cNvSpPr>
          <p:nvPr/>
        </p:nvSpPr>
        <p:spPr bwMode="auto">
          <a:xfrm>
            <a:off x="1403350" y="2781300"/>
            <a:ext cx="71278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27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27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27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27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27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27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27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27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27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zh-CN" altLang="en-US" sz="2400" dirty="0">
                <a:latin typeface="楷体_GB2312" pitchFamily="49" charset="-122"/>
              </a:rPr>
              <a:t>这称为数值微分法（</a:t>
            </a:r>
            <a:r>
              <a:rPr lang="en-US" altLang="zh-CN" sz="2400" dirty="0">
                <a:latin typeface="楷体_GB2312" pitchFamily="49" charset="-122"/>
              </a:rPr>
              <a:t>Digital Differential Analyzer</a:t>
            </a:r>
            <a:r>
              <a:rPr lang="zh-CN" altLang="en-US" sz="2400" dirty="0">
                <a:latin typeface="楷体_GB2312" pitchFamily="49" charset="-122"/>
              </a:rPr>
              <a:t>，</a:t>
            </a:r>
            <a:r>
              <a:rPr lang="en-US" altLang="zh-CN" sz="2400" dirty="0">
                <a:latin typeface="楷体_GB2312" pitchFamily="49" charset="-122"/>
              </a:rPr>
              <a:t>DDA</a:t>
            </a:r>
            <a:r>
              <a:rPr lang="zh-CN" altLang="en-US" sz="2400" dirty="0">
                <a:latin typeface="楷体_GB2312" pitchFamily="49" charset="-122"/>
              </a:rPr>
              <a:t>），请使用</a:t>
            </a:r>
            <a:r>
              <a:rPr lang="en-US" altLang="zh-CN" sz="2400" dirty="0">
                <a:latin typeface="楷体_GB2312" pitchFamily="49" charset="-122"/>
              </a:rPr>
              <a:t>MFC</a:t>
            </a:r>
            <a:r>
              <a:rPr lang="zh-CN" altLang="en-US" sz="2400" dirty="0">
                <a:latin typeface="楷体_GB2312" pitchFamily="49" charset="-122"/>
              </a:rPr>
              <a:t>编程实现</a:t>
            </a:r>
            <a:r>
              <a:rPr lang="en-US" altLang="zh-CN" sz="2400" dirty="0">
                <a:latin typeface="楷体_GB2312" pitchFamily="49" charset="-122"/>
              </a:rPr>
              <a:t>DDA</a:t>
            </a:r>
            <a:r>
              <a:rPr lang="zh-CN" altLang="en-US" sz="2400" dirty="0">
                <a:latin typeface="楷体_GB2312" pitchFamily="49" charset="-122"/>
              </a:rPr>
              <a:t>算法并在屏幕上输出直线段的斜率。</a:t>
            </a:r>
            <a:endParaRPr lang="zh-CN" altLang="en-US" sz="2400" dirty="0">
              <a:latin typeface="楷体_GB2312" pitchFamily="49" charset="-122"/>
              <a:cs typeface="Times New Roman" panose="02020603050405020304" pitchFamily="18" charset="0"/>
            </a:endParaRPr>
          </a:p>
        </p:txBody>
      </p:sp>
      <p:sp>
        <p:nvSpPr>
          <p:cNvPr id="70661" name="Rectangle 21"/>
          <p:cNvSpPr>
            <a:spLocks noChangeArrowheads="1"/>
          </p:cNvSpPr>
          <p:nvPr/>
        </p:nvSpPr>
        <p:spPr bwMode="auto">
          <a:xfrm>
            <a:off x="1476375" y="4005263"/>
            <a:ext cx="7488238"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3.</a:t>
            </a:r>
            <a:r>
              <a:rPr lang="zh-CN" altLang="en-US" sz="2400">
                <a:latin typeface="Tahoma" panose="020B0604030504040204" pitchFamily="34" charset="0"/>
              </a:rPr>
              <a:t>将中点</a:t>
            </a:r>
            <a:r>
              <a:rPr lang="en-US" altLang="zh-CN" sz="2400">
                <a:latin typeface="Tahoma" panose="020B0604030504040204" pitchFamily="34" charset="0"/>
              </a:rPr>
              <a:t>Bresenham</a:t>
            </a:r>
            <a:r>
              <a:rPr lang="zh-CN" altLang="en-US" sz="2400">
                <a:latin typeface="Tahoma" panose="020B0604030504040204" pitchFamily="34" charset="0"/>
              </a:rPr>
              <a:t>算法推广到绘制任意斜率的直线段。使用对话框输入直线的起点和终点坐标，试以屏幕中心为二维坐标系原点，绘制任意斜率的直线段。要求编制</a:t>
            </a:r>
            <a:r>
              <a:rPr lang="en-US" altLang="zh-CN" sz="2400">
                <a:latin typeface="Tahoma" panose="020B0604030504040204" pitchFamily="34" charset="0"/>
              </a:rPr>
              <a:t>CLine</a:t>
            </a:r>
            <a:r>
              <a:rPr lang="zh-CN" altLang="en-US" sz="2400">
                <a:latin typeface="Tahoma" panose="020B0604030504040204" pitchFamily="34" charset="0"/>
              </a:rPr>
              <a:t>类，成员函数为</a:t>
            </a:r>
            <a:r>
              <a:rPr lang="en-US" altLang="zh-CN" sz="2400">
                <a:latin typeface="Tahoma" panose="020B0604030504040204" pitchFamily="34" charset="0"/>
              </a:rPr>
              <a:t>MoveTo()</a:t>
            </a:r>
            <a:r>
              <a:rPr lang="zh-CN" altLang="en-US" sz="2400">
                <a:latin typeface="Tahoma" panose="020B0604030504040204" pitchFamily="34" charset="0"/>
              </a:rPr>
              <a:t>和</a:t>
            </a:r>
            <a:r>
              <a:rPr lang="en-US" altLang="zh-CN" sz="2400">
                <a:latin typeface="Tahoma" panose="020B0604030504040204" pitchFamily="34" charset="0"/>
              </a:rPr>
              <a:t>LineTo()</a:t>
            </a:r>
            <a:r>
              <a:rPr lang="zh-CN" altLang="en-US" sz="2400">
                <a:latin typeface="Tahoma" panose="020B0604030504040204" pitchFamily="34" charset="0"/>
              </a:rPr>
              <a:t>。对边界像素的处理原则是“起点闭区间、终点开区间”，即要求所绘直线达到</a:t>
            </a:r>
            <a:r>
              <a:rPr lang="en-US" altLang="zh-CN" sz="2400">
                <a:latin typeface="Tahoma" panose="020B0604030504040204" pitchFamily="34" charset="0"/>
              </a:rPr>
              <a:t>VC++</a:t>
            </a:r>
            <a:r>
              <a:rPr lang="zh-CN" altLang="en-US" sz="2400">
                <a:latin typeface="Tahoma" panose="020B0604030504040204" pitchFamily="34" charset="0"/>
              </a:rPr>
              <a:t>的</a:t>
            </a:r>
            <a:r>
              <a:rPr lang="en-US" altLang="zh-CN" sz="2400">
                <a:latin typeface="Tahoma" panose="020B0604030504040204" pitchFamily="34" charset="0"/>
              </a:rPr>
              <a:t>MoveTo()</a:t>
            </a:r>
            <a:r>
              <a:rPr lang="zh-CN" altLang="en-US" sz="2400">
                <a:latin typeface="Tahoma" panose="020B0604030504040204" pitchFamily="34" charset="0"/>
              </a:rPr>
              <a:t>和</a:t>
            </a:r>
            <a:r>
              <a:rPr lang="en-US" altLang="zh-CN" sz="2400">
                <a:latin typeface="Tahoma" panose="020B0604030504040204" pitchFamily="34" charset="0"/>
              </a:rPr>
              <a:t>LineTo()</a:t>
            </a:r>
            <a:r>
              <a:rPr lang="zh-CN" altLang="en-US" sz="2400">
                <a:latin typeface="Tahoma" panose="020B0604030504040204" pitchFamily="34" charset="0"/>
              </a:rPr>
              <a:t>函数的绘制效果。</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1331913" y="260350"/>
            <a:ext cx="76327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3.</a:t>
            </a:r>
            <a:r>
              <a:rPr lang="zh-CN" altLang="en-US" sz="2400">
                <a:latin typeface="Tahoma" panose="020B0604030504040204" pitchFamily="34" charset="0"/>
              </a:rPr>
              <a:t>使用对话框输入直线段的起点和终点坐标，以屏幕中心为二维坐标系原点，绘制恒定颜色的任意斜率的反走样直线段。</a:t>
            </a:r>
          </a:p>
        </p:txBody>
      </p:sp>
      <p:sp>
        <p:nvSpPr>
          <p:cNvPr id="71683" name="Rectangle 3"/>
          <p:cNvSpPr>
            <a:spLocks noChangeArrowheads="1"/>
          </p:cNvSpPr>
          <p:nvPr/>
        </p:nvSpPr>
        <p:spPr bwMode="auto">
          <a:xfrm>
            <a:off x="1403350" y="1484313"/>
            <a:ext cx="7318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5.</a:t>
            </a:r>
            <a:r>
              <a:rPr lang="zh-CN" altLang="en-US" sz="2400">
                <a:latin typeface="Tahoma" panose="020B0604030504040204" pitchFamily="34" charset="0"/>
              </a:rPr>
              <a:t>以屏幕客户区中心为二维坐标系原点，使用距离加权反走样算法绘制反走样圆。 </a:t>
            </a:r>
          </a:p>
        </p:txBody>
      </p:sp>
      <p:sp>
        <p:nvSpPr>
          <p:cNvPr id="71684" name="Rectangle 4"/>
          <p:cNvSpPr>
            <a:spLocks noChangeArrowheads="1"/>
          </p:cNvSpPr>
          <p:nvPr/>
        </p:nvSpPr>
        <p:spPr bwMode="auto">
          <a:xfrm>
            <a:off x="1331913" y="2420938"/>
            <a:ext cx="7318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6.</a:t>
            </a:r>
            <a:r>
              <a:rPr lang="zh-CN" altLang="en-US" sz="2400">
                <a:latin typeface="Tahoma" panose="020B0604030504040204" pitchFamily="34" charset="0"/>
              </a:rPr>
              <a:t>以屏幕客户区中心为二维坐标系原点，使用距离加权反走样算法绘制反走样椭圆。 </a:t>
            </a:r>
          </a:p>
        </p:txBody>
      </p:sp>
      <p:sp>
        <p:nvSpPr>
          <p:cNvPr id="71685" name="Rectangle 5"/>
          <p:cNvSpPr>
            <a:spLocks noChangeArrowheads="1"/>
          </p:cNvSpPr>
          <p:nvPr/>
        </p:nvSpPr>
        <p:spPr bwMode="auto">
          <a:xfrm>
            <a:off x="1258888" y="3429000"/>
            <a:ext cx="7634287"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7. </a:t>
            </a:r>
            <a:r>
              <a:rPr lang="zh-CN" altLang="en-US" sz="2400">
                <a:latin typeface="Tahoma" panose="020B0604030504040204" pitchFamily="34" charset="0"/>
              </a:rPr>
              <a:t>*在屏幕上绘制</a:t>
            </a:r>
            <a:r>
              <a:rPr lang="en-US" altLang="zh-CN" sz="2400">
                <a:latin typeface="Tahoma" panose="020B0604030504040204" pitchFamily="34" charset="0"/>
              </a:rPr>
              <a:t>40×30</a:t>
            </a:r>
            <a:r>
              <a:rPr lang="zh-CN" altLang="en-US" sz="2400">
                <a:latin typeface="Tahoma" panose="020B0604030504040204" pitchFamily="34" charset="0"/>
              </a:rPr>
              <a:t>的虚拟网格（模拟屏幕纵横比为</a:t>
            </a:r>
            <a:r>
              <a:rPr lang="en-US" altLang="zh-CN" sz="2400">
                <a:latin typeface="Tahoma" panose="020B0604030504040204" pitchFamily="34" charset="0"/>
              </a:rPr>
              <a:t>4:3</a:t>
            </a:r>
            <a:r>
              <a:rPr lang="zh-CN" altLang="en-US" sz="2400">
                <a:latin typeface="Tahoma" panose="020B0604030504040204" pitchFamily="34" charset="0"/>
              </a:rPr>
              <a:t>），每个网格为边长为</a:t>
            </a:r>
            <a:r>
              <a:rPr lang="en-US" altLang="zh-CN" sz="2400">
                <a:latin typeface="Tahoma" panose="020B0604030504040204" pitchFamily="34" charset="0"/>
              </a:rPr>
              <a:t>20</a:t>
            </a:r>
            <a:r>
              <a:rPr lang="zh-CN" altLang="en-US" sz="2400">
                <a:latin typeface="Tahoma" panose="020B0604030504040204" pitchFamily="34" charset="0"/>
              </a:rPr>
              <a:t>个像素的正方形。设定虚拟网格坐标系的原点为左上角第一个网格中心，虚拟网格坐标系的</a:t>
            </a:r>
            <a:r>
              <a:rPr lang="en-US" altLang="zh-CN" sz="2400">
                <a:latin typeface="Tahoma" panose="020B0604030504040204" pitchFamily="34" charset="0"/>
              </a:rPr>
              <a:t>x</a:t>
            </a:r>
            <a:r>
              <a:rPr lang="zh-CN" altLang="en-US" sz="2400">
                <a:latin typeface="Tahoma" panose="020B0604030504040204" pitchFamily="34" charset="0"/>
              </a:rPr>
              <a:t>轴水平向右，</a:t>
            </a:r>
            <a:r>
              <a:rPr lang="en-US" altLang="zh-CN" sz="2400">
                <a:latin typeface="Tahoma" panose="020B0604030504040204" pitchFamily="34" charset="0"/>
              </a:rPr>
              <a:t>y</a:t>
            </a:r>
            <a:r>
              <a:rPr lang="zh-CN" altLang="en-US" sz="2400">
                <a:latin typeface="Tahoma" panose="020B0604030504040204" pitchFamily="34" charset="0"/>
              </a:rPr>
              <a:t>轴垂直向下。调用对话框输入直线段的起点坐标和终点坐标，请参考</a:t>
            </a:r>
            <a:r>
              <a:rPr lang="en-US" altLang="zh-CN" sz="2400">
                <a:latin typeface="Tahoma" panose="020B0604030504040204" pitchFamily="34" charset="0"/>
              </a:rPr>
              <a:t>0≤k≤1</a:t>
            </a:r>
            <a:r>
              <a:rPr lang="zh-CN" altLang="en-US" sz="2400">
                <a:latin typeface="Tahoma" panose="020B0604030504040204" pitchFamily="34" charset="0"/>
              </a:rPr>
              <a:t>的直线中点</a:t>
            </a:r>
            <a:r>
              <a:rPr lang="en-US" altLang="zh-CN" sz="2400">
                <a:latin typeface="Tahoma" panose="020B0604030504040204" pitchFamily="34" charset="0"/>
              </a:rPr>
              <a:t>Bresenham</a:t>
            </a:r>
            <a:r>
              <a:rPr lang="zh-CN" altLang="en-US" sz="2400">
                <a:latin typeface="Tahoma" panose="020B0604030504040204" pitchFamily="34" charset="0"/>
              </a:rPr>
              <a:t>算法，使用黑色填充每个代表像素的虚拟网格，实现直线的像素级绘制。虚拟网格如图</a:t>
            </a:r>
            <a:r>
              <a:rPr lang="en-US" altLang="zh-CN" sz="2400">
                <a:latin typeface="Tahoma" panose="020B0604030504040204" pitchFamily="34" charset="0"/>
              </a:rPr>
              <a:t>3-30</a:t>
            </a:r>
            <a:r>
              <a:rPr lang="zh-CN" altLang="en-US" sz="2400">
                <a:latin typeface="Tahoma" panose="020B0604030504040204" pitchFamily="34" charset="0"/>
              </a:rPr>
              <a:t>所示，绘制结果如图</a:t>
            </a:r>
            <a:r>
              <a:rPr lang="en-US" altLang="zh-CN" sz="2400">
                <a:latin typeface="Tahoma" panose="020B0604030504040204" pitchFamily="34" charset="0"/>
              </a:rPr>
              <a:t>3-31</a:t>
            </a:r>
            <a:r>
              <a:rPr lang="zh-CN" altLang="en-US" sz="2400">
                <a:latin typeface="Tahoma" panose="020B0604030504040204" pitchFamily="34" charset="0"/>
              </a:rPr>
              <a:t>所示。</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270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2275" y="260350"/>
            <a:ext cx="242887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625" y="188913"/>
            <a:ext cx="23907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Rectangle 5"/>
          <p:cNvSpPr>
            <a:spLocks noChangeArrowheads="1"/>
          </p:cNvSpPr>
          <p:nvPr/>
        </p:nvSpPr>
        <p:spPr bwMode="auto">
          <a:xfrm>
            <a:off x="0" y="1554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72709" name="Rectangle 6"/>
          <p:cNvSpPr>
            <a:spLocks noChangeArrowheads="1"/>
          </p:cNvSpPr>
          <p:nvPr/>
        </p:nvSpPr>
        <p:spPr bwMode="auto">
          <a:xfrm>
            <a:off x="4462463" y="3316288"/>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sz="2400">
              <a:latin typeface="Arial" panose="020B0604020202020204" pitchFamily="34" charset="0"/>
              <a:ea typeface="宋体" panose="02010600030101010101" pitchFamily="2" charset="-122"/>
            </a:endParaRPr>
          </a:p>
        </p:txBody>
      </p:sp>
      <p:sp>
        <p:nvSpPr>
          <p:cNvPr id="72710" name="Rectangle 7"/>
          <p:cNvSpPr>
            <a:spLocks noChangeArrowheads="1"/>
          </p:cNvSpPr>
          <p:nvPr/>
        </p:nvSpPr>
        <p:spPr bwMode="auto">
          <a:xfrm>
            <a:off x="1547813" y="2133600"/>
            <a:ext cx="704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楷体_GB2312" pitchFamily="49" charset="-122"/>
              </a:rPr>
              <a:t>图</a:t>
            </a:r>
            <a:r>
              <a:rPr lang="en-US" altLang="zh-CN" sz="2400">
                <a:latin typeface="楷体_GB2312" pitchFamily="49" charset="-122"/>
              </a:rPr>
              <a:t>3-30 </a:t>
            </a:r>
            <a:r>
              <a:rPr lang="zh-CN" altLang="en-US" sz="2400">
                <a:latin typeface="楷体_GB2312" pitchFamily="49" charset="-122"/>
              </a:rPr>
              <a:t>屏幕网格划分  图</a:t>
            </a:r>
            <a:r>
              <a:rPr lang="en-US" altLang="zh-CN" sz="2400">
                <a:latin typeface="楷体_GB2312" pitchFamily="49" charset="-122"/>
              </a:rPr>
              <a:t>3-31  </a:t>
            </a:r>
            <a:r>
              <a:rPr lang="zh-CN" altLang="en-US" sz="2400">
                <a:latin typeface="楷体_GB2312" pitchFamily="49" charset="-122"/>
              </a:rPr>
              <a:t>直线的像素级绘制</a:t>
            </a:r>
          </a:p>
        </p:txBody>
      </p:sp>
      <p:sp>
        <p:nvSpPr>
          <p:cNvPr id="72711" name="Rectangle 8"/>
          <p:cNvSpPr>
            <a:spLocks noChangeArrowheads="1"/>
          </p:cNvSpPr>
          <p:nvPr/>
        </p:nvSpPr>
        <p:spPr bwMode="auto">
          <a:xfrm>
            <a:off x="1331913" y="2708275"/>
            <a:ext cx="7416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8.</a:t>
            </a:r>
            <a:r>
              <a:rPr lang="zh-CN" altLang="en-US" sz="2400">
                <a:latin typeface="楷体_GB2312" pitchFamily="49" charset="-122"/>
              </a:rPr>
              <a:t>使用对话框输入直线的起点和终点坐标，以屏幕中心为二维坐标系原点，给定直线的起点颜色（如红色），终点颜色（如蓝色）。请使用中点</a:t>
            </a:r>
            <a:r>
              <a:rPr lang="en-US" altLang="zh-CN" sz="2400">
                <a:latin typeface="楷体_GB2312" pitchFamily="49" charset="-122"/>
              </a:rPr>
              <a:t>Bresenham</a:t>
            </a:r>
            <a:r>
              <a:rPr lang="zh-CN" altLang="en-US" sz="2400">
                <a:latin typeface="楷体_GB2312" pitchFamily="49" charset="-122"/>
              </a:rPr>
              <a:t>算法绘制任意斜率的颜色渐变直线，如图</a:t>
            </a:r>
            <a:r>
              <a:rPr lang="en-US" altLang="zh-CN" sz="2400">
                <a:latin typeface="楷体_GB2312" pitchFamily="49" charset="-122"/>
              </a:rPr>
              <a:t>3-32</a:t>
            </a:r>
            <a:r>
              <a:rPr lang="zh-CN" altLang="en-US" sz="2400">
                <a:latin typeface="楷体_GB2312" pitchFamily="49" charset="-122"/>
              </a:rPr>
              <a:t>所示。</a:t>
            </a:r>
          </a:p>
        </p:txBody>
      </p:sp>
      <p:pic>
        <p:nvPicPr>
          <p:cNvPr id="72712"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403725"/>
            <a:ext cx="3240087" cy="235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3" name="Rectangle 10"/>
          <p:cNvSpPr>
            <a:spLocks noChangeArrowheads="1"/>
          </p:cNvSpPr>
          <p:nvPr/>
        </p:nvSpPr>
        <p:spPr bwMode="auto">
          <a:xfrm>
            <a:off x="4997450" y="6092825"/>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楷体_GB2312" pitchFamily="49" charset="-122"/>
              </a:rPr>
              <a:t> 图</a:t>
            </a:r>
            <a:r>
              <a:rPr lang="en-US" altLang="zh-CN" sz="2400">
                <a:latin typeface="楷体_GB2312" pitchFamily="49" charset="-122"/>
              </a:rPr>
              <a:t>3-32 </a:t>
            </a:r>
            <a:r>
              <a:rPr lang="zh-CN" altLang="en-US" sz="2400">
                <a:latin typeface="楷体_GB2312" pitchFamily="49" charset="-122"/>
              </a:rPr>
              <a:t>颜色渐变直线效果图</a:t>
            </a:r>
            <a:endParaRPr lang="zh-CN" altLang="en-US" sz="2400">
              <a:latin typeface="楷体_GB2312" pitchFamily="49" charset="-122"/>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4"/>
          <p:cNvSpPr>
            <a:spLocks noChangeArrowheads="1"/>
          </p:cNvSpPr>
          <p:nvPr/>
        </p:nvSpPr>
        <p:spPr bwMode="auto">
          <a:xfrm>
            <a:off x="0" y="1554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73731" name="Rectangle 12"/>
          <p:cNvSpPr>
            <a:spLocks noChangeArrowheads="1"/>
          </p:cNvSpPr>
          <p:nvPr/>
        </p:nvSpPr>
        <p:spPr bwMode="auto">
          <a:xfrm>
            <a:off x="0" y="2012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2400">
              <a:latin typeface="Tahoma" panose="020B0604030504040204" pitchFamily="34" charset="0"/>
            </a:endParaRPr>
          </a:p>
        </p:txBody>
      </p:sp>
      <p:sp>
        <p:nvSpPr>
          <p:cNvPr id="73732" name="Rectangle 13"/>
          <p:cNvSpPr>
            <a:spLocks noChangeArrowheads="1"/>
          </p:cNvSpPr>
          <p:nvPr/>
        </p:nvSpPr>
        <p:spPr bwMode="auto">
          <a:xfrm>
            <a:off x="0" y="2012950"/>
            <a:ext cx="26828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endParaRPr lang="zh-CN" altLang="en-US" sz="1100">
              <a:latin typeface="Tahoma" panose="020B0604030504040204" pitchFamily="34" charset="0"/>
            </a:endParaRPr>
          </a:p>
          <a:p>
            <a:pPr>
              <a:lnSpc>
                <a:spcPct val="100000"/>
              </a:lnSpc>
              <a:spcBef>
                <a:spcPct val="0"/>
              </a:spcBef>
              <a:buFont typeface="Arial" panose="020B0604020202020204" pitchFamily="34" charset="0"/>
              <a:buNone/>
            </a:pPr>
            <a:r>
              <a:rPr lang="zh-CN" altLang="en-US" sz="2400">
                <a:latin typeface="Arial" panose="020B0604020202020204" pitchFamily="34" charset="0"/>
                <a:ea typeface="宋体" panose="02010600030101010101" pitchFamily="2" charset="-122"/>
              </a:rPr>
              <a:t> </a:t>
            </a:r>
          </a:p>
        </p:txBody>
      </p:sp>
      <p:sp>
        <p:nvSpPr>
          <p:cNvPr id="73733" name="Rectangle 15"/>
          <p:cNvSpPr>
            <a:spLocks noChangeArrowheads="1"/>
          </p:cNvSpPr>
          <p:nvPr/>
        </p:nvSpPr>
        <p:spPr bwMode="auto">
          <a:xfrm>
            <a:off x="1116013" y="77788"/>
            <a:ext cx="802798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750"/>
              </a:spcBef>
              <a:buFont typeface="Arial" panose="020B0604020202020204" pitchFamily="34" charset="0"/>
              <a:buChar char="•"/>
              <a:tabLst>
                <a:tab pos="20801013" algn="l"/>
              </a:tabLst>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tabLst>
                <a:tab pos="20801013" algn="l"/>
              </a:tabLst>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tabLst>
                <a:tab pos="20801013" algn="l"/>
              </a:tabLst>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tabLst>
                <a:tab pos="20801013" algn="l"/>
              </a:tabLst>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tabLst>
                <a:tab pos="20801013" algn="l"/>
              </a:tabLst>
              <a:defRPr sz="1300">
                <a:solidFill>
                  <a:schemeClr val="tx1"/>
                </a:solidFill>
                <a:latin typeface="等线"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2400">
                <a:latin typeface="楷体_GB2312" pitchFamily="49" charset="-122"/>
              </a:rPr>
              <a:t>9 </a:t>
            </a:r>
            <a:r>
              <a:rPr lang="en-US" altLang="zh-CN" sz="2400">
                <a:latin typeface="Tahoma" panose="020B0604030504040204" pitchFamily="34" charset="0"/>
              </a:rPr>
              <a:t>.</a:t>
            </a:r>
            <a:r>
              <a:rPr lang="zh-CN" altLang="en-US" sz="2400">
                <a:latin typeface="Tahoma" panose="020B0604030504040204" pitchFamily="34" charset="0"/>
              </a:rPr>
              <a:t> *图</a:t>
            </a:r>
            <a:r>
              <a:rPr lang="en-US" altLang="zh-CN" sz="2400">
                <a:latin typeface="Tahoma" panose="020B0604030504040204" pitchFamily="34" charset="0"/>
              </a:rPr>
              <a:t>3-33</a:t>
            </a:r>
            <a:r>
              <a:rPr lang="zh-CN" altLang="en-US" sz="2400">
                <a:latin typeface="Tahoma" panose="020B0604030504040204" pitchFamily="34" charset="0"/>
              </a:rPr>
              <a:t>（</a:t>
            </a:r>
            <a:r>
              <a:rPr lang="en-US" altLang="zh-CN" sz="2400">
                <a:latin typeface="Tahoma" panose="020B0604030504040204" pitchFamily="34" charset="0"/>
              </a:rPr>
              <a:t>a</a:t>
            </a:r>
            <a:r>
              <a:rPr lang="zh-CN" altLang="en-US" sz="2400">
                <a:latin typeface="Tahoma" panose="020B0604030504040204" pitchFamily="34" charset="0"/>
              </a:rPr>
              <a:t>）和（</a:t>
            </a:r>
            <a:r>
              <a:rPr lang="en-US" altLang="zh-CN" sz="2400">
                <a:latin typeface="Tahoma" panose="020B0604030504040204" pitchFamily="34" charset="0"/>
              </a:rPr>
              <a:t>b</a:t>
            </a:r>
            <a:r>
              <a:rPr lang="zh-CN" altLang="en-US" sz="2400">
                <a:latin typeface="Tahoma" panose="020B0604030504040204" pitchFamily="34" charset="0"/>
              </a:rPr>
              <a:t>）的左侧为指针走样的时钟，右侧为指针反走样的时钟。使用</a:t>
            </a:r>
            <a:r>
              <a:rPr lang="en-US" altLang="zh-CN" sz="2400">
                <a:latin typeface="Tahoma" panose="020B0604030504040204" pitchFamily="34" charset="0"/>
              </a:rPr>
              <a:t>GetCurrentTime()</a:t>
            </a:r>
            <a:r>
              <a:rPr lang="zh-CN" altLang="en-US" sz="2400">
                <a:latin typeface="Tahoma" panose="020B0604030504040204" pitchFamily="34" charset="0"/>
              </a:rPr>
              <a:t>函数读取系统时间，对时钟指针进行反走样处理，请绘制白色表盘、黑色指针的反走样时钟，如图</a:t>
            </a:r>
            <a:r>
              <a:rPr lang="en-US" altLang="zh-CN" sz="2400">
                <a:latin typeface="Tahoma" panose="020B0604030504040204" pitchFamily="34" charset="0"/>
              </a:rPr>
              <a:t>3-33</a:t>
            </a:r>
            <a:r>
              <a:rPr lang="zh-CN" altLang="en-US" sz="2400">
                <a:latin typeface="Tahoma" panose="020B0604030504040204" pitchFamily="34" charset="0"/>
              </a:rPr>
              <a:t>（</a:t>
            </a:r>
            <a:r>
              <a:rPr lang="en-US" altLang="zh-CN" sz="2400">
                <a:latin typeface="Tahoma" panose="020B0604030504040204" pitchFamily="34" charset="0"/>
              </a:rPr>
              <a:t>a</a:t>
            </a:r>
            <a:r>
              <a:rPr lang="zh-CN" altLang="en-US" sz="2400">
                <a:latin typeface="Tahoma" panose="020B0604030504040204" pitchFamily="34" charset="0"/>
              </a:rPr>
              <a:t>）所示。请绘制黑色表盘、白色指针的反走样时钟，效果如图</a:t>
            </a:r>
            <a:r>
              <a:rPr lang="en-US" altLang="zh-CN" sz="2400">
                <a:latin typeface="Tahoma" panose="020B0604030504040204" pitchFamily="34" charset="0"/>
              </a:rPr>
              <a:t>3-33</a:t>
            </a:r>
            <a:r>
              <a:rPr lang="zh-CN" altLang="en-US" sz="2400">
                <a:latin typeface="Tahoma" panose="020B0604030504040204" pitchFamily="34" charset="0"/>
              </a:rPr>
              <a:t>（</a:t>
            </a:r>
            <a:r>
              <a:rPr lang="en-US" altLang="zh-CN" sz="2400">
                <a:latin typeface="Tahoma" panose="020B0604030504040204" pitchFamily="34" charset="0"/>
              </a:rPr>
              <a:t>b</a:t>
            </a:r>
            <a:r>
              <a:rPr lang="zh-CN" altLang="en-US" sz="2400">
                <a:latin typeface="Tahoma" panose="020B0604030504040204" pitchFamily="34" charset="0"/>
              </a:rPr>
              <a:t>）所示。</a:t>
            </a:r>
          </a:p>
        </p:txBody>
      </p:sp>
      <p:sp>
        <p:nvSpPr>
          <p:cNvPr id="73734" name="Rectangle 16"/>
          <p:cNvSpPr>
            <a:spLocks noChangeArrowheads="1"/>
          </p:cNvSpPr>
          <p:nvPr/>
        </p:nvSpPr>
        <p:spPr bwMode="auto">
          <a:xfrm>
            <a:off x="2922588" y="6329363"/>
            <a:ext cx="440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a</a:t>
            </a:r>
            <a:r>
              <a:rPr lang="zh-CN" altLang="en-US" sz="2400">
                <a:latin typeface="Tahoma" panose="020B0604030504040204" pitchFamily="34" charset="0"/>
              </a:rPr>
              <a:t>）</a:t>
            </a:r>
            <a:r>
              <a:rPr lang="zh-CN" altLang="en-US" sz="2400">
                <a:latin typeface="Tahoma" panose="020B0604030504040204" pitchFamily="34" charset="0"/>
                <a:hlinkClick r:id="rId2" action="ppaction://hlinkfile"/>
              </a:rPr>
              <a:t>白色表盘黑色指针的时钟 </a:t>
            </a:r>
            <a:endParaRPr lang="zh-CN" altLang="en-US" sz="2400">
              <a:latin typeface="Tahoma" panose="020B0604030504040204" pitchFamily="34" charset="0"/>
            </a:endParaRPr>
          </a:p>
        </p:txBody>
      </p:sp>
      <p:pic>
        <p:nvPicPr>
          <p:cNvPr id="73735" name="Picture 18">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133600"/>
            <a:ext cx="5545137"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333375"/>
            <a:ext cx="6480175"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Rectangle 5"/>
          <p:cNvSpPr>
            <a:spLocks noChangeArrowheads="1"/>
          </p:cNvSpPr>
          <p:nvPr/>
        </p:nvSpPr>
        <p:spPr bwMode="auto">
          <a:xfrm>
            <a:off x="2700338" y="5300663"/>
            <a:ext cx="431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a:t>
            </a:r>
            <a:r>
              <a:rPr lang="en-US" altLang="zh-CN" sz="2400">
                <a:latin typeface="Tahoma" panose="020B0604030504040204" pitchFamily="34" charset="0"/>
              </a:rPr>
              <a:t>b</a:t>
            </a:r>
            <a:r>
              <a:rPr lang="zh-CN" altLang="en-US" sz="2400">
                <a:latin typeface="Tahoma" panose="020B0604030504040204" pitchFamily="34" charset="0"/>
              </a:rPr>
              <a:t>）</a:t>
            </a:r>
            <a:r>
              <a:rPr lang="zh-CN" altLang="en-US" sz="2400">
                <a:latin typeface="Tahoma" panose="020B0604030504040204" pitchFamily="34" charset="0"/>
                <a:hlinkClick r:id="rId3" action="ppaction://hlinkfile"/>
              </a:rPr>
              <a:t>黑色表盘白色指针的时钟</a:t>
            </a:r>
            <a:endParaRPr lang="zh-CN" altLang="en-US" sz="2400">
              <a:latin typeface="Tahoma" panose="020B0604030504040204" pitchFamily="34" charset="0"/>
            </a:endParaRPr>
          </a:p>
        </p:txBody>
      </p:sp>
      <p:sp>
        <p:nvSpPr>
          <p:cNvPr id="74756" name="Rectangle 6"/>
          <p:cNvSpPr>
            <a:spLocks noChangeArrowheads="1"/>
          </p:cNvSpPr>
          <p:nvPr/>
        </p:nvSpPr>
        <p:spPr bwMode="auto">
          <a:xfrm>
            <a:off x="1722438" y="6092825"/>
            <a:ext cx="6167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2400">
                <a:latin typeface="Tahoma" panose="020B0604030504040204" pitchFamily="34" charset="0"/>
              </a:rPr>
              <a:t>图</a:t>
            </a:r>
            <a:r>
              <a:rPr lang="en-US" altLang="zh-CN" sz="2400">
                <a:latin typeface="Tahoma" panose="020B0604030504040204" pitchFamily="34" charset="0"/>
              </a:rPr>
              <a:t>3-33  </a:t>
            </a:r>
            <a:r>
              <a:rPr lang="zh-CN" altLang="en-US" sz="2400">
                <a:latin typeface="Tahoma" panose="020B0604030504040204" pitchFamily="34" charset="0"/>
              </a:rPr>
              <a:t>基于背景色的指针走样与反走样时钟</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blipFill>
          <a:blip xmlns:r="http://schemas.openxmlformats.org/officeDocument/2006/relationships" r:embed="rId1"/>
          <a:stretch>
            <a:fillRect l="-716" r="-1432" b="-699"/>
          </a:stretch>
        </a:blipFill>
        <a:ln>
          <a:noFill/>
        </a:ln>
        <a:extLst>
          <a:ext uri="{91240B29-F687-4F45-9708-019B960494DF}">
            <a14:hiddenLine xmlns:a14="http://schemas.microsoft.com/office/drawing/2010/main" w="9525">
              <a:solidFill>
                <a:srgbClr val="000000"/>
              </a:solidFill>
              <a:miter lim="800000"/>
              <a:headEnd/>
              <a:tailEnd/>
            </a14:hiddenLine>
          </a:ext>
        </a:extLst>
      </a:spPr>
      <a:bodyPr/>
      <a:lstStyle>
        <a:defPPr>
          <a:defRPr>
            <a:no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381</TotalTime>
  <Pages>0</Pages>
  <Words>3488</Words>
  <Characters>0</Characters>
  <Application>Microsoft Office PowerPoint</Application>
  <DocSecurity>0</DocSecurity>
  <PresentationFormat>全屏显示(4:3)</PresentationFormat>
  <Lines>0</Lines>
  <Paragraphs>489</Paragraphs>
  <Slides>64</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64</vt:i4>
      </vt:variant>
    </vt:vector>
  </HeadingPairs>
  <TitlesOfParts>
    <vt:vector size="82" baseType="lpstr">
      <vt:lpstr>等线</vt:lpstr>
      <vt:lpstr>等线 Light</vt:lpstr>
      <vt:lpstr>方正粗黑宋简体</vt:lpstr>
      <vt:lpstr>华文琥珀</vt:lpstr>
      <vt:lpstr>楷体_GB2312</vt:lpstr>
      <vt:lpstr>隶书</vt:lpstr>
      <vt:lpstr>宋体</vt:lpstr>
      <vt:lpstr>幼圆</vt:lpstr>
      <vt:lpstr>Arial</vt:lpstr>
      <vt:lpstr>Cambria Math</vt:lpstr>
      <vt:lpstr>Tahoma</vt:lpstr>
      <vt:lpstr>Times New Roman</vt:lpstr>
      <vt:lpstr>Wingdings</vt:lpstr>
      <vt:lpstr>Office 主题​​</vt:lpstr>
      <vt:lpstr>Visio.Drawing.11</vt:lpstr>
      <vt:lpstr>Microsoft 公式 3.0</vt:lpstr>
      <vt:lpstr>公式</vt:lpstr>
      <vt:lpstr>Equation.DSMT4</vt:lpstr>
      <vt:lpstr>PowerPoint 演示文稿</vt:lpstr>
      <vt:lpstr>PowerPoint 演示文稿</vt:lpstr>
      <vt:lpstr>PowerPoint 演示文稿</vt:lpstr>
      <vt:lpstr>PowerPoint 演示文稿</vt:lpstr>
      <vt:lpstr>PowerPoint 演示文稿</vt:lpstr>
      <vt:lpstr>3.1 直线的扫描转换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3.2.2 构造中点误差项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3.3.2 构造上半部分Ⅰ的中点误差项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 3</vt:lpstr>
      <vt:lpstr>PowerPoint 演示文稿</vt:lpstr>
      <vt:lpstr>PowerPoint 演示文稿</vt:lpstr>
      <vt:lpstr>PowerPoint 演示文稿</vt:lpstr>
      <vt:lpstr>PowerPoint 演示文稿</vt:lpstr>
      <vt:lpstr>PowerPoint 演示文稿</vt:lpstr>
      <vt:lpstr>PowerPoint 演示文稿</vt:lpstr>
    </vt:vector>
  </TitlesOfParts>
  <Manager/>
  <Company>LZQ</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计算机图形学基础教程</dc:title>
  <dc:subject>太原工业学院</dc:subject>
  <dc:creator>孔令德</dc:creator>
  <cp:keywords/>
  <dc:description/>
  <cp:lastModifiedBy>DELL</cp:lastModifiedBy>
  <cp:revision>542</cp:revision>
  <dcterms:created xsi:type="dcterms:W3CDTF">2001-04-17T13:25:43Z</dcterms:created>
  <dcterms:modified xsi:type="dcterms:W3CDTF">2025-09-20T08:19:19Z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64266EBE6E1B47C4BC0C57A3B4E1FD2A_12</vt:lpwstr>
  </property>
</Properties>
</file>