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50" r:id="rId1"/>
    <p:sldMasterId id="2147483762" r:id="rId2"/>
  </p:sldMasterIdLst>
  <p:notesMasterIdLst>
    <p:notesMasterId r:id="rId86"/>
  </p:notesMasterIdLst>
  <p:sldIdLst>
    <p:sldId id="257" r:id="rId3"/>
    <p:sldId id="259" r:id="rId4"/>
    <p:sldId id="260" r:id="rId5"/>
    <p:sldId id="590" r:id="rId6"/>
    <p:sldId id="292" r:id="rId7"/>
    <p:sldId id="533" r:id="rId8"/>
    <p:sldId id="374" r:id="rId9"/>
    <p:sldId id="471" r:id="rId10"/>
    <p:sldId id="474" r:id="rId11"/>
    <p:sldId id="475" r:id="rId12"/>
    <p:sldId id="529" r:id="rId13"/>
    <p:sldId id="534" r:id="rId14"/>
    <p:sldId id="537" r:id="rId15"/>
    <p:sldId id="535" r:id="rId16"/>
    <p:sldId id="538" r:id="rId17"/>
    <p:sldId id="539" r:id="rId18"/>
    <p:sldId id="478" r:id="rId19"/>
    <p:sldId id="480" r:id="rId20"/>
    <p:sldId id="540" r:id="rId21"/>
    <p:sldId id="483" r:id="rId22"/>
    <p:sldId id="484" r:id="rId23"/>
    <p:sldId id="485" r:id="rId24"/>
    <p:sldId id="487" r:id="rId25"/>
    <p:sldId id="565" r:id="rId26"/>
    <p:sldId id="566" r:id="rId27"/>
    <p:sldId id="589" r:id="rId28"/>
    <p:sldId id="541" r:id="rId29"/>
    <p:sldId id="542" r:id="rId30"/>
    <p:sldId id="543" r:id="rId31"/>
    <p:sldId id="550" r:id="rId32"/>
    <p:sldId id="551" r:id="rId33"/>
    <p:sldId id="552" r:id="rId34"/>
    <p:sldId id="546" r:id="rId35"/>
    <p:sldId id="553" r:id="rId36"/>
    <p:sldId id="547" r:id="rId37"/>
    <p:sldId id="554" r:id="rId38"/>
    <p:sldId id="580" r:id="rId39"/>
    <p:sldId id="555" r:id="rId40"/>
    <p:sldId id="595" r:id="rId41"/>
    <p:sldId id="556" r:id="rId42"/>
    <p:sldId id="557" r:id="rId43"/>
    <p:sldId id="558" r:id="rId44"/>
    <p:sldId id="559" r:id="rId45"/>
    <p:sldId id="594" r:id="rId46"/>
    <p:sldId id="592" r:id="rId47"/>
    <p:sldId id="560" r:id="rId48"/>
    <p:sldId id="561" r:id="rId49"/>
    <p:sldId id="562" r:id="rId50"/>
    <p:sldId id="563" r:id="rId51"/>
    <p:sldId id="586" r:id="rId52"/>
    <p:sldId id="510" r:id="rId53"/>
    <p:sldId id="569" r:id="rId54"/>
    <p:sldId id="568" r:id="rId55"/>
    <p:sldId id="570" r:id="rId56"/>
    <p:sldId id="567" r:id="rId57"/>
    <p:sldId id="571" r:id="rId58"/>
    <p:sldId id="597" r:id="rId59"/>
    <p:sldId id="574" r:id="rId60"/>
    <p:sldId id="573" r:id="rId61"/>
    <p:sldId id="575" r:id="rId62"/>
    <p:sldId id="576" r:id="rId63"/>
    <p:sldId id="572" r:id="rId64"/>
    <p:sldId id="591" r:id="rId65"/>
    <p:sldId id="577" r:id="rId66"/>
    <p:sldId id="578" r:id="rId67"/>
    <p:sldId id="581" r:id="rId68"/>
    <p:sldId id="596" r:id="rId69"/>
    <p:sldId id="598" r:id="rId70"/>
    <p:sldId id="599" r:id="rId71"/>
    <p:sldId id="582" r:id="rId72"/>
    <p:sldId id="583" r:id="rId73"/>
    <p:sldId id="600" r:id="rId74"/>
    <p:sldId id="587" r:id="rId75"/>
    <p:sldId id="601" r:id="rId76"/>
    <p:sldId id="512" r:id="rId77"/>
    <p:sldId id="588" r:id="rId78"/>
    <p:sldId id="513" r:id="rId79"/>
    <p:sldId id="514" r:id="rId80"/>
    <p:sldId id="516" r:id="rId81"/>
    <p:sldId id="584" r:id="rId82"/>
    <p:sldId id="585" r:id="rId83"/>
    <p:sldId id="519" r:id="rId84"/>
    <p:sldId id="520" r:id="rId8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楷体_GB2312" pitchFamily="49" charset="-122"/>
        <a:cs typeface="+mn-cs"/>
      </a:defRPr>
    </a:lvl5pPr>
    <a:lvl6pPr marL="22860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6pPr>
    <a:lvl7pPr marL="27432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7pPr>
    <a:lvl8pPr marL="32004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8pPr>
    <a:lvl9pPr marL="3657600" algn="l" defTabSz="914400" rtl="0" eaLnBrk="1" latinLnBrk="0" hangingPunct="1">
      <a:defRPr sz="2400" kern="1200">
        <a:solidFill>
          <a:schemeClr val="tx1"/>
        </a:solidFill>
        <a:latin typeface="Tahoma" panose="020B060403050404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10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FF"/>
    <a:srgbClr val="993300"/>
    <a:srgbClr val="004E00"/>
    <a:srgbClr val="424000"/>
    <a:srgbClr val="99CC00"/>
    <a:srgbClr val="00FF99"/>
    <a:srgbClr val="993366"/>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20" d="100"/>
          <a:sy n="120" d="100"/>
        </p:scale>
        <p:origin x="1344" y="0"/>
      </p:cViewPr>
      <p:guideLst>
        <p:guide orient="horz" pos="2160"/>
        <p:guide pos="100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e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7.wmf"/><Relationship Id="rId7" Type="http://schemas.openxmlformats.org/officeDocument/2006/relationships/image" Target="../media/image61.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emf"/><Relationship Id="rId1" Type="http://schemas.openxmlformats.org/officeDocument/2006/relationships/image" Target="../media/image76.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8.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8.emf"/><Relationship Id="rId5" Type="http://schemas.openxmlformats.org/officeDocument/2006/relationships/image" Target="../media/image97.emf"/><Relationship Id="rId4" Type="http://schemas.openxmlformats.org/officeDocument/2006/relationships/image" Target="../media/image96.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emf"/><Relationship Id="rId5" Type="http://schemas.openxmlformats.org/officeDocument/2006/relationships/image" Target="../media/image108.wmf"/><Relationship Id="rId4" Type="http://schemas.openxmlformats.org/officeDocument/2006/relationships/image" Target="../media/image107.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109.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11.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25.emf"/><Relationship Id="rId2" Type="http://schemas.openxmlformats.org/officeDocument/2006/relationships/image" Target="../media/image124.emf"/><Relationship Id="rId1" Type="http://schemas.openxmlformats.org/officeDocument/2006/relationships/image" Target="../media/image123.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27.wmf"/><Relationship Id="rId1" Type="http://schemas.openxmlformats.org/officeDocument/2006/relationships/image" Target="../media/image126.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29.emf"/><Relationship Id="rId1" Type="http://schemas.openxmlformats.org/officeDocument/2006/relationships/image" Target="../media/image128.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31.emf"/><Relationship Id="rId1" Type="http://schemas.openxmlformats.org/officeDocument/2006/relationships/image" Target="../media/image130.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142.wmf"/><Relationship Id="rId3" Type="http://schemas.openxmlformats.org/officeDocument/2006/relationships/image" Target="../media/image137.wmf"/><Relationship Id="rId7" Type="http://schemas.openxmlformats.org/officeDocument/2006/relationships/image" Target="../media/image141.wmf"/><Relationship Id="rId2" Type="http://schemas.openxmlformats.org/officeDocument/2006/relationships/image" Target="../media/image136.wmf"/><Relationship Id="rId1" Type="http://schemas.openxmlformats.org/officeDocument/2006/relationships/image" Target="../media/image135.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 Id="rId9" Type="http://schemas.openxmlformats.org/officeDocument/2006/relationships/image" Target="../media/image143.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44.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45.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46.e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 Id="rId4" Type="http://schemas.openxmlformats.org/officeDocument/2006/relationships/image" Target="../media/image150.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 Id="rId4" Type="http://schemas.openxmlformats.org/officeDocument/2006/relationships/image" Target="../media/image154.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58.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62.emf"/><Relationship Id="rId2" Type="http://schemas.openxmlformats.org/officeDocument/2006/relationships/image" Target="../media/image161.emf"/><Relationship Id="rId1" Type="http://schemas.openxmlformats.org/officeDocument/2006/relationships/image" Target="../media/image16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66.e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70.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71.e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173.wmf"/><Relationship Id="rId1" Type="http://schemas.openxmlformats.org/officeDocument/2006/relationships/image" Target="../media/image172.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74.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75.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76.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177.e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182.emf"/><Relationship Id="rId2" Type="http://schemas.openxmlformats.org/officeDocument/2006/relationships/image" Target="../media/image181.emf"/><Relationship Id="rId1" Type="http://schemas.openxmlformats.org/officeDocument/2006/relationships/image" Target="../media/image180.e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185.wmf"/><Relationship Id="rId2" Type="http://schemas.openxmlformats.org/officeDocument/2006/relationships/image" Target="../media/image184.emf"/><Relationship Id="rId1" Type="http://schemas.openxmlformats.org/officeDocument/2006/relationships/image" Target="../media/image183.wmf"/><Relationship Id="rId5" Type="http://schemas.openxmlformats.org/officeDocument/2006/relationships/image" Target="../media/image187.wmf"/><Relationship Id="rId4" Type="http://schemas.openxmlformats.org/officeDocument/2006/relationships/image" Target="../media/image186.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18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buFont typeface="Arial" charset="0"/>
              <a:buNone/>
              <a:defRPr sz="1200">
                <a:ea typeface="宋体" pitchFamily="2" charset="-122"/>
              </a:defRPr>
            </a:lvl1pPr>
          </a:lstStyle>
          <a:p>
            <a:pPr>
              <a:defRPr/>
            </a:pPr>
            <a:endParaRPr lang="zh-CN" altLang="en-US"/>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buFont typeface="Arial" charset="0"/>
              <a:buNone/>
              <a:defRPr sz="1200">
                <a:ea typeface="宋体" pitchFamily="2" charset="-122"/>
              </a:defRPr>
            </a:lvl1pPr>
          </a:lstStyle>
          <a:p>
            <a:pPr>
              <a:defRPr/>
            </a:pPr>
            <a:endParaRPr lang="zh-CN" altLang="en-US"/>
          </a:p>
        </p:txBody>
      </p:sp>
      <p:sp>
        <p:nvSpPr>
          <p:cNvPr id="14340" name="Rectangle 4"/>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1" hangingPunct="1">
              <a:buFont typeface="Arial" charset="0"/>
              <a:buNone/>
              <a:defRPr sz="1200">
                <a:ea typeface="宋体" pitchFamily="2" charset="-122"/>
              </a:defRPr>
            </a:lvl1pPr>
          </a:lstStyle>
          <a:p>
            <a:pPr>
              <a:defRPr/>
            </a:pPr>
            <a:endParaRPr lang="zh-CN" alt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smtClean="0">
                <a:ea typeface="宋体" panose="02010600030101010101" pitchFamily="2" charset="-122"/>
              </a:defRPr>
            </a:lvl1pPr>
          </a:lstStyle>
          <a:p>
            <a:pPr>
              <a:defRPr/>
            </a:pPr>
            <a:fld id="{2CDCB5A8-A58A-477F-9826-04D0EC1552D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B455EB5-D340-4BA8-A4BE-E132EB0A69A1}" type="datetime1">
              <a:rPr lang="zh-CN" altLang="en-US"/>
              <a:pPr>
                <a:defRPr/>
              </a:pPr>
              <a:t>2025/11/22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9B3BFB0-5B29-4B25-B1FF-B2E24954BAC3}" type="slidenum">
              <a:rPr lang="zh-CN" altLang="en-US"/>
              <a:pPr>
                <a:defRPr/>
              </a:pPr>
              <a:t>‹#›</a:t>
            </a:fld>
            <a:endParaRPr lang="en-US" altLang="zh-CN"/>
          </a:p>
        </p:txBody>
      </p:sp>
    </p:spTree>
    <p:extLst>
      <p:ext uri="{BB962C8B-B14F-4D97-AF65-F5344CB8AC3E}">
        <p14:creationId xmlns:p14="http://schemas.microsoft.com/office/powerpoint/2010/main" val="600544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8FD99B0C-9841-4A45-AB87-08DB1204B3E6}" type="datetime1">
              <a:rPr lang="zh-CN" altLang="en-US"/>
              <a:pPr>
                <a:defRPr/>
              </a:pPr>
              <a:t>2025/11/22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49D014D-97DB-4CB4-8439-24F04BE0C5E2}" type="slidenum">
              <a:rPr lang="zh-CN" altLang="en-US"/>
              <a:pPr>
                <a:defRPr/>
              </a:pPr>
              <a:t>‹#›</a:t>
            </a:fld>
            <a:endParaRPr lang="en-US" altLang="zh-CN"/>
          </a:p>
        </p:txBody>
      </p:sp>
    </p:spTree>
    <p:extLst>
      <p:ext uri="{BB962C8B-B14F-4D97-AF65-F5344CB8AC3E}">
        <p14:creationId xmlns:p14="http://schemas.microsoft.com/office/powerpoint/2010/main" val="1806553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a:defRPr/>
            </a:pPr>
            <a:fld id="{BECE24F1-BBD1-4635-99E8-9C8BC12A443F}" type="datetime1">
              <a:rPr lang="zh-CN" altLang="en-US"/>
              <a:pPr>
                <a:defRPr/>
              </a:pPr>
              <a:t>2025/11/22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EF47BA8-FDFA-460E-BEDE-A98FD6E32ABD}" type="slidenum">
              <a:rPr lang="zh-CN" altLang="en-US"/>
              <a:pPr>
                <a:defRPr/>
              </a:pPr>
              <a:t>‹#›</a:t>
            </a:fld>
            <a:endParaRPr lang="en-US" altLang="zh-CN"/>
          </a:p>
        </p:txBody>
      </p:sp>
    </p:spTree>
    <p:extLst>
      <p:ext uri="{BB962C8B-B14F-4D97-AF65-F5344CB8AC3E}">
        <p14:creationId xmlns:p14="http://schemas.microsoft.com/office/powerpoint/2010/main" val="4074126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DCB60FBE-5C5A-4CB4-8892-058455C94C0F}" type="datetime1">
              <a:rPr lang="zh-CN" altLang="en-US"/>
              <a:pPr>
                <a:defRPr/>
              </a:pPr>
              <a:t>2025/11/22</a:t>
            </a:fld>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A3FE7902-5BC4-40E0-9D81-21E32DB6A552}" type="slidenum">
              <a:rPr lang="zh-CN" altLang="en-US"/>
              <a:pPr>
                <a:defRPr/>
              </a:pPr>
              <a:t>‹#›</a:t>
            </a:fld>
            <a:endParaRPr lang="en-US" altLang="zh-CN"/>
          </a:p>
        </p:txBody>
      </p:sp>
    </p:spTree>
    <p:extLst>
      <p:ext uri="{BB962C8B-B14F-4D97-AF65-F5344CB8AC3E}">
        <p14:creationId xmlns:p14="http://schemas.microsoft.com/office/powerpoint/2010/main" val="3510342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529643FB-A756-4781-AE0E-6F035ACBF0E1}" type="datetime1">
              <a:rPr lang="zh-CN" altLang="en-US"/>
              <a:pPr>
                <a:defRPr/>
              </a:pPr>
              <a:t>2025/11/22</a:t>
            </a:fld>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F0C2E5D6-F3BC-4D76-9421-837DE46F1F97}" type="slidenum">
              <a:rPr lang="zh-CN" altLang="en-US"/>
              <a:pPr>
                <a:defRPr/>
              </a:pPr>
              <a:t>‹#›</a:t>
            </a:fld>
            <a:endParaRPr lang="en-US" altLang="zh-CN"/>
          </a:p>
        </p:txBody>
      </p:sp>
    </p:spTree>
    <p:extLst>
      <p:ext uri="{BB962C8B-B14F-4D97-AF65-F5344CB8AC3E}">
        <p14:creationId xmlns:p14="http://schemas.microsoft.com/office/powerpoint/2010/main" val="325963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F690926B-54C9-4E00-91E8-B6F90106905B}" type="datetime1">
              <a:rPr lang="zh-CN" altLang="en-US"/>
              <a:pPr>
                <a:defRPr/>
              </a:pPr>
              <a:t>2025/11/22</a:t>
            </a:fld>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F0FE0F44-59A4-4397-AE58-F1F82356ABA0}" type="slidenum">
              <a:rPr lang="zh-CN" altLang="en-US"/>
              <a:pPr>
                <a:defRPr/>
              </a:pPr>
              <a:t>‹#›</a:t>
            </a:fld>
            <a:endParaRPr lang="en-US" altLang="zh-CN"/>
          </a:p>
        </p:txBody>
      </p:sp>
    </p:spTree>
    <p:extLst>
      <p:ext uri="{BB962C8B-B14F-4D97-AF65-F5344CB8AC3E}">
        <p14:creationId xmlns:p14="http://schemas.microsoft.com/office/powerpoint/2010/main" val="274999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5BAD1BBE-245D-4131-A83F-CA4B84ECEFCE}" type="datetime1">
              <a:rPr lang="zh-CN" altLang="en-US"/>
              <a:pPr>
                <a:defRPr/>
              </a:pPr>
              <a:t>2025/11/22</a:t>
            </a:fld>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E24EC6AF-D408-43E8-8795-D7F6FCFD67DE}" type="slidenum">
              <a:rPr lang="zh-CN" altLang="en-US"/>
              <a:pPr>
                <a:defRPr/>
              </a:pPr>
              <a:t>‹#›</a:t>
            </a:fld>
            <a:endParaRPr lang="en-US" altLang="zh-CN"/>
          </a:p>
        </p:txBody>
      </p:sp>
    </p:spTree>
    <p:extLst>
      <p:ext uri="{BB962C8B-B14F-4D97-AF65-F5344CB8AC3E}">
        <p14:creationId xmlns:p14="http://schemas.microsoft.com/office/powerpoint/2010/main" val="132746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fld id="{0DEF8535-79F1-45C8-91D3-175FCD52E078}" type="datetime1">
              <a:rPr lang="zh-CN" altLang="en-US"/>
              <a:pPr>
                <a:defRPr/>
              </a:pPr>
              <a:t>2025/11/22</a:t>
            </a:fld>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86862C0C-D815-4D95-8772-F7F98EDA30AE}" type="slidenum">
              <a:rPr lang="zh-CN" altLang="en-US"/>
              <a:pPr>
                <a:defRPr/>
              </a:pPr>
              <a:t>‹#›</a:t>
            </a:fld>
            <a:endParaRPr lang="en-US" altLang="zh-CN"/>
          </a:p>
        </p:txBody>
      </p:sp>
    </p:spTree>
    <p:extLst>
      <p:ext uri="{BB962C8B-B14F-4D97-AF65-F5344CB8AC3E}">
        <p14:creationId xmlns:p14="http://schemas.microsoft.com/office/powerpoint/2010/main" val="2405962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4"/>
          <p:cNvSpPr>
            <a:spLocks noGrp="1"/>
          </p:cNvSpPr>
          <p:nvPr>
            <p:ph type="dt" sz="half" idx="10"/>
          </p:nvPr>
        </p:nvSpPr>
        <p:spPr/>
        <p:txBody>
          <a:bodyPr/>
          <a:lstStyle>
            <a:lvl1pPr>
              <a:defRPr/>
            </a:lvl1pPr>
          </a:lstStyle>
          <a:p>
            <a:pPr>
              <a:defRPr/>
            </a:pPr>
            <a:fld id="{7B52EE69-192C-487A-B231-7DB517CF588B}" type="datetime1">
              <a:rPr lang="zh-CN" altLang="en-US"/>
              <a:pPr>
                <a:defRPr/>
              </a:pPr>
              <a:t>2025/11/22</a:t>
            </a:fld>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0F9BB9F2-E9BE-4B3D-8F4B-18ABCDD7289A}" type="slidenum">
              <a:rPr lang="zh-CN" altLang="en-US"/>
              <a:pPr>
                <a:defRPr/>
              </a:pPr>
              <a:t>‹#›</a:t>
            </a:fld>
            <a:endParaRPr lang="en-US" altLang="zh-CN"/>
          </a:p>
        </p:txBody>
      </p:sp>
    </p:spTree>
    <p:extLst>
      <p:ext uri="{BB962C8B-B14F-4D97-AF65-F5344CB8AC3E}">
        <p14:creationId xmlns:p14="http://schemas.microsoft.com/office/powerpoint/2010/main" val="2562458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CD1BFF0-2B15-441C-8481-A255F0E67943}" type="datetime1">
              <a:rPr lang="zh-CN" altLang="en-US"/>
              <a:pPr>
                <a:defRPr/>
              </a:pPr>
              <a:t>2025/11/22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64F488C-D93F-4F5A-AB87-871E283E9D6B}" type="slidenum">
              <a:rPr lang="zh-CN" altLang="en-US"/>
              <a:pPr>
                <a:defRPr/>
              </a:pPr>
              <a:t>‹#›</a:t>
            </a:fld>
            <a:endParaRPr lang="en-US" altLang="zh-CN"/>
          </a:p>
        </p:txBody>
      </p:sp>
    </p:spTree>
    <p:extLst>
      <p:ext uri="{BB962C8B-B14F-4D97-AF65-F5344CB8AC3E}">
        <p14:creationId xmlns:p14="http://schemas.microsoft.com/office/powerpoint/2010/main" val="221515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58DCD06-5094-491E-8114-29E2EF50E82F}" type="datetime1">
              <a:rPr lang="zh-CN" altLang="en-US"/>
              <a:pPr>
                <a:defRPr/>
              </a:pPr>
              <a:t>2025/11/22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CC8BCF4-7034-4E29-BCAC-2F1CADD09AEC}" type="slidenum">
              <a:rPr lang="zh-CN" altLang="en-US"/>
              <a:pPr>
                <a:defRPr/>
              </a:pPr>
              <a:t>‹#›</a:t>
            </a:fld>
            <a:endParaRPr lang="en-US" altLang="zh-CN"/>
          </a:p>
        </p:txBody>
      </p:sp>
    </p:spTree>
    <p:extLst>
      <p:ext uri="{BB962C8B-B14F-4D97-AF65-F5344CB8AC3E}">
        <p14:creationId xmlns:p14="http://schemas.microsoft.com/office/powerpoint/2010/main" val="2642314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8D4C35D7-7ADB-442D-9B45-21340C33DFDA}" type="datetimeFigureOut">
              <a:rPr lang="zh-CN" altLang="en-US"/>
              <a:pPr>
                <a:defRPr/>
              </a:pPr>
              <a:t>2025/11/22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09278D4-051C-4401-A57F-696E85E70729}" type="slidenum">
              <a:rPr lang="zh-CN" altLang="en-US"/>
              <a:pPr>
                <a:defRPr/>
              </a:pPr>
              <a:t>‹#›</a:t>
            </a:fld>
            <a:endParaRPr lang="zh-CN" altLang="en-US"/>
          </a:p>
        </p:txBody>
      </p:sp>
    </p:spTree>
    <p:extLst>
      <p:ext uri="{BB962C8B-B14F-4D97-AF65-F5344CB8AC3E}">
        <p14:creationId xmlns:p14="http://schemas.microsoft.com/office/powerpoint/2010/main" val="3366942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849F48AA-B0A0-41F7-9C53-3DAA0AE46388}" type="datetimeFigureOut">
              <a:rPr lang="zh-CN" altLang="en-US"/>
              <a:pPr>
                <a:defRPr/>
              </a:pPr>
              <a:t>2025/11/22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0BC9DE3-C353-46CC-81EA-F3E0DF141419}" type="slidenum">
              <a:rPr lang="zh-CN" altLang="en-US"/>
              <a:pPr>
                <a:defRPr/>
              </a:pPr>
              <a:t>‹#›</a:t>
            </a:fld>
            <a:endParaRPr lang="zh-CN" altLang="en-US"/>
          </a:p>
        </p:txBody>
      </p:sp>
    </p:spTree>
    <p:extLst>
      <p:ext uri="{BB962C8B-B14F-4D97-AF65-F5344CB8AC3E}">
        <p14:creationId xmlns:p14="http://schemas.microsoft.com/office/powerpoint/2010/main" val="25819805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lvl1pPr>
              <a:defRPr/>
            </a:lvl1pPr>
          </a:lstStyle>
          <a:p>
            <a:pPr>
              <a:defRPr/>
            </a:pPr>
            <a:fld id="{E771E9CC-F40C-4A89-81E6-76CB58FA8A67}" type="datetimeFigureOut">
              <a:rPr lang="zh-CN" altLang="en-US"/>
              <a:pPr>
                <a:defRPr/>
              </a:pPr>
              <a:t>2025/11/22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6F58F04-98A0-4A18-9D9A-73C68E93A626}" type="slidenum">
              <a:rPr lang="zh-CN" altLang="en-US"/>
              <a:pPr>
                <a:defRPr/>
              </a:pPr>
              <a:t>‹#›</a:t>
            </a:fld>
            <a:endParaRPr lang="zh-CN" altLang="en-US"/>
          </a:p>
        </p:txBody>
      </p:sp>
    </p:spTree>
    <p:extLst>
      <p:ext uri="{BB962C8B-B14F-4D97-AF65-F5344CB8AC3E}">
        <p14:creationId xmlns:p14="http://schemas.microsoft.com/office/powerpoint/2010/main" val="370607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2D131AA-37BD-47F8-8B9E-810DEF4FF5C2}" type="datetimeFigureOut">
              <a:rPr lang="zh-CN" altLang="en-US"/>
              <a:pPr>
                <a:defRPr/>
              </a:pPr>
              <a:t>2025/11/22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0FE04C6-A6F3-446D-BEA3-6C9668C639CD}" type="slidenum">
              <a:rPr lang="zh-CN" altLang="en-US"/>
              <a:pPr>
                <a:defRPr/>
              </a:pPr>
              <a:t>‹#›</a:t>
            </a:fld>
            <a:endParaRPr lang="zh-CN" altLang="en-US"/>
          </a:p>
        </p:txBody>
      </p:sp>
    </p:spTree>
    <p:extLst>
      <p:ext uri="{BB962C8B-B14F-4D97-AF65-F5344CB8AC3E}">
        <p14:creationId xmlns:p14="http://schemas.microsoft.com/office/powerpoint/2010/main" val="4302274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3F93A854-D90F-47E7-AD54-475FF973B3B2}" type="datetimeFigureOut">
              <a:rPr lang="zh-CN" altLang="en-US"/>
              <a:pPr>
                <a:defRPr/>
              </a:pPr>
              <a:t>2025/11/22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98462CC-49A1-4AAD-8940-5128872D7435}" type="slidenum">
              <a:rPr lang="zh-CN" altLang="en-US"/>
              <a:pPr>
                <a:defRPr/>
              </a:pPr>
              <a:t>‹#›</a:t>
            </a:fld>
            <a:endParaRPr lang="zh-CN" altLang="en-US"/>
          </a:p>
        </p:txBody>
      </p:sp>
    </p:spTree>
    <p:extLst>
      <p:ext uri="{BB962C8B-B14F-4D97-AF65-F5344CB8AC3E}">
        <p14:creationId xmlns:p14="http://schemas.microsoft.com/office/powerpoint/2010/main" val="20037603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9F42A76C-7C72-4391-A883-5D0A8B8174D4}" type="datetimeFigureOut">
              <a:rPr lang="zh-CN" altLang="en-US"/>
              <a:pPr>
                <a:defRPr/>
              </a:pPr>
              <a:t>2025/11/22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E130267-DCB2-45E6-BB19-F081CA67B4C4}" type="slidenum">
              <a:rPr lang="zh-CN" altLang="en-US"/>
              <a:pPr>
                <a:defRPr/>
              </a:pPr>
              <a:t>‹#›</a:t>
            </a:fld>
            <a:endParaRPr lang="zh-CN" altLang="en-US"/>
          </a:p>
        </p:txBody>
      </p:sp>
    </p:spTree>
    <p:extLst>
      <p:ext uri="{BB962C8B-B14F-4D97-AF65-F5344CB8AC3E}">
        <p14:creationId xmlns:p14="http://schemas.microsoft.com/office/powerpoint/2010/main" val="2124437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BF9C477-DD77-49E3-8F44-2D61BF448C7F}" type="datetimeFigureOut">
              <a:rPr lang="zh-CN" altLang="en-US"/>
              <a:pPr>
                <a:defRPr/>
              </a:pPr>
              <a:t>2025/11/22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108F43D2-077E-48F6-863C-79D527564E38}" type="slidenum">
              <a:rPr lang="zh-CN" altLang="en-US"/>
              <a:pPr>
                <a:defRPr/>
              </a:pPr>
              <a:t>‹#›</a:t>
            </a:fld>
            <a:endParaRPr lang="zh-CN" altLang="en-US"/>
          </a:p>
        </p:txBody>
      </p:sp>
    </p:spTree>
    <p:extLst>
      <p:ext uri="{BB962C8B-B14F-4D97-AF65-F5344CB8AC3E}">
        <p14:creationId xmlns:p14="http://schemas.microsoft.com/office/powerpoint/2010/main" val="4081372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3"/>
          <p:cNvSpPr>
            <a:spLocks noGrp="1"/>
          </p:cNvSpPr>
          <p:nvPr>
            <p:ph type="dt" sz="half" idx="10"/>
          </p:nvPr>
        </p:nvSpPr>
        <p:spPr/>
        <p:txBody>
          <a:bodyPr/>
          <a:lstStyle>
            <a:lvl1pPr>
              <a:defRPr/>
            </a:lvl1pPr>
          </a:lstStyle>
          <a:p>
            <a:pPr>
              <a:defRPr/>
            </a:pPr>
            <a:fld id="{A66DB253-432F-4480-B162-8C51379C0507}" type="datetimeFigureOut">
              <a:rPr lang="zh-CN" altLang="en-US"/>
              <a:pPr>
                <a:defRPr/>
              </a:pPr>
              <a:t>2025/11/22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C813B74-C9B0-4C26-9675-BFC45D480BE5}" type="slidenum">
              <a:rPr lang="zh-CN" altLang="en-US"/>
              <a:pPr>
                <a:defRPr/>
              </a:pPr>
              <a:t>‹#›</a:t>
            </a:fld>
            <a:endParaRPr lang="zh-CN" altLang="en-US"/>
          </a:p>
        </p:txBody>
      </p:sp>
    </p:spTree>
    <p:extLst>
      <p:ext uri="{BB962C8B-B14F-4D97-AF65-F5344CB8AC3E}">
        <p14:creationId xmlns:p14="http://schemas.microsoft.com/office/powerpoint/2010/main" val="2699689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编辑母版文本样式</a:t>
            </a:r>
          </a:p>
        </p:txBody>
      </p:sp>
      <p:sp>
        <p:nvSpPr>
          <p:cNvPr id="5" name="日期占位符 3"/>
          <p:cNvSpPr>
            <a:spLocks noGrp="1"/>
          </p:cNvSpPr>
          <p:nvPr>
            <p:ph type="dt" sz="half" idx="10"/>
          </p:nvPr>
        </p:nvSpPr>
        <p:spPr/>
        <p:txBody>
          <a:bodyPr/>
          <a:lstStyle>
            <a:lvl1pPr>
              <a:defRPr/>
            </a:lvl1pPr>
          </a:lstStyle>
          <a:p>
            <a:pPr>
              <a:defRPr/>
            </a:pPr>
            <a:fld id="{460BBF6E-7DF7-45E6-9749-AFB501B86F5C}" type="datetimeFigureOut">
              <a:rPr lang="zh-CN" altLang="en-US"/>
              <a:pPr>
                <a:defRPr/>
              </a:pPr>
              <a:t>2025/11/22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5A72F91-1FFA-484A-8AF5-706EFBA78413}" type="slidenum">
              <a:rPr lang="zh-CN" altLang="en-US"/>
              <a:pPr>
                <a:defRPr/>
              </a:pPr>
              <a:t>‹#›</a:t>
            </a:fld>
            <a:endParaRPr lang="zh-CN" altLang="en-US"/>
          </a:p>
        </p:txBody>
      </p:sp>
    </p:spTree>
    <p:extLst>
      <p:ext uri="{BB962C8B-B14F-4D97-AF65-F5344CB8AC3E}">
        <p14:creationId xmlns:p14="http://schemas.microsoft.com/office/powerpoint/2010/main" val="567332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CBFBEF7-6398-4C99-ACF7-831AE0C60816}" type="datetimeFigureOut">
              <a:rPr lang="zh-CN" altLang="en-US"/>
              <a:pPr>
                <a:defRPr/>
              </a:pPr>
              <a:t>2025/11/22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03CB302-67FD-4DAF-A85F-C38B15767435}" type="slidenum">
              <a:rPr lang="zh-CN" altLang="en-US"/>
              <a:pPr>
                <a:defRPr/>
              </a:pPr>
              <a:t>‹#›</a:t>
            </a:fld>
            <a:endParaRPr lang="zh-CN" altLang="en-US"/>
          </a:p>
        </p:txBody>
      </p:sp>
    </p:spTree>
    <p:extLst>
      <p:ext uri="{BB962C8B-B14F-4D97-AF65-F5344CB8AC3E}">
        <p14:creationId xmlns:p14="http://schemas.microsoft.com/office/powerpoint/2010/main" val="37171931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0F703E2-103D-4C8A-A49B-B7F8BA405835}" type="datetimeFigureOut">
              <a:rPr lang="zh-CN" altLang="en-US"/>
              <a:pPr>
                <a:defRPr/>
              </a:pPr>
              <a:t>2025/11/22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D1CC8F4-28C6-4949-9F36-086969D2027A}" type="slidenum">
              <a:rPr lang="zh-CN" altLang="en-US"/>
              <a:pPr>
                <a:defRPr/>
              </a:pPr>
              <a:t>‹#›</a:t>
            </a:fld>
            <a:endParaRPr lang="zh-CN" altLang="en-US"/>
          </a:p>
        </p:txBody>
      </p:sp>
    </p:spTree>
    <p:extLst>
      <p:ext uri="{BB962C8B-B14F-4D97-AF65-F5344CB8AC3E}">
        <p14:creationId xmlns:p14="http://schemas.microsoft.com/office/powerpoint/2010/main" val="1615681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smtClean="0">
                <a:solidFill>
                  <a:schemeClr val="tx1">
                    <a:tint val="75000"/>
                  </a:schemeClr>
                </a:solidFill>
              </a:defRPr>
            </a:lvl1pPr>
          </a:lstStyle>
          <a:p>
            <a:pPr>
              <a:defRPr/>
            </a:pPr>
            <a:fld id="{455EBE4B-AEC1-40DC-9A90-C21071687F27}" type="datetimeFigureOut">
              <a:rPr lang="zh-CN" altLang="en-US"/>
              <a:pPr>
                <a:defRPr/>
              </a:pPr>
              <a:t>2025/11/22</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smtClean="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smtClean="0">
                <a:solidFill>
                  <a:schemeClr val="tx1">
                    <a:tint val="75000"/>
                  </a:schemeClr>
                </a:solidFill>
              </a:defRPr>
            </a:lvl1pPr>
          </a:lstStyle>
          <a:p>
            <a:pPr>
              <a:defRPr/>
            </a:pPr>
            <a:fld id="{3BD03B70-412B-4075-9125-CE11A1A1E25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等线 Light" panose="02010600030101010101" pitchFamily="2" charset="-122"/>
        </a:defRPr>
      </a:lvl2pPr>
      <a:lvl3pPr algn="l" defTabSz="685800" rtl="0" fontAlgn="base">
        <a:lnSpc>
          <a:spcPct val="90000"/>
        </a:lnSpc>
        <a:spcBef>
          <a:spcPct val="0"/>
        </a:spcBef>
        <a:spcAft>
          <a:spcPct val="0"/>
        </a:spcAft>
        <a:defRPr sz="3300">
          <a:solidFill>
            <a:schemeClr val="tx1"/>
          </a:solidFill>
          <a:latin typeface="等线 Light" panose="02010600030101010101" pitchFamily="2" charset="-122"/>
        </a:defRPr>
      </a:lvl3pPr>
      <a:lvl4pPr algn="l" defTabSz="685800" rtl="0" fontAlgn="base">
        <a:lnSpc>
          <a:spcPct val="90000"/>
        </a:lnSpc>
        <a:spcBef>
          <a:spcPct val="0"/>
        </a:spcBef>
        <a:spcAft>
          <a:spcPct val="0"/>
        </a:spcAft>
        <a:defRPr sz="3300">
          <a:solidFill>
            <a:schemeClr val="tx1"/>
          </a:solidFill>
          <a:latin typeface="等线 Light" panose="02010600030101010101" pitchFamily="2" charset="-122"/>
        </a:defRPr>
      </a:lvl4pPr>
      <a:lvl5pPr algn="l" defTabSz="685800" rtl="0" fontAlgn="base">
        <a:lnSpc>
          <a:spcPct val="90000"/>
        </a:lnSpc>
        <a:spcBef>
          <a:spcPct val="0"/>
        </a:spcBef>
        <a:spcAft>
          <a:spcPct val="0"/>
        </a:spcAft>
        <a:defRPr sz="3300">
          <a:solidFill>
            <a:schemeClr val="tx1"/>
          </a:solidFill>
          <a:latin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smtClean="0">
                <a:solidFill>
                  <a:schemeClr val="tx1">
                    <a:tint val="75000"/>
                  </a:schemeClr>
                </a:solidFill>
              </a:defRPr>
            </a:lvl1pPr>
          </a:lstStyle>
          <a:p>
            <a:pPr>
              <a:defRPr/>
            </a:pPr>
            <a:fld id="{FC08CDBF-5A7A-48BC-9FA1-02D3ECCDE7FB}" type="datetimeFigureOut">
              <a:rPr lang="zh-CN" altLang="en-US"/>
              <a:pPr>
                <a:defRPr/>
              </a:pPr>
              <a:t>2025/11/22</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smtClean="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smtClean="0">
                <a:solidFill>
                  <a:schemeClr val="tx1">
                    <a:tint val="75000"/>
                  </a:schemeClr>
                </a:solidFill>
              </a:defRPr>
            </a:lvl1pPr>
          </a:lstStyle>
          <a:p>
            <a:pPr>
              <a:defRPr/>
            </a:pPr>
            <a:fld id="{5355B310-1235-4F41-94A9-6A71A44CDCB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等线 Light" panose="02010600030101010101" pitchFamily="2" charset="-122"/>
        </a:defRPr>
      </a:lvl2pPr>
      <a:lvl3pPr algn="l" defTabSz="685800" rtl="0" fontAlgn="base">
        <a:lnSpc>
          <a:spcPct val="90000"/>
        </a:lnSpc>
        <a:spcBef>
          <a:spcPct val="0"/>
        </a:spcBef>
        <a:spcAft>
          <a:spcPct val="0"/>
        </a:spcAft>
        <a:defRPr sz="3300">
          <a:solidFill>
            <a:schemeClr val="tx1"/>
          </a:solidFill>
          <a:latin typeface="等线 Light" panose="02010600030101010101" pitchFamily="2" charset="-122"/>
        </a:defRPr>
      </a:lvl3pPr>
      <a:lvl4pPr algn="l" defTabSz="685800" rtl="0" fontAlgn="base">
        <a:lnSpc>
          <a:spcPct val="90000"/>
        </a:lnSpc>
        <a:spcBef>
          <a:spcPct val="0"/>
        </a:spcBef>
        <a:spcAft>
          <a:spcPct val="0"/>
        </a:spcAft>
        <a:defRPr sz="3300">
          <a:solidFill>
            <a:schemeClr val="tx1"/>
          </a:solidFill>
          <a:latin typeface="等线 Light" panose="02010600030101010101" pitchFamily="2" charset="-122"/>
        </a:defRPr>
      </a:lvl4pPr>
      <a:lvl5pPr algn="l" defTabSz="685800" rtl="0" fontAlgn="base">
        <a:lnSpc>
          <a:spcPct val="90000"/>
        </a:lnSpc>
        <a:spcBef>
          <a:spcPct val="0"/>
        </a:spcBef>
        <a:spcAft>
          <a:spcPct val="0"/>
        </a:spcAft>
        <a:defRPr sz="3300">
          <a:solidFill>
            <a:schemeClr val="tx1"/>
          </a:solidFill>
          <a:latin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slide" Target="slide43.xml"/><Relationship Id="rId5" Type="http://schemas.openxmlformats.org/officeDocument/2006/relationships/slide" Target="slide40.xml"/><Relationship Id="rId4" Type="http://schemas.openxmlformats.org/officeDocument/2006/relationships/slide" Target="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8.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8.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8.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8.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8.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2.bin"/><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8.xml"/><Relationship Id="rId1" Type="http://schemas.openxmlformats.org/officeDocument/2006/relationships/vmlDrawing" Target="../drawings/vmlDrawing7.vml"/><Relationship Id="rId6" Type="http://schemas.openxmlformats.org/officeDocument/2006/relationships/image" Target="../media/image17.wmf"/><Relationship Id="rId5" Type="http://schemas.openxmlformats.org/officeDocument/2006/relationships/oleObject" Target="../embeddings/oleObject14.bin"/><Relationship Id="rId4" Type="http://schemas.openxmlformats.org/officeDocument/2006/relationships/image" Target="../media/image16.wmf"/></Relationships>
</file>

<file path=ppt/slides/_rels/slide11.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18.xml"/><Relationship Id="rId1" Type="http://schemas.openxmlformats.org/officeDocument/2006/relationships/vmlDrawing" Target="../drawings/vmlDrawing8.vml"/><Relationship Id="rId6" Type="http://schemas.openxmlformats.org/officeDocument/2006/relationships/image" Target="../media/image19.wmf"/><Relationship Id="rId5" Type="http://schemas.openxmlformats.org/officeDocument/2006/relationships/oleObject" Target="../embeddings/oleObject16.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8.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8.xml"/><Relationship Id="rId1" Type="http://schemas.openxmlformats.org/officeDocument/2006/relationships/vmlDrawing" Target="../drawings/vmlDrawing9.v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wmf"/></Relationships>
</file>

<file path=ppt/slides/_rels/slide13.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image" Target="../media/image26.wmf"/><Relationship Id="rId5" Type="http://schemas.openxmlformats.org/officeDocument/2006/relationships/oleObject" Target="../embeddings/oleObject21.bin"/><Relationship Id="rId4" Type="http://schemas.openxmlformats.org/officeDocument/2006/relationships/image" Target="../media/image25.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8.xml"/><Relationship Id="rId1" Type="http://schemas.openxmlformats.org/officeDocument/2006/relationships/vmlDrawing" Target="../drawings/vmlDrawing11.vml"/><Relationship Id="rId4" Type="http://schemas.openxmlformats.org/officeDocument/2006/relationships/image" Target="../media/image28.emf"/></Relationships>
</file>

<file path=ppt/slides/_rels/slide15.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18.xml"/><Relationship Id="rId1" Type="http://schemas.openxmlformats.org/officeDocument/2006/relationships/vmlDrawing" Target="../drawings/vmlDrawing12.vml"/><Relationship Id="rId6" Type="http://schemas.openxmlformats.org/officeDocument/2006/relationships/image" Target="../media/image30.wmf"/><Relationship Id="rId5" Type="http://schemas.openxmlformats.org/officeDocument/2006/relationships/oleObject" Target="../embeddings/oleObject25.bin"/><Relationship Id="rId4" Type="http://schemas.openxmlformats.org/officeDocument/2006/relationships/image" Target="../media/image29.wmf"/></Relationships>
</file>

<file path=ppt/slides/_rels/slide16.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18.xml"/><Relationship Id="rId1" Type="http://schemas.openxmlformats.org/officeDocument/2006/relationships/vmlDrawing" Target="../drawings/vmlDrawing13.vml"/><Relationship Id="rId6" Type="http://schemas.openxmlformats.org/officeDocument/2006/relationships/image" Target="../media/image33.wmf"/><Relationship Id="rId5" Type="http://schemas.openxmlformats.org/officeDocument/2006/relationships/oleObject" Target="../embeddings/oleObject28.bin"/><Relationship Id="rId4" Type="http://schemas.openxmlformats.org/officeDocument/2006/relationships/image" Target="../media/image32.wmf"/></Relationships>
</file>

<file path=ppt/slides/_rels/slide17.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image" Target="../media/image36.wmf"/><Relationship Id="rId5" Type="http://schemas.openxmlformats.org/officeDocument/2006/relationships/oleObject" Target="../embeddings/oleObject31.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3.bin"/></Relationships>
</file>

<file path=ppt/slides/_rels/slide18.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18.xml"/><Relationship Id="rId1" Type="http://schemas.openxmlformats.org/officeDocument/2006/relationships/vmlDrawing" Target="../drawings/vmlDrawing15.vml"/><Relationship Id="rId6" Type="http://schemas.openxmlformats.org/officeDocument/2006/relationships/image" Target="../media/image40.wmf"/><Relationship Id="rId5" Type="http://schemas.openxmlformats.org/officeDocument/2006/relationships/oleObject" Target="../embeddings/oleObject35.bin"/><Relationship Id="rId4" Type="http://schemas.openxmlformats.org/officeDocument/2006/relationships/image" Target="../media/image39.wmf"/></Relationships>
</file>

<file path=ppt/slides/_rels/slide19.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6.wmf"/><Relationship Id="rId2" Type="http://schemas.openxmlformats.org/officeDocument/2006/relationships/slideLayout" Target="../slideLayouts/slideLayout18.xml"/><Relationship Id="rId1" Type="http://schemas.openxmlformats.org/officeDocument/2006/relationships/vmlDrawing" Target="../drawings/vmlDrawing16.vml"/><Relationship Id="rId6" Type="http://schemas.openxmlformats.org/officeDocument/2006/relationships/image" Target="../media/image43.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45.wmf"/><Relationship Id="rId4" Type="http://schemas.openxmlformats.org/officeDocument/2006/relationships/image" Target="../media/image42.emf"/><Relationship Id="rId9" Type="http://schemas.openxmlformats.org/officeDocument/2006/relationships/oleObject" Target="../embeddings/oleObject40.bin"/><Relationship Id="rId14" Type="http://schemas.openxmlformats.org/officeDocument/2006/relationships/image" Target="../media/image47.wmf"/></Relationships>
</file>

<file path=ppt/slides/_rels/slide20.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52.wmf"/><Relationship Id="rId2" Type="http://schemas.openxmlformats.org/officeDocument/2006/relationships/slideLayout" Target="../slideLayouts/slideLayout18.xml"/><Relationship Id="rId16" Type="http://schemas.openxmlformats.org/officeDocument/2006/relationships/image" Target="../media/image54.wmf"/><Relationship Id="rId1" Type="http://schemas.openxmlformats.org/officeDocument/2006/relationships/vmlDrawing" Target="../drawings/vmlDrawing17.vml"/><Relationship Id="rId6" Type="http://schemas.openxmlformats.org/officeDocument/2006/relationships/image" Target="../media/image49.w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oleObject" Target="../embeddings/oleObject49.bin"/><Relationship Id="rId10" Type="http://schemas.openxmlformats.org/officeDocument/2006/relationships/image" Target="../media/image51.wmf"/><Relationship Id="rId4" Type="http://schemas.openxmlformats.org/officeDocument/2006/relationships/image" Target="../media/image48.wmf"/><Relationship Id="rId9" Type="http://schemas.openxmlformats.org/officeDocument/2006/relationships/oleObject" Target="../embeddings/oleObject46.bin"/><Relationship Id="rId14" Type="http://schemas.openxmlformats.org/officeDocument/2006/relationships/image" Target="../media/image53.wmf"/></Relationships>
</file>

<file path=ppt/slides/_rels/slide21.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55.bin"/><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59.wmf"/><Relationship Id="rId2" Type="http://schemas.openxmlformats.org/officeDocument/2006/relationships/slideLayout" Target="../slideLayouts/slideLayout18.xml"/><Relationship Id="rId16" Type="http://schemas.openxmlformats.org/officeDocument/2006/relationships/image" Target="../media/image61.wmf"/><Relationship Id="rId1" Type="http://schemas.openxmlformats.org/officeDocument/2006/relationships/vmlDrawing" Target="../drawings/vmlDrawing18.vml"/><Relationship Id="rId6" Type="http://schemas.openxmlformats.org/officeDocument/2006/relationships/image" Target="../media/image56.wmf"/><Relationship Id="rId11" Type="http://schemas.openxmlformats.org/officeDocument/2006/relationships/oleObject" Target="../embeddings/oleObject54.bin"/><Relationship Id="rId5" Type="http://schemas.openxmlformats.org/officeDocument/2006/relationships/oleObject" Target="../embeddings/oleObject51.bin"/><Relationship Id="rId15" Type="http://schemas.openxmlformats.org/officeDocument/2006/relationships/oleObject" Target="../embeddings/oleObject56.bin"/><Relationship Id="rId10" Type="http://schemas.openxmlformats.org/officeDocument/2006/relationships/image" Target="../media/image58.wmf"/><Relationship Id="rId4" Type="http://schemas.openxmlformats.org/officeDocument/2006/relationships/image" Target="../media/image55.wmf"/><Relationship Id="rId9" Type="http://schemas.openxmlformats.org/officeDocument/2006/relationships/oleObject" Target="../embeddings/oleObject53.bin"/><Relationship Id="rId14" Type="http://schemas.openxmlformats.org/officeDocument/2006/relationships/image" Target="../media/image60.wmf"/></Relationships>
</file>

<file path=ppt/slides/_rels/slide22.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oleObject" Target="../embeddings/oleObject57.bin"/><Relationship Id="rId7" Type="http://schemas.openxmlformats.org/officeDocument/2006/relationships/oleObject" Target="../embeddings/oleObject59.bin"/><Relationship Id="rId2" Type="http://schemas.openxmlformats.org/officeDocument/2006/relationships/slideLayout" Target="../slideLayouts/slideLayout18.xml"/><Relationship Id="rId1" Type="http://schemas.openxmlformats.org/officeDocument/2006/relationships/vmlDrawing" Target="../drawings/vmlDrawing19.vml"/><Relationship Id="rId6" Type="http://schemas.openxmlformats.org/officeDocument/2006/relationships/image" Target="../media/image63.emf"/><Relationship Id="rId5" Type="http://schemas.openxmlformats.org/officeDocument/2006/relationships/oleObject" Target="../embeddings/oleObject58.bin"/><Relationship Id="rId4" Type="http://schemas.openxmlformats.org/officeDocument/2006/relationships/image" Target="../media/image62.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8.xml"/><Relationship Id="rId1" Type="http://schemas.openxmlformats.org/officeDocument/2006/relationships/vmlDrawing" Target="../drawings/vmlDrawing20.vml"/><Relationship Id="rId6" Type="http://schemas.openxmlformats.org/officeDocument/2006/relationships/image" Target="../media/image66.wmf"/><Relationship Id="rId5" Type="http://schemas.openxmlformats.org/officeDocument/2006/relationships/oleObject" Target="../embeddings/oleObject61.bin"/><Relationship Id="rId4" Type="http://schemas.openxmlformats.org/officeDocument/2006/relationships/image" Target="../media/image65.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18.xml"/><Relationship Id="rId1" Type="http://schemas.openxmlformats.org/officeDocument/2006/relationships/vmlDrawing" Target="../drawings/vmlDrawing21.vml"/><Relationship Id="rId6" Type="http://schemas.openxmlformats.org/officeDocument/2006/relationships/image" Target="../media/image68.wmf"/><Relationship Id="rId5" Type="http://schemas.openxmlformats.org/officeDocument/2006/relationships/oleObject" Target="../embeddings/oleObject63.bin"/><Relationship Id="rId4" Type="http://schemas.openxmlformats.org/officeDocument/2006/relationships/image" Target="../media/image67.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18.xml"/><Relationship Id="rId1" Type="http://schemas.openxmlformats.org/officeDocument/2006/relationships/vmlDrawing" Target="../drawings/vmlDrawing22.vml"/><Relationship Id="rId6" Type="http://schemas.openxmlformats.org/officeDocument/2006/relationships/image" Target="../media/image70.wmf"/><Relationship Id="rId5" Type="http://schemas.openxmlformats.org/officeDocument/2006/relationships/oleObject" Target="../embeddings/oleObject65.bin"/><Relationship Id="rId4" Type="http://schemas.openxmlformats.org/officeDocument/2006/relationships/image" Target="../media/image69.wmf"/></Relationships>
</file>

<file path=ppt/slides/_rels/slide26.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18.xml"/><Relationship Id="rId1" Type="http://schemas.openxmlformats.org/officeDocument/2006/relationships/vmlDrawing" Target="../drawings/vmlDrawing23.vml"/><Relationship Id="rId6" Type="http://schemas.openxmlformats.org/officeDocument/2006/relationships/image" Target="../media/image73.wmf"/><Relationship Id="rId5" Type="http://schemas.openxmlformats.org/officeDocument/2006/relationships/oleObject" Target="../embeddings/oleObject67.bin"/><Relationship Id="rId4" Type="http://schemas.openxmlformats.org/officeDocument/2006/relationships/image" Target="../media/image72.wmf"/></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8.xml"/><Relationship Id="rId4" Type="http://schemas.openxmlformats.org/officeDocument/2006/relationships/hyperlink" Target="&#27491;&#20132;&#25237;&#24433;.exe" TargetMode="External"/></Relationships>
</file>

<file path=ppt/slides/_rels/slide30.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18.xml"/><Relationship Id="rId1" Type="http://schemas.openxmlformats.org/officeDocument/2006/relationships/vmlDrawing" Target="../drawings/vmlDrawing24.vml"/><Relationship Id="rId6" Type="http://schemas.openxmlformats.org/officeDocument/2006/relationships/image" Target="../media/image77.emf"/><Relationship Id="rId5" Type="http://schemas.openxmlformats.org/officeDocument/2006/relationships/oleObject" Target="../embeddings/oleObject69.bin"/><Relationship Id="rId4" Type="http://schemas.openxmlformats.org/officeDocument/2006/relationships/image" Target="../media/image7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18.xml"/><Relationship Id="rId1" Type="http://schemas.openxmlformats.org/officeDocument/2006/relationships/vmlDrawing" Target="../drawings/vmlDrawing25.vml"/><Relationship Id="rId6" Type="http://schemas.openxmlformats.org/officeDocument/2006/relationships/image" Target="../media/image80.wmf"/><Relationship Id="rId5" Type="http://schemas.openxmlformats.org/officeDocument/2006/relationships/oleObject" Target="../embeddings/oleObject72.bin"/><Relationship Id="rId4" Type="http://schemas.openxmlformats.org/officeDocument/2006/relationships/image" Target="../media/image79.wmf"/></Relationships>
</file>

<file path=ppt/slides/_rels/slide32.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18.xml"/><Relationship Id="rId1" Type="http://schemas.openxmlformats.org/officeDocument/2006/relationships/vmlDrawing" Target="../drawings/vmlDrawing26.vml"/><Relationship Id="rId6" Type="http://schemas.openxmlformats.org/officeDocument/2006/relationships/image" Target="../media/image82.wmf"/><Relationship Id="rId5" Type="http://schemas.openxmlformats.org/officeDocument/2006/relationships/oleObject" Target="../embeddings/oleObject74.bin"/><Relationship Id="rId4" Type="http://schemas.openxmlformats.org/officeDocument/2006/relationships/image" Target="../media/image81.wmf"/></Relationships>
</file>

<file path=ppt/slides/_rels/slide33.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76.bin"/><Relationship Id="rId7" Type="http://schemas.openxmlformats.org/officeDocument/2006/relationships/oleObject" Target="../embeddings/oleObject78.bin"/><Relationship Id="rId2" Type="http://schemas.openxmlformats.org/officeDocument/2006/relationships/slideLayout" Target="../slideLayouts/slideLayout18.xml"/><Relationship Id="rId1" Type="http://schemas.openxmlformats.org/officeDocument/2006/relationships/vmlDrawing" Target="../drawings/vmlDrawing27.vml"/><Relationship Id="rId6" Type="http://schemas.openxmlformats.org/officeDocument/2006/relationships/image" Target="../media/image85.wmf"/><Relationship Id="rId5" Type="http://schemas.openxmlformats.org/officeDocument/2006/relationships/oleObject" Target="../embeddings/oleObject77.bin"/><Relationship Id="rId4" Type="http://schemas.openxmlformats.org/officeDocument/2006/relationships/image" Target="../media/image84.wmf"/></Relationships>
</file>

<file path=ppt/slides/_rels/slide3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hyperlink" Target="&#27491;&#19977;&#26865;&#26609;&#21160;&#24577;&#19977;&#35270;&#22270;.exe" TargetMode="Externa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18.xml"/><Relationship Id="rId1" Type="http://schemas.openxmlformats.org/officeDocument/2006/relationships/vmlDrawing" Target="../drawings/vmlDrawing28.vml"/><Relationship Id="rId4" Type="http://schemas.openxmlformats.org/officeDocument/2006/relationships/image" Target="../media/image88.emf"/></Relationships>
</file>

<file path=ppt/slides/_rels/slide36.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slideLayout" Target="../slideLayouts/slideLayout18.xml"/><Relationship Id="rId1" Type="http://schemas.openxmlformats.org/officeDocument/2006/relationships/vmlDrawing" Target="../drawings/vmlDrawing29.vml"/><Relationship Id="rId6" Type="http://schemas.openxmlformats.org/officeDocument/2006/relationships/image" Target="../media/image90.wmf"/><Relationship Id="rId5" Type="http://schemas.openxmlformats.org/officeDocument/2006/relationships/oleObject" Target="../embeddings/oleObject81.bin"/><Relationship Id="rId4" Type="http://schemas.openxmlformats.org/officeDocument/2006/relationships/image" Target="../media/image89.wmf"/></Relationships>
</file>

<file path=ppt/slides/_rels/slide37.xml.rels><?xml version="1.0" encoding="UTF-8" standalone="yes"?>
<Relationships xmlns="http://schemas.openxmlformats.org/package/2006/relationships"><Relationship Id="rId3" Type="http://schemas.openxmlformats.org/officeDocument/2006/relationships/hyperlink" Target="&#19977;&#35270;&#22270;&#24179;&#31227;.exe" TargetMode="External"/><Relationship Id="rId2" Type="http://schemas.openxmlformats.org/officeDocument/2006/relationships/image" Target="../media/image9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88.bin"/><Relationship Id="rId3" Type="http://schemas.openxmlformats.org/officeDocument/2006/relationships/oleObject" Target="../embeddings/oleObject83.bin"/><Relationship Id="rId7" Type="http://schemas.openxmlformats.org/officeDocument/2006/relationships/oleObject" Target="../embeddings/oleObject85.bin"/><Relationship Id="rId12" Type="http://schemas.openxmlformats.org/officeDocument/2006/relationships/image" Target="../media/image97.emf"/><Relationship Id="rId2" Type="http://schemas.openxmlformats.org/officeDocument/2006/relationships/slideLayout" Target="../slideLayouts/slideLayout18.xml"/><Relationship Id="rId1" Type="http://schemas.openxmlformats.org/officeDocument/2006/relationships/vmlDrawing" Target="../drawings/vmlDrawing30.vml"/><Relationship Id="rId6" Type="http://schemas.openxmlformats.org/officeDocument/2006/relationships/image" Target="../media/image94.wmf"/><Relationship Id="rId11" Type="http://schemas.openxmlformats.org/officeDocument/2006/relationships/oleObject" Target="../embeddings/oleObject87.bin"/><Relationship Id="rId5" Type="http://schemas.openxmlformats.org/officeDocument/2006/relationships/oleObject" Target="../embeddings/oleObject84.bin"/><Relationship Id="rId10" Type="http://schemas.openxmlformats.org/officeDocument/2006/relationships/image" Target="../media/image96.emf"/><Relationship Id="rId4" Type="http://schemas.openxmlformats.org/officeDocument/2006/relationships/image" Target="../media/image93.wmf"/><Relationship Id="rId9" Type="http://schemas.openxmlformats.org/officeDocument/2006/relationships/oleObject" Target="../embeddings/oleObject86.bin"/><Relationship Id="rId14" Type="http://schemas.openxmlformats.org/officeDocument/2006/relationships/image" Target="../media/image98.emf"/></Relationships>
</file>

<file path=ppt/slides/_rels/slide3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hyperlink" Target="&#26012;&#25237;&#24433;.exe" TargetMode="External"/><Relationship Id="rId7" Type="http://schemas.openxmlformats.org/officeDocument/2006/relationships/image" Target="../media/image101.wmf"/><Relationship Id="rId2" Type="http://schemas.openxmlformats.org/officeDocument/2006/relationships/slideLayout" Target="../slideLayouts/slideLayout18.xml"/><Relationship Id="rId1" Type="http://schemas.openxmlformats.org/officeDocument/2006/relationships/vmlDrawing" Target="../drawings/vmlDrawing31.vml"/><Relationship Id="rId6" Type="http://schemas.openxmlformats.org/officeDocument/2006/relationships/oleObject" Target="../embeddings/oleObject89.bin"/><Relationship Id="rId5" Type="http://schemas.openxmlformats.org/officeDocument/2006/relationships/image" Target="../media/image103.png"/><Relationship Id="rId4" Type="http://schemas.openxmlformats.org/officeDocument/2006/relationships/image" Target="../media/image102.png"/></Relationships>
</file>

<file path=ppt/slides/_rels/slide41.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oleObject" Target="../embeddings/oleObject90.bin"/><Relationship Id="rId7" Type="http://schemas.openxmlformats.org/officeDocument/2006/relationships/oleObject" Target="../embeddings/oleObject92.bin"/><Relationship Id="rId12" Type="http://schemas.openxmlformats.org/officeDocument/2006/relationships/image" Target="../media/image108.wmf"/><Relationship Id="rId2" Type="http://schemas.openxmlformats.org/officeDocument/2006/relationships/slideLayout" Target="../slideLayouts/slideLayout18.xml"/><Relationship Id="rId1" Type="http://schemas.openxmlformats.org/officeDocument/2006/relationships/vmlDrawing" Target="../drawings/vmlDrawing32.vml"/><Relationship Id="rId6" Type="http://schemas.openxmlformats.org/officeDocument/2006/relationships/image" Target="../media/image105.wmf"/><Relationship Id="rId11" Type="http://schemas.openxmlformats.org/officeDocument/2006/relationships/oleObject" Target="../embeddings/oleObject94.bin"/><Relationship Id="rId5" Type="http://schemas.openxmlformats.org/officeDocument/2006/relationships/oleObject" Target="../embeddings/oleObject91.bin"/><Relationship Id="rId10" Type="http://schemas.openxmlformats.org/officeDocument/2006/relationships/image" Target="../media/image107.wmf"/><Relationship Id="rId4" Type="http://schemas.openxmlformats.org/officeDocument/2006/relationships/image" Target="../media/image104.emf"/><Relationship Id="rId9" Type="http://schemas.openxmlformats.org/officeDocument/2006/relationships/oleObject" Target="../embeddings/oleObject93.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18.xml"/><Relationship Id="rId1" Type="http://schemas.openxmlformats.org/officeDocument/2006/relationships/vmlDrawing" Target="../drawings/vmlDrawing33.vml"/><Relationship Id="rId6" Type="http://schemas.openxmlformats.org/officeDocument/2006/relationships/image" Target="../media/image110.wmf"/><Relationship Id="rId5" Type="http://schemas.openxmlformats.org/officeDocument/2006/relationships/oleObject" Target="../embeddings/oleObject96.bin"/><Relationship Id="rId4" Type="http://schemas.openxmlformats.org/officeDocument/2006/relationships/image" Target="../media/image109.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Layout" Target="../slideLayouts/slideLayout18.xml"/><Relationship Id="rId1" Type="http://schemas.openxmlformats.org/officeDocument/2006/relationships/vmlDrawing" Target="../drawings/vmlDrawing34.vml"/><Relationship Id="rId4" Type="http://schemas.openxmlformats.org/officeDocument/2006/relationships/image" Target="../media/image111.emf"/></Relationships>
</file>

<file path=ppt/slides/_rels/slide44.xml.rels><?xml version="1.0" encoding="UTF-8" standalone="yes"?>
<Relationships xmlns="http://schemas.openxmlformats.org/package/2006/relationships"><Relationship Id="rId3" Type="http://schemas.openxmlformats.org/officeDocument/2006/relationships/image" Target="../media/image113.jpeg"/><Relationship Id="rId7" Type="http://schemas.openxmlformats.org/officeDocument/2006/relationships/image" Target="../media/image117.png"/><Relationship Id="rId2" Type="http://schemas.openxmlformats.org/officeDocument/2006/relationships/image" Target="../media/image112.png"/><Relationship Id="rId1" Type="http://schemas.openxmlformats.org/officeDocument/2006/relationships/slideLayout" Target="../slideLayouts/slideLayout18.xml"/><Relationship Id="rId6" Type="http://schemas.openxmlformats.org/officeDocument/2006/relationships/image" Target="../media/image116.png"/><Relationship Id="rId5" Type="http://schemas.openxmlformats.org/officeDocument/2006/relationships/image" Target="../media/image115.jpeg"/><Relationship Id="rId4" Type="http://schemas.openxmlformats.org/officeDocument/2006/relationships/image" Target="../media/image114.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18.xml"/><Relationship Id="rId1" Type="http://schemas.openxmlformats.org/officeDocument/2006/relationships/vmlDrawing" Target="../drawings/vmlDrawing35.vml"/><Relationship Id="rId4" Type="http://schemas.openxmlformats.org/officeDocument/2006/relationships/image" Target="../media/image118.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18.xml"/><Relationship Id="rId1" Type="http://schemas.openxmlformats.org/officeDocument/2006/relationships/vmlDrawing" Target="../drawings/vmlDrawing36.vml"/><Relationship Id="rId4" Type="http://schemas.openxmlformats.org/officeDocument/2006/relationships/image" Target="../media/image119.emf"/></Relationships>
</file>

<file path=ppt/slides/_rels/slide47.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slideLayout" Target="../slideLayouts/slideLayout18.xml"/><Relationship Id="rId1" Type="http://schemas.openxmlformats.org/officeDocument/2006/relationships/vmlDrawing" Target="../drawings/vmlDrawing37.vml"/><Relationship Id="rId6" Type="http://schemas.openxmlformats.org/officeDocument/2006/relationships/image" Target="../media/image121.wmf"/><Relationship Id="rId5" Type="http://schemas.openxmlformats.org/officeDocument/2006/relationships/oleObject" Target="../embeddings/oleObject101.bin"/><Relationship Id="rId4" Type="http://schemas.openxmlformats.org/officeDocument/2006/relationships/image" Target="../media/image120.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8" Type="http://schemas.openxmlformats.org/officeDocument/2006/relationships/image" Target="../media/image125.e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18.xml"/><Relationship Id="rId1" Type="http://schemas.openxmlformats.org/officeDocument/2006/relationships/vmlDrawing" Target="../drawings/vmlDrawing38.vml"/><Relationship Id="rId6" Type="http://schemas.openxmlformats.org/officeDocument/2006/relationships/image" Target="../media/image124.emf"/><Relationship Id="rId5" Type="http://schemas.openxmlformats.org/officeDocument/2006/relationships/oleObject" Target="../embeddings/oleObject104.bin"/><Relationship Id="rId4" Type="http://schemas.openxmlformats.org/officeDocument/2006/relationships/image" Target="../media/image123.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18.xml"/><Relationship Id="rId1" Type="http://schemas.openxmlformats.org/officeDocument/2006/relationships/vmlDrawing" Target="../drawings/vmlDrawing39.vml"/><Relationship Id="rId6" Type="http://schemas.openxmlformats.org/officeDocument/2006/relationships/image" Target="../media/image127.wmf"/><Relationship Id="rId5" Type="http://schemas.openxmlformats.org/officeDocument/2006/relationships/oleObject" Target="../embeddings/oleObject107.bin"/><Relationship Id="rId4" Type="http://schemas.openxmlformats.org/officeDocument/2006/relationships/image" Target="../media/image126.e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18.xml"/><Relationship Id="rId1" Type="http://schemas.openxmlformats.org/officeDocument/2006/relationships/vmlDrawing" Target="../drawings/vmlDrawing40.vml"/><Relationship Id="rId6" Type="http://schemas.openxmlformats.org/officeDocument/2006/relationships/image" Target="../media/image129.emf"/><Relationship Id="rId5" Type="http://schemas.openxmlformats.org/officeDocument/2006/relationships/oleObject" Target="../embeddings/oleObject109.bin"/><Relationship Id="rId4" Type="http://schemas.openxmlformats.org/officeDocument/2006/relationships/image" Target="../media/image128.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18.xml"/><Relationship Id="rId1" Type="http://schemas.openxmlformats.org/officeDocument/2006/relationships/vmlDrawing" Target="../drawings/vmlDrawing41.vml"/><Relationship Id="rId6" Type="http://schemas.openxmlformats.org/officeDocument/2006/relationships/image" Target="../media/image131.emf"/><Relationship Id="rId5" Type="http://schemas.openxmlformats.org/officeDocument/2006/relationships/oleObject" Target="../embeddings/oleObject111.bin"/><Relationship Id="rId4" Type="http://schemas.openxmlformats.org/officeDocument/2006/relationships/image" Target="../media/image130.wmf"/></Relationships>
</file>

<file path=ppt/slides/_rels/slide53.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slideLayout" Target="../slideLayouts/slideLayout18.xml"/><Relationship Id="rId1" Type="http://schemas.openxmlformats.org/officeDocument/2006/relationships/vmlDrawing" Target="../drawings/vmlDrawing42.vml"/><Relationship Id="rId6" Type="http://schemas.openxmlformats.org/officeDocument/2006/relationships/image" Target="../media/image133.wmf"/><Relationship Id="rId5" Type="http://schemas.openxmlformats.org/officeDocument/2006/relationships/oleObject" Target="../embeddings/oleObject113.bin"/><Relationship Id="rId4" Type="http://schemas.openxmlformats.org/officeDocument/2006/relationships/image" Target="../media/image132.wmf"/></Relationships>
</file>

<file path=ppt/slides/_rels/slide54.xml.rels><?xml version="1.0" encoding="UTF-8" standalone="yes"?>
<Relationships xmlns="http://schemas.openxmlformats.org/package/2006/relationships"><Relationship Id="rId8" Type="http://schemas.openxmlformats.org/officeDocument/2006/relationships/image" Target="../media/image137.wmf"/><Relationship Id="rId13" Type="http://schemas.openxmlformats.org/officeDocument/2006/relationships/oleObject" Target="../embeddings/oleObject120.bin"/><Relationship Id="rId18" Type="http://schemas.openxmlformats.org/officeDocument/2006/relationships/image" Target="../media/image142.wmf"/><Relationship Id="rId3" Type="http://schemas.openxmlformats.org/officeDocument/2006/relationships/oleObject" Target="../embeddings/oleObject115.bin"/><Relationship Id="rId7" Type="http://schemas.openxmlformats.org/officeDocument/2006/relationships/oleObject" Target="../embeddings/oleObject117.bin"/><Relationship Id="rId12" Type="http://schemas.openxmlformats.org/officeDocument/2006/relationships/image" Target="../media/image139.wmf"/><Relationship Id="rId17" Type="http://schemas.openxmlformats.org/officeDocument/2006/relationships/oleObject" Target="../embeddings/oleObject122.bin"/><Relationship Id="rId2" Type="http://schemas.openxmlformats.org/officeDocument/2006/relationships/slideLayout" Target="../slideLayouts/slideLayout18.xml"/><Relationship Id="rId16" Type="http://schemas.openxmlformats.org/officeDocument/2006/relationships/image" Target="../media/image141.wmf"/><Relationship Id="rId20" Type="http://schemas.openxmlformats.org/officeDocument/2006/relationships/image" Target="../media/image143.wmf"/><Relationship Id="rId1" Type="http://schemas.openxmlformats.org/officeDocument/2006/relationships/vmlDrawing" Target="../drawings/vmlDrawing43.vml"/><Relationship Id="rId6" Type="http://schemas.openxmlformats.org/officeDocument/2006/relationships/image" Target="../media/image136.wmf"/><Relationship Id="rId11" Type="http://schemas.openxmlformats.org/officeDocument/2006/relationships/oleObject" Target="../embeddings/oleObject119.bin"/><Relationship Id="rId5" Type="http://schemas.openxmlformats.org/officeDocument/2006/relationships/oleObject" Target="../embeddings/oleObject116.bin"/><Relationship Id="rId15" Type="http://schemas.openxmlformats.org/officeDocument/2006/relationships/oleObject" Target="../embeddings/oleObject121.bin"/><Relationship Id="rId10" Type="http://schemas.openxmlformats.org/officeDocument/2006/relationships/image" Target="../media/image138.wmf"/><Relationship Id="rId19" Type="http://schemas.openxmlformats.org/officeDocument/2006/relationships/oleObject" Target="../embeddings/oleObject123.bin"/><Relationship Id="rId4" Type="http://schemas.openxmlformats.org/officeDocument/2006/relationships/image" Target="../media/image135.wmf"/><Relationship Id="rId9" Type="http://schemas.openxmlformats.org/officeDocument/2006/relationships/oleObject" Target="../embeddings/oleObject118.bin"/><Relationship Id="rId14" Type="http://schemas.openxmlformats.org/officeDocument/2006/relationships/image" Target="../media/image140.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Layout" Target="../slideLayouts/slideLayout18.xml"/><Relationship Id="rId1" Type="http://schemas.openxmlformats.org/officeDocument/2006/relationships/vmlDrawing" Target="../drawings/vmlDrawing44.vml"/><Relationship Id="rId4" Type="http://schemas.openxmlformats.org/officeDocument/2006/relationships/image" Target="../media/image144.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18.xml"/><Relationship Id="rId1" Type="http://schemas.openxmlformats.org/officeDocument/2006/relationships/vmlDrawing" Target="../drawings/vmlDrawing45.vml"/><Relationship Id="rId4" Type="http://schemas.openxmlformats.org/officeDocument/2006/relationships/image" Target="../media/image145.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Layout" Target="../slideLayouts/slideLayout18.xml"/><Relationship Id="rId1" Type="http://schemas.openxmlformats.org/officeDocument/2006/relationships/vmlDrawing" Target="../drawings/vmlDrawing46.vml"/><Relationship Id="rId4" Type="http://schemas.openxmlformats.org/officeDocument/2006/relationships/image" Target="../media/image146.emf"/></Relationships>
</file>

<file path=ppt/slides/_rels/slide59.xml.rels><?xml version="1.0" encoding="UTF-8" standalone="yes"?>
<Relationships xmlns="http://schemas.openxmlformats.org/package/2006/relationships"><Relationship Id="rId8" Type="http://schemas.openxmlformats.org/officeDocument/2006/relationships/image" Target="../media/image149.wmf"/><Relationship Id="rId3" Type="http://schemas.openxmlformats.org/officeDocument/2006/relationships/oleObject" Target="../embeddings/oleObject127.bin"/><Relationship Id="rId7" Type="http://schemas.openxmlformats.org/officeDocument/2006/relationships/oleObject" Target="../embeddings/oleObject129.bin"/><Relationship Id="rId2" Type="http://schemas.openxmlformats.org/officeDocument/2006/relationships/slideLayout" Target="../slideLayouts/slideLayout18.xml"/><Relationship Id="rId1" Type="http://schemas.openxmlformats.org/officeDocument/2006/relationships/vmlDrawing" Target="../drawings/vmlDrawing47.vml"/><Relationship Id="rId6" Type="http://schemas.openxmlformats.org/officeDocument/2006/relationships/image" Target="../media/image148.wmf"/><Relationship Id="rId5" Type="http://schemas.openxmlformats.org/officeDocument/2006/relationships/oleObject" Target="../embeddings/oleObject128.bin"/><Relationship Id="rId10" Type="http://schemas.openxmlformats.org/officeDocument/2006/relationships/image" Target="../media/image150.wmf"/><Relationship Id="rId4" Type="http://schemas.openxmlformats.org/officeDocument/2006/relationships/image" Target="../media/image147.wmf"/><Relationship Id="rId9" Type="http://schemas.openxmlformats.org/officeDocument/2006/relationships/oleObject" Target="../embeddings/oleObject130.bin"/></Relationships>
</file>

<file path=ppt/slides/_rels/slide60.x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oleObject" Target="../embeddings/oleObject131.bin"/><Relationship Id="rId7" Type="http://schemas.openxmlformats.org/officeDocument/2006/relationships/oleObject" Target="../embeddings/oleObject133.bin"/><Relationship Id="rId2" Type="http://schemas.openxmlformats.org/officeDocument/2006/relationships/slideLayout" Target="../slideLayouts/slideLayout18.xml"/><Relationship Id="rId1" Type="http://schemas.openxmlformats.org/officeDocument/2006/relationships/vmlDrawing" Target="../drawings/vmlDrawing48.vml"/><Relationship Id="rId6" Type="http://schemas.openxmlformats.org/officeDocument/2006/relationships/image" Target="../media/image152.wmf"/><Relationship Id="rId5" Type="http://schemas.openxmlformats.org/officeDocument/2006/relationships/oleObject" Target="../embeddings/oleObject132.bin"/><Relationship Id="rId10" Type="http://schemas.openxmlformats.org/officeDocument/2006/relationships/image" Target="../media/image154.wmf"/><Relationship Id="rId4" Type="http://schemas.openxmlformats.org/officeDocument/2006/relationships/image" Target="../media/image151.wmf"/><Relationship Id="rId9" Type="http://schemas.openxmlformats.org/officeDocument/2006/relationships/oleObject" Target="../embeddings/oleObject134.bin"/></Relationships>
</file>

<file path=ppt/slides/_rels/slide61.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135.bin"/><Relationship Id="rId7" Type="http://schemas.openxmlformats.org/officeDocument/2006/relationships/oleObject" Target="../embeddings/oleObject137.bin"/><Relationship Id="rId2" Type="http://schemas.openxmlformats.org/officeDocument/2006/relationships/slideLayout" Target="../slideLayouts/slideLayout18.xml"/><Relationship Id="rId1" Type="http://schemas.openxmlformats.org/officeDocument/2006/relationships/vmlDrawing" Target="../drawings/vmlDrawing49.vml"/><Relationship Id="rId6" Type="http://schemas.openxmlformats.org/officeDocument/2006/relationships/image" Target="../media/image156.wmf"/><Relationship Id="rId5" Type="http://schemas.openxmlformats.org/officeDocument/2006/relationships/oleObject" Target="../embeddings/oleObject136.bin"/><Relationship Id="rId4" Type="http://schemas.openxmlformats.org/officeDocument/2006/relationships/image" Target="../media/image155.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Layout" Target="../slideLayouts/slideLayout18.xml"/><Relationship Id="rId1" Type="http://schemas.openxmlformats.org/officeDocument/2006/relationships/vmlDrawing" Target="../drawings/vmlDrawing50.vml"/><Relationship Id="rId4" Type="http://schemas.openxmlformats.org/officeDocument/2006/relationships/image" Target="../media/image158.wmf"/></Relationships>
</file>

<file path=ppt/slides/_rels/slide63.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8" Type="http://schemas.openxmlformats.org/officeDocument/2006/relationships/image" Target="../media/image162.emf"/><Relationship Id="rId3" Type="http://schemas.openxmlformats.org/officeDocument/2006/relationships/oleObject" Target="../embeddings/oleObject139.bin"/><Relationship Id="rId7" Type="http://schemas.openxmlformats.org/officeDocument/2006/relationships/oleObject" Target="../embeddings/oleObject141.bin"/><Relationship Id="rId2" Type="http://schemas.openxmlformats.org/officeDocument/2006/relationships/slideLayout" Target="../slideLayouts/slideLayout18.xml"/><Relationship Id="rId1" Type="http://schemas.openxmlformats.org/officeDocument/2006/relationships/vmlDrawing" Target="../drawings/vmlDrawing51.vml"/><Relationship Id="rId6" Type="http://schemas.openxmlformats.org/officeDocument/2006/relationships/image" Target="../media/image161.emf"/><Relationship Id="rId5" Type="http://schemas.openxmlformats.org/officeDocument/2006/relationships/oleObject" Target="../embeddings/oleObject140.bin"/><Relationship Id="rId4" Type="http://schemas.openxmlformats.org/officeDocument/2006/relationships/image" Target="../media/image160.emf"/></Relationships>
</file>

<file path=ppt/slides/_rels/slide65.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hyperlink" Target="&#36879;&#35270;&#25237;&#24433;&#31639;&#27861;.exe" TargetMode="External"/><Relationship Id="rId1" Type="http://schemas.openxmlformats.org/officeDocument/2006/relationships/slideLayout" Target="../slideLayouts/slideLayout18.xml"/><Relationship Id="rId4" Type="http://schemas.openxmlformats.org/officeDocument/2006/relationships/image" Target="../media/image164.png"/></Relationships>
</file>

<file path=ppt/slides/_rels/slide66.xml.rels><?xml version="1.0" encoding="UTF-8" standalone="yes"?>
<Relationships xmlns="http://schemas.openxmlformats.org/package/2006/relationships"><Relationship Id="rId3" Type="http://schemas.openxmlformats.org/officeDocument/2006/relationships/hyperlink" Target="&#36879;&#35270;&#25237;&#24433;&#31639;&#27861;.exe" TargetMode="External"/><Relationship Id="rId2" Type="http://schemas.openxmlformats.org/officeDocument/2006/relationships/image" Target="../media/image165.pn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42.bin"/><Relationship Id="rId2" Type="http://schemas.openxmlformats.org/officeDocument/2006/relationships/slideLayout" Target="../slideLayouts/slideLayout18.xml"/><Relationship Id="rId1" Type="http://schemas.openxmlformats.org/officeDocument/2006/relationships/vmlDrawing" Target="../drawings/vmlDrawing52.vml"/><Relationship Id="rId4" Type="http://schemas.openxmlformats.org/officeDocument/2006/relationships/image" Target="../media/image166.emf"/></Relationships>
</file>

<file path=ppt/slides/_rels/slide68.xml.rels><?xml version="1.0" encoding="UTF-8" standalone="yes"?>
<Relationships xmlns="http://schemas.openxmlformats.org/package/2006/relationships"><Relationship Id="rId8" Type="http://schemas.openxmlformats.org/officeDocument/2006/relationships/image" Target="../media/image169.wmf"/><Relationship Id="rId3" Type="http://schemas.openxmlformats.org/officeDocument/2006/relationships/oleObject" Target="../embeddings/oleObject143.bin"/><Relationship Id="rId7" Type="http://schemas.openxmlformats.org/officeDocument/2006/relationships/oleObject" Target="../embeddings/oleObject145.bin"/><Relationship Id="rId2" Type="http://schemas.openxmlformats.org/officeDocument/2006/relationships/slideLayout" Target="../slideLayouts/slideLayout18.xml"/><Relationship Id="rId1" Type="http://schemas.openxmlformats.org/officeDocument/2006/relationships/vmlDrawing" Target="../drawings/vmlDrawing53.vml"/><Relationship Id="rId6" Type="http://schemas.openxmlformats.org/officeDocument/2006/relationships/image" Target="../media/image168.wmf"/><Relationship Id="rId5" Type="http://schemas.openxmlformats.org/officeDocument/2006/relationships/oleObject" Target="../embeddings/oleObject144.bin"/><Relationship Id="rId4" Type="http://schemas.openxmlformats.org/officeDocument/2006/relationships/image" Target="../media/image167.w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18.xml"/><Relationship Id="rId1" Type="http://schemas.openxmlformats.org/officeDocument/2006/relationships/vmlDrawing" Target="../drawings/vmlDrawing54.vml"/><Relationship Id="rId4" Type="http://schemas.openxmlformats.org/officeDocument/2006/relationships/image" Target="../media/image170.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Layout" Target="../slideLayouts/slideLayout18.xml"/><Relationship Id="rId1" Type="http://schemas.openxmlformats.org/officeDocument/2006/relationships/vmlDrawing" Target="../drawings/vmlDrawing55.vml"/><Relationship Id="rId4" Type="http://schemas.openxmlformats.org/officeDocument/2006/relationships/image" Target="../media/image171.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18.xml"/><Relationship Id="rId1" Type="http://schemas.openxmlformats.org/officeDocument/2006/relationships/vmlDrawing" Target="../drawings/vmlDrawing56.vml"/><Relationship Id="rId6" Type="http://schemas.openxmlformats.org/officeDocument/2006/relationships/image" Target="../media/image173.wmf"/><Relationship Id="rId5" Type="http://schemas.openxmlformats.org/officeDocument/2006/relationships/oleObject" Target="../embeddings/oleObject149.bin"/><Relationship Id="rId4" Type="http://schemas.openxmlformats.org/officeDocument/2006/relationships/image" Target="../media/image172.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50.bin"/><Relationship Id="rId2" Type="http://schemas.openxmlformats.org/officeDocument/2006/relationships/slideLayout" Target="../slideLayouts/slideLayout18.xml"/><Relationship Id="rId1" Type="http://schemas.openxmlformats.org/officeDocument/2006/relationships/vmlDrawing" Target="../drawings/vmlDrawing57.vml"/><Relationship Id="rId4" Type="http://schemas.openxmlformats.org/officeDocument/2006/relationships/image" Target="../media/image174.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51.bin"/><Relationship Id="rId2" Type="http://schemas.openxmlformats.org/officeDocument/2006/relationships/slideLayout" Target="../slideLayouts/slideLayout18.xml"/><Relationship Id="rId1" Type="http://schemas.openxmlformats.org/officeDocument/2006/relationships/vmlDrawing" Target="../drawings/vmlDrawing58.vml"/><Relationship Id="rId4" Type="http://schemas.openxmlformats.org/officeDocument/2006/relationships/image" Target="../media/image175.e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52.bin"/><Relationship Id="rId2" Type="http://schemas.openxmlformats.org/officeDocument/2006/relationships/slideLayout" Target="../slideLayouts/slideLayout18.xml"/><Relationship Id="rId1" Type="http://schemas.openxmlformats.org/officeDocument/2006/relationships/vmlDrawing" Target="../drawings/vmlDrawing59.vml"/><Relationship Id="rId4" Type="http://schemas.openxmlformats.org/officeDocument/2006/relationships/image" Target="../media/image176.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53.bin"/><Relationship Id="rId2" Type="http://schemas.openxmlformats.org/officeDocument/2006/relationships/slideLayout" Target="../slideLayouts/slideLayout18.xml"/><Relationship Id="rId1" Type="http://schemas.openxmlformats.org/officeDocument/2006/relationships/vmlDrawing" Target="../drawings/vmlDrawing60.vml"/><Relationship Id="rId4" Type="http://schemas.openxmlformats.org/officeDocument/2006/relationships/image" Target="../media/image177.emf"/></Relationships>
</file>

<file path=ppt/slides/_rels/slide79.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3" Type="http://schemas.openxmlformats.org/officeDocument/2006/relationships/hyperlink" Target="&#39068;&#33394;&#28176;&#21464;&#31435;&#26041;&#20307;&#32447;&#26694;&#27169;&#22411;&#36879;&#35270;&#25237;&#24433;.exe" TargetMode="External"/><Relationship Id="rId2" Type="http://schemas.openxmlformats.org/officeDocument/2006/relationships/image" Target="../media/image179.png"/><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8" Type="http://schemas.openxmlformats.org/officeDocument/2006/relationships/image" Target="../media/image182.emf"/><Relationship Id="rId3" Type="http://schemas.openxmlformats.org/officeDocument/2006/relationships/oleObject" Target="../embeddings/oleObject154.bin"/><Relationship Id="rId7" Type="http://schemas.openxmlformats.org/officeDocument/2006/relationships/oleObject" Target="../embeddings/oleObject156.bin"/><Relationship Id="rId2" Type="http://schemas.openxmlformats.org/officeDocument/2006/relationships/slideLayout" Target="../slideLayouts/slideLayout18.xml"/><Relationship Id="rId1" Type="http://schemas.openxmlformats.org/officeDocument/2006/relationships/vmlDrawing" Target="../drawings/vmlDrawing61.vml"/><Relationship Id="rId6" Type="http://schemas.openxmlformats.org/officeDocument/2006/relationships/image" Target="../media/image181.emf"/><Relationship Id="rId5" Type="http://schemas.openxmlformats.org/officeDocument/2006/relationships/oleObject" Target="../embeddings/oleObject155.bin"/><Relationship Id="rId4" Type="http://schemas.openxmlformats.org/officeDocument/2006/relationships/image" Target="../media/image180.emf"/></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160.bin"/><Relationship Id="rId13" Type="http://schemas.openxmlformats.org/officeDocument/2006/relationships/image" Target="../media/image187.wmf"/><Relationship Id="rId3" Type="http://schemas.openxmlformats.org/officeDocument/2006/relationships/oleObject" Target="../embeddings/oleObject157.bin"/><Relationship Id="rId7" Type="http://schemas.openxmlformats.org/officeDocument/2006/relationships/image" Target="../media/image184.emf"/><Relationship Id="rId12" Type="http://schemas.openxmlformats.org/officeDocument/2006/relationships/oleObject" Target="../embeddings/oleObject162.bin"/><Relationship Id="rId2" Type="http://schemas.openxmlformats.org/officeDocument/2006/relationships/slideLayout" Target="../slideLayouts/slideLayout18.xml"/><Relationship Id="rId1" Type="http://schemas.openxmlformats.org/officeDocument/2006/relationships/vmlDrawing" Target="../drawings/vmlDrawing62.vml"/><Relationship Id="rId6" Type="http://schemas.openxmlformats.org/officeDocument/2006/relationships/oleObject" Target="../embeddings/oleObject159.bin"/><Relationship Id="rId11" Type="http://schemas.openxmlformats.org/officeDocument/2006/relationships/image" Target="../media/image186.wmf"/><Relationship Id="rId5" Type="http://schemas.openxmlformats.org/officeDocument/2006/relationships/oleObject" Target="../embeddings/oleObject158.bin"/><Relationship Id="rId10" Type="http://schemas.openxmlformats.org/officeDocument/2006/relationships/oleObject" Target="../embeddings/oleObject161.bin"/><Relationship Id="rId4" Type="http://schemas.openxmlformats.org/officeDocument/2006/relationships/image" Target="../media/image183.wmf"/><Relationship Id="rId9" Type="http://schemas.openxmlformats.org/officeDocument/2006/relationships/image" Target="../media/image185.w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163.bin"/><Relationship Id="rId2" Type="http://schemas.openxmlformats.org/officeDocument/2006/relationships/slideLayout" Target="../slideLayouts/slideLayout18.xml"/><Relationship Id="rId1" Type="http://schemas.openxmlformats.org/officeDocument/2006/relationships/vmlDrawing" Target="../drawings/vmlDrawing63.vml"/><Relationship Id="rId4" Type="http://schemas.openxmlformats.org/officeDocument/2006/relationships/image" Target="../media/image188.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AutoShape 6" descr="新闻纸"/>
          <p:cNvSpPr>
            <a:spLocks noChangeArrowheads="1"/>
          </p:cNvSpPr>
          <p:nvPr/>
        </p:nvSpPr>
        <p:spPr bwMode="auto">
          <a:xfrm>
            <a:off x="468313" y="549275"/>
            <a:ext cx="2447925" cy="1268413"/>
          </a:xfrm>
          <a:prstGeom prst="diamond">
            <a:avLst/>
          </a:prstGeom>
          <a:blipFill dpi="0" rotWithShape="0">
            <a:blip r:embed="rId3"/>
            <a:srcRect/>
            <a:tile tx="0" ty="0" sx="100000" sy="100000" flip="none" algn="tl"/>
          </a:blipFill>
          <a:ln>
            <a:noFill/>
          </a:ln>
          <a:effectLst>
            <a:prstShdw prst="shdw17" dist="17961" dir="2700000">
              <a:srgbClr val="959595"/>
            </a:prstShdw>
          </a:effectLst>
          <a:extLst>
            <a:ext uri="{91240B29-F687-4F45-9708-019B960494DF}">
              <a14:hiddenLine xmlns:a14="http://schemas.microsoft.com/office/drawing/2010/main" w="9525">
                <a:solidFill>
                  <a:srgbClr val="000000"/>
                </a:solidFill>
                <a:miter lim="800000"/>
                <a:headEnd/>
                <a:tailEnd/>
              </a14:hiddenLine>
            </a:ext>
          </a:extLst>
        </p:spPr>
        <p:txBody>
          <a:bodyPr t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a:lnSpc>
                <a:spcPct val="150000"/>
              </a:lnSpc>
              <a:buFont typeface="Arial" panose="020B0604020202020204" pitchFamily="34" charset="0"/>
              <a:buNone/>
            </a:pPr>
            <a:r>
              <a:rPr lang="zh-CN" altLang="en-US" b="1">
                <a:solidFill>
                  <a:schemeClr val="folHlink"/>
                </a:solidFill>
                <a:latin typeface="Times New Roman" panose="02020603050405020304" pitchFamily="18" charset="0"/>
              </a:rPr>
              <a:t>第六章</a:t>
            </a:r>
            <a:endParaRPr lang="zh-CN" altLang="en-US" b="1">
              <a:solidFill>
                <a:schemeClr val="folHlink"/>
              </a:solidFill>
              <a:latin typeface="幼圆" panose="02010509060101010101" pitchFamily="49" charset="-122"/>
            </a:endParaRPr>
          </a:p>
        </p:txBody>
      </p:sp>
      <p:grpSp>
        <p:nvGrpSpPr>
          <p:cNvPr id="15363" name="Group 5"/>
          <p:cNvGrpSpPr>
            <a:grpSpLocks/>
          </p:cNvGrpSpPr>
          <p:nvPr/>
        </p:nvGrpSpPr>
        <p:grpSpPr bwMode="auto">
          <a:xfrm>
            <a:off x="1692275" y="3241675"/>
            <a:ext cx="3810000" cy="519113"/>
            <a:chOff x="0" y="0"/>
            <a:chExt cx="5675" cy="663"/>
          </a:xfrm>
        </p:grpSpPr>
        <p:grpSp>
          <p:nvGrpSpPr>
            <p:cNvPr id="15365" name="Group 6"/>
            <p:cNvGrpSpPr>
              <a:grpSpLocks/>
            </p:cNvGrpSpPr>
            <p:nvPr/>
          </p:nvGrpSpPr>
          <p:grpSpPr bwMode="auto">
            <a:xfrm>
              <a:off x="183" y="68"/>
              <a:ext cx="448" cy="299"/>
              <a:chOff x="0" y="0"/>
              <a:chExt cx="624" cy="432"/>
            </a:xfrm>
          </p:grpSpPr>
          <p:sp>
            <p:nvSpPr>
              <p:cNvPr id="15372" name="Rectangle 21"/>
              <p:cNvSpPr>
                <a:spLocks noChangeArrowheads="1"/>
              </p:cNvSpPr>
              <p:nvPr/>
            </p:nvSpPr>
            <p:spPr bwMode="auto">
              <a:xfrm>
                <a:off x="0" y="0"/>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15373" name="Rectangle 22"/>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pSp>
        <p:grpSp>
          <p:nvGrpSpPr>
            <p:cNvPr id="15366" name="Group 9"/>
            <p:cNvGrpSpPr>
              <a:grpSpLocks/>
            </p:cNvGrpSpPr>
            <p:nvPr/>
          </p:nvGrpSpPr>
          <p:grpSpPr bwMode="auto">
            <a:xfrm>
              <a:off x="261" y="334"/>
              <a:ext cx="465" cy="299"/>
              <a:chOff x="0" y="0"/>
              <a:chExt cx="672" cy="432"/>
            </a:xfrm>
          </p:grpSpPr>
          <p:sp>
            <p:nvSpPr>
              <p:cNvPr id="15370" name="Rectangle 24"/>
              <p:cNvSpPr>
                <a:spLocks noChangeArrowheads="1"/>
              </p:cNvSpPr>
              <p:nvPr/>
            </p:nvSpPr>
            <p:spPr bwMode="auto">
              <a:xfrm>
                <a:off x="0" y="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15371" name="Rectangle 25"/>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pSp>
        <p:sp>
          <p:nvSpPr>
            <p:cNvPr id="15367" name="Rectangle 26"/>
            <p:cNvSpPr>
              <a:spLocks noChangeArrowheads="1"/>
            </p:cNvSpPr>
            <p:nvPr/>
          </p:nvSpPr>
          <p:spPr bwMode="auto">
            <a:xfrm>
              <a:off x="0" y="288"/>
              <a:ext cx="353" cy="266"/>
            </a:xfrm>
            <a:prstGeom prst="rect">
              <a:avLst/>
            </a:prstGeom>
            <a:gradFill rotWithShape="0">
              <a:gsLst>
                <a:gs pos="0">
                  <a:schemeClr val="bg1"/>
                </a:gs>
                <a:gs pos="100000">
                  <a:schemeClr val="hlink"/>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15368" name="Rectangle 27"/>
            <p:cNvSpPr>
              <a:spLocks noChangeArrowheads="1"/>
            </p:cNvSpPr>
            <p:nvPr/>
          </p:nvSpPr>
          <p:spPr bwMode="auto">
            <a:xfrm>
              <a:off x="400" y="0"/>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15369" name="Rectangle 28"/>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pSp>
      <p:sp>
        <p:nvSpPr>
          <p:cNvPr id="15364" name="WordArt 33"/>
          <p:cNvSpPr>
            <a:spLocks noChangeArrowheads="1" noChangeShapeType="1" noTextEdit="1"/>
          </p:cNvSpPr>
          <p:nvPr/>
        </p:nvSpPr>
        <p:spPr bwMode="auto">
          <a:xfrm>
            <a:off x="2484438" y="2708275"/>
            <a:ext cx="5327650" cy="792163"/>
          </a:xfrm>
          <a:prstGeom prst="rect">
            <a:avLst/>
          </a:prstGeom>
        </p:spPr>
        <p:txBody>
          <a:bodyPr wrap="none" fromWordArt="1">
            <a:prstTxWarp prst="textPlain">
              <a:avLst>
                <a:gd name="adj" fmla="val 50000"/>
              </a:avLst>
            </a:prstTxWarp>
          </a:bodyPr>
          <a:lstStyle/>
          <a:p>
            <a:pPr algn="ctr"/>
            <a:r>
              <a:rPr lang="zh-CN" altLang="en-US" sz="3200" kern="10">
                <a:ln w="12700">
                  <a:solidFill>
                    <a:schemeClr val="bg2"/>
                  </a:solidFill>
                  <a:round/>
                  <a:headEnd/>
                  <a:tailEnd/>
                </a:ln>
                <a:solidFill>
                  <a:schemeClr val="tx1">
                    <a:alpha val="74901"/>
                  </a:schemeClr>
                </a:solidFill>
                <a:effectLst>
                  <a:outerShdw dist="45791" dir="2021404" algn="ctr" rotWithShape="0">
                    <a:srgbClr val="9999FF"/>
                  </a:outerShdw>
                </a:effectLst>
                <a:latin typeface="楷体_GB2312"/>
              </a:rPr>
              <a:t>三维变换与投影</a:t>
            </a:r>
          </a:p>
        </p:txBody>
      </p:sp>
    </p:spTree>
  </p:cSld>
  <p:clrMapOvr>
    <a:masterClrMapping/>
  </p:clrMapOvr>
  <p:transition advClick="0" advTm="1000">
    <p:zo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6146" name="Rectangle 3"/>
          <p:cNvSpPr>
            <a:spLocks noGrp="1" noChangeArrowheads="1"/>
          </p:cNvSpPr>
          <p:nvPr>
            <p:ph type="body" idx="4294967295"/>
          </p:nvPr>
        </p:nvSpPr>
        <p:spPr bwMode="auto">
          <a:xfrm>
            <a:off x="1908175" y="1557338"/>
            <a:ext cx="5616575" cy="3529012"/>
          </a:xfrm>
          <a:ln>
            <a:miter lim="800000"/>
            <a:headEnd/>
            <a:tailEnd/>
          </a:ln>
        </p:spPr>
        <p:txBody>
          <a:bodyPr/>
          <a:lstStyle/>
          <a:p>
            <a:pPr fontAlgn="auto">
              <a:lnSpc>
                <a:spcPct val="140000"/>
              </a:lnSpc>
              <a:spcAft>
                <a:spcPts val="0"/>
              </a:spcAft>
              <a:defRPr/>
            </a:pPr>
            <a:r>
              <a:rPr lang="zh-CN" altLang="en-US" sz="3200" dirty="0">
                <a:effectLst>
                  <a:outerShdw blurRad="38100" dist="38100" dir="2700000" algn="tl">
                    <a:srgbClr val="C0C0C0"/>
                  </a:outerShdw>
                </a:effectLst>
                <a:ea typeface="隶书" pitchFamily="49" charset="-122"/>
                <a:hlinkClick r:id="rId3" action="ppaction://hlinksldjump"/>
              </a:rPr>
              <a:t>三维几何变换矩阵</a:t>
            </a:r>
            <a:endParaRPr lang="zh-CN" altLang="en-US" sz="3200" dirty="0">
              <a:effectLst>
                <a:outerShdw blurRad="38100" dist="38100" dir="2700000" algn="tl">
                  <a:srgbClr val="C0C0C0"/>
                </a:outerShdw>
              </a:effectLst>
              <a:ea typeface="隶书" pitchFamily="49" charset="-122"/>
            </a:endParaRPr>
          </a:p>
          <a:p>
            <a:pPr fontAlgn="auto">
              <a:lnSpc>
                <a:spcPct val="140000"/>
              </a:lnSpc>
              <a:spcAft>
                <a:spcPts val="0"/>
              </a:spcAft>
              <a:defRPr/>
            </a:pPr>
            <a:r>
              <a:rPr lang="zh-CN" altLang="en-US" sz="3200" dirty="0">
                <a:effectLst>
                  <a:outerShdw blurRad="38100" dist="38100" dir="2700000" algn="tl">
                    <a:srgbClr val="C0C0C0"/>
                  </a:outerShdw>
                </a:effectLst>
                <a:ea typeface="隶书" pitchFamily="49" charset="-122"/>
                <a:hlinkClick r:id="rId4" action="ppaction://hlinksldjump"/>
              </a:rPr>
              <a:t>正交投影</a:t>
            </a:r>
            <a:endParaRPr lang="zh-CN" altLang="en-US" sz="3200" dirty="0">
              <a:effectLst>
                <a:outerShdw blurRad="38100" dist="38100" dir="2700000" algn="tl">
                  <a:srgbClr val="C0C0C0"/>
                </a:outerShdw>
              </a:effectLst>
              <a:ea typeface="隶书" pitchFamily="49" charset="-122"/>
            </a:endParaRPr>
          </a:p>
          <a:p>
            <a:pPr fontAlgn="auto">
              <a:lnSpc>
                <a:spcPct val="140000"/>
              </a:lnSpc>
              <a:spcAft>
                <a:spcPts val="0"/>
              </a:spcAft>
              <a:defRPr/>
            </a:pPr>
            <a:r>
              <a:rPr lang="zh-CN" altLang="en-US" sz="3200" dirty="0">
                <a:effectLst>
                  <a:outerShdw blurRad="38100" dist="38100" dir="2700000" algn="tl">
                    <a:srgbClr val="C0C0C0"/>
                  </a:outerShdw>
                </a:effectLst>
                <a:ea typeface="隶书" pitchFamily="49" charset="-122"/>
                <a:hlinkClick r:id="rId5" action="ppaction://hlinksldjump"/>
              </a:rPr>
              <a:t>斜投影</a:t>
            </a:r>
            <a:endParaRPr lang="zh-CN" altLang="en-US" sz="3200" dirty="0">
              <a:effectLst>
                <a:outerShdw blurRad="38100" dist="38100" dir="2700000" algn="tl">
                  <a:srgbClr val="C0C0C0"/>
                </a:outerShdw>
              </a:effectLst>
              <a:ea typeface="隶书" pitchFamily="49" charset="-122"/>
            </a:endParaRPr>
          </a:p>
          <a:p>
            <a:pPr fontAlgn="auto">
              <a:lnSpc>
                <a:spcPct val="140000"/>
              </a:lnSpc>
              <a:spcAft>
                <a:spcPts val="0"/>
              </a:spcAft>
              <a:defRPr/>
            </a:pPr>
            <a:r>
              <a:rPr lang="zh-CN" altLang="en-US" sz="3200" dirty="0">
                <a:effectLst>
                  <a:outerShdw blurRad="38100" dist="38100" dir="2700000" algn="tl">
                    <a:srgbClr val="C0C0C0"/>
                  </a:outerShdw>
                </a:effectLst>
                <a:ea typeface="隶书" pitchFamily="49" charset="-122"/>
                <a:hlinkClick r:id="rId6" action="ppaction://hlinksldjump"/>
              </a:rPr>
              <a:t>透视投影</a:t>
            </a:r>
            <a:endParaRPr lang="zh-CN" altLang="en-US" sz="3200" dirty="0">
              <a:effectLst>
                <a:outerShdw blurRad="38100" dist="38100" dir="2700000" algn="tl">
                  <a:srgbClr val="C0C0C0"/>
                </a:outerShdw>
              </a:effectLst>
              <a:ea typeface="隶书" pitchFamily="49" charset="-122"/>
            </a:endParaRPr>
          </a:p>
        </p:txBody>
      </p:sp>
      <p:sp>
        <p:nvSpPr>
          <p:cNvPr id="6147" name="Text Box 16"/>
          <p:cNvSpPr txBox="1">
            <a:spLocks noChangeArrowheads="1"/>
          </p:cNvSpPr>
          <p:nvPr/>
        </p:nvSpPr>
        <p:spPr bwMode="auto">
          <a:xfrm>
            <a:off x="611188" y="404813"/>
            <a:ext cx="3168650" cy="641350"/>
          </a:xfrm>
          <a:prstGeom prst="rect">
            <a:avLst/>
          </a:prstGeom>
          <a:noFill/>
          <a:ln w="9525">
            <a:noFill/>
            <a:miter lim="800000"/>
            <a:headEnd/>
            <a:tailEnd/>
          </a:ln>
        </p:spPr>
        <p:txBody>
          <a:bodyPr>
            <a:spAutoFit/>
          </a:bodyPr>
          <a:lstStyle/>
          <a:p>
            <a:pPr eaLnBrk="1" hangingPunct="1">
              <a:spcBef>
                <a:spcPct val="50000"/>
              </a:spcBef>
              <a:buFont typeface="Arial" charset="0"/>
              <a:buNone/>
              <a:defRPr/>
            </a:pPr>
            <a:r>
              <a:rPr lang="zh-CN" altLang="en-US" sz="3600" b="1" dirty="0">
                <a:effectLst>
                  <a:outerShdw blurRad="38100" dist="38100" dir="2700000" algn="tl">
                    <a:srgbClr val="C0C0C0"/>
                  </a:outerShdw>
                </a:effectLst>
                <a:latin typeface="楷体_GB2312" pitchFamily="49" charset="-122"/>
              </a:rPr>
              <a:t>本章学习目标</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9"/>
          <p:cNvSpPr>
            <a:spLocks noGrp="1" noChangeArrowheads="1"/>
          </p:cNvSpPr>
          <p:nvPr>
            <p:ph type="body" idx="4294967295"/>
          </p:nvPr>
        </p:nvSpPr>
        <p:spPr bwMode="auto">
          <a:xfrm>
            <a:off x="1331913" y="1341438"/>
            <a:ext cx="6408737" cy="4824412"/>
          </a:xfrm>
          <a:solidFill>
            <a:srgbClr val="FFFFFF"/>
          </a:solidFill>
          <a:ln>
            <a:miter lim="800000"/>
          </a:ln>
        </p:spPr>
        <p:txBody>
          <a:bodyPr/>
          <a:lstStyle/>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6.1  </a:t>
            </a:r>
            <a:r>
              <a:rPr lang="zh-CN" altLang="en-US" sz="2800" dirty="0">
                <a:effectLst>
                  <a:outerShdw blurRad="38100" dist="38100" dir="2700000" algn="tl">
                    <a:srgbClr val="C0C0C0"/>
                  </a:outerShdw>
                </a:effectLst>
                <a:ea typeface="隶书" panose="02010509060101010101" pitchFamily="49" charset="-122"/>
              </a:rPr>
              <a:t>三维图形几何变换 </a:t>
            </a:r>
          </a:p>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6.2  </a:t>
            </a:r>
            <a:r>
              <a:rPr lang="zh-CN" altLang="en-US" sz="2800" dirty="0">
                <a:effectLst>
                  <a:outerShdw blurRad="38100" dist="38100" dir="2700000" algn="tl">
                    <a:srgbClr val="C0C0C0"/>
                  </a:outerShdw>
                </a:effectLst>
                <a:ea typeface="隶书" panose="02010509060101010101" pitchFamily="49" charset="-122"/>
              </a:rPr>
              <a:t>三维基本几何变换矩阵 </a:t>
            </a:r>
          </a:p>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6.3  </a:t>
            </a:r>
            <a:r>
              <a:rPr lang="zh-CN" altLang="en-US" sz="2800" dirty="0">
                <a:effectLst>
                  <a:outerShdw blurRad="38100" dist="38100" dir="2700000" algn="tl">
                    <a:srgbClr val="C0C0C0"/>
                  </a:outerShdw>
                </a:effectLst>
                <a:ea typeface="隶书" panose="02010509060101010101" pitchFamily="49" charset="-122"/>
              </a:rPr>
              <a:t>三维复合变换 </a:t>
            </a:r>
          </a:p>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6.4  </a:t>
            </a:r>
            <a:r>
              <a:rPr lang="zh-CN" altLang="en-US" sz="2800" dirty="0">
                <a:effectLst>
                  <a:outerShdw blurRad="38100" dist="38100" dir="2700000" algn="tl">
                    <a:srgbClr val="C0C0C0"/>
                  </a:outerShdw>
                </a:effectLst>
                <a:ea typeface="隶书" panose="02010509060101010101" pitchFamily="49" charset="-122"/>
              </a:rPr>
              <a:t>坐标系变换 </a:t>
            </a:r>
          </a:p>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6.5  </a:t>
            </a:r>
            <a:r>
              <a:rPr lang="zh-CN" altLang="en-US" sz="2800" dirty="0">
                <a:effectLst>
                  <a:outerShdw blurRad="38100" dist="38100" dir="2700000" algn="tl">
                    <a:srgbClr val="C0C0C0"/>
                  </a:outerShdw>
                </a:effectLst>
                <a:ea typeface="隶书" panose="02010509060101010101" pitchFamily="49" charset="-122"/>
              </a:rPr>
              <a:t>平行投影 </a:t>
            </a:r>
          </a:p>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6.6  </a:t>
            </a:r>
            <a:r>
              <a:rPr lang="zh-CN" altLang="en-US" sz="2800" dirty="0">
                <a:effectLst>
                  <a:outerShdw blurRad="38100" dist="38100" dir="2700000" algn="tl">
                    <a:srgbClr val="C0C0C0"/>
                  </a:outerShdw>
                </a:effectLst>
                <a:ea typeface="隶书" panose="02010509060101010101" pitchFamily="49" charset="-122"/>
              </a:rPr>
              <a:t>透视投影 </a:t>
            </a:r>
          </a:p>
          <a:p>
            <a:pPr marL="342900" indent="-342900">
              <a:spcBef>
                <a:spcPct val="20000"/>
              </a:spcBef>
              <a:buClr>
                <a:srgbClr val="336600"/>
              </a:buClr>
              <a:buSzPct val="60000"/>
              <a:buFont typeface="Wingdings" panose="05000000000000000000" pitchFamily="2" charset="2"/>
              <a:buChar char="n"/>
              <a:defRPr/>
            </a:pPr>
            <a:r>
              <a:rPr lang="en-US" altLang="zh-CN" sz="2800" dirty="0">
                <a:effectLst>
                  <a:outerShdw blurRad="38100" dist="38100" dir="2700000" algn="tl">
                    <a:srgbClr val="C0C0C0"/>
                  </a:outerShdw>
                </a:effectLst>
                <a:ea typeface="隶书" panose="02010509060101010101" pitchFamily="49" charset="-122"/>
              </a:rPr>
              <a:t>6.7  </a:t>
            </a:r>
            <a:r>
              <a:rPr lang="zh-CN" altLang="en-US" sz="2800" dirty="0">
                <a:effectLst>
                  <a:outerShdw blurRad="38100" dist="38100" dir="2700000" algn="tl">
                    <a:srgbClr val="C0C0C0"/>
                  </a:outerShdw>
                </a:effectLst>
                <a:ea typeface="隶书" panose="02010509060101010101" pitchFamily="49" charset="-122"/>
              </a:rPr>
              <a:t>本章小结</a:t>
            </a:r>
          </a:p>
          <a:p>
            <a:pPr marL="342900" indent="-342900">
              <a:spcBef>
                <a:spcPct val="20000"/>
              </a:spcBef>
              <a:buClr>
                <a:srgbClr val="336600"/>
              </a:buClr>
              <a:buSzPct val="60000"/>
              <a:buFont typeface="Wingdings" panose="05000000000000000000" pitchFamily="2" charset="2"/>
              <a:buChar char="n"/>
              <a:defRPr/>
            </a:pPr>
            <a:r>
              <a:rPr lang="zh-CN" altLang="en-US" sz="2800" dirty="0">
                <a:effectLst>
                  <a:outerShdw blurRad="38100" dist="38100" dir="2700000" algn="tl">
                    <a:srgbClr val="C0C0C0"/>
                  </a:outerShdw>
                </a:effectLst>
                <a:ea typeface="隶书" panose="02010509060101010101" pitchFamily="49" charset="-122"/>
              </a:rPr>
              <a:t>习题 </a:t>
            </a:r>
            <a:r>
              <a:rPr lang="en-US" altLang="zh-CN" sz="2800" dirty="0">
                <a:effectLst>
                  <a:outerShdw blurRad="38100" dist="38100" dir="2700000" algn="tl">
                    <a:srgbClr val="C0C0C0"/>
                  </a:outerShdw>
                </a:effectLst>
                <a:ea typeface="隶书" panose="02010509060101010101" pitchFamily="49" charset="-122"/>
              </a:rPr>
              <a:t>6</a:t>
            </a:r>
          </a:p>
        </p:txBody>
      </p:sp>
      <p:sp>
        <p:nvSpPr>
          <p:cNvPr id="7171" name="Text Box 13"/>
          <p:cNvSpPr txBox="1">
            <a:spLocks noChangeArrowheads="1"/>
          </p:cNvSpPr>
          <p:nvPr/>
        </p:nvSpPr>
        <p:spPr bwMode="auto">
          <a:xfrm>
            <a:off x="1547813" y="404813"/>
            <a:ext cx="2663825" cy="641350"/>
          </a:xfrm>
          <a:prstGeom prst="rect">
            <a:avLst/>
          </a:prstGeom>
          <a:noFill/>
          <a:ln w="9525">
            <a:noFill/>
            <a:miter lim="800000"/>
            <a:headEnd/>
            <a:tailEnd/>
          </a:ln>
        </p:spPr>
        <p:txBody>
          <a:bodyPr>
            <a:spAutoFit/>
          </a:bodyPr>
          <a:lstStyle/>
          <a:p>
            <a:pPr eaLnBrk="1" hangingPunct="1">
              <a:spcBef>
                <a:spcPct val="50000"/>
              </a:spcBef>
              <a:buFont typeface="Arial" charset="0"/>
              <a:buNone/>
              <a:defRPr/>
            </a:pPr>
            <a:r>
              <a:rPr lang="zh-CN" altLang="en-US" sz="3600" b="1" dirty="0">
                <a:effectLst>
                  <a:outerShdw blurRad="38100" dist="38100" dir="2700000" algn="tl">
                    <a:srgbClr val="C0C0C0"/>
                  </a:outerShdw>
                </a:effectLst>
                <a:latin typeface="楷体_GB2312" pitchFamily="49" charset="-122"/>
              </a:rPr>
              <a:t>本章内容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2" dur="500"/>
                                        <p:tgtEl>
                                          <p:spTgt spid="717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7" dur="500"/>
                                        <p:tgtEl>
                                          <p:spTgt spid="717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170">
                                            <p:txEl>
                                              <p:pRg st="3" end="3"/>
                                            </p:txEl>
                                          </p:spTgt>
                                        </p:tgtEl>
                                        <p:attrNameLst>
                                          <p:attrName>style.visibility</p:attrName>
                                        </p:attrNameLst>
                                      </p:cBhvr>
                                      <p:to>
                                        <p:strVal val="visible"/>
                                      </p:to>
                                    </p:set>
                                    <p:animEffect transition="in" filter="blinds(horizontal)">
                                      <p:cBhvr>
                                        <p:cTn id="22" dur="500"/>
                                        <p:tgtEl>
                                          <p:spTgt spid="717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0">
                                            <p:txEl>
                                              <p:pRg st="4" end="4"/>
                                            </p:txEl>
                                          </p:spTgt>
                                        </p:tgtEl>
                                        <p:attrNameLst>
                                          <p:attrName>style.visibility</p:attrName>
                                        </p:attrNameLst>
                                      </p:cBhvr>
                                      <p:to>
                                        <p:strVal val="visible"/>
                                      </p:to>
                                    </p:set>
                                    <p:animEffect transition="in" filter="blinds(horizontal)">
                                      <p:cBhvr>
                                        <p:cTn id="27" dur="500"/>
                                        <p:tgtEl>
                                          <p:spTgt spid="717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170">
                                            <p:txEl>
                                              <p:pRg st="5" end="5"/>
                                            </p:txEl>
                                          </p:spTgt>
                                        </p:tgtEl>
                                        <p:attrNameLst>
                                          <p:attrName>style.visibility</p:attrName>
                                        </p:attrNameLst>
                                      </p:cBhvr>
                                      <p:to>
                                        <p:strVal val="visible"/>
                                      </p:to>
                                    </p:set>
                                    <p:animEffect transition="in" filter="blinds(horizontal)">
                                      <p:cBhvr>
                                        <p:cTn id="32" dur="500"/>
                                        <p:tgtEl>
                                          <p:spTgt spid="7170">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170">
                                            <p:txEl>
                                              <p:pRg st="6" end="6"/>
                                            </p:txEl>
                                          </p:spTgt>
                                        </p:tgtEl>
                                        <p:attrNameLst>
                                          <p:attrName>style.visibility</p:attrName>
                                        </p:attrNameLst>
                                      </p:cBhvr>
                                      <p:to>
                                        <p:strVal val="visible"/>
                                      </p:to>
                                    </p:set>
                                    <p:animEffect transition="in" filter="blinds(horizontal)">
                                      <p:cBhvr>
                                        <p:cTn id="37" dur="500"/>
                                        <p:tgtEl>
                                          <p:spTgt spid="7170">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170">
                                            <p:txEl>
                                              <p:pRg st="7" end="7"/>
                                            </p:txEl>
                                          </p:spTgt>
                                        </p:tgtEl>
                                        <p:attrNameLst>
                                          <p:attrName>style.visibility</p:attrName>
                                        </p:attrNameLst>
                                      </p:cBhvr>
                                      <p:to>
                                        <p:strVal val="visible"/>
                                      </p:to>
                                    </p:set>
                                    <p:animEffect transition="in" filter="blinds(horizontal)">
                                      <p:cBhvr>
                                        <p:cTn id="42" dur="500"/>
                                        <p:tgtEl>
                                          <p:spTgt spid="717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Rot="1" noChangeAspect="1" noMove="1" noResize="1" noEditPoints="1" noAdjustHandles="1" noChangeArrowheads="1" noChangeShapeType="1" noTextEdit="1"/>
          </p:cNvSpPr>
          <p:nvPr/>
        </p:nvSpPr>
        <p:spPr bwMode="auto">
          <a:xfrm>
            <a:off x="144587" y="1473001"/>
            <a:ext cx="8713663" cy="2400657"/>
          </a:xfrm>
          <a:prstGeom prst="rect">
            <a:avLst/>
          </a:prstGeom>
          <a:blipFill>
            <a:blip r:embed="rId3"/>
            <a:stretch>
              <a:fillRect l="-770" r="-700" b="-203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p:sp>
        <p:nvSpPr>
          <p:cNvPr id="9219" name="Rectangle 9"/>
          <p:cNvSpPr>
            <a:spLocks noGrp="1" noChangeArrowheads="1"/>
          </p:cNvSpPr>
          <p:nvPr>
            <p:ph type="title" idx="4294967295"/>
          </p:nvPr>
        </p:nvSpPr>
        <p:spPr>
          <a:xfrm>
            <a:off x="0" y="188913"/>
            <a:ext cx="4465638" cy="647700"/>
          </a:xfrm>
          <a:ln>
            <a:miter lim="800000"/>
            <a:headEnd/>
            <a:tailEnd/>
          </a:ln>
        </p:spPr>
        <p:txBody>
          <a:bodyPr rtlCol="0" anchor="b">
            <a:normAutofit/>
          </a:bodyPr>
          <a:lstStyle/>
          <a:p>
            <a:pPr fontAlgn="auto">
              <a:spcAft>
                <a:spcPts val="0"/>
              </a:spcAft>
              <a:defRPr/>
            </a:pPr>
            <a:r>
              <a:rPr lang="en-US" altLang="zh-CN" sz="3200">
                <a:effectLst>
                  <a:outerShdw blurRad="38100" dist="38100" dir="2700000" algn="tl">
                    <a:srgbClr val="C0C0C0"/>
                  </a:outerShdw>
                </a:effectLst>
                <a:latin typeface="楷体_GB2312" pitchFamily="49" charset="-122"/>
                <a:ea typeface="楷体_GB2312" pitchFamily="49" charset="-122"/>
              </a:rPr>
              <a:t>6.1 </a:t>
            </a:r>
            <a:r>
              <a:rPr lang="zh-CN" altLang="en-US" sz="3200">
                <a:effectLst>
                  <a:outerShdw blurRad="38100" dist="38100" dir="2700000" algn="tl">
                    <a:srgbClr val="C0C0C0"/>
                  </a:outerShdw>
                </a:effectLst>
                <a:latin typeface="楷体_GB2312" pitchFamily="49" charset="-122"/>
                <a:ea typeface="楷体_GB2312" pitchFamily="49" charset="-122"/>
              </a:rPr>
              <a:t>三维图形几何变换</a:t>
            </a:r>
            <a:r>
              <a:rPr lang="zh-CN" altLang="en-US" sz="3200"/>
              <a:t> </a:t>
            </a:r>
          </a:p>
        </p:txBody>
      </p:sp>
      <p:graphicFrame>
        <p:nvGraphicFramePr>
          <p:cNvPr id="18436" name="Object 6"/>
          <p:cNvGraphicFramePr>
            <a:graphicFrameLocks noChangeAspect="1"/>
          </p:cNvGraphicFramePr>
          <p:nvPr/>
        </p:nvGraphicFramePr>
        <p:xfrm>
          <a:off x="3084513" y="4005263"/>
          <a:ext cx="3335337" cy="2303462"/>
        </p:xfrm>
        <a:graphic>
          <a:graphicData uri="http://schemas.openxmlformats.org/presentationml/2006/ole">
            <mc:AlternateContent xmlns:mc="http://schemas.openxmlformats.org/markup-compatibility/2006">
              <mc:Choice xmlns:v="urn:schemas-microsoft-com:vml" Requires="v">
                <p:oleObj spid="_x0000_s18444" name="公式" r:id="rId4" imgW="1320480" imgH="914400" progId="Equation.3">
                  <p:embed/>
                </p:oleObj>
              </mc:Choice>
              <mc:Fallback>
                <p:oleObj name="公式" r:id="rId4" imgW="1320480" imgH="9144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4513" y="4005263"/>
                        <a:ext cx="3335337"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15"/>
          <p:cNvSpPr>
            <a:spLocks noChangeArrowheads="1"/>
          </p:cNvSpPr>
          <p:nvPr/>
        </p:nvSpPr>
        <p:spPr bwMode="auto">
          <a:xfrm>
            <a:off x="1403350" y="981075"/>
            <a:ext cx="4321175"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6.1.1</a:t>
            </a:r>
            <a:r>
              <a:rPr lang="zh-CN" altLang="en-US" sz="2800" b="1">
                <a:effectLst>
                  <a:outerShdw blurRad="38100" dist="38100" dir="2700000" algn="tl">
                    <a:srgbClr val="C0C0C0"/>
                  </a:outerShdw>
                </a:effectLst>
              </a:rPr>
              <a:t>三维几何变换矩阵</a:t>
            </a:r>
            <a:r>
              <a:rPr lang="zh-CN" altLang="en-US"/>
              <a:t> </a:t>
            </a:r>
          </a:p>
        </p:txBody>
      </p:sp>
      <p:sp>
        <p:nvSpPr>
          <p:cNvPr id="18438" name="Rectangle 16"/>
          <p:cNvSpPr>
            <a:spLocks noChangeArrowheads="1"/>
          </p:cNvSpPr>
          <p:nvPr/>
        </p:nvSpPr>
        <p:spPr bwMode="auto">
          <a:xfrm>
            <a:off x="7524750" y="5084763"/>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a:t>
            </a:r>
            <a:r>
              <a:rPr lang="zh-CN" altLang="en-US"/>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9"/>
          <p:cNvSpPr>
            <a:spLocks noChangeArrowheads="1"/>
          </p:cNvSpPr>
          <p:nvPr/>
        </p:nvSpPr>
        <p:spPr bwMode="auto">
          <a:xfrm>
            <a:off x="1403350" y="188913"/>
            <a:ext cx="4032250" cy="519112"/>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6.1.2 </a:t>
            </a:r>
            <a:r>
              <a:rPr lang="zh-CN" altLang="en-US" sz="2800" b="1">
                <a:effectLst>
                  <a:outerShdw blurRad="38100" dist="38100" dir="2700000" algn="tl">
                    <a:srgbClr val="C0C0C0"/>
                  </a:outerShdw>
                </a:effectLst>
                <a:latin typeface="楷体_GB2312" pitchFamily="49" charset="-122"/>
              </a:rPr>
              <a:t>三维几何变换 </a:t>
            </a:r>
          </a:p>
        </p:txBody>
      </p:sp>
      <p:graphicFrame>
        <p:nvGraphicFramePr>
          <p:cNvPr id="19459" name="Object 8"/>
          <p:cNvGraphicFramePr>
            <a:graphicFrameLocks noChangeAspect="1"/>
          </p:cNvGraphicFramePr>
          <p:nvPr/>
        </p:nvGraphicFramePr>
        <p:xfrm>
          <a:off x="1979613" y="1844675"/>
          <a:ext cx="5545137" cy="1546225"/>
        </p:xfrm>
        <a:graphic>
          <a:graphicData uri="http://schemas.openxmlformats.org/presentationml/2006/ole">
            <mc:AlternateContent xmlns:mc="http://schemas.openxmlformats.org/markup-compatibility/2006">
              <mc:Choice xmlns:v="urn:schemas-microsoft-com:vml" Requires="v">
                <p:oleObj spid="_x0000_s19481" r:id="rId3" imgW="3378200" imgH="939800" progId="Equation.3">
                  <p:embed/>
                </p:oleObj>
              </mc:Choice>
              <mc:Fallback>
                <p:oleObj r:id="rId3" imgW="3378200" imgH="9398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1844675"/>
                        <a:ext cx="5545137" cy="154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60" name="Object 10"/>
          <p:cNvGraphicFramePr>
            <a:graphicFrameLocks noChangeAspect="1"/>
          </p:cNvGraphicFramePr>
          <p:nvPr/>
        </p:nvGraphicFramePr>
        <p:xfrm>
          <a:off x="2411413" y="1052513"/>
          <a:ext cx="1584325" cy="427037"/>
        </p:xfrm>
        <a:graphic>
          <a:graphicData uri="http://schemas.openxmlformats.org/presentationml/2006/ole">
            <mc:AlternateContent xmlns:mc="http://schemas.openxmlformats.org/markup-compatibility/2006">
              <mc:Choice xmlns:v="urn:schemas-microsoft-com:vml" Requires="v">
                <p:oleObj spid="_x0000_s19482" r:id="rId5" imgW="597159" imgH="165172" progId="Equation.3">
                  <p:embed/>
                </p:oleObj>
              </mc:Choice>
              <mc:Fallback>
                <p:oleObj r:id="rId5" imgW="597159" imgH="165172"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1052513"/>
                        <a:ext cx="15843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1" name="Rectangle 40"/>
          <p:cNvSpPr>
            <a:spLocks noChangeArrowheads="1"/>
          </p:cNvSpPr>
          <p:nvPr/>
        </p:nvSpPr>
        <p:spPr bwMode="auto">
          <a:xfrm>
            <a:off x="7810500" y="2492375"/>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a:t>
            </a:r>
            <a:r>
              <a:rPr lang="zh-CN" altLang="en-US"/>
              <a:t>） </a:t>
            </a:r>
          </a:p>
        </p:txBody>
      </p:sp>
      <p:sp>
        <p:nvSpPr>
          <p:cNvPr id="10252" name="Rectangle 41"/>
          <p:cNvSpPr>
            <a:spLocks noChangeArrowheads="1"/>
          </p:cNvSpPr>
          <p:nvPr/>
        </p:nvSpPr>
        <p:spPr bwMode="auto">
          <a:xfrm>
            <a:off x="1258888" y="3644900"/>
            <a:ext cx="5329237" cy="579438"/>
          </a:xfrm>
          <a:prstGeom prst="rect">
            <a:avLst/>
          </a:prstGeom>
          <a:noFill/>
          <a:ln w="9525">
            <a:noFill/>
            <a:miter lim="800000"/>
            <a:headEnd/>
            <a:tailEnd/>
          </a:ln>
        </p:spPr>
        <p:txBody>
          <a:bodyPr>
            <a:spAutoFit/>
          </a:bodyPr>
          <a:lstStyle/>
          <a:p>
            <a:pPr eaLnBrk="1" hangingPunct="1">
              <a:buFont typeface="Arial" charset="0"/>
              <a:buNone/>
              <a:defRPr/>
            </a:pPr>
            <a:r>
              <a:rPr lang="en-US" altLang="zh-CN" sz="3200" b="1">
                <a:effectLst>
                  <a:outerShdw blurRad="38100" dist="38100" dir="2700000" algn="tl">
                    <a:srgbClr val="C0C0C0"/>
                  </a:outerShdw>
                </a:effectLst>
                <a:latin typeface="楷体_GB2312" pitchFamily="49" charset="-122"/>
              </a:rPr>
              <a:t>6.2 </a:t>
            </a:r>
            <a:r>
              <a:rPr lang="zh-CN" altLang="en-US" sz="3200" b="1">
                <a:effectLst>
                  <a:outerShdw blurRad="38100" dist="38100" dir="2700000" algn="tl">
                    <a:srgbClr val="C0C0C0"/>
                  </a:outerShdw>
                </a:effectLst>
                <a:latin typeface="楷体_GB2312" pitchFamily="49" charset="-122"/>
              </a:rPr>
              <a:t>三维基本几何变换矩阵</a:t>
            </a:r>
            <a:r>
              <a:rPr lang="zh-CN" altLang="en-US" sz="2800" b="1">
                <a:effectLst>
                  <a:outerShdw blurRad="38100" dist="38100" dir="2700000" algn="tl">
                    <a:srgbClr val="C0C0C0"/>
                  </a:outerShdw>
                </a:effectLst>
                <a:latin typeface="楷体_GB2312" pitchFamily="49" charset="-122"/>
              </a:rPr>
              <a:t> </a:t>
            </a:r>
          </a:p>
        </p:txBody>
      </p:sp>
      <p:sp>
        <p:nvSpPr>
          <p:cNvPr id="10253" name="Rectangle 42"/>
          <p:cNvSpPr>
            <a:spLocks noChangeArrowheads="1"/>
          </p:cNvSpPr>
          <p:nvPr/>
        </p:nvSpPr>
        <p:spPr bwMode="auto">
          <a:xfrm>
            <a:off x="1331913" y="4365625"/>
            <a:ext cx="2879725"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6.2.1 </a:t>
            </a:r>
            <a:r>
              <a:rPr lang="zh-CN" altLang="en-US" sz="2800" b="1">
                <a:effectLst>
                  <a:outerShdw blurRad="38100" dist="38100" dir="2700000" algn="tl">
                    <a:srgbClr val="C0C0C0"/>
                  </a:outerShdw>
                </a:effectLst>
                <a:latin typeface="楷体_GB2312" pitchFamily="49" charset="-122"/>
              </a:rPr>
              <a:t>平移变换 </a:t>
            </a:r>
          </a:p>
        </p:txBody>
      </p:sp>
      <p:graphicFrame>
        <p:nvGraphicFramePr>
          <p:cNvPr id="19464" name="Object 15"/>
          <p:cNvGraphicFramePr>
            <a:graphicFrameLocks noChangeAspect="1"/>
          </p:cNvGraphicFramePr>
          <p:nvPr/>
        </p:nvGraphicFramePr>
        <p:xfrm>
          <a:off x="3132138" y="4941888"/>
          <a:ext cx="2305050" cy="1595437"/>
        </p:xfrm>
        <a:graphic>
          <a:graphicData uri="http://schemas.openxmlformats.org/presentationml/2006/ole">
            <mc:AlternateContent xmlns:mc="http://schemas.openxmlformats.org/markup-compatibility/2006">
              <mc:Choice xmlns:v="urn:schemas-microsoft-com:vml" Requires="v">
                <p:oleObj spid="_x0000_s19483" r:id="rId7" imgW="1359490" imgH="940208" progId="Equation.3">
                  <p:embed/>
                </p:oleObj>
              </mc:Choice>
              <mc:Fallback>
                <p:oleObj r:id="rId7" imgW="1359490" imgH="940208"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4941888"/>
                        <a:ext cx="23050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5" name="Rectangle 45"/>
          <p:cNvSpPr>
            <a:spLocks noChangeArrowheads="1"/>
          </p:cNvSpPr>
          <p:nvPr/>
        </p:nvSpPr>
        <p:spPr bwMode="auto">
          <a:xfrm>
            <a:off x="7810500" y="5589588"/>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a:t>
            </a:r>
            <a:r>
              <a:rPr lang="zh-CN" altLang="en-US"/>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8"/>
          <p:cNvSpPr>
            <a:spLocks noChangeArrowheads="1"/>
          </p:cNvSpPr>
          <p:nvPr/>
        </p:nvSpPr>
        <p:spPr bwMode="auto">
          <a:xfrm>
            <a:off x="1331913" y="333375"/>
            <a:ext cx="2879725"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6.2.2 </a:t>
            </a:r>
            <a:r>
              <a:rPr lang="zh-CN" altLang="en-US" sz="2800" b="1">
                <a:effectLst>
                  <a:outerShdw blurRad="38100" dist="38100" dir="2700000" algn="tl">
                    <a:srgbClr val="C0C0C0"/>
                  </a:outerShdw>
                </a:effectLst>
                <a:latin typeface="楷体_GB2312" pitchFamily="49" charset="-122"/>
              </a:rPr>
              <a:t>比例变换 </a:t>
            </a:r>
          </a:p>
        </p:txBody>
      </p:sp>
      <p:sp>
        <p:nvSpPr>
          <p:cNvPr id="20483" name="Rectangle 10"/>
          <p:cNvSpPr>
            <a:spLocks noChangeArrowheads="1"/>
          </p:cNvSpPr>
          <p:nvPr/>
        </p:nvSpPr>
        <p:spPr bwMode="auto">
          <a:xfrm>
            <a:off x="7810500" y="1557338"/>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a:t>
            </a:r>
            <a:r>
              <a:rPr lang="zh-CN" altLang="en-US"/>
              <a:t>） </a:t>
            </a:r>
          </a:p>
        </p:txBody>
      </p:sp>
      <p:graphicFrame>
        <p:nvGraphicFramePr>
          <p:cNvPr id="20484" name="Object 5"/>
          <p:cNvGraphicFramePr>
            <a:graphicFrameLocks noChangeAspect="1"/>
          </p:cNvGraphicFramePr>
          <p:nvPr/>
        </p:nvGraphicFramePr>
        <p:xfrm>
          <a:off x="2627313" y="1052513"/>
          <a:ext cx="2376487" cy="1541462"/>
        </p:xfrm>
        <a:graphic>
          <a:graphicData uri="http://schemas.openxmlformats.org/presentationml/2006/ole">
            <mc:AlternateContent xmlns:mc="http://schemas.openxmlformats.org/markup-compatibility/2006">
              <mc:Choice xmlns:v="urn:schemas-microsoft-com:vml" Requires="v">
                <p:oleObj spid="_x0000_s20499" r:id="rId3" imgW="1410312" imgH="914797" progId="Equation.3">
                  <p:embed/>
                </p:oleObj>
              </mc:Choice>
              <mc:Fallback>
                <p:oleObj r:id="rId3" imgW="1410312" imgH="91479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052513"/>
                        <a:ext cx="2376487" cy="15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0" name="Rectangle 13"/>
          <p:cNvSpPr>
            <a:spLocks noChangeArrowheads="1"/>
          </p:cNvSpPr>
          <p:nvPr/>
        </p:nvSpPr>
        <p:spPr bwMode="auto">
          <a:xfrm>
            <a:off x="1331913" y="2997200"/>
            <a:ext cx="2879725"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dirty="0">
                <a:effectLst>
                  <a:outerShdw blurRad="38100" dist="38100" dir="2700000" algn="tl">
                    <a:srgbClr val="C0C0C0"/>
                  </a:outerShdw>
                </a:effectLst>
                <a:latin typeface="楷体_GB2312" pitchFamily="49" charset="-122"/>
              </a:rPr>
              <a:t>6.2.3 </a:t>
            </a:r>
            <a:r>
              <a:rPr lang="zh-CN" altLang="en-US" sz="2800" b="1" dirty="0">
                <a:effectLst>
                  <a:outerShdw blurRad="38100" dist="38100" dir="2700000" algn="tl">
                    <a:srgbClr val="C0C0C0"/>
                  </a:outerShdw>
                </a:effectLst>
                <a:latin typeface="楷体_GB2312" pitchFamily="49" charset="-122"/>
              </a:rPr>
              <a:t>旋转变换 </a:t>
            </a:r>
          </a:p>
        </p:txBody>
      </p:sp>
      <p:sp>
        <p:nvSpPr>
          <p:cNvPr id="20486" name="Rectangle 14"/>
          <p:cNvSpPr>
            <a:spLocks noChangeArrowheads="1"/>
          </p:cNvSpPr>
          <p:nvPr/>
        </p:nvSpPr>
        <p:spPr bwMode="auto">
          <a:xfrm>
            <a:off x="7810500" y="5373688"/>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a:t>
            </a:r>
            <a:r>
              <a:rPr lang="zh-CN" altLang="en-US"/>
              <a:t>） </a:t>
            </a:r>
          </a:p>
        </p:txBody>
      </p:sp>
      <p:sp>
        <p:nvSpPr>
          <p:cNvPr id="20487" name="Rectangle 16"/>
          <p:cNvSpPr>
            <a:spLocks noChangeArrowheads="1"/>
          </p:cNvSpPr>
          <p:nvPr/>
        </p:nvSpPr>
        <p:spPr bwMode="auto">
          <a:xfrm>
            <a:off x="1763713" y="3789363"/>
            <a:ext cx="1871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1.</a:t>
            </a:r>
            <a:r>
              <a:rPr lang="zh-CN" altLang="en-US" b="1">
                <a:latin typeface="楷体_GB2312" pitchFamily="49" charset="-122"/>
              </a:rPr>
              <a:t>绕</a:t>
            </a:r>
            <a:r>
              <a:rPr lang="en-US" altLang="zh-CN" b="1">
                <a:latin typeface="楷体_GB2312" pitchFamily="49" charset="-122"/>
              </a:rPr>
              <a:t>x</a:t>
            </a:r>
            <a:r>
              <a:rPr lang="zh-CN" altLang="en-US" b="1">
                <a:latin typeface="楷体_GB2312" pitchFamily="49" charset="-122"/>
              </a:rPr>
              <a:t>轴旋转</a:t>
            </a:r>
          </a:p>
        </p:txBody>
      </p:sp>
      <p:graphicFrame>
        <p:nvGraphicFramePr>
          <p:cNvPr id="20488" name="Object 10"/>
          <p:cNvGraphicFramePr>
            <a:graphicFrameLocks noChangeAspect="1"/>
          </p:cNvGraphicFramePr>
          <p:nvPr/>
        </p:nvGraphicFramePr>
        <p:xfrm>
          <a:off x="2987675" y="4581525"/>
          <a:ext cx="3168650" cy="1644650"/>
        </p:xfrm>
        <a:graphic>
          <a:graphicData uri="http://schemas.openxmlformats.org/presentationml/2006/ole">
            <mc:AlternateContent xmlns:mc="http://schemas.openxmlformats.org/markup-compatibility/2006">
              <mc:Choice xmlns:v="urn:schemas-microsoft-com:vml" Requires="v">
                <p:oleObj spid="_x0000_s20500" r:id="rId5" imgW="1766067" imgH="914797" progId="Equation.3">
                  <p:embed/>
                </p:oleObj>
              </mc:Choice>
              <mc:Fallback>
                <p:oleObj r:id="rId5" imgW="1766067" imgH="914797"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581525"/>
                        <a:ext cx="31686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30"/>
          <p:cNvSpPr>
            <a:spLocks noChangeArrowheads="1"/>
          </p:cNvSpPr>
          <p:nvPr/>
        </p:nvSpPr>
        <p:spPr bwMode="auto">
          <a:xfrm>
            <a:off x="7523163" y="1989138"/>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6-6</a:t>
            </a:r>
            <a:r>
              <a:rPr lang="zh-CN" altLang="en-US"/>
              <a:t>） </a:t>
            </a:r>
          </a:p>
        </p:txBody>
      </p:sp>
      <p:sp>
        <p:nvSpPr>
          <p:cNvPr id="21507" name="Rectangle 31"/>
          <p:cNvSpPr>
            <a:spLocks noChangeArrowheads="1"/>
          </p:cNvSpPr>
          <p:nvPr/>
        </p:nvSpPr>
        <p:spPr bwMode="auto">
          <a:xfrm>
            <a:off x="1476375" y="404813"/>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2.</a:t>
            </a:r>
            <a:r>
              <a:rPr lang="zh-CN" altLang="en-US" b="1">
                <a:latin typeface="楷体_GB2312" pitchFamily="49" charset="-122"/>
              </a:rPr>
              <a:t>绕</a:t>
            </a:r>
            <a:r>
              <a:rPr lang="en-US" altLang="zh-CN" b="1">
                <a:latin typeface="楷体_GB2312" pitchFamily="49" charset="-122"/>
              </a:rPr>
              <a:t>y</a:t>
            </a:r>
            <a:r>
              <a:rPr lang="zh-CN" altLang="en-US" b="1">
                <a:latin typeface="楷体_GB2312" pitchFamily="49" charset="-122"/>
              </a:rPr>
              <a:t>轴旋转</a:t>
            </a:r>
          </a:p>
        </p:txBody>
      </p:sp>
      <p:graphicFrame>
        <p:nvGraphicFramePr>
          <p:cNvPr id="21508" name="Object 7"/>
          <p:cNvGraphicFramePr>
            <a:graphicFrameLocks noChangeAspect="1"/>
          </p:cNvGraphicFramePr>
          <p:nvPr/>
        </p:nvGraphicFramePr>
        <p:xfrm>
          <a:off x="2484438" y="1196975"/>
          <a:ext cx="3240087" cy="1681163"/>
        </p:xfrm>
        <a:graphic>
          <a:graphicData uri="http://schemas.openxmlformats.org/presentationml/2006/ole">
            <mc:AlternateContent xmlns:mc="http://schemas.openxmlformats.org/markup-compatibility/2006">
              <mc:Choice xmlns:v="urn:schemas-microsoft-com:vml" Requires="v">
                <p:oleObj spid="_x0000_s21523" r:id="rId3" imgW="1766067" imgH="914797" progId="Equation.3">
                  <p:embed/>
                </p:oleObj>
              </mc:Choice>
              <mc:Fallback>
                <p:oleObj r:id="rId3" imgW="1766067" imgH="914797"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1196975"/>
                        <a:ext cx="3240087" cy="168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09" name="Rectangle 35"/>
          <p:cNvSpPr>
            <a:spLocks noChangeArrowheads="1"/>
          </p:cNvSpPr>
          <p:nvPr/>
        </p:nvSpPr>
        <p:spPr bwMode="auto">
          <a:xfrm>
            <a:off x="7524750" y="4941888"/>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6-7</a:t>
            </a:r>
            <a:r>
              <a:rPr lang="zh-CN" altLang="en-US"/>
              <a:t>） </a:t>
            </a:r>
          </a:p>
        </p:txBody>
      </p:sp>
      <p:sp>
        <p:nvSpPr>
          <p:cNvPr id="21510" name="Rectangle 36"/>
          <p:cNvSpPr>
            <a:spLocks noChangeArrowheads="1"/>
          </p:cNvSpPr>
          <p:nvPr/>
        </p:nvSpPr>
        <p:spPr bwMode="auto">
          <a:xfrm>
            <a:off x="1403350" y="3500438"/>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3.</a:t>
            </a:r>
            <a:r>
              <a:rPr lang="zh-CN" altLang="en-US" b="1">
                <a:latin typeface="楷体_GB2312" pitchFamily="49" charset="-122"/>
              </a:rPr>
              <a:t>绕</a:t>
            </a:r>
            <a:r>
              <a:rPr lang="en-US" altLang="zh-CN" b="1">
                <a:latin typeface="楷体_GB2312" pitchFamily="49" charset="-122"/>
              </a:rPr>
              <a:t>z</a:t>
            </a:r>
            <a:r>
              <a:rPr lang="zh-CN" altLang="en-US" b="1">
                <a:latin typeface="楷体_GB2312" pitchFamily="49" charset="-122"/>
              </a:rPr>
              <a:t>轴旋转</a:t>
            </a:r>
          </a:p>
        </p:txBody>
      </p:sp>
      <p:graphicFrame>
        <p:nvGraphicFramePr>
          <p:cNvPr id="21511" name="Object 11"/>
          <p:cNvGraphicFramePr>
            <a:graphicFrameLocks noChangeAspect="1"/>
          </p:cNvGraphicFramePr>
          <p:nvPr/>
        </p:nvGraphicFramePr>
        <p:xfrm>
          <a:off x="2484438" y="4365625"/>
          <a:ext cx="3240087" cy="1681163"/>
        </p:xfrm>
        <a:graphic>
          <a:graphicData uri="http://schemas.openxmlformats.org/presentationml/2006/ole">
            <mc:AlternateContent xmlns:mc="http://schemas.openxmlformats.org/markup-compatibility/2006">
              <mc:Choice xmlns:v="urn:schemas-microsoft-com:vml" Requires="v">
                <p:oleObj spid="_x0000_s21524" r:id="rId5" imgW="1766067" imgH="914797" progId="Equation.3">
                  <p:embed/>
                </p:oleObj>
              </mc:Choice>
              <mc:Fallback>
                <p:oleObj r:id="rId5" imgW="1766067" imgH="914797"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4365625"/>
                        <a:ext cx="3240087" cy="168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Rectangle 40"/>
          <p:cNvSpPr>
            <a:spLocks noChangeArrowheads="1"/>
          </p:cNvSpPr>
          <p:nvPr/>
        </p:nvSpPr>
        <p:spPr bwMode="auto">
          <a:xfrm>
            <a:off x="1835150" y="6165850"/>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dirty="0"/>
              <a:t>β</a:t>
            </a:r>
            <a:r>
              <a:rPr lang="zh-CN" altLang="en-US" dirty="0"/>
              <a:t>为正向旋转角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7" name="Rectangle 37"/>
          <p:cNvSpPr>
            <a:spLocks noChangeArrowheads="1"/>
          </p:cNvSpPr>
          <p:nvPr/>
        </p:nvSpPr>
        <p:spPr bwMode="auto">
          <a:xfrm>
            <a:off x="1331913" y="404813"/>
            <a:ext cx="2879725" cy="519112"/>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6.2.4 </a:t>
            </a:r>
            <a:r>
              <a:rPr lang="zh-CN" altLang="en-US" sz="2800" b="1">
                <a:effectLst>
                  <a:outerShdw blurRad="38100" dist="38100" dir="2700000" algn="tl">
                    <a:srgbClr val="C0C0C0"/>
                  </a:outerShdw>
                </a:effectLst>
                <a:latin typeface="楷体_GB2312" pitchFamily="49" charset="-122"/>
              </a:rPr>
              <a:t>反射变换 </a:t>
            </a:r>
          </a:p>
        </p:txBody>
      </p:sp>
      <p:sp>
        <p:nvSpPr>
          <p:cNvPr id="22531" name="Rectangle 38"/>
          <p:cNvSpPr>
            <a:spLocks noChangeArrowheads="1"/>
          </p:cNvSpPr>
          <p:nvPr/>
        </p:nvSpPr>
        <p:spPr bwMode="auto">
          <a:xfrm>
            <a:off x="1763713" y="1268413"/>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1.</a:t>
            </a:r>
            <a:r>
              <a:rPr lang="zh-CN" altLang="en-US" b="1"/>
              <a:t>关于</a:t>
            </a:r>
            <a:r>
              <a:rPr lang="en-US" altLang="zh-CN" b="1"/>
              <a:t>x</a:t>
            </a:r>
            <a:r>
              <a:rPr lang="zh-CN" altLang="en-US" b="1"/>
              <a:t>轴的反射</a:t>
            </a:r>
          </a:p>
        </p:txBody>
      </p:sp>
      <p:graphicFrame>
        <p:nvGraphicFramePr>
          <p:cNvPr id="22532" name="Object 8"/>
          <p:cNvGraphicFramePr>
            <a:graphicFrameLocks noChangeAspect="1"/>
          </p:cNvGraphicFramePr>
          <p:nvPr/>
        </p:nvGraphicFramePr>
        <p:xfrm>
          <a:off x="2411413" y="2133600"/>
          <a:ext cx="2447925" cy="1677988"/>
        </p:xfrm>
        <a:graphic>
          <a:graphicData uri="http://schemas.openxmlformats.org/presentationml/2006/ole">
            <mc:AlternateContent xmlns:mc="http://schemas.openxmlformats.org/markup-compatibility/2006">
              <mc:Choice xmlns:v="urn:schemas-microsoft-com:vml" Requires="v">
                <p:oleObj spid="_x0000_s22547" r:id="rId3" imgW="1334079" imgH="914797" progId="Equation.3">
                  <p:embed/>
                </p:oleObj>
              </mc:Choice>
              <mc:Fallback>
                <p:oleObj r:id="rId3" imgW="1334079" imgH="914797"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133600"/>
                        <a:ext cx="2447925"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3" name="Rectangle 42"/>
          <p:cNvSpPr>
            <a:spLocks noChangeArrowheads="1"/>
          </p:cNvSpPr>
          <p:nvPr/>
        </p:nvSpPr>
        <p:spPr bwMode="auto">
          <a:xfrm>
            <a:off x="7524750" y="2708275"/>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6-8</a:t>
            </a:r>
            <a:r>
              <a:rPr lang="zh-CN" altLang="en-US"/>
              <a:t>）</a:t>
            </a:r>
          </a:p>
        </p:txBody>
      </p:sp>
      <p:sp>
        <p:nvSpPr>
          <p:cNvPr id="22534" name="Rectangle 43"/>
          <p:cNvSpPr>
            <a:spLocks noChangeArrowheads="1"/>
          </p:cNvSpPr>
          <p:nvPr/>
        </p:nvSpPr>
        <p:spPr bwMode="auto">
          <a:xfrm>
            <a:off x="1763713" y="4149725"/>
            <a:ext cx="2506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2.</a:t>
            </a:r>
            <a:r>
              <a:rPr lang="zh-CN" altLang="en-US" b="1"/>
              <a:t>关于</a:t>
            </a:r>
            <a:r>
              <a:rPr lang="en-US" altLang="zh-CN" b="1"/>
              <a:t>y</a:t>
            </a:r>
            <a:r>
              <a:rPr lang="zh-CN" altLang="en-US" b="1"/>
              <a:t>轴的反射</a:t>
            </a:r>
          </a:p>
        </p:txBody>
      </p:sp>
      <p:graphicFrame>
        <p:nvGraphicFramePr>
          <p:cNvPr id="22535" name="Object 12"/>
          <p:cNvGraphicFramePr>
            <a:graphicFrameLocks noChangeAspect="1"/>
          </p:cNvGraphicFramePr>
          <p:nvPr/>
        </p:nvGraphicFramePr>
        <p:xfrm>
          <a:off x="2411413" y="4868863"/>
          <a:ext cx="2447925" cy="1677987"/>
        </p:xfrm>
        <a:graphic>
          <a:graphicData uri="http://schemas.openxmlformats.org/presentationml/2006/ole">
            <mc:AlternateContent xmlns:mc="http://schemas.openxmlformats.org/markup-compatibility/2006">
              <mc:Choice xmlns:v="urn:schemas-microsoft-com:vml" Requires="v">
                <p:oleObj spid="_x0000_s22548" r:id="rId5" imgW="1334079" imgH="914797" progId="Equation.3">
                  <p:embed/>
                </p:oleObj>
              </mc:Choice>
              <mc:Fallback>
                <p:oleObj r:id="rId5" imgW="1334079" imgH="914797"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4868863"/>
                        <a:ext cx="2447925"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6" name="Rectangle 46"/>
          <p:cNvSpPr>
            <a:spLocks noChangeArrowheads="1"/>
          </p:cNvSpPr>
          <p:nvPr/>
        </p:nvSpPr>
        <p:spPr bwMode="auto">
          <a:xfrm>
            <a:off x="7596188" y="5300663"/>
            <a:ext cx="1238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6-9</a:t>
            </a:r>
            <a:r>
              <a:rPr lang="zh-CN" altLang="en-US"/>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1"/>
          <p:cNvSpPr>
            <a:spLocks noChangeArrowheads="1"/>
          </p:cNvSpPr>
          <p:nvPr/>
        </p:nvSpPr>
        <p:spPr bwMode="auto">
          <a:xfrm>
            <a:off x="1619250" y="476250"/>
            <a:ext cx="2490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3.</a:t>
            </a:r>
            <a:r>
              <a:rPr lang="zh-CN" altLang="en-US" b="1"/>
              <a:t>关于</a:t>
            </a:r>
            <a:r>
              <a:rPr lang="en-US" altLang="zh-CN" b="1"/>
              <a:t>z</a:t>
            </a:r>
            <a:r>
              <a:rPr lang="zh-CN" altLang="en-US" b="1"/>
              <a:t>轴的反射</a:t>
            </a:r>
          </a:p>
        </p:txBody>
      </p:sp>
      <p:graphicFrame>
        <p:nvGraphicFramePr>
          <p:cNvPr id="23555" name="Object 5"/>
          <p:cNvGraphicFramePr>
            <a:graphicFrameLocks noChangeAspect="1"/>
          </p:cNvGraphicFramePr>
          <p:nvPr/>
        </p:nvGraphicFramePr>
        <p:xfrm>
          <a:off x="2339975" y="1268413"/>
          <a:ext cx="2376488" cy="1630362"/>
        </p:xfrm>
        <a:graphic>
          <a:graphicData uri="http://schemas.openxmlformats.org/presentationml/2006/ole">
            <mc:AlternateContent xmlns:mc="http://schemas.openxmlformats.org/markup-compatibility/2006">
              <mc:Choice xmlns:v="urn:schemas-microsoft-com:vml" Requires="v">
                <p:oleObj spid="_x0000_s23570" r:id="rId3" imgW="1334079" imgH="914797" progId="Equation.3">
                  <p:embed/>
                </p:oleObj>
              </mc:Choice>
              <mc:Fallback>
                <p:oleObj r:id="rId3" imgW="1334079" imgH="91479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268413"/>
                        <a:ext cx="2376488"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6" name="Rectangle 24"/>
          <p:cNvSpPr>
            <a:spLocks noChangeArrowheads="1"/>
          </p:cNvSpPr>
          <p:nvPr/>
        </p:nvSpPr>
        <p:spPr bwMode="auto">
          <a:xfrm>
            <a:off x="7524750" y="1700213"/>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6-10</a:t>
            </a:r>
            <a:r>
              <a:rPr lang="zh-CN" altLang="en-US"/>
              <a:t>）</a:t>
            </a:r>
          </a:p>
        </p:txBody>
      </p:sp>
      <p:sp>
        <p:nvSpPr>
          <p:cNvPr id="23557" name="Rectangle 25"/>
          <p:cNvSpPr>
            <a:spLocks noChangeArrowheads="1"/>
          </p:cNvSpPr>
          <p:nvPr/>
        </p:nvSpPr>
        <p:spPr bwMode="auto">
          <a:xfrm>
            <a:off x="1547813" y="3213100"/>
            <a:ext cx="2879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4.</a:t>
            </a:r>
            <a:r>
              <a:rPr lang="zh-CN" altLang="en-US" b="1"/>
              <a:t>关于</a:t>
            </a:r>
            <a:r>
              <a:rPr lang="en-US" altLang="zh-CN" b="1"/>
              <a:t>xoy</a:t>
            </a:r>
            <a:r>
              <a:rPr lang="zh-CN" altLang="en-US" b="1"/>
              <a:t>面的反射</a:t>
            </a:r>
          </a:p>
        </p:txBody>
      </p:sp>
      <p:graphicFrame>
        <p:nvGraphicFramePr>
          <p:cNvPr id="23558" name="Object 9"/>
          <p:cNvGraphicFramePr>
            <a:graphicFrameLocks noChangeAspect="1"/>
          </p:cNvGraphicFramePr>
          <p:nvPr/>
        </p:nvGraphicFramePr>
        <p:xfrm>
          <a:off x="2411413" y="4292600"/>
          <a:ext cx="2232025" cy="1635125"/>
        </p:xfrm>
        <a:graphic>
          <a:graphicData uri="http://schemas.openxmlformats.org/presentationml/2006/ole">
            <mc:AlternateContent xmlns:mc="http://schemas.openxmlformats.org/markup-compatibility/2006">
              <mc:Choice xmlns:v="urn:schemas-microsoft-com:vml" Requires="v">
                <p:oleObj spid="_x0000_s23571" r:id="rId5" imgW="1245140" imgH="914797" progId="Equation.3">
                  <p:embed/>
                </p:oleObj>
              </mc:Choice>
              <mc:Fallback>
                <p:oleObj r:id="rId5" imgW="1245140" imgH="914797"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4292600"/>
                        <a:ext cx="2232025"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9" name="Rectangle 28"/>
          <p:cNvSpPr>
            <a:spLocks noChangeArrowheads="1"/>
          </p:cNvSpPr>
          <p:nvPr/>
        </p:nvSpPr>
        <p:spPr bwMode="auto">
          <a:xfrm>
            <a:off x="7524750" y="4868863"/>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6-11</a:t>
            </a:r>
            <a:r>
              <a:rPr lang="zh-CN" altLang="en-US"/>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14"/>
          <p:cNvSpPr>
            <a:spLocks noChangeArrowheads="1"/>
          </p:cNvSpPr>
          <p:nvPr/>
        </p:nvSpPr>
        <p:spPr bwMode="auto">
          <a:xfrm>
            <a:off x="1619250" y="476250"/>
            <a:ext cx="2855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5.</a:t>
            </a:r>
            <a:r>
              <a:rPr lang="zh-CN" altLang="en-US" b="1"/>
              <a:t>关于</a:t>
            </a:r>
            <a:r>
              <a:rPr lang="en-US" altLang="zh-CN" b="1"/>
              <a:t>yoz</a:t>
            </a:r>
            <a:r>
              <a:rPr lang="zh-CN" altLang="en-US" b="1"/>
              <a:t>面的反射</a:t>
            </a:r>
          </a:p>
        </p:txBody>
      </p:sp>
      <p:sp>
        <p:nvSpPr>
          <p:cNvPr id="24579" name="Rectangle 16"/>
          <p:cNvSpPr>
            <a:spLocks noChangeArrowheads="1"/>
          </p:cNvSpPr>
          <p:nvPr/>
        </p:nvSpPr>
        <p:spPr bwMode="auto">
          <a:xfrm>
            <a:off x="7524750" y="1700213"/>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6-12</a:t>
            </a:r>
            <a:r>
              <a:rPr lang="zh-CN" altLang="en-US"/>
              <a:t>）</a:t>
            </a:r>
          </a:p>
        </p:txBody>
      </p:sp>
      <p:sp>
        <p:nvSpPr>
          <p:cNvPr id="24580" name="Rectangle 17"/>
          <p:cNvSpPr>
            <a:spLocks noChangeArrowheads="1"/>
          </p:cNvSpPr>
          <p:nvPr/>
        </p:nvSpPr>
        <p:spPr bwMode="auto">
          <a:xfrm>
            <a:off x="1547813" y="3213100"/>
            <a:ext cx="295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6.</a:t>
            </a:r>
            <a:r>
              <a:rPr lang="zh-CN" altLang="en-US" b="1"/>
              <a:t>关于</a:t>
            </a:r>
            <a:r>
              <a:rPr lang="en-US" altLang="zh-CN" b="1"/>
              <a:t>xoz</a:t>
            </a:r>
            <a:r>
              <a:rPr lang="zh-CN" altLang="en-US" b="1"/>
              <a:t>面的反射</a:t>
            </a:r>
            <a:r>
              <a:rPr lang="zh-CN" altLang="en-US"/>
              <a:t> </a:t>
            </a:r>
          </a:p>
        </p:txBody>
      </p:sp>
      <p:sp>
        <p:nvSpPr>
          <p:cNvPr id="24581" name="Rectangle 19"/>
          <p:cNvSpPr>
            <a:spLocks noChangeArrowheads="1"/>
          </p:cNvSpPr>
          <p:nvPr/>
        </p:nvSpPr>
        <p:spPr bwMode="auto">
          <a:xfrm>
            <a:off x="7524750" y="4868863"/>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6-13</a:t>
            </a:r>
            <a:r>
              <a:rPr lang="zh-CN" altLang="en-US"/>
              <a:t>）</a:t>
            </a:r>
          </a:p>
        </p:txBody>
      </p:sp>
      <p:graphicFrame>
        <p:nvGraphicFramePr>
          <p:cNvPr id="24582" name="Object 7"/>
          <p:cNvGraphicFramePr>
            <a:graphicFrameLocks noChangeAspect="1"/>
          </p:cNvGraphicFramePr>
          <p:nvPr/>
        </p:nvGraphicFramePr>
        <p:xfrm>
          <a:off x="2195513" y="1196975"/>
          <a:ext cx="2305050" cy="1689100"/>
        </p:xfrm>
        <a:graphic>
          <a:graphicData uri="http://schemas.openxmlformats.org/presentationml/2006/ole">
            <mc:AlternateContent xmlns:mc="http://schemas.openxmlformats.org/markup-compatibility/2006">
              <mc:Choice xmlns:v="urn:schemas-microsoft-com:vml" Requires="v">
                <p:oleObj spid="_x0000_s24594" r:id="rId3" imgW="1245140" imgH="914797" progId="Equation.3">
                  <p:embed/>
                </p:oleObj>
              </mc:Choice>
              <mc:Fallback>
                <p:oleObj r:id="rId3" imgW="1245140" imgH="914797"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196975"/>
                        <a:ext cx="2305050" cy="168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83" name="Object 9"/>
          <p:cNvGraphicFramePr>
            <a:graphicFrameLocks noChangeAspect="1"/>
          </p:cNvGraphicFramePr>
          <p:nvPr/>
        </p:nvGraphicFramePr>
        <p:xfrm>
          <a:off x="2124075" y="4149725"/>
          <a:ext cx="2376488" cy="1743075"/>
        </p:xfrm>
        <a:graphic>
          <a:graphicData uri="http://schemas.openxmlformats.org/presentationml/2006/ole">
            <mc:AlternateContent xmlns:mc="http://schemas.openxmlformats.org/markup-compatibility/2006">
              <mc:Choice xmlns:v="urn:schemas-microsoft-com:vml" Requires="v">
                <p:oleObj spid="_x0000_s24595" r:id="rId5" imgW="1245140" imgH="914797" progId="Equation.3">
                  <p:embed/>
                </p:oleObj>
              </mc:Choice>
              <mc:Fallback>
                <p:oleObj r:id="rId5" imgW="1245140" imgH="914797"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4149725"/>
                        <a:ext cx="2376488"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
          <p:cNvSpPr>
            <a:spLocks noChangeArrowheads="1"/>
          </p:cNvSpPr>
          <p:nvPr/>
        </p:nvSpPr>
        <p:spPr bwMode="auto">
          <a:xfrm>
            <a:off x="231775" y="346075"/>
            <a:ext cx="2879725"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dirty="0">
                <a:effectLst>
                  <a:outerShdw blurRad="38100" dist="38100" dir="2700000" algn="tl">
                    <a:srgbClr val="C0C0C0"/>
                  </a:outerShdw>
                </a:effectLst>
                <a:latin typeface="楷体_GB2312" pitchFamily="49" charset="-122"/>
              </a:rPr>
              <a:t>6.2.5 </a:t>
            </a:r>
            <a:r>
              <a:rPr lang="zh-CN" altLang="en-US" sz="2800" b="1" dirty="0">
                <a:effectLst>
                  <a:outerShdw blurRad="38100" dist="38100" dir="2700000" algn="tl">
                    <a:srgbClr val="C0C0C0"/>
                  </a:outerShdw>
                </a:effectLst>
                <a:latin typeface="楷体_GB2312" pitchFamily="49" charset="-122"/>
              </a:rPr>
              <a:t>错切变换 </a:t>
            </a:r>
          </a:p>
        </p:txBody>
      </p:sp>
      <p:graphicFrame>
        <p:nvGraphicFramePr>
          <p:cNvPr id="25603" name="Object 4"/>
          <p:cNvGraphicFramePr>
            <a:graphicFrameLocks noChangeAspect="1"/>
          </p:cNvGraphicFramePr>
          <p:nvPr/>
        </p:nvGraphicFramePr>
        <p:xfrm>
          <a:off x="430213" y="1143000"/>
          <a:ext cx="2376487" cy="1782763"/>
        </p:xfrm>
        <a:graphic>
          <a:graphicData uri="http://schemas.openxmlformats.org/presentationml/2006/ole">
            <mc:AlternateContent xmlns:mc="http://schemas.openxmlformats.org/markup-compatibility/2006">
              <mc:Choice xmlns:v="urn:schemas-microsoft-com:vml" Requires="v">
                <p:oleObj spid="_x0000_s25634" r:id="rId3" imgW="1219729" imgH="914797" progId="Equation.3">
                  <p:embed/>
                </p:oleObj>
              </mc:Choice>
              <mc:Fallback>
                <p:oleObj r:id="rId3" imgW="1219729" imgH="91479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213" y="1143000"/>
                        <a:ext cx="2376487"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4" name="Rectangle 11"/>
          <p:cNvSpPr>
            <a:spLocks noChangeArrowheads="1"/>
          </p:cNvSpPr>
          <p:nvPr/>
        </p:nvSpPr>
        <p:spPr bwMode="auto">
          <a:xfrm>
            <a:off x="2711450" y="1731963"/>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6-14</a:t>
            </a:r>
            <a:r>
              <a:rPr lang="zh-CN" altLang="en-US"/>
              <a:t>） </a:t>
            </a:r>
          </a:p>
        </p:txBody>
      </p:sp>
      <p:sp>
        <p:nvSpPr>
          <p:cNvPr id="25605" name="Rectangle 12"/>
          <p:cNvSpPr>
            <a:spLocks noChangeArrowheads="1"/>
          </p:cNvSpPr>
          <p:nvPr/>
        </p:nvSpPr>
        <p:spPr bwMode="auto">
          <a:xfrm>
            <a:off x="4859338" y="346075"/>
            <a:ext cx="2398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1.</a:t>
            </a:r>
            <a:r>
              <a:rPr lang="zh-CN" altLang="en-US" b="1"/>
              <a:t>沿</a:t>
            </a:r>
            <a:r>
              <a:rPr lang="en-US" altLang="zh-CN" b="1"/>
              <a:t>x</a:t>
            </a:r>
            <a:r>
              <a:rPr lang="zh-CN" altLang="en-US" b="1"/>
              <a:t>方向错切</a:t>
            </a:r>
            <a:r>
              <a:rPr lang="zh-CN" altLang="en-US"/>
              <a:t>  </a:t>
            </a:r>
          </a:p>
        </p:txBody>
      </p:sp>
      <p:graphicFrame>
        <p:nvGraphicFramePr>
          <p:cNvPr id="25606" name="Object 8"/>
          <p:cNvGraphicFramePr>
            <a:graphicFrameLocks noChangeAspect="1"/>
          </p:cNvGraphicFramePr>
          <p:nvPr/>
        </p:nvGraphicFramePr>
        <p:xfrm>
          <a:off x="5060950" y="1104900"/>
          <a:ext cx="2428875" cy="1785938"/>
        </p:xfrm>
        <a:graphic>
          <a:graphicData uri="http://schemas.openxmlformats.org/presentationml/2006/ole">
            <mc:AlternateContent xmlns:mc="http://schemas.openxmlformats.org/markup-compatibility/2006">
              <mc:Choice xmlns:v="urn:schemas-microsoft-com:vml" Requires="v">
                <p:oleObj spid="_x0000_s25635" name="公式" r:id="rId5" imgW="1244520" imgH="914400" progId="Equation.3">
                  <p:embed/>
                </p:oleObj>
              </mc:Choice>
              <mc:Fallback>
                <p:oleObj name="公式" r:id="rId5" imgW="1244520" imgH="914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0950" y="1104900"/>
                        <a:ext cx="242887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7" name="Rectangle 15"/>
          <p:cNvSpPr>
            <a:spLocks noChangeArrowheads="1"/>
          </p:cNvSpPr>
          <p:nvPr/>
        </p:nvSpPr>
        <p:spPr bwMode="auto">
          <a:xfrm>
            <a:off x="7489825" y="1711325"/>
            <a:ext cx="1268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6-15</a:t>
            </a:r>
            <a:r>
              <a:rPr lang="zh-CN" altLang="en-US"/>
              <a:t>） </a:t>
            </a:r>
          </a:p>
        </p:txBody>
      </p:sp>
      <p:graphicFrame>
        <p:nvGraphicFramePr>
          <p:cNvPr id="25608" name="Object 6"/>
          <p:cNvGraphicFramePr>
            <a:graphicFrameLocks noChangeAspect="1"/>
          </p:cNvGraphicFramePr>
          <p:nvPr/>
        </p:nvGraphicFramePr>
        <p:xfrm>
          <a:off x="428625" y="4373563"/>
          <a:ext cx="2089150" cy="1630362"/>
        </p:xfrm>
        <a:graphic>
          <a:graphicData uri="http://schemas.openxmlformats.org/presentationml/2006/ole">
            <mc:AlternateContent xmlns:mc="http://schemas.openxmlformats.org/markup-compatibility/2006">
              <mc:Choice xmlns:v="urn:schemas-microsoft-com:vml" Requires="v">
                <p:oleObj spid="_x0000_s25636" r:id="rId7" imgW="1168907" imgH="914797" progId="Equation.3">
                  <p:embed/>
                </p:oleObj>
              </mc:Choice>
              <mc:Fallback>
                <p:oleObj r:id="rId7" imgW="1168907" imgH="914797"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625" y="4373563"/>
                        <a:ext cx="208915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9" name="Rectangle 21"/>
          <p:cNvSpPr>
            <a:spLocks noChangeArrowheads="1"/>
          </p:cNvSpPr>
          <p:nvPr/>
        </p:nvSpPr>
        <p:spPr bwMode="auto">
          <a:xfrm>
            <a:off x="2517775" y="4900613"/>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6-16</a:t>
            </a:r>
            <a:r>
              <a:rPr lang="zh-CN" altLang="en-US"/>
              <a:t>） </a:t>
            </a:r>
          </a:p>
        </p:txBody>
      </p:sp>
      <p:sp>
        <p:nvSpPr>
          <p:cNvPr id="25610" name="Rectangle 19"/>
          <p:cNvSpPr>
            <a:spLocks noChangeArrowheads="1"/>
          </p:cNvSpPr>
          <p:nvPr/>
        </p:nvSpPr>
        <p:spPr bwMode="auto">
          <a:xfrm>
            <a:off x="788988" y="3535363"/>
            <a:ext cx="2390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2.</a:t>
            </a:r>
            <a:r>
              <a:rPr lang="zh-CN" altLang="en-US" b="1"/>
              <a:t>沿</a:t>
            </a:r>
            <a:r>
              <a:rPr lang="en-US" altLang="zh-CN" b="1"/>
              <a:t>y</a:t>
            </a:r>
            <a:r>
              <a:rPr lang="zh-CN" altLang="en-US" b="1"/>
              <a:t>方向错切</a:t>
            </a:r>
            <a:r>
              <a:rPr lang="zh-CN" altLang="en-US"/>
              <a:t>  </a:t>
            </a:r>
          </a:p>
        </p:txBody>
      </p:sp>
      <p:sp>
        <p:nvSpPr>
          <p:cNvPr id="25611" name="Rectangle 24"/>
          <p:cNvSpPr>
            <a:spLocks noChangeArrowheads="1"/>
          </p:cNvSpPr>
          <p:nvPr/>
        </p:nvSpPr>
        <p:spPr bwMode="auto">
          <a:xfrm>
            <a:off x="4787900" y="3563938"/>
            <a:ext cx="237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457200" indent="-457200">
              <a:tabLst>
                <a:tab pos="498475" algn="l"/>
              </a:tabLst>
              <a:defRPr sz="2400">
                <a:solidFill>
                  <a:schemeClr val="tx1"/>
                </a:solidFill>
                <a:latin typeface="Tahoma" panose="020B0604030504040204" pitchFamily="34" charset="0"/>
                <a:ea typeface="楷体_GB2312" pitchFamily="49" charset="-122"/>
              </a:defRPr>
            </a:lvl1pPr>
            <a:lvl2pPr marL="742950" indent="-285750">
              <a:tabLst>
                <a:tab pos="498475" algn="l"/>
              </a:tabLst>
              <a:defRPr sz="2400">
                <a:solidFill>
                  <a:schemeClr val="tx1"/>
                </a:solidFill>
                <a:latin typeface="Tahoma" panose="020B0604030504040204" pitchFamily="34" charset="0"/>
                <a:ea typeface="楷体_GB2312" pitchFamily="49" charset="-122"/>
              </a:defRPr>
            </a:lvl2pPr>
            <a:lvl3pPr marL="1143000" indent="-228600">
              <a:tabLst>
                <a:tab pos="498475" algn="l"/>
              </a:tabLst>
              <a:defRPr sz="2400">
                <a:solidFill>
                  <a:schemeClr val="tx1"/>
                </a:solidFill>
                <a:latin typeface="Tahoma" panose="020B0604030504040204" pitchFamily="34" charset="0"/>
                <a:ea typeface="楷体_GB2312" pitchFamily="49" charset="-122"/>
              </a:defRPr>
            </a:lvl3pPr>
            <a:lvl4pPr marL="1600200" indent="-228600">
              <a:tabLst>
                <a:tab pos="498475" algn="l"/>
              </a:tabLst>
              <a:defRPr sz="2400">
                <a:solidFill>
                  <a:schemeClr val="tx1"/>
                </a:solidFill>
                <a:latin typeface="Tahoma" panose="020B0604030504040204" pitchFamily="34" charset="0"/>
                <a:ea typeface="楷体_GB2312" pitchFamily="49" charset="-122"/>
              </a:defRPr>
            </a:lvl4pPr>
            <a:lvl5pPr marL="2057400" indent="-228600">
              <a:tabLst>
                <a:tab pos="4984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984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楷体_GB2312" pitchFamily="49" charset="-122"/>
              </a:rPr>
              <a:t>3.</a:t>
            </a:r>
            <a:r>
              <a:rPr lang="zh-CN" altLang="en-US" b="1"/>
              <a:t>沿</a:t>
            </a:r>
            <a:r>
              <a:rPr lang="en-US" altLang="zh-CN" b="1"/>
              <a:t>z</a:t>
            </a:r>
            <a:r>
              <a:rPr lang="zh-CN" altLang="en-US" b="1"/>
              <a:t>方向错切</a:t>
            </a:r>
            <a:r>
              <a:rPr lang="zh-CN" altLang="en-US"/>
              <a:t>  </a:t>
            </a:r>
          </a:p>
        </p:txBody>
      </p:sp>
      <p:sp>
        <p:nvSpPr>
          <p:cNvPr id="25612" name="Rectangle 25"/>
          <p:cNvSpPr>
            <a:spLocks noChangeArrowheads="1"/>
          </p:cNvSpPr>
          <p:nvPr/>
        </p:nvSpPr>
        <p:spPr bwMode="auto">
          <a:xfrm>
            <a:off x="7021513" y="479266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6-17</a:t>
            </a:r>
            <a:r>
              <a:rPr lang="zh-CN" altLang="en-US"/>
              <a:t>） </a:t>
            </a:r>
          </a:p>
        </p:txBody>
      </p:sp>
      <p:graphicFrame>
        <p:nvGraphicFramePr>
          <p:cNvPr id="25613" name="Object 10"/>
          <p:cNvGraphicFramePr>
            <a:graphicFrameLocks noChangeAspect="1"/>
          </p:cNvGraphicFramePr>
          <p:nvPr/>
        </p:nvGraphicFramePr>
        <p:xfrm>
          <a:off x="4716463" y="4233863"/>
          <a:ext cx="2305050" cy="1770062"/>
        </p:xfrm>
        <a:graphic>
          <a:graphicData uri="http://schemas.openxmlformats.org/presentationml/2006/ole">
            <mc:AlternateContent xmlns:mc="http://schemas.openxmlformats.org/markup-compatibility/2006">
              <mc:Choice xmlns:v="urn:schemas-microsoft-com:vml" Requires="v">
                <p:oleObj spid="_x0000_s25637" r:id="rId9" imgW="1194318" imgH="914797" progId="Equation.3">
                  <p:embed/>
                </p:oleObj>
              </mc:Choice>
              <mc:Fallback>
                <p:oleObj r:id="rId9" imgW="1194318" imgH="914797"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4233863"/>
                        <a:ext cx="2305050" cy="177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ChangeArrowheads="1"/>
          </p:cNvSpPr>
          <p:nvPr/>
        </p:nvSpPr>
        <p:spPr bwMode="auto">
          <a:xfrm>
            <a:off x="452438" y="165100"/>
            <a:ext cx="4465637" cy="647700"/>
          </a:xfrm>
          <a:prstGeom prst="rect">
            <a:avLst/>
          </a:prstGeom>
          <a:noFill/>
          <a:ln w="9525">
            <a:noFill/>
            <a:miter lim="800000"/>
            <a:headEnd/>
            <a:tailEnd/>
          </a:ln>
        </p:spPr>
        <p:txBody>
          <a:bodyPr anchor="b"/>
          <a:lstStyle/>
          <a:p>
            <a:pPr eaLnBrk="1" hangingPunct="1">
              <a:buFont typeface="Arial" charset="0"/>
              <a:buNone/>
              <a:defRPr/>
            </a:pPr>
            <a:r>
              <a:rPr lang="en-US" altLang="zh-CN" sz="3200" b="1" dirty="0">
                <a:effectLst>
                  <a:outerShdw blurRad="38100" dist="38100" dir="2700000" algn="tl">
                    <a:srgbClr val="C0C0C0"/>
                  </a:outerShdw>
                </a:effectLst>
                <a:latin typeface="楷体_GB2312" pitchFamily="49" charset="-122"/>
              </a:rPr>
              <a:t>6.3 </a:t>
            </a:r>
            <a:r>
              <a:rPr lang="zh-CN" altLang="en-US" sz="3200" b="1" dirty="0">
                <a:effectLst>
                  <a:outerShdw blurRad="38100" dist="38100" dir="2700000" algn="tl">
                    <a:srgbClr val="C0C0C0"/>
                  </a:outerShdw>
                </a:effectLst>
                <a:latin typeface="楷体_GB2312" pitchFamily="49" charset="-122"/>
              </a:rPr>
              <a:t>三维复合变换</a:t>
            </a:r>
            <a:r>
              <a:rPr lang="zh-CN" altLang="en-US" sz="3200" b="1" dirty="0">
                <a:solidFill>
                  <a:srgbClr val="FF3300"/>
                </a:solidFill>
                <a:ea typeface="宋体" pitchFamily="2" charset="-122"/>
              </a:rPr>
              <a:t> </a:t>
            </a:r>
          </a:p>
        </p:txBody>
      </p:sp>
      <p:graphicFrame>
        <p:nvGraphicFramePr>
          <p:cNvPr id="26627" name="Object 4"/>
          <p:cNvGraphicFramePr>
            <a:graphicFrameLocks noChangeAspect="1"/>
          </p:cNvGraphicFramePr>
          <p:nvPr/>
        </p:nvGraphicFramePr>
        <p:xfrm>
          <a:off x="2339975" y="1031875"/>
          <a:ext cx="3600450" cy="517525"/>
        </p:xfrm>
        <a:graphic>
          <a:graphicData uri="http://schemas.openxmlformats.org/presentationml/2006/ole">
            <mc:AlternateContent xmlns:mc="http://schemas.openxmlformats.org/markup-compatibility/2006">
              <mc:Choice xmlns:v="urn:schemas-microsoft-com:vml" Requires="v">
                <p:oleObj spid="_x0000_s26636" r:id="rId3" imgW="1588189" imgH="228699" progId="Equation.3">
                  <p:embed/>
                </p:oleObj>
              </mc:Choice>
              <mc:Fallback>
                <p:oleObj r:id="rId3" imgW="1588189" imgH="22869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031875"/>
                        <a:ext cx="36004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2" name="Rectangle 8"/>
          <p:cNvSpPr>
            <a:spLocks noRot="1" noChangeAspect="1" noMove="1" noResize="1" noEditPoints="1" noAdjustHandles="1" noChangeArrowheads="1" noChangeShapeType="1" noTextEdit="1"/>
          </p:cNvSpPr>
          <p:nvPr/>
        </p:nvSpPr>
        <p:spPr bwMode="auto">
          <a:xfrm>
            <a:off x="552232" y="1603932"/>
            <a:ext cx="8569077" cy="423899"/>
          </a:xfrm>
          <a:prstGeom prst="rect">
            <a:avLst/>
          </a:prstGeom>
          <a:blipFill>
            <a:blip r:embed="rId5"/>
            <a:stretch>
              <a:fillRect t="-8571" b="-17143"/>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p:sp>
        <p:nvSpPr>
          <p:cNvPr id="19462" name="Rectangle 9"/>
          <p:cNvSpPr>
            <a:spLocks noChangeArrowheads="1"/>
          </p:cNvSpPr>
          <p:nvPr/>
        </p:nvSpPr>
        <p:spPr bwMode="auto">
          <a:xfrm>
            <a:off x="446088" y="2133600"/>
            <a:ext cx="5689600"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dirty="0">
                <a:effectLst>
                  <a:outerShdw blurRad="38100" dist="38100" dir="2700000" algn="tl">
                    <a:srgbClr val="C0C0C0"/>
                  </a:outerShdw>
                </a:effectLst>
                <a:latin typeface="楷体_GB2312" pitchFamily="49" charset="-122"/>
              </a:rPr>
              <a:t>6.3.1</a:t>
            </a:r>
            <a:r>
              <a:rPr lang="zh-CN" altLang="en-US" b="1" dirty="0">
                <a:effectLst>
                  <a:outerShdw blurRad="38100" dist="38100" dir="2700000" algn="tl">
                    <a:srgbClr val="C0C0C0"/>
                  </a:outerShdw>
                </a:effectLst>
              </a:rPr>
              <a:t>相对于任一参考点的三维几何变换</a:t>
            </a:r>
            <a:r>
              <a:rPr lang="zh-CN" altLang="en-US" dirty="0"/>
              <a:t> </a:t>
            </a:r>
          </a:p>
        </p:txBody>
      </p:sp>
      <p:sp>
        <p:nvSpPr>
          <p:cNvPr id="17414" name="Rectangle 10"/>
          <p:cNvSpPr>
            <a:spLocks noRot="1" noChangeAspect="1" noMove="1" noResize="1" noEditPoints="1" noAdjustHandles="1" noChangeArrowheads="1" noChangeShapeType="1" noTextEdit="1"/>
          </p:cNvSpPr>
          <p:nvPr/>
        </p:nvSpPr>
        <p:spPr bwMode="auto">
          <a:xfrm>
            <a:off x="251520" y="2724687"/>
            <a:ext cx="8641655" cy="2400657"/>
          </a:xfrm>
          <a:prstGeom prst="rect">
            <a:avLst/>
          </a:prstGeom>
          <a:blipFill>
            <a:blip r:embed="rId6"/>
            <a:stretch>
              <a:fillRect l="-705" r="-846" b="-177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ChangeArrowheads="1"/>
          </p:cNvSpPr>
          <p:nvPr/>
        </p:nvSpPr>
        <p:spPr bwMode="auto">
          <a:xfrm>
            <a:off x="176213" y="88900"/>
            <a:ext cx="6191250" cy="519113"/>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dirty="0">
                <a:effectLst>
                  <a:outerShdw blurRad="38100" dist="38100" dir="2700000" algn="tl">
                    <a:srgbClr val="C0C0C0"/>
                  </a:outerShdw>
                </a:effectLst>
                <a:latin typeface="楷体_GB2312" pitchFamily="49" charset="-122"/>
              </a:rPr>
              <a:t>6.3.2 </a:t>
            </a:r>
            <a:r>
              <a:rPr lang="zh-CN" altLang="en-US" b="1" dirty="0">
                <a:effectLst>
                  <a:outerShdw blurRad="38100" dist="38100" dir="2700000" algn="tl">
                    <a:srgbClr val="C0C0C0"/>
                  </a:outerShdw>
                </a:effectLst>
              </a:rPr>
              <a:t>相对于任意方向的三维几何变换</a:t>
            </a:r>
            <a:r>
              <a:rPr lang="zh-CN" altLang="en-US" dirty="0"/>
              <a:t> </a:t>
            </a:r>
          </a:p>
        </p:txBody>
      </p:sp>
      <p:sp>
        <p:nvSpPr>
          <p:cNvPr id="18435" name="Rectangle 6"/>
          <p:cNvSpPr>
            <a:spLocks noChangeArrowheads="1"/>
          </p:cNvSpPr>
          <p:nvPr/>
        </p:nvSpPr>
        <p:spPr bwMode="auto">
          <a:xfrm>
            <a:off x="323850" y="569913"/>
            <a:ext cx="8675688"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457200" algn="l"/>
              </a:tabLst>
              <a:defRPr sz="2400">
                <a:solidFill>
                  <a:schemeClr val="tx1"/>
                </a:solidFill>
                <a:latin typeface="Tahoma" panose="020B0604030504040204" pitchFamily="34" charset="0"/>
                <a:ea typeface="楷体_GB2312" pitchFamily="49" charset="-122"/>
              </a:defRPr>
            </a:lvl1pPr>
            <a:lvl2pPr marL="742950" indent="-285750">
              <a:tabLst>
                <a:tab pos="457200" algn="l"/>
              </a:tabLst>
              <a:defRPr sz="2400">
                <a:solidFill>
                  <a:schemeClr val="tx1"/>
                </a:solidFill>
                <a:latin typeface="Tahoma" panose="020B0604030504040204" pitchFamily="34" charset="0"/>
                <a:ea typeface="楷体_GB2312" pitchFamily="49" charset="-122"/>
              </a:defRPr>
            </a:lvl2pPr>
            <a:lvl3pPr marL="1143000" indent="-228600">
              <a:tabLst>
                <a:tab pos="457200" algn="l"/>
              </a:tabLst>
              <a:defRPr sz="2400">
                <a:solidFill>
                  <a:schemeClr val="tx1"/>
                </a:solidFill>
                <a:latin typeface="Tahoma" panose="020B0604030504040204" pitchFamily="34" charset="0"/>
                <a:ea typeface="楷体_GB2312" pitchFamily="49" charset="-122"/>
              </a:defRPr>
            </a:lvl3pPr>
            <a:lvl4pPr marL="1600200" indent="-228600">
              <a:tabLst>
                <a:tab pos="457200" algn="l"/>
              </a:tabLst>
              <a:defRPr sz="2400">
                <a:solidFill>
                  <a:schemeClr val="tx1"/>
                </a:solidFill>
                <a:latin typeface="Tahoma" panose="020B0604030504040204" pitchFamily="34" charset="0"/>
                <a:ea typeface="楷体_GB2312" pitchFamily="49" charset="-122"/>
              </a:defRPr>
            </a:lvl4pPr>
            <a:lvl5pPr marL="2057400" indent="-228600">
              <a:tabLst>
                <a:tab pos="457200"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457200"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457200"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457200"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457200" algn="l"/>
              </a:tabLst>
              <a:defRPr sz="2400">
                <a:solidFill>
                  <a:schemeClr val="tx1"/>
                </a:solidFill>
                <a:latin typeface="Tahoma" panose="020B0604030504040204" pitchFamily="34" charset="0"/>
                <a:ea typeface="楷体_GB2312" pitchFamily="49" charset="-122"/>
              </a:defRPr>
            </a:lvl9pPr>
          </a:lstStyle>
          <a:p>
            <a:pPr eaLnBrk="1" hangingPunct="1">
              <a:lnSpc>
                <a:spcPct val="150000"/>
              </a:lnSpc>
              <a:buFont typeface="Arial" panose="020B0604020202020204" pitchFamily="34" charset="0"/>
              <a:buNone/>
              <a:defRPr/>
            </a:pPr>
            <a:r>
              <a:rPr lang="zh-CN" altLang="en-US" sz="2000" dirty="0" smtClean="0">
                <a:latin typeface="微软雅黑" panose="020B0503020204020204" pitchFamily="34" charset="-122"/>
                <a:ea typeface="微软雅黑" panose="020B0503020204020204" pitchFamily="34" charset="-122"/>
              </a:rPr>
              <a:t>相对于</a:t>
            </a:r>
            <a:r>
              <a:rPr lang="zh-CN" altLang="en-US" sz="2000" b="1" dirty="0" smtClean="0">
                <a:solidFill>
                  <a:srgbClr val="FF0000"/>
                </a:solidFill>
                <a:latin typeface="微软雅黑" panose="020B0503020204020204" pitchFamily="34" charset="-122"/>
                <a:ea typeface="微软雅黑" panose="020B0503020204020204" pitchFamily="34" charset="-122"/>
              </a:rPr>
              <a:t>任意方向的变换方法</a:t>
            </a:r>
            <a:r>
              <a:rPr lang="zh-CN" altLang="en-US" sz="2000" dirty="0" smtClean="0">
                <a:latin typeface="微软雅黑" panose="020B0503020204020204" pitchFamily="34" charset="-122"/>
                <a:ea typeface="微软雅黑" panose="020B0503020204020204" pitchFamily="34" charset="-122"/>
              </a:rPr>
              <a:t>是</a:t>
            </a:r>
            <a:r>
              <a:rPr lang="en-US" altLang="zh-CN" sz="2000" dirty="0" smtClean="0">
                <a:latin typeface="微软雅黑" panose="020B0503020204020204" pitchFamily="34" charset="-122"/>
                <a:ea typeface="微软雅黑" panose="020B0503020204020204" pitchFamily="34" charset="-122"/>
              </a:rPr>
              <a:t>:</a:t>
            </a:r>
          </a:p>
          <a:p>
            <a:pPr marL="342900" indent="-342900" eaLnBrk="1" hangingPunct="1">
              <a:lnSpc>
                <a:spcPct val="150000"/>
              </a:lnSpc>
              <a:buFont typeface="Wingdings" panose="05000000000000000000" pitchFamily="2" charset="2"/>
              <a:buChar char="n"/>
              <a:defRPr/>
            </a:pPr>
            <a:r>
              <a:rPr lang="zh-CN" altLang="en-US" sz="2000" b="1" dirty="0" smtClean="0">
                <a:solidFill>
                  <a:srgbClr val="FF0000"/>
                </a:solidFill>
                <a:latin typeface="微软雅黑" panose="020B0503020204020204" pitchFamily="34" charset="-122"/>
                <a:ea typeface="微软雅黑" panose="020B0503020204020204" pitchFamily="34" charset="-122"/>
              </a:rPr>
              <a:t>首先</a:t>
            </a:r>
            <a:r>
              <a:rPr lang="zh-CN" altLang="en-US" sz="2000" dirty="0" smtClean="0">
                <a:latin typeface="微软雅黑" panose="020B0503020204020204" pitchFamily="34" charset="-122"/>
                <a:ea typeface="微软雅黑" panose="020B0503020204020204" pitchFamily="34" charset="-122"/>
              </a:rPr>
              <a:t>对任意方向做旋转变换，使</a:t>
            </a:r>
            <a:r>
              <a:rPr lang="zh-CN" altLang="en-US" sz="2000" b="1" dirty="0" smtClean="0">
                <a:solidFill>
                  <a:srgbClr val="FF0000"/>
                </a:solidFill>
                <a:latin typeface="微软雅黑" panose="020B0503020204020204" pitchFamily="34" charset="-122"/>
                <a:ea typeface="微软雅黑" panose="020B0503020204020204" pitchFamily="34" charset="-122"/>
              </a:rPr>
              <a:t>变换方向与某个坐标轴重合</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marL="342900" indent="-342900" eaLnBrk="1" hangingPunct="1">
              <a:lnSpc>
                <a:spcPct val="150000"/>
              </a:lnSpc>
              <a:buFont typeface="Wingdings" panose="05000000000000000000" pitchFamily="2" charset="2"/>
              <a:buChar char="n"/>
              <a:defRPr/>
            </a:pPr>
            <a:r>
              <a:rPr lang="zh-CN" altLang="en-US" sz="2000" dirty="0" smtClean="0">
                <a:latin typeface="微软雅黑" panose="020B0503020204020204" pitchFamily="34" charset="-122"/>
                <a:ea typeface="微软雅黑" panose="020B0503020204020204" pitchFamily="34" charset="-122"/>
              </a:rPr>
              <a:t>然后对该坐标轴进行三维基本几何变换，</a:t>
            </a:r>
            <a:endParaRPr lang="en-US" altLang="zh-CN" sz="2000" dirty="0" smtClean="0">
              <a:latin typeface="微软雅黑" panose="020B0503020204020204" pitchFamily="34" charset="-122"/>
              <a:ea typeface="微软雅黑" panose="020B0503020204020204" pitchFamily="34" charset="-122"/>
            </a:endParaRPr>
          </a:p>
          <a:p>
            <a:pPr marL="342900" indent="-342900" eaLnBrk="1" hangingPunct="1">
              <a:lnSpc>
                <a:spcPct val="150000"/>
              </a:lnSpc>
              <a:buFont typeface="Wingdings" panose="05000000000000000000" pitchFamily="2" charset="2"/>
              <a:buChar char="n"/>
              <a:defRPr/>
            </a:pPr>
            <a:r>
              <a:rPr lang="zh-CN" altLang="en-US" sz="2000" dirty="0" smtClean="0">
                <a:latin typeface="微软雅黑" panose="020B0503020204020204" pitchFamily="34" charset="-122"/>
                <a:ea typeface="微软雅黑" panose="020B0503020204020204" pitchFamily="34" charset="-122"/>
              </a:rPr>
              <a:t>最后做</a:t>
            </a:r>
            <a:r>
              <a:rPr lang="zh-CN" altLang="en-US" sz="2000" b="1" dirty="0" smtClean="0">
                <a:solidFill>
                  <a:srgbClr val="FF0000"/>
                </a:solidFill>
                <a:latin typeface="微软雅黑" panose="020B0503020204020204" pitchFamily="34" charset="-122"/>
                <a:ea typeface="微软雅黑" panose="020B0503020204020204" pitchFamily="34" charset="-122"/>
              </a:rPr>
              <a:t>反向旋转变换</a:t>
            </a:r>
            <a:r>
              <a:rPr lang="zh-CN" altLang="en-US" sz="2000" dirty="0" smtClean="0">
                <a:latin typeface="微软雅黑" panose="020B0503020204020204" pitchFamily="34" charset="-122"/>
                <a:ea typeface="微软雅黑" panose="020B0503020204020204" pitchFamily="34" charset="-122"/>
              </a:rPr>
              <a:t>，将任意方向还原到原来的方向。</a:t>
            </a:r>
            <a:endParaRPr lang="en-US" altLang="zh-CN" sz="2000" dirty="0" smtClean="0">
              <a:latin typeface="微软雅黑" panose="020B0503020204020204" pitchFamily="34" charset="-122"/>
              <a:ea typeface="微软雅黑" panose="020B0503020204020204" pitchFamily="34" charset="-122"/>
            </a:endParaRPr>
          </a:p>
          <a:p>
            <a:pPr eaLnBrk="1" hangingPunct="1">
              <a:lnSpc>
                <a:spcPct val="150000"/>
              </a:lnSpc>
              <a:buFont typeface="Arial" panose="020B0604020202020204" pitchFamily="34" charset="0"/>
              <a:buNone/>
              <a:defRPr/>
            </a:pPr>
            <a:r>
              <a:rPr lang="zh-CN" altLang="en-US" sz="2000" dirty="0" smtClean="0">
                <a:latin typeface="微软雅黑" panose="020B0503020204020204" pitchFamily="34" charset="-122"/>
                <a:ea typeface="微软雅黑" panose="020B0503020204020204" pitchFamily="34" charset="-122"/>
              </a:rPr>
              <a:t>三维几何变换中需要进行两次旋转变换，才能使任意方向与某个坐标轴重合。一般做法是先将任意方向旋转到某个坐标平面内，然后再旋转到与该坐标平面内的某个坐标轴重合。</a:t>
            </a:r>
          </a:p>
        </p:txBody>
      </p:sp>
      <p:graphicFrame>
        <p:nvGraphicFramePr>
          <p:cNvPr id="27652" name="Object 4"/>
          <p:cNvGraphicFramePr>
            <a:graphicFrameLocks noChangeAspect="1"/>
          </p:cNvGraphicFramePr>
          <p:nvPr/>
        </p:nvGraphicFramePr>
        <p:xfrm>
          <a:off x="3414713" y="3844925"/>
          <a:ext cx="3678237" cy="574675"/>
        </p:xfrm>
        <a:graphic>
          <a:graphicData uri="http://schemas.openxmlformats.org/presentationml/2006/ole">
            <mc:AlternateContent xmlns:mc="http://schemas.openxmlformats.org/markup-compatibility/2006">
              <mc:Choice xmlns:v="urn:schemas-microsoft-com:vml" Requires="v">
                <p:oleObj spid="_x0000_s27675" r:id="rId3" imgW="2005729" imgH="317362" progId="Equation.3">
                  <p:embed/>
                </p:oleObj>
              </mc:Choice>
              <mc:Fallback>
                <p:oleObj r:id="rId3" imgW="2005729" imgH="31736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4713" y="3844925"/>
                        <a:ext cx="36782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3" name="Object 5"/>
          <p:cNvGraphicFramePr>
            <a:graphicFrameLocks noChangeAspect="1"/>
          </p:cNvGraphicFramePr>
          <p:nvPr/>
        </p:nvGraphicFramePr>
        <p:xfrm>
          <a:off x="5940425" y="4322763"/>
          <a:ext cx="1152525" cy="1122362"/>
        </p:xfrm>
        <a:graphic>
          <a:graphicData uri="http://schemas.openxmlformats.org/presentationml/2006/ole">
            <mc:AlternateContent xmlns:mc="http://schemas.openxmlformats.org/markup-compatibility/2006">
              <mc:Choice xmlns:v="urn:schemas-microsoft-com:vml" Requires="v">
                <p:oleObj spid="_x0000_s27676" r:id="rId5" imgW="736920" imgH="711509" progId="Equation.3">
                  <p:embed/>
                </p:oleObj>
              </mc:Choice>
              <mc:Fallback>
                <p:oleObj r:id="rId5" imgW="736920" imgH="711509"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425" y="4322763"/>
                        <a:ext cx="1152525"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4" name="Object 6"/>
          <p:cNvGraphicFramePr>
            <a:graphicFrameLocks noChangeAspect="1"/>
          </p:cNvGraphicFramePr>
          <p:nvPr/>
        </p:nvGraphicFramePr>
        <p:xfrm>
          <a:off x="3298825" y="5516563"/>
          <a:ext cx="530225" cy="576262"/>
        </p:xfrm>
        <a:graphic>
          <a:graphicData uri="http://schemas.openxmlformats.org/presentationml/2006/ole">
            <mc:AlternateContent xmlns:mc="http://schemas.openxmlformats.org/markup-compatibility/2006">
              <mc:Choice xmlns:v="urn:schemas-microsoft-com:vml" Requires="v">
                <p:oleObj spid="_x0000_s27677" r:id="rId7" imgW="292100" imgH="317500" progId="Equation.3">
                  <p:embed/>
                </p:oleObj>
              </mc:Choice>
              <mc:Fallback>
                <p:oleObj r:id="rId7" imgW="292100" imgH="3175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98825" y="5516563"/>
                        <a:ext cx="5302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5" name="Rectangle 14"/>
          <p:cNvSpPr>
            <a:spLocks noChangeArrowheads="1"/>
          </p:cNvSpPr>
          <p:nvPr/>
        </p:nvSpPr>
        <p:spPr bwMode="auto">
          <a:xfrm>
            <a:off x="3779838" y="5635625"/>
            <a:ext cx="475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逆时针旋转</a:t>
            </a:r>
            <a:r>
              <a:rPr lang="en-US" altLang="zh-CN" dirty="0"/>
              <a:t>θ</a:t>
            </a:r>
            <a:r>
              <a:rPr lang="zh-CN" altLang="en-US" dirty="0"/>
              <a:t>角的分步变换矩阵。</a:t>
            </a:r>
          </a:p>
        </p:txBody>
      </p:sp>
      <p:sp>
        <p:nvSpPr>
          <p:cNvPr id="27656" name="Rectangle 17"/>
          <p:cNvSpPr>
            <a:spLocks noChangeArrowheads="1"/>
          </p:cNvSpPr>
          <p:nvPr/>
        </p:nvSpPr>
        <p:spPr bwMode="auto">
          <a:xfrm>
            <a:off x="1258888" y="4610100"/>
            <a:ext cx="4618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在</a:t>
            </a:r>
            <a:r>
              <a:rPr lang="en-US" altLang="zh-CN"/>
              <a:t>3</a:t>
            </a:r>
            <a:r>
              <a:rPr lang="zh-CN" altLang="en-US"/>
              <a:t>个坐标轴上的方向余弦分别为</a:t>
            </a:r>
          </a:p>
        </p:txBody>
      </p:sp>
      <p:sp>
        <p:nvSpPr>
          <p:cNvPr id="27657" name="Rectangle 18"/>
          <p:cNvSpPr>
            <a:spLocks noChangeArrowheads="1"/>
          </p:cNvSpPr>
          <p:nvPr/>
        </p:nvSpPr>
        <p:spPr bwMode="auto">
          <a:xfrm>
            <a:off x="7164388" y="4610100"/>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，求空间一点</a:t>
            </a:r>
          </a:p>
        </p:txBody>
      </p:sp>
      <p:sp>
        <p:nvSpPr>
          <p:cNvPr id="27658" name="Rectangle 21"/>
          <p:cNvSpPr>
            <a:spLocks noChangeArrowheads="1"/>
          </p:cNvSpPr>
          <p:nvPr/>
        </p:nvSpPr>
        <p:spPr bwMode="auto">
          <a:xfrm>
            <a:off x="1331913" y="5635625"/>
            <a:ext cx="1939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P(x</a:t>
            </a:r>
            <a:r>
              <a:rPr lang="zh-CN" altLang="en-US"/>
              <a:t>，</a:t>
            </a:r>
            <a:r>
              <a:rPr lang="en-US" altLang="zh-CN"/>
              <a:t>y</a:t>
            </a:r>
            <a:r>
              <a:rPr lang="zh-CN" altLang="en-US"/>
              <a:t>，</a:t>
            </a:r>
            <a:r>
              <a:rPr lang="en-US" altLang="zh-CN"/>
              <a:t>z)</a:t>
            </a:r>
            <a:r>
              <a:rPr lang="zh-CN" altLang="en-US"/>
              <a:t>绕</a:t>
            </a:r>
          </a:p>
        </p:txBody>
      </p:sp>
      <p:sp>
        <p:nvSpPr>
          <p:cNvPr id="27659" name="Rectangle 24"/>
          <p:cNvSpPr>
            <a:spLocks noChangeArrowheads="1"/>
          </p:cNvSpPr>
          <p:nvPr/>
        </p:nvSpPr>
        <p:spPr bwMode="auto">
          <a:xfrm>
            <a:off x="315913" y="3959225"/>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b="1"/>
              <a:t>例</a:t>
            </a:r>
            <a:r>
              <a:rPr lang="en-US" altLang="zh-CN" b="1"/>
              <a:t>6-1 </a:t>
            </a:r>
            <a:r>
              <a:rPr lang="zh-CN" altLang="en-US"/>
              <a:t>已知空间矢量</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6"/>
          <p:cNvGraphicFramePr>
            <a:graphicFrameLocks noChangeAspect="1"/>
          </p:cNvGraphicFramePr>
          <p:nvPr/>
        </p:nvGraphicFramePr>
        <p:xfrm>
          <a:off x="3132138" y="765175"/>
          <a:ext cx="3921125" cy="5327650"/>
        </p:xfrm>
        <a:graphic>
          <a:graphicData uri="http://schemas.openxmlformats.org/presentationml/2006/ole">
            <mc:AlternateContent xmlns:mc="http://schemas.openxmlformats.org/markup-compatibility/2006">
              <mc:Choice xmlns:v="urn:schemas-microsoft-com:vml" Requires="v">
                <p:oleObj spid="_x0000_s28687" r:id="rId3" imgW="2384181" imgH="3439005" progId="Visio.Drawing.11">
                  <p:embed/>
                </p:oleObj>
              </mc:Choice>
              <mc:Fallback>
                <p:oleObj r:id="rId3" imgW="2384181" imgH="3439005"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765175"/>
                        <a:ext cx="3921125"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5" name="Text Box 8"/>
          <p:cNvSpPr txBox="1">
            <a:spLocks noChangeArrowheads="1"/>
          </p:cNvSpPr>
          <p:nvPr/>
        </p:nvSpPr>
        <p:spPr bwMode="auto">
          <a:xfrm>
            <a:off x="5148263" y="1196975"/>
            <a:ext cx="3603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latin typeface="楷体_GB2312" pitchFamily="49" charset="-122"/>
              </a:rPr>
              <a:t>P</a:t>
            </a:r>
            <a:r>
              <a:rPr lang="en-US" altLang="zh-CN" baseline="-25000">
                <a:latin typeface="楷体_GB2312" pitchFamily="49" charset="-122"/>
              </a:rPr>
              <a:t>1</a:t>
            </a:r>
            <a:endParaRPr lang="en-US" altLang="zh-CN">
              <a:latin typeface="楷体_GB2312" pitchFamily="49" charset="-122"/>
            </a:endParaRPr>
          </a:p>
        </p:txBody>
      </p:sp>
      <p:sp>
        <p:nvSpPr>
          <p:cNvPr id="28676" name="Text Box 9"/>
          <p:cNvSpPr txBox="1">
            <a:spLocks noChangeArrowheads="1"/>
          </p:cNvSpPr>
          <p:nvPr/>
        </p:nvSpPr>
        <p:spPr bwMode="auto">
          <a:xfrm>
            <a:off x="6011863" y="1700213"/>
            <a:ext cx="3603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latin typeface="宋体" panose="02010600030101010101" pitchFamily="2" charset="-122"/>
                <a:ea typeface="宋体" panose="02010600030101010101" pitchFamily="2" charset="-122"/>
              </a:rPr>
              <a:t>θ</a:t>
            </a:r>
            <a:endParaRPr lang="en-US" altLang="zh-CN"/>
          </a:p>
        </p:txBody>
      </p:sp>
      <p:sp>
        <p:nvSpPr>
          <p:cNvPr id="28677" name="Text Box 10"/>
          <p:cNvSpPr txBox="1">
            <a:spLocks noChangeArrowheads="1"/>
          </p:cNvSpPr>
          <p:nvPr/>
        </p:nvSpPr>
        <p:spPr bwMode="auto">
          <a:xfrm>
            <a:off x="4787900" y="3284538"/>
            <a:ext cx="3603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latin typeface="楷体_GB2312" pitchFamily="49" charset="-122"/>
              </a:rPr>
              <a:t>P</a:t>
            </a:r>
            <a:r>
              <a:rPr lang="en-US" altLang="zh-CN" baseline="-25000">
                <a:latin typeface="楷体_GB2312" pitchFamily="49" charset="-122"/>
              </a:rPr>
              <a:t>0</a:t>
            </a:r>
            <a:endParaRPr lang="en-US" altLang="zh-CN">
              <a:latin typeface="楷体_GB2312" pitchFamily="49" charset="-122"/>
            </a:endParaRPr>
          </a:p>
        </p:txBody>
      </p:sp>
      <p:sp>
        <p:nvSpPr>
          <p:cNvPr id="28678" name="Text Box 11"/>
          <p:cNvSpPr txBox="1">
            <a:spLocks noChangeArrowheads="1"/>
          </p:cNvSpPr>
          <p:nvPr/>
        </p:nvSpPr>
        <p:spPr bwMode="auto">
          <a:xfrm>
            <a:off x="4284663" y="2997200"/>
            <a:ext cx="311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latin typeface="Times New Roman" panose="02020603050405020304" pitchFamily="18" charset="0"/>
                <a:ea typeface="宋体" panose="02010600030101010101" pitchFamily="2" charset="-122"/>
              </a:rPr>
              <a:t>β</a:t>
            </a:r>
            <a:endParaRPr lang="en-US" altLang="zh-CN"/>
          </a:p>
        </p:txBody>
      </p:sp>
      <p:sp>
        <p:nvSpPr>
          <p:cNvPr id="28679" name="Text Box 12"/>
          <p:cNvSpPr txBox="1">
            <a:spLocks noChangeArrowheads="1"/>
          </p:cNvSpPr>
          <p:nvPr/>
        </p:nvSpPr>
        <p:spPr bwMode="auto">
          <a:xfrm>
            <a:off x="4643438" y="3860800"/>
            <a:ext cx="311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t>α</a:t>
            </a:r>
          </a:p>
        </p:txBody>
      </p:sp>
      <p:sp>
        <p:nvSpPr>
          <p:cNvPr id="28680" name="Text Box 13"/>
          <p:cNvSpPr txBox="1">
            <a:spLocks noChangeArrowheads="1"/>
          </p:cNvSpPr>
          <p:nvPr/>
        </p:nvSpPr>
        <p:spPr bwMode="auto">
          <a:xfrm>
            <a:off x="3348038" y="4076700"/>
            <a:ext cx="3111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t>γ</a:t>
            </a:r>
          </a:p>
        </p:txBody>
      </p:sp>
      <p:sp>
        <p:nvSpPr>
          <p:cNvPr id="28681" name="Text Box 8"/>
          <p:cNvSpPr txBox="1">
            <a:spLocks noChangeArrowheads="1"/>
          </p:cNvSpPr>
          <p:nvPr/>
        </p:nvSpPr>
        <p:spPr bwMode="auto">
          <a:xfrm>
            <a:off x="5929313" y="2214563"/>
            <a:ext cx="3603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latin typeface="楷体_GB2312" pitchFamily="49" charset="-122"/>
              </a:rPr>
              <a:t>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p:cNvSpPr>
            <a:spLocks noChangeArrowheads="1"/>
          </p:cNvSpPr>
          <p:nvPr/>
        </p:nvSpPr>
        <p:spPr bwMode="auto">
          <a:xfrm>
            <a:off x="1331913" y="333375"/>
            <a:ext cx="558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a:t>(1) </a:t>
            </a:r>
            <a:r>
              <a:rPr lang="zh-CN" altLang="en-US"/>
              <a:t>将</a:t>
            </a:r>
            <a:r>
              <a:rPr lang="en-US" altLang="zh-CN"/>
              <a:t>P</a:t>
            </a:r>
            <a:r>
              <a:rPr lang="en-US" altLang="zh-CN" baseline="-25000"/>
              <a:t>0</a:t>
            </a:r>
            <a:r>
              <a:rPr lang="en-US" altLang="zh-CN"/>
              <a:t>(x</a:t>
            </a:r>
            <a:r>
              <a:rPr lang="en-US" altLang="zh-CN" baseline="-25000"/>
              <a:t>0</a:t>
            </a:r>
            <a:r>
              <a:rPr lang="zh-CN" altLang="en-US"/>
              <a:t>，</a:t>
            </a:r>
            <a:r>
              <a:rPr lang="en-US" altLang="zh-CN"/>
              <a:t>y</a:t>
            </a:r>
            <a:r>
              <a:rPr lang="en-US" altLang="zh-CN" baseline="-25000"/>
              <a:t>0</a:t>
            </a:r>
            <a:r>
              <a:rPr lang="zh-CN" altLang="en-US"/>
              <a:t>，</a:t>
            </a:r>
            <a:r>
              <a:rPr lang="en-US" altLang="zh-CN"/>
              <a:t>z</a:t>
            </a:r>
            <a:r>
              <a:rPr lang="en-US" altLang="zh-CN" baseline="-25000"/>
              <a:t>0</a:t>
            </a:r>
            <a:r>
              <a:rPr lang="en-US" altLang="zh-CN"/>
              <a:t>)</a:t>
            </a:r>
            <a:r>
              <a:rPr lang="zh-CN" altLang="en-US"/>
              <a:t>点平移到坐标原点</a:t>
            </a:r>
          </a:p>
        </p:txBody>
      </p:sp>
      <p:sp>
        <p:nvSpPr>
          <p:cNvPr id="29699" name="Rectangle 11"/>
          <p:cNvSpPr>
            <a:spLocks noChangeArrowheads="1"/>
          </p:cNvSpPr>
          <p:nvPr/>
        </p:nvSpPr>
        <p:spPr bwMode="auto">
          <a:xfrm>
            <a:off x="1544638" y="3305175"/>
            <a:ext cx="89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en-US" altLang="zh-CN"/>
              <a:t>(2)</a:t>
            </a:r>
            <a:r>
              <a:rPr lang="zh-CN" altLang="en-US"/>
              <a:t>将</a:t>
            </a:r>
          </a:p>
        </p:txBody>
      </p:sp>
      <p:graphicFrame>
        <p:nvGraphicFramePr>
          <p:cNvPr id="29700" name="Object 5"/>
          <p:cNvGraphicFramePr>
            <a:graphicFrameLocks noChangeAspect="1"/>
          </p:cNvGraphicFramePr>
          <p:nvPr/>
        </p:nvGraphicFramePr>
        <p:xfrm>
          <a:off x="2987675" y="1196975"/>
          <a:ext cx="2881313" cy="1550988"/>
        </p:xfrm>
        <a:graphic>
          <a:graphicData uri="http://schemas.openxmlformats.org/presentationml/2006/ole">
            <mc:AlternateContent xmlns:mc="http://schemas.openxmlformats.org/markup-compatibility/2006">
              <mc:Choice xmlns:v="urn:schemas-microsoft-com:vml" Requires="v">
                <p:oleObj spid="_x0000_s29721" r:id="rId3" imgW="1753361" imgH="940208" progId="Equation.3">
                  <p:embed/>
                </p:oleObj>
              </mc:Choice>
              <mc:Fallback>
                <p:oleObj r:id="rId3" imgW="1753361" imgH="940208"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1196975"/>
                        <a:ext cx="2881313"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701" name="Object 6"/>
          <p:cNvGraphicFramePr>
            <a:graphicFrameLocks noChangeAspect="1"/>
          </p:cNvGraphicFramePr>
          <p:nvPr/>
        </p:nvGraphicFramePr>
        <p:xfrm>
          <a:off x="2290763" y="3213100"/>
          <a:ext cx="528637" cy="574675"/>
        </p:xfrm>
        <a:graphic>
          <a:graphicData uri="http://schemas.openxmlformats.org/presentationml/2006/ole">
            <mc:AlternateContent xmlns:mc="http://schemas.openxmlformats.org/markup-compatibility/2006">
              <mc:Choice xmlns:v="urn:schemas-microsoft-com:vml" Requires="v">
                <p:oleObj spid="_x0000_s29722" r:id="rId5" imgW="292100" imgH="317500" progId="Equation.3">
                  <p:embed/>
                </p:oleObj>
              </mc:Choice>
              <mc:Fallback>
                <p:oleObj r:id="rId5" imgW="292100" imgH="3175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0763" y="3213100"/>
                        <a:ext cx="5286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Rectangle 16"/>
          <p:cNvSpPr>
            <a:spLocks noChangeArrowheads="1"/>
          </p:cNvSpPr>
          <p:nvPr/>
        </p:nvSpPr>
        <p:spPr bwMode="auto">
          <a:xfrm>
            <a:off x="2700338" y="3305175"/>
            <a:ext cx="5583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绕</a:t>
            </a:r>
            <a:r>
              <a:rPr lang="en-US" altLang="zh-CN" dirty="0"/>
              <a:t>y</a:t>
            </a:r>
            <a:r>
              <a:rPr lang="zh-CN" altLang="en-US" dirty="0"/>
              <a:t>轴顺时针旋转</a:t>
            </a:r>
            <a:r>
              <a:rPr lang="zh-CN" altLang="en-US" dirty="0">
                <a:sym typeface="Symbol" panose="05050102010706020507" pitchFamily="18" charset="2"/>
              </a:rPr>
              <a:t></a:t>
            </a:r>
            <a:r>
              <a:rPr lang="en-US" altLang="zh-CN" baseline="-25000" dirty="0"/>
              <a:t>y</a:t>
            </a:r>
            <a:r>
              <a:rPr lang="zh-CN" altLang="en-US" dirty="0">
                <a:sym typeface="Symbol" panose="05050102010706020507" pitchFamily="18" charset="2"/>
              </a:rPr>
              <a:t>角，与</a:t>
            </a:r>
            <a:r>
              <a:rPr lang="en-US" altLang="zh-CN" dirty="0" err="1">
                <a:sym typeface="Symbol" panose="05050102010706020507" pitchFamily="18" charset="2"/>
              </a:rPr>
              <a:t>yoz</a:t>
            </a:r>
            <a:r>
              <a:rPr lang="zh-CN" altLang="en-US" dirty="0">
                <a:sym typeface="Symbol" panose="05050102010706020507" pitchFamily="18" charset="2"/>
              </a:rPr>
              <a:t>平面重合</a:t>
            </a:r>
          </a:p>
        </p:txBody>
      </p:sp>
      <p:graphicFrame>
        <p:nvGraphicFramePr>
          <p:cNvPr id="29703" name="Object 9"/>
          <p:cNvGraphicFramePr>
            <a:graphicFrameLocks noChangeAspect="1"/>
          </p:cNvGraphicFramePr>
          <p:nvPr/>
        </p:nvGraphicFramePr>
        <p:xfrm>
          <a:off x="2987675" y="4437063"/>
          <a:ext cx="3240088" cy="1563687"/>
        </p:xfrm>
        <a:graphic>
          <a:graphicData uri="http://schemas.openxmlformats.org/presentationml/2006/ole">
            <mc:AlternateContent xmlns:mc="http://schemas.openxmlformats.org/markup-compatibility/2006">
              <mc:Choice xmlns:v="urn:schemas-microsoft-com:vml" Requires="v">
                <p:oleObj spid="_x0000_s29723" r:id="rId7" imgW="1893122" imgH="914797" progId="Equation.3">
                  <p:embed/>
                </p:oleObj>
              </mc:Choice>
              <mc:Fallback>
                <p:oleObj r:id="rId7" imgW="1893122" imgH="914797"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4437063"/>
                        <a:ext cx="3240088"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4" name="Rectangle 19"/>
          <p:cNvSpPr>
            <a:spLocks noChangeArrowheads="1"/>
          </p:cNvSpPr>
          <p:nvPr/>
        </p:nvSpPr>
        <p:spPr bwMode="auto">
          <a:xfrm>
            <a:off x="7164388" y="177323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6-18</a:t>
            </a:r>
            <a:r>
              <a:rPr lang="zh-CN" altLang="en-US"/>
              <a:t>） </a:t>
            </a:r>
          </a:p>
        </p:txBody>
      </p:sp>
      <p:sp>
        <p:nvSpPr>
          <p:cNvPr id="29705" name="Rectangle 20"/>
          <p:cNvSpPr>
            <a:spLocks noChangeArrowheads="1"/>
          </p:cNvSpPr>
          <p:nvPr/>
        </p:nvSpPr>
        <p:spPr bwMode="auto">
          <a:xfrm>
            <a:off x="7092950" y="4941888"/>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6-19</a:t>
            </a:r>
            <a:r>
              <a:rPr lang="zh-CN" altLang="en-US"/>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p:cNvGraphicFramePr>
            <a:graphicFrameLocks noChangeAspect="1"/>
          </p:cNvGraphicFramePr>
          <p:nvPr/>
        </p:nvGraphicFramePr>
        <p:xfrm>
          <a:off x="2506663" y="260350"/>
          <a:ext cx="528637" cy="574675"/>
        </p:xfrm>
        <a:graphic>
          <a:graphicData uri="http://schemas.openxmlformats.org/presentationml/2006/ole">
            <mc:AlternateContent xmlns:mc="http://schemas.openxmlformats.org/markup-compatibility/2006">
              <mc:Choice xmlns:v="urn:schemas-microsoft-com:vml" Requires="v">
                <p:oleObj spid="_x0000_s30745" r:id="rId3" imgW="292100" imgH="317500" progId="Equation.3">
                  <p:embed/>
                </p:oleObj>
              </mc:Choice>
              <mc:Fallback>
                <p:oleObj r:id="rId3" imgW="292100" imgH="317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6663" y="260350"/>
                        <a:ext cx="5286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3" name="Rectangle 14"/>
          <p:cNvSpPr>
            <a:spLocks noChangeArrowheads="1"/>
          </p:cNvSpPr>
          <p:nvPr/>
        </p:nvSpPr>
        <p:spPr bwMode="auto">
          <a:xfrm>
            <a:off x="1524000" y="368300"/>
            <a:ext cx="985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(3) </a:t>
            </a:r>
            <a:r>
              <a:rPr lang="zh-CN" altLang="en-US"/>
              <a:t>将</a:t>
            </a:r>
          </a:p>
        </p:txBody>
      </p:sp>
      <p:sp>
        <p:nvSpPr>
          <p:cNvPr id="30724" name="Rectangle 15"/>
          <p:cNvSpPr>
            <a:spLocks noChangeArrowheads="1"/>
          </p:cNvSpPr>
          <p:nvPr/>
        </p:nvSpPr>
        <p:spPr bwMode="auto">
          <a:xfrm>
            <a:off x="3132138" y="333375"/>
            <a:ext cx="4691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绕</a:t>
            </a:r>
            <a:r>
              <a:rPr lang="en-US" altLang="zh-CN" dirty="0"/>
              <a:t>x</a:t>
            </a:r>
            <a:r>
              <a:rPr lang="zh-CN" altLang="en-US" dirty="0"/>
              <a:t>轴逆时针旋转</a:t>
            </a:r>
            <a:r>
              <a:rPr lang="zh-CN" altLang="en-US" dirty="0">
                <a:sym typeface="Symbol" panose="05050102010706020507" pitchFamily="18" charset="2"/>
              </a:rPr>
              <a:t></a:t>
            </a:r>
            <a:r>
              <a:rPr lang="en-US" altLang="zh-CN" baseline="-25000" dirty="0"/>
              <a:t>x</a:t>
            </a:r>
            <a:r>
              <a:rPr lang="zh-CN" altLang="en-US" dirty="0">
                <a:sym typeface="Symbol" panose="05050102010706020507" pitchFamily="18" charset="2"/>
              </a:rPr>
              <a:t>角，与</a:t>
            </a:r>
            <a:r>
              <a:rPr lang="en-US" altLang="zh-CN" dirty="0">
                <a:sym typeface="Symbol" panose="05050102010706020507" pitchFamily="18" charset="2"/>
              </a:rPr>
              <a:t>z</a:t>
            </a:r>
            <a:r>
              <a:rPr lang="zh-CN" altLang="en-US" dirty="0">
                <a:sym typeface="Symbol" panose="05050102010706020507" pitchFamily="18" charset="2"/>
              </a:rPr>
              <a:t>轴重合</a:t>
            </a:r>
          </a:p>
        </p:txBody>
      </p:sp>
      <p:graphicFrame>
        <p:nvGraphicFramePr>
          <p:cNvPr id="30725" name="Object 6"/>
          <p:cNvGraphicFramePr>
            <a:graphicFrameLocks noChangeAspect="1"/>
          </p:cNvGraphicFramePr>
          <p:nvPr/>
        </p:nvGraphicFramePr>
        <p:xfrm>
          <a:off x="2843213" y="1052513"/>
          <a:ext cx="3241675" cy="1612900"/>
        </p:xfrm>
        <a:graphic>
          <a:graphicData uri="http://schemas.openxmlformats.org/presentationml/2006/ole">
            <mc:AlternateContent xmlns:mc="http://schemas.openxmlformats.org/markup-compatibility/2006">
              <mc:Choice xmlns:v="urn:schemas-microsoft-com:vml" Requires="v">
                <p:oleObj spid="_x0000_s30746" r:id="rId5" imgW="1842300" imgH="914797" progId="Equation.3">
                  <p:embed/>
                </p:oleObj>
              </mc:Choice>
              <mc:Fallback>
                <p:oleObj r:id="rId5" imgW="1842300" imgH="914797"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1052513"/>
                        <a:ext cx="3241675"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6" name="Rectangle 18"/>
          <p:cNvSpPr>
            <a:spLocks noChangeArrowheads="1"/>
          </p:cNvSpPr>
          <p:nvPr/>
        </p:nvSpPr>
        <p:spPr bwMode="auto">
          <a:xfrm>
            <a:off x="7643813" y="145891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6-20</a:t>
            </a:r>
            <a:r>
              <a:rPr lang="zh-CN" altLang="en-US"/>
              <a:t>） </a:t>
            </a:r>
          </a:p>
        </p:txBody>
      </p:sp>
      <p:sp>
        <p:nvSpPr>
          <p:cNvPr id="30727" name="Rectangle 19"/>
          <p:cNvSpPr>
            <a:spLocks noChangeArrowheads="1"/>
          </p:cNvSpPr>
          <p:nvPr/>
        </p:nvSpPr>
        <p:spPr bwMode="auto">
          <a:xfrm>
            <a:off x="1258888" y="3141663"/>
            <a:ext cx="6073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en-US" altLang="zh-CN" dirty="0"/>
              <a:t>(4) </a:t>
            </a:r>
            <a:r>
              <a:rPr lang="zh-CN" altLang="en-US" dirty="0"/>
              <a:t>将</a:t>
            </a:r>
            <a:r>
              <a:rPr lang="en-US" altLang="zh-CN" dirty="0"/>
              <a:t>P(x</a:t>
            </a:r>
            <a:r>
              <a:rPr lang="zh-CN" altLang="en-US" dirty="0"/>
              <a:t>，</a:t>
            </a:r>
            <a:r>
              <a:rPr lang="en-US" altLang="zh-CN" dirty="0"/>
              <a:t>y</a:t>
            </a:r>
            <a:r>
              <a:rPr lang="zh-CN" altLang="en-US" dirty="0"/>
              <a:t>，</a:t>
            </a:r>
            <a:r>
              <a:rPr lang="en-US" altLang="zh-CN" dirty="0"/>
              <a:t>z</a:t>
            </a:r>
            <a:r>
              <a:rPr lang="zh-CN" altLang="en-US" dirty="0"/>
              <a:t>）点绕</a:t>
            </a:r>
            <a:r>
              <a:rPr lang="en-US" altLang="zh-CN" dirty="0"/>
              <a:t>z</a:t>
            </a:r>
            <a:r>
              <a:rPr lang="zh-CN" altLang="en-US" dirty="0"/>
              <a:t>轴逆时针旋转</a:t>
            </a:r>
            <a:r>
              <a:rPr lang="en-US" altLang="zh-CN" dirty="0"/>
              <a:t>θ</a:t>
            </a:r>
            <a:r>
              <a:rPr lang="zh-CN" altLang="en-US" dirty="0"/>
              <a:t>角</a:t>
            </a:r>
          </a:p>
        </p:txBody>
      </p:sp>
      <p:graphicFrame>
        <p:nvGraphicFramePr>
          <p:cNvPr id="30728" name="Object 10"/>
          <p:cNvGraphicFramePr>
            <a:graphicFrameLocks noChangeAspect="1"/>
          </p:cNvGraphicFramePr>
          <p:nvPr/>
        </p:nvGraphicFramePr>
        <p:xfrm>
          <a:off x="2916238" y="4005263"/>
          <a:ext cx="3313112" cy="1719262"/>
        </p:xfrm>
        <a:graphic>
          <a:graphicData uri="http://schemas.openxmlformats.org/presentationml/2006/ole">
            <mc:AlternateContent xmlns:mc="http://schemas.openxmlformats.org/markup-compatibility/2006">
              <mc:Choice xmlns:v="urn:schemas-microsoft-com:vml" Requires="v">
                <p:oleObj spid="_x0000_s30747" r:id="rId7" imgW="1766067" imgH="914797" progId="Equation.3">
                  <p:embed/>
                </p:oleObj>
              </mc:Choice>
              <mc:Fallback>
                <p:oleObj r:id="rId7" imgW="1766067" imgH="914797"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4005263"/>
                        <a:ext cx="3313112" cy="171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9" name="Rectangle 23"/>
          <p:cNvSpPr>
            <a:spLocks noChangeArrowheads="1"/>
          </p:cNvSpPr>
          <p:nvPr/>
        </p:nvSpPr>
        <p:spPr bwMode="auto">
          <a:xfrm>
            <a:off x="7739063" y="4652963"/>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6-21</a:t>
            </a:r>
            <a:r>
              <a:rPr lang="zh-CN" altLang="en-US"/>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14"/>
          <p:cNvSpPr>
            <a:spLocks noChangeArrowheads="1"/>
          </p:cNvSpPr>
          <p:nvPr/>
        </p:nvSpPr>
        <p:spPr bwMode="auto">
          <a:xfrm>
            <a:off x="1403350" y="333375"/>
            <a:ext cx="1265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5</a:t>
            </a:r>
            <a:r>
              <a:rPr lang="zh-CN" altLang="en-US"/>
              <a:t>）将</a:t>
            </a:r>
          </a:p>
        </p:txBody>
      </p:sp>
      <p:sp>
        <p:nvSpPr>
          <p:cNvPr id="31747" name="Rectangle 15"/>
          <p:cNvSpPr>
            <a:spLocks noChangeArrowheads="1"/>
          </p:cNvSpPr>
          <p:nvPr/>
        </p:nvSpPr>
        <p:spPr bwMode="auto">
          <a:xfrm>
            <a:off x="3059113" y="307975"/>
            <a:ext cx="4926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绕</a:t>
            </a:r>
            <a:r>
              <a:rPr lang="en-US" altLang="zh-CN" dirty="0"/>
              <a:t>x</a:t>
            </a:r>
            <a:r>
              <a:rPr lang="zh-CN" altLang="en-US" dirty="0"/>
              <a:t>轴旋转</a:t>
            </a:r>
            <a:r>
              <a:rPr lang="en-US" altLang="zh-CN" dirty="0"/>
              <a:t>-</a:t>
            </a:r>
            <a:r>
              <a:rPr lang="en-US" altLang="zh-CN" dirty="0">
                <a:sym typeface="Symbol" panose="05050102010706020507" pitchFamily="18" charset="2"/>
              </a:rPr>
              <a:t></a:t>
            </a:r>
            <a:r>
              <a:rPr lang="en-US" altLang="zh-CN" baseline="-25000" dirty="0"/>
              <a:t>x</a:t>
            </a:r>
            <a:r>
              <a:rPr lang="zh-CN" altLang="en-US" dirty="0">
                <a:sym typeface="Symbol" panose="05050102010706020507" pitchFamily="18" charset="2"/>
              </a:rPr>
              <a:t>角，即顺时针旋转</a:t>
            </a:r>
            <a:r>
              <a:rPr lang="en-US" altLang="zh-CN" baseline="-25000" dirty="0"/>
              <a:t>x</a:t>
            </a:r>
            <a:r>
              <a:rPr lang="zh-CN" altLang="en-US" dirty="0">
                <a:sym typeface="Symbol" panose="05050102010706020507" pitchFamily="18" charset="2"/>
              </a:rPr>
              <a:t>角</a:t>
            </a:r>
          </a:p>
        </p:txBody>
      </p:sp>
      <p:graphicFrame>
        <p:nvGraphicFramePr>
          <p:cNvPr id="31748" name="Object 5"/>
          <p:cNvGraphicFramePr>
            <a:graphicFrameLocks noChangeAspect="1"/>
          </p:cNvGraphicFramePr>
          <p:nvPr/>
        </p:nvGraphicFramePr>
        <p:xfrm>
          <a:off x="2843213" y="981075"/>
          <a:ext cx="3313112" cy="1647825"/>
        </p:xfrm>
        <a:graphic>
          <a:graphicData uri="http://schemas.openxmlformats.org/presentationml/2006/ole">
            <mc:AlternateContent xmlns:mc="http://schemas.openxmlformats.org/markup-compatibility/2006">
              <mc:Choice xmlns:v="urn:schemas-microsoft-com:vml" Requires="v">
                <p:oleObj spid="_x0000_s31776" r:id="rId3" imgW="1842300" imgH="914797" progId="Equation.3">
                  <p:embed/>
                </p:oleObj>
              </mc:Choice>
              <mc:Fallback>
                <p:oleObj r:id="rId3" imgW="1842300" imgH="914797"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981075"/>
                        <a:ext cx="3313112"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49" name="Rectangle 18"/>
          <p:cNvSpPr>
            <a:spLocks noChangeArrowheads="1"/>
          </p:cNvSpPr>
          <p:nvPr/>
        </p:nvSpPr>
        <p:spPr bwMode="auto">
          <a:xfrm>
            <a:off x="7643813" y="155733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6-22</a:t>
            </a:r>
            <a:r>
              <a:rPr lang="zh-CN" altLang="en-US"/>
              <a:t>） </a:t>
            </a:r>
          </a:p>
        </p:txBody>
      </p:sp>
      <p:sp>
        <p:nvSpPr>
          <p:cNvPr id="31750" name="Rectangle 22"/>
          <p:cNvSpPr>
            <a:spLocks noChangeArrowheads="1"/>
          </p:cNvSpPr>
          <p:nvPr/>
        </p:nvSpPr>
        <p:spPr bwMode="auto">
          <a:xfrm>
            <a:off x="1476375" y="3284538"/>
            <a:ext cx="1265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a:t>
            </a:r>
            <a:r>
              <a:rPr lang="zh-CN" altLang="en-US"/>
              <a:t>）将</a:t>
            </a:r>
          </a:p>
        </p:txBody>
      </p:sp>
      <p:sp>
        <p:nvSpPr>
          <p:cNvPr id="31751" name="Rectangle 23"/>
          <p:cNvSpPr>
            <a:spLocks noChangeArrowheads="1"/>
          </p:cNvSpPr>
          <p:nvPr/>
        </p:nvSpPr>
        <p:spPr bwMode="auto">
          <a:xfrm>
            <a:off x="2987675" y="3284538"/>
            <a:ext cx="5292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绕</a:t>
            </a:r>
            <a:r>
              <a:rPr lang="en-US" altLang="zh-CN" dirty="0"/>
              <a:t>y</a:t>
            </a:r>
            <a:r>
              <a:rPr lang="zh-CN" altLang="en-US" dirty="0"/>
              <a:t>轴旋转</a:t>
            </a:r>
            <a:r>
              <a:rPr lang="en-US" altLang="zh-CN" dirty="0"/>
              <a:t>-</a:t>
            </a:r>
            <a:r>
              <a:rPr lang="en-US" altLang="zh-CN" dirty="0">
                <a:sym typeface="Symbol" panose="05050102010706020507" pitchFamily="18" charset="2"/>
              </a:rPr>
              <a:t></a:t>
            </a:r>
            <a:r>
              <a:rPr lang="en-US" altLang="zh-CN" baseline="-25000" dirty="0"/>
              <a:t>y</a:t>
            </a:r>
            <a:r>
              <a:rPr lang="zh-CN" altLang="en-US" dirty="0">
                <a:sym typeface="Symbol" panose="05050102010706020507" pitchFamily="18" charset="2"/>
              </a:rPr>
              <a:t>角，即逆时针旋转</a:t>
            </a:r>
            <a:r>
              <a:rPr lang="en-US" altLang="zh-CN" baseline="-25000" dirty="0"/>
              <a:t>y</a:t>
            </a:r>
            <a:r>
              <a:rPr lang="en-US" altLang="zh-CN" dirty="0">
                <a:sym typeface="Symbol" panose="05050102010706020507" pitchFamily="18" charset="2"/>
              </a:rPr>
              <a:t> </a:t>
            </a:r>
            <a:r>
              <a:rPr lang="zh-CN" altLang="en-US" dirty="0">
                <a:sym typeface="Symbol" panose="05050102010706020507" pitchFamily="18" charset="2"/>
              </a:rPr>
              <a:t>角</a:t>
            </a:r>
          </a:p>
        </p:txBody>
      </p:sp>
      <p:graphicFrame>
        <p:nvGraphicFramePr>
          <p:cNvPr id="31752" name="Object 10"/>
          <p:cNvGraphicFramePr>
            <a:graphicFrameLocks noChangeAspect="1"/>
          </p:cNvGraphicFramePr>
          <p:nvPr/>
        </p:nvGraphicFramePr>
        <p:xfrm>
          <a:off x="2916238" y="4221163"/>
          <a:ext cx="3455987" cy="1666875"/>
        </p:xfrm>
        <a:graphic>
          <a:graphicData uri="http://schemas.openxmlformats.org/presentationml/2006/ole">
            <mc:AlternateContent xmlns:mc="http://schemas.openxmlformats.org/markup-compatibility/2006">
              <mc:Choice xmlns:v="urn:schemas-microsoft-com:vml" Requires="v">
                <p:oleObj spid="_x0000_s31777" r:id="rId5" imgW="1893122" imgH="914797" progId="Equation.3">
                  <p:embed/>
                </p:oleObj>
              </mc:Choice>
              <mc:Fallback>
                <p:oleObj r:id="rId5" imgW="1893122" imgH="914797"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4221163"/>
                        <a:ext cx="3455987"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3" name="Rectangle 27"/>
          <p:cNvSpPr>
            <a:spLocks noChangeArrowheads="1"/>
          </p:cNvSpPr>
          <p:nvPr/>
        </p:nvSpPr>
        <p:spPr bwMode="auto">
          <a:xfrm>
            <a:off x="7739063" y="5013325"/>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6-23</a:t>
            </a:r>
            <a:r>
              <a:rPr lang="zh-CN" altLang="en-US"/>
              <a:t>）</a:t>
            </a:r>
          </a:p>
        </p:txBody>
      </p:sp>
      <p:graphicFrame>
        <p:nvGraphicFramePr>
          <p:cNvPr id="31754" name="Object 12"/>
          <p:cNvGraphicFramePr>
            <a:graphicFrameLocks noGrp="1" noChangeAspect="1"/>
          </p:cNvGraphicFramePr>
          <p:nvPr>
            <p:ph idx="4294967295"/>
          </p:nvPr>
        </p:nvGraphicFramePr>
        <p:xfrm>
          <a:off x="0" y="3211513"/>
          <a:ext cx="465138" cy="504825"/>
        </p:xfrm>
        <a:graphic>
          <a:graphicData uri="http://schemas.openxmlformats.org/presentationml/2006/ole">
            <mc:AlternateContent xmlns:mc="http://schemas.openxmlformats.org/markup-compatibility/2006">
              <mc:Choice xmlns:v="urn:schemas-microsoft-com:vml" Requires="v">
                <p:oleObj spid="_x0000_s31778" r:id="rId7" imgW="292100" imgH="317500" progId="Equation.3">
                  <p:embed/>
                </p:oleObj>
              </mc:Choice>
              <mc:Fallback>
                <p:oleObj r:id="rId7" imgW="292100" imgH="317500" progId="Equation.3">
                  <p:embed/>
                  <p:pic>
                    <p:nvPicPr>
                      <p:cNvPr id="0" name="Object 12"/>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211513"/>
                        <a:ext cx="46513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5" name="Object 13"/>
          <p:cNvGraphicFramePr>
            <a:graphicFrameLocks noChangeAspect="1"/>
          </p:cNvGraphicFramePr>
          <p:nvPr/>
        </p:nvGraphicFramePr>
        <p:xfrm>
          <a:off x="2574925" y="260350"/>
          <a:ext cx="465138" cy="504825"/>
        </p:xfrm>
        <a:graphic>
          <a:graphicData uri="http://schemas.openxmlformats.org/presentationml/2006/ole">
            <mc:AlternateContent xmlns:mc="http://schemas.openxmlformats.org/markup-compatibility/2006">
              <mc:Choice xmlns:v="urn:schemas-microsoft-com:vml" Requires="v">
                <p:oleObj spid="_x0000_s31779" r:id="rId9" imgW="292100" imgH="317500" progId="Equation.3">
                  <p:embed/>
                </p:oleObj>
              </mc:Choice>
              <mc:Fallback>
                <p:oleObj r:id="rId9" imgW="292100" imgH="3175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4925" y="260350"/>
                        <a:ext cx="465138"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0"/>
          <p:cNvSpPr>
            <a:spLocks noChangeArrowheads="1"/>
          </p:cNvSpPr>
          <p:nvPr/>
        </p:nvSpPr>
        <p:spPr bwMode="auto">
          <a:xfrm>
            <a:off x="1476375" y="260350"/>
            <a:ext cx="5294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7</a:t>
            </a:r>
            <a:r>
              <a:rPr lang="zh-CN" altLang="en-US"/>
              <a:t>）将</a:t>
            </a:r>
            <a:r>
              <a:rPr lang="en-US" altLang="zh-CN"/>
              <a:t>P</a:t>
            </a:r>
            <a:r>
              <a:rPr lang="en-US" altLang="zh-CN" baseline="-25000"/>
              <a:t>0</a:t>
            </a:r>
            <a:r>
              <a:rPr lang="en-US" altLang="zh-CN"/>
              <a:t>(x</a:t>
            </a:r>
            <a:r>
              <a:rPr lang="en-US" altLang="zh-CN" baseline="-25000"/>
              <a:t>0</a:t>
            </a:r>
            <a:r>
              <a:rPr lang="zh-CN" altLang="en-US"/>
              <a:t>，</a:t>
            </a:r>
            <a:r>
              <a:rPr lang="en-US" altLang="zh-CN"/>
              <a:t>y</a:t>
            </a:r>
            <a:r>
              <a:rPr lang="en-US" altLang="zh-CN" baseline="-25000"/>
              <a:t>0</a:t>
            </a:r>
            <a:r>
              <a:rPr lang="zh-CN" altLang="en-US"/>
              <a:t>，</a:t>
            </a:r>
            <a:r>
              <a:rPr lang="en-US" altLang="zh-CN"/>
              <a:t>z</a:t>
            </a:r>
            <a:r>
              <a:rPr lang="en-US" altLang="zh-CN" baseline="-25000"/>
              <a:t>0</a:t>
            </a:r>
            <a:r>
              <a:rPr lang="en-US" altLang="zh-CN"/>
              <a:t>)</a:t>
            </a:r>
            <a:r>
              <a:rPr lang="zh-CN" altLang="en-US"/>
              <a:t>点平移回原位置</a:t>
            </a:r>
          </a:p>
        </p:txBody>
      </p:sp>
      <p:graphicFrame>
        <p:nvGraphicFramePr>
          <p:cNvPr id="32771" name="Object 3"/>
          <p:cNvGraphicFramePr>
            <a:graphicFrameLocks noChangeAspect="1"/>
          </p:cNvGraphicFramePr>
          <p:nvPr/>
        </p:nvGraphicFramePr>
        <p:xfrm>
          <a:off x="2916238" y="981075"/>
          <a:ext cx="2449512" cy="1627188"/>
        </p:xfrm>
        <a:graphic>
          <a:graphicData uri="http://schemas.openxmlformats.org/presentationml/2006/ole">
            <mc:AlternateContent xmlns:mc="http://schemas.openxmlformats.org/markup-compatibility/2006">
              <mc:Choice xmlns:v="urn:schemas-microsoft-com:vml" Requires="v">
                <p:oleObj spid="_x0000_s32798" r:id="rId3" imgW="1423018" imgH="940208" progId="Equation.3">
                  <p:embed/>
                </p:oleObj>
              </mc:Choice>
              <mc:Fallback>
                <p:oleObj r:id="rId3" imgW="1423018" imgH="940208"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981075"/>
                        <a:ext cx="2449512"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2" name="Object 4"/>
          <p:cNvGraphicFramePr>
            <a:graphicFrameLocks noChangeAspect="1"/>
          </p:cNvGraphicFramePr>
          <p:nvPr/>
        </p:nvGraphicFramePr>
        <p:xfrm>
          <a:off x="2147888" y="3213100"/>
          <a:ext cx="596900" cy="649288"/>
        </p:xfrm>
        <a:graphic>
          <a:graphicData uri="http://schemas.openxmlformats.org/presentationml/2006/ole">
            <mc:AlternateContent xmlns:mc="http://schemas.openxmlformats.org/markup-compatibility/2006">
              <mc:Choice xmlns:v="urn:schemas-microsoft-com:vml" Requires="v">
                <p:oleObj spid="_x0000_s32799" r:id="rId5" imgW="292100" imgH="317500" progId="Equation.3">
                  <p:embed/>
                </p:oleObj>
              </mc:Choice>
              <mc:Fallback>
                <p:oleObj r:id="rId5" imgW="292100" imgH="3175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7888" y="3213100"/>
                        <a:ext cx="5969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3" name="Rectangle 26"/>
          <p:cNvSpPr>
            <a:spLocks noChangeArrowheads="1"/>
          </p:cNvSpPr>
          <p:nvPr/>
        </p:nvSpPr>
        <p:spPr bwMode="auto">
          <a:xfrm>
            <a:off x="1608138" y="334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将</a:t>
            </a:r>
          </a:p>
        </p:txBody>
      </p:sp>
      <p:sp>
        <p:nvSpPr>
          <p:cNvPr id="32774" name="Rectangle 27"/>
          <p:cNvSpPr>
            <a:spLocks noChangeArrowheads="1"/>
          </p:cNvSpPr>
          <p:nvPr/>
        </p:nvSpPr>
        <p:spPr bwMode="auto">
          <a:xfrm>
            <a:off x="2771775" y="3355975"/>
            <a:ext cx="506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投影到</a:t>
            </a:r>
            <a:r>
              <a:rPr lang="en-US" altLang="zh-CN" dirty="0"/>
              <a:t>y</a:t>
            </a:r>
            <a:r>
              <a:rPr lang="zh-CN" altLang="en-US" dirty="0"/>
              <a:t>＝</a:t>
            </a:r>
            <a:r>
              <a:rPr lang="en-US" altLang="zh-CN" dirty="0"/>
              <a:t>0</a:t>
            </a:r>
            <a:r>
              <a:rPr lang="zh-CN" altLang="en-US" dirty="0"/>
              <a:t>的平面上，投影矢量为</a:t>
            </a:r>
            <a:r>
              <a:rPr lang="en-US" altLang="zh-CN" b="1" dirty="0"/>
              <a:t>u</a:t>
            </a:r>
            <a:r>
              <a:rPr lang="en-US" altLang="zh-CN" dirty="0"/>
              <a:t> </a:t>
            </a:r>
            <a:endParaRPr lang="zh-CN" altLang="en-US" dirty="0"/>
          </a:p>
        </p:txBody>
      </p:sp>
      <p:sp>
        <p:nvSpPr>
          <p:cNvPr id="32775" name="Rectangle 28"/>
          <p:cNvSpPr>
            <a:spLocks noChangeArrowheads="1"/>
          </p:cNvSpPr>
          <p:nvPr/>
        </p:nvSpPr>
        <p:spPr bwMode="auto">
          <a:xfrm>
            <a:off x="1547813" y="2852738"/>
            <a:ext cx="6391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计算中间变量</a:t>
            </a:r>
            <a:r>
              <a:rPr lang="en-US" altLang="zh-CN" dirty="0" err="1"/>
              <a:t>sinθx</a:t>
            </a:r>
            <a:r>
              <a:rPr lang="zh-CN" altLang="en-US" dirty="0"/>
              <a:t>、</a:t>
            </a:r>
            <a:r>
              <a:rPr lang="en-US" altLang="zh-CN" dirty="0" err="1"/>
              <a:t>sinθy</a:t>
            </a:r>
            <a:r>
              <a:rPr lang="zh-CN" altLang="en-US" dirty="0"/>
              <a:t>、</a:t>
            </a:r>
            <a:r>
              <a:rPr lang="en-US" altLang="zh-CN" dirty="0" err="1"/>
              <a:t>cosθx</a:t>
            </a:r>
            <a:r>
              <a:rPr lang="zh-CN" altLang="en-US" dirty="0"/>
              <a:t>、</a:t>
            </a:r>
            <a:r>
              <a:rPr lang="en-US" altLang="zh-CN" dirty="0" err="1"/>
              <a:t>cosθy</a:t>
            </a:r>
            <a:endParaRPr lang="zh-CN" altLang="en-US" dirty="0"/>
          </a:p>
        </p:txBody>
      </p:sp>
      <p:sp>
        <p:nvSpPr>
          <p:cNvPr id="32776" name="Rectangle 29"/>
          <p:cNvSpPr>
            <a:spLocks noChangeArrowheads="1"/>
          </p:cNvSpPr>
          <p:nvPr/>
        </p:nvSpPr>
        <p:spPr bwMode="auto">
          <a:xfrm>
            <a:off x="1692275" y="4003675"/>
            <a:ext cx="345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dirty="0"/>
              <a:t>u</a:t>
            </a:r>
            <a:r>
              <a:rPr lang="zh-CN" altLang="en-US" dirty="0"/>
              <a:t>与</a:t>
            </a:r>
            <a:r>
              <a:rPr lang="en-US" altLang="zh-CN" dirty="0"/>
              <a:t>z</a:t>
            </a:r>
            <a:r>
              <a:rPr lang="zh-CN" altLang="en-US" dirty="0"/>
              <a:t>轴正向的夹角为</a:t>
            </a:r>
            <a:r>
              <a:rPr lang="en-US" altLang="zh-CN" dirty="0" err="1"/>
              <a:t>θ</a:t>
            </a:r>
            <a:r>
              <a:rPr lang="en-US" altLang="zh-CN" baseline="-25000" dirty="0" err="1"/>
              <a:t>y</a:t>
            </a:r>
            <a:r>
              <a:rPr lang="en-US" altLang="zh-CN" dirty="0"/>
              <a:t> </a:t>
            </a:r>
          </a:p>
        </p:txBody>
      </p:sp>
      <p:graphicFrame>
        <p:nvGraphicFramePr>
          <p:cNvPr id="32777" name="Object 9"/>
          <p:cNvGraphicFramePr>
            <a:graphicFrameLocks noChangeAspect="1"/>
          </p:cNvGraphicFramePr>
          <p:nvPr/>
        </p:nvGraphicFramePr>
        <p:xfrm>
          <a:off x="2159000" y="4589463"/>
          <a:ext cx="598488" cy="649287"/>
        </p:xfrm>
        <a:graphic>
          <a:graphicData uri="http://schemas.openxmlformats.org/presentationml/2006/ole">
            <mc:AlternateContent xmlns:mc="http://schemas.openxmlformats.org/markup-compatibility/2006">
              <mc:Choice xmlns:v="urn:schemas-microsoft-com:vml" Requires="v">
                <p:oleObj spid="_x0000_s32800" r:id="rId7" imgW="292100" imgH="317500" progId="Equation.3">
                  <p:embed/>
                </p:oleObj>
              </mc:Choice>
              <mc:Fallback>
                <p:oleObj r:id="rId7" imgW="292100" imgH="3175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9000" y="4589463"/>
                        <a:ext cx="5984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8" name="Rectangle 31"/>
          <p:cNvSpPr>
            <a:spLocks noChangeArrowheads="1"/>
          </p:cNvSpPr>
          <p:nvPr/>
        </p:nvSpPr>
        <p:spPr bwMode="auto">
          <a:xfrm>
            <a:off x="1619250" y="4724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将</a:t>
            </a:r>
          </a:p>
        </p:txBody>
      </p:sp>
      <p:sp>
        <p:nvSpPr>
          <p:cNvPr id="32779" name="Rectangle 32"/>
          <p:cNvSpPr>
            <a:spLocks noChangeArrowheads="1"/>
          </p:cNvSpPr>
          <p:nvPr/>
        </p:nvSpPr>
        <p:spPr bwMode="auto">
          <a:xfrm>
            <a:off x="2843213" y="4724400"/>
            <a:ext cx="504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投影到</a:t>
            </a:r>
            <a:r>
              <a:rPr lang="en-US" altLang="zh-CN" b="1" dirty="0">
                <a:solidFill>
                  <a:srgbClr val="FF0000"/>
                </a:solidFill>
                <a:latin typeface="黑体" panose="02010609060101010101" pitchFamily="49" charset="-122"/>
                <a:ea typeface="黑体" panose="02010609060101010101" pitchFamily="49" charset="-122"/>
              </a:rPr>
              <a:t>x</a:t>
            </a:r>
            <a:r>
              <a:rPr lang="zh-CN" altLang="en-US" b="1" dirty="0">
                <a:solidFill>
                  <a:srgbClr val="FF0000"/>
                </a:solidFill>
                <a:latin typeface="黑体" panose="02010609060101010101" pitchFamily="49" charset="-122"/>
                <a:ea typeface="黑体" panose="02010609060101010101" pitchFamily="49" charset="-122"/>
              </a:rPr>
              <a:t>＝</a:t>
            </a:r>
            <a:r>
              <a:rPr lang="en-US" altLang="zh-CN" b="1" dirty="0">
                <a:solidFill>
                  <a:srgbClr val="FF0000"/>
                </a:solidFill>
                <a:latin typeface="黑体" panose="02010609060101010101" pitchFamily="49" charset="-122"/>
                <a:ea typeface="黑体" panose="02010609060101010101" pitchFamily="49" charset="-122"/>
              </a:rPr>
              <a:t>0</a:t>
            </a:r>
            <a:r>
              <a:rPr lang="zh-CN" altLang="en-US" b="1" dirty="0">
                <a:solidFill>
                  <a:srgbClr val="FF0000"/>
                </a:solidFill>
                <a:latin typeface="黑体" panose="02010609060101010101" pitchFamily="49" charset="-122"/>
                <a:ea typeface="黑体" panose="02010609060101010101" pitchFamily="49" charset="-122"/>
              </a:rPr>
              <a:t>的平面</a:t>
            </a:r>
            <a:r>
              <a:rPr lang="zh-CN" altLang="en-US" dirty="0"/>
              <a:t>上，投影矢量为</a:t>
            </a:r>
            <a:r>
              <a:rPr lang="en-US" altLang="zh-CN" b="1" dirty="0"/>
              <a:t>v</a:t>
            </a:r>
            <a:r>
              <a:rPr lang="en-US" altLang="zh-CN" dirty="0"/>
              <a:t> </a:t>
            </a:r>
            <a:endParaRPr lang="zh-CN" altLang="en-US" dirty="0"/>
          </a:p>
        </p:txBody>
      </p:sp>
      <p:sp>
        <p:nvSpPr>
          <p:cNvPr id="32780" name="Rectangle 33"/>
          <p:cNvSpPr>
            <a:spLocks noChangeArrowheads="1"/>
          </p:cNvSpPr>
          <p:nvPr/>
        </p:nvSpPr>
        <p:spPr bwMode="auto">
          <a:xfrm>
            <a:off x="1763713" y="5227638"/>
            <a:ext cx="35226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dirty="0"/>
              <a:t>v</a:t>
            </a:r>
            <a:r>
              <a:rPr lang="zh-CN" altLang="en-US" dirty="0"/>
              <a:t>与</a:t>
            </a:r>
            <a:r>
              <a:rPr lang="en-US" altLang="zh-CN" dirty="0"/>
              <a:t>z</a:t>
            </a:r>
            <a:r>
              <a:rPr lang="zh-CN" altLang="en-US" dirty="0"/>
              <a:t>轴正向的夹角为</a:t>
            </a:r>
            <a:r>
              <a:rPr lang="en-US" altLang="zh-CN" b="1" dirty="0" err="1">
                <a:solidFill>
                  <a:srgbClr val="FF0000"/>
                </a:solidFill>
                <a:latin typeface="黑体" panose="02010609060101010101" pitchFamily="49" charset="-122"/>
                <a:ea typeface="黑体" panose="02010609060101010101" pitchFamily="49" charset="-122"/>
              </a:rPr>
              <a:t>θx</a:t>
            </a:r>
            <a:r>
              <a:rPr lang="en-US" altLang="zh-CN" dirty="0"/>
              <a:t> </a:t>
            </a:r>
          </a:p>
        </p:txBody>
      </p:sp>
      <p:sp>
        <p:nvSpPr>
          <p:cNvPr id="32781" name="Rectangle 34"/>
          <p:cNvSpPr>
            <a:spLocks noChangeArrowheads="1"/>
          </p:cNvSpPr>
          <p:nvPr/>
        </p:nvSpPr>
        <p:spPr bwMode="auto">
          <a:xfrm>
            <a:off x="1331913" y="5805488"/>
            <a:ext cx="73453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dirty="0"/>
              <a:t>不需要计算</a:t>
            </a:r>
            <a:r>
              <a:rPr lang="en-US" altLang="zh-CN" dirty="0" err="1"/>
              <a:t>θ</a:t>
            </a:r>
            <a:r>
              <a:rPr lang="en-US" altLang="zh-CN" baseline="-25000" dirty="0" err="1"/>
              <a:t>x</a:t>
            </a:r>
            <a:r>
              <a:rPr lang="zh-CN" altLang="en-US" dirty="0"/>
              <a:t>和</a:t>
            </a:r>
            <a:r>
              <a:rPr lang="en-US" altLang="zh-CN" dirty="0" err="1"/>
              <a:t>θ</a:t>
            </a:r>
            <a:r>
              <a:rPr lang="en-US" altLang="zh-CN" baseline="-25000" dirty="0" err="1"/>
              <a:t>y</a:t>
            </a:r>
            <a:r>
              <a:rPr lang="zh-CN" altLang="en-US" dirty="0"/>
              <a:t>的值，只需计算其正弦值与余弦值，就可以计算出变换矩阵</a:t>
            </a:r>
            <a:r>
              <a:rPr lang="en-US" altLang="zh-CN" dirty="0"/>
              <a:t>T</a:t>
            </a:r>
            <a:r>
              <a:rPr lang="en-US" altLang="zh-CN" baseline="-25000" dirty="0"/>
              <a:t>2</a:t>
            </a:r>
            <a:r>
              <a:rPr lang="zh-CN" altLang="en-US" dirty="0"/>
              <a:t>、</a:t>
            </a:r>
            <a:r>
              <a:rPr lang="en-US" altLang="zh-CN" dirty="0"/>
              <a:t>T</a:t>
            </a:r>
            <a:r>
              <a:rPr lang="en-US" altLang="zh-CN" baseline="-25000" dirty="0"/>
              <a:t>3</a:t>
            </a:r>
            <a:r>
              <a:rPr lang="zh-CN" altLang="en-US" dirty="0"/>
              <a:t>、</a:t>
            </a:r>
            <a:r>
              <a:rPr lang="en-US" altLang="zh-CN" dirty="0"/>
              <a:t>T</a:t>
            </a:r>
            <a:r>
              <a:rPr lang="en-US" altLang="zh-CN" baseline="-25000" dirty="0"/>
              <a:t>5</a:t>
            </a:r>
            <a:r>
              <a:rPr lang="zh-CN" altLang="en-US" dirty="0"/>
              <a:t>和</a:t>
            </a:r>
            <a:r>
              <a:rPr lang="en-US" altLang="zh-CN" dirty="0"/>
              <a:t>T</a:t>
            </a:r>
            <a:r>
              <a:rPr lang="en-US" altLang="zh-CN" baseline="-25000" dirty="0"/>
              <a:t>6</a:t>
            </a:r>
            <a:r>
              <a:rPr lang="zh-CN" altLang="en-US" dirty="0"/>
              <a:t>。</a:t>
            </a:r>
          </a:p>
        </p:txBody>
      </p:sp>
      <p:sp>
        <p:nvSpPr>
          <p:cNvPr id="32782" name="Rectangle 35"/>
          <p:cNvSpPr>
            <a:spLocks noChangeArrowheads="1"/>
          </p:cNvSpPr>
          <p:nvPr/>
        </p:nvSpPr>
        <p:spPr bwMode="auto">
          <a:xfrm>
            <a:off x="7308850" y="1341438"/>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6-24</a:t>
            </a:r>
            <a:r>
              <a:rPr lang="zh-CN" altLang="en-US"/>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9"/>
          <p:cNvGraphicFramePr>
            <a:graphicFrameLocks noChangeAspect="1"/>
          </p:cNvGraphicFramePr>
          <p:nvPr/>
        </p:nvGraphicFramePr>
        <p:xfrm>
          <a:off x="2771775" y="0"/>
          <a:ext cx="4968875" cy="3825875"/>
        </p:xfrm>
        <a:graphic>
          <a:graphicData uri="http://schemas.openxmlformats.org/presentationml/2006/ole">
            <mc:AlternateContent xmlns:mc="http://schemas.openxmlformats.org/markup-compatibility/2006">
              <mc:Choice xmlns:v="urn:schemas-microsoft-com:vml" Requires="v">
                <p:oleObj spid="_x0000_s33847" r:id="rId3" imgW="6670243" imgH="5148682" progId="Visio.Drawing.11">
                  <p:embed/>
                </p:oleObj>
              </mc:Choice>
              <mc:Fallback>
                <p:oleObj r:id="rId3" imgW="6670243" imgH="5148682"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0"/>
                        <a:ext cx="4968875"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5" name="Object 3"/>
          <p:cNvGraphicFramePr>
            <a:graphicFrameLocks noChangeAspect="1"/>
          </p:cNvGraphicFramePr>
          <p:nvPr/>
        </p:nvGraphicFramePr>
        <p:xfrm>
          <a:off x="6045200" y="792163"/>
          <a:ext cx="509588" cy="555625"/>
        </p:xfrm>
        <a:graphic>
          <a:graphicData uri="http://schemas.openxmlformats.org/presentationml/2006/ole">
            <mc:AlternateContent xmlns:mc="http://schemas.openxmlformats.org/markup-compatibility/2006">
              <mc:Choice xmlns:v="urn:schemas-microsoft-com:vml" Requires="v">
                <p:oleObj spid="_x0000_s33848" r:id="rId5" imgW="292100" imgH="317500" progId="Equation.3">
                  <p:embed/>
                </p:oleObj>
              </mc:Choice>
              <mc:Fallback>
                <p:oleObj r:id="rId5" imgW="292100" imgH="317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5200" y="792163"/>
                        <a:ext cx="50958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6" name="Text Box 15"/>
          <p:cNvSpPr txBox="1">
            <a:spLocks noChangeArrowheads="1"/>
          </p:cNvSpPr>
          <p:nvPr/>
        </p:nvSpPr>
        <p:spPr bwMode="auto">
          <a:xfrm>
            <a:off x="4643438" y="2852738"/>
            <a:ext cx="5540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latin typeface="Times New Roman" panose="02020603050405020304" pitchFamily="18" charset="0"/>
                <a:ea typeface="宋体" panose="02010600030101010101" pitchFamily="2" charset="-122"/>
              </a:rPr>
              <a:t>θ</a:t>
            </a:r>
            <a:r>
              <a:rPr lang="en-US" altLang="zh-CN" baseline="-30000">
                <a:latin typeface="Times New Roman" panose="02020603050405020304" pitchFamily="18" charset="0"/>
                <a:ea typeface="宋体" panose="02010600030101010101" pitchFamily="2" charset="-122"/>
              </a:rPr>
              <a:t>y</a:t>
            </a:r>
            <a:endParaRPr lang="en-US" altLang="zh-CN">
              <a:latin typeface="Arial" panose="020B0604020202020204" pitchFamily="34" charset="0"/>
              <a:ea typeface="宋体" panose="02010600030101010101" pitchFamily="2" charset="-122"/>
            </a:endParaRPr>
          </a:p>
        </p:txBody>
      </p:sp>
      <p:sp>
        <p:nvSpPr>
          <p:cNvPr id="33797" name="Text Box 16"/>
          <p:cNvSpPr txBox="1">
            <a:spLocks noChangeArrowheads="1"/>
          </p:cNvSpPr>
          <p:nvPr/>
        </p:nvSpPr>
        <p:spPr bwMode="auto">
          <a:xfrm>
            <a:off x="3779838" y="2232025"/>
            <a:ext cx="4921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latin typeface="Times New Roman" panose="02020603050405020304" pitchFamily="18" charset="0"/>
                <a:ea typeface="宋体" panose="02010600030101010101" pitchFamily="2" charset="-122"/>
              </a:rPr>
              <a:t>θ</a:t>
            </a:r>
            <a:r>
              <a:rPr lang="en-US" altLang="zh-CN" baseline="-30000">
                <a:latin typeface="Times New Roman" panose="02020603050405020304" pitchFamily="18" charset="0"/>
                <a:ea typeface="宋体" panose="02010600030101010101" pitchFamily="2" charset="-122"/>
              </a:rPr>
              <a:t>x</a:t>
            </a:r>
            <a:endParaRPr lang="en-US" altLang="zh-CN">
              <a:latin typeface="Arial" panose="020B0604020202020204" pitchFamily="34" charset="0"/>
              <a:ea typeface="宋体" panose="02010600030101010101" pitchFamily="2" charset="-122"/>
            </a:endParaRPr>
          </a:p>
        </p:txBody>
      </p:sp>
      <p:sp>
        <p:nvSpPr>
          <p:cNvPr id="33798" name="Text Box 12"/>
          <p:cNvSpPr txBox="1">
            <a:spLocks noChangeArrowheads="1"/>
          </p:cNvSpPr>
          <p:nvPr/>
        </p:nvSpPr>
        <p:spPr bwMode="auto">
          <a:xfrm>
            <a:off x="3311525" y="4511675"/>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3799" name="Text Box 14"/>
          <p:cNvSpPr txBox="1">
            <a:spLocks noChangeArrowheads="1"/>
          </p:cNvSpPr>
          <p:nvPr/>
        </p:nvSpPr>
        <p:spPr bwMode="auto">
          <a:xfrm>
            <a:off x="4211638" y="1584325"/>
            <a:ext cx="2032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Times New Roman" panose="02020603050405020304" pitchFamily="18" charset="0"/>
                <a:ea typeface="宋体" panose="02010600030101010101" pitchFamily="2" charset="-122"/>
              </a:rPr>
              <a:t>v</a:t>
            </a:r>
            <a:endParaRPr lang="en-US" altLang="zh-CN">
              <a:latin typeface="Arial" panose="020B0604020202020204" pitchFamily="34" charset="0"/>
              <a:ea typeface="宋体" panose="02010600030101010101" pitchFamily="2" charset="-122"/>
            </a:endParaRPr>
          </a:p>
        </p:txBody>
      </p:sp>
      <p:sp>
        <p:nvSpPr>
          <p:cNvPr id="33800" name="Text Box 13"/>
          <p:cNvSpPr txBox="1">
            <a:spLocks noChangeArrowheads="1"/>
          </p:cNvSpPr>
          <p:nvPr/>
        </p:nvSpPr>
        <p:spPr bwMode="auto">
          <a:xfrm>
            <a:off x="5508625" y="2565400"/>
            <a:ext cx="2524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b="1">
                <a:latin typeface="Times New Roman" panose="02020603050405020304" pitchFamily="18" charset="0"/>
                <a:ea typeface="宋体" panose="02010600030101010101" pitchFamily="2" charset="-122"/>
              </a:rPr>
              <a:t>u</a:t>
            </a:r>
            <a:endParaRPr lang="en-US" altLang="zh-CN">
              <a:latin typeface="Arial" panose="020B0604020202020204" pitchFamily="34" charset="0"/>
              <a:ea typeface="宋体" panose="02010600030101010101" pitchFamily="2" charset="-122"/>
            </a:endParaRPr>
          </a:p>
        </p:txBody>
      </p:sp>
      <p:graphicFrame>
        <p:nvGraphicFramePr>
          <p:cNvPr id="33801" name="Object 11"/>
          <p:cNvGraphicFramePr>
            <a:graphicFrameLocks noChangeAspect="1"/>
          </p:cNvGraphicFramePr>
          <p:nvPr/>
        </p:nvGraphicFramePr>
        <p:xfrm>
          <a:off x="1860550" y="3933825"/>
          <a:ext cx="595313" cy="647700"/>
        </p:xfrm>
        <a:graphic>
          <a:graphicData uri="http://schemas.openxmlformats.org/presentationml/2006/ole">
            <mc:AlternateContent xmlns:mc="http://schemas.openxmlformats.org/markup-compatibility/2006">
              <mc:Choice xmlns:v="urn:schemas-microsoft-com:vml" Requires="v">
                <p:oleObj spid="_x0000_s33849" r:id="rId7" imgW="292100" imgH="317500" progId="Equation.3">
                  <p:embed/>
                </p:oleObj>
              </mc:Choice>
              <mc:Fallback>
                <p:oleObj r:id="rId7" imgW="292100" imgH="3175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0550" y="3933825"/>
                        <a:ext cx="5953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2" name="Object 12"/>
          <p:cNvGraphicFramePr>
            <a:graphicFrameLocks noChangeAspect="1"/>
          </p:cNvGraphicFramePr>
          <p:nvPr/>
        </p:nvGraphicFramePr>
        <p:xfrm>
          <a:off x="2484438" y="4652963"/>
          <a:ext cx="1152525" cy="384175"/>
        </p:xfrm>
        <a:graphic>
          <a:graphicData uri="http://schemas.openxmlformats.org/presentationml/2006/ole">
            <mc:AlternateContent xmlns:mc="http://schemas.openxmlformats.org/markup-compatibility/2006">
              <mc:Choice xmlns:v="urn:schemas-microsoft-com:vml" Requires="v">
                <p:oleObj spid="_x0000_s33850" r:id="rId9" imgW="660687" imgH="215994" progId="Equation.3">
                  <p:embed/>
                </p:oleObj>
              </mc:Choice>
              <mc:Fallback>
                <p:oleObj r:id="rId9" imgW="660687" imgH="215994"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4438" y="4652963"/>
                        <a:ext cx="11525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3" name="Object 13"/>
          <p:cNvGraphicFramePr>
            <a:graphicFrameLocks noChangeAspect="1"/>
          </p:cNvGraphicFramePr>
          <p:nvPr/>
        </p:nvGraphicFramePr>
        <p:xfrm>
          <a:off x="3708400" y="4652963"/>
          <a:ext cx="1152525" cy="368300"/>
        </p:xfrm>
        <a:graphic>
          <a:graphicData uri="http://schemas.openxmlformats.org/presentationml/2006/ole">
            <mc:AlternateContent xmlns:mc="http://schemas.openxmlformats.org/markup-compatibility/2006">
              <mc:Choice xmlns:v="urn:schemas-microsoft-com:vml" Requires="v">
                <p:oleObj spid="_x0000_s33851" r:id="rId11" imgW="686098" imgH="215994" progId="Equation.3">
                  <p:embed/>
                </p:oleObj>
              </mc:Choice>
              <mc:Fallback>
                <p:oleObj r:id="rId11" imgW="686098" imgH="215994"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8400" y="4652963"/>
                        <a:ext cx="1152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04" name="Object 14"/>
          <p:cNvGraphicFramePr>
            <a:graphicFrameLocks noChangeAspect="1"/>
          </p:cNvGraphicFramePr>
          <p:nvPr/>
        </p:nvGraphicFramePr>
        <p:xfrm>
          <a:off x="4932363" y="4652963"/>
          <a:ext cx="1081087" cy="376237"/>
        </p:xfrm>
        <a:graphic>
          <a:graphicData uri="http://schemas.openxmlformats.org/presentationml/2006/ole">
            <mc:AlternateContent xmlns:mc="http://schemas.openxmlformats.org/markup-compatibility/2006">
              <mc:Choice xmlns:v="urn:schemas-microsoft-com:vml" Requires="v">
                <p:oleObj spid="_x0000_s33852" r:id="rId13" imgW="660974" imgH="228799" progId="Equation.3">
                  <p:embed/>
                </p:oleObj>
              </mc:Choice>
              <mc:Fallback>
                <p:oleObj r:id="rId13" imgW="660974" imgH="228799"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32363" y="4652963"/>
                        <a:ext cx="1081087"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5" name="Rectangle 29"/>
          <p:cNvSpPr>
            <a:spLocks noChangeArrowheads="1"/>
          </p:cNvSpPr>
          <p:nvPr/>
        </p:nvSpPr>
        <p:spPr bwMode="auto">
          <a:xfrm>
            <a:off x="1369219" y="41243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将</a:t>
            </a:r>
          </a:p>
        </p:txBody>
      </p:sp>
      <p:sp>
        <p:nvSpPr>
          <p:cNvPr id="33806" name="Rectangle 31"/>
          <p:cNvSpPr>
            <a:spLocks noChangeArrowheads="1"/>
          </p:cNvSpPr>
          <p:nvPr/>
        </p:nvSpPr>
        <p:spPr bwMode="auto">
          <a:xfrm>
            <a:off x="1403350" y="465296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分别为</a:t>
            </a:r>
          </a:p>
        </p:txBody>
      </p:sp>
      <p:sp>
        <p:nvSpPr>
          <p:cNvPr id="33807" name="Rectangle 32"/>
          <p:cNvSpPr>
            <a:spLocks noChangeArrowheads="1"/>
          </p:cNvSpPr>
          <p:nvPr/>
        </p:nvSpPr>
        <p:spPr bwMode="auto">
          <a:xfrm>
            <a:off x="5897563" y="4581525"/>
            <a:ext cx="3246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。取</a:t>
            </a:r>
            <a:r>
              <a:rPr lang="en-US" altLang="zh-CN" dirty="0"/>
              <a:t>z</a:t>
            </a:r>
            <a:r>
              <a:rPr lang="zh-CN" altLang="en-US" dirty="0"/>
              <a:t>轴上一单位矢量</a:t>
            </a:r>
            <a:r>
              <a:rPr lang="en-US" altLang="zh-CN" b="1" dirty="0"/>
              <a:t>k</a:t>
            </a:r>
            <a:endParaRPr lang="zh-CN" altLang="en-US" b="1" dirty="0"/>
          </a:p>
        </p:txBody>
      </p:sp>
      <p:sp>
        <p:nvSpPr>
          <p:cNvPr id="33808" name="Rectangle 33"/>
          <p:cNvSpPr>
            <a:spLocks noChangeArrowheads="1"/>
          </p:cNvSpPr>
          <p:nvPr/>
        </p:nvSpPr>
        <p:spPr bwMode="auto">
          <a:xfrm>
            <a:off x="1403350" y="5373688"/>
            <a:ext cx="769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将其绕</a:t>
            </a:r>
            <a:r>
              <a:rPr lang="en-US" altLang="zh-CN" dirty="0"/>
              <a:t>x</a:t>
            </a:r>
            <a:r>
              <a:rPr lang="zh-CN" altLang="en-US" dirty="0"/>
              <a:t>轴顺时针旋转</a:t>
            </a:r>
            <a:r>
              <a:rPr lang="en-US" altLang="zh-CN" dirty="0" err="1"/>
              <a:t>θ</a:t>
            </a:r>
            <a:r>
              <a:rPr lang="en-US" altLang="zh-CN" baseline="-25000" dirty="0" err="1"/>
              <a:t>x</a:t>
            </a:r>
            <a:r>
              <a:rPr lang="zh-CN" altLang="en-US" dirty="0"/>
              <a:t>角，再绕</a:t>
            </a:r>
            <a:r>
              <a:rPr lang="en-US" altLang="zh-CN" dirty="0"/>
              <a:t>y</a:t>
            </a:r>
            <a:r>
              <a:rPr lang="zh-CN" altLang="en-US" dirty="0"/>
              <a:t>轴逆时针旋转</a:t>
            </a:r>
            <a:r>
              <a:rPr lang="en-US" altLang="zh-CN" dirty="0" err="1"/>
              <a:t>θ</a:t>
            </a:r>
            <a:r>
              <a:rPr lang="en-US" altLang="zh-CN" baseline="-25000" dirty="0" err="1"/>
              <a:t>y</a:t>
            </a:r>
            <a:r>
              <a:rPr lang="zh-CN" altLang="en-US" dirty="0"/>
              <a:t>角，</a:t>
            </a:r>
          </a:p>
        </p:txBody>
      </p:sp>
      <p:sp>
        <p:nvSpPr>
          <p:cNvPr id="33809" name="Rectangle 35"/>
          <p:cNvSpPr>
            <a:spLocks noChangeArrowheads="1"/>
          </p:cNvSpPr>
          <p:nvPr/>
        </p:nvSpPr>
        <p:spPr bwMode="auto">
          <a:xfrm>
            <a:off x="1403350" y="6021388"/>
            <a:ext cx="6354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则单位矢量</a:t>
            </a:r>
            <a:r>
              <a:rPr lang="en-US" altLang="zh-CN" b="1" dirty="0"/>
              <a:t>k</a:t>
            </a:r>
            <a:r>
              <a:rPr lang="zh-CN" altLang="en-US" dirty="0"/>
              <a:t>将同单位矢量</a:t>
            </a:r>
            <a:r>
              <a:rPr lang="en-US" altLang="zh-CN" b="1" dirty="0"/>
              <a:t>n</a:t>
            </a:r>
            <a:r>
              <a:rPr lang="zh-CN" altLang="en-US" dirty="0"/>
              <a:t>重合，变换过程为</a:t>
            </a:r>
          </a:p>
        </p:txBody>
      </p:sp>
      <p:sp>
        <p:nvSpPr>
          <p:cNvPr id="33810" name="Rectangle 36"/>
          <p:cNvSpPr>
            <a:spLocks noChangeArrowheads="1"/>
          </p:cNvSpPr>
          <p:nvPr/>
        </p:nvSpPr>
        <p:spPr bwMode="auto">
          <a:xfrm>
            <a:off x="2555875" y="4076700"/>
            <a:ext cx="6170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规范为单位矢量</a:t>
            </a:r>
            <a:r>
              <a:rPr lang="en-US" altLang="zh-CN" b="1" dirty="0"/>
              <a:t>n</a:t>
            </a:r>
            <a:r>
              <a:rPr lang="zh-CN" altLang="en-US" dirty="0"/>
              <a:t>，它在三个坐标轴上的投影</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4818" name="Object 3"/>
          <p:cNvGraphicFramePr>
            <a:graphicFrameLocks noChangeAspect="1"/>
          </p:cNvGraphicFramePr>
          <p:nvPr/>
        </p:nvGraphicFramePr>
        <p:xfrm>
          <a:off x="1547813" y="404813"/>
          <a:ext cx="7416800" cy="1311275"/>
        </p:xfrm>
        <a:graphic>
          <a:graphicData uri="http://schemas.openxmlformats.org/presentationml/2006/ole">
            <mc:AlternateContent xmlns:mc="http://schemas.openxmlformats.org/markup-compatibility/2006">
              <mc:Choice xmlns:v="urn:schemas-microsoft-com:vml" Requires="v">
                <p:oleObj spid="_x0000_s34863" r:id="rId3" imgW="5168900" imgH="914400" progId="Equation.3">
                  <p:embed/>
                </p:oleObj>
              </mc:Choice>
              <mc:Fallback>
                <p:oleObj r:id="rId3" imgW="5168900" imgH="914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404813"/>
                        <a:ext cx="7416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19" name="Object 5"/>
          <p:cNvGraphicFramePr>
            <a:graphicFrameLocks noChangeAspect="1"/>
          </p:cNvGraphicFramePr>
          <p:nvPr/>
        </p:nvGraphicFramePr>
        <p:xfrm>
          <a:off x="1692275" y="2060575"/>
          <a:ext cx="4103688" cy="384175"/>
        </p:xfrm>
        <a:graphic>
          <a:graphicData uri="http://schemas.openxmlformats.org/presentationml/2006/ole">
            <mc:AlternateContent xmlns:mc="http://schemas.openxmlformats.org/markup-compatibility/2006">
              <mc:Choice xmlns:v="urn:schemas-microsoft-com:vml" Requires="v">
                <p:oleObj spid="_x0000_s34864" r:id="rId5" imgW="2553808" imgH="241405" progId="Equation.3">
                  <p:embed/>
                </p:oleObj>
              </mc:Choice>
              <mc:Fallback>
                <p:oleObj r:id="rId5" imgW="2553808" imgH="24140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2060575"/>
                        <a:ext cx="410368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0" name="Object 6"/>
          <p:cNvGraphicFramePr>
            <a:graphicFrameLocks noChangeAspect="1"/>
          </p:cNvGraphicFramePr>
          <p:nvPr/>
        </p:nvGraphicFramePr>
        <p:xfrm>
          <a:off x="2484438" y="2997200"/>
          <a:ext cx="2232025" cy="503238"/>
        </p:xfrm>
        <a:graphic>
          <a:graphicData uri="http://schemas.openxmlformats.org/presentationml/2006/ole">
            <mc:AlternateContent xmlns:mc="http://schemas.openxmlformats.org/markup-compatibility/2006">
              <mc:Choice xmlns:v="urn:schemas-microsoft-com:vml" Requires="v">
                <p:oleObj spid="_x0000_s34865" r:id="rId7" imgW="1054558" imgH="241405" progId="Equation.3">
                  <p:embed/>
                </p:oleObj>
              </mc:Choice>
              <mc:Fallback>
                <p:oleObj r:id="rId7" imgW="1054558" imgH="24140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2997200"/>
                        <a:ext cx="223202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1" name="Object 7"/>
          <p:cNvGraphicFramePr>
            <a:graphicFrameLocks noChangeAspect="1"/>
          </p:cNvGraphicFramePr>
          <p:nvPr/>
        </p:nvGraphicFramePr>
        <p:xfrm>
          <a:off x="2484438" y="3573463"/>
          <a:ext cx="1582737" cy="527050"/>
        </p:xfrm>
        <a:graphic>
          <a:graphicData uri="http://schemas.openxmlformats.org/presentationml/2006/ole">
            <mc:AlternateContent xmlns:mc="http://schemas.openxmlformats.org/markup-compatibility/2006">
              <mc:Choice xmlns:v="urn:schemas-microsoft-com:vml" Requires="v">
                <p:oleObj spid="_x0000_s34866" r:id="rId9" imgW="686396" imgH="228799" progId="Equation.3">
                  <p:embed/>
                </p:oleObj>
              </mc:Choice>
              <mc:Fallback>
                <p:oleObj r:id="rId9" imgW="686396" imgH="228799"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4438" y="3573463"/>
                        <a:ext cx="1582737"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2" name="Object 8"/>
          <p:cNvGraphicFramePr>
            <a:graphicFrameLocks noChangeAspect="1"/>
          </p:cNvGraphicFramePr>
          <p:nvPr/>
        </p:nvGraphicFramePr>
        <p:xfrm>
          <a:off x="2482850" y="4149725"/>
          <a:ext cx="2593975" cy="563563"/>
        </p:xfrm>
        <a:graphic>
          <a:graphicData uri="http://schemas.openxmlformats.org/presentationml/2006/ole">
            <mc:AlternateContent xmlns:mc="http://schemas.openxmlformats.org/markup-compatibility/2006">
              <mc:Choice xmlns:v="urn:schemas-microsoft-com:vml" Requires="v">
                <p:oleObj spid="_x0000_s34867" r:id="rId11" imgW="1092200" imgH="241300" progId="Equation.3">
                  <p:embed/>
                </p:oleObj>
              </mc:Choice>
              <mc:Fallback>
                <p:oleObj r:id="rId11" imgW="1092200" imgH="2413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2850" y="4149725"/>
                        <a:ext cx="259397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3" name="Rectangle 55"/>
          <p:cNvSpPr>
            <a:spLocks noChangeArrowheads="1"/>
          </p:cNvSpPr>
          <p:nvPr/>
        </p:nvSpPr>
        <p:spPr bwMode="auto">
          <a:xfrm>
            <a:off x="1547813" y="29972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即，</a:t>
            </a:r>
          </a:p>
        </p:txBody>
      </p:sp>
      <p:sp>
        <p:nvSpPr>
          <p:cNvPr id="34824" name="Rectangle 57"/>
          <p:cNvSpPr>
            <a:spLocks noChangeArrowheads="1"/>
          </p:cNvSpPr>
          <p:nvPr/>
        </p:nvSpPr>
        <p:spPr bwMode="auto">
          <a:xfrm>
            <a:off x="1476375" y="522922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可解得：</a:t>
            </a:r>
          </a:p>
        </p:txBody>
      </p:sp>
      <p:graphicFrame>
        <p:nvGraphicFramePr>
          <p:cNvPr id="34825" name="Object 12"/>
          <p:cNvGraphicFramePr>
            <a:graphicFrameLocks noChangeAspect="1"/>
          </p:cNvGraphicFramePr>
          <p:nvPr/>
        </p:nvGraphicFramePr>
        <p:xfrm>
          <a:off x="2987675" y="5229225"/>
          <a:ext cx="2303463" cy="442913"/>
        </p:xfrm>
        <a:graphic>
          <a:graphicData uri="http://schemas.openxmlformats.org/presentationml/2006/ole">
            <mc:AlternateContent xmlns:mc="http://schemas.openxmlformats.org/markup-compatibility/2006">
              <mc:Choice xmlns:v="urn:schemas-microsoft-com:vml" Requires="v">
                <p:oleObj spid="_x0000_s34868" r:id="rId13" imgW="1194318" imgH="228699" progId="Equation.3">
                  <p:embed/>
                </p:oleObj>
              </mc:Choice>
              <mc:Fallback>
                <p:oleObj r:id="rId13" imgW="1194318" imgH="228699"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7675" y="5229225"/>
                        <a:ext cx="230346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6" name="Rectangle 60"/>
          <p:cNvSpPr>
            <a:spLocks noChangeArrowheads="1"/>
          </p:cNvSpPr>
          <p:nvPr/>
        </p:nvSpPr>
        <p:spPr bwMode="auto">
          <a:xfrm>
            <a:off x="7308850" y="5229225"/>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6-25</a:t>
            </a:r>
            <a:r>
              <a:rPr lang="zh-CN" altLang="en-US"/>
              <a:t>） </a:t>
            </a:r>
          </a:p>
        </p:txBody>
      </p:sp>
      <p:graphicFrame>
        <p:nvGraphicFramePr>
          <p:cNvPr id="34827" name="Object 15"/>
          <p:cNvGraphicFramePr>
            <a:graphicFrameLocks noChangeAspect="1"/>
          </p:cNvGraphicFramePr>
          <p:nvPr/>
        </p:nvGraphicFramePr>
        <p:xfrm>
          <a:off x="2987675" y="5949950"/>
          <a:ext cx="4033838" cy="546100"/>
        </p:xfrm>
        <a:graphic>
          <a:graphicData uri="http://schemas.openxmlformats.org/presentationml/2006/ole">
            <mc:AlternateContent xmlns:mc="http://schemas.openxmlformats.org/markup-compatibility/2006">
              <mc:Choice xmlns:v="urn:schemas-microsoft-com:vml" Requires="v">
                <p:oleObj spid="_x0000_s34869" r:id="rId15" imgW="2185349" imgH="292227" progId="Equation.3">
                  <p:embed/>
                </p:oleObj>
              </mc:Choice>
              <mc:Fallback>
                <p:oleObj r:id="rId15" imgW="2185349" imgH="292227"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7675" y="5949950"/>
                        <a:ext cx="4033838"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5842" name="Object 4"/>
          <p:cNvGraphicFramePr>
            <a:graphicFrameLocks noChangeAspect="1"/>
          </p:cNvGraphicFramePr>
          <p:nvPr/>
        </p:nvGraphicFramePr>
        <p:xfrm>
          <a:off x="2195513" y="260350"/>
          <a:ext cx="1871662" cy="436563"/>
        </p:xfrm>
        <a:graphic>
          <a:graphicData uri="http://schemas.openxmlformats.org/presentationml/2006/ole">
            <mc:AlternateContent xmlns:mc="http://schemas.openxmlformats.org/markup-compatibility/2006">
              <mc:Choice xmlns:v="urn:schemas-microsoft-com:vml" Requires="v">
                <p:oleObj spid="_x0000_s35895" r:id="rId3" imgW="1016441" imgH="241405" progId="Equation.3">
                  <p:embed/>
                </p:oleObj>
              </mc:Choice>
              <mc:Fallback>
                <p:oleObj r:id="rId3" imgW="1016441" imgH="24140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60350"/>
                        <a:ext cx="1871662"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3" name="Object 5"/>
          <p:cNvGraphicFramePr>
            <a:graphicFrameLocks noChangeAspect="1"/>
          </p:cNvGraphicFramePr>
          <p:nvPr/>
        </p:nvGraphicFramePr>
        <p:xfrm>
          <a:off x="5435600" y="260350"/>
          <a:ext cx="2951163" cy="387350"/>
        </p:xfrm>
        <a:graphic>
          <a:graphicData uri="http://schemas.openxmlformats.org/presentationml/2006/ole">
            <mc:AlternateContent xmlns:mc="http://schemas.openxmlformats.org/markup-compatibility/2006">
              <mc:Choice xmlns:v="urn:schemas-microsoft-com:vml" Requires="v">
                <p:oleObj spid="_x0000_s35896" r:id="rId5" imgW="1740655" imgH="228699" progId="Equation.3">
                  <p:embed/>
                </p:oleObj>
              </mc:Choice>
              <mc:Fallback>
                <p:oleObj r:id="rId5" imgW="1740655" imgH="228699"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260350"/>
                        <a:ext cx="295116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Rectangle 28"/>
          <p:cNvSpPr>
            <a:spLocks noChangeArrowheads="1"/>
          </p:cNvSpPr>
          <p:nvPr/>
        </p:nvSpPr>
        <p:spPr bwMode="auto">
          <a:xfrm>
            <a:off x="1638300" y="2540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由</a:t>
            </a:r>
          </a:p>
        </p:txBody>
      </p:sp>
      <p:sp>
        <p:nvSpPr>
          <p:cNvPr id="35845" name="Rectangle 29"/>
          <p:cNvSpPr>
            <a:spLocks noChangeArrowheads="1"/>
          </p:cNvSpPr>
          <p:nvPr/>
        </p:nvSpPr>
        <p:spPr bwMode="auto">
          <a:xfrm>
            <a:off x="4211638" y="26035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，得到</a:t>
            </a:r>
          </a:p>
        </p:txBody>
      </p:sp>
      <p:graphicFrame>
        <p:nvGraphicFramePr>
          <p:cNvPr id="35846" name="Object 8"/>
          <p:cNvGraphicFramePr>
            <a:graphicFrameLocks noChangeAspect="1"/>
          </p:cNvGraphicFramePr>
          <p:nvPr/>
        </p:nvGraphicFramePr>
        <p:xfrm>
          <a:off x="2339975" y="908050"/>
          <a:ext cx="3744913" cy="496888"/>
        </p:xfrm>
        <a:graphic>
          <a:graphicData uri="http://schemas.openxmlformats.org/presentationml/2006/ole">
            <mc:AlternateContent xmlns:mc="http://schemas.openxmlformats.org/markup-compatibility/2006">
              <mc:Choice xmlns:v="urn:schemas-microsoft-com:vml" Requires="v">
                <p:oleObj spid="_x0000_s35897" r:id="rId7" imgW="1727950" imgH="228699" progId="Equation.3">
                  <p:embed/>
                </p:oleObj>
              </mc:Choice>
              <mc:Fallback>
                <p:oleObj r:id="rId7" imgW="1727950" imgH="228699"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975" y="908050"/>
                        <a:ext cx="37449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Rectangle 32"/>
          <p:cNvSpPr>
            <a:spLocks noChangeArrowheads="1"/>
          </p:cNvSpPr>
          <p:nvPr/>
        </p:nvSpPr>
        <p:spPr bwMode="auto">
          <a:xfrm>
            <a:off x="1619250" y="9080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则，</a:t>
            </a:r>
          </a:p>
        </p:txBody>
      </p:sp>
      <p:sp>
        <p:nvSpPr>
          <p:cNvPr id="35848" name="Rectangle 33"/>
          <p:cNvSpPr>
            <a:spLocks noChangeArrowheads="1"/>
          </p:cNvSpPr>
          <p:nvPr/>
        </p:nvSpPr>
        <p:spPr bwMode="auto">
          <a:xfrm>
            <a:off x="1692275" y="1700213"/>
            <a:ext cx="119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所以， </a:t>
            </a:r>
          </a:p>
        </p:txBody>
      </p:sp>
      <p:graphicFrame>
        <p:nvGraphicFramePr>
          <p:cNvPr id="35849" name="Object 11"/>
          <p:cNvGraphicFramePr>
            <a:graphicFrameLocks noChangeAspect="1"/>
          </p:cNvGraphicFramePr>
          <p:nvPr/>
        </p:nvGraphicFramePr>
        <p:xfrm>
          <a:off x="2771775" y="1700213"/>
          <a:ext cx="2951163" cy="500062"/>
        </p:xfrm>
        <a:graphic>
          <a:graphicData uri="http://schemas.openxmlformats.org/presentationml/2006/ole">
            <mc:AlternateContent xmlns:mc="http://schemas.openxmlformats.org/markup-compatibility/2006">
              <mc:Choice xmlns:v="urn:schemas-microsoft-com:vml" Requires="v">
                <p:oleObj spid="_x0000_s35898" r:id="rId9" imgW="1626306" imgH="279521" progId="Equation.3">
                  <p:embed/>
                </p:oleObj>
              </mc:Choice>
              <mc:Fallback>
                <p:oleObj r:id="rId9" imgW="1626306" imgH="279521"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1775" y="1700213"/>
                        <a:ext cx="2951163"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0" name="Rectangle 36"/>
          <p:cNvSpPr>
            <a:spLocks noChangeArrowheads="1"/>
          </p:cNvSpPr>
          <p:nvPr/>
        </p:nvSpPr>
        <p:spPr bwMode="auto">
          <a:xfrm>
            <a:off x="7380288" y="170021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6-26</a:t>
            </a:r>
            <a:r>
              <a:rPr lang="zh-CN" altLang="en-US"/>
              <a:t>） </a:t>
            </a:r>
          </a:p>
        </p:txBody>
      </p:sp>
      <p:graphicFrame>
        <p:nvGraphicFramePr>
          <p:cNvPr id="35851" name="Object 14"/>
          <p:cNvGraphicFramePr>
            <a:graphicFrameLocks noChangeAspect="1"/>
          </p:cNvGraphicFramePr>
          <p:nvPr/>
        </p:nvGraphicFramePr>
        <p:xfrm>
          <a:off x="1763713" y="2492375"/>
          <a:ext cx="4176712" cy="930275"/>
        </p:xfrm>
        <a:graphic>
          <a:graphicData uri="http://schemas.openxmlformats.org/presentationml/2006/ole">
            <mc:AlternateContent xmlns:mc="http://schemas.openxmlformats.org/markup-compatibility/2006">
              <mc:Choice xmlns:v="urn:schemas-microsoft-com:vml" Requires="v">
                <p:oleObj spid="_x0000_s35899" r:id="rId11" imgW="2185349" imgH="482810" progId="Equation.3">
                  <p:embed/>
                </p:oleObj>
              </mc:Choice>
              <mc:Fallback>
                <p:oleObj r:id="rId11" imgW="2185349" imgH="48281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713" y="2492375"/>
                        <a:ext cx="4176712"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2" name="Rectangle 39"/>
          <p:cNvSpPr>
            <a:spLocks noChangeArrowheads="1"/>
          </p:cNvSpPr>
          <p:nvPr/>
        </p:nvSpPr>
        <p:spPr bwMode="auto">
          <a:xfrm>
            <a:off x="7451725" y="2708275"/>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6-27</a:t>
            </a:r>
            <a:r>
              <a:rPr lang="zh-CN" altLang="en-US"/>
              <a:t>） </a:t>
            </a:r>
          </a:p>
        </p:txBody>
      </p:sp>
      <p:graphicFrame>
        <p:nvGraphicFramePr>
          <p:cNvPr id="35853" name="Object 17"/>
          <p:cNvGraphicFramePr>
            <a:graphicFrameLocks noChangeAspect="1"/>
          </p:cNvGraphicFramePr>
          <p:nvPr/>
        </p:nvGraphicFramePr>
        <p:xfrm>
          <a:off x="1835150" y="3716338"/>
          <a:ext cx="4175125" cy="917575"/>
        </p:xfrm>
        <a:graphic>
          <a:graphicData uri="http://schemas.openxmlformats.org/presentationml/2006/ole">
            <mc:AlternateContent xmlns:mc="http://schemas.openxmlformats.org/markup-compatibility/2006">
              <mc:Choice xmlns:v="urn:schemas-microsoft-com:vml" Requires="v">
                <p:oleObj spid="_x0000_s35900" r:id="rId13" imgW="2210760" imgH="482810" progId="Equation.3">
                  <p:embed/>
                </p:oleObj>
              </mc:Choice>
              <mc:Fallback>
                <p:oleObj r:id="rId13" imgW="2210760" imgH="48281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150" y="3716338"/>
                        <a:ext cx="41751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4" name="Rectangle 43"/>
          <p:cNvSpPr>
            <a:spLocks noChangeArrowheads="1"/>
          </p:cNvSpPr>
          <p:nvPr/>
        </p:nvSpPr>
        <p:spPr bwMode="auto">
          <a:xfrm>
            <a:off x="7451725" y="4005263"/>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6-28</a:t>
            </a:r>
            <a:r>
              <a:rPr lang="zh-CN" altLang="en-US"/>
              <a:t>）</a:t>
            </a:r>
          </a:p>
        </p:txBody>
      </p:sp>
      <p:graphicFrame>
        <p:nvGraphicFramePr>
          <p:cNvPr id="35855" name="Object 19"/>
          <p:cNvGraphicFramePr>
            <a:graphicFrameLocks noChangeAspect="1"/>
          </p:cNvGraphicFramePr>
          <p:nvPr/>
        </p:nvGraphicFramePr>
        <p:xfrm>
          <a:off x="3924300" y="6226175"/>
          <a:ext cx="3382963" cy="442913"/>
        </p:xfrm>
        <a:graphic>
          <a:graphicData uri="http://schemas.openxmlformats.org/presentationml/2006/ole">
            <mc:AlternateContent xmlns:mc="http://schemas.openxmlformats.org/markup-compatibility/2006">
              <mc:Choice xmlns:v="urn:schemas-microsoft-com:vml" Requires="v">
                <p:oleObj spid="_x0000_s35901" r:id="rId15" imgW="1740655" imgH="228699" progId="Equation.3">
                  <p:embed/>
                </p:oleObj>
              </mc:Choice>
              <mc:Fallback>
                <p:oleObj r:id="rId15" imgW="1740655" imgH="228699" progId="Equation.3">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24300" y="6226175"/>
                        <a:ext cx="3382963"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6" name="Rectangle 46"/>
          <p:cNvSpPr>
            <a:spLocks noChangeArrowheads="1"/>
          </p:cNvSpPr>
          <p:nvPr/>
        </p:nvSpPr>
        <p:spPr bwMode="auto">
          <a:xfrm>
            <a:off x="798513" y="3543300"/>
            <a:ext cx="3746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sz="1500">
                <a:latin typeface="Arial" panose="020B0604020202020204" pitchFamily="34" charset="0"/>
                <a:ea typeface="黑体" panose="02010609060101010101" pitchFamily="49" charset="-122"/>
              </a:rPr>
              <a:t>。</a:t>
            </a:r>
            <a:endParaRPr lang="zh-CN" altLang="en-US">
              <a:latin typeface="Arial" panose="020B0604020202020204" pitchFamily="34" charset="0"/>
              <a:ea typeface="黑体" panose="02010609060101010101" pitchFamily="49" charset="-122"/>
            </a:endParaRPr>
          </a:p>
        </p:txBody>
      </p:sp>
      <p:sp>
        <p:nvSpPr>
          <p:cNvPr id="35857" name="Rectangle 47"/>
          <p:cNvSpPr>
            <a:spLocks noChangeArrowheads="1"/>
          </p:cNvSpPr>
          <p:nvPr/>
        </p:nvSpPr>
        <p:spPr bwMode="auto">
          <a:xfrm>
            <a:off x="1835150" y="4941888"/>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将式（</a:t>
            </a:r>
            <a:r>
              <a:rPr lang="en-US" altLang="zh-CN"/>
              <a:t>6-25</a:t>
            </a:r>
            <a:r>
              <a:rPr lang="zh-CN" altLang="en-US"/>
              <a:t>）～（</a:t>
            </a:r>
            <a:r>
              <a:rPr lang="en-US" altLang="zh-CN"/>
              <a:t>6-28</a:t>
            </a:r>
            <a:r>
              <a:rPr lang="zh-CN" altLang="en-US"/>
              <a:t>）代入（</a:t>
            </a:r>
            <a:r>
              <a:rPr lang="en-US" altLang="zh-CN"/>
              <a:t>6-19</a:t>
            </a:r>
            <a:r>
              <a:rPr lang="zh-CN" altLang="en-US"/>
              <a:t>）、（</a:t>
            </a:r>
            <a:r>
              <a:rPr lang="en-US" altLang="zh-CN"/>
              <a:t>6-20</a:t>
            </a:r>
            <a:r>
              <a:rPr lang="zh-CN" altLang="en-US"/>
              <a:t>）、</a:t>
            </a:r>
          </a:p>
        </p:txBody>
      </p:sp>
      <p:sp>
        <p:nvSpPr>
          <p:cNvPr id="35858" name="Rectangle 48"/>
          <p:cNvSpPr>
            <a:spLocks noChangeArrowheads="1"/>
          </p:cNvSpPr>
          <p:nvPr/>
        </p:nvSpPr>
        <p:spPr bwMode="auto">
          <a:xfrm>
            <a:off x="1331913" y="5564188"/>
            <a:ext cx="7439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a:t>
            </a:r>
            <a:r>
              <a:rPr lang="en-US" altLang="zh-CN" dirty="0"/>
              <a:t>6-22</a:t>
            </a:r>
            <a:r>
              <a:rPr lang="zh-CN" altLang="en-US" dirty="0"/>
              <a:t>）和（</a:t>
            </a:r>
            <a:r>
              <a:rPr lang="en-US" altLang="zh-CN" dirty="0"/>
              <a:t>6-23</a:t>
            </a:r>
            <a:r>
              <a:rPr lang="zh-CN" altLang="en-US" dirty="0"/>
              <a:t>）中，即可计算出</a:t>
            </a:r>
            <a:r>
              <a:rPr lang="en-US" altLang="zh-CN" dirty="0"/>
              <a:t>T</a:t>
            </a:r>
            <a:r>
              <a:rPr lang="en-US" altLang="zh-CN" baseline="-25000" dirty="0"/>
              <a:t>2</a:t>
            </a:r>
            <a:r>
              <a:rPr lang="zh-CN" altLang="en-US" dirty="0"/>
              <a:t>、</a:t>
            </a:r>
            <a:r>
              <a:rPr lang="en-US" altLang="zh-CN" dirty="0"/>
              <a:t>T</a:t>
            </a:r>
            <a:r>
              <a:rPr lang="en-US" altLang="zh-CN" baseline="-25000" dirty="0"/>
              <a:t>3</a:t>
            </a:r>
            <a:r>
              <a:rPr lang="zh-CN" altLang="en-US" dirty="0"/>
              <a:t>、</a:t>
            </a:r>
            <a:r>
              <a:rPr lang="en-US" altLang="zh-CN" dirty="0"/>
              <a:t>T</a:t>
            </a:r>
            <a:r>
              <a:rPr lang="en-US" altLang="zh-CN" baseline="-25000" dirty="0"/>
              <a:t>5</a:t>
            </a:r>
            <a:r>
              <a:rPr lang="zh-CN" altLang="en-US" dirty="0"/>
              <a:t>和</a:t>
            </a:r>
            <a:r>
              <a:rPr lang="en-US" altLang="zh-CN" dirty="0"/>
              <a:t>T</a:t>
            </a:r>
            <a:r>
              <a:rPr lang="en-US" altLang="zh-CN" baseline="-25000" dirty="0"/>
              <a:t>6</a:t>
            </a:r>
            <a:r>
              <a:rPr lang="zh-CN" altLang="en-US" dirty="0"/>
              <a:t>。</a:t>
            </a:r>
          </a:p>
        </p:txBody>
      </p:sp>
      <p:sp>
        <p:nvSpPr>
          <p:cNvPr id="35859" name="Rectangle 49"/>
          <p:cNvSpPr>
            <a:spLocks noChangeArrowheads="1"/>
          </p:cNvSpPr>
          <p:nvPr/>
        </p:nvSpPr>
        <p:spPr bwMode="auto">
          <a:xfrm>
            <a:off x="1476375" y="6211888"/>
            <a:ext cx="210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复合变换矩阵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1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6867" name="Rectangle 2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6868" name="Rectangle 2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6869" name="Rectangle 2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6870" name="Rectangle 2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6871" name="Rectangle 2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6872" name="Rectangle 3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29705" name="Rectangle 31"/>
          <p:cNvSpPr>
            <a:spLocks noChangeArrowheads="1"/>
          </p:cNvSpPr>
          <p:nvPr/>
        </p:nvSpPr>
        <p:spPr bwMode="auto">
          <a:xfrm>
            <a:off x="1403350" y="188913"/>
            <a:ext cx="3168650" cy="647700"/>
          </a:xfrm>
          <a:prstGeom prst="rect">
            <a:avLst/>
          </a:prstGeom>
          <a:noFill/>
          <a:ln w="9525">
            <a:noFill/>
            <a:miter lim="800000"/>
            <a:headEnd/>
            <a:tailEnd/>
          </a:ln>
        </p:spPr>
        <p:txBody>
          <a:bodyPr anchor="b"/>
          <a:lstStyle/>
          <a:p>
            <a:pPr eaLnBrk="1" hangingPunct="1">
              <a:buFont typeface="Arial" charset="0"/>
              <a:buNone/>
              <a:defRPr/>
            </a:pPr>
            <a:r>
              <a:rPr lang="en-US" altLang="zh-CN" sz="3200" b="1">
                <a:effectLst>
                  <a:outerShdw blurRad="38100" dist="38100" dir="2700000" algn="tl">
                    <a:srgbClr val="C0C0C0"/>
                  </a:outerShdw>
                </a:effectLst>
                <a:latin typeface="楷体_GB2312" pitchFamily="49" charset="-122"/>
              </a:rPr>
              <a:t>6.4 </a:t>
            </a:r>
            <a:r>
              <a:rPr lang="zh-CN" altLang="en-US" sz="3200" b="1">
                <a:effectLst>
                  <a:outerShdw blurRad="38100" dist="38100" dir="2700000" algn="tl">
                    <a:srgbClr val="C0C0C0"/>
                  </a:outerShdw>
                </a:effectLst>
                <a:latin typeface="楷体_GB2312" pitchFamily="49" charset="-122"/>
              </a:rPr>
              <a:t>坐标系变换</a:t>
            </a:r>
            <a:r>
              <a:rPr lang="zh-CN" altLang="en-US" sz="3200" b="1">
                <a:solidFill>
                  <a:srgbClr val="FF3300"/>
                </a:solidFill>
                <a:ea typeface="宋体" pitchFamily="2" charset="-122"/>
              </a:rPr>
              <a:t> </a:t>
            </a:r>
          </a:p>
        </p:txBody>
      </p:sp>
      <p:sp>
        <p:nvSpPr>
          <p:cNvPr id="36874" name="Rectangle 32"/>
          <p:cNvSpPr>
            <a:spLocks noChangeArrowheads="1"/>
          </p:cNvSpPr>
          <p:nvPr/>
        </p:nvSpPr>
        <p:spPr bwMode="auto">
          <a:xfrm>
            <a:off x="1187450" y="1038225"/>
            <a:ext cx="78486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      在进行三维观察时，需要将物体的描述</a:t>
            </a:r>
            <a:r>
              <a:rPr lang="zh-CN" altLang="en-US" b="1">
                <a:solidFill>
                  <a:srgbClr val="FF0000"/>
                </a:solidFill>
                <a:latin typeface="黑体" panose="02010609060101010101" pitchFamily="49" charset="-122"/>
                <a:ea typeface="黑体" panose="02010609060101010101" pitchFamily="49" charset="-122"/>
              </a:rPr>
              <a:t>从世界坐标系变换到观察坐标系</a:t>
            </a:r>
            <a:r>
              <a:rPr lang="zh-CN" altLang="en-US"/>
              <a:t>，然后通过旋转视点可以观察物体的全貌。</a:t>
            </a:r>
          </a:p>
          <a:p>
            <a:pPr eaLnBrk="1" hangingPunct="1">
              <a:buFont typeface="Arial" panose="020B0604020202020204" pitchFamily="34" charset="0"/>
              <a:buNone/>
            </a:pPr>
            <a:r>
              <a:rPr lang="zh-CN" altLang="en-US"/>
              <a:t>      同一种变换既可以看作是点变换也可以看作是坐标系变换。点变换是顶点位置发生改变，但坐标系位置不发生改变。</a:t>
            </a:r>
            <a:r>
              <a:rPr lang="zh-CN" altLang="en-US" b="1">
                <a:solidFill>
                  <a:srgbClr val="FF0000"/>
                </a:solidFill>
                <a:latin typeface="黑体" panose="02010609060101010101" pitchFamily="49" charset="-122"/>
                <a:ea typeface="黑体" panose="02010609060101010101" pitchFamily="49" charset="-122"/>
              </a:rPr>
              <a:t>坐标系变换是建立新坐标系描述旧坐标系内的顶点</a:t>
            </a:r>
            <a:r>
              <a:rPr lang="zh-CN" altLang="en-US"/>
              <a:t>，坐标系位置发生改变，但顶点位置不发生改变。  </a:t>
            </a:r>
          </a:p>
        </p:txBody>
      </p:sp>
      <p:sp>
        <p:nvSpPr>
          <p:cNvPr id="29707" name="Rectangle 33"/>
          <p:cNvSpPr>
            <a:spLocks noChangeArrowheads="1"/>
          </p:cNvSpPr>
          <p:nvPr/>
        </p:nvSpPr>
        <p:spPr bwMode="auto">
          <a:xfrm>
            <a:off x="1258888" y="3789363"/>
            <a:ext cx="3457575" cy="519112"/>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6.4.1 </a:t>
            </a:r>
            <a:r>
              <a:rPr lang="zh-CN" altLang="en-US" b="1">
                <a:effectLst>
                  <a:outerShdw blurRad="38100" dist="38100" dir="2700000" algn="tl">
                    <a:srgbClr val="C0C0C0"/>
                  </a:outerShdw>
                </a:effectLst>
              </a:rPr>
              <a:t>二维坐标系变换</a:t>
            </a:r>
            <a:r>
              <a:rPr lang="zh-CN" altLang="en-US"/>
              <a:t>  </a:t>
            </a:r>
          </a:p>
        </p:txBody>
      </p:sp>
      <p:graphicFrame>
        <p:nvGraphicFramePr>
          <p:cNvPr id="36876" name="Object 36"/>
          <p:cNvGraphicFramePr>
            <a:graphicFrameLocks noChangeAspect="1"/>
          </p:cNvGraphicFramePr>
          <p:nvPr/>
        </p:nvGraphicFramePr>
        <p:xfrm>
          <a:off x="1908175" y="4437063"/>
          <a:ext cx="2016125" cy="1644650"/>
        </p:xfrm>
        <a:graphic>
          <a:graphicData uri="http://schemas.openxmlformats.org/presentationml/2006/ole">
            <mc:AlternateContent xmlns:mc="http://schemas.openxmlformats.org/markup-compatibility/2006">
              <mc:Choice xmlns:v="urn:schemas-microsoft-com:vml" Requires="v">
                <p:oleObj spid="_x0000_s36900" r:id="rId3" imgW="2728874" imgH="2224126" progId="Visio.Drawing.11">
                  <p:embed/>
                </p:oleObj>
              </mc:Choice>
              <mc:Fallback>
                <p:oleObj r:id="rId3" imgW="2728874" imgH="2224126" progId="Visio.Drawing.11">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4437063"/>
                        <a:ext cx="2016125"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7" name="Object 35"/>
          <p:cNvGraphicFramePr>
            <a:graphicFrameLocks noChangeAspect="1"/>
          </p:cNvGraphicFramePr>
          <p:nvPr/>
        </p:nvGraphicFramePr>
        <p:xfrm>
          <a:off x="4067175" y="4581525"/>
          <a:ext cx="1716088" cy="1395413"/>
        </p:xfrm>
        <a:graphic>
          <a:graphicData uri="http://schemas.openxmlformats.org/presentationml/2006/ole">
            <mc:AlternateContent xmlns:mc="http://schemas.openxmlformats.org/markup-compatibility/2006">
              <mc:Choice xmlns:v="urn:schemas-microsoft-com:vml" Requires="v">
                <p:oleObj spid="_x0000_s36901" r:id="rId5" imgW="2728874" imgH="2224126" progId="Visio.Drawing.11">
                  <p:embed/>
                </p:oleObj>
              </mc:Choice>
              <mc:Fallback>
                <p:oleObj r:id="rId5" imgW="2728874" imgH="2224126" progId="Visio.Drawing.11">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4581525"/>
                        <a:ext cx="1716088"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8" name="Object 34"/>
          <p:cNvGraphicFramePr>
            <a:graphicFrameLocks noChangeAspect="1"/>
          </p:cNvGraphicFramePr>
          <p:nvPr/>
        </p:nvGraphicFramePr>
        <p:xfrm>
          <a:off x="6588125" y="4292600"/>
          <a:ext cx="1871663" cy="1752600"/>
        </p:xfrm>
        <a:graphic>
          <a:graphicData uri="http://schemas.openxmlformats.org/presentationml/2006/ole">
            <mc:AlternateContent xmlns:mc="http://schemas.openxmlformats.org/markup-compatibility/2006">
              <mc:Choice xmlns:v="urn:schemas-microsoft-com:vml" Requires="v">
                <p:oleObj spid="_x0000_s36902" r:id="rId7" imgW="3268980" imgH="3058973" progId="Visio.Drawing.11">
                  <p:embed/>
                </p:oleObj>
              </mc:Choice>
              <mc:Fallback>
                <p:oleObj r:id="rId7" imgW="3268980" imgH="3058973" progId="Visio.Drawing.11">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8125" y="4292600"/>
                        <a:ext cx="1871663"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9" name="Text Box 37"/>
          <p:cNvSpPr txBox="1">
            <a:spLocks noChangeArrowheads="1"/>
          </p:cNvSpPr>
          <p:nvPr/>
        </p:nvSpPr>
        <p:spPr bwMode="auto">
          <a:xfrm>
            <a:off x="1763713" y="5949950"/>
            <a:ext cx="719137" cy="358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P(1,1)</a:t>
            </a:r>
            <a:endParaRPr lang="en-US" altLang="zh-CN" sz="2000">
              <a:latin typeface="Arial" panose="020B0604020202020204" pitchFamily="34" charset="0"/>
              <a:ea typeface="宋体" panose="02010600030101010101" pitchFamily="2" charset="-122"/>
            </a:endParaRPr>
          </a:p>
        </p:txBody>
      </p:sp>
      <p:sp>
        <p:nvSpPr>
          <p:cNvPr id="36880" name="Text Box 39"/>
          <p:cNvSpPr txBox="1">
            <a:spLocks noChangeArrowheads="1"/>
          </p:cNvSpPr>
          <p:nvPr/>
        </p:nvSpPr>
        <p:spPr bwMode="auto">
          <a:xfrm>
            <a:off x="7740650" y="4724400"/>
            <a:ext cx="863600" cy="3603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P(3,3)</a:t>
            </a:r>
            <a:endParaRPr lang="en-US" altLang="zh-CN" sz="2000">
              <a:latin typeface="Arial" panose="020B0604020202020204" pitchFamily="34" charset="0"/>
              <a:ea typeface="宋体" panose="02010600030101010101" pitchFamily="2" charset="-122"/>
            </a:endParaRPr>
          </a:p>
        </p:txBody>
      </p:sp>
      <p:sp>
        <p:nvSpPr>
          <p:cNvPr id="36881" name="Text Box 38"/>
          <p:cNvSpPr txBox="1">
            <a:spLocks noChangeArrowheads="1"/>
          </p:cNvSpPr>
          <p:nvPr/>
        </p:nvSpPr>
        <p:spPr bwMode="auto">
          <a:xfrm>
            <a:off x="5435600" y="4652963"/>
            <a:ext cx="865188" cy="28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P(3,3)</a:t>
            </a:r>
            <a:endParaRPr lang="en-US" altLang="zh-CN" sz="2000">
              <a:latin typeface="Arial" panose="020B0604020202020204" pitchFamily="34" charset="0"/>
              <a:ea typeface="宋体" panose="02010600030101010101" pitchFamily="2" charset="-122"/>
            </a:endParaRPr>
          </a:p>
        </p:txBody>
      </p:sp>
      <p:sp>
        <p:nvSpPr>
          <p:cNvPr id="36882" name="Rectangle 42"/>
          <p:cNvSpPr>
            <a:spLocks noChangeArrowheads="1"/>
          </p:cNvSpPr>
          <p:nvPr/>
        </p:nvSpPr>
        <p:spPr bwMode="auto">
          <a:xfrm>
            <a:off x="0" y="2041525"/>
            <a:ext cx="26828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sz="1100"/>
          </a:p>
          <a:p>
            <a:pPr>
              <a:buFont typeface="Arial" panose="020B0604020202020204" pitchFamily="34" charset="0"/>
              <a:buNone/>
            </a:pPr>
            <a:r>
              <a:rPr lang="zh-CN" altLang="en-US">
                <a:latin typeface="Arial" panose="020B0604020202020204" pitchFamily="34" charset="0"/>
                <a:ea typeface="宋体" panose="02010600030101010101" pitchFamily="2" charset="-122"/>
              </a:rPr>
              <a:t> </a:t>
            </a:r>
          </a:p>
        </p:txBody>
      </p:sp>
      <p:sp>
        <p:nvSpPr>
          <p:cNvPr id="36883" name="Rectangle 43"/>
          <p:cNvSpPr>
            <a:spLocks noChangeArrowheads="1"/>
          </p:cNvSpPr>
          <p:nvPr/>
        </p:nvSpPr>
        <p:spPr bwMode="auto">
          <a:xfrm>
            <a:off x="0" y="3829050"/>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Arial" panose="020B0604020202020204" pitchFamily="34" charset="0"/>
                <a:ea typeface="宋体" panose="02010600030101010101" pitchFamily="2" charset="-122"/>
              </a:rPr>
              <a:t> </a:t>
            </a:r>
          </a:p>
        </p:txBody>
      </p:sp>
      <p:sp>
        <p:nvSpPr>
          <p:cNvPr id="36884" name="Rectangle 44"/>
          <p:cNvSpPr>
            <a:spLocks noChangeArrowheads="1"/>
          </p:cNvSpPr>
          <p:nvPr/>
        </p:nvSpPr>
        <p:spPr bwMode="auto">
          <a:xfrm>
            <a:off x="1968500" y="6308725"/>
            <a:ext cx="6188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a</a:t>
            </a:r>
            <a:r>
              <a:rPr lang="zh-CN" altLang="en-US" sz="2000">
                <a:latin typeface="Times New Roman" panose="02020603050405020304" pitchFamily="18" charset="0"/>
                <a:ea typeface="宋体" panose="02010600030101010101" pitchFamily="2" charset="-122"/>
              </a:rPr>
              <a:t>） 原图              （</a:t>
            </a:r>
            <a:r>
              <a:rPr lang="en-US" altLang="zh-CN" sz="2000">
                <a:latin typeface="Times New Roman" panose="02020603050405020304" pitchFamily="18" charset="0"/>
                <a:ea typeface="宋体" panose="02010600030101010101" pitchFamily="2" charset="-122"/>
              </a:rPr>
              <a:t>b</a:t>
            </a:r>
            <a:r>
              <a:rPr lang="zh-CN" altLang="en-US" sz="2000">
                <a:latin typeface="Times New Roman" panose="02020603050405020304" pitchFamily="18" charset="0"/>
                <a:ea typeface="宋体" panose="02010600030101010101" pitchFamily="2" charset="-122"/>
              </a:rPr>
              <a:t>）点变换          （</a:t>
            </a:r>
            <a:r>
              <a:rPr lang="en-US" altLang="zh-CN" sz="2000">
                <a:latin typeface="Times New Roman" panose="02020603050405020304" pitchFamily="18" charset="0"/>
                <a:ea typeface="宋体" panose="02010600030101010101" pitchFamily="2" charset="-122"/>
              </a:rPr>
              <a:t>c</a:t>
            </a:r>
            <a:r>
              <a:rPr lang="zh-CN" altLang="en-US" sz="2000">
                <a:latin typeface="Times New Roman" panose="02020603050405020304" pitchFamily="18" charset="0"/>
                <a:ea typeface="宋体" panose="02010600030101010101" pitchFamily="2" charset="-122"/>
              </a:rPr>
              <a:t>）坐标系变换</a:t>
            </a:r>
            <a:endParaRPr lang="zh-CN" altLang="en-US" sz="2000">
              <a:latin typeface="Arial" panose="020B0604020202020204" pitchFamily="34"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0"/>
          <p:cNvSpPr>
            <a:spLocks noChangeArrowheads="1"/>
          </p:cNvSpPr>
          <p:nvPr/>
        </p:nvSpPr>
        <p:spPr bwMode="auto">
          <a:xfrm>
            <a:off x="0" y="3062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37891" name="Object 4"/>
          <p:cNvGraphicFramePr>
            <a:graphicFrameLocks noChangeAspect="1"/>
          </p:cNvGraphicFramePr>
          <p:nvPr/>
        </p:nvGraphicFramePr>
        <p:xfrm>
          <a:off x="3708400" y="836613"/>
          <a:ext cx="2232025" cy="1254125"/>
        </p:xfrm>
        <a:graphic>
          <a:graphicData uri="http://schemas.openxmlformats.org/presentationml/2006/ole">
            <mc:AlternateContent xmlns:mc="http://schemas.openxmlformats.org/markup-compatibility/2006">
              <mc:Choice xmlns:v="urn:schemas-microsoft-com:vml" Requires="v">
                <p:oleObj spid="_x0000_s37913" r:id="rId3" imgW="1308668" imgH="736920" progId="Equation.3">
                  <p:embed/>
                </p:oleObj>
              </mc:Choice>
              <mc:Fallback>
                <p:oleObj r:id="rId3" imgW="1308668" imgH="73692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836613"/>
                        <a:ext cx="2232025"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2" name="Rectangle 22"/>
          <p:cNvSpPr>
            <a:spLocks noChangeArrowheads="1"/>
          </p:cNvSpPr>
          <p:nvPr/>
        </p:nvSpPr>
        <p:spPr bwMode="auto">
          <a:xfrm>
            <a:off x="467544" y="288321"/>
            <a:ext cx="18678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marL="285750" indent="-285750" eaLnBrk="1" hangingPunct="1">
              <a:buFont typeface="Wingdings" panose="05000000000000000000" pitchFamily="2" charset="2"/>
              <a:buChar char="n"/>
            </a:pPr>
            <a:r>
              <a:rPr lang="zh-CN" altLang="en-US" sz="1800" b="1" dirty="0">
                <a:solidFill>
                  <a:srgbClr val="3366FF"/>
                </a:solidFill>
                <a:latin typeface="方正粗黑宋简体" panose="02000000000000000000" pitchFamily="2" charset="-122"/>
                <a:ea typeface="方正粗黑宋简体" panose="02000000000000000000" pitchFamily="2" charset="-122"/>
              </a:rPr>
              <a:t>平移变换矩阵</a:t>
            </a:r>
          </a:p>
        </p:txBody>
      </p:sp>
      <p:sp>
        <p:nvSpPr>
          <p:cNvPr id="37893" name="Rectangle 23"/>
          <p:cNvSpPr>
            <a:spLocks noChangeArrowheads="1"/>
          </p:cNvSpPr>
          <p:nvPr/>
        </p:nvSpPr>
        <p:spPr bwMode="auto">
          <a:xfrm>
            <a:off x="467544" y="2568486"/>
            <a:ext cx="842563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marL="285750" indent="-285750" eaLnBrk="1" hangingPunct="1">
              <a:buFont typeface="Wingdings" panose="05000000000000000000" pitchFamily="2" charset="2"/>
              <a:buChar char="n"/>
            </a:pPr>
            <a:r>
              <a:rPr lang="zh-CN" altLang="en-US" sz="1800" b="1" dirty="0" smtClean="0">
                <a:solidFill>
                  <a:srgbClr val="3366FF"/>
                </a:solidFill>
                <a:latin typeface="方正粗黑宋简体" panose="02000000000000000000" pitchFamily="2" charset="-122"/>
                <a:ea typeface="方正粗黑宋简体" panose="02000000000000000000" pitchFamily="2" charset="-122"/>
              </a:rPr>
              <a:t>坐标系</a:t>
            </a:r>
            <a:r>
              <a:rPr lang="zh-CN" altLang="en-US" sz="1800" b="1" dirty="0">
                <a:solidFill>
                  <a:srgbClr val="3366FF"/>
                </a:solidFill>
                <a:latin typeface="方正粗黑宋简体" panose="02000000000000000000" pitchFamily="2" charset="-122"/>
                <a:ea typeface="方正粗黑宋简体" panose="02000000000000000000" pitchFamily="2" charset="-122"/>
              </a:rPr>
              <a:t>的旋转变换</a:t>
            </a:r>
            <a:r>
              <a:rPr lang="zh-CN" altLang="en-US" dirty="0"/>
              <a:t>，应使用</a:t>
            </a:r>
            <a:r>
              <a:rPr lang="zh-CN" altLang="en-US" sz="1800" b="1" dirty="0">
                <a:solidFill>
                  <a:srgbClr val="3366FF"/>
                </a:solidFill>
                <a:latin typeface="方正粗黑宋简体" panose="02000000000000000000" pitchFamily="2" charset="-122"/>
                <a:ea typeface="方正粗黑宋简体" panose="02000000000000000000" pitchFamily="2" charset="-122"/>
              </a:rPr>
              <a:t>相反方向的旋转变换矩阵</a:t>
            </a:r>
            <a:r>
              <a:rPr lang="zh-CN" altLang="en-US" dirty="0"/>
              <a:t>。如绕</a:t>
            </a:r>
            <a:r>
              <a:rPr lang="en-US" altLang="zh-CN" dirty="0" smtClean="0"/>
              <a:t>z </a:t>
            </a:r>
            <a:r>
              <a:rPr lang="zh-CN" altLang="en-US" dirty="0" smtClean="0"/>
              <a:t>轴</a:t>
            </a:r>
            <a:r>
              <a:rPr lang="zh-CN" altLang="en-US" dirty="0"/>
              <a:t>的逆时针旋转变换，应使用顺时针旋转变换矩阵，反之亦然。</a:t>
            </a:r>
          </a:p>
          <a:p>
            <a:pPr eaLnBrk="1" hangingPunct="1">
              <a:buFont typeface="Arial" panose="020B0604020202020204" pitchFamily="34" charset="0"/>
              <a:buNone/>
            </a:pPr>
            <a:r>
              <a:rPr lang="zh-CN" altLang="en-US" dirty="0"/>
              <a:t>   </a:t>
            </a:r>
          </a:p>
        </p:txBody>
      </p:sp>
      <p:sp>
        <p:nvSpPr>
          <p:cNvPr id="37894" name="Rectangle 29"/>
          <p:cNvSpPr>
            <a:spLocks noChangeArrowheads="1"/>
          </p:cNvSpPr>
          <p:nvPr/>
        </p:nvSpPr>
        <p:spPr bwMode="auto">
          <a:xfrm>
            <a:off x="0" y="2957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7895" name="Rectangle 32"/>
          <p:cNvSpPr>
            <a:spLocks noChangeArrowheads="1"/>
          </p:cNvSpPr>
          <p:nvPr/>
        </p:nvSpPr>
        <p:spPr bwMode="auto">
          <a:xfrm>
            <a:off x="467544" y="5157788"/>
            <a:ext cx="820655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marL="285750" indent="-285750" eaLnBrk="1" hangingPunct="1">
              <a:buFont typeface="Wingdings" panose="05000000000000000000" pitchFamily="2" charset="2"/>
              <a:buChar char="n"/>
            </a:pPr>
            <a:r>
              <a:rPr lang="zh-CN" altLang="en-US" sz="1800" b="1" dirty="0">
                <a:solidFill>
                  <a:srgbClr val="3366FF"/>
                </a:solidFill>
                <a:latin typeface="方正粗黑宋简体" panose="02000000000000000000" pitchFamily="2" charset="-122"/>
                <a:ea typeface="方正粗黑宋简体" panose="02000000000000000000" pitchFamily="2" charset="-122"/>
              </a:rPr>
              <a:t>坐标系反射变换</a:t>
            </a:r>
            <a:r>
              <a:rPr lang="zh-CN" altLang="en-US" dirty="0"/>
              <a:t>相当于坐标系不动，点进行反射，二者效果一致，</a:t>
            </a:r>
            <a:r>
              <a:rPr lang="zh-CN" altLang="en-US" b="1" dirty="0">
                <a:solidFill>
                  <a:srgbClr val="FF0000"/>
                </a:solidFill>
                <a:latin typeface="黑体" panose="02010609060101010101" pitchFamily="49" charset="-122"/>
                <a:ea typeface="黑体" panose="02010609060101010101" pitchFamily="49" charset="-122"/>
              </a:rPr>
              <a:t>坐标系变换的反射变换矩阵保持不变。</a:t>
            </a:r>
          </a:p>
        </p:txBody>
      </p:sp>
      <p:graphicFrame>
        <p:nvGraphicFramePr>
          <p:cNvPr id="37896" name="Object 10"/>
          <p:cNvGraphicFramePr>
            <a:graphicFrameLocks noChangeAspect="1"/>
          </p:cNvGraphicFramePr>
          <p:nvPr/>
        </p:nvGraphicFramePr>
        <p:xfrm>
          <a:off x="1908175" y="3860800"/>
          <a:ext cx="5543550" cy="1211263"/>
        </p:xfrm>
        <a:graphic>
          <a:graphicData uri="http://schemas.openxmlformats.org/presentationml/2006/ole">
            <mc:AlternateContent xmlns:mc="http://schemas.openxmlformats.org/markup-compatibility/2006">
              <mc:Choice xmlns:v="urn:schemas-microsoft-com:vml" Requires="v">
                <p:oleObj spid="_x0000_s37914" r:id="rId5" imgW="3263900" imgH="711200" progId="Equation.3">
                  <p:embed/>
                </p:oleObj>
              </mc:Choice>
              <mc:Fallback>
                <p:oleObj r:id="rId5" imgW="3263900" imgH="7112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3860800"/>
                        <a:ext cx="554355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7" name="Rectangle 35"/>
          <p:cNvSpPr>
            <a:spLocks noChangeArrowheads="1"/>
          </p:cNvSpPr>
          <p:nvPr/>
        </p:nvSpPr>
        <p:spPr bwMode="auto">
          <a:xfrm>
            <a:off x="7643813" y="422116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6-30</a:t>
            </a:r>
            <a:r>
              <a:rPr lang="zh-CN" altLang="en-US"/>
              <a:t>） </a:t>
            </a:r>
          </a:p>
        </p:txBody>
      </p:sp>
      <p:sp>
        <p:nvSpPr>
          <p:cNvPr id="37898" name="Rectangle 36"/>
          <p:cNvSpPr>
            <a:spLocks noChangeArrowheads="1"/>
          </p:cNvSpPr>
          <p:nvPr/>
        </p:nvSpPr>
        <p:spPr bwMode="auto">
          <a:xfrm>
            <a:off x="7643813" y="112553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6-29</a:t>
            </a:r>
            <a:r>
              <a:rPr lang="zh-CN" altLang="en-US"/>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10"/>
          <p:cNvSpPr>
            <a:spLocks noChangeArrowheads="1"/>
          </p:cNvSpPr>
          <p:nvPr/>
        </p:nvSpPr>
        <p:spPr bwMode="auto">
          <a:xfrm>
            <a:off x="1403350" y="188913"/>
            <a:ext cx="3457575" cy="519112"/>
          </a:xfrm>
          <a:prstGeom prst="rect">
            <a:avLst/>
          </a:prstGeom>
          <a:noFill/>
          <a:ln w="9525">
            <a:noFill/>
            <a:miter lim="800000"/>
            <a:headEnd/>
            <a:tailEnd/>
          </a:ln>
        </p:spPr>
        <p:txBody>
          <a:bodyPr>
            <a:spAutoFit/>
          </a:bodyPr>
          <a:lstStyle/>
          <a:p>
            <a:pPr eaLnBrk="1" hangingPunct="1">
              <a:buFont typeface="Arial" charset="0"/>
              <a:buNone/>
              <a:defRPr/>
            </a:pPr>
            <a:r>
              <a:rPr lang="en-US" altLang="zh-CN" sz="2800" b="1">
                <a:effectLst>
                  <a:outerShdw blurRad="38100" dist="38100" dir="2700000" algn="tl">
                    <a:srgbClr val="C0C0C0"/>
                  </a:outerShdw>
                </a:effectLst>
                <a:latin typeface="楷体_GB2312" pitchFamily="49" charset="-122"/>
              </a:rPr>
              <a:t>6.4.2 </a:t>
            </a:r>
            <a:r>
              <a:rPr lang="zh-CN" altLang="en-US" b="1">
                <a:effectLst>
                  <a:outerShdw blurRad="38100" dist="38100" dir="2700000" algn="tl">
                    <a:srgbClr val="C0C0C0"/>
                  </a:outerShdw>
                </a:effectLst>
              </a:rPr>
              <a:t>三维坐标系变换</a:t>
            </a:r>
            <a:r>
              <a:rPr lang="zh-CN" altLang="en-US"/>
              <a:t>  </a:t>
            </a:r>
          </a:p>
        </p:txBody>
      </p:sp>
      <p:sp>
        <p:nvSpPr>
          <p:cNvPr id="38915" name="Rectangle 11"/>
          <p:cNvSpPr>
            <a:spLocks noChangeArrowheads="1"/>
          </p:cNvSpPr>
          <p:nvPr/>
        </p:nvSpPr>
        <p:spPr bwMode="auto">
          <a:xfrm>
            <a:off x="580047" y="867755"/>
            <a:ext cx="16466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800" b="1" dirty="0">
                <a:solidFill>
                  <a:srgbClr val="3366FF"/>
                </a:solidFill>
                <a:latin typeface="方正粗黑宋简体" panose="02000000000000000000" pitchFamily="2" charset="-122"/>
                <a:ea typeface="方正粗黑宋简体" panose="02000000000000000000" pitchFamily="2" charset="-122"/>
              </a:rPr>
              <a:t>平移变换矩阵 </a:t>
            </a:r>
          </a:p>
        </p:txBody>
      </p:sp>
      <p:graphicFrame>
        <p:nvGraphicFramePr>
          <p:cNvPr id="38916" name="Object 7"/>
          <p:cNvGraphicFramePr>
            <a:graphicFrameLocks noChangeAspect="1"/>
          </p:cNvGraphicFramePr>
          <p:nvPr/>
        </p:nvGraphicFramePr>
        <p:xfrm>
          <a:off x="3563938" y="1268413"/>
          <a:ext cx="2592387" cy="1433512"/>
        </p:xfrm>
        <a:graphic>
          <a:graphicData uri="http://schemas.openxmlformats.org/presentationml/2006/ole">
            <mc:AlternateContent xmlns:mc="http://schemas.openxmlformats.org/markup-compatibility/2006">
              <mc:Choice xmlns:v="urn:schemas-microsoft-com:vml" Requires="v">
                <p:oleObj spid="_x0000_s38935" r:id="rId3" imgW="1702539" imgH="940208" progId="Equation.3">
                  <p:embed/>
                </p:oleObj>
              </mc:Choice>
              <mc:Fallback>
                <p:oleObj r:id="rId3" imgW="1702539" imgH="940208"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268413"/>
                        <a:ext cx="2592387"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7" name="Rectangle 14"/>
          <p:cNvSpPr>
            <a:spLocks noChangeArrowheads="1"/>
          </p:cNvSpPr>
          <p:nvPr/>
        </p:nvSpPr>
        <p:spPr bwMode="auto">
          <a:xfrm>
            <a:off x="7739063" y="1916113"/>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6-31</a:t>
            </a:r>
            <a:r>
              <a:rPr lang="zh-CN" altLang="en-US"/>
              <a:t>）</a:t>
            </a:r>
          </a:p>
        </p:txBody>
      </p:sp>
      <p:sp>
        <p:nvSpPr>
          <p:cNvPr id="38918" name="Rectangle 15"/>
          <p:cNvSpPr>
            <a:spLocks noChangeArrowheads="1"/>
          </p:cNvSpPr>
          <p:nvPr/>
        </p:nvSpPr>
        <p:spPr bwMode="auto">
          <a:xfrm>
            <a:off x="1103313" y="2708275"/>
            <a:ext cx="804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相对于点变换而言，</a:t>
            </a:r>
            <a:r>
              <a:rPr lang="zh-CN" altLang="en-US" b="1" dirty="0">
                <a:solidFill>
                  <a:srgbClr val="FF0000"/>
                </a:solidFill>
                <a:latin typeface="黑体" panose="02010609060101010101" pitchFamily="49" charset="-122"/>
                <a:ea typeface="黑体" panose="02010609060101010101" pitchFamily="49" charset="-122"/>
              </a:rPr>
              <a:t>坐标系变换的平移参数需要取为负值</a:t>
            </a:r>
            <a:r>
              <a:rPr lang="zh-CN" altLang="en-US" dirty="0"/>
              <a:t>。</a:t>
            </a:r>
          </a:p>
        </p:txBody>
      </p:sp>
      <p:sp>
        <p:nvSpPr>
          <p:cNvPr id="38919" name="Rectangle 16"/>
          <p:cNvSpPr>
            <a:spLocks noChangeArrowheads="1"/>
          </p:cNvSpPr>
          <p:nvPr/>
        </p:nvSpPr>
        <p:spPr bwMode="auto">
          <a:xfrm>
            <a:off x="1547813" y="4581525"/>
            <a:ext cx="5002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绕</a:t>
            </a:r>
            <a:r>
              <a:rPr lang="en-US" altLang="zh-CN" dirty="0"/>
              <a:t>x</a:t>
            </a:r>
            <a:r>
              <a:rPr lang="zh-CN" altLang="en-US" dirty="0"/>
              <a:t>轴的逆时针三维旋转变换矩阵为 </a:t>
            </a:r>
          </a:p>
        </p:txBody>
      </p:sp>
      <p:graphicFrame>
        <p:nvGraphicFramePr>
          <p:cNvPr id="38920" name="Object 12"/>
          <p:cNvGraphicFramePr>
            <a:graphicFrameLocks noChangeAspect="1"/>
          </p:cNvGraphicFramePr>
          <p:nvPr/>
        </p:nvGraphicFramePr>
        <p:xfrm>
          <a:off x="3563938" y="5065713"/>
          <a:ext cx="2952750" cy="1531937"/>
        </p:xfrm>
        <a:graphic>
          <a:graphicData uri="http://schemas.openxmlformats.org/presentationml/2006/ole">
            <mc:AlternateContent xmlns:mc="http://schemas.openxmlformats.org/markup-compatibility/2006">
              <mc:Choice xmlns:v="urn:schemas-microsoft-com:vml" Requires="v">
                <p:oleObj spid="_x0000_s38936" r:id="rId5" imgW="1766067" imgH="914797" progId="Equation.3">
                  <p:embed/>
                </p:oleObj>
              </mc:Choice>
              <mc:Fallback>
                <p:oleObj r:id="rId5" imgW="1766067" imgH="914797"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5065713"/>
                        <a:ext cx="29527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1" name="Rectangle 19"/>
          <p:cNvSpPr>
            <a:spLocks noChangeArrowheads="1"/>
          </p:cNvSpPr>
          <p:nvPr/>
        </p:nvSpPr>
        <p:spPr bwMode="auto">
          <a:xfrm>
            <a:off x="7643813" y="558958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6-32</a:t>
            </a:r>
            <a:r>
              <a:rPr lang="zh-CN" altLang="en-US"/>
              <a:t>） </a:t>
            </a:r>
          </a:p>
        </p:txBody>
      </p:sp>
      <p:sp>
        <p:nvSpPr>
          <p:cNvPr id="38922" name="Rectangle 20"/>
          <p:cNvSpPr>
            <a:spLocks noChangeArrowheads="1"/>
          </p:cNvSpPr>
          <p:nvPr/>
        </p:nvSpPr>
        <p:spPr bwMode="auto">
          <a:xfrm>
            <a:off x="395536" y="3353227"/>
            <a:ext cx="87484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smtClean="0"/>
              <a:t>同</a:t>
            </a:r>
            <a:r>
              <a:rPr lang="zh-CN" altLang="en-US" dirty="0"/>
              <a:t>二维坐标系的旋转变换类似，</a:t>
            </a:r>
            <a:r>
              <a:rPr lang="zh-CN" altLang="en-US" sz="1800" b="1" dirty="0">
                <a:solidFill>
                  <a:srgbClr val="3366FF"/>
                </a:solidFill>
                <a:latin typeface="方正粗黑宋简体" panose="02000000000000000000" pitchFamily="2" charset="-122"/>
                <a:ea typeface="方正粗黑宋简体" panose="02000000000000000000" pitchFamily="2" charset="-122"/>
              </a:rPr>
              <a:t>三维坐标系的旋转变化矩阵</a:t>
            </a:r>
            <a:r>
              <a:rPr lang="zh-CN" altLang="en-US" dirty="0"/>
              <a:t>应使用点变换的</a:t>
            </a:r>
            <a:r>
              <a:rPr lang="zh-CN" altLang="en-US" b="1" dirty="0">
                <a:solidFill>
                  <a:srgbClr val="FF0000"/>
                </a:solidFill>
                <a:latin typeface="黑体" panose="02010609060101010101" pitchFamily="49" charset="-122"/>
                <a:ea typeface="黑体" panose="02010609060101010101" pitchFamily="49" charset="-122"/>
              </a:rPr>
              <a:t>反向旋转变换</a:t>
            </a:r>
            <a:r>
              <a:rPr lang="zh-CN" altLang="en-US" dirty="0"/>
              <a:t>矩阵表示。</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ChangeArrowheads="1"/>
          </p:cNvSpPr>
          <p:nvPr/>
        </p:nvSpPr>
        <p:spPr bwMode="auto">
          <a:xfrm>
            <a:off x="1403350" y="331143"/>
            <a:ext cx="38715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800" b="1" dirty="0">
                <a:solidFill>
                  <a:srgbClr val="3366FF"/>
                </a:solidFill>
                <a:latin typeface="方正粗黑宋简体" panose="02000000000000000000" pitchFamily="2" charset="-122"/>
                <a:ea typeface="方正粗黑宋简体" panose="02000000000000000000" pitchFamily="2" charset="-122"/>
              </a:rPr>
              <a:t>绕</a:t>
            </a:r>
            <a:r>
              <a:rPr lang="en-US" altLang="zh-CN" sz="1800" b="1" dirty="0">
                <a:solidFill>
                  <a:srgbClr val="3366FF"/>
                </a:solidFill>
                <a:latin typeface="方正粗黑宋简体" panose="02000000000000000000" pitchFamily="2" charset="-122"/>
                <a:ea typeface="方正粗黑宋简体" panose="02000000000000000000" pitchFamily="2" charset="-122"/>
              </a:rPr>
              <a:t>y</a:t>
            </a:r>
            <a:r>
              <a:rPr lang="zh-CN" altLang="en-US" sz="1800" b="1" dirty="0">
                <a:solidFill>
                  <a:srgbClr val="3366FF"/>
                </a:solidFill>
                <a:latin typeface="方正粗黑宋简体" panose="02000000000000000000" pitchFamily="2" charset="-122"/>
                <a:ea typeface="方正粗黑宋简体" panose="02000000000000000000" pitchFamily="2" charset="-122"/>
              </a:rPr>
              <a:t>轴的逆时针三维旋转变换矩阵</a:t>
            </a:r>
            <a:r>
              <a:rPr lang="zh-CN" altLang="en-US" dirty="0"/>
              <a:t>为</a:t>
            </a:r>
          </a:p>
        </p:txBody>
      </p:sp>
      <p:graphicFrame>
        <p:nvGraphicFramePr>
          <p:cNvPr id="39939" name="Object 4"/>
          <p:cNvGraphicFramePr>
            <a:graphicFrameLocks noChangeAspect="1"/>
          </p:cNvGraphicFramePr>
          <p:nvPr/>
        </p:nvGraphicFramePr>
        <p:xfrm>
          <a:off x="2771775" y="981075"/>
          <a:ext cx="2879725" cy="1493838"/>
        </p:xfrm>
        <a:graphic>
          <a:graphicData uri="http://schemas.openxmlformats.org/presentationml/2006/ole">
            <mc:AlternateContent xmlns:mc="http://schemas.openxmlformats.org/markup-compatibility/2006">
              <mc:Choice xmlns:v="urn:schemas-microsoft-com:vml" Requires="v">
                <p:oleObj spid="_x0000_s39958" r:id="rId3" imgW="1766067" imgH="914797" progId="Equation.3">
                  <p:embed/>
                </p:oleObj>
              </mc:Choice>
              <mc:Fallback>
                <p:oleObj r:id="rId3" imgW="1766067" imgH="91479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981075"/>
                        <a:ext cx="2879725"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0" name="Rectangle 8"/>
          <p:cNvSpPr>
            <a:spLocks noChangeArrowheads="1"/>
          </p:cNvSpPr>
          <p:nvPr/>
        </p:nvSpPr>
        <p:spPr bwMode="auto">
          <a:xfrm>
            <a:off x="7380288" y="1412875"/>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6-33</a:t>
            </a:r>
            <a:r>
              <a:rPr lang="zh-CN" altLang="en-US"/>
              <a:t>） </a:t>
            </a:r>
          </a:p>
        </p:txBody>
      </p:sp>
      <p:sp>
        <p:nvSpPr>
          <p:cNvPr id="39941" name="Rectangle 9"/>
          <p:cNvSpPr>
            <a:spLocks noChangeArrowheads="1"/>
          </p:cNvSpPr>
          <p:nvPr/>
        </p:nvSpPr>
        <p:spPr bwMode="auto">
          <a:xfrm>
            <a:off x="1187450" y="2921943"/>
            <a:ext cx="38635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800" b="1" dirty="0">
                <a:solidFill>
                  <a:srgbClr val="3366FF"/>
                </a:solidFill>
                <a:latin typeface="方正粗黑宋简体" panose="02000000000000000000" pitchFamily="2" charset="-122"/>
                <a:ea typeface="方正粗黑宋简体" panose="02000000000000000000" pitchFamily="2" charset="-122"/>
              </a:rPr>
              <a:t>绕</a:t>
            </a:r>
            <a:r>
              <a:rPr lang="en-US" altLang="zh-CN" sz="1800" b="1" dirty="0">
                <a:solidFill>
                  <a:srgbClr val="3366FF"/>
                </a:solidFill>
                <a:latin typeface="方正粗黑宋简体" panose="02000000000000000000" pitchFamily="2" charset="-122"/>
                <a:ea typeface="方正粗黑宋简体" panose="02000000000000000000" pitchFamily="2" charset="-122"/>
              </a:rPr>
              <a:t>z</a:t>
            </a:r>
            <a:r>
              <a:rPr lang="zh-CN" altLang="en-US" sz="1800" b="1" dirty="0">
                <a:solidFill>
                  <a:srgbClr val="3366FF"/>
                </a:solidFill>
                <a:latin typeface="方正粗黑宋简体" panose="02000000000000000000" pitchFamily="2" charset="-122"/>
                <a:ea typeface="方正粗黑宋简体" panose="02000000000000000000" pitchFamily="2" charset="-122"/>
              </a:rPr>
              <a:t>轴的逆时针三维旋转变换矩阵</a:t>
            </a:r>
            <a:r>
              <a:rPr lang="zh-CN" altLang="en-US" dirty="0"/>
              <a:t>为</a:t>
            </a:r>
          </a:p>
        </p:txBody>
      </p:sp>
      <p:graphicFrame>
        <p:nvGraphicFramePr>
          <p:cNvPr id="39942" name="Object 8"/>
          <p:cNvGraphicFramePr>
            <a:graphicFrameLocks noChangeAspect="1"/>
          </p:cNvGraphicFramePr>
          <p:nvPr/>
        </p:nvGraphicFramePr>
        <p:xfrm>
          <a:off x="2843213" y="3644900"/>
          <a:ext cx="2808287" cy="1457325"/>
        </p:xfrm>
        <a:graphic>
          <a:graphicData uri="http://schemas.openxmlformats.org/presentationml/2006/ole">
            <mc:AlternateContent xmlns:mc="http://schemas.openxmlformats.org/markup-compatibility/2006">
              <mc:Choice xmlns:v="urn:schemas-microsoft-com:vml" Requires="v">
                <p:oleObj spid="_x0000_s39959" r:id="rId5" imgW="1766067" imgH="914797" progId="Equation.3">
                  <p:embed/>
                </p:oleObj>
              </mc:Choice>
              <mc:Fallback>
                <p:oleObj r:id="rId5" imgW="1766067" imgH="914797"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3644900"/>
                        <a:ext cx="2808287"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3" name="Rectangle 12"/>
          <p:cNvSpPr>
            <a:spLocks noChangeArrowheads="1"/>
          </p:cNvSpPr>
          <p:nvPr/>
        </p:nvSpPr>
        <p:spPr bwMode="auto">
          <a:xfrm>
            <a:off x="7451725" y="4292600"/>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6-34</a:t>
            </a:r>
            <a:r>
              <a:rPr lang="zh-CN" altLang="en-US"/>
              <a:t>） </a:t>
            </a:r>
          </a:p>
        </p:txBody>
      </p:sp>
      <p:sp>
        <p:nvSpPr>
          <p:cNvPr id="39944" name="Rectangle 13"/>
          <p:cNvSpPr>
            <a:spLocks noChangeArrowheads="1"/>
          </p:cNvSpPr>
          <p:nvPr/>
        </p:nvSpPr>
        <p:spPr bwMode="auto">
          <a:xfrm>
            <a:off x="1692275" y="5229225"/>
            <a:ext cx="302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β</a:t>
            </a:r>
            <a:r>
              <a:rPr lang="zh-CN" altLang="en-US"/>
              <a:t>为顺时针旋转角。 </a:t>
            </a:r>
          </a:p>
        </p:txBody>
      </p:sp>
      <p:sp>
        <p:nvSpPr>
          <p:cNvPr id="39945" name="Rectangle 14"/>
          <p:cNvSpPr>
            <a:spLocks noChangeArrowheads="1"/>
          </p:cNvSpPr>
          <p:nvPr/>
        </p:nvSpPr>
        <p:spPr bwMode="auto">
          <a:xfrm>
            <a:off x="1331913" y="6057255"/>
            <a:ext cx="75612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坐标系的三维</a:t>
            </a:r>
            <a:r>
              <a:rPr lang="zh-CN" altLang="en-US" sz="1800" b="1" dirty="0">
                <a:solidFill>
                  <a:srgbClr val="3366FF"/>
                </a:solidFill>
                <a:latin typeface="方正粗黑宋简体" panose="02000000000000000000" pitchFamily="2" charset="-122"/>
                <a:ea typeface="方正粗黑宋简体" panose="02000000000000000000" pitchFamily="2" charset="-122"/>
              </a:rPr>
              <a:t>反射变换</a:t>
            </a:r>
            <a:r>
              <a:rPr lang="zh-CN" altLang="en-US" dirty="0"/>
              <a:t>，直接采用</a:t>
            </a:r>
            <a:r>
              <a:rPr lang="zh-CN" altLang="en-US" sz="1800" b="1" dirty="0">
                <a:solidFill>
                  <a:srgbClr val="3366FF"/>
                </a:solidFill>
                <a:latin typeface="方正粗黑宋简体" panose="02000000000000000000" pitchFamily="2" charset="-122"/>
                <a:ea typeface="方正粗黑宋简体" panose="02000000000000000000" pitchFamily="2" charset="-122"/>
              </a:rPr>
              <a:t>点变换的反射变换矩阵 </a:t>
            </a:r>
            <a:r>
              <a:rPr lang="zh-CN" altLang="en-US"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ChangeArrowheads="1"/>
          </p:cNvSpPr>
          <p:nvPr/>
        </p:nvSpPr>
        <p:spPr bwMode="auto">
          <a:xfrm>
            <a:off x="4284663" y="5949950"/>
            <a:ext cx="180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投影变换分类</a:t>
            </a:r>
            <a:r>
              <a:rPr lang="zh-CN" altLang="en-US"/>
              <a:t> </a:t>
            </a:r>
            <a:endParaRPr lang="zh-CN" altLang="en-US">
              <a:latin typeface="楷体_GB2312" pitchFamily="49" charset="-122"/>
            </a:endParaRPr>
          </a:p>
        </p:txBody>
      </p:sp>
      <p:pic>
        <p:nvPicPr>
          <p:cNvPr id="40963" name="Picture 4" descr="未命名"/>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620688"/>
            <a:ext cx="6802438"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9"/>
          <p:cNvSpPr>
            <a:spLocks noChangeArrowheads="1"/>
          </p:cNvSpPr>
          <p:nvPr/>
        </p:nvSpPr>
        <p:spPr bwMode="auto">
          <a:xfrm>
            <a:off x="1403350" y="188913"/>
            <a:ext cx="3168650" cy="647700"/>
          </a:xfrm>
          <a:prstGeom prst="rect">
            <a:avLst/>
          </a:prstGeom>
          <a:noFill/>
          <a:ln w="9525">
            <a:noFill/>
            <a:miter lim="800000"/>
            <a:headEnd/>
            <a:tailEnd/>
          </a:ln>
        </p:spPr>
        <p:txBody>
          <a:bodyPr anchor="b"/>
          <a:lstStyle/>
          <a:p>
            <a:pPr eaLnBrk="1" hangingPunct="1">
              <a:buFont typeface="Arial" charset="0"/>
              <a:buNone/>
              <a:defRPr/>
            </a:pPr>
            <a:r>
              <a:rPr lang="en-US" altLang="zh-CN" sz="3200" b="1">
                <a:effectLst>
                  <a:outerShdw blurRad="38100" dist="38100" dir="2700000" algn="tl">
                    <a:srgbClr val="C0C0C0"/>
                  </a:outerShdw>
                </a:effectLst>
                <a:latin typeface="楷体_GB2312" pitchFamily="49" charset="-122"/>
              </a:rPr>
              <a:t>6.5 </a:t>
            </a:r>
            <a:r>
              <a:rPr lang="zh-CN" altLang="en-US" sz="3200" b="1">
                <a:effectLst>
                  <a:outerShdw blurRad="38100" dist="38100" dir="2700000" algn="tl">
                    <a:srgbClr val="C0C0C0"/>
                  </a:outerShdw>
                </a:effectLst>
                <a:latin typeface="楷体_GB2312" pitchFamily="49" charset="-122"/>
              </a:rPr>
              <a:t>平行投影</a:t>
            </a:r>
            <a:r>
              <a:rPr lang="zh-CN" altLang="en-US" sz="3200" b="1">
                <a:solidFill>
                  <a:srgbClr val="FF3300"/>
                </a:solidFill>
                <a:ea typeface="宋体" pitchFamily="2" charset="-122"/>
              </a:rPr>
              <a:t> </a:t>
            </a:r>
          </a:p>
        </p:txBody>
      </p:sp>
      <p:sp>
        <p:nvSpPr>
          <p:cNvPr id="41987" name="Rectangle 10"/>
          <p:cNvSpPr>
            <a:spLocks noChangeArrowheads="1"/>
          </p:cNvSpPr>
          <p:nvPr/>
        </p:nvSpPr>
        <p:spPr bwMode="auto">
          <a:xfrm>
            <a:off x="395536" y="1246869"/>
            <a:ext cx="8604002" cy="4967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由于显示器只能用二维图像表示三维物体，因此三维物体就要靠</a:t>
            </a:r>
            <a:r>
              <a:rPr lang="zh-CN" altLang="en-US" b="1" dirty="0">
                <a:solidFill>
                  <a:srgbClr val="FF0000"/>
                </a:solidFill>
                <a:latin typeface="黑体" panose="02010609060101010101" pitchFamily="49" charset="-122"/>
                <a:ea typeface="黑体" panose="02010609060101010101" pitchFamily="49" charset="-122"/>
              </a:rPr>
              <a:t>投影来降低维数得到二维平面图形</a:t>
            </a:r>
            <a:r>
              <a:rPr lang="zh-CN" altLang="en-US" dirty="0"/>
              <a:t>，因此把</a:t>
            </a:r>
            <a:r>
              <a:rPr lang="zh-CN" altLang="en-US" sz="1800" b="1" dirty="0">
                <a:solidFill>
                  <a:srgbClr val="3366FF"/>
                </a:solidFill>
                <a:latin typeface="方正粗黑宋简体" panose="02000000000000000000" pitchFamily="2" charset="-122"/>
                <a:ea typeface="方正粗黑宋简体" panose="02000000000000000000" pitchFamily="2" charset="-122"/>
              </a:rPr>
              <a:t>三维坐标</a:t>
            </a:r>
            <a:r>
              <a:rPr lang="zh-CN" altLang="en-US" dirty="0"/>
              <a:t>转变为二维坐标的过程称为</a:t>
            </a:r>
            <a:r>
              <a:rPr lang="zh-CN" altLang="en-US" b="1" dirty="0">
                <a:solidFill>
                  <a:srgbClr val="FF0000"/>
                </a:solidFill>
                <a:latin typeface="黑体" panose="02010609060101010101" pitchFamily="49" charset="-122"/>
                <a:ea typeface="黑体" panose="02010609060101010101" pitchFamily="49" charset="-122"/>
              </a:rPr>
              <a:t>投影变换</a:t>
            </a:r>
            <a:r>
              <a:rPr lang="zh-CN" altLang="en-US" dirty="0"/>
              <a:t>。</a:t>
            </a:r>
          </a:p>
          <a:p>
            <a:pPr eaLnBrk="1" hangingPunct="1">
              <a:lnSpc>
                <a:spcPct val="120000"/>
              </a:lnSpc>
              <a:buFont typeface="Arial" panose="020B0604020202020204" pitchFamily="34" charset="0"/>
              <a:buNone/>
            </a:pPr>
            <a:r>
              <a:rPr lang="zh-CN" altLang="en-US" dirty="0"/>
              <a:t>      根据投影中心与投影面之间的距离的不同，投影可分为</a:t>
            </a:r>
            <a:r>
              <a:rPr lang="zh-CN" altLang="en-US" b="1" dirty="0">
                <a:solidFill>
                  <a:srgbClr val="FF0000"/>
                </a:solidFill>
                <a:latin typeface="黑体" panose="02010609060101010101" pitchFamily="49" charset="-122"/>
                <a:ea typeface="黑体" panose="02010609060101010101" pitchFamily="49" charset="-122"/>
              </a:rPr>
              <a:t>平行投影和透视投影</a:t>
            </a:r>
            <a:r>
              <a:rPr lang="zh-CN" altLang="en-US" dirty="0"/>
              <a:t>。投影中心到投影面的距离为无限大时得到的投影称为</a:t>
            </a:r>
            <a:r>
              <a:rPr lang="zh-CN" altLang="en-US" b="1" dirty="0">
                <a:solidFill>
                  <a:srgbClr val="FF0000"/>
                </a:solidFill>
                <a:latin typeface="黑体" panose="02010609060101010101" pitchFamily="49" charset="-122"/>
                <a:ea typeface="黑体" panose="02010609060101010101" pitchFamily="49" charset="-122"/>
              </a:rPr>
              <a:t>平行投影</a:t>
            </a:r>
            <a:r>
              <a:rPr lang="zh-CN" altLang="en-US" dirty="0"/>
              <a:t>，而对于透视投影，这个距离是有限的。平行投影又可分为</a:t>
            </a:r>
            <a:r>
              <a:rPr lang="zh-CN" altLang="en-US" b="1" dirty="0">
                <a:solidFill>
                  <a:srgbClr val="FF0000"/>
                </a:solidFill>
                <a:latin typeface="黑体" panose="02010609060101010101" pitchFamily="49" charset="-122"/>
                <a:ea typeface="黑体" panose="02010609060101010101" pitchFamily="49" charset="-122"/>
              </a:rPr>
              <a:t>斜投影和正交投影</a:t>
            </a:r>
            <a:r>
              <a:rPr lang="zh-CN" altLang="en-US" dirty="0"/>
              <a:t>。投影方向不垂直于投影面的平行投影称为</a:t>
            </a:r>
            <a:r>
              <a:rPr lang="zh-CN" altLang="en-US" b="1" dirty="0">
                <a:solidFill>
                  <a:srgbClr val="FF0000"/>
                </a:solidFill>
                <a:latin typeface="黑体" panose="02010609060101010101" pitchFamily="49" charset="-122"/>
                <a:ea typeface="黑体" panose="02010609060101010101" pitchFamily="49" charset="-122"/>
              </a:rPr>
              <a:t>斜投影</a:t>
            </a:r>
            <a:r>
              <a:rPr lang="zh-CN" altLang="en-US" dirty="0"/>
              <a:t>，投影方向垂直于投影面的平行投影称为</a:t>
            </a:r>
            <a:r>
              <a:rPr lang="zh-CN" altLang="en-US" b="1" dirty="0">
                <a:solidFill>
                  <a:srgbClr val="FF0000"/>
                </a:solidFill>
                <a:latin typeface="黑体" panose="02010609060101010101" pitchFamily="49" charset="-122"/>
                <a:ea typeface="黑体" panose="02010609060101010101" pitchFamily="49" charset="-122"/>
              </a:rPr>
              <a:t>正交投影</a:t>
            </a:r>
            <a:r>
              <a:rPr lang="zh-CN" altLang="en-US" dirty="0"/>
              <a:t>。正交投影的最大特点是无论物体距离视点（眼睛或摄像机）多远，投影后的物体尺寸保持不变，常用于绘制物体的三视图。</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35843" name="Rectangle 13"/>
          <p:cNvSpPr>
            <a:spLocks noChangeArrowheads="1"/>
          </p:cNvSpPr>
          <p:nvPr/>
        </p:nvSpPr>
        <p:spPr bwMode="auto">
          <a:xfrm>
            <a:off x="1403350" y="188913"/>
            <a:ext cx="3457575"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a:effectLst>
                  <a:outerShdw blurRad="38100" dist="38100" dir="2700000" algn="tl">
                    <a:srgbClr val="C0C0C0"/>
                  </a:outerShdw>
                </a:effectLst>
                <a:latin typeface="楷体_GB2312" pitchFamily="49" charset="-122"/>
              </a:rPr>
              <a:t>6.5.1 </a:t>
            </a:r>
            <a:r>
              <a:rPr lang="zh-CN" altLang="en-US" b="1">
                <a:effectLst>
                  <a:outerShdw blurRad="38100" dist="38100" dir="2700000" algn="tl">
                    <a:srgbClr val="C0C0C0"/>
                  </a:outerShdw>
                </a:effectLst>
              </a:rPr>
              <a:t>正交投影矩阵</a:t>
            </a:r>
            <a:r>
              <a:rPr lang="zh-CN" altLang="en-US"/>
              <a:t>  </a:t>
            </a:r>
          </a:p>
        </p:txBody>
      </p:sp>
      <p:sp>
        <p:nvSpPr>
          <p:cNvPr id="43012" name="Rectangle 15"/>
          <p:cNvSpPr>
            <a:spLocks noChangeArrowheads="1"/>
          </p:cNvSpPr>
          <p:nvPr/>
        </p:nvSpPr>
        <p:spPr bwMode="auto">
          <a:xfrm>
            <a:off x="0"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43013" name="Object 5"/>
          <p:cNvGraphicFramePr>
            <a:graphicFrameLocks noChangeAspect="1"/>
          </p:cNvGraphicFramePr>
          <p:nvPr/>
        </p:nvGraphicFramePr>
        <p:xfrm>
          <a:off x="1692275" y="1341438"/>
          <a:ext cx="6408738" cy="1541462"/>
        </p:xfrm>
        <a:graphic>
          <a:graphicData uri="http://schemas.openxmlformats.org/presentationml/2006/ole">
            <mc:AlternateContent xmlns:mc="http://schemas.openxmlformats.org/markup-compatibility/2006">
              <mc:Choice xmlns:v="urn:schemas-microsoft-com:vml" Requires="v">
                <p:oleObj spid="_x0000_s43029" r:id="rId3" imgW="3797300" imgH="914400" progId="Equation.3">
                  <p:embed/>
                </p:oleObj>
              </mc:Choice>
              <mc:Fallback>
                <p:oleObj r:id="rId3" imgW="3797300" imgH="914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341438"/>
                        <a:ext cx="6408738" cy="15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4" name="Rectangle 17"/>
          <p:cNvSpPr>
            <a:spLocks noChangeArrowheads="1"/>
          </p:cNvSpPr>
          <p:nvPr/>
        </p:nvSpPr>
        <p:spPr bwMode="auto">
          <a:xfrm>
            <a:off x="3554413" y="2643188"/>
            <a:ext cx="8826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sz="1100"/>
          </a:p>
          <a:p>
            <a:pPr>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graphicFrame>
        <p:nvGraphicFramePr>
          <p:cNvPr id="43015" name="Object 7"/>
          <p:cNvGraphicFramePr>
            <a:graphicFrameLocks noChangeAspect="1"/>
          </p:cNvGraphicFramePr>
          <p:nvPr/>
        </p:nvGraphicFramePr>
        <p:xfrm>
          <a:off x="3708400" y="3933825"/>
          <a:ext cx="2232025" cy="1771650"/>
        </p:xfrm>
        <a:graphic>
          <a:graphicData uri="http://schemas.openxmlformats.org/presentationml/2006/ole">
            <mc:AlternateContent xmlns:mc="http://schemas.openxmlformats.org/markup-compatibility/2006">
              <mc:Choice xmlns:v="urn:schemas-microsoft-com:vml" Requires="v">
                <p:oleObj spid="_x0000_s43030" r:id="rId5" imgW="1156202" imgH="914797" progId="Equation.3">
                  <p:embed/>
                </p:oleObj>
              </mc:Choice>
              <mc:Fallback>
                <p:oleObj r:id="rId5" imgW="1156202" imgH="914797"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3933825"/>
                        <a:ext cx="2232025"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6" name="Rectangle 19"/>
          <p:cNvSpPr>
            <a:spLocks noChangeArrowheads="1"/>
          </p:cNvSpPr>
          <p:nvPr/>
        </p:nvSpPr>
        <p:spPr bwMode="auto">
          <a:xfrm>
            <a:off x="1476375" y="2924175"/>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正交投影矩阵为</a:t>
            </a:r>
          </a:p>
        </p:txBody>
      </p:sp>
      <p:sp>
        <p:nvSpPr>
          <p:cNvPr id="43017" name="Rectangle 20"/>
          <p:cNvSpPr>
            <a:spLocks noChangeArrowheads="1"/>
          </p:cNvSpPr>
          <p:nvPr/>
        </p:nvSpPr>
        <p:spPr bwMode="auto">
          <a:xfrm>
            <a:off x="7524750" y="4581525"/>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6-35</a:t>
            </a:r>
            <a:r>
              <a:rPr lang="zh-CN" altLang="en-US"/>
              <a:t>）</a:t>
            </a:r>
          </a:p>
        </p:txBody>
      </p:sp>
      <p:sp>
        <p:nvSpPr>
          <p:cNvPr id="43018" name="Rectangle 21"/>
          <p:cNvSpPr>
            <a:spLocks noChangeArrowheads="1"/>
          </p:cNvSpPr>
          <p:nvPr/>
        </p:nvSpPr>
        <p:spPr bwMode="auto">
          <a:xfrm>
            <a:off x="1476375" y="908050"/>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正交投影变换</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4034"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476250"/>
            <a:ext cx="266541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476250"/>
            <a:ext cx="2735263" cy="194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17"/>
          <p:cNvSpPr>
            <a:spLocks noChangeArrowheads="1"/>
          </p:cNvSpPr>
          <p:nvPr/>
        </p:nvSpPr>
        <p:spPr bwMode="auto">
          <a:xfrm>
            <a:off x="4400550" y="3302000"/>
            <a:ext cx="342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44037" name="Rectangle 18"/>
          <p:cNvSpPr>
            <a:spLocks noChangeArrowheads="1"/>
          </p:cNvSpPr>
          <p:nvPr/>
        </p:nvSpPr>
        <p:spPr bwMode="auto">
          <a:xfrm>
            <a:off x="3851275" y="2924175"/>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hlinkClick r:id="rId4" action="ppaction://hlinkfile"/>
              </a:rPr>
              <a:t>立方体正交投影</a:t>
            </a:r>
            <a:endParaRPr lang="zh-CN" altLang="en-US"/>
          </a:p>
        </p:txBody>
      </p:sp>
      <p:sp>
        <p:nvSpPr>
          <p:cNvPr id="36872" name="Rectangle 19"/>
          <p:cNvSpPr>
            <a:spLocks noChangeArrowheads="1"/>
          </p:cNvSpPr>
          <p:nvPr/>
        </p:nvSpPr>
        <p:spPr bwMode="auto">
          <a:xfrm>
            <a:off x="1258888" y="3500438"/>
            <a:ext cx="2233612"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a:effectLst>
                  <a:outerShdw blurRad="38100" dist="38100" dir="2700000" algn="tl">
                    <a:srgbClr val="C0C0C0"/>
                  </a:outerShdw>
                </a:effectLst>
                <a:latin typeface="楷体_GB2312" pitchFamily="49" charset="-122"/>
              </a:rPr>
              <a:t>6.5.2 </a:t>
            </a:r>
            <a:r>
              <a:rPr lang="zh-CN" altLang="en-US" b="1">
                <a:effectLst>
                  <a:outerShdw blurRad="38100" dist="38100" dir="2700000" algn="tl">
                    <a:srgbClr val="C0C0C0"/>
                  </a:outerShdw>
                </a:effectLst>
              </a:rPr>
              <a:t>三视图</a:t>
            </a:r>
            <a:r>
              <a:rPr lang="zh-CN" altLang="en-US"/>
              <a:t>  </a:t>
            </a:r>
          </a:p>
        </p:txBody>
      </p:sp>
      <p:sp>
        <p:nvSpPr>
          <p:cNvPr id="44039" name="Rectangle 20"/>
          <p:cNvSpPr>
            <a:spLocks noChangeArrowheads="1"/>
          </p:cNvSpPr>
          <p:nvPr/>
        </p:nvSpPr>
        <p:spPr bwMode="auto">
          <a:xfrm>
            <a:off x="1476375" y="4221163"/>
            <a:ext cx="7416800"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40000"/>
              </a:lnSpc>
              <a:buFont typeface="Arial" panose="020B0604020202020204" pitchFamily="34" charset="0"/>
              <a:buNone/>
            </a:pPr>
            <a:r>
              <a:rPr lang="zh-CN" altLang="en-US" dirty="0"/>
              <a:t>     一个物体有</a:t>
            </a:r>
            <a:r>
              <a:rPr lang="en-US" altLang="zh-CN" b="1" dirty="0">
                <a:solidFill>
                  <a:srgbClr val="FF0000"/>
                </a:solidFill>
                <a:latin typeface="黑体" panose="02010609060101010101" pitchFamily="49" charset="-122"/>
                <a:ea typeface="黑体" panose="02010609060101010101" pitchFamily="49" charset="-122"/>
              </a:rPr>
              <a:t>6</a:t>
            </a:r>
            <a:r>
              <a:rPr lang="zh-CN" altLang="en-US" dirty="0"/>
              <a:t>个视图：从物体的前面向后面投射所得的视图称</a:t>
            </a:r>
            <a:r>
              <a:rPr lang="zh-CN" altLang="en-US" b="1" dirty="0">
                <a:solidFill>
                  <a:srgbClr val="FF0000"/>
                </a:solidFill>
                <a:latin typeface="黑体" panose="02010609060101010101" pitchFamily="49" charset="-122"/>
                <a:ea typeface="黑体" panose="02010609060101010101" pitchFamily="49" charset="-122"/>
              </a:rPr>
              <a:t>主视图</a:t>
            </a:r>
            <a:r>
              <a:rPr lang="zh-CN" altLang="en-US" dirty="0"/>
              <a:t>，从物体的上面向下面投射所得的视图称</a:t>
            </a:r>
            <a:r>
              <a:rPr lang="zh-CN" altLang="en-US" b="1" dirty="0">
                <a:solidFill>
                  <a:srgbClr val="FF0000"/>
                </a:solidFill>
                <a:latin typeface="黑体" panose="02010609060101010101" pitchFamily="49" charset="-122"/>
                <a:ea typeface="黑体" panose="02010609060101010101" pitchFamily="49" charset="-122"/>
              </a:rPr>
              <a:t>俯视图</a:t>
            </a:r>
            <a:r>
              <a:rPr lang="zh-CN" altLang="en-US" dirty="0"/>
              <a:t>，从物体的左面向右面投射所得的视图称</a:t>
            </a:r>
            <a:r>
              <a:rPr lang="zh-CN" altLang="en-US" b="1" dirty="0">
                <a:solidFill>
                  <a:srgbClr val="FF0000"/>
                </a:solidFill>
                <a:latin typeface="黑体" panose="02010609060101010101" pitchFamily="49" charset="-122"/>
                <a:ea typeface="黑体" panose="02010609060101010101" pitchFamily="49" charset="-122"/>
              </a:rPr>
              <a:t>侧视图</a:t>
            </a:r>
            <a:r>
              <a:rPr lang="zh-CN" altLang="en-US" dirty="0"/>
              <a:t>，还有其它三个视图不是很常用。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8" name="Object 16"/>
          <p:cNvGraphicFramePr>
            <a:graphicFrameLocks noChangeAspect="1"/>
          </p:cNvGraphicFramePr>
          <p:nvPr/>
        </p:nvGraphicFramePr>
        <p:xfrm>
          <a:off x="1835150" y="260350"/>
          <a:ext cx="2592388" cy="2568575"/>
        </p:xfrm>
        <a:graphic>
          <a:graphicData uri="http://schemas.openxmlformats.org/presentationml/2006/ole">
            <mc:AlternateContent xmlns:mc="http://schemas.openxmlformats.org/markup-compatibility/2006">
              <mc:Choice xmlns:v="urn:schemas-microsoft-com:vml" Requires="v">
                <p:oleObj spid="_x0000_s45090" r:id="rId3" imgW="4348582" imgH="3286963" progId="Visio.Drawing.11">
                  <p:embed/>
                </p:oleObj>
              </mc:Choice>
              <mc:Fallback>
                <p:oleObj r:id="rId3" imgW="4348582" imgH="3286963" progId="Visio.Drawing.11">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l="12474" r="11555"/>
                      <a:stretch>
                        <a:fillRect/>
                      </a:stretch>
                    </p:blipFill>
                    <p:spPr bwMode="auto">
                      <a:xfrm>
                        <a:off x="1835150" y="260350"/>
                        <a:ext cx="2592388" cy="256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59" name="Object 15"/>
          <p:cNvGraphicFramePr>
            <a:graphicFrameLocks noChangeAspect="1"/>
          </p:cNvGraphicFramePr>
          <p:nvPr/>
        </p:nvGraphicFramePr>
        <p:xfrm>
          <a:off x="5219700" y="331788"/>
          <a:ext cx="3240088" cy="2593975"/>
        </p:xfrm>
        <a:graphic>
          <a:graphicData uri="http://schemas.openxmlformats.org/presentationml/2006/ole">
            <mc:AlternateContent xmlns:mc="http://schemas.openxmlformats.org/markup-compatibility/2006">
              <mc:Choice xmlns:v="urn:schemas-microsoft-com:vml" Requires="v">
                <p:oleObj spid="_x0000_s45091" r:id="rId5" imgW="4528718" imgH="2746858" progId="Visio.Drawing.11">
                  <p:embed/>
                </p:oleObj>
              </mc:Choice>
              <mc:Fallback>
                <p:oleObj r:id="rId5" imgW="4528718" imgH="2746858" progId="Visio.Drawing.11">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l="13054" r="11638"/>
                      <a:stretch>
                        <a:fillRect/>
                      </a:stretch>
                    </p:blipFill>
                    <p:spPr bwMode="auto">
                      <a:xfrm>
                        <a:off x="5219700" y="331788"/>
                        <a:ext cx="3240088"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Text Box 18"/>
          <p:cNvSpPr txBox="1">
            <a:spLocks noChangeArrowheads="1"/>
          </p:cNvSpPr>
          <p:nvPr/>
        </p:nvSpPr>
        <p:spPr bwMode="auto">
          <a:xfrm>
            <a:off x="5292725" y="476250"/>
            <a:ext cx="2873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V</a:t>
            </a:r>
            <a:endParaRPr lang="en-US" altLang="zh-CN" sz="2000">
              <a:latin typeface="Arial" panose="020B0604020202020204" pitchFamily="34" charset="0"/>
              <a:ea typeface="宋体" panose="02010600030101010101" pitchFamily="2" charset="-122"/>
            </a:endParaRPr>
          </a:p>
        </p:txBody>
      </p:sp>
      <p:sp>
        <p:nvSpPr>
          <p:cNvPr id="45061" name="Text Box 17"/>
          <p:cNvSpPr txBox="1">
            <a:spLocks noChangeArrowheads="1"/>
          </p:cNvSpPr>
          <p:nvPr/>
        </p:nvSpPr>
        <p:spPr bwMode="auto">
          <a:xfrm>
            <a:off x="5857875" y="2357438"/>
            <a:ext cx="3524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H</a:t>
            </a:r>
            <a:endParaRPr lang="en-US" altLang="zh-CN" sz="2000">
              <a:latin typeface="Arial" panose="020B0604020202020204" pitchFamily="34" charset="0"/>
              <a:ea typeface="宋体" panose="02010600030101010101" pitchFamily="2" charset="-122"/>
            </a:endParaRPr>
          </a:p>
        </p:txBody>
      </p:sp>
      <p:sp>
        <p:nvSpPr>
          <p:cNvPr id="45062" name="Text Box 19"/>
          <p:cNvSpPr txBox="1">
            <a:spLocks noChangeArrowheads="1"/>
          </p:cNvSpPr>
          <p:nvPr/>
        </p:nvSpPr>
        <p:spPr bwMode="auto">
          <a:xfrm>
            <a:off x="7956550" y="547688"/>
            <a:ext cx="312738"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W</a:t>
            </a:r>
            <a:endParaRPr lang="en-US" altLang="zh-CN" sz="2000">
              <a:latin typeface="Arial" panose="020B0604020202020204" pitchFamily="34" charset="0"/>
              <a:ea typeface="宋体" panose="02010600030101010101" pitchFamily="2" charset="-122"/>
            </a:endParaRPr>
          </a:p>
        </p:txBody>
      </p:sp>
      <p:sp>
        <p:nvSpPr>
          <p:cNvPr id="45063" name="Rectangle 20"/>
          <p:cNvSpPr>
            <a:spLocks noChangeArrowheads="1"/>
          </p:cNvSpPr>
          <p:nvPr/>
        </p:nvSpPr>
        <p:spPr bwMode="auto">
          <a:xfrm>
            <a:off x="0" y="77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540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latin typeface="Arial" panose="020B0604020202020204" pitchFamily="34" charset="0"/>
              <a:ea typeface="宋体" panose="02010600030101010101" pitchFamily="2" charset="-122"/>
            </a:endParaRPr>
          </a:p>
        </p:txBody>
      </p:sp>
      <p:sp>
        <p:nvSpPr>
          <p:cNvPr id="45064" name="Rectangle 21"/>
          <p:cNvSpPr>
            <a:spLocks noChangeArrowheads="1"/>
          </p:cNvSpPr>
          <p:nvPr/>
        </p:nvSpPr>
        <p:spPr bwMode="auto">
          <a:xfrm>
            <a:off x="0" y="779463"/>
            <a:ext cx="26828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sz="1100"/>
          </a:p>
          <a:p>
            <a:pPr>
              <a:buFont typeface="Arial" panose="020B0604020202020204" pitchFamily="34" charset="0"/>
              <a:buNone/>
            </a:pPr>
            <a:r>
              <a:rPr lang="zh-CN" altLang="en-US">
                <a:latin typeface="Arial" panose="020B0604020202020204" pitchFamily="34" charset="0"/>
                <a:ea typeface="宋体" panose="02010600030101010101" pitchFamily="2" charset="-122"/>
              </a:rPr>
              <a:t> </a:t>
            </a:r>
          </a:p>
        </p:txBody>
      </p:sp>
      <p:sp>
        <p:nvSpPr>
          <p:cNvPr id="45065" name="Rectangle 22"/>
          <p:cNvSpPr>
            <a:spLocks noChangeArrowheads="1"/>
          </p:cNvSpPr>
          <p:nvPr/>
        </p:nvSpPr>
        <p:spPr bwMode="auto">
          <a:xfrm>
            <a:off x="0" y="3424238"/>
            <a:ext cx="520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Arial" panose="020B0604020202020204" pitchFamily="34" charset="0"/>
                <a:ea typeface="宋体" panose="02010600030101010101" pitchFamily="2" charset="-122"/>
              </a:rPr>
              <a:t>    </a:t>
            </a:r>
          </a:p>
        </p:txBody>
      </p:sp>
      <p:sp>
        <p:nvSpPr>
          <p:cNvPr id="45066" name="Rectangle 23"/>
          <p:cNvSpPr>
            <a:spLocks noChangeArrowheads="1"/>
          </p:cNvSpPr>
          <p:nvPr/>
        </p:nvSpPr>
        <p:spPr bwMode="auto">
          <a:xfrm>
            <a:off x="2170113" y="3070225"/>
            <a:ext cx="615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2000">
                <a:latin typeface="楷体_GB2312" pitchFamily="49" charset="-122"/>
                <a:cs typeface="Times New Roman" panose="02020603050405020304" pitchFamily="18" charset="0"/>
              </a:rPr>
              <a:t>图</a:t>
            </a:r>
            <a:r>
              <a:rPr lang="en-US" altLang="zh-CN" sz="2000">
                <a:latin typeface="楷体_GB2312" pitchFamily="49" charset="-122"/>
                <a:cs typeface="Times New Roman" panose="02020603050405020304" pitchFamily="18" charset="0"/>
              </a:rPr>
              <a:t>6-8</a:t>
            </a:r>
            <a:r>
              <a:rPr lang="zh-CN" altLang="en-US" sz="2000">
                <a:latin typeface="楷体_GB2312" pitchFamily="49" charset="-122"/>
                <a:cs typeface="Times New Roman" panose="02020603050405020304" pitchFamily="18" charset="0"/>
              </a:rPr>
              <a:t>正三棱柱的立体图     图</a:t>
            </a:r>
            <a:r>
              <a:rPr lang="en-US" altLang="zh-CN" sz="2000">
                <a:latin typeface="楷体_GB2312" pitchFamily="49" charset="-122"/>
                <a:cs typeface="Times New Roman" panose="02020603050405020304" pitchFamily="18" charset="0"/>
              </a:rPr>
              <a:t>6-9</a:t>
            </a:r>
            <a:r>
              <a:rPr lang="zh-CN" altLang="en-US" sz="2000">
                <a:latin typeface="楷体_GB2312" pitchFamily="49" charset="-122"/>
                <a:cs typeface="Times New Roman" panose="02020603050405020304" pitchFamily="18" charset="0"/>
              </a:rPr>
              <a:t>正三棱柱的三视图</a:t>
            </a:r>
          </a:p>
        </p:txBody>
      </p:sp>
      <p:sp>
        <p:nvSpPr>
          <p:cNvPr id="45067" name="Text Box 24"/>
          <p:cNvSpPr txBox="1">
            <a:spLocks noChangeArrowheads="1"/>
          </p:cNvSpPr>
          <p:nvPr/>
        </p:nvSpPr>
        <p:spPr bwMode="auto">
          <a:xfrm>
            <a:off x="1476375" y="3789363"/>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1.</a:t>
            </a:r>
            <a:r>
              <a:rPr lang="zh-CN" altLang="en-US"/>
              <a:t>主视图</a:t>
            </a:r>
          </a:p>
        </p:txBody>
      </p:sp>
      <p:sp>
        <p:nvSpPr>
          <p:cNvPr id="45068" name="Rectangle 25"/>
          <p:cNvSpPr>
            <a:spLocks noChangeArrowheads="1"/>
          </p:cNvSpPr>
          <p:nvPr/>
        </p:nvSpPr>
        <p:spPr bwMode="auto">
          <a:xfrm>
            <a:off x="1619250" y="4365625"/>
            <a:ext cx="7129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将正三棱柱向</a:t>
            </a:r>
            <a:r>
              <a:rPr lang="en-US" altLang="zh-CN" b="1" dirty="0" err="1">
                <a:solidFill>
                  <a:srgbClr val="FF0000"/>
                </a:solidFill>
                <a:latin typeface="黑体" panose="02010609060101010101" pitchFamily="49" charset="-122"/>
                <a:ea typeface="黑体" panose="02010609060101010101" pitchFamily="49" charset="-122"/>
              </a:rPr>
              <a:t>yOz</a:t>
            </a:r>
            <a:r>
              <a:rPr lang="zh-CN" altLang="en-US" dirty="0"/>
              <a:t>面做正交投影，得到主视图。 </a:t>
            </a:r>
          </a:p>
        </p:txBody>
      </p:sp>
      <p:graphicFrame>
        <p:nvGraphicFramePr>
          <p:cNvPr id="45069" name="Object 4"/>
          <p:cNvGraphicFramePr>
            <a:graphicFrameLocks noChangeAspect="1"/>
          </p:cNvGraphicFramePr>
          <p:nvPr/>
        </p:nvGraphicFramePr>
        <p:xfrm>
          <a:off x="4067175" y="5013325"/>
          <a:ext cx="2592388" cy="1471613"/>
        </p:xfrm>
        <a:graphic>
          <a:graphicData uri="http://schemas.openxmlformats.org/presentationml/2006/ole">
            <mc:AlternateContent xmlns:mc="http://schemas.openxmlformats.org/markup-compatibility/2006">
              <mc:Choice xmlns:v="urn:schemas-microsoft-com:vml" Requires="v">
                <p:oleObj spid="_x0000_s45092" r:id="rId7" imgW="1613600" imgH="914797" progId="Equation.3">
                  <p:embed/>
                </p:oleObj>
              </mc:Choice>
              <mc:Fallback>
                <p:oleObj r:id="rId7" imgW="1613600" imgH="91479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175" y="5013325"/>
                        <a:ext cx="2592388"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70" name="Rectangle 29"/>
          <p:cNvSpPr>
            <a:spLocks noChangeArrowheads="1"/>
          </p:cNvSpPr>
          <p:nvPr/>
        </p:nvSpPr>
        <p:spPr bwMode="auto">
          <a:xfrm>
            <a:off x="1692275" y="5013325"/>
            <a:ext cx="2658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b="1" dirty="0">
                <a:solidFill>
                  <a:srgbClr val="FF0000"/>
                </a:solidFill>
                <a:latin typeface="黑体" panose="02010609060101010101" pitchFamily="49" charset="-122"/>
                <a:ea typeface="黑体" panose="02010609060101010101" pitchFamily="49" charset="-122"/>
              </a:rPr>
              <a:t>主视图变换矩阵</a:t>
            </a:r>
            <a:r>
              <a:rPr lang="zh-CN" altLang="en-US" dirty="0"/>
              <a:t>为</a:t>
            </a:r>
          </a:p>
        </p:txBody>
      </p:sp>
      <p:sp>
        <p:nvSpPr>
          <p:cNvPr id="45071" name="Rectangle 30"/>
          <p:cNvSpPr>
            <a:spLocks noChangeArrowheads="1"/>
          </p:cNvSpPr>
          <p:nvPr/>
        </p:nvSpPr>
        <p:spPr bwMode="auto">
          <a:xfrm>
            <a:off x="7535863" y="551656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6-36</a:t>
            </a:r>
            <a:r>
              <a:rPr lang="zh-CN" altLang="en-US"/>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0"/>
          <p:cNvSpPr txBox="1">
            <a:spLocks noChangeArrowheads="1"/>
          </p:cNvSpPr>
          <p:nvPr/>
        </p:nvSpPr>
        <p:spPr bwMode="auto">
          <a:xfrm>
            <a:off x="1403350" y="260350"/>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2.</a:t>
            </a:r>
            <a:r>
              <a:rPr lang="zh-CN" altLang="en-US"/>
              <a:t>俯视图</a:t>
            </a:r>
          </a:p>
        </p:txBody>
      </p:sp>
      <p:sp>
        <p:nvSpPr>
          <p:cNvPr id="46083" name="Rectangle 11"/>
          <p:cNvSpPr>
            <a:spLocks noChangeArrowheads="1"/>
          </p:cNvSpPr>
          <p:nvPr/>
        </p:nvSpPr>
        <p:spPr bwMode="auto">
          <a:xfrm>
            <a:off x="611561" y="981075"/>
            <a:ext cx="734816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将正三棱柱向</a:t>
            </a:r>
            <a:r>
              <a:rPr lang="en-US" altLang="zh-CN" b="1" dirty="0" err="1">
                <a:solidFill>
                  <a:srgbClr val="FF0000"/>
                </a:solidFill>
                <a:latin typeface="黑体" panose="02010609060101010101" pitchFamily="49" charset="-122"/>
                <a:ea typeface="黑体" panose="02010609060101010101" pitchFamily="49" charset="-122"/>
              </a:rPr>
              <a:t>xOz</a:t>
            </a:r>
            <a:r>
              <a:rPr lang="zh-CN" altLang="en-US" dirty="0"/>
              <a:t>面做正交投影得到俯视图。 </a:t>
            </a:r>
          </a:p>
        </p:txBody>
      </p:sp>
      <p:graphicFrame>
        <p:nvGraphicFramePr>
          <p:cNvPr id="46084" name="Object 6"/>
          <p:cNvGraphicFramePr>
            <a:graphicFrameLocks noChangeAspect="1"/>
          </p:cNvGraphicFramePr>
          <p:nvPr/>
        </p:nvGraphicFramePr>
        <p:xfrm>
          <a:off x="3419475" y="2060575"/>
          <a:ext cx="2087563" cy="1495425"/>
        </p:xfrm>
        <a:graphic>
          <a:graphicData uri="http://schemas.openxmlformats.org/presentationml/2006/ole">
            <mc:AlternateContent xmlns:mc="http://schemas.openxmlformats.org/markup-compatibility/2006">
              <mc:Choice xmlns:v="urn:schemas-microsoft-com:vml" Requires="v">
                <p:oleObj spid="_x0000_s46100" r:id="rId3" imgW="1283257" imgH="914797" progId="Equation.3">
                  <p:embed/>
                </p:oleObj>
              </mc:Choice>
              <mc:Fallback>
                <p:oleObj r:id="rId3" imgW="1283257" imgH="914797"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2060575"/>
                        <a:ext cx="2087563"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5" name="Rectangle 14"/>
          <p:cNvSpPr>
            <a:spLocks noChangeArrowheads="1"/>
          </p:cNvSpPr>
          <p:nvPr/>
        </p:nvSpPr>
        <p:spPr bwMode="auto">
          <a:xfrm>
            <a:off x="611561" y="3785027"/>
            <a:ext cx="82085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smtClean="0"/>
              <a:t>为了</a:t>
            </a:r>
            <a:r>
              <a:rPr lang="zh-CN" altLang="en-US" dirty="0"/>
              <a:t>在</a:t>
            </a:r>
            <a:r>
              <a:rPr lang="en-US" altLang="zh-CN" b="1" dirty="0" err="1">
                <a:solidFill>
                  <a:srgbClr val="FF0000"/>
                </a:solidFill>
                <a:latin typeface="黑体" panose="02010609060101010101" pitchFamily="49" charset="-122"/>
                <a:ea typeface="黑体" panose="02010609060101010101" pitchFamily="49" charset="-122"/>
              </a:rPr>
              <a:t>yOz</a:t>
            </a:r>
            <a:r>
              <a:rPr lang="zh-CN" altLang="en-US" dirty="0"/>
              <a:t>平面内表示俯视图，需要将</a:t>
            </a:r>
            <a:r>
              <a:rPr lang="en-US" altLang="zh-CN" b="1" dirty="0" err="1">
                <a:solidFill>
                  <a:srgbClr val="FF0000"/>
                </a:solidFill>
                <a:latin typeface="黑体" panose="02010609060101010101" pitchFamily="49" charset="-122"/>
                <a:ea typeface="黑体" panose="02010609060101010101" pitchFamily="49" charset="-122"/>
              </a:rPr>
              <a:t>xOz</a:t>
            </a:r>
            <a:r>
              <a:rPr lang="zh-CN" altLang="en-US" dirty="0"/>
              <a:t>面绕</a:t>
            </a:r>
            <a:r>
              <a:rPr lang="en-US" altLang="zh-CN" b="1" dirty="0">
                <a:solidFill>
                  <a:srgbClr val="FF0000"/>
                </a:solidFill>
                <a:latin typeface="黑体" panose="02010609060101010101" pitchFamily="49" charset="-122"/>
                <a:ea typeface="黑体" panose="02010609060101010101" pitchFamily="49" charset="-122"/>
              </a:rPr>
              <a:t>z</a:t>
            </a:r>
            <a:r>
              <a:rPr lang="zh-CN" altLang="en-US" dirty="0"/>
              <a:t>轴顺时针旋转</a:t>
            </a:r>
            <a:r>
              <a:rPr lang="en-US" altLang="zh-CN" dirty="0"/>
              <a:t>90°</a:t>
            </a:r>
            <a:r>
              <a:rPr lang="zh-CN" altLang="en-US" dirty="0"/>
              <a:t>，旋转变换矩阵为 </a:t>
            </a:r>
          </a:p>
        </p:txBody>
      </p:sp>
      <p:sp>
        <p:nvSpPr>
          <p:cNvPr id="46086" name="Rectangle 15"/>
          <p:cNvSpPr>
            <a:spLocks noChangeArrowheads="1"/>
          </p:cNvSpPr>
          <p:nvPr/>
        </p:nvSpPr>
        <p:spPr bwMode="auto">
          <a:xfrm>
            <a:off x="1403350" y="1555750"/>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投影变换矩阵为</a:t>
            </a:r>
          </a:p>
        </p:txBody>
      </p:sp>
      <p:graphicFrame>
        <p:nvGraphicFramePr>
          <p:cNvPr id="46087" name="Object 10"/>
          <p:cNvGraphicFramePr>
            <a:graphicFrameLocks noChangeAspect="1"/>
          </p:cNvGraphicFramePr>
          <p:nvPr/>
        </p:nvGraphicFramePr>
        <p:xfrm>
          <a:off x="2411413" y="4724400"/>
          <a:ext cx="5473700" cy="1906588"/>
        </p:xfrm>
        <a:graphic>
          <a:graphicData uri="http://schemas.openxmlformats.org/presentationml/2006/ole">
            <mc:AlternateContent xmlns:mc="http://schemas.openxmlformats.org/markup-compatibility/2006">
              <mc:Choice xmlns:v="urn:schemas-microsoft-com:vml" Requires="v">
                <p:oleObj spid="_x0000_s46101" r:id="rId5" imgW="3365500" imgH="1168400" progId="Equation.3">
                  <p:embed/>
                </p:oleObj>
              </mc:Choice>
              <mc:Fallback>
                <p:oleObj r:id="rId5" imgW="3365500" imgH="11684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4724400"/>
                        <a:ext cx="5473700" cy="190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0"/>
          <p:cNvSpPr>
            <a:spLocks noChangeArrowheads="1"/>
          </p:cNvSpPr>
          <p:nvPr/>
        </p:nvSpPr>
        <p:spPr bwMode="auto">
          <a:xfrm>
            <a:off x="1187450" y="260350"/>
            <a:ext cx="670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俯视图的变换矩阵为上述</a:t>
            </a:r>
            <a:r>
              <a:rPr lang="en-US" altLang="zh-CN"/>
              <a:t>2</a:t>
            </a:r>
            <a:r>
              <a:rPr lang="zh-CN" altLang="en-US"/>
              <a:t>个变换矩阵的乘积。</a:t>
            </a:r>
          </a:p>
        </p:txBody>
      </p:sp>
      <p:sp>
        <p:nvSpPr>
          <p:cNvPr id="47107"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47108" name="Object 4"/>
          <p:cNvGraphicFramePr>
            <a:graphicFrameLocks noChangeAspect="1"/>
          </p:cNvGraphicFramePr>
          <p:nvPr/>
        </p:nvGraphicFramePr>
        <p:xfrm>
          <a:off x="2484438" y="908050"/>
          <a:ext cx="4752975" cy="1490663"/>
        </p:xfrm>
        <a:graphic>
          <a:graphicData uri="http://schemas.openxmlformats.org/presentationml/2006/ole">
            <mc:AlternateContent xmlns:mc="http://schemas.openxmlformats.org/markup-compatibility/2006">
              <mc:Choice xmlns:v="urn:schemas-microsoft-com:vml" Requires="v">
                <p:oleObj spid="_x0000_s47136" r:id="rId3" imgW="2921000" imgH="914400" progId="Equation.3">
                  <p:embed/>
                </p:oleObj>
              </mc:Choice>
              <mc:Fallback>
                <p:oleObj r:id="rId3" imgW="2921000" imgH="914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908050"/>
                        <a:ext cx="4752975"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9" name="Rectangle 24"/>
          <p:cNvSpPr>
            <a:spLocks noChangeArrowheads="1"/>
          </p:cNvSpPr>
          <p:nvPr/>
        </p:nvSpPr>
        <p:spPr bwMode="auto">
          <a:xfrm>
            <a:off x="0"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47110" name="Object 6"/>
          <p:cNvGraphicFramePr>
            <a:graphicFrameLocks noChangeAspect="1"/>
          </p:cNvGraphicFramePr>
          <p:nvPr/>
        </p:nvGraphicFramePr>
        <p:xfrm>
          <a:off x="4211638" y="2781300"/>
          <a:ext cx="2089150" cy="1392238"/>
        </p:xfrm>
        <a:graphic>
          <a:graphicData uri="http://schemas.openxmlformats.org/presentationml/2006/ole">
            <mc:AlternateContent xmlns:mc="http://schemas.openxmlformats.org/markup-compatibility/2006">
              <mc:Choice xmlns:v="urn:schemas-microsoft-com:vml" Requires="v">
                <p:oleObj spid="_x0000_s47137" r:id="rId5" imgW="1372196" imgH="914797" progId="Equation.3">
                  <p:embed/>
                </p:oleObj>
              </mc:Choice>
              <mc:Fallback>
                <p:oleObj r:id="rId5" imgW="1372196" imgH="914797"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638" y="2781300"/>
                        <a:ext cx="2089150" cy="139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1" name="Rectangle 25"/>
          <p:cNvSpPr>
            <a:spLocks noChangeArrowheads="1"/>
          </p:cNvSpPr>
          <p:nvPr/>
        </p:nvSpPr>
        <p:spPr bwMode="auto">
          <a:xfrm>
            <a:off x="7643813" y="314166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6-37</a:t>
            </a:r>
            <a:r>
              <a:rPr lang="zh-CN" altLang="en-US"/>
              <a:t>） </a:t>
            </a:r>
          </a:p>
        </p:txBody>
      </p:sp>
      <p:sp>
        <p:nvSpPr>
          <p:cNvPr id="47112" name="Text Box 26"/>
          <p:cNvSpPr txBox="1">
            <a:spLocks noChangeArrowheads="1"/>
          </p:cNvSpPr>
          <p:nvPr/>
        </p:nvSpPr>
        <p:spPr bwMode="auto">
          <a:xfrm>
            <a:off x="1403350" y="3933825"/>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3.</a:t>
            </a:r>
            <a:r>
              <a:rPr lang="zh-CN" altLang="en-US"/>
              <a:t>侧视图</a:t>
            </a:r>
          </a:p>
        </p:txBody>
      </p:sp>
      <p:sp>
        <p:nvSpPr>
          <p:cNvPr id="47113" name="Rectangle 27"/>
          <p:cNvSpPr>
            <a:spLocks noChangeArrowheads="1"/>
          </p:cNvSpPr>
          <p:nvPr/>
        </p:nvSpPr>
        <p:spPr bwMode="auto">
          <a:xfrm>
            <a:off x="683568" y="4581525"/>
            <a:ext cx="736505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将正三棱柱向</a:t>
            </a:r>
            <a:r>
              <a:rPr lang="en-US" altLang="zh-CN" b="1" dirty="0" err="1">
                <a:solidFill>
                  <a:srgbClr val="FF0000"/>
                </a:solidFill>
                <a:latin typeface="黑体" panose="02010609060101010101" pitchFamily="49" charset="-122"/>
                <a:ea typeface="黑体" panose="02010609060101010101" pitchFamily="49" charset="-122"/>
              </a:rPr>
              <a:t>xOy</a:t>
            </a:r>
            <a:r>
              <a:rPr lang="zh-CN" altLang="en-US" dirty="0"/>
              <a:t>面做正交投影得到侧视图。 </a:t>
            </a:r>
          </a:p>
        </p:txBody>
      </p:sp>
      <p:sp>
        <p:nvSpPr>
          <p:cNvPr id="47114" name="Rectangle 28"/>
          <p:cNvSpPr>
            <a:spLocks noChangeArrowheads="1"/>
          </p:cNvSpPr>
          <p:nvPr/>
        </p:nvSpPr>
        <p:spPr bwMode="auto">
          <a:xfrm>
            <a:off x="1403350" y="5229225"/>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投影变换矩阵为</a:t>
            </a:r>
          </a:p>
        </p:txBody>
      </p:sp>
      <p:sp>
        <p:nvSpPr>
          <p:cNvPr id="47115" name="Rectangle 30"/>
          <p:cNvSpPr>
            <a:spLocks noChangeArrowheads="1"/>
          </p:cNvSpPr>
          <p:nvPr/>
        </p:nvSpPr>
        <p:spPr bwMode="auto">
          <a:xfrm>
            <a:off x="0" y="297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47116" name="Object 12"/>
          <p:cNvGraphicFramePr>
            <a:graphicFrameLocks noChangeAspect="1"/>
          </p:cNvGraphicFramePr>
          <p:nvPr/>
        </p:nvGraphicFramePr>
        <p:xfrm>
          <a:off x="4211638" y="5148263"/>
          <a:ext cx="2232025" cy="1574800"/>
        </p:xfrm>
        <a:graphic>
          <a:graphicData uri="http://schemas.openxmlformats.org/presentationml/2006/ole">
            <mc:AlternateContent xmlns:mc="http://schemas.openxmlformats.org/markup-compatibility/2006">
              <mc:Choice xmlns:v="urn:schemas-microsoft-com:vml" Requires="v">
                <p:oleObj spid="_x0000_s47138" r:id="rId7" imgW="1295962" imgH="914797" progId="Equation.3">
                  <p:embed/>
                </p:oleObj>
              </mc:Choice>
              <mc:Fallback>
                <p:oleObj r:id="rId7" imgW="1295962" imgH="914797"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5148263"/>
                        <a:ext cx="2232025"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17" name="Rectangle 31"/>
          <p:cNvSpPr>
            <a:spLocks noChangeArrowheads="1"/>
          </p:cNvSpPr>
          <p:nvPr/>
        </p:nvSpPr>
        <p:spPr bwMode="auto">
          <a:xfrm>
            <a:off x="1444625" y="2565400"/>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俯视图变换矩阵为</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1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sp>
        <p:nvSpPr>
          <p:cNvPr id="48131" name="Rectangle 34"/>
          <p:cNvSpPr>
            <a:spLocks noChangeArrowheads="1"/>
          </p:cNvSpPr>
          <p:nvPr/>
        </p:nvSpPr>
        <p:spPr bwMode="auto">
          <a:xfrm>
            <a:off x="539552" y="329039"/>
            <a:ext cx="820757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smtClean="0"/>
              <a:t>为了</a:t>
            </a:r>
            <a:r>
              <a:rPr lang="zh-CN" altLang="en-US" dirty="0"/>
              <a:t>在</a:t>
            </a:r>
            <a:r>
              <a:rPr lang="en-US" altLang="zh-CN" b="1" dirty="0" err="1">
                <a:solidFill>
                  <a:srgbClr val="FF0000"/>
                </a:solidFill>
                <a:latin typeface="黑体" panose="02010609060101010101" pitchFamily="49" charset="-122"/>
                <a:ea typeface="黑体" panose="02010609060101010101" pitchFamily="49" charset="-122"/>
              </a:rPr>
              <a:t>yOz</a:t>
            </a:r>
            <a:r>
              <a:rPr lang="zh-CN" altLang="en-US" dirty="0"/>
              <a:t>平面内表示侧视图，需要将</a:t>
            </a:r>
            <a:r>
              <a:rPr lang="en-US" altLang="zh-CN" b="1" dirty="0" err="1">
                <a:solidFill>
                  <a:srgbClr val="FF0000"/>
                </a:solidFill>
                <a:latin typeface="黑体" panose="02010609060101010101" pitchFamily="49" charset="-122"/>
                <a:ea typeface="黑体" panose="02010609060101010101" pitchFamily="49" charset="-122"/>
              </a:rPr>
              <a:t>xOy</a:t>
            </a:r>
            <a:r>
              <a:rPr lang="zh-CN" altLang="en-US" dirty="0"/>
              <a:t>面绕</a:t>
            </a:r>
            <a:r>
              <a:rPr lang="en-US" altLang="zh-CN" b="1" dirty="0">
                <a:solidFill>
                  <a:srgbClr val="FF0000"/>
                </a:solidFill>
                <a:latin typeface="黑体" panose="02010609060101010101" pitchFamily="49" charset="-122"/>
                <a:ea typeface="黑体" panose="02010609060101010101" pitchFamily="49" charset="-122"/>
              </a:rPr>
              <a:t>y</a:t>
            </a:r>
            <a:r>
              <a:rPr lang="zh-CN" altLang="en-US" dirty="0"/>
              <a:t>轴逆时针旋转</a:t>
            </a:r>
            <a:r>
              <a:rPr lang="en-US" altLang="zh-CN" dirty="0"/>
              <a:t>90°</a:t>
            </a:r>
            <a:r>
              <a:rPr lang="zh-CN" altLang="en-US" dirty="0"/>
              <a:t>，旋转变换矩阵为</a:t>
            </a:r>
          </a:p>
        </p:txBody>
      </p:sp>
      <p:graphicFrame>
        <p:nvGraphicFramePr>
          <p:cNvPr id="48132" name="Object 5"/>
          <p:cNvGraphicFramePr>
            <a:graphicFrameLocks noChangeAspect="1"/>
          </p:cNvGraphicFramePr>
          <p:nvPr/>
        </p:nvGraphicFramePr>
        <p:xfrm>
          <a:off x="2627313" y="1268413"/>
          <a:ext cx="4321175" cy="1582737"/>
        </p:xfrm>
        <a:graphic>
          <a:graphicData uri="http://schemas.openxmlformats.org/presentationml/2006/ole">
            <mc:AlternateContent xmlns:mc="http://schemas.openxmlformats.org/markup-compatibility/2006">
              <mc:Choice xmlns:v="urn:schemas-microsoft-com:vml" Requires="v">
                <p:oleObj spid="_x0000_s48156" r:id="rId3" imgW="2997200" imgH="1092200" progId="Equation.3">
                  <p:embed/>
                </p:oleObj>
              </mc:Choice>
              <mc:Fallback>
                <p:oleObj r:id="rId3" imgW="2997200" imgH="1092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268413"/>
                        <a:ext cx="4321175" cy="158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3" name="Rectangle 37"/>
          <p:cNvSpPr>
            <a:spLocks noChangeArrowheads="1"/>
          </p:cNvSpPr>
          <p:nvPr/>
        </p:nvSpPr>
        <p:spPr bwMode="auto">
          <a:xfrm>
            <a:off x="539552" y="2968625"/>
            <a:ext cx="6542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侧视图的变换矩阵为上面</a:t>
            </a:r>
            <a:r>
              <a:rPr lang="en-US" altLang="zh-CN" dirty="0"/>
              <a:t>2</a:t>
            </a:r>
            <a:r>
              <a:rPr lang="zh-CN" altLang="en-US" dirty="0"/>
              <a:t>个变换矩阵的乘积。 </a:t>
            </a:r>
          </a:p>
        </p:txBody>
      </p:sp>
      <p:graphicFrame>
        <p:nvGraphicFramePr>
          <p:cNvPr id="48134" name="Object 8"/>
          <p:cNvGraphicFramePr>
            <a:graphicFrameLocks noChangeAspect="1"/>
          </p:cNvGraphicFramePr>
          <p:nvPr/>
        </p:nvGraphicFramePr>
        <p:xfrm>
          <a:off x="2700338" y="3573463"/>
          <a:ext cx="4608512" cy="1436687"/>
        </p:xfrm>
        <a:graphic>
          <a:graphicData uri="http://schemas.openxmlformats.org/presentationml/2006/ole">
            <mc:AlternateContent xmlns:mc="http://schemas.openxmlformats.org/markup-compatibility/2006">
              <mc:Choice xmlns:v="urn:schemas-microsoft-com:vml" Requires="v">
                <p:oleObj spid="_x0000_s48157" r:id="rId5" imgW="2933700" imgH="914400" progId="Equation.3">
                  <p:embed/>
                </p:oleObj>
              </mc:Choice>
              <mc:Fallback>
                <p:oleObj r:id="rId5" imgW="2933700" imgH="9144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3573463"/>
                        <a:ext cx="4608512"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5" name="Rectangle 41"/>
          <p:cNvSpPr>
            <a:spLocks noChangeArrowheads="1"/>
          </p:cNvSpPr>
          <p:nvPr/>
        </p:nvSpPr>
        <p:spPr bwMode="auto">
          <a:xfrm>
            <a:off x="539552" y="4829175"/>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侧视图变换矩阵为</a:t>
            </a:r>
          </a:p>
        </p:txBody>
      </p:sp>
      <p:graphicFrame>
        <p:nvGraphicFramePr>
          <p:cNvPr id="48136" name="Object 11"/>
          <p:cNvGraphicFramePr>
            <a:graphicFrameLocks noChangeAspect="1"/>
          </p:cNvGraphicFramePr>
          <p:nvPr/>
        </p:nvGraphicFramePr>
        <p:xfrm>
          <a:off x="4140200" y="5157788"/>
          <a:ext cx="2303463" cy="1484312"/>
        </p:xfrm>
        <a:graphic>
          <a:graphicData uri="http://schemas.openxmlformats.org/presentationml/2006/ole">
            <mc:AlternateContent xmlns:mc="http://schemas.openxmlformats.org/markup-compatibility/2006">
              <mc:Choice xmlns:v="urn:schemas-microsoft-com:vml" Requires="v">
                <p:oleObj spid="_x0000_s48158" r:id="rId7" imgW="1423018" imgH="914797" progId="Equation.3">
                  <p:embed/>
                </p:oleObj>
              </mc:Choice>
              <mc:Fallback>
                <p:oleObj r:id="rId7" imgW="1423018" imgH="914797"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40200" y="5157788"/>
                        <a:ext cx="2303463"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7" name="Rectangle 44"/>
          <p:cNvSpPr>
            <a:spLocks noChangeArrowheads="1"/>
          </p:cNvSpPr>
          <p:nvPr/>
        </p:nvSpPr>
        <p:spPr bwMode="auto">
          <a:xfrm>
            <a:off x="7643813" y="5734050"/>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6-38</a:t>
            </a:r>
            <a:r>
              <a:rPr lang="zh-CN" altLang="en-US"/>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
          <p:cNvSpPr>
            <a:spLocks noChangeArrowheads="1"/>
          </p:cNvSpPr>
          <p:nvPr/>
        </p:nvSpPr>
        <p:spPr bwMode="auto">
          <a:xfrm>
            <a:off x="1187450" y="188913"/>
            <a:ext cx="77406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      使用上述三视图变换矩阵绘制的三视图虽然位于都同一平面内，但却彼此相连。这对于使用不同的视区单独绘制主视图、俯视图和侧视图，不会产生影响。  </a:t>
            </a:r>
          </a:p>
        </p:txBody>
      </p:sp>
      <p:sp>
        <p:nvSpPr>
          <p:cNvPr id="49155" name="Rectangle 12"/>
          <p:cNvSpPr>
            <a:spLocks noChangeArrowheads="1"/>
          </p:cNvSpPr>
          <p:nvPr/>
        </p:nvSpPr>
        <p:spPr bwMode="auto">
          <a:xfrm>
            <a:off x="4500563" y="5876925"/>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hlinkClick r:id="rId2" action="ppaction://hlinkfile"/>
              </a:rPr>
              <a:t>三视图算法</a:t>
            </a:r>
            <a:endParaRPr lang="zh-CN" altLang="en-US"/>
          </a:p>
        </p:txBody>
      </p:sp>
      <p:pic>
        <p:nvPicPr>
          <p:cNvPr id="4915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1412875"/>
            <a:ext cx="5937250"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1"/>
          <p:cNvSpPr>
            <a:spLocks noChangeArrowheads="1"/>
          </p:cNvSpPr>
          <p:nvPr/>
        </p:nvSpPr>
        <p:spPr bwMode="auto">
          <a:xfrm>
            <a:off x="539552" y="432266"/>
            <a:ext cx="8418711"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但是对于仅使用一个视区绘制的三视图，必须将三个视图分开。可以</a:t>
            </a:r>
            <a:r>
              <a:rPr lang="zh-CN" altLang="en-US" b="1" dirty="0">
                <a:solidFill>
                  <a:srgbClr val="FF0000"/>
                </a:solidFill>
                <a:latin typeface="黑体" panose="02010609060101010101" pitchFamily="49" charset="-122"/>
                <a:ea typeface="黑体" panose="02010609060101010101" pitchFamily="49" charset="-122"/>
              </a:rPr>
              <a:t>将三视图相对于原点各平移一段距离</a:t>
            </a:r>
            <a:r>
              <a:rPr lang="zh-CN" altLang="en-US" dirty="0"/>
              <a:t>，如图</a:t>
            </a:r>
            <a:r>
              <a:rPr lang="en-US" altLang="zh-CN" dirty="0"/>
              <a:t>6-10</a:t>
            </a:r>
            <a:r>
              <a:rPr lang="zh-CN" altLang="en-US" dirty="0"/>
              <a:t>中的</a:t>
            </a:r>
            <a:r>
              <a:rPr lang="en-US" altLang="zh-CN" dirty="0" err="1"/>
              <a:t>tx</a:t>
            </a:r>
            <a:r>
              <a:rPr lang="zh-CN" altLang="en-US" dirty="0"/>
              <a:t>、</a:t>
            </a:r>
            <a:r>
              <a:rPr lang="en-US" altLang="zh-CN" dirty="0"/>
              <a:t>ty</a:t>
            </a:r>
            <a:r>
              <a:rPr lang="zh-CN" altLang="en-US" dirty="0"/>
              <a:t>、</a:t>
            </a:r>
            <a:r>
              <a:rPr lang="en-US" altLang="zh-CN" dirty="0" err="1"/>
              <a:t>tz</a:t>
            </a:r>
            <a:r>
              <a:rPr lang="zh-CN" altLang="en-US" dirty="0"/>
              <a:t>所示。这需要对三视图的变换矩阵再施加平移变换。其中主视图的平移参数是（</a:t>
            </a:r>
            <a:r>
              <a:rPr lang="en-US" altLang="zh-CN" dirty="0"/>
              <a:t>0</a:t>
            </a:r>
            <a:r>
              <a:rPr lang="zh-CN" altLang="en-US" dirty="0"/>
              <a:t>，</a:t>
            </a:r>
            <a:r>
              <a:rPr lang="en-US" altLang="zh-CN" dirty="0"/>
              <a:t>t</a:t>
            </a:r>
            <a:r>
              <a:rPr lang="en-US" altLang="zh-CN" baseline="-25000" dirty="0"/>
              <a:t>y</a:t>
            </a:r>
            <a:r>
              <a:rPr lang="zh-CN" altLang="en-US" dirty="0"/>
              <a:t>，</a:t>
            </a:r>
            <a:r>
              <a:rPr lang="en-US" altLang="zh-CN" dirty="0" err="1"/>
              <a:t>t</a:t>
            </a:r>
            <a:r>
              <a:rPr lang="en-US" altLang="zh-CN" baseline="-25000" dirty="0" err="1"/>
              <a:t>z</a:t>
            </a:r>
            <a:r>
              <a:rPr lang="zh-CN" altLang="en-US" dirty="0"/>
              <a:t>），俯视图的平移参数是（</a:t>
            </a:r>
            <a:r>
              <a:rPr lang="en-US" altLang="zh-CN" dirty="0"/>
              <a:t>0</a:t>
            </a:r>
            <a:r>
              <a:rPr lang="zh-CN" altLang="en-US" dirty="0"/>
              <a:t>，</a:t>
            </a:r>
            <a:r>
              <a:rPr lang="en-US" altLang="zh-CN" dirty="0"/>
              <a:t>-</a:t>
            </a:r>
            <a:r>
              <a:rPr lang="en-US" altLang="zh-CN" dirty="0" err="1"/>
              <a:t>t</a:t>
            </a:r>
            <a:r>
              <a:rPr lang="en-US" altLang="zh-CN" baseline="-25000" dirty="0" err="1"/>
              <a:t>x</a:t>
            </a:r>
            <a:r>
              <a:rPr lang="zh-CN" altLang="en-US" dirty="0"/>
              <a:t>，</a:t>
            </a:r>
            <a:r>
              <a:rPr lang="en-US" altLang="zh-CN" dirty="0" err="1"/>
              <a:t>t</a:t>
            </a:r>
            <a:r>
              <a:rPr lang="en-US" altLang="zh-CN" baseline="-25000" dirty="0" err="1"/>
              <a:t>z</a:t>
            </a:r>
            <a:r>
              <a:rPr lang="zh-CN" altLang="en-US" dirty="0"/>
              <a:t>），侧视图的平移参数是（</a:t>
            </a:r>
            <a:r>
              <a:rPr lang="en-US" altLang="zh-CN" dirty="0"/>
              <a:t>0</a:t>
            </a:r>
            <a:r>
              <a:rPr lang="zh-CN" altLang="en-US" dirty="0"/>
              <a:t>，</a:t>
            </a:r>
            <a:r>
              <a:rPr lang="en-US" altLang="zh-CN" dirty="0"/>
              <a:t>t</a:t>
            </a:r>
            <a:r>
              <a:rPr lang="en-US" altLang="zh-CN" baseline="-25000" dirty="0"/>
              <a:t>y</a:t>
            </a:r>
            <a:r>
              <a:rPr lang="zh-CN" altLang="en-US" dirty="0"/>
              <a:t>，</a:t>
            </a:r>
            <a:r>
              <a:rPr lang="en-US" altLang="zh-CN" dirty="0"/>
              <a:t>-</a:t>
            </a:r>
            <a:r>
              <a:rPr lang="en-US" altLang="zh-CN" dirty="0" err="1"/>
              <a:t>t</a:t>
            </a:r>
            <a:r>
              <a:rPr lang="en-US" altLang="zh-CN" baseline="-25000" dirty="0" err="1"/>
              <a:t>x</a:t>
            </a:r>
            <a:r>
              <a:rPr lang="zh-CN" altLang="en-US" dirty="0"/>
              <a:t>）。 </a:t>
            </a:r>
          </a:p>
        </p:txBody>
      </p:sp>
      <p:graphicFrame>
        <p:nvGraphicFramePr>
          <p:cNvPr id="50179" name="Object 22"/>
          <p:cNvGraphicFramePr>
            <a:graphicFrameLocks noChangeAspect="1"/>
          </p:cNvGraphicFramePr>
          <p:nvPr/>
        </p:nvGraphicFramePr>
        <p:xfrm>
          <a:off x="2843213" y="2924175"/>
          <a:ext cx="4824412" cy="3443288"/>
        </p:xfrm>
        <a:graphic>
          <a:graphicData uri="http://schemas.openxmlformats.org/presentationml/2006/ole">
            <mc:AlternateContent xmlns:mc="http://schemas.openxmlformats.org/markup-compatibility/2006">
              <mc:Choice xmlns:v="urn:schemas-microsoft-com:vml" Requires="v">
                <p:oleObj spid="_x0000_s50186" r:id="rId3" imgW="5971642" imgH="3563417" progId="Visio.Drawing.11">
                  <p:embed/>
                </p:oleObj>
              </mc:Choice>
              <mc:Fallback>
                <p:oleObj r:id="rId3" imgW="5971642" imgH="3563417" progId="Visio.Drawing.11">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l="8607" r="7646"/>
                      <a:stretch>
                        <a:fillRect/>
                      </a:stretch>
                    </p:blipFill>
                    <p:spPr bwMode="auto">
                      <a:xfrm>
                        <a:off x="2843213" y="2924175"/>
                        <a:ext cx="4824412"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9"/>
          <p:cNvSpPr>
            <a:spLocks noChangeArrowheads="1"/>
          </p:cNvSpPr>
          <p:nvPr/>
        </p:nvSpPr>
        <p:spPr bwMode="auto">
          <a:xfrm>
            <a:off x="1692275" y="765175"/>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主视图平移矩阵 </a:t>
            </a:r>
          </a:p>
        </p:txBody>
      </p:sp>
      <p:graphicFrame>
        <p:nvGraphicFramePr>
          <p:cNvPr id="51203" name="Object 8"/>
          <p:cNvGraphicFramePr>
            <a:graphicFrameLocks noChangeAspect="1"/>
          </p:cNvGraphicFramePr>
          <p:nvPr/>
        </p:nvGraphicFramePr>
        <p:xfrm>
          <a:off x="4699000" y="260350"/>
          <a:ext cx="1903413" cy="1416050"/>
        </p:xfrm>
        <a:graphic>
          <a:graphicData uri="http://schemas.openxmlformats.org/presentationml/2006/ole">
            <mc:AlternateContent xmlns:mc="http://schemas.openxmlformats.org/markup-compatibility/2006">
              <mc:Choice xmlns:v="urn:schemas-microsoft-com:vml" Requires="v">
                <p:oleObj spid="_x0000_s51223" name="公式" r:id="rId3" imgW="1269449" imgH="939392" progId="Equation.3">
                  <p:embed/>
                </p:oleObj>
              </mc:Choice>
              <mc:Fallback>
                <p:oleObj name="公式" r:id="rId3" imgW="1269449" imgH="939392"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000" y="260350"/>
                        <a:ext cx="1903413"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4" name="Rectangle 22"/>
          <p:cNvSpPr>
            <a:spLocks noChangeArrowheads="1"/>
          </p:cNvSpPr>
          <p:nvPr/>
        </p:nvSpPr>
        <p:spPr bwMode="auto">
          <a:xfrm>
            <a:off x="1692275" y="2565400"/>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俯视图平移矩阵 </a:t>
            </a:r>
          </a:p>
        </p:txBody>
      </p:sp>
      <p:graphicFrame>
        <p:nvGraphicFramePr>
          <p:cNvPr id="51205" name="Object 11"/>
          <p:cNvGraphicFramePr>
            <a:graphicFrameLocks noChangeAspect="1"/>
          </p:cNvGraphicFramePr>
          <p:nvPr/>
        </p:nvGraphicFramePr>
        <p:xfrm>
          <a:off x="4581525" y="2205038"/>
          <a:ext cx="2214563" cy="1508125"/>
        </p:xfrm>
        <a:graphic>
          <a:graphicData uri="http://schemas.openxmlformats.org/presentationml/2006/ole">
            <mc:AlternateContent xmlns:mc="http://schemas.openxmlformats.org/markup-compatibility/2006">
              <mc:Choice xmlns:v="urn:schemas-microsoft-com:vml" Requires="v">
                <p:oleObj spid="_x0000_s51224" name="公式" r:id="rId5" imgW="1384300" imgH="939800" progId="Equation.3">
                  <p:embed/>
                </p:oleObj>
              </mc:Choice>
              <mc:Fallback>
                <p:oleObj name="公式" r:id="rId5" imgW="1384300" imgH="9398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1525" y="2205038"/>
                        <a:ext cx="221456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6" name="Rectangle 25"/>
          <p:cNvSpPr>
            <a:spLocks noChangeArrowheads="1"/>
          </p:cNvSpPr>
          <p:nvPr/>
        </p:nvSpPr>
        <p:spPr bwMode="auto">
          <a:xfrm>
            <a:off x="1692275" y="4581525"/>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侧视图平移矩阵 </a:t>
            </a:r>
          </a:p>
        </p:txBody>
      </p:sp>
      <p:graphicFrame>
        <p:nvGraphicFramePr>
          <p:cNvPr id="51207" name="Object 14"/>
          <p:cNvGraphicFramePr>
            <a:graphicFrameLocks noChangeAspect="1"/>
          </p:cNvGraphicFramePr>
          <p:nvPr/>
        </p:nvGraphicFramePr>
        <p:xfrm>
          <a:off x="4568825" y="4221163"/>
          <a:ext cx="2166938" cy="1462087"/>
        </p:xfrm>
        <a:graphic>
          <a:graphicData uri="http://schemas.openxmlformats.org/presentationml/2006/ole">
            <mc:AlternateContent xmlns:mc="http://schemas.openxmlformats.org/markup-compatibility/2006">
              <mc:Choice xmlns:v="urn:schemas-microsoft-com:vml" Requires="v">
                <p:oleObj spid="_x0000_s51225" name="公式" r:id="rId7" imgW="1397000" imgH="939800" progId="Equation.3">
                  <p:embed/>
                </p:oleObj>
              </mc:Choice>
              <mc:Fallback>
                <p:oleObj name="公式" r:id="rId7" imgW="1397000" imgH="9398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8825" y="4221163"/>
                        <a:ext cx="2166938"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549275"/>
            <a:ext cx="5256213" cy="380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Text Box 5"/>
          <p:cNvSpPr txBox="1">
            <a:spLocks noChangeArrowheads="1"/>
          </p:cNvSpPr>
          <p:nvPr/>
        </p:nvSpPr>
        <p:spPr bwMode="auto">
          <a:xfrm>
            <a:off x="3851275" y="5300663"/>
            <a:ext cx="252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zh-CN" altLang="en-US">
                <a:hlinkClick r:id="rId3" action="ppaction://hlinkfile"/>
              </a:rPr>
              <a:t>三视图平移矩阵</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1"/>
          <p:cNvSpPr>
            <a:spLocks noChangeArrowheads="1"/>
          </p:cNvSpPr>
          <p:nvPr/>
        </p:nvSpPr>
        <p:spPr bwMode="auto">
          <a:xfrm>
            <a:off x="1692275" y="476250"/>
            <a:ext cx="454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包含平移变换的三视图变换矩阵 </a:t>
            </a:r>
          </a:p>
        </p:txBody>
      </p:sp>
      <p:graphicFrame>
        <p:nvGraphicFramePr>
          <p:cNvPr id="53251" name="Object 4"/>
          <p:cNvGraphicFramePr>
            <a:graphicFrameLocks noChangeAspect="1"/>
          </p:cNvGraphicFramePr>
          <p:nvPr/>
        </p:nvGraphicFramePr>
        <p:xfrm>
          <a:off x="1547813" y="1341438"/>
          <a:ext cx="2160587" cy="1560512"/>
        </p:xfrm>
        <a:graphic>
          <a:graphicData uri="http://schemas.openxmlformats.org/presentationml/2006/ole">
            <mc:AlternateContent xmlns:mc="http://schemas.openxmlformats.org/markup-compatibility/2006">
              <mc:Choice xmlns:v="urn:schemas-microsoft-com:vml" Requires="v">
                <p:oleObj spid="_x0000_s53293" r:id="rId3" imgW="1308668" imgH="940208" progId="Equation.3">
                  <p:embed/>
                </p:oleObj>
              </mc:Choice>
              <mc:Fallback>
                <p:oleObj r:id="rId3" imgW="1308668" imgH="940208"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341438"/>
                        <a:ext cx="2160587"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2" name="Object 5"/>
          <p:cNvGraphicFramePr>
            <a:graphicFrameLocks noChangeAspect="1"/>
          </p:cNvGraphicFramePr>
          <p:nvPr/>
        </p:nvGraphicFramePr>
        <p:xfrm>
          <a:off x="3995738" y="1412875"/>
          <a:ext cx="2303462" cy="1514475"/>
        </p:xfrm>
        <a:graphic>
          <a:graphicData uri="http://schemas.openxmlformats.org/presentationml/2006/ole">
            <mc:AlternateContent xmlns:mc="http://schemas.openxmlformats.org/markup-compatibility/2006">
              <mc:Choice xmlns:v="urn:schemas-microsoft-com:vml" Requires="v">
                <p:oleObj spid="_x0000_s53294" r:id="rId5" imgW="1423018" imgH="940208" progId="Equation.3">
                  <p:embed/>
                </p:oleObj>
              </mc:Choice>
              <mc:Fallback>
                <p:oleObj r:id="rId5" imgW="1423018" imgH="940208"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5738" y="1412875"/>
                        <a:ext cx="2303462"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3" name="Object 6"/>
          <p:cNvGraphicFramePr>
            <a:graphicFrameLocks noChangeAspect="1"/>
          </p:cNvGraphicFramePr>
          <p:nvPr/>
        </p:nvGraphicFramePr>
        <p:xfrm>
          <a:off x="6516688" y="1484313"/>
          <a:ext cx="2232025" cy="1366837"/>
        </p:xfrm>
        <a:graphic>
          <a:graphicData uri="http://schemas.openxmlformats.org/presentationml/2006/ole">
            <mc:AlternateContent xmlns:mc="http://schemas.openxmlformats.org/markup-compatibility/2006">
              <mc:Choice xmlns:v="urn:schemas-microsoft-com:vml" Requires="v">
                <p:oleObj spid="_x0000_s53295" r:id="rId7" imgW="1524662" imgH="940208" progId="Equation.3">
                  <p:embed/>
                </p:oleObj>
              </mc:Choice>
              <mc:Fallback>
                <p:oleObj r:id="rId7" imgW="1524662" imgH="940208"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6688" y="1484313"/>
                        <a:ext cx="2232025"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4" name="Rectangle 16"/>
          <p:cNvSpPr>
            <a:spLocks noChangeArrowheads="1"/>
          </p:cNvSpPr>
          <p:nvPr/>
        </p:nvSpPr>
        <p:spPr bwMode="auto">
          <a:xfrm>
            <a:off x="14288" y="2600325"/>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
        <p:nvSpPr>
          <p:cNvPr id="53255" name="Rectangle 17"/>
          <p:cNvSpPr>
            <a:spLocks noChangeArrowheads="1"/>
          </p:cNvSpPr>
          <p:nvPr/>
        </p:nvSpPr>
        <p:spPr bwMode="auto">
          <a:xfrm>
            <a:off x="14288" y="3778250"/>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
        <p:nvSpPr>
          <p:cNvPr id="53256" name="Rectangle 19"/>
          <p:cNvSpPr>
            <a:spLocks noChangeArrowheads="1"/>
          </p:cNvSpPr>
          <p:nvPr/>
        </p:nvSpPr>
        <p:spPr bwMode="auto">
          <a:xfrm>
            <a:off x="7451725" y="3141663"/>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6-39</a:t>
            </a:r>
            <a:r>
              <a:rPr lang="zh-CN" altLang="en-US"/>
              <a:t>）</a:t>
            </a:r>
          </a:p>
        </p:txBody>
      </p:sp>
      <p:sp>
        <p:nvSpPr>
          <p:cNvPr id="53257" name="Rectangle 20"/>
          <p:cNvSpPr>
            <a:spLocks noChangeArrowheads="1"/>
          </p:cNvSpPr>
          <p:nvPr/>
        </p:nvSpPr>
        <p:spPr bwMode="auto">
          <a:xfrm>
            <a:off x="1258888" y="3860800"/>
            <a:ext cx="7634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      下面</a:t>
            </a:r>
            <a:r>
              <a:rPr lang="en-US" altLang="zh-CN"/>
              <a:t>3</a:t>
            </a:r>
            <a:r>
              <a:rPr lang="zh-CN" altLang="en-US"/>
              <a:t>组三视图中，虽然主视图和侧视图完全相同，但俯视图的细微差异导致了物体的三种不同结构。</a:t>
            </a:r>
          </a:p>
        </p:txBody>
      </p:sp>
      <p:graphicFrame>
        <p:nvGraphicFramePr>
          <p:cNvPr id="53258" name="Object 23"/>
          <p:cNvGraphicFramePr>
            <a:graphicFrameLocks noChangeAspect="1"/>
          </p:cNvGraphicFramePr>
          <p:nvPr/>
        </p:nvGraphicFramePr>
        <p:xfrm>
          <a:off x="1692275" y="5013325"/>
          <a:ext cx="2087563" cy="1498600"/>
        </p:xfrm>
        <a:graphic>
          <a:graphicData uri="http://schemas.openxmlformats.org/presentationml/2006/ole">
            <mc:AlternateContent xmlns:mc="http://schemas.openxmlformats.org/markup-compatibility/2006">
              <mc:Choice xmlns:v="urn:schemas-microsoft-com:vml" Requires="v">
                <p:oleObj spid="_x0000_s53296" r:id="rId9" imgW="5086807" imgH="3646932" progId="Visio.Drawing.11">
                  <p:embed/>
                </p:oleObj>
              </mc:Choice>
              <mc:Fallback>
                <p:oleObj r:id="rId9" imgW="5086807" imgH="3646932" progId="Visio.Drawing.11">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5013325"/>
                        <a:ext cx="2087563"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59" name="Object 22"/>
          <p:cNvGraphicFramePr>
            <a:graphicFrameLocks noChangeAspect="1"/>
          </p:cNvGraphicFramePr>
          <p:nvPr/>
        </p:nvGraphicFramePr>
        <p:xfrm>
          <a:off x="4211638" y="5013325"/>
          <a:ext cx="2017712" cy="1443038"/>
        </p:xfrm>
        <a:graphic>
          <a:graphicData uri="http://schemas.openxmlformats.org/presentationml/2006/ole">
            <mc:AlternateContent xmlns:mc="http://schemas.openxmlformats.org/markup-compatibility/2006">
              <mc:Choice xmlns:v="urn:schemas-microsoft-com:vml" Requires="v">
                <p:oleObj spid="_x0000_s53297" r:id="rId11" imgW="5086807" imgH="3646932" progId="Visio.Drawing.11">
                  <p:embed/>
                </p:oleObj>
              </mc:Choice>
              <mc:Fallback>
                <p:oleObj r:id="rId11" imgW="5086807" imgH="3646932" progId="Visio.Drawing.11">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11638" y="5013325"/>
                        <a:ext cx="2017712"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60" name="Object 21"/>
          <p:cNvGraphicFramePr>
            <a:graphicFrameLocks noChangeAspect="1"/>
          </p:cNvGraphicFramePr>
          <p:nvPr/>
        </p:nvGraphicFramePr>
        <p:xfrm>
          <a:off x="6659563" y="5013325"/>
          <a:ext cx="2089150" cy="1495425"/>
        </p:xfrm>
        <a:graphic>
          <a:graphicData uri="http://schemas.openxmlformats.org/presentationml/2006/ole">
            <mc:AlternateContent xmlns:mc="http://schemas.openxmlformats.org/markup-compatibility/2006">
              <mc:Choice xmlns:v="urn:schemas-microsoft-com:vml" Requires="v">
                <p:oleObj spid="_x0000_s53298" r:id="rId13" imgW="5086807" imgH="3646932" progId="Visio.Drawing.11">
                  <p:embed/>
                </p:oleObj>
              </mc:Choice>
              <mc:Fallback>
                <p:oleObj r:id="rId13" imgW="5086807" imgH="3646932" progId="Visio.Drawing.11">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659563" y="5013325"/>
                        <a:ext cx="208915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61" name="Rectangle 25"/>
          <p:cNvSpPr>
            <a:spLocks noChangeArrowheads="1"/>
          </p:cNvSpPr>
          <p:nvPr/>
        </p:nvSpPr>
        <p:spPr bwMode="auto">
          <a:xfrm>
            <a:off x="4383088" y="2746375"/>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53262" name="Rectangle 26"/>
          <p:cNvSpPr>
            <a:spLocks noChangeArrowheads="1"/>
          </p:cNvSpPr>
          <p:nvPr/>
        </p:nvSpPr>
        <p:spPr bwMode="auto">
          <a:xfrm>
            <a:off x="4383088" y="3829050"/>
            <a:ext cx="406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13"/>
          <p:cNvSpPr>
            <a:spLocks noChangeArrowheads="1"/>
          </p:cNvSpPr>
          <p:nvPr/>
        </p:nvSpPr>
        <p:spPr bwMode="auto">
          <a:xfrm>
            <a:off x="1258888" y="188913"/>
            <a:ext cx="2233612"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a:effectLst>
                  <a:outerShdw blurRad="38100" dist="38100" dir="2700000" algn="tl">
                    <a:srgbClr val="C0C0C0"/>
                  </a:outerShdw>
                </a:effectLst>
                <a:latin typeface="楷体_GB2312" pitchFamily="49" charset="-122"/>
              </a:rPr>
              <a:t>6.5.3 </a:t>
            </a:r>
            <a:r>
              <a:rPr lang="zh-CN" altLang="en-US" b="1">
                <a:effectLst>
                  <a:outerShdw blurRad="38100" dist="38100" dir="2700000" algn="tl">
                    <a:srgbClr val="C0C0C0"/>
                  </a:outerShdw>
                </a:effectLst>
              </a:rPr>
              <a:t>斜投影</a:t>
            </a:r>
            <a:r>
              <a:rPr lang="zh-CN" altLang="en-US"/>
              <a:t>  </a:t>
            </a:r>
          </a:p>
        </p:txBody>
      </p:sp>
      <p:pic>
        <p:nvPicPr>
          <p:cNvPr id="54275"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250" y="981075"/>
            <a:ext cx="4535488"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3500438"/>
            <a:ext cx="3444875" cy="289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Rectangle 19"/>
          <p:cNvSpPr>
            <a:spLocks noChangeArrowheads="1"/>
          </p:cNvSpPr>
          <p:nvPr/>
        </p:nvSpPr>
        <p:spPr bwMode="auto">
          <a:xfrm>
            <a:off x="6858000" y="85725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a:t>斜投影</a:t>
            </a:r>
          </a:p>
        </p:txBody>
      </p:sp>
      <p:cxnSp>
        <p:nvCxnSpPr>
          <p:cNvPr id="14" name="直接连接符 13"/>
          <p:cNvCxnSpPr/>
          <p:nvPr/>
        </p:nvCxnSpPr>
        <p:spPr bwMode="auto">
          <a:xfrm flipV="1">
            <a:off x="4071938" y="1214438"/>
            <a:ext cx="2928937" cy="1143000"/>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sp>
        <p:nvSpPr>
          <p:cNvPr id="54279" name="Rectangle 19"/>
          <p:cNvSpPr>
            <a:spLocks noChangeArrowheads="1"/>
          </p:cNvSpPr>
          <p:nvPr/>
        </p:nvSpPr>
        <p:spPr bwMode="auto">
          <a:xfrm>
            <a:off x="3071813" y="500063"/>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spcBef>
                <a:spcPct val="50000"/>
              </a:spcBef>
              <a:buFont typeface="Arial" panose="020B0604020202020204" pitchFamily="34" charset="0"/>
              <a:buNone/>
            </a:pPr>
            <a:r>
              <a:rPr lang="zh-CN" altLang="en-US">
                <a:solidFill>
                  <a:srgbClr val="993300"/>
                </a:solidFill>
              </a:rPr>
              <a:t>太原三维地图</a:t>
            </a:r>
          </a:p>
        </p:txBody>
      </p:sp>
      <p:sp>
        <p:nvSpPr>
          <p:cNvPr id="54280" name="Rectangle 19"/>
          <p:cNvSpPr>
            <a:spLocks noChangeArrowheads="1"/>
          </p:cNvSpPr>
          <p:nvPr/>
        </p:nvSpPr>
        <p:spPr bwMode="auto">
          <a:xfrm>
            <a:off x="6000750" y="3071813"/>
            <a:ext cx="2743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spcBef>
                <a:spcPct val="50000"/>
              </a:spcBef>
              <a:buFont typeface="Arial" panose="020B0604020202020204" pitchFamily="34" charset="0"/>
              <a:buNone/>
            </a:pPr>
            <a:r>
              <a:rPr lang="zh-CN" altLang="en-US">
                <a:solidFill>
                  <a:srgbClr val="993300"/>
                </a:solidFill>
              </a:rPr>
              <a:t>“红警大战</a:t>
            </a:r>
            <a:r>
              <a:rPr lang="en-US" altLang="zh-CN">
                <a:solidFill>
                  <a:srgbClr val="993300"/>
                </a:solidFill>
              </a:rPr>
              <a:t> </a:t>
            </a:r>
            <a:r>
              <a:rPr lang="zh-CN" altLang="en-US">
                <a:solidFill>
                  <a:srgbClr val="993300"/>
                </a:solidFill>
              </a:rPr>
              <a:t>”游戏</a:t>
            </a:r>
          </a:p>
        </p:txBody>
      </p:sp>
      <p:sp>
        <p:nvSpPr>
          <p:cNvPr id="54281" name="Rectangle 19"/>
          <p:cNvSpPr>
            <a:spLocks noChangeArrowheads="1"/>
          </p:cNvSpPr>
          <p:nvPr/>
        </p:nvSpPr>
        <p:spPr bwMode="auto">
          <a:xfrm>
            <a:off x="1643063" y="3643313"/>
            <a:ext cx="3262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a:t>坦克使用透视投影绘制</a:t>
            </a:r>
          </a:p>
        </p:txBody>
      </p:sp>
      <p:cxnSp>
        <p:nvCxnSpPr>
          <p:cNvPr id="20" name="直接连接符 19"/>
          <p:cNvCxnSpPr/>
          <p:nvPr/>
        </p:nvCxnSpPr>
        <p:spPr bwMode="auto">
          <a:xfrm>
            <a:off x="4857750" y="4000500"/>
            <a:ext cx="2928938" cy="285750"/>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sp>
        <p:nvSpPr>
          <p:cNvPr id="54283" name="Rectangle 19"/>
          <p:cNvSpPr>
            <a:spLocks noChangeArrowheads="1"/>
          </p:cNvSpPr>
          <p:nvPr/>
        </p:nvSpPr>
        <p:spPr bwMode="auto">
          <a:xfrm>
            <a:off x="1071563" y="4929188"/>
            <a:ext cx="32861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a:t>“城市中心”等建筑物使用斜投影绘制</a:t>
            </a:r>
          </a:p>
        </p:txBody>
      </p:sp>
      <p:cxnSp>
        <p:nvCxnSpPr>
          <p:cNvPr id="26" name="直接连接符 25"/>
          <p:cNvCxnSpPr/>
          <p:nvPr/>
        </p:nvCxnSpPr>
        <p:spPr bwMode="auto">
          <a:xfrm flipV="1">
            <a:off x="4357688" y="4786313"/>
            <a:ext cx="2428875" cy="500062"/>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cxnSp>
        <p:nvCxnSpPr>
          <p:cNvPr id="28" name="直接连接符 27"/>
          <p:cNvCxnSpPr>
            <a:stCxn id="54283" idx="3"/>
          </p:cNvCxnSpPr>
          <p:nvPr/>
        </p:nvCxnSpPr>
        <p:spPr bwMode="auto">
          <a:xfrm>
            <a:off x="4357688" y="5345113"/>
            <a:ext cx="2071687" cy="298450"/>
          </a:xfrm>
          <a:prstGeom prst="line">
            <a:avLst/>
          </a:pr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4"/>
          <p:cNvSpPr>
            <a:spLocks noChangeArrowheads="1"/>
          </p:cNvSpPr>
          <p:nvPr/>
        </p:nvSpPr>
        <p:spPr bwMode="auto">
          <a:xfrm>
            <a:off x="467544" y="685099"/>
            <a:ext cx="8279581"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将三维物体向</a:t>
            </a:r>
            <a:r>
              <a:rPr lang="zh-CN" altLang="en-US" sz="1800" b="1" dirty="0">
                <a:solidFill>
                  <a:srgbClr val="3366FF"/>
                </a:solidFill>
                <a:latin typeface="方正粗黑宋简体" panose="02000000000000000000" pitchFamily="2" charset="-122"/>
                <a:ea typeface="方正粗黑宋简体" panose="02000000000000000000" pitchFamily="2" charset="-122"/>
              </a:rPr>
              <a:t>投影面内作平行投影</a:t>
            </a:r>
            <a:r>
              <a:rPr lang="zh-CN" altLang="en-US" dirty="0"/>
              <a:t>，但</a:t>
            </a:r>
            <a:r>
              <a:rPr lang="zh-CN" altLang="en-US" sz="1800" b="1" dirty="0">
                <a:solidFill>
                  <a:srgbClr val="3366FF"/>
                </a:solidFill>
                <a:latin typeface="方正粗黑宋简体" panose="02000000000000000000" pitchFamily="2" charset="-122"/>
                <a:ea typeface="方正粗黑宋简体" panose="02000000000000000000" pitchFamily="2" charset="-122"/>
              </a:rPr>
              <a:t>投影方向不垂直于投影面</a:t>
            </a:r>
            <a:r>
              <a:rPr lang="zh-CN" altLang="en-US" dirty="0"/>
              <a:t>得到的投影称为</a:t>
            </a:r>
            <a:r>
              <a:rPr lang="zh-CN" altLang="en-US" b="1" dirty="0">
                <a:solidFill>
                  <a:srgbClr val="FF0000"/>
                </a:solidFill>
                <a:latin typeface="黑体" panose="02010609060101010101" pitchFamily="49" charset="-122"/>
                <a:ea typeface="黑体" panose="02010609060101010101" pitchFamily="49" charset="-122"/>
              </a:rPr>
              <a:t>斜投影</a:t>
            </a:r>
            <a:r>
              <a:rPr lang="zh-CN" altLang="en-US" dirty="0"/>
              <a:t>。与正交投影相比，斜投影具有较好的立体感。斜投影也具有部分类似正交投影的可测量性，</a:t>
            </a:r>
            <a:r>
              <a:rPr lang="zh-CN" altLang="en-US" b="1" dirty="0">
                <a:solidFill>
                  <a:srgbClr val="FF0000"/>
                </a:solidFill>
                <a:latin typeface="黑体" panose="02010609060101010101" pitchFamily="49" charset="-122"/>
                <a:ea typeface="黑体" panose="02010609060101010101" pitchFamily="49" charset="-122"/>
              </a:rPr>
              <a:t>平行于投影面的物体表面的长度和角度投影后保持不变</a:t>
            </a:r>
            <a:r>
              <a:rPr lang="zh-CN" altLang="en-US" dirty="0"/>
              <a:t>。</a:t>
            </a:r>
          </a:p>
        </p:txBody>
      </p:sp>
      <p:sp>
        <p:nvSpPr>
          <p:cNvPr id="55299" name="Rectangle 19"/>
          <p:cNvSpPr>
            <a:spLocks noChangeArrowheads="1"/>
          </p:cNvSpPr>
          <p:nvPr/>
        </p:nvSpPr>
        <p:spPr bwMode="auto">
          <a:xfrm>
            <a:off x="2627313" y="5805488"/>
            <a:ext cx="490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a:t>斜等测图                        斜二测图</a:t>
            </a:r>
          </a:p>
        </p:txBody>
      </p:sp>
      <p:sp>
        <p:nvSpPr>
          <p:cNvPr id="55300" name="Rectangle 20"/>
          <p:cNvSpPr>
            <a:spLocks noChangeArrowheads="1"/>
          </p:cNvSpPr>
          <p:nvPr/>
        </p:nvSpPr>
        <p:spPr bwMode="auto">
          <a:xfrm>
            <a:off x="4572000" y="6237288"/>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a:hlinkClick r:id="rId3" action="ppaction://hlinkfile"/>
              </a:rPr>
              <a:t>斜投影</a:t>
            </a:r>
            <a:endParaRPr lang="zh-CN" altLang="en-US"/>
          </a:p>
        </p:txBody>
      </p:sp>
      <p:pic>
        <p:nvPicPr>
          <p:cNvPr id="33803" name="Picture 11"/>
          <p:cNvPicPr>
            <a:picLocks noChangeAspect="1" noChangeArrowheads="1"/>
          </p:cNvPicPr>
          <p:nvPr/>
        </p:nvPicPr>
        <p:blipFill>
          <a:blip r:embed="rId4"/>
          <a:srcRect/>
          <a:stretch>
            <a:fillRect/>
          </a:stretch>
        </p:blipFill>
        <p:spPr bwMode="auto">
          <a:xfrm>
            <a:off x="5715000" y="2643188"/>
            <a:ext cx="2867025" cy="2933700"/>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33804" name="Picture 12"/>
          <p:cNvPicPr>
            <a:picLocks noChangeAspect="1" noChangeArrowheads="1"/>
          </p:cNvPicPr>
          <p:nvPr/>
        </p:nvPicPr>
        <p:blipFill>
          <a:blip r:embed="rId5"/>
          <a:srcRect/>
          <a:stretch>
            <a:fillRect/>
          </a:stretch>
        </p:blipFill>
        <p:spPr bwMode="auto">
          <a:xfrm>
            <a:off x="2143125" y="2786063"/>
            <a:ext cx="2876550" cy="2895600"/>
          </a:xfrm>
          <a:prstGeom prst="rect">
            <a:avLst/>
          </a:prstGeom>
          <a:noFill/>
          <a:ln w="9525">
            <a:noFill/>
            <a:miter lim="800000"/>
            <a:headEnd/>
            <a:tailEnd/>
          </a:ln>
          <a:effectLst>
            <a:prstShdw prst="shdw17" dist="17961" dir="2700000">
              <a:schemeClr val="accent1">
                <a:gamma/>
                <a:shade val="60000"/>
                <a:invGamma/>
              </a:schemeClr>
            </a:prstShdw>
          </a:effectLst>
        </p:spPr>
      </p:pic>
      <p:graphicFrame>
        <p:nvGraphicFramePr>
          <p:cNvPr id="55303" name="Object 10"/>
          <p:cNvGraphicFramePr>
            <a:graphicFrameLocks noChangeAspect="1"/>
          </p:cNvGraphicFramePr>
          <p:nvPr/>
        </p:nvGraphicFramePr>
        <p:xfrm>
          <a:off x="4429125" y="4572000"/>
          <a:ext cx="1522413" cy="1087438"/>
        </p:xfrm>
        <a:graphic>
          <a:graphicData uri="http://schemas.openxmlformats.org/presentationml/2006/ole">
            <mc:AlternateContent xmlns:mc="http://schemas.openxmlformats.org/markup-compatibility/2006">
              <mc:Choice xmlns:v="urn:schemas-microsoft-com:vml" Requires="v">
                <p:oleObj spid="_x0000_s55310" name="公式" r:id="rId6" imgW="634725" imgH="457002" progId="Equation.3">
                  <p:embed/>
                </p:oleObj>
              </mc:Choice>
              <mc:Fallback>
                <p:oleObj name="公式" r:id="rId6" imgW="634725" imgH="457002"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9125" y="4572000"/>
                        <a:ext cx="1522413" cy="10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2" name="Object 40"/>
          <p:cNvGraphicFramePr>
            <a:graphicFrameLocks noChangeAspect="1"/>
          </p:cNvGraphicFramePr>
          <p:nvPr/>
        </p:nvGraphicFramePr>
        <p:xfrm>
          <a:off x="2674938" y="157163"/>
          <a:ext cx="5040312" cy="3986212"/>
        </p:xfrm>
        <a:graphic>
          <a:graphicData uri="http://schemas.openxmlformats.org/presentationml/2006/ole">
            <mc:AlternateContent xmlns:mc="http://schemas.openxmlformats.org/markup-compatibility/2006">
              <mc:Choice xmlns:v="urn:schemas-microsoft-com:vml" Requires="v">
                <p:oleObj spid="_x0000_s56371" r:id="rId3" imgW="4982082" imgH="3944471" progId="Visio.Drawing.11">
                  <p:embed/>
                </p:oleObj>
              </mc:Choice>
              <mc:Fallback>
                <p:oleObj r:id="rId3" imgW="4982082" imgH="3944471" progId="Visio.Drawing.11">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4938" y="157163"/>
                        <a:ext cx="5040312" cy="398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3" name="Text Box 27"/>
          <p:cNvSpPr txBox="1">
            <a:spLocks noChangeArrowheads="1"/>
          </p:cNvSpPr>
          <p:nvPr/>
        </p:nvSpPr>
        <p:spPr bwMode="auto">
          <a:xfrm>
            <a:off x="7072313" y="3071813"/>
            <a:ext cx="11525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a:t>
            </a:r>
            <a:r>
              <a:rPr lang="en-US" altLang="zh-CN" sz="2000" baseline="-30000">
                <a:latin typeface="Times New Roman" panose="02020603050405020304" pitchFamily="18" charset="0"/>
                <a:ea typeface="宋体" panose="02010600030101010101" pitchFamily="2" charset="-122"/>
              </a:rPr>
              <a:t>1</a:t>
            </a:r>
            <a:r>
              <a:rPr lang="en-US" altLang="zh-CN" sz="2000">
                <a:latin typeface="Times New Roman" panose="02020603050405020304" pitchFamily="18" charset="0"/>
                <a:ea typeface="宋体" panose="02010600030101010101" pitchFamily="2" charset="-122"/>
              </a:rPr>
              <a:t>(x,y,z)</a:t>
            </a:r>
            <a:endParaRPr lang="en-US" altLang="zh-CN" sz="2000">
              <a:latin typeface="Arial" panose="020B0604020202020204" pitchFamily="34" charset="0"/>
              <a:ea typeface="宋体" panose="02010600030101010101" pitchFamily="2" charset="-122"/>
            </a:endParaRPr>
          </a:p>
        </p:txBody>
      </p:sp>
      <p:sp>
        <p:nvSpPr>
          <p:cNvPr id="56324" name="Text Box 28"/>
          <p:cNvSpPr txBox="1">
            <a:spLocks noChangeArrowheads="1"/>
          </p:cNvSpPr>
          <p:nvPr/>
        </p:nvSpPr>
        <p:spPr bwMode="auto">
          <a:xfrm>
            <a:off x="3636963" y="2374900"/>
            <a:ext cx="115093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a:t>
            </a:r>
            <a:r>
              <a:rPr lang="en-US" altLang="zh-CN" sz="2000" baseline="-30000">
                <a:latin typeface="Times New Roman" panose="02020603050405020304" pitchFamily="18" charset="0"/>
                <a:ea typeface="宋体" panose="02010600030101010101" pitchFamily="2" charset="-122"/>
              </a:rPr>
              <a:t>2</a:t>
            </a:r>
            <a:r>
              <a:rPr lang="en-US" altLang="zh-CN" sz="2000">
                <a:latin typeface="Times New Roman" panose="02020603050405020304" pitchFamily="18" charset="0"/>
                <a:ea typeface="宋体" panose="02010600030101010101" pitchFamily="2" charset="-122"/>
              </a:rPr>
              <a:t>(x</a:t>
            </a:r>
            <a:r>
              <a:rPr lang="en-US" altLang="zh-CN" sz="2000">
                <a:ea typeface="宋体" panose="02010600030101010101" pitchFamily="2" charset="-122"/>
              </a:rPr>
              <a:t>’</a:t>
            </a:r>
            <a:r>
              <a:rPr lang="en-US" altLang="zh-CN" sz="2000">
                <a:latin typeface="Times New Roman" panose="02020603050405020304" pitchFamily="18" charset="0"/>
                <a:ea typeface="宋体" panose="02010600030101010101" pitchFamily="2" charset="-122"/>
              </a:rPr>
              <a:t>,y</a:t>
            </a:r>
            <a:r>
              <a:rPr lang="en-US" altLang="zh-CN" sz="2000">
                <a:ea typeface="宋体" panose="02010600030101010101" pitchFamily="2" charset="-122"/>
              </a:rPr>
              <a:t>’</a:t>
            </a:r>
            <a:r>
              <a:rPr lang="en-US" altLang="zh-CN" sz="2000">
                <a:latin typeface="Times New Roman" panose="02020603050405020304" pitchFamily="18" charset="0"/>
                <a:ea typeface="宋体" panose="02010600030101010101" pitchFamily="2" charset="-122"/>
              </a:rPr>
              <a:t>,0)</a:t>
            </a:r>
            <a:endParaRPr lang="en-US" altLang="zh-CN" sz="2000">
              <a:latin typeface="Arial" panose="020B0604020202020204" pitchFamily="34" charset="0"/>
              <a:ea typeface="宋体" panose="02010600030101010101" pitchFamily="2" charset="-122"/>
            </a:endParaRPr>
          </a:p>
        </p:txBody>
      </p:sp>
      <p:sp>
        <p:nvSpPr>
          <p:cNvPr id="56325" name="Text Box 26"/>
          <p:cNvSpPr txBox="1">
            <a:spLocks noChangeArrowheads="1"/>
          </p:cNvSpPr>
          <p:nvPr/>
        </p:nvSpPr>
        <p:spPr bwMode="auto">
          <a:xfrm>
            <a:off x="5435600" y="692150"/>
            <a:ext cx="10080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a:t>
            </a:r>
            <a:r>
              <a:rPr lang="en-US" altLang="zh-CN" sz="2000" baseline="-30000">
                <a:latin typeface="Times New Roman" panose="02020603050405020304" pitchFamily="18" charset="0"/>
                <a:ea typeface="宋体" panose="02010600030101010101" pitchFamily="2" charset="-122"/>
              </a:rPr>
              <a:t>3</a:t>
            </a:r>
            <a:r>
              <a:rPr lang="en-US" altLang="zh-CN" sz="2000">
                <a:latin typeface="Times New Roman" panose="02020603050405020304" pitchFamily="18" charset="0"/>
                <a:ea typeface="宋体" panose="02010600030101010101" pitchFamily="2" charset="-122"/>
              </a:rPr>
              <a:t>(x,y,0)</a:t>
            </a:r>
            <a:endParaRPr lang="en-US" altLang="zh-CN" sz="2000">
              <a:latin typeface="Arial" panose="020B0604020202020204" pitchFamily="34" charset="0"/>
              <a:ea typeface="宋体" panose="02010600030101010101" pitchFamily="2" charset="-122"/>
            </a:endParaRPr>
          </a:p>
        </p:txBody>
      </p:sp>
      <p:sp>
        <p:nvSpPr>
          <p:cNvPr id="56326" name="Text Box 24"/>
          <p:cNvSpPr txBox="1">
            <a:spLocks noChangeArrowheads="1"/>
          </p:cNvSpPr>
          <p:nvPr/>
        </p:nvSpPr>
        <p:spPr bwMode="auto">
          <a:xfrm>
            <a:off x="4772025" y="1949450"/>
            <a:ext cx="300038"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α</a:t>
            </a:r>
            <a:endParaRPr lang="en-US" altLang="zh-CN" sz="2000">
              <a:latin typeface="Arial" panose="020B0604020202020204" pitchFamily="34" charset="0"/>
              <a:ea typeface="宋体" panose="02010600030101010101" pitchFamily="2" charset="-122"/>
            </a:endParaRPr>
          </a:p>
        </p:txBody>
      </p:sp>
      <p:sp>
        <p:nvSpPr>
          <p:cNvPr id="56327" name="Text Box 25"/>
          <p:cNvSpPr txBox="1">
            <a:spLocks noChangeArrowheads="1"/>
          </p:cNvSpPr>
          <p:nvPr/>
        </p:nvSpPr>
        <p:spPr bwMode="auto">
          <a:xfrm>
            <a:off x="4929188" y="1354138"/>
            <a:ext cx="3603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β</a:t>
            </a:r>
            <a:endParaRPr lang="en-US" altLang="zh-CN" sz="2000">
              <a:latin typeface="Arial" panose="020B0604020202020204" pitchFamily="34" charset="0"/>
              <a:ea typeface="宋体" panose="02010600030101010101" pitchFamily="2" charset="-122"/>
            </a:endParaRPr>
          </a:p>
        </p:txBody>
      </p:sp>
      <p:sp>
        <p:nvSpPr>
          <p:cNvPr id="56328" name="Text Box 23"/>
          <p:cNvSpPr txBox="1">
            <a:spLocks noChangeArrowheads="1"/>
          </p:cNvSpPr>
          <p:nvPr/>
        </p:nvSpPr>
        <p:spPr bwMode="auto">
          <a:xfrm>
            <a:off x="5927725" y="1782763"/>
            <a:ext cx="2159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Arial" panose="020B0604020202020204" pitchFamily="34" charset="0"/>
                <a:ea typeface="宋体" panose="02010600030101010101" pitchFamily="2" charset="-122"/>
              </a:rPr>
              <a:t>z</a:t>
            </a:r>
          </a:p>
        </p:txBody>
      </p:sp>
      <p:sp>
        <p:nvSpPr>
          <p:cNvPr id="56329" name="Rectangle 32"/>
          <p:cNvSpPr>
            <a:spLocks noChangeArrowheads="1"/>
          </p:cNvSpPr>
          <p:nvPr/>
        </p:nvSpPr>
        <p:spPr bwMode="auto">
          <a:xfrm>
            <a:off x="3630613" y="1857375"/>
            <a:ext cx="941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800"/>
              <a:t>斜投影 </a:t>
            </a:r>
          </a:p>
        </p:txBody>
      </p:sp>
      <p:sp>
        <p:nvSpPr>
          <p:cNvPr id="56330" name="Rectangle 33"/>
          <p:cNvSpPr>
            <a:spLocks noChangeArrowheads="1"/>
          </p:cNvSpPr>
          <p:nvPr/>
        </p:nvSpPr>
        <p:spPr bwMode="auto">
          <a:xfrm>
            <a:off x="5867400" y="1052513"/>
            <a:ext cx="9413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800"/>
              <a:t>正投影 </a:t>
            </a:r>
          </a:p>
        </p:txBody>
      </p:sp>
      <p:graphicFrame>
        <p:nvGraphicFramePr>
          <p:cNvPr id="56331" name="Object 14"/>
          <p:cNvGraphicFramePr>
            <a:graphicFrameLocks noChangeAspect="1"/>
          </p:cNvGraphicFramePr>
          <p:nvPr/>
        </p:nvGraphicFramePr>
        <p:xfrm>
          <a:off x="1928813" y="4643438"/>
          <a:ext cx="1528762" cy="966787"/>
        </p:xfrm>
        <a:graphic>
          <a:graphicData uri="http://schemas.openxmlformats.org/presentationml/2006/ole">
            <mc:AlternateContent xmlns:mc="http://schemas.openxmlformats.org/markup-compatibility/2006">
              <mc:Choice xmlns:v="urn:schemas-microsoft-com:vml" Requires="v">
                <p:oleObj spid="_x0000_s56372" name="公式" r:id="rId5" imgW="634725" imgH="393529" progId="Equation.3">
                  <p:embed/>
                </p:oleObj>
              </mc:Choice>
              <mc:Fallback>
                <p:oleObj name="公式" r:id="rId5" imgW="634725" imgH="393529"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8813" y="4643438"/>
                        <a:ext cx="1528762"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32" name="Object 15"/>
          <p:cNvGraphicFramePr>
            <a:graphicFrameLocks noChangeAspect="1"/>
          </p:cNvGraphicFramePr>
          <p:nvPr/>
        </p:nvGraphicFramePr>
        <p:xfrm>
          <a:off x="3857625" y="4214813"/>
          <a:ext cx="4537075" cy="433387"/>
        </p:xfrm>
        <a:graphic>
          <a:graphicData uri="http://schemas.openxmlformats.org/presentationml/2006/ole">
            <mc:AlternateContent xmlns:mc="http://schemas.openxmlformats.org/markup-compatibility/2006">
              <mc:Choice xmlns:v="urn:schemas-microsoft-com:vml" Requires="v">
                <p:oleObj spid="_x0000_s56373" r:id="rId7" imgW="2095500" imgH="203200" progId="Equation.3">
                  <p:embed/>
                </p:oleObj>
              </mc:Choice>
              <mc:Fallback>
                <p:oleObj r:id="rId7" imgW="2095500" imgH="2032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7625" y="4214813"/>
                        <a:ext cx="45370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33" name="Object 16"/>
          <p:cNvGraphicFramePr>
            <a:graphicFrameLocks noChangeAspect="1"/>
          </p:cNvGraphicFramePr>
          <p:nvPr/>
        </p:nvGraphicFramePr>
        <p:xfrm>
          <a:off x="3857625" y="4786313"/>
          <a:ext cx="4438650" cy="433387"/>
        </p:xfrm>
        <a:graphic>
          <a:graphicData uri="http://schemas.openxmlformats.org/presentationml/2006/ole">
            <mc:AlternateContent xmlns:mc="http://schemas.openxmlformats.org/markup-compatibility/2006">
              <mc:Choice xmlns:v="urn:schemas-microsoft-com:vml" Requires="v">
                <p:oleObj spid="_x0000_s56374" name="公式" r:id="rId9" imgW="2044700" imgH="203200" progId="Equation.3">
                  <p:embed/>
                </p:oleObj>
              </mc:Choice>
              <mc:Fallback>
                <p:oleObj name="公式" r:id="rId9" imgW="2044700" imgH="2032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7625" y="4786313"/>
                        <a:ext cx="44386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34" name="Object 19"/>
          <p:cNvGraphicFramePr>
            <a:graphicFrameLocks noChangeAspect="1"/>
          </p:cNvGraphicFramePr>
          <p:nvPr/>
        </p:nvGraphicFramePr>
        <p:xfrm>
          <a:off x="1143000" y="5572125"/>
          <a:ext cx="2951163" cy="1038225"/>
        </p:xfrm>
        <a:graphic>
          <a:graphicData uri="http://schemas.openxmlformats.org/presentationml/2006/ole">
            <mc:AlternateContent xmlns:mc="http://schemas.openxmlformats.org/markup-compatibility/2006">
              <mc:Choice xmlns:v="urn:schemas-microsoft-com:vml" Requires="v">
                <p:oleObj spid="_x0000_s56375" r:id="rId11" imgW="1384901" imgH="482810" progId="Equation.3">
                  <p:embed/>
                </p:oleObj>
              </mc:Choice>
              <mc:Fallback>
                <p:oleObj r:id="rId11" imgW="1384901" imgH="482810"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5572125"/>
                        <a:ext cx="2951163"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35" name="Rectangle 44"/>
          <p:cNvSpPr>
            <a:spLocks noChangeArrowheads="1"/>
          </p:cNvSpPr>
          <p:nvPr/>
        </p:nvSpPr>
        <p:spPr bwMode="auto">
          <a:xfrm>
            <a:off x="4286250" y="5857875"/>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6-40</a:t>
            </a:r>
            <a:r>
              <a:rPr lang="zh-CN" altLang="en-US"/>
              <a:t>） </a:t>
            </a:r>
          </a:p>
        </p:txBody>
      </p:sp>
      <p:sp>
        <p:nvSpPr>
          <p:cNvPr id="56336" name="Text Box 45"/>
          <p:cNvSpPr txBox="1">
            <a:spLocks noChangeArrowheads="1"/>
          </p:cNvSpPr>
          <p:nvPr/>
        </p:nvSpPr>
        <p:spPr bwMode="auto">
          <a:xfrm>
            <a:off x="4211638" y="1195388"/>
            <a:ext cx="2159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P</a:t>
            </a:r>
            <a:endParaRPr lang="en-US" altLang="zh-CN" sz="2000">
              <a:latin typeface="Arial" panose="020B0604020202020204" pitchFamily="34" charset="0"/>
              <a:ea typeface="宋体" panose="02010600030101010101" pitchFamily="2" charset="-122"/>
            </a:endParaRPr>
          </a:p>
        </p:txBody>
      </p:sp>
      <p:sp>
        <p:nvSpPr>
          <p:cNvPr id="56337" name="TextBox 21"/>
          <p:cNvSpPr txBox="1">
            <a:spLocks noChangeArrowheads="1"/>
          </p:cNvSpPr>
          <p:nvPr/>
        </p:nvSpPr>
        <p:spPr bwMode="auto">
          <a:xfrm>
            <a:off x="5572125" y="5500688"/>
            <a:ext cx="357187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zh-CN" altLang="en-US" sz="1600" dirty="0">
                <a:solidFill>
                  <a:srgbClr val="993300"/>
                </a:solidFill>
              </a:rPr>
              <a:t>正切符号表示为</a:t>
            </a:r>
            <a:r>
              <a:rPr lang="en-US" altLang="zh-CN" sz="1600" dirty="0">
                <a:solidFill>
                  <a:srgbClr val="993300"/>
                </a:solidFill>
              </a:rPr>
              <a:t>tan</a:t>
            </a:r>
            <a:r>
              <a:rPr lang="zh-CN" altLang="en-US" sz="1600" dirty="0">
                <a:solidFill>
                  <a:srgbClr val="993300"/>
                </a:solidFill>
              </a:rPr>
              <a:t>，</a:t>
            </a:r>
            <a:endParaRPr lang="en-US" altLang="zh-CN" sz="1600" dirty="0">
              <a:solidFill>
                <a:srgbClr val="993300"/>
              </a:solidFill>
            </a:endParaRPr>
          </a:p>
          <a:p>
            <a:pPr eaLnBrk="1" hangingPunct="1"/>
            <a:r>
              <a:rPr lang="zh-CN" altLang="en-US" sz="1600" dirty="0">
                <a:solidFill>
                  <a:srgbClr val="993300"/>
                </a:solidFill>
              </a:rPr>
              <a:t>余切符号表示为</a:t>
            </a:r>
            <a:r>
              <a:rPr lang="en-US" altLang="zh-CN" sz="1600" dirty="0">
                <a:solidFill>
                  <a:srgbClr val="993300"/>
                </a:solidFill>
              </a:rPr>
              <a:t>cot</a:t>
            </a:r>
            <a:r>
              <a:rPr lang="zh-CN" altLang="en-US" sz="1600" dirty="0">
                <a:solidFill>
                  <a:srgbClr val="993300"/>
                </a:solidFill>
              </a:rPr>
              <a:t>，这里用的是余切。在编码时，</a:t>
            </a:r>
            <a:r>
              <a:rPr lang="en-US" altLang="zh-CN" sz="1800" b="1" dirty="0" err="1">
                <a:solidFill>
                  <a:srgbClr val="3366FF"/>
                </a:solidFill>
                <a:latin typeface="方正粗黑宋简体" panose="02000000000000000000" pitchFamily="2" charset="-122"/>
                <a:ea typeface="方正粗黑宋简体" panose="02000000000000000000" pitchFamily="2" charset="-122"/>
              </a:rPr>
              <a:t>m</a:t>
            </a:r>
            <a:r>
              <a:rPr lang="en-US" altLang="zh-CN" sz="1600" dirty="0" err="1">
                <a:solidFill>
                  <a:srgbClr val="993300"/>
                </a:solidFill>
              </a:rPr>
              <a:t>ath.h</a:t>
            </a:r>
            <a:r>
              <a:rPr lang="zh-CN" altLang="en-US" sz="1600" dirty="0">
                <a:solidFill>
                  <a:srgbClr val="993300"/>
                </a:solidFill>
              </a:rPr>
              <a:t>不认识</a:t>
            </a:r>
            <a:r>
              <a:rPr lang="en-US" altLang="zh-CN" sz="1600" dirty="0">
                <a:solidFill>
                  <a:srgbClr val="993300"/>
                </a:solidFill>
              </a:rPr>
              <a:t>cot</a:t>
            </a:r>
            <a:r>
              <a:rPr lang="zh-CN" altLang="en-US" sz="1600" dirty="0">
                <a:solidFill>
                  <a:srgbClr val="993300"/>
                </a:solidFill>
              </a:rPr>
              <a:t>，所以使用</a:t>
            </a:r>
            <a:r>
              <a:rPr lang="en-US" altLang="zh-CN" sz="1600" dirty="0">
                <a:solidFill>
                  <a:srgbClr val="993300"/>
                </a:solidFill>
              </a:rPr>
              <a:t>1/tan</a:t>
            </a:r>
            <a:r>
              <a:rPr lang="zh-CN" altLang="en-US" sz="1600" dirty="0">
                <a:solidFill>
                  <a:srgbClr val="993300"/>
                </a:solidFill>
              </a:rPr>
              <a:t>代替。</a:t>
            </a:r>
          </a:p>
        </p:txBody>
      </p:sp>
      <p:cxnSp>
        <p:nvCxnSpPr>
          <p:cNvPr id="24" name="直接箭头连接符 23"/>
          <p:cNvCxnSpPr/>
          <p:nvPr/>
        </p:nvCxnSpPr>
        <p:spPr bwMode="auto">
          <a:xfrm rot="16200000" flipH="1">
            <a:off x="2571750" y="4714875"/>
            <a:ext cx="357188" cy="71438"/>
          </a:xfrm>
          <a:prstGeom prst="straightConnector1">
            <a:avLst/>
          </a:prstGeom>
          <a:solidFill>
            <a:schemeClr val="accent1"/>
          </a:solidFill>
          <a:ln w="9525" cap="flat" cmpd="sng" algn="ctr">
            <a:solidFill>
              <a:schemeClr val="tx1"/>
            </a:solidFill>
            <a:prstDash val="solid"/>
            <a:round/>
            <a:headEnd type="none" w="med" len="med"/>
            <a:tailEnd type="arrow"/>
          </a:ln>
          <a:effectLst>
            <a:outerShdw dist="17961" dir="2700000" algn="ctr" rotWithShape="0">
              <a:schemeClr val="tx1">
                <a:gamma/>
                <a:shade val="60000"/>
                <a:invGamma/>
              </a:schemeClr>
            </a:outerShdw>
          </a:effectLst>
        </p:spPr>
      </p:cxnSp>
      <p:sp>
        <p:nvSpPr>
          <p:cNvPr id="56339" name="Text Box 23"/>
          <p:cNvSpPr txBox="1">
            <a:spLocks noChangeArrowheads="1"/>
          </p:cNvSpPr>
          <p:nvPr/>
        </p:nvSpPr>
        <p:spPr bwMode="auto">
          <a:xfrm>
            <a:off x="6429375" y="571500"/>
            <a:ext cx="107156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solidFill>
                  <a:srgbClr val="993300"/>
                </a:solidFill>
                <a:latin typeface="Arial" panose="020B0604020202020204" pitchFamily="34" charset="0"/>
                <a:ea typeface="宋体" panose="02010600030101010101" pitchFamily="2" charset="-122"/>
              </a:rPr>
              <a:t>z=0</a:t>
            </a:r>
            <a:r>
              <a:rPr lang="zh-CN" altLang="en-US" sz="2000">
                <a:solidFill>
                  <a:srgbClr val="993300"/>
                </a:solidFill>
                <a:latin typeface="Arial" panose="020B0604020202020204" pitchFamily="34" charset="0"/>
                <a:ea typeface="宋体" panose="02010600030101010101" pitchFamily="2" charset="-122"/>
              </a:rPr>
              <a:t>平面</a:t>
            </a:r>
            <a:endParaRPr lang="en-US" altLang="zh-CN" sz="2000">
              <a:solidFill>
                <a:srgbClr val="993300"/>
              </a:solidFill>
              <a:latin typeface="Arial" panose="020B0604020202020204" pitchFamily="34" charset="0"/>
              <a:ea typeface="宋体" panose="02010600030101010101" pitchFamily="2" charset="-122"/>
            </a:endParaRPr>
          </a:p>
        </p:txBody>
      </p:sp>
      <p:sp>
        <p:nvSpPr>
          <p:cNvPr id="56340" name="Rectangle 32"/>
          <p:cNvSpPr>
            <a:spLocks noChangeArrowheads="1"/>
          </p:cNvSpPr>
          <p:nvPr/>
        </p:nvSpPr>
        <p:spPr bwMode="auto">
          <a:xfrm>
            <a:off x="5000625" y="1630363"/>
            <a:ext cx="371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1800"/>
              <a:t>L</a:t>
            </a:r>
            <a:r>
              <a:rPr lang="zh-CN" altLang="en-US" sz="180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5"/>
          <p:cNvSpPr>
            <a:spLocks noChangeArrowheads="1"/>
          </p:cNvSpPr>
          <p:nvPr/>
        </p:nvSpPr>
        <p:spPr bwMode="auto">
          <a:xfrm>
            <a:off x="492373" y="233740"/>
            <a:ext cx="828015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取</a:t>
            </a:r>
            <a:r>
              <a:rPr lang="en-US" altLang="zh-CN" dirty="0"/>
              <a:t>β</a:t>
            </a:r>
            <a:r>
              <a:rPr lang="zh-CN" altLang="en-US" dirty="0"/>
              <a:t>＝</a:t>
            </a:r>
            <a:r>
              <a:rPr lang="en-US" altLang="zh-CN" dirty="0"/>
              <a:t>45°</a:t>
            </a:r>
            <a:r>
              <a:rPr lang="zh-CN" altLang="en-US" dirty="0"/>
              <a:t>，当</a:t>
            </a:r>
            <a:r>
              <a:rPr lang="en-US" altLang="zh-CN" dirty="0"/>
              <a:t>cotα=1</a:t>
            </a:r>
            <a:r>
              <a:rPr lang="zh-CN" altLang="en-US" dirty="0"/>
              <a:t>时，即</a:t>
            </a:r>
            <a:r>
              <a:rPr lang="zh-CN" altLang="en-US" b="1" dirty="0">
                <a:solidFill>
                  <a:srgbClr val="FF0000"/>
                </a:solidFill>
                <a:latin typeface="黑体" panose="02010609060101010101" pitchFamily="49" charset="-122"/>
                <a:ea typeface="黑体" panose="02010609060101010101" pitchFamily="49" charset="-122"/>
              </a:rPr>
              <a:t>投影方向与投影面成</a:t>
            </a:r>
            <a:r>
              <a:rPr lang="en-US" altLang="zh-CN" b="1" dirty="0">
                <a:solidFill>
                  <a:srgbClr val="FF0000"/>
                </a:solidFill>
                <a:latin typeface="黑体" panose="02010609060101010101" pitchFamily="49" charset="-122"/>
                <a:ea typeface="黑体" panose="02010609060101010101" pitchFamily="49" charset="-122"/>
              </a:rPr>
              <a:t>α=45°</a:t>
            </a:r>
            <a:r>
              <a:rPr lang="zh-CN" altLang="en-US" b="1" dirty="0">
                <a:solidFill>
                  <a:srgbClr val="FF0000"/>
                </a:solidFill>
                <a:latin typeface="黑体" panose="02010609060101010101" pitchFamily="49" charset="-122"/>
                <a:ea typeface="黑体" panose="02010609060101010101" pitchFamily="49" charset="-122"/>
              </a:rPr>
              <a:t>的夹角时</a:t>
            </a:r>
            <a:r>
              <a:rPr lang="zh-CN" altLang="en-US" dirty="0"/>
              <a:t>，垂直于投影面的任何直线段的投影长度</a:t>
            </a:r>
            <a:r>
              <a:rPr lang="zh-CN" altLang="en-US" b="1" dirty="0">
                <a:solidFill>
                  <a:srgbClr val="FF0000"/>
                </a:solidFill>
                <a:latin typeface="黑体" panose="02010609060101010101" pitchFamily="49" charset="-122"/>
                <a:ea typeface="黑体" panose="02010609060101010101" pitchFamily="49" charset="-122"/>
              </a:rPr>
              <a:t>比率</a:t>
            </a:r>
            <a:r>
              <a:rPr lang="zh-CN" altLang="en-US" dirty="0"/>
              <a:t>保持不变。例如：对于立方体，</a:t>
            </a:r>
            <a:r>
              <a:rPr lang="en-US" altLang="zh-CN" dirty="0"/>
              <a:t>x</a:t>
            </a:r>
            <a:r>
              <a:rPr lang="zh-CN" altLang="en-US" dirty="0"/>
              <a:t>、</a:t>
            </a:r>
            <a:r>
              <a:rPr lang="en-US" altLang="zh-CN" dirty="0"/>
              <a:t>y</a:t>
            </a:r>
            <a:r>
              <a:rPr lang="zh-CN" altLang="en-US" dirty="0"/>
              <a:t>、</a:t>
            </a:r>
            <a:r>
              <a:rPr lang="en-US" altLang="zh-CN" dirty="0"/>
              <a:t>z</a:t>
            </a:r>
            <a:r>
              <a:rPr lang="zh-CN" altLang="en-US" dirty="0"/>
              <a:t>三个方向的长度相等</a:t>
            </a:r>
            <a:r>
              <a:rPr lang="en-US" altLang="zh-CN" dirty="0">
                <a:solidFill>
                  <a:srgbClr val="FF0000"/>
                </a:solidFill>
              </a:rPr>
              <a:t>=a</a:t>
            </a:r>
            <a:r>
              <a:rPr lang="zh-CN" altLang="en-US" dirty="0"/>
              <a:t>，所以称为</a:t>
            </a:r>
            <a:r>
              <a:rPr lang="zh-CN" altLang="en-US" b="1" dirty="0">
                <a:solidFill>
                  <a:srgbClr val="FF0000"/>
                </a:solidFill>
                <a:latin typeface="黑体" panose="02010609060101010101" pitchFamily="49" charset="-122"/>
                <a:ea typeface="黑体" panose="02010609060101010101" pitchFamily="49" charset="-122"/>
              </a:rPr>
              <a:t>斜等测</a:t>
            </a:r>
            <a:r>
              <a:rPr lang="zh-CN" altLang="en-US" dirty="0"/>
              <a:t>。将</a:t>
            </a:r>
            <a:r>
              <a:rPr lang="en-US" altLang="zh-CN" dirty="0"/>
              <a:t>α</a:t>
            </a:r>
            <a:r>
              <a:rPr lang="zh-CN" altLang="en-US" dirty="0"/>
              <a:t>和</a:t>
            </a:r>
            <a:r>
              <a:rPr lang="en-US" altLang="zh-CN" dirty="0"/>
              <a:t>β</a:t>
            </a:r>
            <a:r>
              <a:rPr lang="zh-CN" altLang="en-US" dirty="0"/>
              <a:t>代入式（</a:t>
            </a:r>
            <a:r>
              <a:rPr lang="en-US" altLang="zh-CN" dirty="0"/>
              <a:t>6-40</a:t>
            </a:r>
            <a:r>
              <a:rPr lang="zh-CN" altLang="en-US" dirty="0"/>
              <a:t>），有</a:t>
            </a:r>
          </a:p>
        </p:txBody>
      </p:sp>
      <p:graphicFrame>
        <p:nvGraphicFramePr>
          <p:cNvPr id="57347" name="Object 10"/>
          <p:cNvGraphicFramePr>
            <a:graphicFrameLocks noChangeAspect="1"/>
          </p:cNvGraphicFramePr>
          <p:nvPr/>
        </p:nvGraphicFramePr>
        <p:xfrm>
          <a:off x="2428875" y="2143125"/>
          <a:ext cx="4171950" cy="1209675"/>
        </p:xfrm>
        <a:graphic>
          <a:graphicData uri="http://schemas.openxmlformats.org/presentationml/2006/ole">
            <mc:AlternateContent xmlns:mc="http://schemas.openxmlformats.org/markup-compatibility/2006">
              <mc:Choice xmlns:v="urn:schemas-microsoft-com:vml" Requires="v">
                <p:oleObj spid="_x0000_s57367" name="公式" r:id="rId3" imgW="1739900" imgH="508000" progId="Equation.3">
                  <p:embed/>
                </p:oleObj>
              </mc:Choice>
              <mc:Fallback>
                <p:oleObj name="公式" r:id="rId3" imgW="1739900" imgH="5080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75" y="2143125"/>
                        <a:ext cx="417195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48" name="Rectangle 28"/>
          <p:cNvSpPr>
            <a:spLocks noChangeArrowheads="1"/>
          </p:cNvSpPr>
          <p:nvPr/>
        </p:nvSpPr>
        <p:spPr bwMode="auto">
          <a:xfrm>
            <a:off x="7451725" y="2276475"/>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6-42</a:t>
            </a:r>
            <a:r>
              <a:rPr lang="zh-CN" altLang="en-US"/>
              <a:t>） </a:t>
            </a:r>
          </a:p>
        </p:txBody>
      </p:sp>
      <p:sp>
        <p:nvSpPr>
          <p:cNvPr id="57349" name="Rectangle 29"/>
          <p:cNvSpPr>
            <a:spLocks noChangeArrowheads="1"/>
          </p:cNvSpPr>
          <p:nvPr/>
        </p:nvSpPr>
        <p:spPr bwMode="auto">
          <a:xfrm>
            <a:off x="492374" y="3714750"/>
            <a:ext cx="828015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smtClean="0"/>
              <a:t>取</a:t>
            </a:r>
            <a:r>
              <a:rPr lang="en-US" altLang="zh-CN" dirty="0"/>
              <a:t>β</a:t>
            </a:r>
            <a:r>
              <a:rPr lang="zh-CN" altLang="en-US" dirty="0"/>
              <a:t>＝</a:t>
            </a:r>
            <a:r>
              <a:rPr lang="en-US" altLang="zh-CN" dirty="0"/>
              <a:t>45°</a:t>
            </a:r>
            <a:r>
              <a:rPr lang="zh-CN" altLang="en-US" dirty="0"/>
              <a:t>，当</a:t>
            </a:r>
            <a:r>
              <a:rPr lang="en-US" altLang="zh-CN" dirty="0"/>
              <a:t>cotα=1/2</a:t>
            </a:r>
            <a:r>
              <a:rPr lang="zh-CN" altLang="en-US" dirty="0"/>
              <a:t>时，有</a:t>
            </a:r>
            <a:r>
              <a:rPr lang="en-US" altLang="zh-CN" dirty="0"/>
              <a:t>α≈63.4°</a:t>
            </a:r>
            <a:r>
              <a:rPr lang="zh-CN" altLang="en-US" dirty="0"/>
              <a:t>，得到的斜投影图为</a:t>
            </a:r>
            <a:r>
              <a:rPr lang="zh-CN" altLang="en-US" b="1" dirty="0">
                <a:solidFill>
                  <a:srgbClr val="FF0000"/>
                </a:solidFill>
                <a:latin typeface="黑体" panose="02010609060101010101" pitchFamily="49" charset="-122"/>
                <a:ea typeface="黑体" panose="02010609060101010101" pitchFamily="49" charset="-122"/>
              </a:rPr>
              <a:t>斜二测图</a:t>
            </a:r>
            <a:r>
              <a:rPr lang="zh-CN" altLang="en-US" dirty="0"/>
              <a:t>，这时，</a:t>
            </a:r>
            <a:r>
              <a:rPr lang="en-US" altLang="zh-CN" dirty="0"/>
              <a:t>z</a:t>
            </a:r>
            <a:r>
              <a:rPr lang="zh-CN" altLang="en-US" dirty="0"/>
              <a:t>方向的长度为原长度的一半。例如：对于立方体，</a:t>
            </a:r>
            <a:r>
              <a:rPr lang="en-US" altLang="zh-CN" dirty="0"/>
              <a:t>x</a:t>
            </a:r>
            <a:r>
              <a:rPr lang="zh-CN" altLang="en-US" dirty="0"/>
              <a:t>、</a:t>
            </a:r>
            <a:r>
              <a:rPr lang="en-US" altLang="zh-CN" dirty="0"/>
              <a:t>y</a:t>
            </a:r>
            <a:r>
              <a:rPr lang="zh-CN" altLang="en-US" dirty="0"/>
              <a:t>方向的长度</a:t>
            </a:r>
            <a:r>
              <a:rPr lang="en-US" altLang="zh-CN" dirty="0">
                <a:solidFill>
                  <a:srgbClr val="FF0000"/>
                </a:solidFill>
              </a:rPr>
              <a:t>=a</a:t>
            </a:r>
            <a:r>
              <a:rPr lang="zh-CN" altLang="en-US" dirty="0"/>
              <a:t>，</a:t>
            </a:r>
            <a:r>
              <a:rPr lang="en-US" altLang="zh-CN" dirty="0"/>
              <a:t>z</a:t>
            </a:r>
            <a:r>
              <a:rPr lang="zh-CN" altLang="en-US" dirty="0"/>
              <a:t>方向的长度</a:t>
            </a:r>
            <a:r>
              <a:rPr lang="en-US" altLang="zh-CN" dirty="0">
                <a:solidFill>
                  <a:srgbClr val="FF0000"/>
                </a:solidFill>
              </a:rPr>
              <a:t>=a/2</a:t>
            </a:r>
            <a:r>
              <a:rPr lang="zh-CN" altLang="en-US" dirty="0"/>
              <a:t> ，将</a:t>
            </a:r>
            <a:r>
              <a:rPr lang="en-US" altLang="zh-CN" dirty="0"/>
              <a:t>α</a:t>
            </a:r>
            <a:r>
              <a:rPr lang="zh-CN" altLang="en-US" dirty="0"/>
              <a:t>和</a:t>
            </a:r>
            <a:r>
              <a:rPr lang="en-US" altLang="zh-CN" dirty="0"/>
              <a:t>β</a:t>
            </a:r>
            <a:r>
              <a:rPr lang="zh-CN" altLang="en-US" dirty="0"/>
              <a:t>代入式（</a:t>
            </a:r>
            <a:r>
              <a:rPr lang="en-US" altLang="zh-CN" dirty="0"/>
              <a:t>6-40</a:t>
            </a:r>
            <a:r>
              <a:rPr lang="zh-CN" altLang="en-US" dirty="0"/>
              <a:t>），有</a:t>
            </a:r>
          </a:p>
        </p:txBody>
      </p:sp>
      <p:graphicFrame>
        <p:nvGraphicFramePr>
          <p:cNvPr id="57350" name="Object 14"/>
          <p:cNvGraphicFramePr>
            <a:graphicFrameLocks noChangeAspect="1"/>
          </p:cNvGraphicFramePr>
          <p:nvPr/>
        </p:nvGraphicFramePr>
        <p:xfrm>
          <a:off x="2500313" y="5500688"/>
          <a:ext cx="4413250" cy="1123950"/>
        </p:xfrm>
        <a:graphic>
          <a:graphicData uri="http://schemas.openxmlformats.org/presentationml/2006/ole">
            <mc:AlternateContent xmlns:mc="http://schemas.openxmlformats.org/markup-compatibility/2006">
              <mc:Choice xmlns:v="urn:schemas-microsoft-com:vml" Requires="v">
                <p:oleObj spid="_x0000_s57368" name="公式" r:id="rId5" imgW="1981200" imgH="508000" progId="Equation.3">
                  <p:embed/>
                </p:oleObj>
              </mc:Choice>
              <mc:Fallback>
                <p:oleObj name="公式" r:id="rId5" imgW="1981200" imgH="5080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0313" y="5500688"/>
                        <a:ext cx="441325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1" name="Rectangle 32"/>
          <p:cNvSpPr>
            <a:spLocks noChangeArrowheads="1"/>
          </p:cNvSpPr>
          <p:nvPr/>
        </p:nvSpPr>
        <p:spPr bwMode="auto">
          <a:xfrm>
            <a:off x="7451725" y="5589588"/>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6-43</a:t>
            </a:r>
            <a:r>
              <a:rPr lang="zh-CN" altLang="en-US"/>
              <a:t>） </a:t>
            </a:r>
          </a:p>
        </p:txBody>
      </p:sp>
      <p:grpSp>
        <p:nvGrpSpPr>
          <p:cNvPr id="2" name="组合 18"/>
          <p:cNvGrpSpPr>
            <a:grpSpLocks/>
          </p:cNvGrpSpPr>
          <p:nvPr/>
        </p:nvGrpSpPr>
        <p:grpSpPr bwMode="auto">
          <a:xfrm>
            <a:off x="2714625" y="3143250"/>
            <a:ext cx="4872038" cy="461963"/>
            <a:chOff x="2714614" y="3000372"/>
            <a:chExt cx="4872183" cy="461665"/>
          </a:xfrm>
        </p:grpSpPr>
        <p:cxnSp>
          <p:nvCxnSpPr>
            <p:cNvPr id="17" name="直接连接符 16"/>
            <p:cNvCxnSpPr>
              <a:endCxn id="57354" idx="1"/>
            </p:cNvCxnSpPr>
            <p:nvPr/>
          </p:nvCxnSpPr>
          <p:spPr bwMode="auto">
            <a:xfrm>
              <a:off x="2714614" y="3214547"/>
              <a:ext cx="4072059" cy="17451"/>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57354" name="矩形 17"/>
            <p:cNvSpPr>
              <a:spLocks noChangeArrowheads="1"/>
            </p:cNvSpPr>
            <p:nvPr/>
          </p:nvSpPr>
          <p:spPr bwMode="auto">
            <a:xfrm>
              <a:off x="6786578" y="3000372"/>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zh-CN" altLang="en-US" dirty="0">
                  <a:solidFill>
                    <a:srgbClr val="000000"/>
                  </a:solidFill>
                </a:rPr>
                <a:t>常用</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10"/>
          <p:cNvSpPr>
            <a:spLocks noChangeArrowheads="1"/>
          </p:cNvSpPr>
          <p:nvPr/>
        </p:nvSpPr>
        <p:spPr bwMode="auto">
          <a:xfrm>
            <a:off x="1403350" y="0"/>
            <a:ext cx="3168650" cy="647700"/>
          </a:xfrm>
          <a:prstGeom prst="rect">
            <a:avLst/>
          </a:prstGeom>
          <a:noFill/>
          <a:ln w="9525">
            <a:noFill/>
            <a:miter lim="800000"/>
            <a:headEnd/>
            <a:tailEnd/>
          </a:ln>
        </p:spPr>
        <p:txBody>
          <a:bodyPr anchor="b"/>
          <a:lstStyle/>
          <a:p>
            <a:pPr eaLnBrk="1" hangingPunct="1">
              <a:buFont typeface="Arial" charset="0"/>
              <a:buNone/>
              <a:defRPr/>
            </a:pPr>
            <a:r>
              <a:rPr lang="en-US" altLang="zh-CN" sz="3200" b="1">
                <a:effectLst>
                  <a:outerShdw blurRad="38100" dist="38100" dir="2700000" algn="tl">
                    <a:srgbClr val="C0C0C0"/>
                  </a:outerShdw>
                </a:effectLst>
                <a:latin typeface="楷体_GB2312" pitchFamily="49" charset="-122"/>
              </a:rPr>
              <a:t>6.6 </a:t>
            </a:r>
            <a:r>
              <a:rPr lang="zh-CN" altLang="en-US" sz="3200" b="1">
                <a:effectLst>
                  <a:outerShdw blurRad="38100" dist="38100" dir="2700000" algn="tl">
                    <a:srgbClr val="C0C0C0"/>
                  </a:outerShdw>
                </a:effectLst>
                <a:latin typeface="楷体_GB2312" pitchFamily="49" charset="-122"/>
              </a:rPr>
              <a:t>透视投影</a:t>
            </a:r>
            <a:r>
              <a:rPr lang="zh-CN" altLang="en-US" sz="3600" b="1">
                <a:solidFill>
                  <a:srgbClr val="FF3300"/>
                </a:solidFill>
                <a:ea typeface="宋体" pitchFamily="2" charset="-122"/>
              </a:rPr>
              <a:t> </a:t>
            </a:r>
            <a:r>
              <a:rPr lang="zh-CN" altLang="en-US" sz="3200" b="1">
                <a:solidFill>
                  <a:srgbClr val="FF3300"/>
                </a:solidFill>
                <a:ea typeface="宋体" pitchFamily="2" charset="-122"/>
              </a:rPr>
              <a:t> </a:t>
            </a:r>
          </a:p>
        </p:txBody>
      </p:sp>
      <p:graphicFrame>
        <p:nvGraphicFramePr>
          <p:cNvPr id="58371" name="Object 18"/>
          <p:cNvGraphicFramePr>
            <a:graphicFrameLocks noChangeAspect="1"/>
          </p:cNvGraphicFramePr>
          <p:nvPr/>
        </p:nvGraphicFramePr>
        <p:xfrm>
          <a:off x="1547813" y="1341438"/>
          <a:ext cx="7096125" cy="4475162"/>
        </p:xfrm>
        <a:graphic>
          <a:graphicData uri="http://schemas.openxmlformats.org/presentationml/2006/ole">
            <mc:AlternateContent xmlns:mc="http://schemas.openxmlformats.org/markup-compatibility/2006">
              <mc:Choice xmlns:v="urn:schemas-microsoft-com:vml" Requires="v">
                <p:oleObj spid="_x0000_s58377" name="Visio" r:id="rId3" imgW="6166743" imgH="4006805" progId="Visio.Drawing.11">
                  <p:embed/>
                </p:oleObj>
              </mc:Choice>
              <mc:Fallback>
                <p:oleObj name="Visio" r:id="rId3" imgW="6166743" imgH="4006805" progId="Visio.Drawing.11">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341438"/>
                        <a:ext cx="7096125" cy="447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8965"/>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2714625"/>
            <a:ext cx="3154363"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5" name="TextBox 47"/>
          <p:cNvSpPr txBox="1">
            <a:spLocks noChangeArrowheads="1"/>
          </p:cNvSpPr>
          <p:nvPr/>
        </p:nvSpPr>
        <p:spPr bwMode="auto">
          <a:xfrm>
            <a:off x="3786188" y="0"/>
            <a:ext cx="3071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en-US" altLang="zh-CN"/>
              <a:t>Vanish point </a:t>
            </a:r>
            <a:r>
              <a:rPr lang="zh-CN" altLang="en-US"/>
              <a:t>灭点</a:t>
            </a:r>
          </a:p>
        </p:txBody>
      </p:sp>
      <p:sp>
        <p:nvSpPr>
          <p:cNvPr id="59396" name="TextBox 48"/>
          <p:cNvSpPr txBox="1">
            <a:spLocks noChangeArrowheads="1"/>
          </p:cNvSpPr>
          <p:nvPr/>
        </p:nvSpPr>
        <p:spPr bwMode="auto">
          <a:xfrm>
            <a:off x="1143000" y="0"/>
            <a:ext cx="10715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en-US" altLang="zh-CN"/>
              <a:t>1</a:t>
            </a:r>
            <a:r>
              <a:rPr lang="zh-CN" altLang="en-US"/>
              <a:t>灭点</a:t>
            </a:r>
          </a:p>
        </p:txBody>
      </p:sp>
      <p:sp>
        <p:nvSpPr>
          <p:cNvPr id="59397" name="TextBox 49"/>
          <p:cNvSpPr txBox="1">
            <a:spLocks noChangeArrowheads="1"/>
          </p:cNvSpPr>
          <p:nvPr/>
        </p:nvSpPr>
        <p:spPr bwMode="auto">
          <a:xfrm>
            <a:off x="1143000" y="2071688"/>
            <a:ext cx="10715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en-US" altLang="zh-CN"/>
              <a:t>2</a:t>
            </a:r>
            <a:r>
              <a:rPr lang="zh-CN" altLang="en-US"/>
              <a:t>灭点</a:t>
            </a:r>
          </a:p>
        </p:txBody>
      </p:sp>
      <p:sp>
        <p:nvSpPr>
          <p:cNvPr id="59398" name="TextBox 50"/>
          <p:cNvSpPr txBox="1">
            <a:spLocks noChangeArrowheads="1"/>
          </p:cNvSpPr>
          <p:nvPr/>
        </p:nvSpPr>
        <p:spPr bwMode="auto">
          <a:xfrm>
            <a:off x="1214438" y="4357688"/>
            <a:ext cx="10715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en-US" altLang="zh-CN"/>
              <a:t>3</a:t>
            </a:r>
            <a:r>
              <a:rPr lang="zh-CN" altLang="en-US"/>
              <a:t>灭点</a:t>
            </a:r>
          </a:p>
        </p:txBody>
      </p:sp>
      <p:pic>
        <p:nvPicPr>
          <p:cNvPr id="59399" name="Picture 20" descr="c:\documents and settings\administrator\application data\360se6\User Data\temp\t017ceeb388e88745a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4781550"/>
            <a:ext cx="2714625"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25" name="Picture 25"/>
          <p:cNvPicPr>
            <a:picLocks noChangeAspect="1" noChangeArrowheads="1"/>
          </p:cNvPicPr>
          <p:nvPr/>
        </p:nvPicPr>
        <p:blipFill>
          <a:blip r:embed="rId4"/>
          <a:srcRect/>
          <a:stretch>
            <a:fillRect/>
          </a:stretch>
        </p:blipFill>
        <p:spPr bwMode="auto">
          <a:xfrm>
            <a:off x="2286000" y="500063"/>
            <a:ext cx="2438400" cy="2057400"/>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59401" name="Picture 35" descr="c:\documents and settings\administrator\application data\360se6\User Data\temp\20131276711386209978.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4786313"/>
            <a:ext cx="2736850"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36" name="Picture 36"/>
          <p:cNvPicPr>
            <a:picLocks noChangeAspect="1" noChangeArrowheads="1"/>
          </p:cNvPicPr>
          <p:nvPr/>
        </p:nvPicPr>
        <p:blipFill>
          <a:blip r:embed="rId6"/>
          <a:srcRect/>
          <a:stretch>
            <a:fillRect/>
          </a:stretch>
        </p:blipFill>
        <p:spPr bwMode="auto">
          <a:xfrm>
            <a:off x="5715000" y="2714625"/>
            <a:ext cx="2714625" cy="1979613"/>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76837" name="Picture 37"/>
          <p:cNvPicPr>
            <a:picLocks noChangeAspect="1" noChangeArrowheads="1"/>
          </p:cNvPicPr>
          <p:nvPr/>
        </p:nvPicPr>
        <p:blipFill>
          <a:blip r:embed="rId7"/>
          <a:srcRect/>
          <a:stretch>
            <a:fillRect/>
          </a:stretch>
        </p:blipFill>
        <p:spPr bwMode="auto">
          <a:xfrm>
            <a:off x="5643563" y="500063"/>
            <a:ext cx="2820987" cy="2071687"/>
          </a:xfrm>
          <a:prstGeom prst="rect">
            <a:avLst/>
          </a:prstGeom>
          <a:noFill/>
          <a:ln w="9525">
            <a:noFill/>
            <a:miter lim="800000"/>
            <a:headEnd/>
            <a:tailEnd/>
          </a:ln>
          <a:effectLst>
            <a:prstShdw prst="shdw17" dist="17961" dir="2700000">
              <a:schemeClr val="accent1">
                <a:gamma/>
                <a:shade val="60000"/>
                <a:invGamma/>
              </a:schemeClr>
            </a:prstShdw>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1"/>
          <p:cNvSpPr>
            <a:spLocks noChangeArrowheads="1"/>
          </p:cNvSpPr>
          <p:nvPr/>
        </p:nvSpPr>
        <p:spPr bwMode="auto">
          <a:xfrm>
            <a:off x="683568" y="318522"/>
            <a:ext cx="817150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与平行投影相比，</a:t>
            </a:r>
            <a:r>
              <a:rPr lang="zh-CN" altLang="en-US" b="1" dirty="0">
                <a:solidFill>
                  <a:srgbClr val="FF0000"/>
                </a:solidFill>
                <a:latin typeface="黑体" panose="02010609060101010101" pitchFamily="49" charset="-122"/>
                <a:ea typeface="黑体" panose="02010609060101010101" pitchFamily="49" charset="-122"/>
              </a:rPr>
              <a:t>透视投影的特点是所有投影线都从空间一点（称为</a:t>
            </a:r>
            <a:r>
              <a:rPr lang="zh-CN" altLang="en-US" sz="1800" b="1" dirty="0">
                <a:solidFill>
                  <a:srgbClr val="3366FF"/>
                </a:solidFill>
                <a:latin typeface="方正粗黑宋简体" panose="02000000000000000000" pitchFamily="2" charset="-122"/>
                <a:ea typeface="方正粗黑宋简体" panose="02000000000000000000" pitchFamily="2" charset="-122"/>
              </a:rPr>
              <a:t>视点</a:t>
            </a:r>
            <a:r>
              <a:rPr lang="zh-CN" altLang="en-US" b="1" dirty="0">
                <a:solidFill>
                  <a:srgbClr val="FF0000"/>
                </a:solidFill>
                <a:latin typeface="黑体" panose="02010609060101010101" pitchFamily="49" charset="-122"/>
                <a:ea typeface="黑体" panose="02010609060101010101" pitchFamily="49" charset="-122"/>
              </a:rPr>
              <a:t>或</a:t>
            </a:r>
            <a:r>
              <a:rPr lang="zh-CN" altLang="en-US" sz="1800" b="1" dirty="0">
                <a:solidFill>
                  <a:srgbClr val="3366FF"/>
                </a:solidFill>
                <a:latin typeface="方正粗黑宋简体" panose="02000000000000000000" pitchFamily="2" charset="-122"/>
                <a:ea typeface="方正粗黑宋简体" panose="02000000000000000000" pitchFamily="2" charset="-122"/>
              </a:rPr>
              <a:t>投影中心</a:t>
            </a:r>
            <a:r>
              <a:rPr lang="zh-CN" altLang="en-US" b="1" dirty="0">
                <a:solidFill>
                  <a:srgbClr val="FF0000"/>
                </a:solidFill>
                <a:latin typeface="黑体" panose="02010609060101010101" pitchFamily="49" charset="-122"/>
                <a:ea typeface="黑体" panose="02010609060101010101" pitchFamily="49" charset="-122"/>
              </a:rPr>
              <a:t>）投射</a:t>
            </a:r>
            <a:r>
              <a:rPr lang="zh-CN" altLang="en-US" dirty="0"/>
              <a:t>，离视点近的物体投影大，离视点远的物体投影小，小到极点消失，称为灭点（</a:t>
            </a:r>
            <a:r>
              <a:rPr lang="en-US" altLang="zh-CN" sz="1800" b="1" dirty="0">
                <a:solidFill>
                  <a:srgbClr val="3366FF"/>
                </a:solidFill>
                <a:latin typeface="方正粗黑宋简体" panose="02000000000000000000" pitchFamily="2" charset="-122"/>
                <a:ea typeface="方正粗黑宋简体" panose="02000000000000000000" pitchFamily="2" charset="-122"/>
              </a:rPr>
              <a:t>vanishing point</a:t>
            </a:r>
            <a:r>
              <a:rPr lang="zh-CN" altLang="en-US" dirty="0"/>
              <a:t>）。一般将屏幕放在观察者和物体之间。投影线与屏幕的交点就是物体上一点的透视投影。</a:t>
            </a:r>
            <a:r>
              <a:rPr lang="zh-CN" altLang="en-US" b="1" dirty="0">
                <a:solidFill>
                  <a:srgbClr val="FF0000"/>
                </a:solidFill>
                <a:latin typeface="黑体" panose="02010609060101010101" pitchFamily="49" charset="-122"/>
                <a:ea typeface="黑体" panose="02010609060101010101" pitchFamily="49" charset="-122"/>
              </a:rPr>
              <a:t>视点</a:t>
            </a:r>
            <a:r>
              <a:rPr lang="zh-CN" altLang="en-US" dirty="0"/>
              <a:t>代表</a:t>
            </a:r>
            <a:r>
              <a:rPr lang="zh-CN" altLang="en-US" b="1" dirty="0">
                <a:solidFill>
                  <a:srgbClr val="FF0000"/>
                </a:solidFill>
                <a:latin typeface="黑体" panose="02010609060101010101" pitchFamily="49" charset="-122"/>
                <a:ea typeface="黑体" panose="02010609060101010101" pitchFamily="49" charset="-122"/>
              </a:rPr>
              <a:t>人眼或照相机、摄像机</a:t>
            </a:r>
            <a:r>
              <a:rPr lang="zh-CN" altLang="en-US" dirty="0"/>
              <a:t>的位置，是</a:t>
            </a:r>
            <a:r>
              <a:rPr lang="zh-CN" altLang="en-US" sz="1800" b="1" dirty="0">
                <a:solidFill>
                  <a:srgbClr val="3366FF"/>
                </a:solidFill>
                <a:latin typeface="方正粗黑宋简体" panose="02000000000000000000" pitchFamily="2" charset="-122"/>
                <a:ea typeface="方正粗黑宋简体" panose="02000000000000000000" pitchFamily="2" charset="-122"/>
              </a:rPr>
              <a:t>观察坐标系的原点</a:t>
            </a:r>
            <a:r>
              <a:rPr lang="zh-CN" altLang="en-US" dirty="0"/>
              <a:t>。</a:t>
            </a:r>
            <a:r>
              <a:rPr lang="zh-CN" altLang="en-US" b="1" dirty="0">
                <a:solidFill>
                  <a:srgbClr val="FF0000"/>
                </a:solidFill>
                <a:latin typeface="黑体" panose="02010609060101010101" pitchFamily="49" charset="-122"/>
                <a:ea typeface="黑体" panose="02010609060101010101" pitchFamily="49" charset="-122"/>
              </a:rPr>
              <a:t>视心</a:t>
            </a:r>
            <a:r>
              <a:rPr lang="zh-CN" altLang="en-US" dirty="0"/>
              <a:t>是</a:t>
            </a:r>
            <a:r>
              <a:rPr lang="zh-CN" altLang="en-US" sz="1800" b="1" dirty="0">
                <a:solidFill>
                  <a:srgbClr val="3366FF"/>
                </a:solidFill>
                <a:latin typeface="方正粗黑宋简体" panose="02000000000000000000" pitchFamily="2" charset="-122"/>
                <a:ea typeface="方正粗黑宋简体" panose="02000000000000000000" pitchFamily="2" charset="-122"/>
              </a:rPr>
              <a:t>屏幕坐标系的原点。</a:t>
            </a:r>
          </a:p>
        </p:txBody>
      </p:sp>
      <p:graphicFrame>
        <p:nvGraphicFramePr>
          <p:cNvPr id="60419" name="Object 12"/>
          <p:cNvGraphicFramePr>
            <a:graphicFrameLocks noChangeAspect="1"/>
          </p:cNvGraphicFramePr>
          <p:nvPr/>
        </p:nvGraphicFramePr>
        <p:xfrm>
          <a:off x="3132138" y="3429000"/>
          <a:ext cx="4032250" cy="2687638"/>
        </p:xfrm>
        <a:graphic>
          <a:graphicData uri="http://schemas.openxmlformats.org/presentationml/2006/ole">
            <mc:AlternateContent xmlns:mc="http://schemas.openxmlformats.org/markup-compatibility/2006">
              <mc:Choice xmlns:v="urn:schemas-microsoft-com:vml" Requires="v">
                <p:oleObj spid="_x0000_s60432" r:id="rId3" imgW="10486949" imgH="6958889" progId="Visio.Drawing.11">
                  <p:embed/>
                </p:oleObj>
              </mc:Choice>
              <mc:Fallback>
                <p:oleObj r:id="rId3" imgW="10486949" imgH="6958889" progId="Visio.Drawing.11">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3429000"/>
                        <a:ext cx="4032250"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0" name="Text Box 14"/>
          <p:cNvSpPr txBox="1">
            <a:spLocks noChangeArrowheads="1"/>
          </p:cNvSpPr>
          <p:nvPr/>
        </p:nvSpPr>
        <p:spPr bwMode="auto">
          <a:xfrm>
            <a:off x="4716463" y="5734050"/>
            <a:ext cx="7921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sz="2000">
                <a:latin typeface="楷体_GB2312" pitchFamily="49" charset="-122"/>
              </a:rPr>
              <a:t>视径</a:t>
            </a:r>
            <a:r>
              <a:rPr lang="en-US" altLang="zh-CN" sz="2000">
                <a:latin typeface="楷体_GB2312" pitchFamily="49" charset="-122"/>
              </a:rPr>
              <a:t>R</a:t>
            </a:r>
          </a:p>
        </p:txBody>
      </p:sp>
      <p:sp>
        <p:nvSpPr>
          <p:cNvPr id="60421" name="Rectangle 15"/>
          <p:cNvSpPr>
            <a:spLocks noChangeArrowheads="1"/>
          </p:cNvSpPr>
          <p:nvPr/>
        </p:nvSpPr>
        <p:spPr bwMode="auto">
          <a:xfrm>
            <a:off x="5076825" y="3644900"/>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屏幕</a:t>
            </a:r>
          </a:p>
        </p:txBody>
      </p:sp>
      <p:sp>
        <p:nvSpPr>
          <p:cNvPr id="60422" name="Rectangle 16"/>
          <p:cNvSpPr>
            <a:spLocks noChangeArrowheads="1"/>
          </p:cNvSpPr>
          <p:nvPr/>
        </p:nvSpPr>
        <p:spPr bwMode="auto">
          <a:xfrm>
            <a:off x="7019925" y="4506913"/>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视点</a:t>
            </a:r>
          </a:p>
        </p:txBody>
      </p:sp>
      <p:sp>
        <p:nvSpPr>
          <p:cNvPr id="60423" name="Rectangle 17"/>
          <p:cNvSpPr>
            <a:spLocks noChangeArrowheads="1"/>
          </p:cNvSpPr>
          <p:nvPr/>
        </p:nvSpPr>
        <p:spPr bwMode="auto">
          <a:xfrm>
            <a:off x="2051050" y="4724400"/>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物体</a:t>
            </a:r>
          </a:p>
        </p:txBody>
      </p:sp>
      <p:sp>
        <p:nvSpPr>
          <p:cNvPr id="60424" name="Rectangle 18"/>
          <p:cNvSpPr>
            <a:spLocks noChangeArrowheads="1"/>
          </p:cNvSpPr>
          <p:nvPr/>
        </p:nvSpPr>
        <p:spPr bwMode="auto">
          <a:xfrm>
            <a:off x="5435600" y="5157788"/>
            <a:ext cx="831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视距</a:t>
            </a:r>
            <a:r>
              <a:rPr lang="en-US" altLang="zh-CN" sz="2000"/>
              <a:t>d</a:t>
            </a:r>
          </a:p>
        </p:txBody>
      </p:sp>
      <p:sp>
        <p:nvSpPr>
          <p:cNvPr id="60425" name="Rectangle 20"/>
          <p:cNvSpPr>
            <a:spLocks noChangeArrowheads="1"/>
          </p:cNvSpPr>
          <p:nvPr/>
        </p:nvSpPr>
        <p:spPr bwMode="auto">
          <a:xfrm>
            <a:off x="3405188" y="6284913"/>
            <a:ext cx="332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透视变换中屏幕的位置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4"/>
          <p:cNvSpPr>
            <a:spLocks noChangeArrowheads="1"/>
          </p:cNvSpPr>
          <p:nvPr/>
        </p:nvSpPr>
        <p:spPr bwMode="auto">
          <a:xfrm>
            <a:off x="1258888" y="188913"/>
            <a:ext cx="3457575"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a:effectLst>
                  <a:outerShdw blurRad="38100" dist="38100" dir="2700000" algn="tl">
                    <a:srgbClr val="C0C0C0"/>
                  </a:outerShdw>
                </a:effectLst>
                <a:latin typeface="楷体_GB2312" pitchFamily="49" charset="-122"/>
              </a:rPr>
              <a:t>6.6.1 </a:t>
            </a:r>
            <a:r>
              <a:rPr lang="zh-CN" altLang="en-US" b="1">
                <a:effectLst>
                  <a:outerShdw blurRad="38100" dist="38100" dir="2700000" algn="tl">
                    <a:srgbClr val="C0C0C0"/>
                  </a:outerShdw>
                </a:effectLst>
              </a:rPr>
              <a:t>透视变换坐标系</a:t>
            </a:r>
            <a:r>
              <a:rPr lang="zh-CN" altLang="en-US"/>
              <a:t>   </a:t>
            </a:r>
          </a:p>
        </p:txBody>
      </p:sp>
      <p:sp>
        <p:nvSpPr>
          <p:cNvPr id="61443" name="Rectangle 17"/>
          <p:cNvSpPr>
            <a:spLocks noChangeArrowheads="1"/>
          </p:cNvSpPr>
          <p:nvPr/>
        </p:nvSpPr>
        <p:spPr bwMode="auto">
          <a:xfrm>
            <a:off x="683568" y="857556"/>
            <a:ext cx="824612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透视投影变换中，物体中心位于世界坐标系</a:t>
            </a:r>
            <a:r>
              <a:rPr lang="en-US" altLang="zh-CN" dirty="0" err="1"/>
              <a:t>O</a:t>
            </a:r>
            <a:r>
              <a:rPr lang="en-US" altLang="zh-CN" baseline="-25000" dirty="0" err="1"/>
              <a:t>w</a:t>
            </a:r>
            <a:r>
              <a:rPr lang="en-US" altLang="zh-CN" dirty="0" err="1"/>
              <a:t>x</a:t>
            </a:r>
            <a:r>
              <a:rPr lang="en-US" altLang="zh-CN" baseline="-25000" dirty="0" err="1"/>
              <a:t>w</a:t>
            </a:r>
            <a:r>
              <a:rPr lang="en-US" altLang="zh-CN" dirty="0" err="1"/>
              <a:t>y</a:t>
            </a:r>
            <a:r>
              <a:rPr lang="en-US" altLang="zh-CN" baseline="-25000" dirty="0" err="1"/>
              <a:t>w</a:t>
            </a:r>
            <a:r>
              <a:rPr lang="en-US" altLang="zh-CN" dirty="0" err="1"/>
              <a:t>z</a:t>
            </a:r>
            <a:r>
              <a:rPr lang="en-US" altLang="zh-CN" baseline="-25000" dirty="0" err="1"/>
              <a:t>w</a:t>
            </a:r>
            <a:r>
              <a:rPr lang="zh-CN" altLang="en-US" dirty="0"/>
              <a:t>的原点</a:t>
            </a:r>
            <a:r>
              <a:rPr lang="en-US" altLang="zh-CN" dirty="0"/>
              <a:t>O</a:t>
            </a:r>
            <a:r>
              <a:rPr lang="en-US" altLang="zh-CN" baseline="-25000" dirty="0"/>
              <a:t>w</a:t>
            </a:r>
            <a:r>
              <a:rPr lang="zh-CN" altLang="en-US" dirty="0"/>
              <a:t>，视点位于观察（眼睛</a:t>
            </a:r>
            <a:r>
              <a:rPr lang="en-US" altLang="zh-CN" dirty="0"/>
              <a:t>eye</a:t>
            </a:r>
            <a:r>
              <a:rPr lang="zh-CN" altLang="en-US" dirty="0"/>
              <a:t>）坐标系</a:t>
            </a:r>
            <a:r>
              <a:rPr lang="en-US" altLang="zh-CN" dirty="0" err="1"/>
              <a:t>O</a:t>
            </a:r>
            <a:r>
              <a:rPr lang="en-US" altLang="zh-CN" baseline="-25000" dirty="0" err="1"/>
              <a:t>v</a:t>
            </a:r>
            <a:r>
              <a:rPr lang="en-US" altLang="zh-CN" dirty="0" err="1"/>
              <a:t>x</a:t>
            </a:r>
            <a:r>
              <a:rPr lang="en-US" altLang="zh-CN" baseline="-25000" dirty="0" err="1"/>
              <a:t>v</a:t>
            </a:r>
            <a:r>
              <a:rPr lang="en-US" altLang="zh-CN" dirty="0" err="1"/>
              <a:t>y</a:t>
            </a:r>
            <a:r>
              <a:rPr lang="en-US" altLang="zh-CN" baseline="-25000" dirty="0" err="1"/>
              <a:t>v</a:t>
            </a:r>
            <a:r>
              <a:rPr lang="en-US" altLang="zh-CN" dirty="0" err="1"/>
              <a:t>z</a:t>
            </a:r>
            <a:r>
              <a:rPr lang="en-US" altLang="zh-CN" baseline="-25000" dirty="0" err="1"/>
              <a:t>v</a:t>
            </a:r>
            <a:r>
              <a:rPr lang="zh-CN" altLang="en-US" dirty="0"/>
              <a:t>的原点</a:t>
            </a:r>
            <a:r>
              <a:rPr lang="en-US" altLang="zh-CN" dirty="0" err="1"/>
              <a:t>O</a:t>
            </a:r>
            <a:r>
              <a:rPr lang="en-US" altLang="zh-CN" baseline="-25000" dirty="0" err="1"/>
              <a:t>v</a:t>
            </a:r>
            <a:r>
              <a:rPr lang="zh-CN" altLang="en-US" dirty="0"/>
              <a:t>（</a:t>
            </a:r>
            <a:r>
              <a:rPr lang="en-US" altLang="zh-CN" dirty="0" err="1"/>
              <a:t>a,b,c</a:t>
            </a:r>
            <a:r>
              <a:rPr lang="zh-CN" altLang="en-US" dirty="0"/>
              <a:t>），投影中心位于屏幕坐标系</a:t>
            </a:r>
            <a:r>
              <a:rPr lang="en-US" altLang="zh-CN" dirty="0" err="1"/>
              <a:t>O</a:t>
            </a:r>
            <a:r>
              <a:rPr lang="en-US" altLang="zh-CN" baseline="-25000" dirty="0" err="1"/>
              <a:t>s</a:t>
            </a:r>
            <a:r>
              <a:rPr lang="en-US" altLang="zh-CN" dirty="0" err="1"/>
              <a:t>x</a:t>
            </a:r>
            <a:r>
              <a:rPr lang="en-US" altLang="zh-CN" baseline="-25000" dirty="0" err="1"/>
              <a:t>s</a:t>
            </a:r>
            <a:r>
              <a:rPr lang="en-US" altLang="zh-CN" dirty="0" err="1"/>
              <a:t>y</a:t>
            </a:r>
            <a:r>
              <a:rPr lang="en-US" altLang="zh-CN" baseline="-25000" dirty="0" err="1"/>
              <a:t>s</a:t>
            </a:r>
            <a:r>
              <a:rPr lang="en-US" altLang="zh-CN" dirty="0" err="1"/>
              <a:t>z</a:t>
            </a:r>
            <a:r>
              <a:rPr lang="en-US" altLang="zh-CN" baseline="-25000" dirty="0" err="1"/>
              <a:t>s</a:t>
            </a:r>
            <a:r>
              <a:rPr lang="zh-CN" altLang="en-US" dirty="0"/>
              <a:t>的原点</a:t>
            </a:r>
            <a:r>
              <a:rPr lang="en-US" altLang="zh-CN" dirty="0" err="1"/>
              <a:t>O</a:t>
            </a:r>
            <a:r>
              <a:rPr lang="en-US" altLang="zh-CN" baseline="-25000" dirty="0" err="1"/>
              <a:t>s</a:t>
            </a:r>
            <a:r>
              <a:rPr lang="zh-CN" altLang="en-US" dirty="0"/>
              <a:t>。</a:t>
            </a:r>
          </a:p>
        </p:txBody>
      </p:sp>
      <p:sp>
        <p:nvSpPr>
          <p:cNvPr id="61444" name="Rectangle 18"/>
          <p:cNvSpPr>
            <a:spLocks noChangeArrowheads="1"/>
          </p:cNvSpPr>
          <p:nvPr/>
        </p:nvSpPr>
        <p:spPr bwMode="auto">
          <a:xfrm>
            <a:off x="3779838" y="6316663"/>
            <a:ext cx="241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透视变换坐标系 </a:t>
            </a:r>
          </a:p>
        </p:txBody>
      </p:sp>
      <p:graphicFrame>
        <p:nvGraphicFramePr>
          <p:cNvPr id="61445" name="Object 19"/>
          <p:cNvGraphicFramePr>
            <a:graphicFrameLocks noChangeAspect="1"/>
          </p:cNvGraphicFramePr>
          <p:nvPr/>
        </p:nvGraphicFramePr>
        <p:xfrm>
          <a:off x="2411413" y="2500313"/>
          <a:ext cx="5688012" cy="3857625"/>
        </p:xfrm>
        <a:graphic>
          <a:graphicData uri="http://schemas.openxmlformats.org/presentationml/2006/ole">
            <mc:AlternateContent xmlns:mc="http://schemas.openxmlformats.org/markup-compatibility/2006">
              <mc:Choice xmlns:v="urn:schemas-microsoft-com:vml" Requires="v">
                <p:oleObj spid="_x0000_s61451" name="Visio" r:id="rId3" imgW="6400943" imgH="4346950" progId="Visio.Drawing.11">
                  <p:embed/>
                </p:oleObj>
              </mc:Choice>
              <mc:Fallback>
                <p:oleObj name="Visio" r:id="rId3" imgW="6400943" imgH="4346950" progId="Visio.Drawing.11">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500313"/>
                        <a:ext cx="5688012"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1"/>
          <p:cNvSpPr txBox="1">
            <a:spLocks noChangeArrowheads="1"/>
          </p:cNvSpPr>
          <p:nvPr/>
        </p:nvSpPr>
        <p:spPr bwMode="auto">
          <a:xfrm>
            <a:off x="1331913" y="4724400"/>
            <a:ext cx="2087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2.</a:t>
            </a:r>
            <a:r>
              <a:rPr lang="zh-CN" altLang="en-US"/>
              <a:t>观察坐标系</a:t>
            </a:r>
          </a:p>
        </p:txBody>
      </p:sp>
      <p:sp>
        <p:nvSpPr>
          <p:cNvPr id="62467" name="Rectangle 12"/>
          <p:cNvSpPr>
            <a:spLocks noChangeArrowheads="1"/>
          </p:cNvSpPr>
          <p:nvPr/>
        </p:nvSpPr>
        <p:spPr bwMode="auto">
          <a:xfrm>
            <a:off x="395536" y="630569"/>
            <a:ext cx="864096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世界坐标系</a:t>
            </a:r>
            <a:r>
              <a:rPr lang="en-US" altLang="zh-CN" dirty="0" err="1"/>
              <a:t>O</a:t>
            </a:r>
            <a:r>
              <a:rPr lang="en-US" altLang="zh-CN" baseline="-25000" dirty="0" err="1"/>
              <a:t>w</a:t>
            </a:r>
            <a:r>
              <a:rPr lang="en-US" altLang="zh-CN" dirty="0" err="1"/>
              <a:t>x</a:t>
            </a:r>
            <a:r>
              <a:rPr lang="en-US" altLang="zh-CN" baseline="-25000" dirty="0" err="1"/>
              <a:t>w</a:t>
            </a:r>
            <a:r>
              <a:rPr lang="en-US" altLang="zh-CN" dirty="0" err="1"/>
              <a:t>y</a:t>
            </a:r>
            <a:r>
              <a:rPr lang="en-US" altLang="zh-CN" baseline="-25000" dirty="0" err="1"/>
              <a:t>w</a:t>
            </a:r>
            <a:r>
              <a:rPr lang="en-US" altLang="zh-CN" dirty="0" err="1"/>
              <a:t>z</a:t>
            </a:r>
            <a:r>
              <a:rPr lang="en-US" altLang="zh-CN" baseline="-25000" dirty="0" err="1"/>
              <a:t>w</a:t>
            </a:r>
            <a:r>
              <a:rPr lang="zh-CN" altLang="en-US" dirty="0"/>
              <a:t>采用右手直角坐标系。坐标原点位于</a:t>
            </a:r>
            <a:r>
              <a:rPr lang="en-US" altLang="zh-CN" dirty="0"/>
              <a:t>O</a:t>
            </a:r>
            <a:r>
              <a:rPr lang="en-US" altLang="zh-CN" baseline="-25000" dirty="0"/>
              <a:t>w</a:t>
            </a:r>
            <a:r>
              <a:rPr lang="zh-CN" altLang="en-US" dirty="0"/>
              <a:t>点，视点的直角坐标为</a:t>
            </a:r>
            <a:r>
              <a:rPr lang="en-US" altLang="zh-CN" dirty="0" err="1"/>
              <a:t>O</a:t>
            </a:r>
            <a:r>
              <a:rPr lang="en-US" altLang="zh-CN" baseline="-25000" dirty="0" err="1"/>
              <a:t>v</a:t>
            </a:r>
            <a:r>
              <a:rPr lang="zh-CN" altLang="en-US" dirty="0"/>
              <a:t>（</a:t>
            </a:r>
            <a:r>
              <a:rPr lang="en-US" altLang="zh-CN" dirty="0" err="1"/>
              <a:t>a,b,c</a:t>
            </a:r>
            <a:r>
              <a:rPr lang="zh-CN" altLang="en-US" dirty="0"/>
              <a:t>）。</a:t>
            </a:r>
            <a:r>
              <a:rPr lang="en-US" altLang="zh-CN" dirty="0" err="1"/>
              <a:t>O</a:t>
            </a:r>
            <a:r>
              <a:rPr lang="en-US" altLang="zh-CN" baseline="-25000" dirty="0" err="1"/>
              <a:t>w</a:t>
            </a:r>
            <a:r>
              <a:rPr lang="en-US" altLang="zh-CN" dirty="0" err="1"/>
              <a:t>O</a:t>
            </a:r>
            <a:r>
              <a:rPr lang="en-US" altLang="zh-CN" baseline="-25000" dirty="0" err="1"/>
              <a:t>v</a:t>
            </a:r>
            <a:r>
              <a:rPr lang="zh-CN" altLang="en-US" dirty="0"/>
              <a:t>的长度为视径</a:t>
            </a:r>
            <a:r>
              <a:rPr lang="en-US" altLang="zh-CN" dirty="0"/>
              <a:t>R</a:t>
            </a:r>
            <a:r>
              <a:rPr lang="zh-CN" altLang="en-US" dirty="0"/>
              <a:t>，</a:t>
            </a:r>
            <a:r>
              <a:rPr lang="en-US" altLang="zh-CN" dirty="0" err="1"/>
              <a:t>O</a:t>
            </a:r>
            <a:r>
              <a:rPr lang="en-US" altLang="zh-CN" baseline="-25000" dirty="0" err="1"/>
              <a:t>w</a:t>
            </a:r>
            <a:r>
              <a:rPr lang="en-US" altLang="zh-CN" dirty="0" err="1"/>
              <a:t>O</a:t>
            </a:r>
            <a:r>
              <a:rPr lang="en-US" altLang="zh-CN" baseline="-25000" dirty="0" err="1"/>
              <a:t>v</a:t>
            </a:r>
            <a:r>
              <a:rPr lang="zh-CN" altLang="en-US" dirty="0"/>
              <a:t>与</a:t>
            </a:r>
            <a:r>
              <a:rPr lang="en-US" altLang="zh-CN" dirty="0"/>
              <a:t>y</a:t>
            </a:r>
            <a:r>
              <a:rPr lang="zh-CN" altLang="en-US" dirty="0"/>
              <a:t>轴的夹角为</a:t>
            </a:r>
            <a:r>
              <a:rPr lang="en-US" altLang="zh-CN" dirty="0"/>
              <a:t>φ</a:t>
            </a:r>
            <a:r>
              <a:rPr lang="zh-CN" altLang="en-US" dirty="0"/>
              <a:t>，</a:t>
            </a:r>
            <a:r>
              <a:rPr lang="en-US" altLang="zh-CN" dirty="0" err="1"/>
              <a:t>O</a:t>
            </a:r>
            <a:r>
              <a:rPr lang="en-US" altLang="zh-CN" baseline="-25000" dirty="0" err="1"/>
              <a:t>v</a:t>
            </a:r>
            <a:r>
              <a:rPr lang="zh-CN" altLang="en-US" dirty="0"/>
              <a:t>点在</a:t>
            </a:r>
            <a:r>
              <a:rPr lang="en-US" altLang="zh-CN" dirty="0" err="1"/>
              <a:t>xOz</a:t>
            </a:r>
            <a:r>
              <a:rPr lang="zh-CN" altLang="en-US" dirty="0"/>
              <a:t>平面内的投影为</a:t>
            </a:r>
            <a:r>
              <a:rPr lang="en-US" altLang="zh-CN" dirty="0"/>
              <a:t>M</a:t>
            </a:r>
            <a:r>
              <a:rPr lang="zh-CN" altLang="en-US" dirty="0"/>
              <a:t>（</a:t>
            </a:r>
            <a:r>
              <a:rPr lang="en-US" altLang="zh-CN" dirty="0" err="1"/>
              <a:t>a,c</a:t>
            </a:r>
            <a:r>
              <a:rPr lang="zh-CN" altLang="en-US" dirty="0"/>
              <a:t>），</a:t>
            </a:r>
            <a:r>
              <a:rPr lang="en-US" altLang="zh-CN" dirty="0" err="1"/>
              <a:t>O</a:t>
            </a:r>
            <a:r>
              <a:rPr lang="en-US" altLang="zh-CN" baseline="-25000" dirty="0" err="1"/>
              <a:t>w</a:t>
            </a:r>
            <a:r>
              <a:rPr lang="en-US" altLang="zh-CN" dirty="0" err="1"/>
              <a:t>M</a:t>
            </a:r>
            <a:r>
              <a:rPr lang="zh-CN" altLang="en-US" dirty="0"/>
              <a:t>与</a:t>
            </a:r>
            <a:r>
              <a:rPr lang="en-US" altLang="zh-CN" dirty="0"/>
              <a:t>z</a:t>
            </a:r>
            <a:r>
              <a:rPr lang="zh-CN" altLang="en-US" dirty="0"/>
              <a:t>轴的夹角为</a:t>
            </a:r>
            <a:r>
              <a:rPr lang="en-US" altLang="zh-CN" dirty="0"/>
              <a:t>θ</a:t>
            </a:r>
            <a:r>
              <a:rPr lang="zh-CN" altLang="en-US" dirty="0"/>
              <a:t>。视点的球面坐标表示为</a:t>
            </a:r>
            <a:r>
              <a:rPr lang="en-US" altLang="zh-CN" dirty="0" err="1"/>
              <a:t>O</a:t>
            </a:r>
            <a:r>
              <a:rPr lang="en-US" altLang="zh-CN" baseline="-25000" dirty="0" err="1"/>
              <a:t>v</a:t>
            </a:r>
            <a:r>
              <a:rPr lang="zh-CN" altLang="en-US" dirty="0"/>
              <a:t>（</a:t>
            </a:r>
            <a:r>
              <a:rPr lang="en-US" altLang="zh-CN" dirty="0" err="1"/>
              <a:t>R,θ,φ</a:t>
            </a:r>
            <a:r>
              <a:rPr lang="zh-CN" altLang="en-US" dirty="0"/>
              <a:t>）。视点的球面坐标和直角坐标的关系为 </a:t>
            </a:r>
          </a:p>
        </p:txBody>
      </p:sp>
      <p:graphicFrame>
        <p:nvGraphicFramePr>
          <p:cNvPr id="62468" name="Object 6"/>
          <p:cNvGraphicFramePr>
            <a:graphicFrameLocks noChangeAspect="1"/>
          </p:cNvGraphicFramePr>
          <p:nvPr/>
        </p:nvGraphicFramePr>
        <p:xfrm>
          <a:off x="1547813" y="3141663"/>
          <a:ext cx="2303462" cy="1501775"/>
        </p:xfrm>
        <a:graphic>
          <a:graphicData uri="http://schemas.openxmlformats.org/presentationml/2006/ole">
            <mc:AlternateContent xmlns:mc="http://schemas.openxmlformats.org/markup-compatibility/2006">
              <mc:Choice xmlns:v="urn:schemas-microsoft-com:vml" Requires="v">
                <p:oleObj spid="_x0000_s62492" r:id="rId3" imgW="1092200" imgH="711200" progId="Equation.3">
                  <p:embed/>
                </p:oleObj>
              </mc:Choice>
              <mc:Fallback>
                <p:oleObj r:id="rId3" imgW="1092200" imgH="711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3141663"/>
                        <a:ext cx="2303462"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69" name="Object 7"/>
          <p:cNvGraphicFramePr>
            <a:graphicFrameLocks noChangeAspect="1"/>
          </p:cNvGraphicFramePr>
          <p:nvPr/>
        </p:nvGraphicFramePr>
        <p:xfrm>
          <a:off x="5724525" y="3644900"/>
          <a:ext cx="1439863" cy="465138"/>
        </p:xfrm>
        <a:graphic>
          <a:graphicData uri="http://schemas.openxmlformats.org/presentationml/2006/ole">
            <mc:AlternateContent xmlns:mc="http://schemas.openxmlformats.org/markup-compatibility/2006">
              <mc:Choice xmlns:v="urn:schemas-microsoft-com:vml" Requires="v">
                <p:oleObj spid="_x0000_s62493" r:id="rId5" imgW="622570" imgH="203288" progId="Equation.3">
                  <p:embed/>
                </p:oleObj>
              </mc:Choice>
              <mc:Fallback>
                <p:oleObj r:id="rId5" imgW="622570" imgH="203288"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5" y="3644900"/>
                        <a:ext cx="1439863"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470" name="Object 8"/>
          <p:cNvGraphicFramePr>
            <a:graphicFrameLocks noChangeAspect="1"/>
          </p:cNvGraphicFramePr>
          <p:nvPr/>
        </p:nvGraphicFramePr>
        <p:xfrm>
          <a:off x="7308850" y="3644900"/>
          <a:ext cx="1296988" cy="338138"/>
        </p:xfrm>
        <a:graphic>
          <a:graphicData uri="http://schemas.openxmlformats.org/presentationml/2006/ole">
            <mc:AlternateContent xmlns:mc="http://schemas.openxmlformats.org/markup-compatibility/2006">
              <mc:Choice xmlns:v="urn:schemas-microsoft-com:vml" Requires="v">
                <p:oleObj spid="_x0000_s62494" r:id="rId7" imgW="698803" imgH="177877" progId="Equation.3">
                  <p:embed/>
                </p:oleObj>
              </mc:Choice>
              <mc:Fallback>
                <p:oleObj r:id="rId7" imgW="698803" imgH="177877"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08850" y="3644900"/>
                        <a:ext cx="12969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1" name="Rectangle 17"/>
          <p:cNvSpPr>
            <a:spLocks noChangeArrowheads="1"/>
          </p:cNvSpPr>
          <p:nvPr/>
        </p:nvSpPr>
        <p:spPr bwMode="auto">
          <a:xfrm>
            <a:off x="3708400" y="3644900"/>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宋体" panose="02010600030101010101" pitchFamily="2" charset="-122"/>
                <a:ea typeface="宋体" panose="02010600030101010101" pitchFamily="2" charset="-122"/>
              </a:rPr>
              <a:t>（</a:t>
            </a:r>
            <a:r>
              <a:rPr lang="en-US" altLang="zh-CN">
                <a:latin typeface="Times New Roman" panose="02020603050405020304" pitchFamily="18" charset="0"/>
                <a:ea typeface="宋体" panose="02010600030101010101" pitchFamily="2" charset="-122"/>
              </a:rPr>
              <a:t>0</a:t>
            </a:r>
            <a:r>
              <a:rPr lang="en-US" altLang="zh-CN">
                <a:latin typeface="宋体" panose="02010600030101010101" pitchFamily="2" charset="-122"/>
                <a:ea typeface="宋体" panose="02010600030101010101" pitchFamily="2" charset="-122"/>
              </a:rPr>
              <a:t>≤</a:t>
            </a:r>
            <a:r>
              <a:rPr lang="en-US" altLang="zh-CN">
                <a:latin typeface="Times New Roman" panose="02020603050405020304" pitchFamily="18" charset="0"/>
                <a:ea typeface="宋体" panose="02010600030101010101" pitchFamily="2" charset="-122"/>
              </a:rPr>
              <a:t>R</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
        <p:nvSpPr>
          <p:cNvPr id="62472" name="Rectangle 18"/>
          <p:cNvSpPr>
            <a:spLocks noChangeArrowheads="1"/>
          </p:cNvSpPr>
          <p:nvPr/>
        </p:nvSpPr>
        <p:spPr bwMode="auto">
          <a:xfrm>
            <a:off x="7092950" y="36115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宋体" panose="02010600030101010101" pitchFamily="2" charset="-122"/>
                <a:ea typeface="宋体" panose="02010600030101010101" pitchFamily="2" charset="-122"/>
              </a:rPr>
              <a:t>，</a:t>
            </a:r>
          </a:p>
        </p:txBody>
      </p:sp>
      <p:sp>
        <p:nvSpPr>
          <p:cNvPr id="62473" name="Rectangle 19"/>
          <p:cNvSpPr>
            <a:spLocks noChangeArrowheads="1"/>
          </p:cNvSpPr>
          <p:nvPr/>
        </p:nvSpPr>
        <p:spPr bwMode="auto">
          <a:xfrm>
            <a:off x="8626475" y="3614738"/>
            <a:ext cx="58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宋体" panose="02010600030101010101" pitchFamily="2" charset="-122"/>
                <a:ea typeface="宋体" panose="02010600030101010101" pitchFamily="2" charset="-122"/>
              </a:rPr>
              <a:t>）</a:t>
            </a:r>
            <a:r>
              <a:rPr lang="zh-CN" altLang="en-US">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62474" name="Rectangle 21"/>
          <p:cNvSpPr>
            <a:spLocks noChangeArrowheads="1"/>
          </p:cNvSpPr>
          <p:nvPr/>
        </p:nvSpPr>
        <p:spPr bwMode="auto">
          <a:xfrm>
            <a:off x="7524750" y="4149725"/>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6-44</a:t>
            </a:r>
            <a:r>
              <a:rPr lang="zh-CN" altLang="en-US"/>
              <a:t>）</a:t>
            </a:r>
          </a:p>
        </p:txBody>
      </p:sp>
      <p:sp>
        <p:nvSpPr>
          <p:cNvPr id="62475" name="Rectangle 22"/>
          <p:cNvSpPr>
            <a:spLocks noChangeArrowheads="1"/>
          </p:cNvSpPr>
          <p:nvPr/>
        </p:nvSpPr>
        <p:spPr bwMode="auto">
          <a:xfrm>
            <a:off x="1403350" y="5191125"/>
            <a:ext cx="7415213"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观察坐标系</a:t>
            </a:r>
            <a:r>
              <a:rPr lang="en-US" altLang="zh-CN" dirty="0" err="1"/>
              <a:t>O</a:t>
            </a:r>
            <a:r>
              <a:rPr lang="en-US" altLang="zh-CN" baseline="-25000" dirty="0" err="1"/>
              <a:t>v</a:t>
            </a:r>
            <a:r>
              <a:rPr lang="en-US" altLang="zh-CN" dirty="0" err="1"/>
              <a:t>x</a:t>
            </a:r>
            <a:r>
              <a:rPr lang="en-US" altLang="zh-CN" baseline="-25000" dirty="0" err="1"/>
              <a:t>v</a:t>
            </a:r>
            <a:r>
              <a:rPr lang="en-US" altLang="zh-CN" dirty="0" err="1"/>
              <a:t>y</a:t>
            </a:r>
            <a:r>
              <a:rPr lang="en-US" altLang="zh-CN" baseline="-25000" dirty="0" err="1"/>
              <a:t>v</a:t>
            </a:r>
            <a:r>
              <a:rPr lang="en-US" altLang="zh-CN" dirty="0" err="1"/>
              <a:t>z</a:t>
            </a:r>
            <a:r>
              <a:rPr lang="en-US" altLang="zh-CN" baseline="-25000" dirty="0" err="1"/>
              <a:t>v</a:t>
            </a:r>
            <a:r>
              <a:rPr lang="zh-CN" altLang="en-US" dirty="0"/>
              <a:t>为左手直角坐标系，坐标原点取在视点</a:t>
            </a:r>
            <a:r>
              <a:rPr lang="en-US" altLang="zh-CN" dirty="0" err="1"/>
              <a:t>O</a:t>
            </a:r>
            <a:r>
              <a:rPr lang="en-US" altLang="zh-CN" baseline="-25000" dirty="0" err="1"/>
              <a:t>v</a:t>
            </a:r>
            <a:r>
              <a:rPr lang="zh-CN" altLang="en-US" dirty="0"/>
              <a:t>上。</a:t>
            </a:r>
            <a:r>
              <a:rPr lang="en-US" altLang="zh-CN" dirty="0" err="1"/>
              <a:t>z</a:t>
            </a:r>
            <a:r>
              <a:rPr lang="en-US" altLang="zh-CN" baseline="-25000" dirty="0" err="1"/>
              <a:t>v</a:t>
            </a:r>
            <a:r>
              <a:rPr lang="zh-CN" altLang="en-US" dirty="0"/>
              <a:t>轴沿着视线方向</a:t>
            </a:r>
            <a:r>
              <a:rPr lang="en-US" altLang="zh-CN" dirty="0" err="1"/>
              <a:t>O</a:t>
            </a:r>
            <a:r>
              <a:rPr lang="en-US" altLang="zh-CN" baseline="-25000" dirty="0" err="1"/>
              <a:t>v</a:t>
            </a:r>
            <a:r>
              <a:rPr lang="en-US" altLang="zh-CN" dirty="0" err="1"/>
              <a:t>O</a:t>
            </a:r>
            <a:r>
              <a:rPr lang="en-US" altLang="zh-CN" baseline="-25000" dirty="0" err="1"/>
              <a:t>w</a:t>
            </a:r>
            <a:r>
              <a:rPr lang="zh-CN" altLang="en-US" dirty="0"/>
              <a:t>指向</a:t>
            </a:r>
            <a:r>
              <a:rPr lang="en-US" altLang="zh-CN" dirty="0"/>
              <a:t>O</a:t>
            </a:r>
            <a:r>
              <a:rPr lang="en-US" altLang="zh-CN" baseline="-25000" dirty="0"/>
              <a:t>w</a:t>
            </a:r>
            <a:r>
              <a:rPr lang="zh-CN" altLang="en-US" dirty="0"/>
              <a:t>点，视线的正右方为</a:t>
            </a:r>
            <a:r>
              <a:rPr lang="en-US" altLang="zh-CN" dirty="0"/>
              <a:t>x</a:t>
            </a:r>
            <a:r>
              <a:rPr lang="en-US" altLang="zh-CN" baseline="-25000" dirty="0"/>
              <a:t>v</a:t>
            </a:r>
            <a:r>
              <a:rPr lang="zh-CN" altLang="en-US" dirty="0"/>
              <a:t>轴，视线的正上方为</a:t>
            </a:r>
            <a:r>
              <a:rPr lang="en-US" altLang="zh-CN" dirty="0" err="1"/>
              <a:t>y</a:t>
            </a:r>
            <a:r>
              <a:rPr lang="en-US" altLang="zh-CN" baseline="-25000" dirty="0" err="1"/>
              <a:t>v</a:t>
            </a:r>
            <a:r>
              <a:rPr lang="zh-CN" altLang="en-US" dirty="0"/>
              <a:t>轴。</a:t>
            </a:r>
          </a:p>
        </p:txBody>
      </p:sp>
      <p:sp>
        <p:nvSpPr>
          <p:cNvPr id="62476" name="Text Box 23"/>
          <p:cNvSpPr txBox="1">
            <a:spLocks noChangeArrowheads="1"/>
          </p:cNvSpPr>
          <p:nvPr/>
        </p:nvSpPr>
        <p:spPr bwMode="auto">
          <a:xfrm>
            <a:off x="1331913" y="188913"/>
            <a:ext cx="2087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b="1"/>
              <a:t>1.</a:t>
            </a:r>
            <a:r>
              <a:rPr lang="zh-CN" altLang="en-US" b="1"/>
              <a:t>世界坐标系</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6"/>
          <p:cNvSpPr txBox="1">
            <a:spLocks noChangeArrowheads="1"/>
          </p:cNvSpPr>
          <p:nvPr/>
        </p:nvSpPr>
        <p:spPr bwMode="auto">
          <a:xfrm>
            <a:off x="1258888" y="333375"/>
            <a:ext cx="2087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3.</a:t>
            </a:r>
            <a:r>
              <a:rPr lang="zh-CN" altLang="en-US"/>
              <a:t>屏幕坐标系</a:t>
            </a:r>
          </a:p>
        </p:txBody>
      </p:sp>
      <p:sp>
        <p:nvSpPr>
          <p:cNvPr id="63491" name="Rectangle 7"/>
          <p:cNvSpPr>
            <a:spLocks noChangeArrowheads="1"/>
          </p:cNvSpPr>
          <p:nvPr/>
        </p:nvSpPr>
        <p:spPr bwMode="auto">
          <a:xfrm>
            <a:off x="683568" y="1153087"/>
            <a:ext cx="8281045"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40000"/>
              </a:lnSpc>
              <a:buFont typeface="Arial" panose="020B0604020202020204" pitchFamily="34" charset="0"/>
              <a:buNone/>
            </a:pPr>
            <a:r>
              <a:rPr lang="zh-CN" altLang="en-US" dirty="0"/>
              <a:t>      屏幕坐标系</a:t>
            </a:r>
            <a:r>
              <a:rPr lang="en-US" altLang="zh-CN" dirty="0" err="1"/>
              <a:t>O</a:t>
            </a:r>
            <a:r>
              <a:rPr lang="en-US" altLang="zh-CN" baseline="-25000" dirty="0" err="1"/>
              <a:t>s</a:t>
            </a:r>
            <a:r>
              <a:rPr lang="en-US" altLang="zh-CN" dirty="0" err="1"/>
              <a:t>x</a:t>
            </a:r>
            <a:r>
              <a:rPr lang="en-US" altLang="zh-CN" baseline="-25000" dirty="0" err="1"/>
              <a:t>s</a:t>
            </a:r>
            <a:r>
              <a:rPr lang="en-US" altLang="zh-CN" dirty="0" err="1"/>
              <a:t>y</a:t>
            </a:r>
            <a:r>
              <a:rPr lang="en-US" altLang="zh-CN" baseline="-25000" dirty="0" err="1"/>
              <a:t>s</a:t>
            </a:r>
            <a:r>
              <a:rPr lang="en-US" altLang="zh-CN" dirty="0" err="1"/>
              <a:t>z</a:t>
            </a:r>
            <a:r>
              <a:rPr lang="en-US" altLang="zh-CN" baseline="-25000" dirty="0" err="1"/>
              <a:t>s</a:t>
            </a:r>
            <a:r>
              <a:rPr lang="zh-CN" altLang="en-US" dirty="0"/>
              <a:t>也是左手直角坐标系，坐标原点</a:t>
            </a:r>
            <a:r>
              <a:rPr lang="en-US" altLang="zh-CN" dirty="0" err="1"/>
              <a:t>O</a:t>
            </a:r>
            <a:r>
              <a:rPr lang="en-US" altLang="zh-CN" baseline="-25000" dirty="0" err="1"/>
              <a:t>s</a:t>
            </a:r>
            <a:r>
              <a:rPr lang="zh-CN" altLang="en-US" dirty="0"/>
              <a:t>位于视心。屏幕坐标系的</a:t>
            </a:r>
            <a:r>
              <a:rPr lang="en-US" altLang="zh-CN" dirty="0" err="1"/>
              <a:t>x</a:t>
            </a:r>
            <a:r>
              <a:rPr lang="en-US" altLang="zh-CN" baseline="-25000" dirty="0" err="1"/>
              <a:t>s</a:t>
            </a:r>
            <a:r>
              <a:rPr lang="zh-CN" altLang="en-US" dirty="0"/>
              <a:t>和</a:t>
            </a:r>
            <a:r>
              <a:rPr lang="en-US" altLang="zh-CN" dirty="0" err="1"/>
              <a:t>y</a:t>
            </a:r>
            <a:r>
              <a:rPr lang="en-US" altLang="zh-CN" baseline="-25000" dirty="0" err="1"/>
              <a:t>s</a:t>
            </a:r>
            <a:r>
              <a:rPr lang="zh-CN" altLang="en-US" dirty="0"/>
              <a:t>轴与观察坐标系的</a:t>
            </a:r>
            <a:r>
              <a:rPr lang="en-US" altLang="zh-CN" dirty="0"/>
              <a:t>x</a:t>
            </a:r>
            <a:r>
              <a:rPr lang="en-US" altLang="zh-CN" baseline="-25000" dirty="0"/>
              <a:t>v</a:t>
            </a:r>
            <a:r>
              <a:rPr lang="zh-CN" altLang="en-US" dirty="0"/>
              <a:t>轴和</a:t>
            </a:r>
            <a:r>
              <a:rPr lang="en-US" altLang="zh-CN" dirty="0" err="1"/>
              <a:t>y</a:t>
            </a:r>
            <a:r>
              <a:rPr lang="en-US" altLang="zh-CN" baseline="-25000" dirty="0" err="1"/>
              <a:t>v</a:t>
            </a:r>
            <a:r>
              <a:rPr lang="zh-CN" altLang="en-US" dirty="0"/>
              <a:t>轴方向一致，也就是说屏幕垂直于视线，</a:t>
            </a:r>
            <a:r>
              <a:rPr lang="en-US" altLang="zh-CN" dirty="0" err="1"/>
              <a:t>z</a:t>
            </a:r>
            <a:r>
              <a:rPr lang="en-US" altLang="zh-CN" baseline="-25000" dirty="0" err="1"/>
              <a:t>s</a:t>
            </a:r>
            <a:r>
              <a:rPr lang="zh-CN" altLang="en-US" dirty="0"/>
              <a:t>轴自然与</a:t>
            </a:r>
            <a:r>
              <a:rPr lang="en-US" altLang="zh-CN" dirty="0" err="1"/>
              <a:t>z</a:t>
            </a:r>
            <a:r>
              <a:rPr lang="en-US" altLang="zh-CN" baseline="-25000" dirty="0" err="1"/>
              <a:t>v</a:t>
            </a:r>
            <a:r>
              <a:rPr lang="zh-CN" altLang="en-US" dirty="0"/>
              <a:t>轴重合。</a:t>
            </a:r>
          </a:p>
        </p:txBody>
      </p:sp>
      <p:sp>
        <p:nvSpPr>
          <p:cNvPr id="53252" name="Rectangle 8"/>
          <p:cNvSpPr>
            <a:spLocks noChangeArrowheads="1"/>
          </p:cNvSpPr>
          <p:nvPr/>
        </p:nvSpPr>
        <p:spPr bwMode="auto">
          <a:xfrm>
            <a:off x="1285875" y="3071813"/>
            <a:ext cx="5545138"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dirty="0">
                <a:effectLst>
                  <a:outerShdw blurRad="38100" dist="38100" dir="2700000" algn="tl">
                    <a:srgbClr val="C0C0C0"/>
                  </a:outerShdw>
                </a:effectLst>
                <a:latin typeface="楷体_GB2312" pitchFamily="49" charset="-122"/>
              </a:rPr>
              <a:t>6.6.2 </a:t>
            </a:r>
            <a:r>
              <a:rPr lang="zh-CN" altLang="en-US" b="1" dirty="0">
                <a:effectLst>
                  <a:outerShdw blurRad="38100" dist="38100" dir="2700000" algn="tl">
                    <a:srgbClr val="C0C0C0"/>
                  </a:outerShdw>
                </a:effectLst>
              </a:rPr>
              <a:t>世界坐标系到观察坐标系的变换</a:t>
            </a:r>
            <a:r>
              <a:rPr lang="zh-CN" altLang="en-US" dirty="0"/>
              <a:t>    </a:t>
            </a:r>
          </a:p>
        </p:txBody>
      </p:sp>
      <p:sp>
        <p:nvSpPr>
          <p:cNvPr id="63493" name="Rectangle 9"/>
          <p:cNvSpPr>
            <a:spLocks noChangeArrowheads="1"/>
          </p:cNvSpPr>
          <p:nvPr/>
        </p:nvSpPr>
        <p:spPr bwMode="auto">
          <a:xfrm>
            <a:off x="566540" y="4147919"/>
            <a:ext cx="839807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40000"/>
              </a:lnSpc>
              <a:buFont typeface="Arial" panose="020B0604020202020204" pitchFamily="34" charset="0"/>
              <a:buNone/>
            </a:pPr>
            <a:r>
              <a:rPr lang="zh-CN" altLang="en-US" sz="2000" dirty="0">
                <a:solidFill>
                  <a:srgbClr val="C00000"/>
                </a:solidFill>
              </a:rPr>
              <a:t>    将物体上点的坐标表示，从世界坐标系变换为观察坐标系</a:t>
            </a:r>
            <a:r>
              <a:rPr lang="zh-CN" altLang="en-US" sz="2000" dirty="0"/>
              <a:t>。   </a:t>
            </a:r>
            <a:endParaRPr lang="en-US" altLang="zh-CN" sz="2000" dirty="0"/>
          </a:p>
          <a:p>
            <a:pPr marL="342900" indent="-342900" eaLnBrk="1" hangingPunct="1">
              <a:lnSpc>
                <a:spcPct val="140000"/>
              </a:lnSpc>
              <a:buFont typeface="Wingdings" panose="05000000000000000000" pitchFamily="2" charset="2"/>
              <a:buChar char="n"/>
            </a:pPr>
            <a:r>
              <a:rPr lang="zh-CN" altLang="en-US" sz="2000" dirty="0" smtClean="0"/>
              <a:t>首先</a:t>
            </a:r>
            <a:r>
              <a:rPr lang="zh-CN" altLang="en-US" sz="2000" dirty="0"/>
              <a:t>将世界坐标系的</a:t>
            </a:r>
            <a:r>
              <a:rPr lang="zh-CN" altLang="en-US" sz="2000" b="1" dirty="0">
                <a:solidFill>
                  <a:srgbClr val="FF0000"/>
                </a:solidFill>
                <a:latin typeface="黑体" panose="02010609060101010101" pitchFamily="49" charset="-122"/>
                <a:ea typeface="黑体" panose="02010609060101010101" pitchFamily="49" charset="-122"/>
              </a:rPr>
              <a:t>原点</a:t>
            </a:r>
            <a:r>
              <a:rPr lang="en-US" altLang="zh-CN" sz="2000" b="1" dirty="0">
                <a:solidFill>
                  <a:srgbClr val="FF0000"/>
                </a:solidFill>
                <a:latin typeface="黑体" panose="02010609060101010101" pitchFamily="49" charset="-122"/>
                <a:ea typeface="黑体" panose="02010609060101010101" pitchFamily="49" charset="-122"/>
              </a:rPr>
              <a:t>O</a:t>
            </a:r>
            <a:r>
              <a:rPr lang="en-US" altLang="zh-CN" sz="2000" b="1" baseline="-25000" dirty="0">
                <a:solidFill>
                  <a:srgbClr val="FF0000"/>
                </a:solidFill>
                <a:latin typeface="黑体" panose="02010609060101010101" pitchFamily="49" charset="-122"/>
                <a:ea typeface="黑体" panose="02010609060101010101" pitchFamily="49" charset="-122"/>
              </a:rPr>
              <a:t>w</a:t>
            </a:r>
            <a:r>
              <a:rPr lang="zh-CN" altLang="en-US" sz="2000" b="1" dirty="0">
                <a:solidFill>
                  <a:srgbClr val="FF0000"/>
                </a:solidFill>
                <a:latin typeface="黑体" panose="02010609060101010101" pitchFamily="49" charset="-122"/>
                <a:ea typeface="黑体" panose="02010609060101010101" pitchFamily="49" charset="-122"/>
              </a:rPr>
              <a:t>平移</a:t>
            </a:r>
            <a:r>
              <a:rPr lang="zh-CN" altLang="en-US" sz="2000" dirty="0"/>
              <a:t>到观察坐标系的原点</a:t>
            </a:r>
            <a:r>
              <a:rPr lang="en-US" altLang="zh-CN" sz="2000" dirty="0" err="1"/>
              <a:t>O</a:t>
            </a:r>
            <a:r>
              <a:rPr lang="en-US" altLang="zh-CN" sz="2000" baseline="-25000" dirty="0" err="1"/>
              <a:t>v</a:t>
            </a:r>
            <a:r>
              <a:rPr lang="zh-CN" altLang="en-US" sz="2000" dirty="0" smtClean="0"/>
              <a:t>，</a:t>
            </a:r>
            <a:endParaRPr lang="en-US" altLang="zh-CN" sz="2000" dirty="0"/>
          </a:p>
          <a:p>
            <a:pPr marL="342900" indent="-342900" eaLnBrk="1" hangingPunct="1">
              <a:lnSpc>
                <a:spcPct val="140000"/>
              </a:lnSpc>
              <a:buFont typeface="Wingdings" panose="05000000000000000000" pitchFamily="2" charset="2"/>
              <a:buChar char="n"/>
            </a:pPr>
            <a:r>
              <a:rPr lang="zh-CN" altLang="en-US" sz="2000" dirty="0" smtClean="0"/>
              <a:t>然后</a:t>
            </a:r>
            <a:r>
              <a:rPr lang="zh-CN" altLang="en-US" sz="2000" dirty="0"/>
              <a:t>将世界右手坐标系变换为观察左手坐标系，就可以实现从世界坐标系到观察坐标系的变换。这里使用了坐标系变换的概念。</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5"/>
          <p:cNvSpPr txBox="1">
            <a:spLocks noChangeArrowheads="1"/>
          </p:cNvSpPr>
          <p:nvPr/>
        </p:nvSpPr>
        <p:spPr bwMode="auto">
          <a:xfrm>
            <a:off x="1258888" y="333375"/>
            <a:ext cx="367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1.</a:t>
            </a:r>
            <a:r>
              <a:rPr lang="zh-CN" altLang="en-US"/>
              <a:t>原点到视点的平移变换 </a:t>
            </a:r>
          </a:p>
        </p:txBody>
      </p:sp>
      <p:graphicFrame>
        <p:nvGraphicFramePr>
          <p:cNvPr id="64515" name="Object 4"/>
          <p:cNvGraphicFramePr>
            <a:graphicFrameLocks noChangeAspect="1"/>
          </p:cNvGraphicFramePr>
          <p:nvPr/>
        </p:nvGraphicFramePr>
        <p:xfrm>
          <a:off x="1547813" y="1196975"/>
          <a:ext cx="6480175" cy="1295400"/>
        </p:xfrm>
        <a:graphic>
          <a:graphicData uri="http://schemas.openxmlformats.org/presentationml/2006/ole">
            <mc:AlternateContent xmlns:mc="http://schemas.openxmlformats.org/markup-compatibility/2006">
              <mc:Choice xmlns:v="urn:schemas-microsoft-com:vml" Requires="v">
                <p:oleObj spid="_x0000_s64534" r:id="rId3" imgW="4559300" imgH="914400" progId="Equation.3">
                  <p:embed/>
                </p:oleObj>
              </mc:Choice>
              <mc:Fallback>
                <p:oleObj r:id="rId3" imgW="4559300" imgH="914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196975"/>
                        <a:ext cx="64801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516" name="Rectangle 10"/>
          <p:cNvSpPr>
            <a:spLocks noChangeArrowheads="1"/>
          </p:cNvSpPr>
          <p:nvPr/>
        </p:nvSpPr>
        <p:spPr bwMode="auto">
          <a:xfrm>
            <a:off x="3995738" y="6021388"/>
            <a:ext cx="149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平移变换 </a:t>
            </a:r>
          </a:p>
        </p:txBody>
      </p:sp>
      <p:graphicFrame>
        <p:nvGraphicFramePr>
          <p:cNvPr id="64517" name="Object 13"/>
          <p:cNvGraphicFramePr>
            <a:graphicFrameLocks noChangeAspect="1"/>
          </p:cNvGraphicFramePr>
          <p:nvPr/>
        </p:nvGraphicFramePr>
        <p:xfrm>
          <a:off x="1476375" y="2997200"/>
          <a:ext cx="3959225" cy="2470150"/>
        </p:xfrm>
        <a:graphic>
          <a:graphicData uri="http://schemas.openxmlformats.org/presentationml/2006/ole">
            <mc:AlternateContent xmlns:mc="http://schemas.openxmlformats.org/markup-compatibility/2006">
              <mc:Choice xmlns:v="urn:schemas-microsoft-com:vml" Requires="v">
                <p:oleObj spid="_x0000_s64535" r:id="rId5" imgW="6310866" imgH="3941889" progId="Visio.Drawing.11">
                  <p:embed/>
                </p:oleObj>
              </mc:Choice>
              <mc:Fallback>
                <p:oleObj r:id="rId5" imgW="6310866" imgH="3941889" progId="Visio.Drawing.11">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2997200"/>
                        <a:ext cx="3959225"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18" name="Object 15"/>
          <p:cNvGraphicFramePr>
            <a:graphicFrameLocks noChangeAspect="1"/>
          </p:cNvGraphicFramePr>
          <p:nvPr/>
        </p:nvGraphicFramePr>
        <p:xfrm>
          <a:off x="5435600" y="2946400"/>
          <a:ext cx="3386138" cy="2338388"/>
        </p:xfrm>
        <a:graphic>
          <a:graphicData uri="http://schemas.openxmlformats.org/presentationml/2006/ole">
            <mc:AlternateContent xmlns:mc="http://schemas.openxmlformats.org/markup-compatibility/2006">
              <mc:Choice xmlns:v="urn:schemas-microsoft-com:vml" Requires="v">
                <p:oleObj spid="_x0000_s64536" r:id="rId7" imgW="4559808" imgH="3155863" progId="Visio.Drawing.11">
                  <p:embed/>
                </p:oleObj>
              </mc:Choice>
              <mc:Fallback>
                <p:oleObj r:id="rId7" imgW="4559808" imgH="3155863" progId="Visio.Drawing.11">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35600" y="2946400"/>
                        <a:ext cx="3386138" cy="233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4"/>
          <p:cNvSpPr txBox="1">
            <a:spLocks noChangeArrowheads="1"/>
          </p:cNvSpPr>
          <p:nvPr/>
        </p:nvSpPr>
        <p:spPr bwMode="auto">
          <a:xfrm>
            <a:off x="1258888" y="188913"/>
            <a:ext cx="367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2.</a:t>
            </a:r>
            <a:r>
              <a:rPr lang="zh-CN" altLang="en-US"/>
              <a:t>绕</a:t>
            </a:r>
            <a:r>
              <a:rPr lang="en-US" altLang="zh-CN"/>
              <a:t>y</a:t>
            </a:r>
            <a:r>
              <a:rPr lang="en-US" altLang="zh-CN" baseline="-25000"/>
              <a:t>1</a:t>
            </a:r>
            <a:r>
              <a:rPr lang="zh-CN" altLang="en-US"/>
              <a:t>轴的旋转变换  </a:t>
            </a:r>
          </a:p>
        </p:txBody>
      </p:sp>
      <p:sp>
        <p:nvSpPr>
          <p:cNvPr id="65539" name="Rectangle 5"/>
          <p:cNvSpPr>
            <a:spLocks noChangeArrowheads="1"/>
          </p:cNvSpPr>
          <p:nvPr/>
        </p:nvSpPr>
        <p:spPr bwMode="auto">
          <a:xfrm>
            <a:off x="179512" y="831436"/>
            <a:ext cx="8712076"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将坐标系</a:t>
            </a:r>
            <a:r>
              <a:rPr lang="en-US" altLang="zh-CN" dirty="0"/>
              <a:t>O</a:t>
            </a:r>
            <a:r>
              <a:rPr lang="en-US" altLang="zh-CN" baseline="-25000" dirty="0"/>
              <a:t>v</a:t>
            </a:r>
            <a:r>
              <a:rPr lang="en-US" altLang="zh-CN" dirty="0"/>
              <a:t>x</a:t>
            </a:r>
            <a:r>
              <a:rPr lang="en-US" altLang="zh-CN" baseline="-25000" dirty="0"/>
              <a:t>1</a:t>
            </a:r>
            <a:r>
              <a:rPr lang="en-US" altLang="zh-CN" dirty="0"/>
              <a:t>y</a:t>
            </a:r>
            <a:r>
              <a:rPr lang="en-US" altLang="zh-CN" baseline="-25000" dirty="0"/>
              <a:t>1</a:t>
            </a:r>
            <a:r>
              <a:rPr lang="en-US" altLang="zh-CN" dirty="0"/>
              <a:t>z</a:t>
            </a:r>
            <a:r>
              <a:rPr lang="en-US" altLang="zh-CN" baseline="-25000" dirty="0"/>
              <a:t>1</a:t>
            </a:r>
            <a:r>
              <a:rPr lang="zh-CN" altLang="en-US" dirty="0"/>
              <a:t>先绕</a:t>
            </a:r>
            <a:r>
              <a:rPr lang="en-US" altLang="zh-CN" dirty="0"/>
              <a:t>y</a:t>
            </a:r>
            <a:r>
              <a:rPr lang="en-US" altLang="zh-CN" baseline="-25000" dirty="0"/>
              <a:t>1</a:t>
            </a:r>
            <a:r>
              <a:rPr lang="zh-CN" altLang="en-US" dirty="0"/>
              <a:t>轴顺时针旋转</a:t>
            </a:r>
            <a:r>
              <a:rPr lang="en-US" altLang="zh-CN" dirty="0"/>
              <a:t>180°-θ</a:t>
            </a:r>
            <a:r>
              <a:rPr lang="zh-CN" altLang="en-US" dirty="0"/>
              <a:t>角，使</a:t>
            </a:r>
            <a:r>
              <a:rPr lang="en-US" altLang="zh-CN" dirty="0"/>
              <a:t>z</a:t>
            </a:r>
            <a:r>
              <a:rPr lang="en-US" altLang="zh-CN" baseline="-25000" dirty="0"/>
              <a:t>1</a:t>
            </a:r>
            <a:r>
              <a:rPr lang="zh-CN" altLang="en-US" dirty="0"/>
              <a:t>轴位于</a:t>
            </a:r>
            <a:r>
              <a:rPr lang="en-US" altLang="zh-CN" dirty="0" err="1"/>
              <a:t>O</a:t>
            </a:r>
            <a:r>
              <a:rPr lang="en-US" altLang="zh-CN" baseline="-25000" dirty="0" err="1"/>
              <a:t>v</a:t>
            </a:r>
            <a:r>
              <a:rPr lang="en-US" altLang="zh-CN" dirty="0" err="1"/>
              <a:t>PO</a:t>
            </a:r>
            <a:r>
              <a:rPr lang="zh-CN" altLang="en-US" dirty="0"/>
              <a:t>平面内，形成新坐标系</a:t>
            </a:r>
            <a:r>
              <a:rPr lang="en-US" altLang="zh-CN" dirty="0"/>
              <a:t>O</a:t>
            </a:r>
            <a:r>
              <a:rPr lang="en-US" altLang="zh-CN" baseline="-25000" dirty="0"/>
              <a:t>v</a:t>
            </a:r>
            <a:r>
              <a:rPr lang="en-US" altLang="zh-CN" dirty="0"/>
              <a:t>x</a:t>
            </a:r>
            <a:r>
              <a:rPr lang="en-US" altLang="zh-CN" baseline="-25000" dirty="0"/>
              <a:t>2</a:t>
            </a:r>
            <a:r>
              <a:rPr lang="en-US" altLang="zh-CN" dirty="0"/>
              <a:t>y</a:t>
            </a:r>
            <a:r>
              <a:rPr lang="en-US" altLang="zh-CN" baseline="-25000" dirty="0"/>
              <a:t>2</a:t>
            </a:r>
            <a:r>
              <a:rPr lang="en-US" altLang="zh-CN" dirty="0"/>
              <a:t>z</a:t>
            </a:r>
            <a:r>
              <a:rPr lang="en-US" altLang="zh-CN" baseline="-25000" dirty="0"/>
              <a:t>2</a:t>
            </a:r>
            <a:r>
              <a:rPr lang="zh-CN" altLang="en-US" dirty="0"/>
              <a:t>。</a:t>
            </a:r>
          </a:p>
        </p:txBody>
      </p:sp>
      <p:graphicFrame>
        <p:nvGraphicFramePr>
          <p:cNvPr id="65540" name="Object 7"/>
          <p:cNvGraphicFramePr>
            <a:graphicFrameLocks noChangeAspect="1"/>
          </p:cNvGraphicFramePr>
          <p:nvPr/>
        </p:nvGraphicFramePr>
        <p:xfrm>
          <a:off x="3419475" y="1844675"/>
          <a:ext cx="3887788" cy="2698750"/>
        </p:xfrm>
        <a:graphic>
          <a:graphicData uri="http://schemas.openxmlformats.org/presentationml/2006/ole">
            <mc:AlternateContent xmlns:mc="http://schemas.openxmlformats.org/markup-compatibility/2006">
              <mc:Choice xmlns:v="urn:schemas-microsoft-com:vml" Requires="v">
                <p:oleObj spid="_x0000_s65555" r:id="rId3" imgW="5740908" imgH="3983431" progId="Visio.Drawing.11">
                  <p:embed/>
                </p:oleObj>
              </mc:Choice>
              <mc:Fallback>
                <p:oleObj r:id="rId3" imgW="5740908" imgH="3983431"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1844675"/>
                        <a:ext cx="3887788" cy="269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541" name="Object 3"/>
          <p:cNvGraphicFramePr>
            <a:graphicFrameLocks noChangeAspect="1"/>
          </p:cNvGraphicFramePr>
          <p:nvPr/>
        </p:nvGraphicFramePr>
        <p:xfrm>
          <a:off x="1908175" y="5013325"/>
          <a:ext cx="6510338" cy="1439863"/>
        </p:xfrm>
        <a:graphic>
          <a:graphicData uri="http://schemas.openxmlformats.org/presentationml/2006/ole">
            <mc:AlternateContent xmlns:mc="http://schemas.openxmlformats.org/markup-compatibility/2006">
              <mc:Choice xmlns:v="urn:schemas-microsoft-com:vml" Requires="v">
                <p:oleObj spid="_x0000_s65556" r:id="rId5" imgW="4127500" imgH="914400" progId="Equation.3">
                  <p:embed/>
                </p:oleObj>
              </mc:Choice>
              <mc:Fallback>
                <p:oleObj r:id="rId5" imgW="4127500" imgH="914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5013325"/>
                        <a:ext cx="6510338"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2" name="Rectangle 10"/>
          <p:cNvSpPr>
            <a:spLocks noChangeArrowheads="1"/>
          </p:cNvSpPr>
          <p:nvPr/>
        </p:nvSpPr>
        <p:spPr bwMode="auto">
          <a:xfrm>
            <a:off x="3924300" y="4437063"/>
            <a:ext cx="2846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绕</a:t>
            </a:r>
            <a:r>
              <a:rPr lang="en-US" altLang="zh-CN" sz="2000"/>
              <a:t>y</a:t>
            </a:r>
            <a:r>
              <a:rPr lang="en-US" altLang="zh-CN" sz="2000" baseline="-25000"/>
              <a:t>1</a:t>
            </a:r>
            <a:r>
              <a:rPr lang="zh-CN" altLang="en-US" sz="2000"/>
              <a:t>轴顺时针旋转变换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Text Box 18"/>
          <p:cNvSpPr txBox="1">
            <a:spLocks noChangeArrowheads="1"/>
          </p:cNvSpPr>
          <p:nvPr/>
        </p:nvSpPr>
        <p:spPr bwMode="auto">
          <a:xfrm>
            <a:off x="1258888" y="188913"/>
            <a:ext cx="3168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3.</a:t>
            </a:r>
            <a:r>
              <a:rPr lang="zh-CN" altLang="en-US"/>
              <a:t>绕</a:t>
            </a:r>
            <a:r>
              <a:rPr lang="en-US" altLang="zh-CN"/>
              <a:t>x</a:t>
            </a:r>
            <a:r>
              <a:rPr lang="en-US" altLang="zh-CN" baseline="-25000"/>
              <a:t>2</a:t>
            </a:r>
            <a:r>
              <a:rPr lang="zh-CN" altLang="en-US"/>
              <a:t> 轴的旋转变换</a:t>
            </a:r>
            <a:endParaRPr lang="zh-CN" altLang="en-US" b="1"/>
          </a:p>
        </p:txBody>
      </p:sp>
      <p:sp>
        <p:nvSpPr>
          <p:cNvPr id="66563" name="Rectangle 19"/>
          <p:cNvSpPr>
            <a:spLocks noChangeArrowheads="1"/>
          </p:cNvSpPr>
          <p:nvPr/>
        </p:nvSpPr>
        <p:spPr bwMode="auto">
          <a:xfrm>
            <a:off x="755576" y="758411"/>
            <a:ext cx="7777237"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dirty="0"/>
              <a:t>     将坐标系</a:t>
            </a:r>
            <a:r>
              <a:rPr lang="en-US" altLang="zh-CN" dirty="0"/>
              <a:t>O</a:t>
            </a:r>
            <a:r>
              <a:rPr lang="en-US" altLang="zh-CN" baseline="-25000" dirty="0"/>
              <a:t>v</a:t>
            </a:r>
            <a:r>
              <a:rPr lang="en-US" altLang="zh-CN" dirty="0"/>
              <a:t>x</a:t>
            </a:r>
            <a:r>
              <a:rPr lang="en-US" altLang="zh-CN" baseline="-25000" dirty="0"/>
              <a:t>2</a:t>
            </a:r>
            <a:r>
              <a:rPr lang="en-US" altLang="zh-CN" dirty="0"/>
              <a:t>y</a:t>
            </a:r>
            <a:r>
              <a:rPr lang="en-US" altLang="zh-CN" baseline="-25000" dirty="0"/>
              <a:t>2</a:t>
            </a:r>
            <a:r>
              <a:rPr lang="en-US" altLang="zh-CN" dirty="0"/>
              <a:t>z</a:t>
            </a:r>
            <a:r>
              <a:rPr lang="en-US" altLang="zh-CN" baseline="-25000" dirty="0"/>
              <a:t>2</a:t>
            </a:r>
            <a:r>
              <a:rPr lang="zh-CN" altLang="en-US" dirty="0"/>
              <a:t>绕</a:t>
            </a:r>
            <a:r>
              <a:rPr lang="en-US" altLang="zh-CN" dirty="0"/>
              <a:t>x</a:t>
            </a:r>
            <a:r>
              <a:rPr lang="en-US" altLang="zh-CN" baseline="-25000" dirty="0"/>
              <a:t>2</a:t>
            </a:r>
            <a:r>
              <a:rPr lang="zh-CN" altLang="en-US" dirty="0"/>
              <a:t>作</a:t>
            </a:r>
            <a:r>
              <a:rPr lang="en-US" altLang="zh-CN" dirty="0"/>
              <a:t>90°</a:t>
            </a:r>
            <a:r>
              <a:rPr lang="zh-CN" altLang="en-US" dirty="0"/>
              <a:t>－</a:t>
            </a:r>
            <a:r>
              <a:rPr lang="en-US" altLang="zh-CN" dirty="0"/>
              <a:t>φ</a:t>
            </a:r>
            <a:r>
              <a:rPr lang="zh-CN" altLang="en-US" dirty="0"/>
              <a:t>的逆时针旋转变换，使</a:t>
            </a:r>
            <a:r>
              <a:rPr lang="en-US" altLang="zh-CN" dirty="0"/>
              <a:t>z</a:t>
            </a:r>
            <a:r>
              <a:rPr lang="en-US" altLang="zh-CN" baseline="-25000" dirty="0"/>
              <a:t>2</a:t>
            </a:r>
            <a:r>
              <a:rPr lang="zh-CN" altLang="en-US" dirty="0"/>
              <a:t>轴沿视线方向，形成新坐标系</a:t>
            </a:r>
            <a:r>
              <a:rPr lang="en-US" altLang="zh-CN" dirty="0"/>
              <a:t>O</a:t>
            </a:r>
            <a:r>
              <a:rPr lang="en-US" altLang="zh-CN" baseline="-25000" dirty="0"/>
              <a:t>v</a:t>
            </a:r>
            <a:r>
              <a:rPr lang="en-US" altLang="zh-CN" dirty="0"/>
              <a:t>x</a:t>
            </a:r>
            <a:r>
              <a:rPr lang="en-US" altLang="zh-CN" baseline="-25000" dirty="0"/>
              <a:t>3</a:t>
            </a:r>
            <a:r>
              <a:rPr lang="en-US" altLang="zh-CN" dirty="0"/>
              <a:t>y</a:t>
            </a:r>
            <a:r>
              <a:rPr lang="en-US" altLang="zh-CN" baseline="-25000" dirty="0"/>
              <a:t>3</a:t>
            </a:r>
            <a:r>
              <a:rPr lang="en-US" altLang="zh-CN" dirty="0"/>
              <a:t>z</a:t>
            </a:r>
            <a:r>
              <a:rPr lang="en-US" altLang="zh-CN" baseline="-25000" dirty="0"/>
              <a:t>3</a:t>
            </a:r>
            <a:r>
              <a:rPr lang="zh-CN" altLang="en-US" dirty="0"/>
              <a:t>。 </a:t>
            </a:r>
          </a:p>
        </p:txBody>
      </p:sp>
      <p:sp>
        <p:nvSpPr>
          <p:cNvPr id="66564" name="Rectangle 22"/>
          <p:cNvSpPr>
            <a:spLocks noChangeArrowheads="1"/>
          </p:cNvSpPr>
          <p:nvPr/>
        </p:nvSpPr>
        <p:spPr bwMode="auto">
          <a:xfrm>
            <a:off x="3348038" y="4292600"/>
            <a:ext cx="3019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绕</a:t>
            </a:r>
            <a:r>
              <a:rPr lang="en-US" altLang="zh-CN" sz="2000"/>
              <a:t>x</a:t>
            </a:r>
            <a:r>
              <a:rPr lang="en-US" altLang="zh-CN" sz="2000" baseline="-25000"/>
              <a:t>2</a:t>
            </a:r>
            <a:r>
              <a:rPr lang="zh-CN" altLang="en-US" sz="2000"/>
              <a:t>轴的逆时针旋转变换 </a:t>
            </a:r>
          </a:p>
        </p:txBody>
      </p:sp>
      <p:graphicFrame>
        <p:nvGraphicFramePr>
          <p:cNvPr id="66565" name="Object 11"/>
          <p:cNvGraphicFramePr>
            <a:graphicFrameLocks noChangeAspect="1"/>
          </p:cNvGraphicFramePr>
          <p:nvPr/>
        </p:nvGraphicFramePr>
        <p:xfrm>
          <a:off x="2195513" y="4724400"/>
          <a:ext cx="6119812" cy="1641475"/>
        </p:xfrm>
        <a:graphic>
          <a:graphicData uri="http://schemas.openxmlformats.org/presentationml/2006/ole">
            <mc:AlternateContent xmlns:mc="http://schemas.openxmlformats.org/markup-compatibility/2006">
              <mc:Choice xmlns:v="urn:schemas-microsoft-com:vml" Requires="v">
                <p:oleObj spid="_x0000_s66579" r:id="rId3" imgW="4089400" imgH="1092200" progId="Equation.3">
                  <p:embed/>
                </p:oleObj>
              </mc:Choice>
              <mc:Fallback>
                <p:oleObj r:id="rId3" imgW="4089400" imgH="10922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4724400"/>
                        <a:ext cx="6119812"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6" name="Object 14"/>
          <p:cNvGraphicFramePr>
            <a:graphicFrameLocks noChangeAspect="1"/>
          </p:cNvGraphicFramePr>
          <p:nvPr/>
        </p:nvGraphicFramePr>
        <p:xfrm>
          <a:off x="2843213" y="1700213"/>
          <a:ext cx="4176712" cy="2608262"/>
        </p:xfrm>
        <a:graphic>
          <a:graphicData uri="http://schemas.openxmlformats.org/presentationml/2006/ole">
            <mc:AlternateContent xmlns:mc="http://schemas.openxmlformats.org/markup-compatibility/2006">
              <mc:Choice xmlns:v="urn:schemas-microsoft-com:vml" Requires="v">
                <p:oleObj spid="_x0000_s66580" name="Visio" r:id="rId5" imgW="6310866" imgH="3932709" progId="Visio.Drawing.11">
                  <p:embed/>
                </p:oleObj>
              </mc:Choice>
              <mc:Fallback>
                <p:oleObj name="Visio" r:id="rId5" imgW="6310866" imgH="3932709" progId="Visio.Drawing.11">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1700213"/>
                        <a:ext cx="4176712" cy="260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18"/>
          <p:cNvSpPr txBox="1">
            <a:spLocks noChangeArrowheads="1"/>
          </p:cNvSpPr>
          <p:nvPr/>
        </p:nvSpPr>
        <p:spPr bwMode="auto">
          <a:xfrm>
            <a:off x="1258888" y="188913"/>
            <a:ext cx="410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4.</a:t>
            </a:r>
            <a:r>
              <a:rPr lang="zh-CN" altLang="en-US"/>
              <a:t> 关于</a:t>
            </a:r>
            <a:r>
              <a:rPr lang="en-US" altLang="zh-CN"/>
              <a:t>y</a:t>
            </a:r>
            <a:r>
              <a:rPr lang="en-US" altLang="zh-CN" baseline="-25000"/>
              <a:t>3</a:t>
            </a:r>
            <a:r>
              <a:rPr lang="en-US" altLang="zh-CN"/>
              <a:t>O</a:t>
            </a:r>
            <a:r>
              <a:rPr lang="en-US" altLang="zh-CN" baseline="-25000"/>
              <a:t>v</a:t>
            </a:r>
            <a:r>
              <a:rPr lang="en-US" altLang="zh-CN"/>
              <a:t>z</a:t>
            </a:r>
            <a:r>
              <a:rPr lang="en-US" altLang="zh-CN" baseline="-25000"/>
              <a:t>3</a:t>
            </a:r>
            <a:r>
              <a:rPr lang="zh-CN" altLang="en-US"/>
              <a:t>面的反射变换 </a:t>
            </a:r>
          </a:p>
        </p:txBody>
      </p:sp>
      <p:sp>
        <p:nvSpPr>
          <p:cNvPr id="67587" name="Rectangle 19"/>
          <p:cNvSpPr>
            <a:spLocks noChangeArrowheads="1"/>
          </p:cNvSpPr>
          <p:nvPr/>
        </p:nvSpPr>
        <p:spPr bwMode="auto">
          <a:xfrm>
            <a:off x="539553" y="757238"/>
            <a:ext cx="8280598"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坐标轴</a:t>
            </a:r>
            <a:r>
              <a:rPr lang="en-US" altLang="zh-CN" dirty="0"/>
              <a:t>x</a:t>
            </a:r>
            <a:r>
              <a:rPr lang="en-US" altLang="zh-CN" baseline="-25000" dirty="0"/>
              <a:t>3</a:t>
            </a:r>
            <a:r>
              <a:rPr lang="zh-CN" altLang="en-US" dirty="0"/>
              <a:t>作关于</a:t>
            </a:r>
            <a:r>
              <a:rPr lang="en-US" altLang="zh-CN" dirty="0"/>
              <a:t>y</a:t>
            </a:r>
            <a:r>
              <a:rPr lang="en-US" altLang="zh-CN" baseline="-25000" dirty="0"/>
              <a:t>3</a:t>
            </a:r>
            <a:r>
              <a:rPr lang="en-US" altLang="zh-CN" dirty="0"/>
              <a:t>O</a:t>
            </a:r>
            <a:r>
              <a:rPr lang="en-US" altLang="zh-CN" baseline="-25000" dirty="0"/>
              <a:t>v</a:t>
            </a:r>
            <a:r>
              <a:rPr lang="en-US" altLang="zh-CN" dirty="0"/>
              <a:t>z</a:t>
            </a:r>
            <a:r>
              <a:rPr lang="en-US" altLang="zh-CN" baseline="-25000" dirty="0"/>
              <a:t>3</a:t>
            </a:r>
            <a:r>
              <a:rPr lang="zh-CN" altLang="en-US" dirty="0"/>
              <a:t>面的</a:t>
            </a:r>
            <a:r>
              <a:rPr lang="zh-CN" altLang="en-US" b="1" dirty="0">
                <a:solidFill>
                  <a:srgbClr val="FF0000"/>
                </a:solidFill>
                <a:latin typeface="黑体" panose="02010609060101010101" pitchFamily="49" charset="-122"/>
                <a:ea typeface="黑体" panose="02010609060101010101" pitchFamily="49" charset="-122"/>
              </a:rPr>
              <a:t>反射变换</a:t>
            </a:r>
            <a:r>
              <a:rPr lang="zh-CN" altLang="en-US" dirty="0"/>
              <a:t>，形成新坐标系</a:t>
            </a:r>
            <a:r>
              <a:rPr lang="en-US" altLang="zh-CN" dirty="0" err="1"/>
              <a:t>O</a:t>
            </a:r>
            <a:r>
              <a:rPr lang="en-US" altLang="zh-CN" baseline="-25000" dirty="0" err="1"/>
              <a:t>v</a:t>
            </a:r>
            <a:r>
              <a:rPr lang="en-US" altLang="zh-CN" dirty="0" err="1"/>
              <a:t>x</a:t>
            </a:r>
            <a:r>
              <a:rPr lang="en-US" altLang="zh-CN" baseline="-25000" dirty="0" err="1"/>
              <a:t>v</a:t>
            </a:r>
            <a:r>
              <a:rPr lang="en-US" altLang="zh-CN" dirty="0" err="1"/>
              <a:t>y</a:t>
            </a:r>
            <a:r>
              <a:rPr lang="en-US" altLang="zh-CN" baseline="-25000" dirty="0" err="1"/>
              <a:t>v</a:t>
            </a:r>
            <a:r>
              <a:rPr lang="en-US" altLang="zh-CN" dirty="0" err="1"/>
              <a:t>z</a:t>
            </a:r>
            <a:r>
              <a:rPr lang="en-US" altLang="zh-CN" baseline="-25000" dirty="0" err="1"/>
              <a:t>v</a:t>
            </a:r>
            <a:r>
              <a:rPr lang="zh-CN" altLang="en-US" dirty="0"/>
              <a:t>，这样就将观察坐标系从</a:t>
            </a:r>
            <a:r>
              <a:rPr lang="zh-CN" altLang="en-US" b="1" dirty="0">
                <a:solidFill>
                  <a:srgbClr val="FF0000"/>
                </a:solidFill>
                <a:latin typeface="黑体" panose="02010609060101010101" pitchFamily="49" charset="-122"/>
                <a:ea typeface="黑体" panose="02010609060101010101" pitchFamily="49" charset="-122"/>
              </a:rPr>
              <a:t>右手系变换为左手系</a:t>
            </a:r>
            <a:r>
              <a:rPr lang="zh-CN" altLang="en-US" dirty="0"/>
              <a:t>，并且</a:t>
            </a:r>
            <a:r>
              <a:rPr lang="en-US" altLang="zh-CN" dirty="0" err="1"/>
              <a:t>z</a:t>
            </a:r>
            <a:r>
              <a:rPr lang="en-US" altLang="zh-CN" baseline="-25000" dirty="0" err="1"/>
              <a:t>v</a:t>
            </a:r>
            <a:r>
              <a:rPr lang="zh-CN" altLang="en-US" dirty="0"/>
              <a:t>轴沿着视线方向指向</a:t>
            </a:r>
            <a:r>
              <a:rPr lang="en-US" altLang="zh-CN" dirty="0" err="1"/>
              <a:t>Oxyz</a:t>
            </a:r>
            <a:r>
              <a:rPr lang="zh-CN" altLang="en-US" dirty="0"/>
              <a:t>坐标系的原点，</a:t>
            </a:r>
            <a:r>
              <a:rPr lang="en-US" altLang="zh-CN" dirty="0"/>
              <a:t>x</a:t>
            </a:r>
            <a:r>
              <a:rPr lang="en-US" altLang="zh-CN" baseline="-25000" dirty="0"/>
              <a:t>v</a:t>
            </a:r>
            <a:r>
              <a:rPr lang="zh-CN" altLang="en-US" dirty="0"/>
              <a:t>垂直指向纸面之内。</a:t>
            </a:r>
          </a:p>
        </p:txBody>
      </p:sp>
      <p:sp>
        <p:nvSpPr>
          <p:cNvPr id="67588" name="Rectangle 22"/>
          <p:cNvSpPr>
            <a:spLocks noChangeArrowheads="1"/>
          </p:cNvSpPr>
          <p:nvPr/>
        </p:nvSpPr>
        <p:spPr bwMode="auto">
          <a:xfrm>
            <a:off x="3203575" y="4797425"/>
            <a:ext cx="324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坐标系</a:t>
            </a:r>
            <a:r>
              <a:rPr lang="en-US" altLang="zh-CN" sz="2000"/>
              <a:t>y</a:t>
            </a:r>
            <a:r>
              <a:rPr lang="en-US" altLang="zh-CN" sz="2000" baseline="-25000"/>
              <a:t>3</a:t>
            </a:r>
            <a:r>
              <a:rPr lang="en-US" altLang="zh-CN" sz="2000"/>
              <a:t>O</a:t>
            </a:r>
            <a:r>
              <a:rPr lang="en-US" altLang="zh-CN" sz="2000" baseline="-25000"/>
              <a:t>v</a:t>
            </a:r>
            <a:r>
              <a:rPr lang="en-US" altLang="zh-CN" sz="2000"/>
              <a:t>z</a:t>
            </a:r>
            <a:r>
              <a:rPr lang="en-US" altLang="zh-CN" sz="2000" baseline="-25000"/>
              <a:t>3</a:t>
            </a:r>
            <a:r>
              <a:rPr lang="zh-CN" altLang="en-US" sz="2000"/>
              <a:t>面的反射变换</a:t>
            </a:r>
            <a:r>
              <a:rPr lang="zh-CN" altLang="en-US"/>
              <a:t> </a:t>
            </a:r>
          </a:p>
        </p:txBody>
      </p:sp>
      <p:graphicFrame>
        <p:nvGraphicFramePr>
          <p:cNvPr id="67589" name="Object 7"/>
          <p:cNvGraphicFramePr>
            <a:graphicFrameLocks noChangeAspect="1"/>
          </p:cNvGraphicFramePr>
          <p:nvPr/>
        </p:nvGraphicFramePr>
        <p:xfrm>
          <a:off x="3779838" y="5373688"/>
          <a:ext cx="1944687" cy="1403350"/>
        </p:xfrm>
        <a:graphic>
          <a:graphicData uri="http://schemas.openxmlformats.org/presentationml/2006/ole">
            <mc:AlternateContent xmlns:mc="http://schemas.openxmlformats.org/markup-compatibility/2006">
              <mc:Choice xmlns:v="urn:schemas-microsoft-com:vml" Requires="v">
                <p:oleObj spid="_x0000_s67603" r:id="rId3" imgW="1270551" imgH="914797" progId="Equation.3">
                  <p:embed/>
                </p:oleObj>
              </mc:Choice>
              <mc:Fallback>
                <p:oleObj r:id="rId3" imgW="1270551" imgH="914797"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5373688"/>
                        <a:ext cx="1944687"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0" name="Object 25"/>
          <p:cNvGraphicFramePr>
            <a:graphicFrameLocks noChangeAspect="1"/>
          </p:cNvGraphicFramePr>
          <p:nvPr/>
        </p:nvGraphicFramePr>
        <p:xfrm>
          <a:off x="2987675" y="2349500"/>
          <a:ext cx="3870325" cy="2408238"/>
        </p:xfrm>
        <a:graphic>
          <a:graphicData uri="http://schemas.openxmlformats.org/presentationml/2006/ole">
            <mc:AlternateContent xmlns:mc="http://schemas.openxmlformats.org/markup-compatibility/2006">
              <mc:Choice xmlns:v="urn:schemas-microsoft-com:vml" Requires="v">
                <p:oleObj spid="_x0000_s67604" r:id="rId5" imgW="6310866" imgH="3941889" progId="Visio.Drawing.11">
                  <p:embed/>
                </p:oleObj>
              </mc:Choice>
              <mc:Fallback>
                <p:oleObj r:id="rId5" imgW="6310866" imgH="3941889" progId="Visio.Drawing.11">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2349500"/>
                        <a:ext cx="3870325" cy="240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610" name="Object 3"/>
          <p:cNvGraphicFramePr>
            <a:graphicFrameLocks noChangeAspect="1"/>
          </p:cNvGraphicFramePr>
          <p:nvPr/>
        </p:nvGraphicFramePr>
        <p:xfrm>
          <a:off x="1979613" y="333375"/>
          <a:ext cx="2305050" cy="473075"/>
        </p:xfrm>
        <a:graphic>
          <a:graphicData uri="http://schemas.openxmlformats.org/presentationml/2006/ole">
            <mc:AlternateContent xmlns:mc="http://schemas.openxmlformats.org/markup-compatibility/2006">
              <mc:Choice xmlns:v="urn:schemas-microsoft-com:vml" Requires="v">
                <p:oleObj spid="_x0000_s68630" r:id="rId3" imgW="1118085" imgH="228699" progId="Equation.3">
                  <p:embed/>
                </p:oleObj>
              </mc:Choice>
              <mc:Fallback>
                <p:oleObj r:id="rId3" imgW="1118085" imgH="22869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333375"/>
                        <a:ext cx="23050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1" name="Object 5"/>
          <p:cNvGraphicFramePr>
            <a:graphicFrameLocks noChangeAspect="1"/>
          </p:cNvGraphicFramePr>
          <p:nvPr/>
        </p:nvGraphicFramePr>
        <p:xfrm>
          <a:off x="1547813" y="1196975"/>
          <a:ext cx="7127875" cy="2725738"/>
        </p:xfrm>
        <a:graphic>
          <a:graphicData uri="http://schemas.openxmlformats.org/presentationml/2006/ole">
            <mc:AlternateContent xmlns:mc="http://schemas.openxmlformats.org/markup-compatibility/2006">
              <mc:Choice xmlns:v="urn:schemas-microsoft-com:vml" Requires="v">
                <p:oleObj spid="_x0000_s68631" r:id="rId5" imgW="4851400" imgH="1854200" progId="Equation.3">
                  <p:embed/>
                </p:oleObj>
              </mc:Choice>
              <mc:Fallback>
                <p:oleObj r:id="rId5" imgW="4851400" imgH="1854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1196975"/>
                        <a:ext cx="7127875"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2" name="Rectangle 14"/>
          <p:cNvSpPr>
            <a:spLocks noChangeArrowheads="1"/>
          </p:cNvSpPr>
          <p:nvPr/>
        </p:nvSpPr>
        <p:spPr bwMode="auto">
          <a:xfrm>
            <a:off x="1331913" y="4149725"/>
            <a:ext cx="210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观察变换矩阵 </a:t>
            </a:r>
          </a:p>
        </p:txBody>
      </p:sp>
      <p:graphicFrame>
        <p:nvGraphicFramePr>
          <p:cNvPr id="68613" name="Object 8"/>
          <p:cNvGraphicFramePr>
            <a:graphicFrameLocks noChangeAspect="1"/>
          </p:cNvGraphicFramePr>
          <p:nvPr/>
        </p:nvGraphicFramePr>
        <p:xfrm>
          <a:off x="2195513" y="4868863"/>
          <a:ext cx="4968875" cy="1579562"/>
        </p:xfrm>
        <a:graphic>
          <a:graphicData uri="http://schemas.openxmlformats.org/presentationml/2006/ole">
            <mc:AlternateContent xmlns:mc="http://schemas.openxmlformats.org/markup-compatibility/2006">
              <mc:Choice xmlns:v="urn:schemas-microsoft-com:vml" Requires="v">
                <p:oleObj spid="_x0000_s68632" r:id="rId7" imgW="2870200" imgH="914400" progId="Equation.3">
                  <p:embed/>
                </p:oleObj>
              </mc:Choice>
              <mc:Fallback>
                <p:oleObj r:id="rId7" imgW="2870200" imgH="9144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4868863"/>
                        <a:ext cx="4968875" cy="157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4" name="Rectangle 18"/>
          <p:cNvSpPr>
            <a:spLocks noChangeArrowheads="1"/>
          </p:cNvSpPr>
          <p:nvPr/>
        </p:nvSpPr>
        <p:spPr bwMode="auto">
          <a:xfrm>
            <a:off x="7594600" y="5499100"/>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6-45</a:t>
            </a:r>
            <a:r>
              <a:rPr lang="zh-CN" altLang="en-US"/>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ChangeArrowheads="1"/>
          </p:cNvSpPr>
          <p:nvPr/>
        </p:nvSpPr>
        <p:spPr bwMode="auto">
          <a:xfrm>
            <a:off x="1403350" y="333375"/>
            <a:ext cx="149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展开式为 </a:t>
            </a:r>
          </a:p>
        </p:txBody>
      </p:sp>
      <p:graphicFrame>
        <p:nvGraphicFramePr>
          <p:cNvPr id="69635" name="Object 4"/>
          <p:cNvGraphicFramePr>
            <a:graphicFrameLocks noChangeAspect="1"/>
          </p:cNvGraphicFramePr>
          <p:nvPr/>
        </p:nvGraphicFramePr>
        <p:xfrm>
          <a:off x="2073275" y="1196975"/>
          <a:ext cx="5718175" cy="1255713"/>
        </p:xfrm>
        <a:graphic>
          <a:graphicData uri="http://schemas.openxmlformats.org/presentationml/2006/ole">
            <mc:AlternateContent xmlns:mc="http://schemas.openxmlformats.org/markup-compatibility/2006">
              <mc:Choice xmlns:v="urn:schemas-microsoft-com:vml" Requires="v">
                <p:oleObj spid="_x0000_s69691" r:id="rId3" imgW="3262484" imgH="710891" progId="Equation.3">
                  <p:embed/>
                </p:oleObj>
              </mc:Choice>
              <mc:Fallback>
                <p:oleObj r:id="rId3" imgW="3262484" imgH="710891"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3275" y="1196975"/>
                        <a:ext cx="5718175"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36" name="Rectangle 10"/>
          <p:cNvSpPr>
            <a:spLocks noChangeArrowheads="1"/>
          </p:cNvSpPr>
          <p:nvPr/>
        </p:nvSpPr>
        <p:spPr bwMode="auto">
          <a:xfrm>
            <a:off x="7643813" y="148431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6-46</a:t>
            </a:r>
            <a:r>
              <a:rPr lang="zh-CN" altLang="en-US"/>
              <a:t>） </a:t>
            </a:r>
          </a:p>
        </p:txBody>
      </p:sp>
      <p:sp>
        <p:nvSpPr>
          <p:cNvPr id="69637" name="Rectangle 11"/>
          <p:cNvSpPr>
            <a:spLocks noChangeArrowheads="1"/>
          </p:cNvSpPr>
          <p:nvPr/>
        </p:nvSpPr>
        <p:spPr bwMode="auto">
          <a:xfrm>
            <a:off x="1331913" y="2819400"/>
            <a:ext cx="73437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为了避免程序中重复计算式（</a:t>
            </a:r>
            <a:r>
              <a:rPr lang="en-US" altLang="zh-CN"/>
              <a:t>6-46</a:t>
            </a:r>
            <a:r>
              <a:rPr lang="zh-CN" altLang="en-US"/>
              <a:t>）中的三角函数耗费时间，三角函数可以使用常数代替。</a:t>
            </a:r>
          </a:p>
        </p:txBody>
      </p:sp>
      <p:graphicFrame>
        <p:nvGraphicFramePr>
          <p:cNvPr id="69638" name="Object 8"/>
          <p:cNvGraphicFramePr>
            <a:graphicFrameLocks noChangeAspect="1"/>
          </p:cNvGraphicFramePr>
          <p:nvPr/>
        </p:nvGraphicFramePr>
        <p:xfrm>
          <a:off x="1476375" y="3933825"/>
          <a:ext cx="1439863" cy="509588"/>
        </p:xfrm>
        <a:graphic>
          <a:graphicData uri="http://schemas.openxmlformats.org/presentationml/2006/ole">
            <mc:AlternateContent xmlns:mc="http://schemas.openxmlformats.org/markup-compatibility/2006">
              <mc:Choice xmlns:v="urn:schemas-microsoft-com:vml" Requires="v">
                <p:oleObj spid="_x0000_s69692" r:id="rId5" imgW="622570" imgH="215994" progId="Equation.3">
                  <p:embed/>
                </p:oleObj>
              </mc:Choice>
              <mc:Fallback>
                <p:oleObj r:id="rId5" imgW="622570" imgH="215994"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3933825"/>
                        <a:ext cx="1439863"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39" name="Object 10"/>
          <p:cNvGraphicFramePr>
            <a:graphicFrameLocks noChangeAspect="1"/>
          </p:cNvGraphicFramePr>
          <p:nvPr/>
        </p:nvGraphicFramePr>
        <p:xfrm>
          <a:off x="3203575" y="3933825"/>
          <a:ext cx="1439863" cy="485775"/>
        </p:xfrm>
        <a:graphic>
          <a:graphicData uri="http://schemas.openxmlformats.org/presentationml/2006/ole">
            <mc:AlternateContent xmlns:mc="http://schemas.openxmlformats.org/markup-compatibility/2006">
              <mc:Choice xmlns:v="urn:schemas-microsoft-com:vml" Requires="v">
                <p:oleObj spid="_x0000_s69693" r:id="rId7" imgW="647981" imgH="215994" progId="Equation.3">
                  <p:embed/>
                </p:oleObj>
              </mc:Choice>
              <mc:Fallback>
                <p:oleObj r:id="rId7" imgW="647981" imgH="215994"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3933825"/>
                        <a:ext cx="143986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0" name="Object 12"/>
          <p:cNvGraphicFramePr>
            <a:graphicFrameLocks noChangeAspect="1"/>
          </p:cNvGraphicFramePr>
          <p:nvPr/>
        </p:nvGraphicFramePr>
        <p:xfrm>
          <a:off x="5003800" y="3933825"/>
          <a:ext cx="1584325" cy="550863"/>
        </p:xfrm>
        <a:graphic>
          <a:graphicData uri="http://schemas.openxmlformats.org/presentationml/2006/ole">
            <mc:AlternateContent xmlns:mc="http://schemas.openxmlformats.org/markup-compatibility/2006">
              <mc:Choice xmlns:v="urn:schemas-microsoft-com:vml" Requires="v">
                <p:oleObj spid="_x0000_s69694" r:id="rId9" imgW="660974" imgH="228799" progId="Equation.3">
                  <p:embed/>
                </p:oleObj>
              </mc:Choice>
              <mc:Fallback>
                <p:oleObj r:id="rId9" imgW="660974" imgH="228799"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3800" y="3933825"/>
                        <a:ext cx="158432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1" name="Object 14"/>
          <p:cNvGraphicFramePr>
            <a:graphicFrameLocks noChangeAspect="1"/>
          </p:cNvGraphicFramePr>
          <p:nvPr/>
        </p:nvGraphicFramePr>
        <p:xfrm>
          <a:off x="6948488" y="3933825"/>
          <a:ext cx="1439862" cy="479425"/>
        </p:xfrm>
        <a:graphic>
          <a:graphicData uri="http://schemas.openxmlformats.org/presentationml/2006/ole">
            <mc:AlternateContent xmlns:mc="http://schemas.openxmlformats.org/markup-compatibility/2006">
              <mc:Choice xmlns:v="urn:schemas-microsoft-com:vml" Requires="v">
                <p:oleObj spid="_x0000_s69695" r:id="rId11" imgW="660687" imgH="215994" progId="Equation.3">
                  <p:embed/>
                </p:oleObj>
              </mc:Choice>
              <mc:Fallback>
                <p:oleObj r:id="rId11" imgW="660687" imgH="215994"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48488" y="3933825"/>
                        <a:ext cx="14398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2" name="Object 16"/>
          <p:cNvGraphicFramePr>
            <a:graphicFrameLocks noChangeAspect="1"/>
          </p:cNvGraphicFramePr>
          <p:nvPr/>
        </p:nvGraphicFramePr>
        <p:xfrm>
          <a:off x="1476375" y="4818063"/>
          <a:ext cx="3240088" cy="482600"/>
        </p:xfrm>
        <a:graphic>
          <a:graphicData uri="http://schemas.openxmlformats.org/presentationml/2006/ole">
            <mc:AlternateContent xmlns:mc="http://schemas.openxmlformats.org/markup-compatibility/2006">
              <mc:Choice xmlns:v="urn:schemas-microsoft-com:vml" Requires="v">
                <p:oleObj spid="_x0000_s69696" r:id="rId13" imgW="1537367" imgH="228699" progId="Equation.3">
                  <p:embed/>
                </p:oleObj>
              </mc:Choice>
              <mc:Fallback>
                <p:oleObj r:id="rId13" imgW="1537367" imgH="228699"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76375" y="4818063"/>
                        <a:ext cx="324008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3" name="Object 18"/>
          <p:cNvGraphicFramePr>
            <a:graphicFrameLocks noChangeAspect="1"/>
          </p:cNvGraphicFramePr>
          <p:nvPr/>
        </p:nvGraphicFramePr>
        <p:xfrm>
          <a:off x="5003800" y="4819650"/>
          <a:ext cx="3168650" cy="481013"/>
        </p:xfrm>
        <a:graphic>
          <a:graphicData uri="http://schemas.openxmlformats.org/presentationml/2006/ole">
            <mc:AlternateContent xmlns:mc="http://schemas.openxmlformats.org/markup-compatibility/2006">
              <mc:Choice xmlns:v="urn:schemas-microsoft-com:vml" Requires="v">
                <p:oleObj spid="_x0000_s69697" r:id="rId15" imgW="1511956" imgH="228699" progId="Equation.3">
                  <p:embed/>
                </p:oleObj>
              </mc:Choice>
              <mc:Fallback>
                <p:oleObj r:id="rId15" imgW="1511956" imgH="228699"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03800" y="4819650"/>
                        <a:ext cx="316865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4" name="Object 20"/>
          <p:cNvGraphicFramePr>
            <a:graphicFrameLocks noChangeAspect="1"/>
          </p:cNvGraphicFramePr>
          <p:nvPr/>
        </p:nvGraphicFramePr>
        <p:xfrm>
          <a:off x="1476375" y="5475288"/>
          <a:ext cx="3240088" cy="474662"/>
        </p:xfrm>
        <a:graphic>
          <a:graphicData uri="http://schemas.openxmlformats.org/presentationml/2006/ole">
            <mc:AlternateContent xmlns:mc="http://schemas.openxmlformats.org/markup-compatibility/2006">
              <mc:Choice xmlns:v="urn:schemas-microsoft-com:vml" Requires="v">
                <p:oleObj spid="_x0000_s69698" r:id="rId17" imgW="1562778" imgH="228699" progId="Equation.3">
                  <p:embed/>
                </p:oleObj>
              </mc:Choice>
              <mc:Fallback>
                <p:oleObj r:id="rId17" imgW="1562778" imgH="228699" progId="Equation.3">
                  <p:embed/>
                  <p:pic>
                    <p:nvPicPr>
                      <p:cNvPr id="0" name="Object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76375" y="5475288"/>
                        <a:ext cx="3240088"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5" name="Object 22"/>
          <p:cNvGraphicFramePr>
            <a:graphicFrameLocks noChangeAspect="1"/>
          </p:cNvGraphicFramePr>
          <p:nvPr/>
        </p:nvGraphicFramePr>
        <p:xfrm>
          <a:off x="5076825" y="5495925"/>
          <a:ext cx="3024188" cy="454025"/>
        </p:xfrm>
        <a:graphic>
          <a:graphicData uri="http://schemas.openxmlformats.org/presentationml/2006/ole">
            <mc:AlternateContent xmlns:mc="http://schemas.openxmlformats.org/markup-compatibility/2006">
              <mc:Choice xmlns:v="urn:schemas-microsoft-com:vml" Requires="v">
                <p:oleObj spid="_x0000_s69699" r:id="rId19" imgW="1524662" imgH="228699" progId="Equation.3">
                  <p:embed/>
                </p:oleObj>
              </mc:Choice>
              <mc:Fallback>
                <p:oleObj r:id="rId19" imgW="1524662" imgH="228699" progId="Equation.3">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076825" y="5495925"/>
                        <a:ext cx="30241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8" name="Object 3"/>
          <p:cNvGraphicFramePr>
            <a:graphicFrameLocks noChangeAspect="1"/>
          </p:cNvGraphicFramePr>
          <p:nvPr/>
        </p:nvGraphicFramePr>
        <p:xfrm>
          <a:off x="2066925" y="333375"/>
          <a:ext cx="5586413" cy="1657350"/>
        </p:xfrm>
        <a:graphic>
          <a:graphicData uri="http://schemas.openxmlformats.org/presentationml/2006/ole">
            <mc:AlternateContent xmlns:mc="http://schemas.openxmlformats.org/markup-compatibility/2006">
              <mc:Choice xmlns:v="urn:schemas-microsoft-com:vml" Requires="v">
                <p:oleObj spid="_x0000_s70666" r:id="rId3" imgW="2082800" imgH="711200" progId="Equation.3">
                  <p:embed/>
                </p:oleObj>
              </mc:Choice>
              <mc:Fallback>
                <p:oleObj r:id="rId3" imgW="2082800" imgH="711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6925" y="333375"/>
                        <a:ext cx="5586413"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59" name="Rectangle 11"/>
          <p:cNvSpPr>
            <a:spLocks noChangeArrowheads="1"/>
          </p:cNvSpPr>
          <p:nvPr/>
        </p:nvSpPr>
        <p:spPr bwMode="auto">
          <a:xfrm>
            <a:off x="7739063" y="908050"/>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6-47</a:t>
            </a:r>
            <a:r>
              <a:rPr lang="zh-CN" altLang="en-US"/>
              <a:t>）</a:t>
            </a:r>
          </a:p>
        </p:txBody>
      </p:sp>
      <p:sp>
        <p:nvSpPr>
          <p:cNvPr id="70660" name="Rectangle 12"/>
          <p:cNvSpPr>
            <a:spLocks noChangeArrowheads="1"/>
          </p:cNvSpPr>
          <p:nvPr/>
        </p:nvSpPr>
        <p:spPr bwMode="auto">
          <a:xfrm>
            <a:off x="1403350" y="2544763"/>
            <a:ext cx="748982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使用式（</a:t>
            </a:r>
            <a:r>
              <a:rPr lang="en-US" altLang="zh-CN" dirty="0"/>
              <a:t>6-47</a:t>
            </a:r>
            <a:r>
              <a:rPr lang="zh-CN" altLang="en-US" dirty="0"/>
              <a:t>）可以绘制物体的</a:t>
            </a:r>
            <a:r>
              <a:rPr lang="zh-CN" altLang="en-US" b="1" dirty="0">
                <a:solidFill>
                  <a:srgbClr val="FF0000"/>
                </a:solidFill>
                <a:latin typeface="黑体" panose="02010609060101010101" pitchFamily="49" charset="-122"/>
                <a:ea typeface="黑体" panose="02010609060101010101" pitchFamily="49" charset="-122"/>
              </a:rPr>
              <a:t>旋转变换动画</a:t>
            </a:r>
            <a:r>
              <a:rPr lang="zh-CN" altLang="en-US" dirty="0"/>
              <a:t>。改变</a:t>
            </a:r>
            <a:r>
              <a:rPr lang="en-US" altLang="zh-CN" dirty="0"/>
              <a:t>φ</a:t>
            </a:r>
            <a:r>
              <a:rPr lang="zh-CN" altLang="en-US" dirty="0"/>
              <a:t>，视点就会沿着纬度方向旋转；改变</a:t>
            </a:r>
            <a:r>
              <a:rPr lang="en-US" altLang="zh-CN" dirty="0"/>
              <a:t>θ</a:t>
            </a:r>
            <a:r>
              <a:rPr lang="zh-CN" altLang="en-US" dirty="0"/>
              <a:t>，视点就会沿着经度方向旋转；增大视径</a:t>
            </a:r>
            <a:r>
              <a:rPr lang="en-US" altLang="zh-CN" dirty="0"/>
              <a:t>R</a:t>
            </a:r>
            <a:r>
              <a:rPr lang="zh-CN" altLang="en-US" dirty="0"/>
              <a:t>，视点到物体的距离变远，物体的投影缩小；减小视径</a:t>
            </a:r>
            <a:r>
              <a:rPr lang="en-US" altLang="zh-CN" dirty="0"/>
              <a:t>R</a:t>
            </a:r>
            <a:r>
              <a:rPr lang="zh-CN" altLang="en-US" dirty="0"/>
              <a:t>，视点到物体的距离变近，物体的投影放大。相对而言，如果认为视点不动，等同于物体反向旋转。</a:t>
            </a:r>
            <a:r>
              <a:rPr lang="zh-CN" altLang="en-US" b="1" dirty="0">
                <a:solidFill>
                  <a:srgbClr val="FF0000"/>
                </a:solidFill>
                <a:latin typeface="黑体" panose="02010609060101010101" pitchFamily="49" charset="-122"/>
                <a:ea typeface="黑体" panose="02010609060101010101" pitchFamily="49" charset="-122"/>
              </a:rPr>
              <a:t>请注意，此时虽然观察到了物体的旋转或缩放，但物体在世界坐标系内的物理位置并没有发生改变</a:t>
            </a:r>
            <a:r>
              <a:rPr lang="zh-CN" altLang="en-US" dirty="0"/>
              <a:t>。由于还没有对物体实施透视变换，物体投影的大小并未发生变化。观察坐标系只是提供了一种从</a:t>
            </a:r>
            <a:r>
              <a:rPr lang="zh-CN" altLang="en-US" b="1" dirty="0">
                <a:solidFill>
                  <a:srgbClr val="FF0000"/>
                </a:solidFill>
                <a:latin typeface="黑体" panose="02010609060101010101" pitchFamily="49" charset="-122"/>
                <a:ea typeface="黑体" panose="02010609060101010101" pitchFamily="49" charset="-122"/>
              </a:rPr>
              <a:t>任意视向观察物体的方法</a:t>
            </a:r>
            <a:r>
              <a:rPr lang="zh-CN" altLang="en-US" dirty="0"/>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61"/>
          <p:cNvSpPr>
            <a:spLocks noChangeArrowheads="1"/>
          </p:cNvSpPr>
          <p:nvPr/>
        </p:nvSpPr>
        <p:spPr bwMode="auto">
          <a:xfrm>
            <a:off x="0" y="903288"/>
            <a:ext cx="4460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Arial" panose="020B0604020202020204" pitchFamily="34" charset="0"/>
                <a:ea typeface="宋体" panose="02010600030101010101" pitchFamily="2" charset="-122"/>
              </a:rPr>
              <a:t/>
            </a:r>
            <a:br>
              <a:rPr lang="zh-CN" altLang="en-US">
                <a:latin typeface="Arial" panose="020B0604020202020204" pitchFamily="34" charset="0"/>
                <a:ea typeface="宋体" panose="02010600030101010101" pitchFamily="2" charset="-122"/>
              </a:rPr>
            </a:br>
            <a:endParaRPr lang="zh-CN" altLang="en-US">
              <a:latin typeface="Arial" panose="020B0604020202020204" pitchFamily="34" charset="0"/>
              <a:ea typeface="宋体" panose="02010600030101010101" pitchFamily="2" charset="-122"/>
            </a:endParaRPr>
          </a:p>
          <a:p>
            <a:pPr>
              <a:buFont typeface="Arial" panose="020B0604020202020204" pitchFamily="34" charset="0"/>
              <a:buNone/>
            </a:pPr>
            <a:endParaRPr lang="zh-CN" altLang="en-US">
              <a:latin typeface="Arial" panose="020B0604020202020204" pitchFamily="34" charset="0"/>
              <a:ea typeface="宋体" panose="02010600030101010101" pitchFamily="2" charset="-122"/>
            </a:endParaRPr>
          </a:p>
        </p:txBody>
      </p:sp>
      <p:sp>
        <p:nvSpPr>
          <p:cNvPr id="71683" name="Rectangle 62"/>
          <p:cNvSpPr>
            <a:spLocks noChangeArrowheads="1"/>
          </p:cNvSpPr>
          <p:nvPr/>
        </p:nvSpPr>
        <p:spPr bwMode="auto">
          <a:xfrm>
            <a:off x="0" y="2090738"/>
            <a:ext cx="1841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latin typeface="Arial" panose="020B0604020202020204" pitchFamily="34" charset="0"/>
              <a:ea typeface="宋体" panose="02010600030101010101" pitchFamily="2" charset="-122"/>
            </a:endParaRPr>
          </a:p>
          <a:p>
            <a:pPr>
              <a:buFont typeface="Arial" panose="020B0604020202020204" pitchFamily="34" charset="0"/>
              <a:buNone/>
            </a:pPr>
            <a:endParaRPr lang="zh-CN" altLang="en-US">
              <a:latin typeface="Arial" panose="020B0604020202020204" pitchFamily="34" charset="0"/>
              <a:ea typeface="宋体" panose="02010600030101010101" pitchFamily="2" charset="-122"/>
            </a:endParaRPr>
          </a:p>
        </p:txBody>
      </p:sp>
      <p:sp>
        <p:nvSpPr>
          <p:cNvPr id="71684" name="Rectangle 73"/>
          <p:cNvSpPr>
            <a:spLocks noChangeArrowheads="1"/>
          </p:cNvSpPr>
          <p:nvPr/>
        </p:nvSpPr>
        <p:spPr bwMode="auto">
          <a:xfrm>
            <a:off x="1619250" y="681226"/>
            <a:ext cx="340990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5113">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1600" dirty="0"/>
              <a:t>void </a:t>
            </a:r>
            <a:r>
              <a:rPr lang="en-US" altLang="zh-CN" sz="1600" dirty="0" err="1"/>
              <a:t>CTestView</a:t>
            </a:r>
            <a:r>
              <a:rPr lang="en-US" altLang="zh-CN" sz="1600" dirty="0"/>
              <a:t>::</a:t>
            </a:r>
            <a:r>
              <a:rPr lang="en-US" altLang="zh-CN" sz="1600" dirty="0" err="1"/>
              <a:t>InitParameter</a:t>
            </a:r>
            <a:r>
              <a:rPr lang="en-US" altLang="zh-CN" sz="1600" dirty="0"/>
              <a:t>()</a:t>
            </a:r>
          </a:p>
          <a:p>
            <a:pPr eaLnBrk="1" hangingPunct="1">
              <a:buFont typeface="Arial" panose="020B0604020202020204" pitchFamily="34" charset="0"/>
              <a:buNone/>
            </a:pPr>
            <a:r>
              <a:rPr lang="en-US" altLang="zh-CN" sz="1600" dirty="0"/>
              <a:t>{</a:t>
            </a:r>
          </a:p>
          <a:p>
            <a:pPr eaLnBrk="1" hangingPunct="1">
              <a:buFont typeface="Arial" panose="020B0604020202020204" pitchFamily="34" charset="0"/>
              <a:buNone/>
            </a:pPr>
            <a:r>
              <a:rPr lang="en-US" altLang="zh-CN" sz="1600" dirty="0"/>
              <a:t>        //</a:t>
            </a:r>
            <a:r>
              <a:rPr lang="zh-CN" altLang="en-US" sz="1600" dirty="0"/>
              <a:t>初始化三角函数</a:t>
            </a:r>
            <a:endParaRPr lang="en-US" altLang="zh-CN" sz="1600" dirty="0"/>
          </a:p>
          <a:p>
            <a:pPr eaLnBrk="1" hangingPunct="1">
              <a:buFont typeface="Arial" panose="020B0604020202020204" pitchFamily="34" charset="0"/>
              <a:buNone/>
            </a:pPr>
            <a:r>
              <a:rPr lang="en-US" altLang="zh-CN" sz="1600" dirty="0"/>
              <a:t>	k[1]=sin(PI*Theta/180); </a:t>
            </a:r>
            <a:endParaRPr lang="zh-CN" altLang="en-US" sz="1600" dirty="0"/>
          </a:p>
          <a:p>
            <a:pPr eaLnBrk="1" hangingPunct="1">
              <a:buFont typeface="Arial" panose="020B0604020202020204" pitchFamily="34" charset="0"/>
              <a:buNone/>
            </a:pPr>
            <a:r>
              <a:rPr lang="zh-CN" altLang="en-US" sz="1600" dirty="0"/>
              <a:t>	</a:t>
            </a:r>
            <a:r>
              <a:rPr lang="en-US" altLang="zh-CN" sz="1600" dirty="0"/>
              <a:t>k[2]=sin(PI*Phi/180);</a:t>
            </a:r>
          </a:p>
          <a:p>
            <a:pPr eaLnBrk="1" hangingPunct="1">
              <a:buFont typeface="Arial" panose="020B0604020202020204" pitchFamily="34" charset="0"/>
              <a:buNone/>
            </a:pPr>
            <a:r>
              <a:rPr lang="en-US" altLang="zh-CN" sz="1600" dirty="0"/>
              <a:t>	k[3]=cos(PI*Theta/180);</a:t>
            </a:r>
          </a:p>
          <a:p>
            <a:pPr eaLnBrk="1" hangingPunct="1">
              <a:buFont typeface="Arial" panose="020B0604020202020204" pitchFamily="34" charset="0"/>
              <a:buNone/>
            </a:pPr>
            <a:r>
              <a:rPr lang="en-US" altLang="zh-CN" sz="1600" dirty="0"/>
              <a:t>	k[4]=cos(PI*Phi/180);</a:t>
            </a:r>
          </a:p>
          <a:p>
            <a:pPr eaLnBrk="1" hangingPunct="1">
              <a:buFont typeface="Arial" panose="020B0604020202020204" pitchFamily="34" charset="0"/>
              <a:buNone/>
            </a:pPr>
            <a:r>
              <a:rPr lang="en-US" altLang="zh-CN" sz="1600" dirty="0"/>
              <a:t>	k[5]=k[2]*k[3];</a:t>
            </a:r>
          </a:p>
          <a:p>
            <a:pPr eaLnBrk="1" hangingPunct="1">
              <a:buFont typeface="Arial" panose="020B0604020202020204" pitchFamily="34" charset="0"/>
              <a:buNone/>
            </a:pPr>
            <a:r>
              <a:rPr lang="en-US" altLang="zh-CN" sz="1600" dirty="0"/>
              <a:t>	k[6]=k[2]*k[1];</a:t>
            </a:r>
          </a:p>
          <a:p>
            <a:pPr eaLnBrk="1" hangingPunct="1">
              <a:buFont typeface="Arial" panose="020B0604020202020204" pitchFamily="34" charset="0"/>
              <a:buNone/>
            </a:pPr>
            <a:r>
              <a:rPr lang="en-US" altLang="zh-CN" sz="1600" dirty="0"/>
              <a:t>	k[7]=k[4]*k[3];</a:t>
            </a:r>
          </a:p>
          <a:p>
            <a:pPr eaLnBrk="1" hangingPunct="1">
              <a:buFont typeface="Arial" panose="020B0604020202020204" pitchFamily="34" charset="0"/>
              <a:buNone/>
            </a:pPr>
            <a:r>
              <a:rPr lang="en-US" altLang="zh-CN" sz="1600" dirty="0"/>
              <a:t>	k[8]=k[4]*k[1];</a:t>
            </a:r>
          </a:p>
          <a:p>
            <a:pPr eaLnBrk="1" hangingPunct="1">
              <a:buFont typeface="Arial" panose="020B0604020202020204" pitchFamily="34" charset="0"/>
              <a:buNone/>
            </a:pPr>
            <a:r>
              <a:rPr lang="en-US" altLang="zh-CN" sz="1600" dirty="0"/>
              <a:t>        //</a:t>
            </a:r>
            <a:r>
              <a:rPr lang="zh-CN" altLang="en-US" sz="1600" dirty="0"/>
              <a:t>世界坐标系的视点球坐标</a:t>
            </a:r>
            <a:endParaRPr lang="en-US" altLang="zh-CN" sz="1600" dirty="0"/>
          </a:p>
          <a:p>
            <a:pPr eaLnBrk="1" hangingPunct="1">
              <a:buFont typeface="Arial" panose="020B0604020202020204" pitchFamily="34" charset="0"/>
              <a:buNone/>
            </a:pPr>
            <a:r>
              <a:rPr lang="en-US" altLang="zh-CN" sz="1600" dirty="0"/>
              <a:t>	</a:t>
            </a:r>
            <a:r>
              <a:rPr lang="en-US" altLang="zh-CN" sz="1600" dirty="0" err="1"/>
              <a:t>ViewPoint.x</a:t>
            </a:r>
            <a:r>
              <a:rPr lang="en-US" altLang="zh-CN" sz="1600" dirty="0"/>
              <a:t>=R*k[6]; </a:t>
            </a:r>
            <a:endParaRPr lang="zh-CN" altLang="en-US" sz="1600" dirty="0"/>
          </a:p>
          <a:p>
            <a:pPr eaLnBrk="1" hangingPunct="1">
              <a:buFont typeface="Arial" panose="020B0604020202020204" pitchFamily="34" charset="0"/>
              <a:buNone/>
            </a:pPr>
            <a:r>
              <a:rPr lang="zh-CN" altLang="en-US" sz="1600" dirty="0"/>
              <a:t>	</a:t>
            </a:r>
            <a:r>
              <a:rPr lang="en-US" altLang="zh-CN" sz="1600" dirty="0" err="1"/>
              <a:t>ViewPoint.y</a:t>
            </a:r>
            <a:r>
              <a:rPr lang="en-US" altLang="zh-CN" sz="1600" dirty="0"/>
              <a:t>=R*k[4];</a:t>
            </a:r>
          </a:p>
          <a:p>
            <a:pPr eaLnBrk="1" hangingPunct="1">
              <a:buFont typeface="Arial" panose="020B0604020202020204" pitchFamily="34" charset="0"/>
              <a:buNone/>
            </a:pPr>
            <a:r>
              <a:rPr lang="en-US" altLang="zh-CN" sz="1600" dirty="0"/>
              <a:t>	</a:t>
            </a:r>
            <a:r>
              <a:rPr lang="en-US" altLang="zh-CN" sz="1600" dirty="0" err="1"/>
              <a:t>ViewPoint.z</a:t>
            </a:r>
            <a:r>
              <a:rPr lang="en-US" altLang="zh-CN" sz="1600" dirty="0"/>
              <a:t>=R*k[5];</a:t>
            </a:r>
          </a:p>
          <a:p>
            <a:pPr eaLnBrk="1" hangingPunct="1">
              <a:buFont typeface="Arial" panose="020B0604020202020204" pitchFamily="34" charset="0"/>
              <a:buNone/>
            </a:pPr>
            <a:r>
              <a:rPr lang="en-US" altLang="zh-CN" sz="1600" dirty="0"/>
              <a:t>}</a:t>
            </a:r>
          </a:p>
        </p:txBody>
      </p:sp>
      <p:graphicFrame>
        <p:nvGraphicFramePr>
          <p:cNvPr id="71685" name="Object 7"/>
          <p:cNvGraphicFramePr>
            <a:graphicFrameLocks noChangeAspect="1"/>
          </p:cNvGraphicFramePr>
          <p:nvPr/>
        </p:nvGraphicFramePr>
        <p:xfrm>
          <a:off x="5786438" y="4643438"/>
          <a:ext cx="1714500" cy="1530350"/>
        </p:xfrm>
        <a:graphic>
          <a:graphicData uri="http://schemas.openxmlformats.org/presentationml/2006/ole">
            <mc:AlternateContent xmlns:mc="http://schemas.openxmlformats.org/markup-compatibility/2006">
              <mc:Choice xmlns:v="urn:schemas-microsoft-com:vml" Requires="v">
                <p:oleObj spid="_x0000_s71694" r:id="rId3" imgW="800100" imgH="711200" progId="Equation.3">
                  <p:embed/>
                </p:oleObj>
              </mc:Choice>
              <mc:Fallback>
                <p:oleObj r:id="rId3" imgW="800100" imgH="711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6438" y="4643438"/>
                        <a:ext cx="17145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686" name="Rectangle 76"/>
          <p:cNvSpPr>
            <a:spLocks noChangeArrowheads="1"/>
          </p:cNvSpPr>
          <p:nvPr/>
        </p:nvSpPr>
        <p:spPr bwMode="auto">
          <a:xfrm>
            <a:off x="1357313" y="5286375"/>
            <a:ext cx="436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视点坐标使用</a:t>
            </a:r>
            <a:r>
              <a:rPr lang="en-US" altLang="zh-CN"/>
              <a:t>k</a:t>
            </a:r>
            <a:r>
              <a:rPr lang="en-US" altLang="zh-CN" baseline="-25000"/>
              <a:t>1</a:t>
            </a:r>
            <a:r>
              <a:rPr lang="zh-CN" altLang="en-US"/>
              <a:t>～</a:t>
            </a:r>
            <a:r>
              <a:rPr lang="en-US" altLang="zh-CN"/>
              <a:t>k</a:t>
            </a:r>
            <a:r>
              <a:rPr lang="en-US" altLang="zh-CN" baseline="-25000"/>
              <a:t>8</a:t>
            </a:r>
            <a:r>
              <a:rPr lang="zh-CN" altLang="en-US"/>
              <a:t>统一表示为</a:t>
            </a:r>
          </a:p>
        </p:txBody>
      </p:sp>
      <p:sp>
        <p:nvSpPr>
          <p:cNvPr id="71687" name="Rectangle 78"/>
          <p:cNvSpPr>
            <a:spLocks noChangeArrowheads="1"/>
          </p:cNvSpPr>
          <p:nvPr/>
        </p:nvSpPr>
        <p:spPr bwMode="auto">
          <a:xfrm>
            <a:off x="7572375" y="5000625"/>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6-48</a:t>
            </a:r>
            <a:r>
              <a:rPr lang="zh-CN" altLang="en-US"/>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61"/>
          <p:cNvSpPr>
            <a:spLocks noChangeArrowheads="1"/>
          </p:cNvSpPr>
          <p:nvPr/>
        </p:nvSpPr>
        <p:spPr bwMode="auto">
          <a:xfrm>
            <a:off x="0" y="903288"/>
            <a:ext cx="4460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1938">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Arial" panose="020B0604020202020204" pitchFamily="34" charset="0"/>
                <a:ea typeface="宋体" panose="02010600030101010101" pitchFamily="2" charset="-122"/>
              </a:rPr>
              <a:t/>
            </a:r>
            <a:br>
              <a:rPr lang="zh-CN" altLang="en-US">
                <a:latin typeface="Arial" panose="020B0604020202020204" pitchFamily="34" charset="0"/>
                <a:ea typeface="宋体" panose="02010600030101010101" pitchFamily="2" charset="-122"/>
              </a:rPr>
            </a:br>
            <a:endParaRPr lang="zh-CN" altLang="en-US">
              <a:latin typeface="Arial" panose="020B0604020202020204" pitchFamily="34" charset="0"/>
              <a:ea typeface="宋体" panose="02010600030101010101" pitchFamily="2" charset="-122"/>
            </a:endParaRPr>
          </a:p>
          <a:p>
            <a:pPr>
              <a:buFont typeface="Arial" panose="020B0604020202020204" pitchFamily="34" charset="0"/>
              <a:buNone/>
            </a:pPr>
            <a:endParaRPr lang="zh-CN" altLang="en-US">
              <a:latin typeface="Arial" panose="020B0604020202020204" pitchFamily="34" charset="0"/>
              <a:ea typeface="宋体" panose="02010600030101010101" pitchFamily="2" charset="-122"/>
            </a:endParaRPr>
          </a:p>
        </p:txBody>
      </p:sp>
      <p:sp>
        <p:nvSpPr>
          <p:cNvPr id="72707" name="Rectangle 62"/>
          <p:cNvSpPr>
            <a:spLocks noChangeArrowheads="1"/>
          </p:cNvSpPr>
          <p:nvPr/>
        </p:nvSpPr>
        <p:spPr bwMode="auto">
          <a:xfrm>
            <a:off x="0" y="2090738"/>
            <a:ext cx="1841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latin typeface="Arial" panose="020B0604020202020204" pitchFamily="34" charset="0"/>
              <a:ea typeface="宋体" panose="02010600030101010101" pitchFamily="2" charset="-122"/>
            </a:endParaRPr>
          </a:p>
          <a:p>
            <a:pPr>
              <a:buFont typeface="Arial" panose="020B0604020202020204" pitchFamily="34" charset="0"/>
              <a:buNone/>
            </a:pPr>
            <a:endParaRPr lang="zh-CN" altLang="en-US">
              <a:latin typeface="Arial" panose="020B0604020202020204" pitchFamily="34" charset="0"/>
              <a:ea typeface="宋体" panose="02010600030101010101" pitchFamily="2" charset="-122"/>
            </a:endParaRPr>
          </a:p>
        </p:txBody>
      </p:sp>
      <p:sp>
        <p:nvSpPr>
          <p:cNvPr id="72708" name="Rectangle 73"/>
          <p:cNvSpPr>
            <a:spLocks noChangeArrowheads="1"/>
          </p:cNvSpPr>
          <p:nvPr/>
        </p:nvSpPr>
        <p:spPr bwMode="auto">
          <a:xfrm>
            <a:off x="1000125" y="1643063"/>
            <a:ext cx="7929563"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5113">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t>void CTestView::WorldToView(CP3 WorldP)</a:t>
            </a:r>
          </a:p>
          <a:p>
            <a:pPr eaLnBrk="1" hangingPunct="1">
              <a:buFont typeface="Arial" panose="020B0604020202020204" pitchFamily="34" charset="0"/>
              <a:buNone/>
            </a:pPr>
            <a:r>
              <a:rPr lang="en-US" altLang="zh-CN" sz="2000"/>
              <a:t>{</a:t>
            </a:r>
          </a:p>
          <a:p>
            <a:pPr eaLnBrk="1" hangingPunct="1">
              <a:buFont typeface="Arial" panose="020B0604020202020204" pitchFamily="34" charset="0"/>
              <a:buNone/>
            </a:pPr>
            <a:r>
              <a:rPr lang="en-US" altLang="zh-CN" sz="2000"/>
              <a:t>	CP3 ViewP;</a:t>
            </a:r>
          </a:p>
          <a:p>
            <a:pPr eaLnBrk="1" hangingPunct="1">
              <a:buFont typeface="Arial" panose="020B0604020202020204" pitchFamily="34" charset="0"/>
              <a:buNone/>
            </a:pPr>
            <a:r>
              <a:rPr lang="en-US" altLang="zh-CN" sz="2000"/>
              <a:t>	ViewP.x=k[3]* WorldP.x-k[1]* WorldP.z; </a:t>
            </a:r>
            <a:endParaRPr lang="zh-CN" altLang="en-US" sz="2000"/>
          </a:p>
          <a:p>
            <a:pPr eaLnBrk="1" hangingPunct="1">
              <a:buFont typeface="Arial" panose="020B0604020202020204" pitchFamily="34" charset="0"/>
              <a:buNone/>
            </a:pPr>
            <a:r>
              <a:rPr lang="zh-CN" altLang="en-US" sz="2000"/>
              <a:t>	</a:t>
            </a:r>
            <a:r>
              <a:rPr lang="en-US" altLang="zh-CN" sz="2000"/>
              <a:t>ViewP.y=-k[8]* WorldP.x+k[2]* WorldP.y-k[7]* WorldP.z;</a:t>
            </a:r>
          </a:p>
          <a:p>
            <a:pPr eaLnBrk="1" hangingPunct="1">
              <a:buFont typeface="Arial" panose="020B0604020202020204" pitchFamily="34" charset="0"/>
              <a:buNone/>
            </a:pPr>
            <a:r>
              <a:rPr lang="en-US" altLang="zh-CN" sz="2000"/>
              <a:t>	ViewP.z=-k[6]* WorldP.x-k[4]* WorldP.y-k[5]* WorldP.z+R;</a:t>
            </a:r>
          </a:p>
          <a:p>
            <a:pPr eaLnBrk="1" hangingPunct="1">
              <a:buFont typeface="Arial" panose="020B0604020202020204" pitchFamily="34" charset="0"/>
              <a:buNone/>
            </a:pPr>
            <a:r>
              <a:rPr lang="en-US" altLang="zh-CN" sz="2000"/>
              <a:t>}</a:t>
            </a:r>
          </a:p>
          <a:p>
            <a:pPr eaLnBrk="1" hangingPunct="1">
              <a:buFont typeface="Arial" panose="020B0604020202020204" pitchFamily="34" charset="0"/>
              <a:buNone/>
            </a:pPr>
            <a:endParaRPr lang="en-US" altLang="zh-CN"/>
          </a:p>
        </p:txBody>
      </p:sp>
      <p:sp>
        <p:nvSpPr>
          <p:cNvPr id="72709" name="矩形 9"/>
          <p:cNvSpPr>
            <a:spLocks noChangeArrowheads="1"/>
          </p:cNvSpPr>
          <p:nvPr/>
        </p:nvSpPr>
        <p:spPr bwMode="auto">
          <a:xfrm>
            <a:off x="1428750" y="4286250"/>
            <a:ext cx="72866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50000"/>
              </a:lnSpc>
            </a:pPr>
            <a:r>
              <a:rPr lang="en-US" altLang="zh-CN"/>
              <a:t>      WorldP</a:t>
            </a:r>
            <a:r>
              <a:rPr lang="zh-CN" altLang="en-US"/>
              <a:t>为世界</a:t>
            </a:r>
            <a:r>
              <a:rPr lang="zh-CN" altLang="en-US">
                <a:solidFill>
                  <a:srgbClr val="000000"/>
                </a:solidFill>
              </a:rPr>
              <a:t>坐标系三维点，</a:t>
            </a:r>
            <a:r>
              <a:rPr lang="en-US" altLang="zh-CN"/>
              <a:t>ViewP</a:t>
            </a:r>
            <a:r>
              <a:rPr lang="zh-CN" altLang="en-US"/>
              <a:t>为观察坐标系的三维点。本段代码完成了将世界坐标系中一点的坐标表示转换到观察坐标系中表示。</a:t>
            </a:r>
          </a:p>
        </p:txBody>
      </p:sp>
      <p:sp>
        <p:nvSpPr>
          <p:cNvPr id="72710" name="Rectangle 76"/>
          <p:cNvSpPr>
            <a:spLocks noChangeArrowheads="1"/>
          </p:cNvSpPr>
          <p:nvPr/>
        </p:nvSpPr>
        <p:spPr bwMode="auto">
          <a:xfrm>
            <a:off x="1500188" y="285750"/>
            <a:ext cx="73215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       编程实现将物体的坐标描述从世界坐标系转换到</a:t>
            </a:r>
            <a:endParaRPr lang="en-US" altLang="zh-CN"/>
          </a:p>
          <a:p>
            <a:pPr eaLnBrk="1" hangingPunct="1">
              <a:buFont typeface="Arial" panose="020B0604020202020204" pitchFamily="34" charset="0"/>
              <a:buNone/>
            </a:pPr>
            <a:r>
              <a:rPr lang="zh-CN" altLang="en-US"/>
              <a:t>观察坐标系，函数</a:t>
            </a:r>
            <a:r>
              <a:rPr lang="en-US" altLang="zh-CN"/>
              <a:t>WorldToView() </a:t>
            </a:r>
            <a:r>
              <a:rPr lang="zh-CN" altLang="en-US"/>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5"/>
          <p:cNvSpPr>
            <a:spLocks noChangeArrowheads="1"/>
          </p:cNvSpPr>
          <p:nvPr/>
        </p:nvSpPr>
        <p:spPr bwMode="auto">
          <a:xfrm>
            <a:off x="1258888" y="260350"/>
            <a:ext cx="5545137"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a:effectLst>
                  <a:outerShdw blurRad="38100" dist="38100" dir="2700000" algn="tl">
                    <a:srgbClr val="C0C0C0"/>
                  </a:outerShdw>
                </a:effectLst>
                <a:latin typeface="楷体_GB2312" pitchFamily="49" charset="-122"/>
              </a:rPr>
              <a:t>6.6.3 </a:t>
            </a:r>
            <a:r>
              <a:rPr lang="zh-CN" altLang="en-US" b="1">
                <a:effectLst>
                  <a:outerShdw blurRad="38100" dist="38100" dir="2700000" algn="tl">
                    <a:srgbClr val="C0C0C0"/>
                  </a:outerShdw>
                </a:effectLst>
              </a:rPr>
              <a:t>观察坐标系到屏幕坐标系的变换</a:t>
            </a:r>
            <a:r>
              <a:rPr lang="zh-CN" altLang="en-US"/>
              <a:t>     </a:t>
            </a:r>
          </a:p>
        </p:txBody>
      </p:sp>
      <p:sp>
        <p:nvSpPr>
          <p:cNvPr id="73731" name="Rectangle 6"/>
          <p:cNvSpPr>
            <a:spLocks noChangeArrowheads="1"/>
          </p:cNvSpPr>
          <p:nvPr/>
        </p:nvSpPr>
        <p:spPr bwMode="auto">
          <a:xfrm>
            <a:off x="323528" y="812800"/>
            <a:ext cx="842416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屏幕坐标系为左手系，且</a:t>
            </a:r>
            <a:r>
              <a:rPr lang="en-US" altLang="zh-CN" dirty="0" err="1"/>
              <a:t>z</a:t>
            </a:r>
            <a:r>
              <a:rPr lang="en-US" altLang="zh-CN" baseline="-25000" dirty="0" err="1"/>
              <a:t>s</a:t>
            </a:r>
            <a:r>
              <a:rPr lang="zh-CN" altLang="en-US" dirty="0"/>
              <a:t>轴与</a:t>
            </a:r>
            <a:r>
              <a:rPr lang="en-US" altLang="zh-CN" dirty="0" err="1"/>
              <a:t>z</a:t>
            </a:r>
            <a:r>
              <a:rPr lang="en-US" altLang="zh-CN" baseline="-25000" dirty="0" err="1"/>
              <a:t>v</a:t>
            </a:r>
            <a:r>
              <a:rPr lang="zh-CN" altLang="en-US" dirty="0"/>
              <a:t>轴同向。视点</a:t>
            </a:r>
            <a:r>
              <a:rPr lang="en-US" altLang="zh-CN" dirty="0" err="1"/>
              <a:t>O</a:t>
            </a:r>
            <a:r>
              <a:rPr lang="en-US" altLang="zh-CN" baseline="-25000" dirty="0" err="1"/>
              <a:t>v</a:t>
            </a:r>
            <a:r>
              <a:rPr lang="zh-CN" altLang="en-US" dirty="0"/>
              <a:t>与视心</a:t>
            </a:r>
            <a:r>
              <a:rPr lang="en-US" altLang="zh-CN" dirty="0" err="1"/>
              <a:t>O</a:t>
            </a:r>
            <a:r>
              <a:rPr lang="en-US" altLang="zh-CN" baseline="-25000" dirty="0" err="1"/>
              <a:t>s</a:t>
            </a:r>
            <a:r>
              <a:rPr lang="zh-CN" altLang="en-US" dirty="0"/>
              <a:t>的距离为视距</a:t>
            </a:r>
            <a:r>
              <a:rPr lang="en-US" altLang="zh-CN" dirty="0"/>
              <a:t>d</a:t>
            </a:r>
            <a:r>
              <a:rPr lang="zh-CN" altLang="en-US" dirty="0"/>
              <a:t>。假定观察坐标系中物体上的一点为</a:t>
            </a:r>
            <a:r>
              <a:rPr lang="en-US" altLang="zh-CN" dirty="0" err="1"/>
              <a:t>P</a:t>
            </a:r>
            <a:r>
              <a:rPr lang="en-US" altLang="zh-CN" baseline="-25000" dirty="0" err="1"/>
              <a:t>v</a:t>
            </a:r>
            <a:r>
              <a:rPr lang="zh-CN" altLang="en-US" dirty="0"/>
              <a:t>（</a:t>
            </a:r>
            <a:r>
              <a:rPr lang="en-US" altLang="zh-CN" dirty="0" err="1"/>
              <a:t>x</a:t>
            </a:r>
            <a:r>
              <a:rPr lang="en-US" altLang="zh-CN" baseline="-25000" dirty="0" err="1"/>
              <a:t>v</a:t>
            </a:r>
            <a:r>
              <a:rPr lang="en-US" altLang="zh-CN" dirty="0" err="1"/>
              <a:t>,y</a:t>
            </a:r>
            <a:r>
              <a:rPr lang="en-US" altLang="zh-CN" baseline="-25000" dirty="0" err="1"/>
              <a:t>v</a:t>
            </a:r>
            <a:r>
              <a:rPr lang="en-US" altLang="zh-CN" dirty="0" err="1"/>
              <a:t>,z</a:t>
            </a:r>
            <a:r>
              <a:rPr lang="en-US" altLang="zh-CN" baseline="-25000" dirty="0" err="1"/>
              <a:t>v</a:t>
            </a:r>
            <a:r>
              <a:rPr lang="zh-CN" altLang="en-US" dirty="0"/>
              <a:t>），视线</a:t>
            </a:r>
            <a:r>
              <a:rPr lang="en-US" altLang="zh-CN" dirty="0" err="1"/>
              <a:t>O</a:t>
            </a:r>
            <a:r>
              <a:rPr lang="en-US" altLang="zh-CN" baseline="-25000" dirty="0" err="1"/>
              <a:t>v</a:t>
            </a:r>
            <a:r>
              <a:rPr lang="en-US" altLang="zh-CN" dirty="0" err="1"/>
              <a:t>P</a:t>
            </a:r>
            <a:r>
              <a:rPr lang="en-US" altLang="zh-CN" baseline="-25000" dirty="0" err="1"/>
              <a:t>v</a:t>
            </a:r>
            <a:r>
              <a:rPr lang="zh-CN" altLang="en-US" dirty="0"/>
              <a:t>与屏幕的交点在观察坐标系中表示为</a:t>
            </a:r>
            <a:r>
              <a:rPr lang="en-US" altLang="zh-CN" dirty="0"/>
              <a:t>P</a:t>
            </a:r>
            <a:r>
              <a:rPr lang="en-US" altLang="zh-CN" baseline="-25000" dirty="0"/>
              <a:t>s</a:t>
            </a:r>
            <a:r>
              <a:rPr lang="zh-CN" altLang="en-US" dirty="0"/>
              <a:t>（</a:t>
            </a:r>
            <a:r>
              <a:rPr lang="en-US" altLang="zh-CN" dirty="0"/>
              <a:t>x</a:t>
            </a:r>
            <a:r>
              <a:rPr lang="en-US" altLang="zh-CN" baseline="-25000" dirty="0"/>
              <a:t>s</a:t>
            </a:r>
            <a:r>
              <a:rPr lang="en-US" altLang="zh-CN" dirty="0"/>
              <a:t>,y</a:t>
            </a:r>
            <a:r>
              <a:rPr lang="en-US" altLang="zh-CN" baseline="-25000" dirty="0"/>
              <a:t>s</a:t>
            </a:r>
            <a:r>
              <a:rPr lang="en-US" altLang="zh-CN" dirty="0"/>
              <a:t>,0</a:t>
            </a:r>
            <a:r>
              <a:rPr lang="zh-CN" altLang="en-US" dirty="0"/>
              <a:t>）代表物体上的</a:t>
            </a:r>
            <a:r>
              <a:rPr lang="en-US" altLang="zh-CN" dirty="0" err="1"/>
              <a:t>P</a:t>
            </a:r>
            <a:r>
              <a:rPr lang="en-US" altLang="zh-CN" baseline="-25000" dirty="0" err="1"/>
              <a:t>v</a:t>
            </a:r>
            <a:r>
              <a:rPr lang="zh-CN" altLang="en-US" dirty="0"/>
              <a:t>点在屏幕上的透视投影。</a:t>
            </a:r>
          </a:p>
        </p:txBody>
      </p:sp>
      <p:sp>
        <p:nvSpPr>
          <p:cNvPr id="73732" name="Rectangle 9"/>
          <p:cNvSpPr>
            <a:spLocks noChangeArrowheads="1"/>
          </p:cNvSpPr>
          <p:nvPr/>
        </p:nvSpPr>
        <p:spPr bwMode="auto">
          <a:xfrm>
            <a:off x="3481511" y="5648957"/>
            <a:ext cx="210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透视投影变换 </a:t>
            </a:r>
          </a:p>
        </p:txBody>
      </p:sp>
      <p:graphicFrame>
        <p:nvGraphicFramePr>
          <p:cNvPr id="73733" name="Object 10"/>
          <p:cNvGraphicFramePr>
            <a:graphicFrameLocks noChangeAspect="1"/>
          </p:cNvGraphicFramePr>
          <p:nvPr>
            <p:extLst>
              <p:ext uri="{D42A27DB-BD31-4B8C-83A1-F6EECF244321}">
                <p14:modId xmlns:p14="http://schemas.microsoft.com/office/powerpoint/2010/main" val="372015401"/>
              </p:ext>
            </p:extLst>
          </p:nvPr>
        </p:nvGraphicFramePr>
        <p:xfrm>
          <a:off x="1943224" y="2477710"/>
          <a:ext cx="5184775" cy="3073400"/>
        </p:xfrm>
        <a:graphic>
          <a:graphicData uri="http://schemas.openxmlformats.org/presentationml/2006/ole">
            <mc:AlternateContent xmlns:mc="http://schemas.openxmlformats.org/markup-compatibility/2006">
              <mc:Choice xmlns:v="urn:schemas-microsoft-com:vml" Requires="v">
                <p:oleObj spid="_x0000_s73740" r:id="rId3" imgW="5833800" imgH="3466831" progId="Visio.Drawing.11">
                  <p:embed/>
                </p:oleObj>
              </mc:Choice>
              <mc:Fallback>
                <p:oleObj r:id="rId3" imgW="5833800" imgH="3466831"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224" y="2477710"/>
                        <a:ext cx="5184775" cy="307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4"/>
          <p:cNvSpPr>
            <a:spLocks noChangeArrowheads="1"/>
          </p:cNvSpPr>
          <p:nvPr/>
        </p:nvSpPr>
        <p:spPr bwMode="auto">
          <a:xfrm>
            <a:off x="395536" y="184577"/>
            <a:ext cx="849763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dirty="0"/>
              <a:t>由点</a:t>
            </a:r>
            <a:r>
              <a:rPr lang="en-US" altLang="zh-CN" dirty="0" err="1"/>
              <a:t>P</a:t>
            </a:r>
            <a:r>
              <a:rPr lang="en-US" altLang="zh-CN" baseline="-25000" dirty="0" err="1"/>
              <a:t>v</a:t>
            </a:r>
            <a:r>
              <a:rPr lang="zh-CN" altLang="en-US" dirty="0"/>
              <a:t>向</a:t>
            </a:r>
            <a:r>
              <a:rPr lang="en-US" altLang="zh-CN" dirty="0" err="1"/>
              <a:t>x</a:t>
            </a:r>
            <a:r>
              <a:rPr lang="en-US" altLang="zh-CN" baseline="-25000" dirty="0" err="1"/>
              <a:t>v</a:t>
            </a:r>
            <a:r>
              <a:rPr lang="en-US" altLang="zh-CN" dirty="0" err="1"/>
              <a:t>O</a:t>
            </a:r>
            <a:r>
              <a:rPr lang="en-US" altLang="zh-CN" baseline="-25000" dirty="0" err="1"/>
              <a:t>v</a:t>
            </a:r>
            <a:r>
              <a:rPr lang="en-US" altLang="zh-CN" dirty="0" err="1"/>
              <a:t>z</a:t>
            </a:r>
            <a:r>
              <a:rPr lang="en-US" altLang="zh-CN" baseline="-25000" dirty="0" err="1"/>
              <a:t>v</a:t>
            </a:r>
            <a:r>
              <a:rPr lang="zh-CN" altLang="en-US" dirty="0"/>
              <a:t>平面内作垂线交于</a:t>
            </a:r>
            <a:r>
              <a:rPr lang="en-US" altLang="zh-CN" dirty="0"/>
              <a:t>N</a:t>
            </a:r>
            <a:r>
              <a:rPr lang="zh-CN" altLang="en-US" dirty="0"/>
              <a:t>点，再由</a:t>
            </a:r>
            <a:r>
              <a:rPr lang="en-US" altLang="zh-CN" dirty="0"/>
              <a:t>N</a:t>
            </a:r>
            <a:r>
              <a:rPr lang="zh-CN" altLang="en-US" dirty="0"/>
              <a:t>点向</a:t>
            </a:r>
            <a:r>
              <a:rPr lang="en-US" altLang="zh-CN" dirty="0" err="1"/>
              <a:t>z</a:t>
            </a:r>
            <a:r>
              <a:rPr lang="en-US" altLang="zh-CN" baseline="-25000" dirty="0" err="1"/>
              <a:t>v</a:t>
            </a:r>
            <a:r>
              <a:rPr lang="zh-CN" altLang="en-US" dirty="0"/>
              <a:t>轴作垂线交于</a:t>
            </a:r>
            <a:r>
              <a:rPr lang="en-US" altLang="zh-CN" dirty="0"/>
              <a:t>Q</a:t>
            </a:r>
            <a:r>
              <a:rPr lang="zh-CN" altLang="en-US" dirty="0"/>
              <a:t>点。连接</a:t>
            </a:r>
            <a:r>
              <a:rPr lang="en-US" altLang="zh-CN" dirty="0" err="1"/>
              <a:t>O</a:t>
            </a:r>
            <a:r>
              <a:rPr lang="en-US" altLang="zh-CN" baseline="-25000" dirty="0" err="1"/>
              <a:t>v</a:t>
            </a:r>
            <a:r>
              <a:rPr lang="en-US" altLang="zh-CN" dirty="0" err="1"/>
              <a:t>N</a:t>
            </a:r>
            <a:r>
              <a:rPr lang="zh-CN" altLang="en-US" dirty="0"/>
              <a:t>交</a:t>
            </a:r>
            <a:r>
              <a:rPr lang="en-US" altLang="zh-CN" dirty="0" err="1"/>
              <a:t>x</a:t>
            </a:r>
            <a:r>
              <a:rPr lang="en-US" altLang="zh-CN" baseline="-25000" dirty="0" err="1"/>
              <a:t>s</a:t>
            </a:r>
            <a:r>
              <a:rPr lang="zh-CN" altLang="en-US" dirty="0"/>
              <a:t>轴于</a:t>
            </a:r>
            <a:r>
              <a:rPr lang="en-US" altLang="zh-CN" dirty="0"/>
              <a:t>M</a:t>
            </a:r>
            <a:r>
              <a:rPr lang="zh-CN" altLang="en-US" dirty="0"/>
              <a:t>点。</a:t>
            </a:r>
          </a:p>
        </p:txBody>
      </p:sp>
      <p:sp>
        <p:nvSpPr>
          <p:cNvPr id="74755" name="Rectangle 15"/>
          <p:cNvSpPr>
            <a:spLocks noChangeArrowheads="1"/>
          </p:cNvSpPr>
          <p:nvPr/>
        </p:nvSpPr>
        <p:spPr bwMode="auto">
          <a:xfrm>
            <a:off x="1403350" y="1125538"/>
            <a:ext cx="5103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a:t>根据</a:t>
            </a:r>
            <a:r>
              <a:rPr lang="en-US" altLang="zh-CN"/>
              <a:t>Rt△MO</a:t>
            </a:r>
            <a:r>
              <a:rPr lang="en-US" altLang="zh-CN" baseline="-25000"/>
              <a:t>v</a:t>
            </a:r>
            <a:r>
              <a:rPr lang="en-US" altLang="zh-CN"/>
              <a:t>O</a:t>
            </a:r>
            <a:r>
              <a:rPr lang="en-US" altLang="zh-CN" baseline="-25000"/>
              <a:t>s</a:t>
            </a:r>
            <a:r>
              <a:rPr lang="zh-CN" altLang="en-US"/>
              <a:t>与</a:t>
            </a:r>
            <a:r>
              <a:rPr lang="en-US" altLang="zh-CN"/>
              <a:t>Rt△NO</a:t>
            </a:r>
            <a:r>
              <a:rPr lang="en-US" altLang="zh-CN" baseline="-25000"/>
              <a:t>v</a:t>
            </a:r>
            <a:r>
              <a:rPr lang="en-US" altLang="zh-CN"/>
              <a:t>Q</a:t>
            </a:r>
            <a:r>
              <a:rPr lang="zh-CN" altLang="en-US"/>
              <a:t>相似，有</a:t>
            </a:r>
          </a:p>
        </p:txBody>
      </p:sp>
      <p:sp>
        <p:nvSpPr>
          <p:cNvPr id="74756" name="Rectangle 18"/>
          <p:cNvSpPr>
            <a:spLocks noChangeArrowheads="1"/>
          </p:cNvSpPr>
          <p:nvPr/>
        </p:nvSpPr>
        <p:spPr bwMode="auto">
          <a:xfrm>
            <a:off x="7643813" y="1808163"/>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6-49</a:t>
            </a:r>
            <a:r>
              <a:rPr lang="zh-CN" altLang="en-US"/>
              <a:t>） </a:t>
            </a:r>
          </a:p>
        </p:txBody>
      </p:sp>
      <p:sp>
        <p:nvSpPr>
          <p:cNvPr id="74757" name="Rectangle 21"/>
          <p:cNvSpPr>
            <a:spLocks noChangeArrowheads="1"/>
          </p:cNvSpPr>
          <p:nvPr/>
        </p:nvSpPr>
        <p:spPr bwMode="auto">
          <a:xfrm>
            <a:off x="7643813" y="2743200"/>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6-50</a:t>
            </a:r>
            <a:r>
              <a:rPr lang="zh-CN" altLang="en-US"/>
              <a:t>） </a:t>
            </a:r>
          </a:p>
        </p:txBody>
      </p:sp>
      <p:sp>
        <p:nvSpPr>
          <p:cNvPr id="74758" name="Rectangle 22"/>
          <p:cNvSpPr>
            <a:spLocks noChangeArrowheads="1"/>
          </p:cNvSpPr>
          <p:nvPr/>
        </p:nvSpPr>
        <p:spPr bwMode="auto">
          <a:xfrm>
            <a:off x="1619250" y="3751263"/>
            <a:ext cx="520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dirty="0"/>
              <a:t>根据</a:t>
            </a:r>
            <a:r>
              <a:rPr lang="en-US" altLang="zh-CN" dirty="0" err="1"/>
              <a:t>Rt△P</a:t>
            </a:r>
            <a:r>
              <a:rPr lang="en-US" altLang="zh-CN" baseline="-25000" dirty="0" err="1"/>
              <a:t>s</a:t>
            </a:r>
            <a:r>
              <a:rPr lang="en-US" altLang="zh-CN" dirty="0" err="1"/>
              <a:t>O</a:t>
            </a:r>
            <a:r>
              <a:rPr lang="en-US" altLang="zh-CN" baseline="-25000" dirty="0" err="1"/>
              <a:t>v</a:t>
            </a:r>
            <a:r>
              <a:rPr lang="en-US" altLang="zh-CN" dirty="0" err="1"/>
              <a:t>M</a:t>
            </a:r>
            <a:r>
              <a:rPr lang="zh-CN" altLang="en-US" dirty="0"/>
              <a:t>与</a:t>
            </a:r>
            <a:r>
              <a:rPr lang="en-US" altLang="zh-CN" dirty="0" err="1"/>
              <a:t>Rt△P</a:t>
            </a:r>
            <a:r>
              <a:rPr lang="en-US" altLang="zh-CN" baseline="-25000" dirty="0" err="1"/>
              <a:t>v</a:t>
            </a:r>
            <a:r>
              <a:rPr lang="en-US" altLang="zh-CN" dirty="0" err="1"/>
              <a:t>O</a:t>
            </a:r>
            <a:r>
              <a:rPr lang="en-US" altLang="zh-CN" baseline="-25000" dirty="0" err="1"/>
              <a:t>v</a:t>
            </a:r>
            <a:r>
              <a:rPr lang="en-US" altLang="zh-CN" dirty="0" err="1"/>
              <a:t>N</a:t>
            </a:r>
            <a:r>
              <a:rPr lang="zh-CN" altLang="en-US" dirty="0"/>
              <a:t>相似 ，有</a:t>
            </a:r>
          </a:p>
        </p:txBody>
      </p:sp>
      <p:sp>
        <p:nvSpPr>
          <p:cNvPr id="74759" name="Rectangle 25"/>
          <p:cNvSpPr>
            <a:spLocks noChangeArrowheads="1"/>
          </p:cNvSpPr>
          <p:nvPr/>
        </p:nvSpPr>
        <p:spPr bwMode="auto">
          <a:xfrm>
            <a:off x="7643813" y="468788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6-51</a:t>
            </a:r>
            <a:r>
              <a:rPr lang="zh-CN" altLang="en-US"/>
              <a:t>） </a:t>
            </a:r>
          </a:p>
        </p:txBody>
      </p:sp>
      <p:sp>
        <p:nvSpPr>
          <p:cNvPr id="74760" name="Rectangle 26"/>
          <p:cNvSpPr>
            <a:spLocks noChangeArrowheads="1"/>
          </p:cNvSpPr>
          <p:nvPr/>
        </p:nvSpPr>
        <p:spPr bwMode="auto">
          <a:xfrm>
            <a:off x="1619250" y="5191125"/>
            <a:ext cx="289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a:t>由式（</a:t>
            </a:r>
            <a:r>
              <a:rPr lang="en-US" altLang="zh-CN"/>
              <a:t>6-50</a:t>
            </a:r>
            <a:r>
              <a:rPr lang="zh-CN" altLang="en-US"/>
              <a:t>）得到</a:t>
            </a:r>
          </a:p>
        </p:txBody>
      </p:sp>
      <p:sp>
        <p:nvSpPr>
          <p:cNvPr id="74761" name="Rectangle 29"/>
          <p:cNvSpPr>
            <a:spLocks noChangeArrowheads="1"/>
          </p:cNvSpPr>
          <p:nvPr/>
        </p:nvSpPr>
        <p:spPr bwMode="auto">
          <a:xfrm>
            <a:off x="7680325" y="6056313"/>
            <a:ext cx="1500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6-52</a:t>
            </a:r>
            <a:r>
              <a:rPr lang="zh-CN" altLang="en-US"/>
              <a:t>） </a:t>
            </a:r>
          </a:p>
        </p:txBody>
      </p:sp>
      <p:graphicFrame>
        <p:nvGraphicFramePr>
          <p:cNvPr id="74762" name="Object 15"/>
          <p:cNvGraphicFramePr>
            <a:graphicFrameLocks noChangeAspect="1"/>
          </p:cNvGraphicFramePr>
          <p:nvPr/>
        </p:nvGraphicFramePr>
        <p:xfrm>
          <a:off x="2339975" y="1844675"/>
          <a:ext cx="1439863" cy="727075"/>
        </p:xfrm>
        <a:graphic>
          <a:graphicData uri="http://schemas.openxmlformats.org/presentationml/2006/ole">
            <mc:AlternateContent xmlns:mc="http://schemas.openxmlformats.org/markup-compatibility/2006">
              <mc:Choice xmlns:v="urn:schemas-microsoft-com:vml" Requires="v">
                <p:oleObj spid="_x0000_s74790" r:id="rId3" imgW="889000" imgH="444500" progId="Equation.3">
                  <p:embed/>
                </p:oleObj>
              </mc:Choice>
              <mc:Fallback>
                <p:oleObj r:id="rId3" imgW="889000" imgH="4445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844675"/>
                        <a:ext cx="1439863"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63" name="Object 17"/>
          <p:cNvGraphicFramePr>
            <a:graphicFrameLocks noChangeAspect="1"/>
          </p:cNvGraphicFramePr>
          <p:nvPr/>
        </p:nvGraphicFramePr>
        <p:xfrm>
          <a:off x="2268538" y="2781300"/>
          <a:ext cx="1439862" cy="712788"/>
        </p:xfrm>
        <a:graphic>
          <a:graphicData uri="http://schemas.openxmlformats.org/presentationml/2006/ole">
            <mc:AlternateContent xmlns:mc="http://schemas.openxmlformats.org/markup-compatibility/2006">
              <mc:Choice xmlns:v="urn:schemas-microsoft-com:vml" Requires="v">
                <p:oleObj spid="_x0000_s74791" r:id="rId5" imgW="901700" imgH="444500" progId="Equation.3">
                  <p:embed/>
                </p:oleObj>
              </mc:Choice>
              <mc:Fallback>
                <p:oleObj r:id="rId5" imgW="901700" imgH="44450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2781300"/>
                        <a:ext cx="1439862"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64" name="Object 19"/>
          <p:cNvGraphicFramePr>
            <a:graphicFrameLocks noChangeAspect="1"/>
          </p:cNvGraphicFramePr>
          <p:nvPr/>
        </p:nvGraphicFramePr>
        <p:xfrm>
          <a:off x="2268538" y="4365625"/>
          <a:ext cx="1368425" cy="706438"/>
        </p:xfrm>
        <a:graphic>
          <a:graphicData uri="http://schemas.openxmlformats.org/presentationml/2006/ole">
            <mc:AlternateContent xmlns:mc="http://schemas.openxmlformats.org/markup-compatibility/2006">
              <mc:Choice xmlns:v="urn:schemas-microsoft-com:vml" Requires="v">
                <p:oleObj spid="_x0000_s74792" r:id="rId7" imgW="863600" imgH="444500" progId="Equation.3">
                  <p:embed/>
                </p:oleObj>
              </mc:Choice>
              <mc:Fallback>
                <p:oleObj r:id="rId7" imgW="863600" imgH="4445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4365625"/>
                        <a:ext cx="136842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65" name="Object 21"/>
          <p:cNvGraphicFramePr>
            <a:graphicFrameLocks noChangeAspect="1"/>
          </p:cNvGraphicFramePr>
          <p:nvPr/>
        </p:nvGraphicFramePr>
        <p:xfrm>
          <a:off x="2411413" y="5876925"/>
          <a:ext cx="1366837" cy="698500"/>
        </p:xfrm>
        <a:graphic>
          <a:graphicData uri="http://schemas.openxmlformats.org/presentationml/2006/ole">
            <mc:AlternateContent xmlns:mc="http://schemas.openxmlformats.org/markup-compatibility/2006">
              <mc:Choice xmlns:v="urn:schemas-microsoft-com:vml" Requires="v">
                <p:oleObj spid="_x0000_s74793" r:id="rId9" imgW="876300" imgH="444500" progId="Equation.3">
                  <p:embed/>
                </p:oleObj>
              </mc:Choice>
              <mc:Fallback>
                <p:oleObj r:id="rId9" imgW="876300" imgH="444500"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5876925"/>
                        <a:ext cx="1366837"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8"/>
          <p:cNvSpPr>
            <a:spLocks noChangeArrowheads="1"/>
          </p:cNvSpPr>
          <p:nvPr/>
        </p:nvSpPr>
        <p:spPr bwMode="auto">
          <a:xfrm>
            <a:off x="1619250" y="260350"/>
            <a:ext cx="4110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a:t>将式（</a:t>
            </a:r>
            <a:r>
              <a:rPr lang="en-US" altLang="zh-CN"/>
              <a:t>6-49</a:t>
            </a:r>
            <a:r>
              <a:rPr lang="zh-CN" altLang="en-US"/>
              <a:t>）写成坐标形式</a:t>
            </a:r>
          </a:p>
        </p:txBody>
      </p:sp>
      <p:graphicFrame>
        <p:nvGraphicFramePr>
          <p:cNvPr id="75779" name="Object 3"/>
          <p:cNvGraphicFramePr>
            <a:graphicFrameLocks noChangeAspect="1"/>
          </p:cNvGraphicFramePr>
          <p:nvPr/>
        </p:nvGraphicFramePr>
        <p:xfrm>
          <a:off x="2124075" y="908050"/>
          <a:ext cx="1223963" cy="1009650"/>
        </p:xfrm>
        <a:graphic>
          <a:graphicData uri="http://schemas.openxmlformats.org/presentationml/2006/ole">
            <mc:AlternateContent xmlns:mc="http://schemas.openxmlformats.org/markup-compatibility/2006">
              <mc:Choice xmlns:v="urn:schemas-microsoft-com:vml" Requires="v">
                <p:oleObj spid="_x0000_s75810" r:id="rId3" imgW="546100" imgH="444500" progId="Equation.3">
                  <p:embed/>
                </p:oleObj>
              </mc:Choice>
              <mc:Fallback>
                <p:oleObj r:id="rId3" imgW="546100" imgH="444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908050"/>
                        <a:ext cx="122396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0" name="Rectangle 11"/>
          <p:cNvSpPr>
            <a:spLocks noChangeArrowheads="1"/>
          </p:cNvSpPr>
          <p:nvPr/>
        </p:nvSpPr>
        <p:spPr bwMode="auto">
          <a:xfrm>
            <a:off x="7643813" y="1196975"/>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6-53</a:t>
            </a:r>
            <a:r>
              <a:rPr lang="zh-CN" altLang="en-US"/>
              <a:t>） </a:t>
            </a:r>
          </a:p>
        </p:txBody>
      </p:sp>
      <p:sp>
        <p:nvSpPr>
          <p:cNvPr id="75781" name="Rectangle 12"/>
          <p:cNvSpPr>
            <a:spLocks noChangeArrowheads="1"/>
          </p:cNvSpPr>
          <p:nvPr/>
        </p:nvSpPr>
        <p:spPr bwMode="auto">
          <a:xfrm>
            <a:off x="1619250" y="2060575"/>
            <a:ext cx="4110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a:t>将式（</a:t>
            </a:r>
            <a:r>
              <a:rPr lang="en-US" altLang="zh-CN"/>
              <a:t>6-52</a:t>
            </a:r>
            <a:r>
              <a:rPr lang="zh-CN" altLang="en-US"/>
              <a:t>）写成坐标形式</a:t>
            </a:r>
          </a:p>
        </p:txBody>
      </p:sp>
      <p:graphicFrame>
        <p:nvGraphicFramePr>
          <p:cNvPr id="75782" name="Object 7"/>
          <p:cNvGraphicFramePr>
            <a:graphicFrameLocks noChangeAspect="1"/>
          </p:cNvGraphicFramePr>
          <p:nvPr/>
        </p:nvGraphicFramePr>
        <p:xfrm>
          <a:off x="2195513" y="2781300"/>
          <a:ext cx="1152525" cy="950913"/>
        </p:xfrm>
        <a:graphic>
          <a:graphicData uri="http://schemas.openxmlformats.org/presentationml/2006/ole">
            <mc:AlternateContent xmlns:mc="http://schemas.openxmlformats.org/markup-compatibility/2006">
              <mc:Choice xmlns:v="urn:schemas-microsoft-com:vml" Requires="v">
                <p:oleObj spid="_x0000_s75811" r:id="rId5" imgW="546100" imgH="444500" progId="Equation.3">
                  <p:embed/>
                </p:oleObj>
              </mc:Choice>
              <mc:Fallback>
                <p:oleObj r:id="rId5" imgW="546100" imgH="4445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2781300"/>
                        <a:ext cx="1152525"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3" name="Rectangle 15"/>
          <p:cNvSpPr>
            <a:spLocks noChangeArrowheads="1"/>
          </p:cNvSpPr>
          <p:nvPr/>
        </p:nvSpPr>
        <p:spPr bwMode="auto">
          <a:xfrm>
            <a:off x="7680325" y="2781300"/>
            <a:ext cx="1463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6-54</a:t>
            </a:r>
            <a:r>
              <a:rPr lang="zh-CN" altLang="en-US"/>
              <a:t>） </a:t>
            </a:r>
          </a:p>
        </p:txBody>
      </p:sp>
      <p:sp>
        <p:nvSpPr>
          <p:cNvPr id="75784" name="Rectangle 17"/>
          <p:cNvSpPr>
            <a:spLocks noChangeArrowheads="1"/>
          </p:cNvSpPr>
          <p:nvPr/>
        </p:nvSpPr>
        <p:spPr bwMode="auto">
          <a:xfrm>
            <a:off x="1979613" y="4076700"/>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于是有</a:t>
            </a:r>
          </a:p>
        </p:txBody>
      </p:sp>
      <p:graphicFrame>
        <p:nvGraphicFramePr>
          <p:cNvPr id="75785" name="Object 11"/>
          <p:cNvGraphicFramePr>
            <a:graphicFrameLocks noChangeAspect="1"/>
          </p:cNvGraphicFramePr>
          <p:nvPr/>
        </p:nvGraphicFramePr>
        <p:xfrm>
          <a:off x="3851275" y="3502025"/>
          <a:ext cx="1377950" cy="1511300"/>
        </p:xfrm>
        <a:graphic>
          <a:graphicData uri="http://schemas.openxmlformats.org/presentationml/2006/ole">
            <mc:AlternateContent xmlns:mc="http://schemas.openxmlformats.org/markup-compatibility/2006">
              <mc:Choice xmlns:v="urn:schemas-microsoft-com:vml" Requires="v">
                <p:oleObj spid="_x0000_s75812" r:id="rId7" imgW="787400" imgH="863600" progId="Equation.3">
                  <p:embed/>
                </p:oleObj>
              </mc:Choice>
              <mc:Fallback>
                <p:oleObj r:id="rId7" imgW="787400" imgH="8636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275" y="3502025"/>
                        <a:ext cx="13779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6" name="Rectangle 20"/>
          <p:cNvSpPr>
            <a:spLocks noChangeArrowheads="1"/>
          </p:cNvSpPr>
          <p:nvPr/>
        </p:nvSpPr>
        <p:spPr bwMode="auto">
          <a:xfrm>
            <a:off x="7751763" y="4365625"/>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6-55</a:t>
            </a:r>
            <a:r>
              <a:rPr lang="zh-CN" altLang="en-US"/>
              <a:t>） </a:t>
            </a:r>
          </a:p>
        </p:txBody>
      </p:sp>
      <p:sp>
        <p:nvSpPr>
          <p:cNvPr id="75787" name="Rectangle 21"/>
          <p:cNvSpPr>
            <a:spLocks noChangeArrowheads="1"/>
          </p:cNvSpPr>
          <p:nvPr/>
        </p:nvSpPr>
        <p:spPr bwMode="auto">
          <a:xfrm>
            <a:off x="1285875" y="5143500"/>
            <a:ext cx="3051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b="1">
                <a:solidFill>
                  <a:srgbClr val="FF0000"/>
                </a:solidFill>
                <a:latin typeface="黑体" panose="02010609060101010101" pitchFamily="49" charset="-122"/>
                <a:ea typeface="黑体" panose="02010609060101010101" pitchFamily="49" charset="-122"/>
              </a:rPr>
              <a:t>透视投影变换矩阵</a:t>
            </a:r>
            <a:r>
              <a:rPr lang="zh-CN" altLang="en-US"/>
              <a:t>为 </a:t>
            </a:r>
          </a:p>
        </p:txBody>
      </p:sp>
      <p:graphicFrame>
        <p:nvGraphicFramePr>
          <p:cNvPr id="75788" name="Object 15"/>
          <p:cNvGraphicFramePr>
            <a:graphicFrameLocks noChangeAspect="1"/>
          </p:cNvGraphicFramePr>
          <p:nvPr/>
        </p:nvGraphicFramePr>
        <p:xfrm>
          <a:off x="4241800" y="5084763"/>
          <a:ext cx="2312988" cy="1585912"/>
        </p:xfrm>
        <a:graphic>
          <a:graphicData uri="http://schemas.openxmlformats.org/presentationml/2006/ole">
            <mc:AlternateContent xmlns:mc="http://schemas.openxmlformats.org/markup-compatibility/2006">
              <mc:Choice xmlns:v="urn:schemas-microsoft-com:vml" Requires="v">
                <p:oleObj spid="_x0000_s75813" r:id="rId9" imgW="1334079" imgH="914797" progId="Equation.3">
                  <p:embed/>
                </p:oleObj>
              </mc:Choice>
              <mc:Fallback>
                <p:oleObj r:id="rId9" imgW="1334079" imgH="914797"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1800" y="5084763"/>
                        <a:ext cx="2312988"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9" name="Rectangle 24"/>
          <p:cNvSpPr>
            <a:spLocks noChangeArrowheads="1"/>
          </p:cNvSpPr>
          <p:nvPr/>
        </p:nvSpPr>
        <p:spPr bwMode="auto">
          <a:xfrm>
            <a:off x="7812088" y="6021388"/>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6-56</a:t>
            </a:r>
            <a:r>
              <a:rPr lang="zh-CN" altLang="en-US"/>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6"/>
          <p:cNvSpPr>
            <a:spLocks noChangeArrowheads="1"/>
          </p:cNvSpPr>
          <p:nvPr/>
        </p:nvSpPr>
        <p:spPr bwMode="auto">
          <a:xfrm>
            <a:off x="1476375" y="260350"/>
            <a:ext cx="363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透视投影整体变换矩阵为 </a:t>
            </a:r>
          </a:p>
        </p:txBody>
      </p:sp>
      <p:graphicFrame>
        <p:nvGraphicFramePr>
          <p:cNvPr id="76803" name="Object 4"/>
          <p:cNvGraphicFramePr>
            <a:graphicFrameLocks noChangeAspect="1"/>
          </p:cNvGraphicFramePr>
          <p:nvPr/>
        </p:nvGraphicFramePr>
        <p:xfrm>
          <a:off x="2500313" y="857250"/>
          <a:ext cx="1622425" cy="606425"/>
        </p:xfrm>
        <a:graphic>
          <a:graphicData uri="http://schemas.openxmlformats.org/presentationml/2006/ole">
            <mc:AlternateContent xmlns:mc="http://schemas.openxmlformats.org/markup-compatibility/2006">
              <mc:Choice xmlns:v="urn:schemas-microsoft-com:vml" Requires="v">
                <p:oleObj spid="_x0000_s76821" r:id="rId3" imgW="610130" imgH="228799" progId="Equation.3">
                  <p:embed/>
                </p:oleObj>
              </mc:Choice>
              <mc:Fallback>
                <p:oleObj r:id="rId3" imgW="610130" imgH="22879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0313" y="857250"/>
                        <a:ext cx="162242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4" name="Object 6"/>
          <p:cNvGraphicFramePr>
            <a:graphicFrameLocks noChangeAspect="1"/>
          </p:cNvGraphicFramePr>
          <p:nvPr/>
        </p:nvGraphicFramePr>
        <p:xfrm>
          <a:off x="1785938" y="3786188"/>
          <a:ext cx="4945062" cy="2736850"/>
        </p:xfrm>
        <a:graphic>
          <a:graphicData uri="http://schemas.openxmlformats.org/presentationml/2006/ole">
            <mc:AlternateContent xmlns:mc="http://schemas.openxmlformats.org/markup-compatibility/2006">
              <mc:Choice xmlns:v="urn:schemas-microsoft-com:vml" Requires="v">
                <p:oleObj spid="_x0000_s76822" r:id="rId5" imgW="2705100" imgH="1498600" progId="Equation.3">
                  <p:embed/>
                </p:oleObj>
              </mc:Choice>
              <mc:Fallback>
                <p:oleObj r:id="rId5" imgW="2705100" imgH="149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938" y="3786188"/>
                        <a:ext cx="4945062"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6805" name="Object 7"/>
          <p:cNvGraphicFramePr>
            <a:graphicFrameLocks noChangeAspect="1"/>
          </p:cNvGraphicFramePr>
          <p:nvPr/>
        </p:nvGraphicFramePr>
        <p:xfrm>
          <a:off x="1928813" y="1714500"/>
          <a:ext cx="6408737" cy="1555750"/>
        </p:xfrm>
        <a:graphic>
          <a:graphicData uri="http://schemas.openxmlformats.org/presentationml/2006/ole">
            <mc:AlternateContent xmlns:mc="http://schemas.openxmlformats.org/markup-compatibility/2006">
              <mc:Choice xmlns:v="urn:schemas-microsoft-com:vml" Requires="v">
                <p:oleObj spid="_x0000_s76823" r:id="rId7" imgW="3759200" imgH="914400" progId="Equation.3">
                  <p:embed/>
                </p:oleObj>
              </mc:Choice>
              <mc:Fallback>
                <p:oleObj r:id="rId7" imgW="3759200" imgH="9144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8813" y="1714500"/>
                        <a:ext cx="640873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9"/>
          <p:cNvSpPr>
            <a:spLocks noChangeArrowheads="1"/>
          </p:cNvSpPr>
          <p:nvPr/>
        </p:nvSpPr>
        <p:spPr bwMode="auto">
          <a:xfrm>
            <a:off x="0" y="0"/>
            <a:ext cx="9144000" cy="0"/>
          </a:xfrm>
          <a:prstGeom prst="rect">
            <a:avLst/>
          </a:prstGeom>
          <a:noFill/>
          <a:ln>
            <a:noFill/>
          </a:ln>
          <a:effectLst>
            <a:prstShdw prst="shdw17" dist="17961" dir="2700000">
              <a:srgbClr val="008965"/>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77827" name="Object 3"/>
          <p:cNvGraphicFramePr>
            <a:graphicFrameLocks noChangeAspect="1"/>
          </p:cNvGraphicFramePr>
          <p:nvPr/>
        </p:nvGraphicFramePr>
        <p:xfrm>
          <a:off x="2643188" y="285750"/>
          <a:ext cx="2857500" cy="2686050"/>
        </p:xfrm>
        <a:graphic>
          <a:graphicData uri="http://schemas.openxmlformats.org/presentationml/2006/ole">
            <mc:AlternateContent xmlns:mc="http://schemas.openxmlformats.org/markup-compatibility/2006">
              <mc:Choice xmlns:v="urn:schemas-microsoft-com:vml" Requires="v">
                <p:oleObj spid="_x0000_s77837" r:id="rId3" imgW="1587500" imgH="1498600" progId="Equation.3">
                  <p:embed/>
                </p:oleObj>
              </mc:Choice>
              <mc:Fallback>
                <p:oleObj r:id="rId3" imgW="1587500" imgH="149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3188" y="285750"/>
                        <a:ext cx="28575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28" name="Rectangle 11"/>
          <p:cNvSpPr>
            <a:spLocks noChangeArrowheads="1"/>
          </p:cNvSpPr>
          <p:nvPr/>
        </p:nvSpPr>
        <p:spPr bwMode="auto">
          <a:xfrm>
            <a:off x="7072313" y="1428750"/>
            <a:ext cx="1500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6-57</a:t>
            </a:r>
            <a:r>
              <a:rPr lang="zh-CN" altLang="en-US"/>
              <a:t>） </a:t>
            </a:r>
          </a:p>
        </p:txBody>
      </p:sp>
      <p:sp>
        <p:nvSpPr>
          <p:cNvPr id="77829" name="Rectangle 7"/>
          <p:cNvSpPr>
            <a:spLocks noChangeArrowheads="1"/>
          </p:cNvSpPr>
          <p:nvPr/>
        </p:nvSpPr>
        <p:spPr bwMode="auto">
          <a:xfrm>
            <a:off x="1428750" y="3857625"/>
            <a:ext cx="65246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65113">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void CTestView::PerProject(CP3 ViewP)</a:t>
            </a:r>
          </a:p>
          <a:p>
            <a:pPr eaLnBrk="1" hangingPunct="1">
              <a:buFont typeface="Arial" panose="020B0604020202020204" pitchFamily="34" charset="0"/>
              <a:buNone/>
            </a:pPr>
            <a:r>
              <a:rPr lang="en-US" altLang="zh-CN"/>
              <a:t>{</a:t>
            </a:r>
          </a:p>
          <a:p>
            <a:pPr eaLnBrk="1" hangingPunct="1">
              <a:buFont typeface="Arial" panose="020B0604020202020204" pitchFamily="34" charset="0"/>
              <a:buNone/>
            </a:pPr>
            <a:r>
              <a:rPr lang="en-US" altLang="zh-CN"/>
              <a:t>	  ScreenP.x=d*ViewP.x/ViewP.z;</a:t>
            </a:r>
            <a:endParaRPr lang="zh-CN" altLang="en-US"/>
          </a:p>
          <a:p>
            <a:pPr eaLnBrk="1" hangingPunct="1">
              <a:buFont typeface="Arial" panose="020B0604020202020204" pitchFamily="34" charset="0"/>
              <a:buNone/>
            </a:pPr>
            <a:r>
              <a:rPr lang="zh-CN" altLang="en-US"/>
              <a:t>        </a:t>
            </a:r>
            <a:r>
              <a:rPr lang="en-US" altLang="zh-CN"/>
              <a:t>ScreenP.y=Round(d*ViewP.y/ViewP.z); </a:t>
            </a:r>
          </a:p>
          <a:p>
            <a:pPr eaLnBrk="1" hangingPunct="1">
              <a:buFont typeface="Arial" panose="020B0604020202020204" pitchFamily="34" charset="0"/>
              <a:buNone/>
            </a:pPr>
            <a:r>
              <a:rPr lang="en-US" altLang="zh-CN"/>
              <a:t>}</a:t>
            </a:r>
          </a:p>
        </p:txBody>
      </p:sp>
      <p:sp>
        <p:nvSpPr>
          <p:cNvPr id="77830" name="矩形 10"/>
          <p:cNvSpPr>
            <a:spLocks noChangeArrowheads="1"/>
          </p:cNvSpPr>
          <p:nvPr/>
        </p:nvSpPr>
        <p:spPr bwMode="auto">
          <a:xfrm>
            <a:off x="1357313" y="3143250"/>
            <a:ext cx="7572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编程实现透视投影：</a:t>
            </a:r>
          </a:p>
        </p:txBody>
      </p:sp>
      <p:sp>
        <p:nvSpPr>
          <p:cNvPr id="77831" name="矩形 6"/>
          <p:cNvSpPr>
            <a:spLocks noChangeArrowheads="1"/>
          </p:cNvSpPr>
          <p:nvPr/>
        </p:nvSpPr>
        <p:spPr bwMode="auto">
          <a:xfrm>
            <a:off x="1611313" y="5786438"/>
            <a:ext cx="74247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zh-CN" altLang="en-US">
                <a:solidFill>
                  <a:srgbClr val="000000"/>
                </a:solidFill>
              </a:rPr>
              <a:t>      本段代码将观察坐标系中的三维点</a:t>
            </a:r>
            <a:r>
              <a:rPr lang="en-US" altLang="zh-CN"/>
              <a:t>ViewP</a:t>
            </a:r>
            <a:r>
              <a:rPr lang="zh-CN" altLang="en-US">
                <a:solidFill>
                  <a:srgbClr val="000000"/>
                </a:solidFill>
              </a:rPr>
              <a:t>透视投影</a:t>
            </a:r>
            <a:endParaRPr lang="en-US" altLang="zh-CN">
              <a:solidFill>
                <a:srgbClr val="000000"/>
              </a:solidFill>
            </a:endParaRPr>
          </a:p>
          <a:p>
            <a:pPr eaLnBrk="1" hangingPunct="1"/>
            <a:r>
              <a:rPr lang="zh-CN" altLang="en-US">
                <a:solidFill>
                  <a:srgbClr val="000000"/>
                </a:solidFill>
              </a:rPr>
              <a:t>转换为屏幕坐标系中的二维点</a:t>
            </a:r>
            <a:r>
              <a:rPr lang="en-US" altLang="zh-CN"/>
              <a:t>ScreenP</a:t>
            </a:r>
            <a:r>
              <a:rPr lang="zh-CN" altLang="en-US"/>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8"/>
          <p:cNvSpPr>
            <a:spLocks noChangeArrowheads="1"/>
          </p:cNvSpPr>
          <p:nvPr/>
        </p:nvSpPr>
        <p:spPr bwMode="auto">
          <a:xfrm>
            <a:off x="1500188" y="500063"/>
            <a:ext cx="3097212"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a:effectLst>
                  <a:outerShdw blurRad="38100" dist="38100" dir="2700000" algn="tl">
                    <a:srgbClr val="C0C0C0"/>
                  </a:outerShdw>
                </a:effectLst>
                <a:latin typeface="楷体_GB2312" pitchFamily="49" charset="-122"/>
              </a:rPr>
              <a:t>6.6.4 </a:t>
            </a:r>
            <a:r>
              <a:rPr lang="zh-CN" altLang="en-US" b="1">
                <a:effectLst>
                  <a:outerShdw blurRad="38100" dist="38100" dir="2700000" algn="tl">
                    <a:srgbClr val="C0C0C0"/>
                  </a:outerShdw>
                </a:effectLst>
              </a:rPr>
              <a:t>透视投影分类</a:t>
            </a:r>
            <a:r>
              <a:rPr lang="zh-CN" altLang="en-US"/>
              <a:t>      </a:t>
            </a:r>
          </a:p>
        </p:txBody>
      </p:sp>
      <p:pic>
        <p:nvPicPr>
          <p:cNvPr id="78851" name="Picture 9" descr="12042C4440Z14241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2786063"/>
            <a:ext cx="4429125"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Rectangle 10"/>
          <p:cNvSpPr>
            <a:spLocks noChangeArrowheads="1"/>
          </p:cNvSpPr>
          <p:nvPr/>
        </p:nvSpPr>
        <p:spPr bwMode="auto">
          <a:xfrm>
            <a:off x="3714750" y="6286500"/>
            <a:ext cx="2908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图</a:t>
            </a:r>
            <a:r>
              <a:rPr lang="en-US" altLang="zh-CN" sz="2000"/>
              <a:t>6-26 </a:t>
            </a:r>
            <a:r>
              <a:rPr lang="zh-CN" altLang="en-US" sz="2000"/>
              <a:t>小路的透视投影 </a:t>
            </a:r>
          </a:p>
        </p:txBody>
      </p:sp>
      <p:sp>
        <p:nvSpPr>
          <p:cNvPr id="78853" name="Rectangle 11"/>
          <p:cNvSpPr>
            <a:spLocks noChangeArrowheads="1"/>
          </p:cNvSpPr>
          <p:nvPr/>
        </p:nvSpPr>
        <p:spPr bwMode="auto">
          <a:xfrm>
            <a:off x="395536" y="1000125"/>
            <a:ext cx="8319839"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dirty="0"/>
              <a:t>      透视投影中，与屏幕平行的</a:t>
            </a:r>
            <a:r>
              <a:rPr lang="zh-CN" altLang="en-US" b="1" dirty="0">
                <a:solidFill>
                  <a:srgbClr val="FF0000"/>
                </a:solidFill>
                <a:latin typeface="黑体" panose="02010609060101010101" pitchFamily="49" charset="-122"/>
                <a:ea typeface="黑体" panose="02010609060101010101" pitchFamily="49" charset="-122"/>
              </a:rPr>
              <a:t>平行线投影</a:t>
            </a:r>
            <a:r>
              <a:rPr lang="zh-CN" altLang="en-US" dirty="0"/>
              <a:t>后仍保持平行。</a:t>
            </a:r>
            <a:r>
              <a:rPr lang="zh-CN" altLang="en-US" b="1" dirty="0">
                <a:solidFill>
                  <a:srgbClr val="FF0000"/>
                </a:solidFill>
                <a:latin typeface="黑体" panose="02010609060101010101" pitchFamily="49" charset="-122"/>
                <a:ea typeface="黑体" panose="02010609060101010101" pitchFamily="49" charset="-122"/>
              </a:rPr>
              <a:t>不与屏幕平行的平行线投影后汇聚为灭点</a:t>
            </a:r>
            <a:r>
              <a:rPr lang="zh-CN" altLang="en-US" dirty="0"/>
              <a:t>，灭点是</a:t>
            </a:r>
            <a:r>
              <a:rPr lang="zh-CN" altLang="en-US" b="1" dirty="0">
                <a:solidFill>
                  <a:srgbClr val="FF0000"/>
                </a:solidFill>
                <a:latin typeface="黑体" panose="02010609060101010101" pitchFamily="49" charset="-122"/>
                <a:ea typeface="黑体" panose="02010609060101010101" pitchFamily="49" charset="-122"/>
              </a:rPr>
              <a:t>无限远点在屏幕上的投影</a:t>
            </a:r>
            <a:r>
              <a:rPr lang="zh-CN" altLang="en-US" dirty="0"/>
              <a:t>。每一组平行线都有其不同的灭点。坐标轴上灭点称为主灭点。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6"/>
          <p:cNvSpPr>
            <a:spLocks noChangeArrowheads="1"/>
          </p:cNvSpPr>
          <p:nvPr/>
        </p:nvSpPr>
        <p:spPr bwMode="auto">
          <a:xfrm>
            <a:off x="1331913" y="260350"/>
            <a:ext cx="734377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dirty="0"/>
              <a:t>       透视投影中</a:t>
            </a:r>
            <a:r>
              <a:rPr lang="zh-CN" altLang="en-US" sz="1800" b="1" dirty="0">
                <a:solidFill>
                  <a:srgbClr val="3366FF"/>
                </a:solidFill>
                <a:latin typeface="方正粗黑宋简体" panose="02000000000000000000" pitchFamily="2" charset="-122"/>
                <a:ea typeface="方正粗黑宋简体" panose="02000000000000000000" pitchFamily="2" charset="-122"/>
              </a:rPr>
              <a:t>主灭点数目</a:t>
            </a:r>
            <a:r>
              <a:rPr lang="zh-CN" altLang="en-US" dirty="0"/>
              <a:t>是由屏幕切割坐标轴的数量来决定，并据此将透视投影分类为</a:t>
            </a:r>
            <a:r>
              <a:rPr lang="zh-CN" altLang="en-US" b="1" dirty="0">
                <a:solidFill>
                  <a:srgbClr val="FF0000"/>
                </a:solidFill>
                <a:latin typeface="黑体" panose="02010609060101010101" pitchFamily="49" charset="-122"/>
                <a:ea typeface="黑体" panose="02010609060101010101" pitchFamily="49" charset="-122"/>
              </a:rPr>
              <a:t>一点、二点和三点透视</a:t>
            </a:r>
            <a:r>
              <a:rPr lang="zh-CN" altLang="en-US" dirty="0"/>
              <a:t>。一点透视有</a:t>
            </a:r>
            <a:r>
              <a:rPr lang="zh-CN" altLang="en-US" sz="1800" b="1" dirty="0">
                <a:solidFill>
                  <a:srgbClr val="3366FF"/>
                </a:solidFill>
                <a:latin typeface="方正粗黑宋简体" panose="02000000000000000000" pitchFamily="2" charset="-122"/>
                <a:ea typeface="方正粗黑宋简体" panose="02000000000000000000" pitchFamily="2" charset="-122"/>
              </a:rPr>
              <a:t>一个主灭点</a:t>
            </a:r>
            <a:r>
              <a:rPr lang="zh-CN" altLang="en-US" dirty="0"/>
              <a:t>，即屏幕仅与一个坐标轴正交，与另外两个坐标轴平行；二点透视有两个主灭点，即屏幕仅与两个坐标轴相交，与另一个坐标轴平行；三点透视有三个主灭点，即屏幕与三个坐标轴都相交 </a:t>
            </a:r>
          </a:p>
        </p:txBody>
      </p:sp>
      <p:graphicFrame>
        <p:nvGraphicFramePr>
          <p:cNvPr id="79875" name="Object 9"/>
          <p:cNvGraphicFramePr>
            <a:graphicFrameLocks noChangeAspect="1"/>
          </p:cNvGraphicFramePr>
          <p:nvPr/>
        </p:nvGraphicFramePr>
        <p:xfrm>
          <a:off x="1547813" y="3429000"/>
          <a:ext cx="1309687" cy="1800225"/>
        </p:xfrm>
        <a:graphic>
          <a:graphicData uri="http://schemas.openxmlformats.org/presentationml/2006/ole">
            <mc:AlternateContent xmlns:mc="http://schemas.openxmlformats.org/markup-compatibility/2006">
              <mc:Choice xmlns:v="urn:schemas-microsoft-com:vml" Requires="v">
                <p:oleObj spid="_x0000_s79899" r:id="rId3" imgW="3700917" imgH="5140721" progId="Visio.Drawing.11">
                  <p:embed/>
                </p:oleObj>
              </mc:Choice>
              <mc:Fallback>
                <p:oleObj r:id="rId3" imgW="3700917" imgH="5140721"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3429000"/>
                        <a:ext cx="13096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6" name="Object 8"/>
          <p:cNvGraphicFramePr>
            <a:graphicFrameLocks noChangeAspect="1"/>
          </p:cNvGraphicFramePr>
          <p:nvPr/>
        </p:nvGraphicFramePr>
        <p:xfrm>
          <a:off x="3059113" y="4221163"/>
          <a:ext cx="3600450" cy="911225"/>
        </p:xfrm>
        <a:graphic>
          <a:graphicData uri="http://schemas.openxmlformats.org/presentationml/2006/ole">
            <mc:AlternateContent xmlns:mc="http://schemas.openxmlformats.org/markup-compatibility/2006">
              <mc:Choice xmlns:v="urn:schemas-microsoft-com:vml" Requires="v">
                <p:oleObj spid="_x0000_s79900" r:id="rId5" imgW="4429856" imgH="1114779" progId="Visio.Drawing.11">
                  <p:embed/>
                </p:oleObj>
              </mc:Choice>
              <mc:Fallback>
                <p:oleObj r:id="rId5" imgW="4429856" imgH="1114779" progId="Visio.Drawing.11">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113" y="4221163"/>
                        <a:ext cx="3600450"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9877" name="Object 7"/>
          <p:cNvGraphicFramePr>
            <a:graphicFrameLocks noChangeAspect="1"/>
          </p:cNvGraphicFramePr>
          <p:nvPr/>
        </p:nvGraphicFramePr>
        <p:xfrm>
          <a:off x="5580063" y="2997200"/>
          <a:ext cx="3313112" cy="2862263"/>
        </p:xfrm>
        <a:graphic>
          <a:graphicData uri="http://schemas.openxmlformats.org/presentationml/2006/ole">
            <mc:AlternateContent xmlns:mc="http://schemas.openxmlformats.org/markup-compatibility/2006">
              <mc:Choice xmlns:v="urn:schemas-microsoft-com:vml" Requires="v">
                <p:oleObj spid="_x0000_s79901" r:id="rId7" imgW="5914985" imgH="5158794" progId="Visio.Drawing.11">
                  <p:embed/>
                </p:oleObj>
              </mc:Choice>
              <mc:Fallback>
                <p:oleObj r:id="rId7" imgW="5914985" imgH="5158794" progId="Visio.Drawing.11">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063" y="2997200"/>
                        <a:ext cx="331311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8" name="Rectangle 18"/>
          <p:cNvSpPr>
            <a:spLocks noChangeArrowheads="1"/>
          </p:cNvSpPr>
          <p:nvPr/>
        </p:nvSpPr>
        <p:spPr bwMode="auto">
          <a:xfrm>
            <a:off x="0" y="2544763"/>
            <a:ext cx="288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sz="1000"/>
          </a:p>
          <a:p>
            <a:pPr>
              <a:buFont typeface="Arial" panose="020B0604020202020204" pitchFamily="34" charset="0"/>
              <a:buNone/>
            </a:pPr>
            <a:r>
              <a:rPr lang="zh-CN" altLang="en-US" sz="1000">
                <a:latin typeface="Arial" panose="020B0604020202020204" pitchFamily="34"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79879" name="Rectangle 19"/>
          <p:cNvSpPr>
            <a:spLocks noChangeArrowheads="1"/>
          </p:cNvSpPr>
          <p:nvPr/>
        </p:nvSpPr>
        <p:spPr bwMode="auto">
          <a:xfrm>
            <a:off x="0" y="3303588"/>
            <a:ext cx="3302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100">
                <a:latin typeface="Arial" panose="020B0604020202020204" pitchFamily="34" charset="0"/>
                <a:ea typeface="宋体" panose="02010600030101010101" pitchFamily="2" charset="-122"/>
              </a:rPr>
              <a:t>  </a:t>
            </a:r>
            <a:r>
              <a:rPr lang="zh-CN" altLang="en-US" sz="1000">
                <a:latin typeface="Arial" panose="020B0604020202020204" pitchFamily="34"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79880" name="Rectangle 20"/>
          <p:cNvSpPr>
            <a:spLocks noChangeArrowheads="1"/>
          </p:cNvSpPr>
          <p:nvPr/>
        </p:nvSpPr>
        <p:spPr bwMode="auto">
          <a:xfrm>
            <a:off x="1476375" y="6165850"/>
            <a:ext cx="716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sz="2000">
                <a:solidFill>
                  <a:srgbClr val="000000"/>
                </a:solidFill>
                <a:latin typeface="楷体_GB2312" pitchFamily="49" charset="-122"/>
                <a:cs typeface="Times New Roman" panose="02020603050405020304" pitchFamily="18" charset="0"/>
              </a:rPr>
              <a:t>（</a:t>
            </a:r>
            <a:r>
              <a:rPr lang="en-US" altLang="zh-CN" sz="2000">
                <a:solidFill>
                  <a:srgbClr val="000000"/>
                </a:solidFill>
                <a:latin typeface="楷体_GB2312" pitchFamily="49" charset="-122"/>
                <a:cs typeface="Times New Roman" panose="02020603050405020304" pitchFamily="18" charset="0"/>
              </a:rPr>
              <a:t>a</a:t>
            </a:r>
            <a:r>
              <a:rPr lang="zh-CN" altLang="en-US" sz="2000">
                <a:solidFill>
                  <a:srgbClr val="000000"/>
                </a:solidFill>
                <a:latin typeface="楷体_GB2312" pitchFamily="49" charset="-122"/>
                <a:cs typeface="Times New Roman" panose="02020603050405020304" pitchFamily="18" charset="0"/>
              </a:rPr>
              <a:t>）一点透视       （</a:t>
            </a:r>
            <a:r>
              <a:rPr lang="en-US" altLang="zh-CN" sz="2000">
                <a:solidFill>
                  <a:srgbClr val="000000"/>
                </a:solidFill>
                <a:latin typeface="楷体_GB2312" pitchFamily="49" charset="-122"/>
                <a:cs typeface="Times New Roman" panose="02020603050405020304" pitchFamily="18" charset="0"/>
              </a:rPr>
              <a:t>b</a:t>
            </a:r>
            <a:r>
              <a:rPr lang="zh-CN" altLang="en-US" sz="2000">
                <a:solidFill>
                  <a:srgbClr val="000000"/>
                </a:solidFill>
                <a:latin typeface="楷体_GB2312" pitchFamily="49" charset="-122"/>
                <a:cs typeface="Times New Roman" panose="02020603050405020304" pitchFamily="18" charset="0"/>
              </a:rPr>
              <a:t>）二点透视         （</a:t>
            </a:r>
            <a:r>
              <a:rPr lang="en-US" altLang="zh-CN" sz="2000">
                <a:solidFill>
                  <a:srgbClr val="000000"/>
                </a:solidFill>
                <a:latin typeface="楷体_GB2312" pitchFamily="49" charset="-122"/>
                <a:cs typeface="Times New Roman" panose="02020603050405020304" pitchFamily="18" charset="0"/>
              </a:rPr>
              <a:t>c</a:t>
            </a:r>
            <a:r>
              <a:rPr lang="zh-CN" altLang="en-US" sz="2000">
                <a:solidFill>
                  <a:srgbClr val="000000"/>
                </a:solidFill>
                <a:latin typeface="楷体_GB2312" pitchFamily="49" charset="-122"/>
                <a:cs typeface="Times New Roman" panose="02020603050405020304" pitchFamily="18" charset="0"/>
              </a:rPr>
              <a:t>）三点透视</a:t>
            </a:r>
            <a:endParaRPr lang="zh-CN" altLang="en-US" sz="2000">
              <a:latin typeface="楷体_GB2312" pitchFamily="49" charset="-122"/>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6"/>
          <p:cNvSpPr txBox="1">
            <a:spLocks noChangeArrowheads="1"/>
          </p:cNvSpPr>
          <p:nvPr/>
        </p:nvSpPr>
        <p:spPr bwMode="auto">
          <a:xfrm>
            <a:off x="1258888" y="188913"/>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1.</a:t>
            </a:r>
            <a:r>
              <a:rPr lang="zh-CN" altLang="en-US"/>
              <a:t>一点透视</a:t>
            </a:r>
            <a:endParaRPr lang="zh-CN" altLang="en-US" b="1"/>
          </a:p>
        </p:txBody>
      </p:sp>
      <p:sp>
        <p:nvSpPr>
          <p:cNvPr id="80899" name="Rectangle 7"/>
          <p:cNvSpPr>
            <a:spLocks noChangeArrowheads="1"/>
          </p:cNvSpPr>
          <p:nvPr/>
        </p:nvSpPr>
        <p:spPr bwMode="auto">
          <a:xfrm>
            <a:off x="1476375" y="687814"/>
            <a:ext cx="71993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当</a:t>
            </a:r>
            <a:r>
              <a:rPr lang="en-US" altLang="zh-CN" dirty="0"/>
              <a:t>φ</a:t>
            </a:r>
            <a:r>
              <a:rPr lang="zh-CN" altLang="en-US" dirty="0"/>
              <a:t>＝</a:t>
            </a:r>
            <a:r>
              <a:rPr lang="en-US" altLang="zh-CN" dirty="0"/>
              <a:t>90°</a:t>
            </a:r>
            <a:r>
              <a:rPr lang="zh-CN" altLang="en-US" dirty="0"/>
              <a:t>，</a:t>
            </a:r>
            <a:r>
              <a:rPr lang="en-US" altLang="zh-CN" dirty="0"/>
              <a:t>θ</a:t>
            </a:r>
            <a:r>
              <a:rPr lang="zh-CN" altLang="en-US" dirty="0"/>
              <a:t>＝</a:t>
            </a:r>
            <a:r>
              <a:rPr lang="en-US" altLang="zh-CN" dirty="0"/>
              <a:t>0°</a:t>
            </a:r>
            <a:r>
              <a:rPr lang="zh-CN" altLang="en-US" dirty="0"/>
              <a:t>时，</a:t>
            </a:r>
            <a:r>
              <a:rPr lang="zh-CN" altLang="en-US" sz="1800" b="1" dirty="0">
                <a:solidFill>
                  <a:srgbClr val="3366FF"/>
                </a:solidFill>
                <a:latin typeface="方正粗黑宋简体" panose="02000000000000000000" pitchFamily="2" charset="-122"/>
                <a:ea typeface="方正粗黑宋简体" panose="02000000000000000000" pitchFamily="2" charset="-122"/>
              </a:rPr>
              <a:t>屏幕平行于</a:t>
            </a:r>
            <a:r>
              <a:rPr lang="en-US" altLang="zh-CN" sz="1800" b="1" dirty="0" err="1">
                <a:solidFill>
                  <a:srgbClr val="3366FF"/>
                </a:solidFill>
                <a:latin typeface="方正粗黑宋简体" panose="02000000000000000000" pitchFamily="2" charset="-122"/>
                <a:ea typeface="方正粗黑宋简体" panose="02000000000000000000" pitchFamily="2" charset="-122"/>
              </a:rPr>
              <a:t>xOz</a:t>
            </a:r>
            <a:r>
              <a:rPr lang="zh-CN" altLang="en-US" sz="1800" b="1" dirty="0">
                <a:solidFill>
                  <a:srgbClr val="3366FF"/>
                </a:solidFill>
                <a:latin typeface="方正粗黑宋简体" panose="02000000000000000000" pitchFamily="2" charset="-122"/>
                <a:ea typeface="方正粗黑宋简体" panose="02000000000000000000" pitchFamily="2" charset="-122"/>
              </a:rPr>
              <a:t>面</a:t>
            </a:r>
            <a:r>
              <a:rPr lang="zh-CN" altLang="en-US" dirty="0"/>
              <a:t>，得到一点透视图。 </a:t>
            </a:r>
          </a:p>
        </p:txBody>
      </p:sp>
      <p:pic>
        <p:nvPicPr>
          <p:cNvPr id="80900" name="Picture 8">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1628775"/>
            <a:ext cx="2376488"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Text Box 9"/>
          <p:cNvSpPr txBox="1">
            <a:spLocks noChangeArrowheads="1"/>
          </p:cNvSpPr>
          <p:nvPr/>
        </p:nvSpPr>
        <p:spPr bwMode="auto">
          <a:xfrm>
            <a:off x="1330325" y="2962275"/>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2.</a:t>
            </a:r>
            <a:r>
              <a:rPr lang="zh-CN" altLang="en-US"/>
              <a:t>二点透视</a:t>
            </a:r>
            <a:endParaRPr lang="zh-CN" altLang="en-US" b="1"/>
          </a:p>
        </p:txBody>
      </p:sp>
      <p:sp>
        <p:nvSpPr>
          <p:cNvPr id="80902" name="Rectangle 10"/>
          <p:cNvSpPr>
            <a:spLocks noChangeArrowheads="1"/>
          </p:cNvSpPr>
          <p:nvPr/>
        </p:nvSpPr>
        <p:spPr bwMode="auto">
          <a:xfrm>
            <a:off x="1547813" y="3461177"/>
            <a:ext cx="68421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当</a:t>
            </a:r>
            <a:r>
              <a:rPr lang="en-US" altLang="zh-CN" dirty="0"/>
              <a:t>φ</a:t>
            </a:r>
            <a:r>
              <a:rPr lang="zh-CN" altLang="en-US" dirty="0"/>
              <a:t>＝</a:t>
            </a:r>
            <a:r>
              <a:rPr lang="en-US" altLang="zh-CN" dirty="0"/>
              <a:t>90°</a:t>
            </a:r>
            <a:r>
              <a:rPr lang="zh-CN" altLang="en-US" dirty="0"/>
              <a:t>，</a:t>
            </a:r>
            <a:r>
              <a:rPr lang="en-US" altLang="zh-CN" dirty="0"/>
              <a:t>0°</a:t>
            </a:r>
            <a:r>
              <a:rPr lang="zh-CN" altLang="en-US" dirty="0"/>
              <a:t>＜</a:t>
            </a:r>
            <a:r>
              <a:rPr lang="en-US" altLang="zh-CN" dirty="0"/>
              <a:t>θ</a:t>
            </a:r>
            <a:r>
              <a:rPr lang="zh-CN" altLang="en-US" dirty="0"/>
              <a:t>＜</a:t>
            </a:r>
            <a:r>
              <a:rPr lang="en-US" altLang="zh-CN" dirty="0"/>
              <a:t>90°</a:t>
            </a:r>
            <a:r>
              <a:rPr lang="zh-CN" altLang="en-US" dirty="0"/>
              <a:t>时，</a:t>
            </a:r>
            <a:r>
              <a:rPr lang="zh-CN" altLang="en-US" sz="1800" b="1" dirty="0">
                <a:solidFill>
                  <a:srgbClr val="3366FF"/>
                </a:solidFill>
                <a:latin typeface="方正粗黑宋简体" panose="02000000000000000000" pitchFamily="2" charset="-122"/>
                <a:ea typeface="方正粗黑宋简体" panose="02000000000000000000" pitchFamily="2" charset="-122"/>
              </a:rPr>
              <a:t>屏幕与</a:t>
            </a:r>
            <a:r>
              <a:rPr lang="en-US" altLang="zh-CN" sz="1800" b="1" dirty="0">
                <a:solidFill>
                  <a:srgbClr val="3366FF"/>
                </a:solidFill>
                <a:latin typeface="方正粗黑宋简体" panose="02000000000000000000" pitchFamily="2" charset="-122"/>
                <a:ea typeface="方正粗黑宋简体" panose="02000000000000000000" pitchFamily="2" charset="-122"/>
              </a:rPr>
              <a:t>x</a:t>
            </a:r>
            <a:r>
              <a:rPr lang="zh-CN" altLang="en-US" sz="1800" b="1" dirty="0">
                <a:solidFill>
                  <a:srgbClr val="3366FF"/>
                </a:solidFill>
                <a:latin typeface="方正粗黑宋简体" panose="02000000000000000000" pitchFamily="2" charset="-122"/>
                <a:ea typeface="方正粗黑宋简体" panose="02000000000000000000" pitchFamily="2" charset="-122"/>
              </a:rPr>
              <a:t>轴和</a:t>
            </a:r>
            <a:r>
              <a:rPr lang="en-US" altLang="zh-CN" sz="1800" b="1" dirty="0">
                <a:solidFill>
                  <a:srgbClr val="3366FF"/>
                </a:solidFill>
                <a:latin typeface="方正粗黑宋简体" panose="02000000000000000000" pitchFamily="2" charset="-122"/>
                <a:ea typeface="方正粗黑宋简体" panose="02000000000000000000" pitchFamily="2" charset="-122"/>
              </a:rPr>
              <a:t>z</a:t>
            </a:r>
            <a:r>
              <a:rPr lang="zh-CN" altLang="en-US" sz="1800" b="1" dirty="0">
                <a:solidFill>
                  <a:srgbClr val="3366FF"/>
                </a:solidFill>
                <a:latin typeface="方正粗黑宋简体" panose="02000000000000000000" pitchFamily="2" charset="-122"/>
                <a:ea typeface="方正粗黑宋简体" panose="02000000000000000000" pitchFamily="2" charset="-122"/>
              </a:rPr>
              <a:t>轴相交，但平行于</a:t>
            </a:r>
            <a:r>
              <a:rPr lang="en-US" altLang="zh-CN" sz="1800" b="1" dirty="0">
                <a:solidFill>
                  <a:srgbClr val="3366FF"/>
                </a:solidFill>
                <a:latin typeface="方正粗黑宋简体" panose="02000000000000000000" pitchFamily="2" charset="-122"/>
                <a:ea typeface="方正粗黑宋简体" panose="02000000000000000000" pitchFamily="2" charset="-122"/>
              </a:rPr>
              <a:t>y</a:t>
            </a:r>
            <a:r>
              <a:rPr lang="zh-CN" altLang="en-US" sz="1800" b="1" dirty="0">
                <a:solidFill>
                  <a:srgbClr val="3366FF"/>
                </a:solidFill>
                <a:latin typeface="方正粗黑宋简体" panose="02000000000000000000" pitchFamily="2" charset="-122"/>
                <a:ea typeface="方正粗黑宋简体" panose="02000000000000000000" pitchFamily="2" charset="-122"/>
              </a:rPr>
              <a:t>轴</a:t>
            </a:r>
            <a:r>
              <a:rPr lang="zh-CN" altLang="en-US" dirty="0"/>
              <a:t>， 得到二点透视图。 </a:t>
            </a:r>
          </a:p>
        </p:txBody>
      </p:sp>
      <p:pic>
        <p:nvPicPr>
          <p:cNvPr id="80903" name="Picture 12">
            <a:hlinkClick r:id="rId2" action="ppaction://hlinkfile"/>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4508500"/>
            <a:ext cx="2808288"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4"/>
          <p:cNvSpPr txBox="1">
            <a:spLocks noChangeArrowheads="1"/>
          </p:cNvSpPr>
          <p:nvPr/>
        </p:nvSpPr>
        <p:spPr bwMode="auto">
          <a:xfrm>
            <a:off x="1258888" y="188913"/>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spcBef>
                <a:spcPct val="50000"/>
              </a:spcBef>
              <a:buFont typeface="Arial" panose="020B0604020202020204" pitchFamily="34" charset="0"/>
              <a:buNone/>
            </a:pPr>
            <a:r>
              <a:rPr lang="en-US" altLang="zh-CN"/>
              <a:t>3.</a:t>
            </a:r>
            <a:r>
              <a:rPr lang="zh-CN" altLang="en-US"/>
              <a:t>三点透视</a:t>
            </a:r>
            <a:endParaRPr lang="zh-CN" altLang="en-US" b="1"/>
          </a:p>
        </p:txBody>
      </p:sp>
      <p:sp>
        <p:nvSpPr>
          <p:cNvPr id="81923" name="Rectangle 5"/>
          <p:cNvSpPr>
            <a:spLocks noChangeArrowheads="1"/>
          </p:cNvSpPr>
          <p:nvPr/>
        </p:nvSpPr>
        <p:spPr bwMode="auto">
          <a:xfrm>
            <a:off x="1331913" y="828675"/>
            <a:ext cx="76327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a:t>
            </a:r>
            <a:r>
              <a:rPr lang="zh-CN" altLang="en-US" sz="1800" b="1" dirty="0">
                <a:solidFill>
                  <a:srgbClr val="3366FF"/>
                </a:solidFill>
                <a:latin typeface="方正粗黑宋简体" panose="02000000000000000000" pitchFamily="2" charset="-122"/>
                <a:ea typeface="方正粗黑宋简体" panose="02000000000000000000" pitchFamily="2" charset="-122"/>
              </a:rPr>
              <a:t>三点透视图</a:t>
            </a:r>
            <a:r>
              <a:rPr lang="zh-CN" altLang="en-US" b="1" dirty="0">
                <a:solidFill>
                  <a:srgbClr val="FF0000"/>
                </a:solidFill>
                <a:latin typeface="黑体" panose="02010609060101010101" pitchFamily="49" charset="-122"/>
                <a:ea typeface="黑体" panose="02010609060101010101" pitchFamily="49" charset="-122"/>
              </a:rPr>
              <a:t>是屏幕</a:t>
            </a:r>
            <a:r>
              <a:rPr lang="zh-CN" altLang="en-US" sz="1800" b="1" dirty="0">
                <a:solidFill>
                  <a:srgbClr val="3366FF"/>
                </a:solidFill>
                <a:latin typeface="方正粗黑宋简体" panose="02000000000000000000" pitchFamily="2" charset="-122"/>
                <a:ea typeface="方正粗黑宋简体" panose="02000000000000000000" pitchFamily="2" charset="-122"/>
              </a:rPr>
              <a:t>与三个坐标轴都相交时</a:t>
            </a:r>
            <a:r>
              <a:rPr lang="zh-CN" altLang="en-US" b="1" dirty="0">
                <a:solidFill>
                  <a:srgbClr val="FF0000"/>
                </a:solidFill>
                <a:latin typeface="黑体" panose="02010609060101010101" pitchFamily="49" charset="-122"/>
                <a:ea typeface="黑体" panose="02010609060101010101" pitchFamily="49" charset="-122"/>
              </a:rPr>
              <a:t>的透视投影图</a:t>
            </a:r>
            <a:r>
              <a:rPr lang="zh-CN" altLang="en-US" dirty="0"/>
              <a:t>。当</a:t>
            </a:r>
            <a:r>
              <a:rPr lang="en-US" altLang="zh-CN" dirty="0"/>
              <a:t>φ≠0°</a:t>
            </a:r>
            <a:r>
              <a:rPr lang="zh-CN" altLang="en-US" dirty="0"/>
              <a:t>、</a:t>
            </a:r>
            <a:r>
              <a:rPr lang="en-US" altLang="zh-CN" dirty="0"/>
              <a:t>90°</a:t>
            </a:r>
            <a:r>
              <a:rPr lang="zh-CN" altLang="en-US" dirty="0"/>
              <a:t>、</a:t>
            </a:r>
            <a:r>
              <a:rPr lang="en-US" altLang="zh-CN" dirty="0"/>
              <a:t>180°</a:t>
            </a:r>
            <a:r>
              <a:rPr lang="zh-CN" altLang="en-US" dirty="0"/>
              <a:t>；且</a:t>
            </a:r>
            <a:r>
              <a:rPr lang="en-US" altLang="zh-CN" dirty="0"/>
              <a:t>θ≠0°</a:t>
            </a:r>
            <a:r>
              <a:rPr lang="zh-CN" altLang="en-US" dirty="0"/>
              <a:t>、</a:t>
            </a:r>
            <a:r>
              <a:rPr lang="en-US" altLang="zh-CN" dirty="0"/>
              <a:t>90°</a:t>
            </a:r>
            <a:r>
              <a:rPr lang="zh-CN" altLang="en-US" dirty="0"/>
              <a:t>、</a:t>
            </a:r>
            <a:r>
              <a:rPr lang="en-US" altLang="zh-CN" dirty="0"/>
              <a:t>180°</a:t>
            </a:r>
            <a:r>
              <a:rPr lang="zh-CN" altLang="en-US" dirty="0"/>
              <a:t>、</a:t>
            </a:r>
            <a:r>
              <a:rPr lang="en-US" altLang="zh-CN" dirty="0"/>
              <a:t>270°</a:t>
            </a:r>
            <a:r>
              <a:rPr lang="zh-CN" altLang="en-US" dirty="0"/>
              <a:t>时，屏幕与</a:t>
            </a:r>
            <a:r>
              <a:rPr lang="en-US" altLang="zh-CN" dirty="0"/>
              <a:t>x</a:t>
            </a:r>
            <a:r>
              <a:rPr lang="zh-CN" altLang="en-US" dirty="0"/>
              <a:t>轴、</a:t>
            </a:r>
            <a:r>
              <a:rPr lang="en-US" altLang="zh-CN" dirty="0"/>
              <a:t>y</a:t>
            </a:r>
            <a:r>
              <a:rPr lang="zh-CN" altLang="en-US" dirty="0"/>
              <a:t>轴和</a:t>
            </a:r>
            <a:r>
              <a:rPr lang="en-US" altLang="zh-CN" dirty="0"/>
              <a:t>z</a:t>
            </a:r>
            <a:r>
              <a:rPr lang="zh-CN" altLang="en-US" dirty="0"/>
              <a:t>轴都相交，得到三点透视图。将</a:t>
            </a:r>
            <a:r>
              <a:rPr lang="en-US" altLang="zh-CN" dirty="0"/>
              <a:t>φ</a:t>
            </a:r>
            <a:r>
              <a:rPr lang="zh-CN" altLang="en-US" dirty="0"/>
              <a:t>＝</a:t>
            </a:r>
            <a:r>
              <a:rPr lang="en-US" altLang="zh-CN" dirty="0"/>
              <a:t>60°</a:t>
            </a:r>
            <a:r>
              <a:rPr lang="zh-CN" altLang="en-US" dirty="0"/>
              <a:t>、</a:t>
            </a:r>
            <a:r>
              <a:rPr lang="en-US" altLang="zh-CN" dirty="0"/>
              <a:t>θ</a:t>
            </a:r>
            <a:r>
              <a:rPr lang="zh-CN" altLang="en-US" dirty="0"/>
              <a:t>＝</a:t>
            </a:r>
            <a:r>
              <a:rPr lang="en-US" altLang="zh-CN" dirty="0"/>
              <a:t>30°</a:t>
            </a:r>
            <a:r>
              <a:rPr lang="zh-CN" altLang="en-US" dirty="0"/>
              <a:t>代入式（</a:t>
            </a:r>
            <a:r>
              <a:rPr lang="en-US" altLang="zh-CN" dirty="0"/>
              <a:t>6-57</a:t>
            </a:r>
            <a:r>
              <a:rPr lang="zh-CN" altLang="en-US" dirty="0"/>
              <a:t>）。</a:t>
            </a:r>
          </a:p>
        </p:txBody>
      </p:sp>
      <p:pic>
        <p:nvPicPr>
          <p:cNvPr id="8192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59113" y="2852738"/>
            <a:ext cx="3960812"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5" name="Rectangle 11"/>
          <p:cNvSpPr>
            <a:spLocks noChangeArrowheads="1"/>
          </p:cNvSpPr>
          <p:nvPr/>
        </p:nvSpPr>
        <p:spPr bwMode="auto">
          <a:xfrm>
            <a:off x="3419475" y="6092825"/>
            <a:ext cx="363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hlinkClick r:id="rId3" action="ppaction://hlinkfile"/>
              </a:rPr>
              <a:t>立方体的三点透视投影图 </a:t>
            </a: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ChangeArrowheads="1"/>
          </p:cNvSpPr>
          <p:nvPr/>
        </p:nvSpPr>
        <p:spPr bwMode="auto">
          <a:xfrm>
            <a:off x="2286000" y="428625"/>
            <a:ext cx="5143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a:t>      透视投影的“近大远小”的理解</a:t>
            </a:r>
          </a:p>
        </p:txBody>
      </p:sp>
      <p:graphicFrame>
        <p:nvGraphicFramePr>
          <p:cNvPr id="82947" name="Object 7"/>
          <p:cNvGraphicFramePr>
            <a:graphicFrameLocks noChangeAspect="1"/>
          </p:cNvGraphicFramePr>
          <p:nvPr/>
        </p:nvGraphicFramePr>
        <p:xfrm>
          <a:off x="2357438" y="1071563"/>
          <a:ext cx="6037262" cy="5214937"/>
        </p:xfrm>
        <a:graphic>
          <a:graphicData uri="http://schemas.openxmlformats.org/presentationml/2006/ole">
            <mc:AlternateContent xmlns:mc="http://schemas.openxmlformats.org/markup-compatibility/2006">
              <mc:Choice xmlns:v="urn:schemas-microsoft-com:vml" Requires="v">
                <p:oleObj spid="_x0000_s82953" name="Visio" r:id="rId3" imgW="5914985" imgH="5158794" progId="Visio.Drawing.11">
                  <p:embed/>
                </p:oleObj>
              </mc:Choice>
              <mc:Fallback>
                <p:oleObj name="Visio" r:id="rId3" imgW="5914985" imgH="5158794"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1071563"/>
                        <a:ext cx="6037262"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5"/>
          <p:cNvSpPr>
            <a:spLocks noChangeArrowheads="1"/>
          </p:cNvSpPr>
          <p:nvPr/>
        </p:nvSpPr>
        <p:spPr bwMode="auto">
          <a:xfrm>
            <a:off x="1285875" y="214313"/>
            <a:ext cx="76327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物体是三维坐标系，屏幕是二维坐标系。</a:t>
            </a:r>
            <a:r>
              <a:rPr lang="zh-CN" altLang="en-US" sz="1800" b="1" dirty="0">
                <a:solidFill>
                  <a:srgbClr val="3366FF"/>
                </a:solidFill>
                <a:latin typeface="方正粗黑宋简体" panose="02000000000000000000" pitchFamily="2" charset="-122"/>
                <a:ea typeface="方正粗黑宋简体" panose="02000000000000000000" pitchFamily="2" charset="-122"/>
              </a:rPr>
              <a:t>投影就是将三维转换为二维，</a:t>
            </a:r>
            <a:r>
              <a:rPr lang="zh-CN" altLang="en-US" dirty="0"/>
              <a:t>也就是</a:t>
            </a:r>
            <a:r>
              <a:rPr lang="zh-CN" altLang="en-US" sz="1800" b="1" dirty="0">
                <a:solidFill>
                  <a:srgbClr val="3366FF"/>
                </a:solidFill>
                <a:latin typeface="方正粗黑宋简体" panose="02000000000000000000" pitchFamily="2" charset="-122"/>
                <a:ea typeface="方正粗黑宋简体" panose="02000000000000000000" pitchFamily="2" charset="-122"/>
              </a:rPr>
              <a:t>处理掉</a:t>
            </a:r>
            <a:r>
              <a:rPr lang="en-US" altLang="zh-CN" sz="1800" b="1" dirty="0">
                <a:solidFill>
                  <a:srgbClr val="3366FF"/>
                </a:solidFill>
                <a:latin typeface="方正粗黑宋简体" panose="02000000000000000000" pitchFamily="2" charset="-122"/>
                <a:ea typeface="方正粗黑宋简体" panose="02000000000000000000" pitchFamily="2" charset="-122"/>
              </a:rPr>
              <a:t>z</a:t>
            </a:r>
            <a:r>
              <a:rPr lang="zh-CN" altLang="en-US" sz="1800" b="1" dirty="0">
                <a:solidFill>
                  <a:srgbClr val="3366FF"/>
                </a:solidFill>
                <a:latin typeface="方正粗黑宋简体" panose="02000000000000000000" pitchFamily="2" charset="-122"/>
                <a:ea typeface="方正粗黑宋简体" panose="02000000000000000000" pitchFamily="2" charset="-122"/>
              </a:rPr>
              <a:t>坐标</a:t>
            </a:r>
            <a:r>
              <a:rPr lang="zh-CN" altLang="en-US" dirty="0"/>
              <a:t>。      </a:t>
            </a:r>
            <a:endParaRPr lang="en-US" altLang="zh-CN" dirty="0"/>
          </a:p>
          <a:p>
            <a:pPr eaLnBrk="1" hangingPunct="1">
              <a:buFont typeface="Arial" panose="020B0604020202020204" pitchFamily="34" charset="0"/>
              <a:buNone/>
            </a:pPr>
            <a:r>
              <a:rPr lang="zh-CN" altLang="en-US" dirty="0"/>
              <a:t>        </a:t>
            </a:r>
            <a:r>
              <a:rPr lang="zh-CN" altLang="en-US" b="1" dirty="0">
                <a:solidFill>
                  <a:srgbClr val="FF0000"/>
                </a:solidFill>
                <a:latin typeface="黑体" panose="02010609060101010101" pitchFamily="49" charset="-122"/>
                <a:ea typeface="黑体" panose="02010609060101010101" pitchFamily="49" charset="-122"/>
              </a:rPr>
              <a:t>观察坐标系的三维坐标转换为屏幕坐标系</a:t>
            </a:r>
            <a:r>
              <a:rPr lang="zh-CN" altLang="en-US" dirty="0"/>
              <a:t>的二维坐标的方法有以下几种：</a:t>
            </a:r>
            <a:endParaRPr lang="en-US" altLang="zh-CN" dirty="0"/>
          </a:p>
        </p:txBody>
      </p:sp>
      <p:graphicFrame>
        <p:nvGraphicFramePr>
          <p:cNvPr id="83971" name="Object 4"/>
          <p:cNvGraphicFramePr>
            <a:graphicFrameLocks noChangeAspect="1"/>
          </p:cNvGraphicFramePr>
          <p:nvPr/>
        </p:nvGraphicFramePr>
        <p:xfrm>
          <a:off x="2357438" y="1928813"/>
          <a:ext cx="1487487" cy="1279525"/>
        </p:xfrm>
        <a:graphic>
          <a:graphicData uri="http://schemas.openxmlformats.org/presentationml/2006/ole">
            <mc:AlternateContent xmlns:mc="http://schemas.openxmlformats.org/markup-compatibility/2006">
              <mc:Choice xmlns:v="urn:schemas-microsoft-com:vml" Requires="v">
                <p:oleObj spid="_x0000_s83998" name="公式" r:id="rId3" imgW="558558" imgH="482391" progId="Equation.3">
                  <p:embed/>
                </p:oleObj>
              </mc:Choice>
              <mc:Fallback>
                <p:oleObj name="公式" r:id="rId3" imgW="558558" imgH="482391"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1928813"/>
                        <a:ext cx="1487487"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2" name="Rectangle 5"/>
          <p:cNvSpPr>
            <a:spLocks noChangeArrowheads="1"/>
          </p:cNvSpPr>
          <p:nvPr/>
        </p:nvSpPr>
        <p:spPr bwMode="auto">
          <a:xfrm>
            <a:off x="1571625" y="2214563"/>
            <a:ext cx="7858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1.</a:t>
            </a:r>
          </a:p>
        </p:txBody>
      </p:sp>
      <p:sp>
        <p:nvSpPr>
          <p:cNvPr id="83973" name="Rectangle 5"/>
          <p:cNvSpPr>
            <a:spLocks noChangeArrowheads="1"/>
          </p:cNvSpPr>
          <p:nvPr/>
        </p:nvSpPr>
        <p:spPr bwMode="auto">
          <a:xfrm>
            <a:off x="4214813" y="2428875"/>
            <a:ext cx="4714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直接不写</a:t>
            </a:r>
            <a:r>
              <a:rPr lang="en-US" altLang="zh-CN" sz="1800" b="1" dirty="0">
                <a:solidFill>
                  <a:srgbClr val="3366FF"/>
                </a:solidFill>
                <a:latin typeface="方正粗黑宋简体" panose="02000000000000000000" pitchFamily="2" charset="-122"/>
                <a:ea typeface="方正粗黑宋简体" panose="02000000000000000000" pitchFamily="2" charset="-122"/>
              </a:rPr>
              <a:t>z</a:t>
            </a:r>
            <a:r>
              <a:rPr lang="zh-CN" altLang="en-US" sz="1800" b="1" dirty="0">
                <a:solidFill>
                  <a:srgbClr val="3366FF"/>
                </a:solidFill>
                <a:latin typeface="方正粗黑宋简体" panose="02000000000000000000" pitchFamily="2" charset="-122"/>
                <a:ea typeface="方正粗黑宋简体" panose="02000000000000000000" pitchFamily="2" charset="-122"/>
              </a:rPr>
              <a:t>坐标是正交投影</a:t>
            </a:r>
            <a:endParaRPr lang="en-US" altLang="zh-CN" sz="1800" b="1" dirty="0">
              <a:solidFill>
                <a:srgbClr val="3366FF"/>
              </a:solidFill>
              <a:latin typeface="方正粗黑宋简体" panose="02000000000000000000" pitchFamily="2" charset="-122"/>
              <a:ea typeface="方正粗黑宋简体" panose="02000000000000000000" pitchFamily="2" charset="-122"/>
            </a:endParaRPr>
          </a:p>
        </p:txBody>
      </p:sp>
      <p:sp>
        <p:nvSpPr>
          <p:cNvPr id="83974" name="Rectangle 5"/>
          <p:cNvSpPr>
            <a:spLocks noChangeArrowheads="1"/>
          </p:cNvSpPr>
          <p:nvPr/>
        </p:nvSpPr>
        <p:spPr bwMode="auto">
          <a:xfrm>
            <a:off x="1500188" y="3786188"/>
            <a:ext cx="785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2.</a:t>
            </a:r>
          </a:p>
        </p:txBody>
      </p:sp>
      <p:graphicFrame>
        <p:nvGraphicFramePr>
          <p:cNvPr id="83975" name="Object 3"/>
          <p:cNvGraphicFramePr>
            <a:graphicFrameLocks noChangeAspect="1"/>
          </p:cNvGraphicFramePr>
          <p:nvPr/>
        </p:nvGraphicFramePr>
        <p:xfrm>
          <a:off x="2357438" y="3286125"/>
          <a:ext cx="3109912" cy="1279525"/>
        </p:xfrm>
        <a:graphic>
          <a:graphicData uri="http://schemas.openxmlformats.org/presentationml/2006/ole">
            <mc:AlternateContent xmlns:mc="http://schemas.openxmlformats.org/markup-compatibility/2006">
              <mc:Choice xmlns:v="urn:schemas-microsoft-com:vml" Requires="v">
                <p:oleObj spid="_x0000_s83999" name="公式" r:id="rId5" imgW="1167893" imgH="482391" progId="Equation.3">
                  <p:embed/>
                </p:oleObj>
              </mc:Choice>
              <mc:Fallback>
                <p:oleObj name="公式" r:id="rId5" imgW="1167893" imgH="482391"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7438" y="3286125"/>
                        <a:ext cx="3109912"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6" name="Rectangle 5"/>
          <p:cNvSpPr>
            <a:spLocks noChangeArrowheads="1"/>
          </p:cNvSpPr>
          <p:nvPr/>
        </p:nvSpPr>
        <p:spPr bwMode="auto">
          <a:xfrm>
            <a:off x="5715000" y="3786188"/>
            <a:ext cx="3143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线性运算是</a:t>
            </a:r>
            <a:r>
              <a:rPr lang="zh-CN" altLang="en-US" sz="1800" b="1" dirty="0">
                <a:solidFill>
                  <a:srgbClr val="3366FF"/>
                </a:solidFill>
                <a:latin typeface="方正粗黑宋简体" panose="02000000000000000000" pitchFamily="2" charset="-122"/>
                <a:ea typeface="方正粗黑宋简体" panose="02000000000000000000" pitchFamily="2" charset="-122"/>
              </a:rPr>
              <a:t>斜投影</a:t>
            </a:r>
            <a:endParaRPr lang="en-US" altLang="zh-CN" sz="1800" b="1" dirty="0">
              <a:solidFill>
                <a:srgbClr val="3366FF"/>
              </a:solidFill>
              <a:latin typeface="方正粗黑宋简体" panose="02000000000000000000" pitchFamily="2" charset="-122"/>
              <a:ea typeface="方正粗黑宋简体" panose="02000000000000000000" pitchFamily="2" charset="-122"/>
            </a:endParaRPr>
          </a:p>
        </p:txBody>
      </p:sp>
      <p:sp>
        <p:nvSpPr>
          <p:cNvPr id="83977" name="Rectangle 5"/>
          <p:cNvSpPr>
            <a:spLocks noChangeArrowheads="1"/>
          </p:cNvSpPr>
          <p:nvPr/>
        </p:nvSpPr>
        <p:spPr bwMode="auto">
          <a:xfrm>
            <a:off x="1428750" y="5072063"/>
            <a:ext cx="7858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3.</a:t>
            </a:r>
          </a:p>
        </p:txBody>
      </p:sp>
      <p:graphicFrame>
        <p:nvGraphicFramePr>
          <p:cNvPr id="83978" name="Object 4"/>
          <p:cNvGraphicFramePr>
            <a:graphicFrameLocks noChangeAspect="1"/>
          </p:cNvGraphicFramePr>
          <p:nvPr/>
        </p:nvGraphicFramePr>
        <p:xfrm>
          <a:off x="2428875" y="4568825"/>
          <a:ext cx="1554163" cy="2289175"/>
        </p:xfrm>
        <a:graphic>
          <a:graphicData uri="http://schemas.openxmlformats.org/presentationml/2006/ole">
            <mc:AlternateContent xmlns:mc="http://schemas.openxmlformats.org/markup-compatibility/2006">
              <mc:Choice xmlns:v="urn:schemas-microsoft-com:vml" Requires="v">
                <p:oleObj spid="_x0000_s84000" name="公式" r:id="rId7" imgW="583947" imgH="863225" progId="Equation.3">
                  <p:embed/>
                </p:oleObj>
              </mc:Choice>
              <mc:Fallback>
                <p:oleObj name="公式" r:id="rId7" imgW="583947" imgH="863225"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8875" y="4568825"/>
                        <a:ext cx="1554163"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9" name="Rectangle 5"/>
          <p:cNvSpPr>
            <a:spLocks noChangeArrowheads="1"/>
          </p:cNvSpPr>
          <p:nvPr/>
        </p:nvSpPr>
        <p:spPr bwMode="auto">
          <a:xfrm>
            <a:off x="5143500" y="5500688"/>
            <a:ext cx="3643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  非线性运算是</a:t>
            </a:r>
            <a:r>
              <a:rPr lang="zh-CN" altLang="en-US" sz="1800" b="1" dirty="0">
                <a:solidFill>
                  <a:srgbClr val="3366FF"/>
                </a:solidFill>
                <a:latin typeface="方正粗黑宋简体" panose="02000000000000000000" pitchFamily="2" charset="-122"/>
                <a:ea typeface="方正粗黑宋简体" panose="02000000000000000000" pitchFamily="2" charset="-122"/>
              </a:rPr>
              <a:t>透视投影</a:t>
            </a:r>
            <a:endParaRPr lang="en-US" altLang="zh-CN" sz="1800" b="1" dirty="0">
              <a:solidFill>
                <a:srgbClr val="3366FF"/>
              </a:solidFill>
              <a:latin typeface="方正粗黑宋简体" panose="02000000000000000000" pitchFamily="2" charset="-122"/>
              <a:ea typeface="方正粗黑宋简体" panose="02000000000000000000"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6"/>
          <p:cNvSpPr>
            <a:spLocks noChangeArrowheads="1"/>
          </p:cNvSpPr>
          <p:nvPr/>
        </p:nvSpPr>
        <p:spPr bwMode="auto">
          <a:xfrm>
            <a:off x="3635375" y="5445125"/>
            <a:ext cx="3597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zh-CN" altLang="en-US" sz="2000"/>
              <a:t>图</a:t>
            </a:r>
            <a:r>
              <a:rPr lang="en-US" altLang="zh-CN" sz="2000"/>
              <a:t>6-32 </a:t>
            </a:r>
            <a:r>
              <a:rPr lang="zh-CN" altLang="en-US" sz="2000"/>
              <a:t>透视变换中的深度信息</a:t>
            </a:r>
          </a:p>
        </p:txBody>
      </p:sp>
      <p:sp>
        <p:nvSpPr>
          <p:cNvPr id="112642" name="Rectangle 2"/>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graphicFrame>
        <p:nvGraphicFramePr>
          <p:cNvPr id="84996" name="Object 1"/>
          <p:cNvGraphicFramePr>
            <a:graphicFrameLocks noChangeAspect="1"/>
          </p:cNvGraphicFramePr>
          <p:nvPr/>
        </p:nvGraphicFramePr>
        <p:xfrm>
          <a:off x="2000250" y="1428750"/>
          <a:ext cx="6515100" cy="3000375"/>
        </p:xfrm>
        <a:graphic>
          <a:graphicData uri="http://schemas.openxmlformats.org/presentationml/2006/ole">
            <mc:AlternateContent xmlns:mc="http://schemas.openxmlformats.org/markup-compatibility/2006">
              <mc:Choice xmlns:v="urn:schemas-microsoft-com:vml" Requires="v">
                <p:oleObj spid="_x0000_s85003" name="Visio" r:id="rId3" imgW="4944007" imgH="2275027" progId="Visio.Drawing.11">
                  <p:embed/>
                </p:oleObj>
              </mc:Choice>
              <mc:Fallback>
                <p:oleObj name="Visio" r:id="rId3" imgW="4944007" imgH="227502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1428750"/>
                        <a:ext cx="65151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4"/>
          <p:cNvSpPr>
            <a:spLocks noChangeArrowheads="1"/>
          </p:cNvSpPr>
          <p:nvPr/>
        </p:nvSpPr>
        <p:spPr bwMode="auto">
          <a:xfrm>
            <a:off x="1258888" y="260350"/>
            <a:ext cx="5545137" cy="457200"/>
          </a:xfrm>
          <a:prstGeom prst="rect">
            <a:avLst/>
          </a:prstGeom>
          <a:noFill/>
          <a:ln w="9525">
            <a:noFill/>
            <a:miter lim="800000"/>
            <a:headEnd/>
            <a:tailEnd/>
          </a:ln>
        </p:spPr>
        <p:txBody>
          <a:bodyPr>
            <a:spAutoFit/>
          </a:bodyPr>
          <a:lstStyle/>
          <a:p>
            <a:pPr eaLnBrk="1" hangingPunct="1">
              <a:buFont typeface="Arial" charset="0"/>
              <a:buNone/>
              <a:defRPr/>
            </a:pPr>
            <a:r>
              <a:rPr lang="en-US" altLang="zh-CN" b="1" dirty="0">
                <a:effectLst>
                  <a:outerShdw blurRad="38100" dist="38100" dir="2700000" algn="tl">
                    <a:srgbClr val="C0C0C0"/>
                  </a:outerShdw>
                </a:effectLst>
                <a:latin typeface="楷体_GB2312" pitchFamily="49" charset="-122"/>
              </a:rPr>
              <a:t>6.6.5 </a:t>
            </a:r>
            <a:r>
              <a:rPr lang="zh-CN" altLang="en-US" b="1" dirty="0">
                <a:effectLst>
                  <a:outerShdw blurRad="38100" dist="38100" dir="2700000" algn="tl">
                    <a:srgbClr val="C0C0C0"/>
                  </a:outerShdw>
                </a:effectLst>
              </a:rPr>
              <a:t>计算透视投影的伪深度坐标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8" name="Object 13"/>
          <p:cNvGraphicFramePr>
            <a:graphicFrameLocks noChangeAspect="1"/>
          </p:cNvGraphicFramePr>
          <p:nvPr/>
        </p:nvGraphicFramePr>
        <p:xfrm>
          <a:off x="2844800" y="3213100"/>
          <a:ext cx="4751388" cy="2867025"/>
        </p:xfrm>
        <a:graphic>
          <a:graphicData uri="http://schemas.openxmlformats.org/presentationml/2006/ole">
            <mc:AlternateContent xmlns:mc="http://schemas.openxmlformats.org/markup-compatibility/2006">
              <mc:Choice xmlns:v="urn:schemas-microsoft-com:vml" Requires="v">
                <p:oleObj spid="_x0000_s86028" r:id="rId3" imgW="5459721" imgH="3311347" progId="Visio.Drawing.11">
                  <p:embed/>
                </p:oleObj>
              </mc:Choice>
              <mc:Fallback>
                <p:oleObj r:id="rId3" imgW="5459721" imgH="3311347" progId="Visio.Drawing.11">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800" y="3213100"/>
                        <a:ext cx="4751388"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19" name="Rectangle 5"/>
          <p:cNvSpPr>
            <a:spLocks noChangeArrowheads="1"/>
          </p:cNvSpPr>
          <p:nvPr/>
        </p:nvSpPr>
        <p:spPr bwMode="auto">
          <a:xfrm>
            <a:off x="1476375" y="765175"/>
            <a:ext cx="72723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楷体_GB2312" pitchFamily="49" charset="-122"/>
              </a:rPr>
              <a:t>    对于透视投影，场景中所有投影均位于以视点为顶点，连接视点与屏幕四角点为棱边的没有底面的四棱锥内。</a:t>
            </a:r>
            <a:r>
              <a:rPr lang="zh-CN" altLang="en-US"/>
              <a:t>当屏幕离视点太近或太远时，物体因变得太大或太小而不可识别。定义视域四棱锥的</a:t>
            </a:r>
            <a:r>
              <a:rPr lang="en-US" altLang="zh-CN"/>
              <a:t>z</a:t>
            </a:r>
            <a:r>
              <a:rPr lang="zh-CN" altLang="en-US"/>
              <a:t>向近剪切面和远剪切面分别为</a:t>
            </a:r>
            <a:r>
              <a:rPr lang="en-US" altLang="zh-CN"/>
              <a:t>Near</a:t>
            </a:r>
            <a:r>
              <a:rPr lang="zh-CN" altLang="en-US"/>
              <a:t>和</a:t>
            </a:r>
            <a:r>
              <a:rPr lang="en-US" altLang="zh-CN"/>
              <a:t>Far </a:t>
            </a:r>
            <a:r>
              <a:rPr lang="zh-CN" altLang="en-US"/>
              <a:t>，经</a:t>
            </a:r>
            <a:r>
              <a:rPr lang="en-US" altLang="zh-CN"/>
              <a:t>z</a:t>
            </a:r>
            <a:r>
              <a:rPr lang="en-US" altLang="zh-CN" baseline="-25000"/>
              <a:t>v</a:t>
            </a:r>
            <a:r>
              <a:rPr lang="zh-CN" altLang="en-US"/>
              <a:t>向裁剪后的视域四棱锥转化为四棱台。 </a:t>
            </a:r>
            <a:r>
              <a:rPr lang="zh-CN" altLang="en-US">
                <a:latin typeface="楷体_GB2312" pitchFamily="49" charset="-122"/>
              </a:rPr>
              <a:t> </a:t>
            </a:r>
          </a:p>
        </p:txBody>
      </p:sp>
      <p:sp>
        <p:nvSpPr>
          <p:cNvPr id="86020" name="Rectangle 10"/>
          <p:cNvSpPr>
            <a:spLocks noChangeArrowheads="1"/>
          </p:cNvSpPr>
          <p:nvPr/>
        </p:nvSpPr>
        <p:spPr bwMode="auto">
          <a:xfrm>
            <a:off x="3779838" y="6237288"/>
            <a:ext cx="271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透视投影的</a:t>
            </a:r>
            <a:r>
              <a:rPr lang="zh-CN" altLang="en-US">
                <a:solidFill>
                  <a:srgbClr val="FF0000"/>
                </a:solidFill>
              </a:rPr>
              <a:t>视景体</a:t>
            </a:r>
            <a:r>
              <a:rPr lang="zh-CN" altLang="en-US"/>
              <a:t> </a:t>
            </a:r>
          </a:p>
        </p:txBody>
      </p:sp>
      <p:sp>
        <p:nvSpPr>
          <p:cNvPr id="86021" name="AutoShape 11"/>
          <p:cNvSpPr>
            <a:spLocks/>
          </p:cNvSpPr>
          <p:nvPr/>
        </p:nvSpPr>
        <p:spPr bwMode="auto">
          <a:xfrm>
            <a:off x="5292725" y="3141663"/>
            <a:ext cx="1079500" cy="287337"/>
          </a:xfrm>
          <a:prstGeom prst="callout1">
            <a:avLst>
              <a:gd name="adj1" fmla="val 39778"/>
              <a:gd name="adj2" fmla="val -7060"/>
              <a:gd name="adj3" fmla="val 632597"/>
              <a:gd name="adj4" fmla="val -44264"/>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sz="2000">
                <a:latin typeface="Times New Roman" panose="02020603050405020304" pitchFamily="18" charset="0"/>
                <a:ea typeface="宋体" panose="02010600030101010101" pitchFamily="2" charset="-122"/>
              </a:rPr>
              <a:t>近剪切面</a:t>
            </a:r>
            <a:endParaRPr lang="en-US" altLang="zh-CN" sz="2000"/>
          </a:p>
        </p:txBody>
      </p:sp>
      <p:sp>
        <p:nvSpPr>
          <p:cNvPr id="86022" name="AutoShape 12"/>
          <p:cNvSpPr>
            <a:spLocks/>
          </p:cNvSpPr>
          <p:nvPr/>
        </p:nvSpPr>
        <p:spPr bwMode="auto">
          <a:xfrm>
            <a:off x="7380288" y="3284538"/>
            <a:ext cx="1192212" cy="360362"/>
          </a:xfrm>
          <a:prstGeom prst="callout1">
            <a:avLst>
              <a:gd name="adj1" fmla="val 31718"/>
              <a:gd name="adj2" fmla="val -8134"/>
              <a:gd name="adj3" fmla="val 396917"/>
              <a:gd name="adj4" fmla="val -63727"/>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just" eaLnBrk="1" hangingPunct="1">
              <a:buFont typeface="Arial" panose="020B0604020202020204" pitchFamily="34" charset="0"/>
              <a:buNone/>
            </a:pPr>
            <a:r>
              <a:rPr lang="zh-CN" altLang="en-US" sz="2000"/>
              <a:t>远剪切面</a:t>
            </a:r>
            <a:endParaRPr lang="en-US" altLang="zh-CN" sz="2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4"/>
          <p:cNvGraphicFramePr>
            <a:graphicFrameLocks noChangeAspect="1"/>
          </p:cNvGraphicFramePr>
          <p:nvPr/>
        </p:nvGraphicFramePr>
        <p:xfrm>
          <a:off x="3059113" y="260350"/>
          <a:ext cx="3529012" cy="1863725"/>
        </p:xfrm>
        <a:graphic>
          <a:graphicData uri="http://schemas.openxmlformats.org/presentationml/2006/ole">
            <mc:AlternateContent xmlns:mc="http://schemas.openxmlformats.org/markup-compatibility/2006">
              <mc:Choice xmlns:v="urn:schemas-microsoft-com:vml" Requires="v">
                <p:oleObj spid="_x0000_s87060" r:id="rId3" imgW="5198974" imgH="2744724" progId="Visio.Drawing.11">
                  <p:embed/>
                </p:oleObj>
              </mc:Choice>
              <mc:Fallback>
                <p:oleObj r:id="rId3" imgW="5198974" imgH="2744724"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260350"/>
                        <a:ext cx="3529012"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3" name="Rectangle 5"/>
          <p:cNvSpPr>
            <a:spLocks noChangeArrowheads="1"/>
          </p:cNvSpPr>
          <p:nvPr/>
        </p:nvSpPr>
        <p:spPr bwMode="auto">
          <a:xfrm>
            <a:off x="3492500" y="2420938"/>
            <a:ext cx="271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平行投影的视景体 </a:t>
            </a:r>
          </a:p>
        </p:txBody>
      </p:sp>
      <p:sp>
        <p:nvSpPr>
          <p:cNvPr id="87044" name="Rectangle 6"/>
          <p:cNvSpPr>
            <a:spLocks noChangeArrowheads="1"/>
          </p:cNvSpPr>
          <p:nvPr/>
        </p:nvSpPr>
        <p:spPr bwMode="auto">
          <a:xfrm>
            <a:off x="1258888" y="3141663"/>
            <a:ext cx="569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物体在屏幕坐标系中的深度计算公式为</a:t>
            </a:r>
          </a:p>
        </p:txBody>
      </p:sp>
      <p:graphicFrame>
        <p:nvGraphicFramePr>
          <p:cNvPr id="87045" name="Object 6"/>
          <p:cNvGraphicFramePr>
            <a:graphicFrameLocks noChangeAspect="1"/>
          </p:cNvGraphicFramePr>
          <p:nvPr/>
        </p:nvGraphicFramePr>
        <p:xfrm>
          <a:off x="3203575" y="3789363"/>
          <a:ext cx="3240088" cy="941387"/>
        </p:xfrm>
        <a:graphic>
          <a:graphicData uri="http://schemas.openxmlformats.org/presentationml/2006/ole">
            <mc:AlternateContent xmlns:mc="http://schemas.openxmlformats.org/markup-compatibility/2006">
              <mc:Choice xmlns:v="urn:schemas-microsoft-com:vml" Requires="v">
                <p:oleObj spid="_x0000_s87061" r:id="rId5" imgW="1409700" imgH="406400" progId="Equation.3">
                  <p:embed/>
                </p:oleObj>
              </mc:Choice>
              <mc:Fallback>
                <p:oleObj r:id="rId5" imgW="1409700" imgH="4064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789363"/>
                        <a:ext cx="3240088"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7046" name="Rectangle 10"/>
          <p:cNvSpPr>
            <a:spLocks noChangeArrowheads="1"/>
          </p:cNvSpPr>
          <p:nvPr/>
        </p:nvSpPr>
        <p:spPr bwMode="auto">
          <a:xfrm>
            <a:off x="7739063" y="4292600"/>
            <a:ext cx="14049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a:t>
            </a:r>
            <a:r>
              <a:rPr lang="en-US" altLang="zh-CN"/>
              <a:t>6-61</a:t>
            </a:r>
            <a:r>
              <a:rPr lang="zh-CN" altLang="en-US"/>
              <a:t>）</a:t>
            </a:r>
          </a:p>
        </p:txBody>
      </p:sp>
      <p:sp>
        <p:nvSpPr>
          <p:cNvPr id="87047" name="Rectangle 11"/>
          <p:cNvSpPr>
            <a:spLocks noChangeArrowheads="1"/>
          </p:cNvSpPr>
          <p:nvPr/>
        </p:nvSpPr>
        <p:spPr bwMode="auto">
          <a:xfrm>
            <a:off x="1403350" y="5336015"/>
            <a:ext cx="73437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dirty="0"/>
              <a:t>式中，</a:t>
            </a:r>
            <a:r>
              <a:rPr lang="en-US" altLang="zh-CN" sz="1800" b="1" dirty="0">
                <a:solidFill>
                  <a:srgbClr val="3366FF"/>
                </a:solidFill>
                <a:latin typeface="方正粗黑宋简体" panose="02000000000000000000" pitchFamily="2" charset="-122"/>
                <a:ea typeface="方正粗黑宋简体" panose="02000000000000000000" pitchFamily="2" charset="-122"/>
              </a:rPr>
              <a:t>Near</a:t>
            </a:r>
            <a:r>
              <a:rPr lang="zh-CN" altLang="en-US" sz="1800" b="1" dirty="0">
                <a:solidFill>
                  <a:srgbClr val="3366FF"/>
                </a:solidFill>
                <a:latin typeface="方正粗黑宋简体" panose="02000000000000000000" pitchFamily="2" charset="-122"/>
                <a:ea typeface="方正粗黑宋简体" panose="02000000000000000000" pitchFamily="2" charset="-122"/>
              </a:rPr>
              <a:t>和</a:t>
            </a:r>
            <a:r>
              <a:rPr lang="en-US" altLang="zh-CN" sz="1800" b="1" dirty="0">
                <a:solidFill>
                  <a:srgbClr val="3366FF"/>
                </a:solidFill>
                <a:latin typeface="方正粗黑宋简体" panose="02000000000000000000" pitchFamily="2" charset="-122"/>
                <a:ea typeface="方正粗黑宋简体" panose="02000000000000000000" pitchFamily="2" charset="-122"/>
              </a:rPr>
              <a:t>Far</a:t>
            </a:r>
            <a:r>
              <a:rPr lang="zh-CN" altLang="en-US" sz="1800" b="1" dirty="0">
                <a:solidFill>
                  <a:srgbClr val="3366FF"/>
                </a:solidFill>
                <a:latin typeface="方正粗黑宋简体" panose="02000000000000000000" pitchFamily="2" charset="-122"/>
                <a:ea typeface="方正粗黑宋简体" panose="02000000000000000000" pitchFamily="2" charset="-122"/>
              </a:rPr>
              <a:t>是常数</a:t>
            </a:r>
            <a:r>
              <a:rPr lang="zh-CN" altLang="en-US" dirty="0"/>
              <a:t>，且</a:t>
            </a:r>
            <a:r>
              <a:rPr lang="en-US" altLang="zh-CN" dirty="0"/>
              <a:t>Near</a:t>
            </a:r>
            <a:r>
              <a:rPr lang="zh-CN" altLang="en-US" dirty="0"/>
              <a:t>就是</a:t>
            </a:r>
            <a:r>
              <a:rPr lang="zh-CN" altLang="en-US" sz="1800" b="1" dirty="0">
                <a:solidFill>
                  <a:srgbClr val="3366FF"/>
                </a:solidFill>
                <a:latin typeface="方正粗黑宋简体" panose="02000000000000000000" pitchFamily="2" charset="-122"/>
                <a:ea typeface="方正粗黑宋简体" panose="02000000000000000000" pitchFamily="2" charset="-122"/>
              </a:rPr>
              <a:t>视距</a:t>
            </a:r>
            <a:r>
              <a:rPr lang="en-US" altLang="zh-CN" sz="1800" b="1" dirty="0">
                <a:solidFill>
                  <a:srgbClr val="3366FF"/>
                </a:solidFill>
                <a:latin typeface="方正粗黑宋简体" panose="02000000000000000000" pitchFamily="2" charset="-122"/>
                <a:ea typeface="方正粗黑宋简体" panose="02000000000000000000" pitchFamily="2" charset="-122"/>
              </a:rPr>
              <a:t>d</a:t>
            </a:r>
            <a:r>
              <a:rPr lang="zh-CN" altLang="en-US" dirty="0"/>
              <a:t>。透视变换的一个重要性质是把直线映射为直线，平面映射为平面。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6"/>
          <p:cNvSpPr>
            <a:spLocks noChangeArrowheads="1"/>
          </p:cNvSpPr>
          <p:nvPr/>
        </p:nvSpPr>
        <p:spPr bwMode="auto">
          <a:xfrm>
            <a:off x="4000500" y="5429250"/>
            <a:ext cx="2235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r>
              <a:rPr lang="zh-CN" altLang="en-US" sz="2000"/>
              <a:t>图</a:t>
            </a:r>
            <a:r>
              <a:rPr lang="en-US" altLang="zh-CN" sz="2000"/>
              <a:t>6-34</a:t>
            </a:r>
            <a:r>
              <a:rPr lang="zh-CN" altLang="en-US" sz="2000"/>
              <a:t>间距变化图</a:t>
            </a:r>
          </a:p>
        </p:txBody>
      </p:sp>
      <p:sp>
        <p:nvSpPr>
          <p:cNvPr id="112642" name="Rectangle 2"/>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sp>
        <p:nvSpPr>
          <p:cNvPr id="136196" name="Rectangle 4"/>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graphicFrame>
        <p:nvGraphicFramePr>
          <p:cNvPr id="88069" name="Object 3"/>
          <p:cNvGraphicFramePr>
            <a:graphicFrameLocks noChangeAspect="1"/>
          </p:cNvGraphicFramePr>
          <p:nvPr/>
        </p:nvGraphicFramePr>
        <p:xfrm>
          <a:off x="1071563" y="2071688"/>
          <a:ext cx="7804150" cy="2286000"/>
        </p:xfrm>
        <a:graphic>
          <a:graphicData uri="http://schemas.openxmlformats.org/presentationml/2006/ole">
            <mc:AlternateContent xmlns:mc="http://schemas.openxmlformats.org/markup-compatibility/2006">
              <mc:Choice xmlns:v="urn:schemas-microsoft-com:vml" Requires="v">
                <p:oleObj spid="_x0000_s88075" name="Visio" r:id="rId3" imgW="6472961" imgH="1900661" progId="Visio.Drawing.11">
                  <p:embed/>
                </p:oleObj>
              </mc:Choice>
              <mc:Fallback>
                <p:oleObj name="Visio" r:id="rId3" imgW="6472961" imgH="1900661"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2071688"/>
                        <a:ext cx="78041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6"/>
          <p:cNvSpPr>
            <a:spLocks noChangeArrowheads="1"/>
          </p:cNvSpPr>
          <p:nvPr/>
        </p:nvSpPr>
        <p:spPr bwMode="auto">
          <a:xfrm>
            <a:off x="3643313" y="5929313"/>
            <a:ext cx="326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latin typeface="楷体_GB2312" pitchFamily="49" charset="-122"/>
              </a:rPr>
              <a:t>图</a:t>
            </a:r>
            <a:r>
              <a:rPr lang="en-US" altLang="zh-CN" sz="2000">
                <a:latin typeface="楷体_GB2312" pitchFamily="49" charset="-122"/>
              </a:rPr>
              <a:t>6-35 </a:t>
            </a:r>
            <a:r>
              <a:rPr lang="zh-CN" altLang="en-US" sz="2000">
                <a:latin typeface="楷体_GB2312" pitchFamily="49" charset="-122"/>
              </a:rPr>
              <a:t>坐标系相对关系图 </a:t>
            </a:r>
          </a:p>
        </p:txBody>
      </p:sp>
      <p:sp>
        <p:nvSpPr>
          <p:cNvPr id="82949" name="Rectangle 5"/>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sp>
        <p:nvSpPr>
          <p:cNvPr id="82951" name="Rectangle 7"/>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graphicFrame>
        <p:nvGraphicFramePr>
          <p:cNvPr id="89093" name="Object 6"/>
          <p:cNvGraphicFramePr>
            <a:graphicFrameLocks noChangeAspect="1"/>
          </p:cNvGraphicFramePr>
          <p:nvPr/>
        </p:nvGraphicFramePr>
        <p:xfrm>
          <a:off x="1785938" y="1000125"/>
          <a:ext cx="6929437" cy="4613275"/>
        </p:xfrm>
        <a:graphic>
          <a:graphicData uri="http://schemas.openxmlformats.org/presentationml/2006/ole">
            <mc:AlternateContent xmlns:mc="http://schemas.openxmlformats.org/markup-compatibility/2006">
              <mc:Choice xmlns:v="urn:schemas-microsoft-com:vml" Requires="v">
                <p:oleObj spid="_x0000_s89099" name="Visio" r:id="rId3" imgW="5387744" imgH="3586169" progId="Visio.Drawing.11">
                  <p:embed/>
                </p:oleObj>
              </mc:Choice>
              <mc:Fallback>
                <p:oleObj name="Visio" r:id="rId3" imgW="5387744" imgH="3586169"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38" y="1000125"/>
                        <a:ext cx="6929437"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Rectangle 5"/>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sp>
        <p:nvSpPr>
          <p:cNvPr id="82951" name="Rectangle 7"/>
          <p:cNvSpPr>
            <a:spLocks noChangeArrowheads="1"/>
          </p:cNvSpPr>
          <p:nvPr/>
        </p:nvSpPr>
        <p:spPr bwMode="auto">
          <a:xfrm>
            <a:off x="0" y="0"/>
            <a:ext cx="9144000" cy="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p>
        </p:txBody>
      </p:sp>
      <p:sp>
        <p:nvSpPr>
          <p:cNvPr id="137219" name="Rectangle 3"/>
          <p:cNvSpPr>
            <a:spLocks noChangeArrowheads="1"/>
          </p:cNvSpPr>
          <p:nvPr/>
        </p:nvSpPr>
        <p:spPr bwMode="auto">
          <a:xfrm>
            <a:off x="928688" y="857250"/>
            <a:ext cx="8215312" cy="3170238"/>
          </a:xfrm>
          <a:prstGeom prst="rect">
            <a:avLst/>
          </a:prstGeom>
          <a:noFill/>
          <a:ln w="9525">
            <a:noFill/>
            <a:miter lim="800000"/>
            <a:headEnd/>
            <a:tailEnd/>
          </a:ln>
          <a:effectLst>
            <a:prstShdw prst="shdw17" dist="17961" dir="2700000">
              <a:schemeClr val="accent1">
                <a:gamma/>
                <a:shade val="60000"/>
                <a:invGamma/>
              </a:schemeClr>
            </a:prstShdw>
          </a:effectLst>
        </p:spPr>
        <p:txBody>
          <a:bodyPr anchor="ctr">
            <a:spAutoFit/>
          </a:bodyPr>
          <a:lstStyle/>
          <a:p>
            <a:pPr indent="265113">
              <a:defRPr/>
            </a:pPr>
            <a:r>
              <a:rPr lang="en-US" altLang="zh-CN" sz="2000">
                <a:latin typeface="宋体" pitchFamily="2" charset="-122"/>
                <a:ea typeface="宋体" pitchFamily="2" charset="-122"/>
                <a:cs typeface="Times New Roman" pitchFamily="18" charset="0"/>
              </a:rPr>
              <a:t>void CTestView::PerProject(CP3 WorldP</a:t>
            </a:r>
          </a:p>
          <a:p>
            <a:pPr indent="265113">
              <a:defRPr/>
            </a:pPr>
            <a:r>
              <a:rPr lang="en-US" altLang="zh-CN" sz="2000">
                <a:latin typeface="宋体" pitchFamily="2" charset="-122"/>
                <a:ea typeface="宋体" pitchFamily="2" charset="-122"/>
                <a:cs typeface="Times New Roman" pitchFamily="18" charset="0"/>
              </a:rPr>
              <a:t>{</a:t>
            </a:r>
          </a:p>
          <a:p>
            <a:pPr indent="265113">
              <a:defRPr/>
            </a:pPr>
            <a:r>
              <a:rPr lang="en-US" altLang="zh-CN" sz="2000">
                <a:latin typeface="宋体" pitchFamily="2" charset="-122"/>
                <a:ea typeface="宋体" pitchFamily="2" charset="-122"/>
              </a:rPr>
              <a:t>	CP3 ViewP, ScreenP;//</a:t>
            </a:r>
            <a:r>
              <a:rPr lang="zh-CN" altLang="en-US" sz="2000">
                <a:latin typeface="宋体" pitchFamily="2" charset="-122"/>
                <a:ea typeface="宋体" pitchFamily="2" charset="-122"/>
              </a:rPr>
              <a:t>三维点</a:t>
            </a:r>
          </a:p>
          <a:p>
            <a:pPr indent="265113">
              <a:defRPr/>
            </a:pPr>
            <a:r>
              <a:rPr lang="zh-CN" altLang="en-US" sz="2000">
                <a:latin typeface="宋体" pitchFamily="2" charset="-122"/>
                <a:ea typeface="宋体" pitchFamily="2" charset="-122"/>
              </a:rPr>
              <a:t>	</a:t>
            </a:r>
            <a:r>
              <a:rPr lang="en-US" altLang="zh-CN" sz="2000">
                <a:latin typeface="宋体" pitchFamily="2" charset="-122"/>
                <a:ea typeface="宋体" pitchFamily="2" charset="-122"/>
              </a:rPr>
              <a:t>ViewP.x=k[3]* WorldP.x-k[1]* WorldP.z; </a:t>
            </a:r>
            <a:endParaRPr lang="zh-CN" altLang="en-US" sz="2000">
              <a:latin typeface="宋体" pitchFamily="2" charset="-122"/>
              <a:ea typeface="宋体" pitchFamily="2" charset="-122"/>
            </a:endParaRPr>
          </a:p>
          <a:p>
            <a:pPr indent="265113">
              <a:defRPr/>
            </a:pPr>
            <a:r>
              <a:rPr lang="zh-CN" altLang="en-US" sz="2000">
                <a:latin typeface="宋体" pitchFamily="2" charset="-122"/>
                <a:ea typeface="宋体" pitchFamily="2" charset="-122"/>
              </a:rPr>
              <a:t>	</a:t>
            </a:r>
            <a:r>
              <a:rPr lang="en-US" altLang="zh-CN" sz="2000">
                <a:latin typeface="宋体" pitchFamily="2" charset="-122"/>
                <a:ea typeface="宋体" pitchFamily="2" charset="-122"/>
              </a:rPr>
              <a:t>ViewP.y=-k[8]* WorldP.x+k[2]* WorldP.y-k[7]* WorldP.z; </a:t>
            </a:r>
            <a:endParaRPr lang="zh-CN" altLang="en-US" sz="2000">
              <a:latin typeface="宋体" pitchFamily="2" charset="-122"/>
              <a:ea typeface="宋体" pitchFamily="2" charset="-122"/>
            </a:endParaRPr>
          </a:p>
          <a:p>
            <a:pPr indent="265113">
              <a:defRPr/>
            </a:pPr>
            <a:r>
              <a:rPr lang="zh-CN" altLang="en-US" sz="2000">
                <a:latin typeface="宋体" pitchFamily="2" charset="-122"/>
                <a:ea typeface="宋体" pitchFamily="2" charset="-122"/>
              </a:rPr>
              <a:t>	</a:t>
            </a:r>
            <a:r>
              <a:rPr lang="en-US" altLang="zh-CN" sz="2000">
                <a:latin typeface="宋体" pitchFamily="2" charset="-122"/>
                <a:ea typeface="宋体" pitchFamily="2" charset="-122"/>
              </a:rPr>
              <a:t>ViewP.z=-k[6]* WorldP.x-k[4]* WorldP.y-k[5]* WorldP.z+R;</a:t>
            </a:r>
          </a:p>
          <a:p>
            <a:pPr indent="265113">
              <a:defRPr/>
            </a:pPr>
            <a:r>
              <a:rPr lang="en-US" altLang="zh-CN" sz="2000">
                <a:latin typeface="宋体" pitchFamily="2" charset="-122"/>
                <a:ea typeface="宋体" pitchFamily="2" charset="-122"/>
              </a:rPr>
              <a:t>	ScreenP.x=d*ViewP.x/ViewP.z; //</a:t>
            </a:r>
            <a:endParaRPr lang="zh-CN" altLang="en-US" sz="2000">
              <a:latin typeface="宋体" pitchFamily="2" charset="-122"/>
              <a:ea typeface="宋体" pitchFamily="2" charset="-122"/>
            </a:endParaRPr>
          </a:p>
          <a:p>
            <a:pPr indent="265113">
              <a:defRPr/>
            </a:pPr>
            <a:r>
              <a:rPr lang="en-US" altLang="zh-CN" sz="2000">
                <a:latin typeface="宋体" pitchFamily="2" charset="-122"/>
                <a:ea typeface="宋体" pitchFamily="2" charset="-122"/>
              </a:rPr>
              <a:t>     ScreenP.y=Round(d*ViewP.y/ViewP.z); </a:t>
            </a:r>
          </a:p>
          <a:p>
            <a:pPr indent="265113">
              <a:defRPr/>
            </a:pPr>
            <a:r>
              <a:rPr lang="en-US" altLang="zh-CN" sz="2000">
                <a:latin typeface="宋体" pitchFamily="2" charset="-122"/>
                <a:ea typeface="宋体" pitchFamily="2" charset="-122"/>
              </a:rPr>
              <a:t>     ScreenP.z=Far*(1-Near/ViewP.z)/(Far-Near);</a:t>
            </a:r>
            <a:endParaRPr lang="zh-CN" altLang="en-US" sz="2000">
              <a:latin typeface="宋体" pitchFamily="2" charset="-122"/>
              <a:ea typeface="宋体" pitchFamily="2" charset="-122"/>
            </a:endParaRPr>
          </a:p>
          <a:p>
            <a:pPr indent="265113">
              <a:defRPr/>
            </a:pPr>
            <a:r>
              <a:rPr lang="en-US" altLang="zh-CN" sz="2000">
                <a:latin typeface="宋体" pitchFamily="2" charset="-122"/>
                <a:ea typeface="宋体" pitchFamily="2" charset="-122"/>
              </a:rPr>
              <a:t>}</a:t>
            </a:r>
          </a:p>
        </p:txBody>
      </p:sp>
      <p:sp>
        <p:nvSpPr>
          <p:cNvPr id="7" name="矩形 6"/>
          <p:cNvSpPr/>
          <p:nvPr/>
        </p:nvSpPr>
        <p:spPr>
          <a:xfrm>
            <a:off x="1285875" y="4929188"/>
            <a:ext cx="6929438" cy="830262"/>
          </a:xfrm>
          <a:prstGeom prst="rect">
            <a:avLst/>
          </a:prstGeom>
        </p:spPr>
        <p:txBody>
          <a:bodyPr>
            <a:spAutoFit/>
          </a:bodyPr>
          <a:lstStyle/>
          <a:p>
            <a:pPr eaLnBrk="1" hangingPunct="1">
              <a:defRPr/>
            </a:pPr>
            <a:r>
              <a:rPr lang="en-US" altLang="zh-CN" sz="2000" dirty="0" err="1">
                <a:solidFill>
                  <a:srgbClr val="000000"/>
                </a:solidFill>
                <a:latin typeface="宋体"/>
                <a:ea typeface="宋体"/>
                <a:cs typeface="Times New Roman" pitchFamily="18" charset="0"/>
              </a:rPr>
              <a:t>WorldP</a:t>
            </a:r>
            <a:r>
              <a:rPr lang="zh-CN" altLang="en-US" sz="2000" dirty="0">
                <a:solidFill>
                  <a:srgbClr val="000000"/>
                </a:solidFill>
                <a:latin typeface="宋体"/>
                <a:ea typeface="宋体"/>
                <a:cs typeface="Times New Roman" pitchFamily="18" charset="0"/>
              </a:rPr>
              <a:t>世界坐标系三维点，</a:t>
            </a:r>
            <a:r>
              <a:rPr lang="en-US" altLang="zh-CN" dirty="0" err="1">
                <a:latin typeface="+mj-ea"/>
                <a:ea typeface="+mj-ea"/>
                <a:cs typeface="Times New Roman" pitchFamily="18" charset="0"/>
              </a:rPr>
              <a:t>ViewP</a:t>
            </a:r>
            <a:r>
              <a:rPr lang="zh-CN" altLang="en-US" dirty="0">
                <a:latin typeface="+mj-ea"/>
                <a:ea typeface="+mj-ea"/>
                <a:cs typeface="Times New Roman" pitchFamily="18" charset="0"/>
              </a:rPr>
              <a:t>观察坐标系三维点，</a:t>
            </a:r>
            <a:r>
              <a:rPr lang="en-US" altLang="zh-CN" dirty="0" err="1">
                <a:latin typeface="+mj-ea"/>
                <a:ea typeface="+mj-ea"/>
                <a:cs typeface="Times New Roman" pitchFamily="18" charset="0"/>
              </a:rPr>
              <a:t>ScreenP</a:t>
            </a:r>
            <a:r>
              <a:rPr lang="zh-CN" altLang="en-US" dirty="0">
                <a:latin typeface="+mj-ea"/>
                <a:ea typeface="+mj-ea"/>
                <a:cs typeface="Times New Roman" pitchFamily="18" charset="0"/>
              </a:rPr>
              <a:t>屏幕坐标系三维点。</a:t>
            </a:r>
            <a:r>
              <a:rPr lang="en-US" altLang="zh-CN" dirty="0" err="1">
                <a:latin typeface="+mj-ea"/>
                <a:ea typeface="+mj-ea"/>
                <a:cs typeface="Times New Roman" pitchFamily="18" charset="0"/>
              </a:rPr>
              <a:t>zs</a:t>
            </a:r>
            <a:r>
              <a:rPr lang="zh-CN" altLang="en-US" dirty="0">
                <a:latin typeface="+mj-ea"/>
                <a:ea typeface="+mj-ea"/>
                <a:cs typeface="Times New Roman" pitchFamily="18" charset="0"/>
              </a:rPr>
              <a:t>为伪深度</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5"/>
          <p:cNvSpPr>
            <a:spLocks noChangeArrowheads="1"/>
          </p:cNvSpPr>
          <p:nvPr/>
        </p:nvSpPr>
        <p:spPr bwMode="auto">
          <a:xfrm>
            <a:off x="1403350" y="1052513"/>
            <a:ext cx="7561263"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zh-CN" altLang="en-US"/>
              <a:t>      在真实感场景中，三维物体的动画主要使用三维几何变换来完成。透视投影是绘制真实感图形的基础，透视投影是在观察坐标系内实施的。物体的旋转动画可以使用两种方法生成，一种方法是物体不动，视点旋转，称为视图变换；另一种方法是物体旋转，视点不动，称为模型变换。真实感光照场景中，由于世界坐标系中设置了光源的位置，物体的旋转主要采用的是模型变换方式，此时视点和光源位置不变，物体旋转生成动画。由于本书配套的实践教程中主要采用双缓冲动画技术绘制物体的透视投影，所以将不再细分一点透视、二点透视和三点透视。</a:t>
            </a:r>
          </a:p>
        </p:txBody>
      </p:sp>
      <p:sp>
        <p:nvSpPr>
          <p:cNvPr id="74755" name="Rectangle 8"/>
          <p:cNvSpPr>
            <a:spLocks noChangeArrowheads="1"/>
          </p:cNvSpPr>
          <p:nvPr/>
        </p:nvSpPr>
        <p:spPr bwMode="auto">
          <a:xfrm>
            <a:off x="3787775" y="385763"/>
            <a:ext cx="2635250" cy="579437"/>
          </a:xfrm>
          <a:prstGeom prst="rect">
            <a:avLst/>
          </a:prstGeom>
          <a:noFill/>
          <a:ln w="9525">
            <a:noFill/>
            <a:miter lim="800000"/>
            <a:headEnd/>
            <a:tailEnd/>
          </a:ln>
        </p:spPr>
        <p:txBody>
          <a:bodyPr wrap="none">
            <a:spAutoFit/>
          </a:bodyPr>
          <a:lstStyle/>
          <a:p>
            <a:pPr algn="ctr" eaLnBrk="1" hangingPunct="1">
              <a:buFont typeface="Arial" charset="0"/>
              <a:buNone/>
              <a:defRPr/>
            </a:pPr>
            <a:r>
              <a:rPr lang="en-US" altLang="zh-CN" sz="3200" b="1">
                <a:effectLst>
                  <a:outerShdw blurRad="38100" dist="38100" dir="2700000" algn="tl">
                    <a:srgbClr val="C0C0C0"/>
                  </a:outerShdw>
                </a:effectLst>
                <a:latin typeface="楷体_GB2312" pitchFamily="49" charset="-122"/>
              </a:rPr>
              <a:t>6.7 </a:t>
            </a:r>
            <a:r>
              <a:rPr lang="zh-CN" altLang="en-US" sz="3200" b="1">
                <a:effectLst>
                  <a:outerShdw blurRad="38100" dist="38100" dir="2700000" algn="tl">
                    <a:srgbClr val="C0C0C0"/>
                  </a:outerShdw>
                </a:effectLst>
                <a:latin typeface="楷体_GB2312" pitchFamily="49" charset="-122"/>
              </a:rPr>
              <a:t>本章小结</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ChangeArrowheads="1"/>
          </p:cNvSpPr>
          <p:nvPr/>
        </p:nvSpPr>
        <p:spPr bwMode="auto">
          <a:xfrm>
            <a:off x="1403350" y="404813"/>
            <a:ext cx="7200900" cy="404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35000"/>
              </a:lnSpc>
              <a:buFont typeface="Arial" panose="020B0604020202020204" pitchFamily="34" charset="0"/>
              <a:buNone/>
            </a:pPr>
            <a:r>
              <a:rPr lang="zh-CN" altLang="en-US"/>
              <a:t>   在三维屏幕坐标系中计算了物体透视投影的相对深度，其绝对深度可以使用观察坐标系内的</a:t>
            </a:r>
            <a:r>
              <a:rPr lang="en-US" altLang="zh-CN"/>
              <a:t>z</a:t>
            </a:r>
            <a:r>
              <a:rPr lang="en-US" altLang="zh-CN" baseline="-25000"/>
              <a:t>v</a:t>
            </a:r>
            <a:r>
              <a:rPr lang="zh-CN" altLang="en-US"/>
              <a:t>来表示，由于观察坐标系内的</a:t>
            </a:r>
            <a:r>
              <a:rPr lang="en-US" altLang="zh-CN"/>
              <a:t>z</a:t>
            </a:r>
            <a:r>
              <a:rPr lang="en-US" altLang="zh-CN" baseline="-25000"/>
              <a:t>v</a:t>
            </a:r>
            <a:r>
              <a:rPr lang="zh-CN" altLang="en-US"/>
              <a:t>值尚未进行透视变换，所以其取值具有不规范等缺陷。通过分析近剪切面</a:t>
            </a:r>
            <a:r>
              <a:rPr lang="en-US" altLang="zh-CN"/>
              <a:t>Near</a:t>
            </a:r>
            <a:r>
              <a:rPr lang="zh-CN" altLang="en-US"/>
              <a:t>和远剪切面</a:t>
            </a:r>
            <a:r>
              <a:rPr lang="en-US" altLang="zh-CN"/>
              <a:t>Far</a:t>
            </a:r>
            <a:r>
              <a:rPr lang="zh-CN" altLang="en-US"/>
              <a:t>的取值范围可以看出，对于观察坐标系中的一个平面，在屏幕坐标系中可以选择无数多个平面与之对应，</a:t>
            </a:r>
            <a:r>
              <a:rPr lang="en-US" altLang="zh-CN"/>
              <a:t>Near</a:t>
            </a:r>
            <a:r>
              <a:rPr lang="zh-CN" altLang="en-US"/>
              <a:t>与</a:t>
            </a:r>
            <a:r>
              <a:rPr lang="en-US" altLang="zh-CN"/>
              <a:t>Far</a:t>
            </a:r>
            <a:r>
              <a:rPr lang="zh-CN" altLang="en-US"/>
              <a:t>的具体数值一般通过试验确定。</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4"/>
          <p:cNvSpPr>
            <a:spLocks noGrp="1" noChangeArrowheads="1"/>
          </p:cNvSpPr>
          <p:nvPr>
            <p:ph type="title" idx="4294967295"/>
          </p:nvPr>
        </p:nvSpPr>
        <p:spPr>
          <a:xfrm>
            <a:off x="3013075" y="0"/>
            <a:ext cx="6130925" cy="923925"/>
          </a:xfrm>
          <a:ln>
            <a:miter lim="800000"/>
            <a:headEnd/>
            <a:tailEnd/>
          </a:ln>
        </p:spPr>
        <p:txBody>
          <a:bodyPr rtlCol="0" anchorCtr="1">
            <a:normAutofit/>
          </a:bodyPr>
          <a:lstStyle/>
          <a:p>
            <a:pPr fontAlgn="auto">
              <a:spcAft>
                <a:spcPts val="0"/>
              </a:spcAft>
              <a:defRPr/>
            </a:pPr>
            <a:r>
              <a:rPr lang="zh-CN" altLang="en-US" sz="3200">
                <a:effectLst>
                  <a:outerShdw blurRad="38100" dist="38100" dir="2700000" algn="tl">
                    <a:srgbClr val="C0C0C0"/>
                  </a:outerShdw>
                </a:effectLst>
                <a:latin typeface="楷体_GB2312" pitchFamily="49" charset="-122"/>
                <a:ea typeface="楷体_GB2312" pitchFamily="49" charset="-122"/>
              </a:rPr>
              <a:t>习题 </a:t>
            </a:r>
            <a:r>
              <a:rPr lang="en-US" altLang="zh-CN" sz="3200">
                <a:effectLst>
                  <a:outerShdw blurRad="38100" dist="38100" dir="2700000" algn="tl">
                    <a:srgbClr val="C0C0C0"/>
                  </a:outerShdw>
                </a:effectLst>
                <a:latin typeface="楷体_GB2312" pitchFamily="49" charset="-122"/>
                <a:ea typeface="楷体_GB2312" pitchFamily="49" charset="-122"/>
              </a:rPr>
              <a:t>6</a:t>
            </a:r>
          </a:p>
        </p:txBody>
      </p:sp>
      <p:sp>
        <p:nvSpPr>
          <p:cNvPr id="93187" name="Rectangle 15"/>
          <p:cNvSpPr>
            <a:spLocks noChangeArrowheads="1"/>
          </p:cNvSpPr>
          <p:nvPr/>
        </p:nvSpPr>
        <p:spPr bwMode="auto">
          <a:xfrm>
            <a:off x="1403350" y="922338"/>
            <a:ext cx="74168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0801013" algn="l"/>
              </a:tabLst>
              <a:defRPr sz="2400">
                <a:solidFill>
                  <a:schemeClr val="tx1"/>
                </a:solidFill>
                <a:latin typeface="Tahoma" panose="020B0604030504040204" pitchFamily="34" charset="0"/>
                <a:ea typeface="楷体_GB2312" pitchFamily="49" charset="-122"/>
              </a:defRPr>
            </a:lvl1pPr>
            <a:lvl2pPr marL="742950" indent="-285750">
              <a:tabLst>
                <a:tab pos="20801013" algn="l"/>
              </a:tabLst>
              <a:defRPr sz="2400">
                <a:solidFill>
                  <a:schemeClr val="tx1"/>
                </a:solidFill>
                <a:latin typeface="Tahoma" panose="020B0604030504040204" pitchFamily="34" charset="0"/>
                <a:ea typeface="楷体_GB2312" pitchFamily="49" charset="-122"/>
              </a:defRPr>
            </a:lvl2pPr>
            <a:lvl3pPr marL="1143000" indent="-228600">
              <a:tabLst>
                <a:tab pos="20801013" algn="l"/>
              </a:tabLst>
              <a:defRPr sz="2400">
                <a:solidFill>
                  <a:schemeClr val="tx1"/>
                </a:solidFill>
                <a:latin typeface="Tahoma" panose="020B0604030504040204" pitchFamily="34" charset="0"/>
                <a:ea typeface="楷体_GB2312" pitchFamily="49" charset="-122"/>
              </a:defRPr>
            </a:lvl3pPr>
            <a:lvl4pPr marL="1600200" indent="-228600">
              <a:tabLst>
                <a:tab pos="20801013" algn="l"/>
              </a:tabLst>
              <a:defRPr sz="2400">
                <a:solidFill>
                  <a:schemeClr val="tx1"/>
                </a:solidFill>
                <a:latin typeface="Tahoma" panose="020B0604030504040204" pitchFamily="34" charset="0"/>
                <a:ea typeface="楷体_GB2312" pitchFamily="49" charset="-122"/>
              </a:defRPr>
            </a:lvl4pPr>
            <a:lvl5pPr marL="2057400" indent="-228600">
              <a:tabLst>
                <a:tab pos="20801013"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20801013"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20801013"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20801013"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20801013"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AutoNum type="arabicPeriod"/>
            </a:pPr>
            <a:r>
              <a:rPr lang="zh-CN" altLang="en-US"/>
              <a:t>长方体如图</a:t>
            </a:r>
            <a:r>
              <a:rPr lang="en-US" altLang="zh-CN"/>
              <a:t>6-33</a:t>
            </a:r>
            <a:r>
              <a:rPr lang="zh-CN" altLang="en-US"/>
              <a:t>所示，</a:t>
            </a:r>
            <a:r>
              <a:rPr lang="en-US" altLang="zh-CN"/>
              <a:t>8</a:t>
            </a:r>
            <a:r>
              <a:rPr lang="zh-CN" altLang="en-US"/>
              <a:t>个坐标分别为</a:t>
            </a:r>
            <a:r>
              <a:rPr lang="en-US" altLang="zh-CN"/>
              <a:t>A</a:t>
            </a:r>
            <a:r>
              <a:rPr lang="zh-CN" altLang="en-US"/>
              <a:t>（</a:t>
            </a:r>
            <a:r>
              <a:rPr lang="en-US" altLang="zh-CN"/>
              <a:t>0</a:t>
            </a:r>
            <a:r>
              <a:rPr lang="zh-CN" altLang="en-US"/>
              <a:t>，</a:t>
            </a:r>
            <a:r>
              <a:rPr lang="en-US" altLang="zh-CN"/>
              <a:t>0</a:t>
            </a:r>
            <a:r>
              <a:rPr lang="zh-CN" altLang="en-US"/>
              <a:t>，</a:t>
            </a:r>
            <a:r>
              <a:rPr lang="en-US" altLang="zh-CN"/>
              <a:t>0</a:t>
            </a:r>
            <a:r>
              <a:rPr lang="zh-CN" altLang="en-US"/>
              <a:t>），</a:t>
            </a:r>
            <a:r>
              <a:rPr lang="en-US" altLang="zh-CN"/>
              <a:t>B</a:t>
            </a:r>
            <a:r>
              <a:rPr lang="zh-CN" altLang="en-US"/>
              <a:t>（</a:t>
            </a:r>
            <a:r>
              <a:rPr lang="en-US" altLang="zh-CN"/>
              <a:t>2</a:t>
            </a:r>
            <a:r>
              <a:rPr lang="zh-CN" altLang="en-US"/>
              <a:t>，</a:t>
            </a:r>
            <a:r>
              <a:rPr lang="en-US" altLang="zh-CN"/>
              <a:t>0</a:t>
            </a:r>
            <a:r>
              <a:rPr lang="zh-CN" altLang="en-US"/>
              <a:t>，</a:t>
            </a:r>
            <a:r>
              <a:rPr lang="en-US" altLang="zh-CN"/>
              <a:t>0</a:t>
            </a:r>
            <a:r>
              <a:rPr lang="zh-CN" altLang="en-US"/>
              <a:t>），</a:t>
            </a:r>
            <a:r>
              <a:rPr lang="en-US" altLang="zh-CN"/>
              <a:t>C</a:t>
            </a:r>
            <a:r>
              <a:rPr lang="zh-CN" altLang="en-US"/>
              <a:t>（</a:t>
            </a:r>
            <a:r>
              <a:rPr lang="en-US" altLang="zh-CN"/>
              <a:t>2</a:t>
            </a:r>
            <a:r>
              <a:rPr lang="zh-CN" altLang="en-US"/>
              <a:t>，</a:t>
            </a:r>
            <a:r>
              <a:rPr lang="en-US" altLang="zh-CN"/>
              <a:t>3</a:t>
            </a:r>
            <a:r>
              <a:rPr lang="zh-CN" altLang="en-US"/>
              <a:t>，</a:t>
            </a:r>
            <a:r>
              <a:rPr lang="en-US" altLang="zh-CN"/>
              <a:t>0</a:t>
            </a:r>
            <a:r>
              <a:rPr lang="zh-CN" altLang="en-US"/>
              <a:t>），</a:t>
            </a:r>
            <a:r>
              <a:rPr lang="en-US" altLang="zh-CN"/>
              <a:t>D</a:t>
            </a:r>
            <a:r>
              <a:rPr lang="zh-CN" altLang="en-US"/>
              <a:t>（</a:t>
            </a:r>
            <a:r>
              <a:rPr lang="en-US" altLang="zh-CN"/>
              <a:t>0</a:t>
            </a:r>
            <a:r>
              <a:rPr lang="zh-CN" altLang="en-US"/>
              <a:t>，</a:t>
            </a:r>
            <a:r>
              <a:rPr lang="en-US" altLang="zh-CN"/>
              <a:t>3</a:t>
            </a:r>
            <a:r>
              <a:rPr lang="zh-CN" altLang="en-US"/>
              <a:t>，</a:t>
            </a:r>
            <a:r>
              <a:rPr lang="en-US" altLang="zh-CN"/>
              <a:t>0</a:t>
            </a:r>
            <a:r>
              <a:rPr lang="zh-CN" altLang="en-US"/>
              <a:t>），</a:t>
            </a:r>
            <a:r>
              <a:rPr lang="en-US" altLang="zh-CN"/>
              <a:t>E</a:t>
            </a:r>
            <a:r>
              <a:rPr lang="zh-CN" altLang="en-US"/>
              <a:t>（</a:t>
            </a:r>
            <a:r>
              <a:rPr lang="en-US" altLang="zh-CN"/>
              <a:t>0</a:t>
            </a:r>
            <a:r>
              <a:rPr lang="zh-CN" altLang="en-US"/>
              <a:t>，</a:t>
            </a:r>
            <a:r>
              <a:rPr lang="en-US" altLang="zh-CN"/>
              <a:t>0</a:t>
            </a:r>
            <a:r>
              <a:rPr lang="zh-CN" altLang="en-US"/>
              <a:t>，</a:t>
            </a:r>
            <a:r>
              <a:rPr lang="en-US" altLang="zh-CN"/>
              <a:t>2</a:t>
            </a:r>
            <a:r>
              <a:rPr lang="zh-CN" altLang="en-US"/>
              <a:t>），</a:t>
            </a:r>
            <a:r>
              <a:rPr lang="en-US" altLang="zh-CN"/>
              <a:t>F</a:t>
            </a:r>
            <a:r>
              <a:rPr lang="zh-CN" altLang="en-US"/>
              <a:t>（</a:t>
            </a:r>
            <a:r>
              <a:rPr lang="en-US" altLang="zh-CN"/>
              <a:t>2</a:t>
            </a:r>
            <a:r>
              <a:rPr lang="zh-CN" altLang="en-US"/>
              <a:t>，</a:t>
            </a:r>
            <a:r>
              <a:rPr lang="en-US" altLang="zh-CN"/>
              <a:t>0</a:t>
            </a:r>
            <a:r>
              <a:rPr lang="zh-CN" altLang="en-US"/>
              <a:t>，</a:t>
            </a:r>
            <a:r>
              <a:rPr lang="en-US" altLang="zh-CN"/>
              <a:t>2</a:t>
            </a:r>
            <a:r>
              <a:rPr lang="zh-CN" altLang="en-US"/>
              <a:t>），</a:t>
            </a:r>
            <a:r>
              <a:rPr lang="en-US" altLang="zh-CN"/>
              <a:t>G</a:t>
            </a:r>
            <a:r>
              <a:rPr lang="zh-CN" altLang="en-US"/>
              <a:t>（</a:t>
            </a:r>
            <a:r>
              <a:rPr lang="en-US" altLang="zh-CN"/>
              <a:t>2</a:t>
            </a:r>
            <a:r>
              <a:rPr lang="zh-CN" altLang="en-US"/>
              <a:t>，</a:t>
            </a:r>
            <a:r>
              <a:rPr lang="en-US" altLang="zh-CN"/>
              <a:t>3</a:t>
            </a:r>
            <a:r>
              <a:rPr lang="zh-CN" altLang="en-US"/>
              <a:t>，</a:t>
            </a:r>
            <a:r>
              <a:rPr lang="en-US" altLang="zh-CN"/>
              <a:t>2</a:t>
            </a:r>
            <a:r>
              <a:rPr lang="zh-CN" altLang="en-US"/>
              <a:t>），</a:t>
            </a:r>
            <a:r>
              <a:rPr lang="en-US" altLang="zh-CN"/>
              <a:t>H</a:t>
            </a:r>
            <a:r>
              <a:rPr lang="zh-CN" altLang="en-US"/>
              <a:t>（</a:t>
            </a:r>
            <a:r>
              <a:rPr lang="en-US" altLang="zh-CN"/>
              <a:t>0</a:t>
            </a:r>
            <a:r>
              <a:rPr lang="zh-CN" altLang="en-US"/>
              <a:t>，</a:t>
            </a:r>
            <a:r>
              <a:rPr lang="en-US" altLang="zh-CN"/>
              <a:t>3</a:t>
            </a:r>
            <a:r>
              <a:rPr lang="zh-CN" altLang="en-US"/>
              <a:t>，</a:t>
            </a:r>
            <a:r>
              <a:rPr lang="en-US" altLang="zh-CN"/>
              <a:t>2</a:t>
            </a:r>
            <a:r>
              <a:rPr lang="zh-CN" altLang="en-US"/>
              <a:t>）。试对长方体进行</a:t>
            </a:r>
            <a:r>
              <a:rPr lang="en-US" altLang="zh-CN"/>
              <a:t>S</a:t>
            </a:r>
            <a:r>
              <a:rPr lang="en-US" altLang="zh-CN" baseline="-25000"/>
              <a:t>x</a:t>
            </a:r>
            <a:r>
              <a:rPr lang="zh-CN" altLang="en-US"/>
              <a:t>＝</a:t>
            </a:r>
            <a:r>
              <a:rPr lang="en-US" altLang="zh-CN"/>
              <a:t>1/2</a:t>
            </a:r>
            <a:r>
              <a:rPr lang="zh-CN" altLang="en-US"/>
              <a:t>，</a:t>
            </a:r>
            <a:r>
              <a:rPr lang="en-US" altLang="zh-CN"/>
              <a:t>S</a:t>
            </a:r>
            <a:r>
              <a:rPr lang="en-US" altLang="zh-CN" baseline="-25000"/>
              <a:t>y</a:t>
            </a:r>
            <a:r>
              <a:rPr lang="zh-CN" altLang="en-US"/>
              <a:t>＝</a:t>
            </a:r>
            <a:r>
              <a:rPr lang="en-US" altLang="zh-CN"/>
              <a:t>1/3</a:t>
            </a:r>
            <a:r>
              <a:rPr lang="zh-CN" altLang="en-US"/>
              <a:t>，</a:t>
            </a:r>
            <a:r>
              <a:rPr lang="en-US" altLang="zh-CN"/>
              <a:t>S</a:t>
            </a:r>
            <a:r>
              <a:rPr lang="en-US" altLang="zh-CN" baseline="-25000"/>
              <a:t>z</a:t>
            </a:r>
            <a:r>
              <a:rPr lang="zh-CN" altLang="en-US"/>
              <a:t>＝</a:t>
            </a:r>
            <a:r>
              <a:rPr lang="en-US" altLang="zh-CN"/>
              <a:t>1/2</a:t>
            </a:r>
            <a:r>
              <a:rPr lang="zh-CN" altLang="en-US"/>
              <a:t>的比例变换，求变换后的长方体各顶点坐标。</a:t>
            </a:r>
          </a:p>
        </p:txBody>
      </p:sp>
      <p:sp>
        <p:nvSpPr>
          <p:cNvPr id="93188" name="Rectangle 18"/>
          <p:cNvSpPr>
            <a:spLocks noChangeArrowheads="1"/>
          </p:cNvSpPr>
          <p:nvPr/>
        </p:nvSpPr>
        <p:spPr bwMode="auto">
          <a:xfrm>
            <a:off x="3714750" y="6215063"/>
            <a:ext cx="297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latin typeface="楷体_GB2312" pitchFamily="49" charset="-122"/>
              </a:rPr>
              <a:t>图</a:t>
            </a:r>
            <a:r>
              <a:rPr lang="en-US" altLang="zh-CN" sz="2000">
                <a:latin typeface="楷体_GB2312" pitchFamily="49" charset="-122"/>
              </a:rPr>
              <a:t>6-32 </a:t>
            </a:r>
            <a:r>
              <a:rPr lang="zh-CN" altLang="en-US" sz="2000">
                <a:latin typeface="楷体_GB2312" pitchFamily="49" charset="-122"/>
              </a:rPr>
              <a:t>长方体比例变换 </a:t>
            </a:r>
          </a:p>
        </p:txBody>
      </p:sp>
      <p:sp>
        <p:nvSpPr>
          <p:cNvPr id="93189" name="Rectangle 10"/>
          <p:cNvSpPr>
            <a:spLocks noChangeArrowheads="1"/>
          </p:cNvSpPr>
          <p:nvPr/>
        </p:nvSpPr>
        <p:spPr bwMode="auto">
          <a:xfrm>
            <a:off x="0" y="0"/>
            <a:ext cx="9144000" cy="0"/>
          </a:xfrm>
          <a:prstGeom prst="rect">
            <a:avLst/>
          </a:prstGeom>
          <a:noFill/>
          <a:ln>
            <a:noFill/>
          </a:ln>
          <a:effectLst>
            <a:prstShdw prst="shdw17" dist="17961" dir="2700000">
              <a:srgbClr val="008965"/>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93190" name="Object 9"/>
          <p:cNvGraphicFramePr>
            <a:graphicFrameLocks noChangeAspect="1"/>
          </p:cNvGraphicFramePr>
          <p:nvPr/>
        </p:nvGraphicFramePr>
        <p:xfrm>
          <a:off x="3571875" y="2928938"/>
          <a:ext cx="3627438" cy="3286125"/>
        </p:xfrm>
        <a:graphic>
          <a:graphicData uri="http://schemas.openxmlformats.org/presentationml/2006/ole">
            <mc:AlternateContent xmlns:mc="http://schemas.openxmlformats.org/markup-compatibility/2006">
              <mc:Choice xmlns:v="urn:schemas-microsoft-com:vml" Requires="v">
                <p:oleObj spid="_x0000_s93196" r:id="rId3" imgW="4258881" imgH="3852959" progId="Visio.Drawing.11">
                  <p:embed/>
                </p:oleObj>
              </mc:Choice>
              <mc:Fallback>
                <p:oleObj r:id="rId3" imgW="4258881" imgH="3852959" progId="Visio.Drawing.11">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75" y="2928938"/>
                        <a:ext cx="3627438"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76802">
                                            <p:txEl>
                                              <p:charRg st="4294967295" end="429496729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403"/>
          <p:cNvSpPr>
            <a:spLocks noChangeArrowheads="1"/>
          </p:cNvSpPr>
          <p:nvPr/>
        </p:nvSpPr>
        <p:spPr bwMode="auto">
          <a:xfrm>
            <a:off x="1403350" y="371475"/>
            <a:ext cx="7416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69875" algn="l"/>
              </a:tabLst>
              <a:defRPr sz="2400">
                <a:solidFill>
                  <a:schemeClr val="tx1"/>
                </a:solidFill>
                <a:latin typeface="Tahoma" panose="020B0604030504040204" pitchFamily="34" charset="0"/>
                <a:ea typeface="楷体_GB2312" pitchFamily="49" charset="-122"/>
              </a:defRPr>
            </a:lvl1pPr>
            <a:lvl2pPr marL="742950" indent="-285750">
              <a:tabLst>
                <a:tab pos="269875" algn="l"/>
              </a:tabLst>
              <a:defRPr sz="2400">
                <a:solidFill>
                  <a:schemeClr val="tx1"/>
                </a:solidFill>
                <a:latin typeface="Tahoma" panose="020B0604030504040204" pitchFamily="34" charset="0"/>
                <a:ea typeface="楷体_GB2312" pitchFamily="49" charset="-122"/>
              </a:defRPr>
            </a:lvl2pPr>
            <a:lvl3pPr marL="1143000" indent="-228600">
              <a:tabLst>
                <a:tab pos="269875" algn="l"/>
              </a:tabLst>
              <a:defRPr sz="2400">
                <a:solidFill>
                  <a:schemeClr val="tx1"/>
                </a:solidFill>
                <a:latin typeface="Tahoma" panose="020B0604030504040204" pitchFamily="34" charset="0"/>
                <a:ea typeface="楷体_GB2312" pitchFamily="49" charset="-122"/>
              </a:defRPr>
            </a:lvl3pPr>
            <a:lvl4pPr marL="1600200" indent="-228600">
              <a:tabLst>
                <a:tab pos="269875" algn="l"/>
              </a:tabLst>
              <a:defRPr sz="2400">
                <a:solidFill>
                  <a:schemeClr val="tx1"/>
                </a:solidFill>
                <a:latin typeface="Tahoma" panose="020B0604030504040204" pitchFamily="34" charset="0"/>
                <a:ea typeface="楷体_GB2312" pitchFamily="49" charset="-122"/>
              </a:defRPr>
            </a:lvl4pPr>
            <a:lvl5pPr marL="2057400" indent="-228600">
              <a:tabLst>
                <a:tab pos="2698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2.</a:t>
            </a:r>
            <a:r>
              <a:rPr lang="zh-CN" altLang="en-US"/>
              <a:t>四面体的顶点坐标为 </a:t>
            </a:r>
            <a:r>
              <a:rPr lang="en-US" altLang="zh-CN"/>
              <a:t>A</a:t>
            </a:r>
            <a:r>
              <a:rPr lang="zh-CN" altLang="en-US"/>
              <a:t>（</a:t>
            </a:r>
            <a:r>
              <a:rPr lang="en-US" altLang="zh-CN"/>
              <a:t>2</a:t>
            </a:r>
            <a:r>
              <a:rPr lang="zh-CN" altLang="en-US"/>
              <a:t>，</a:t>
            </a:r>
            <a:r>
              <a:rPr lang="en-US" altLang="zh-CN"/>
              <a:t>0</a:t>
            </a:r>
            <a:r>
              <a:rPr lang="zh-CN" altLang="en-US"/>
              <a:t>，</a:t>
            </a:r>
            <a:r>
              <a:rPr lang="en-US" altLang="zh-CN"/>
              <a:t>0</a:t>
            </a:r>
            <a:r>
              <a:rPr lang="zh-CN" altLang="en-US"/>
              <a:t>），</a:t>
            </a:r>
            <a:r>
              <a:rPr lang="en-US" altLang="zh-CN"/>
              <a:t>B</a:t>
            </a:r>
            <a:r>
              <a:rPr lang="zh-CN" altLang="en-US"/>
              <a:t>（</a:t>
            </a:r>
            <a:r>
              <a:rPr lang="en-US" altLang="zh-CN"/>
              <a:t>2</a:t>
            </a:r>
            <a:r>
              <a:rPr lang="zh-CN" altLang="en-US"/>
              <a:t>，</a:t>
            </a:r>
            <a:r>
              <a:rPr lang="en-US" altLang="zh-CN"/>
              <a:t>2</a:t>
            </a:r>
            <a:r>
              <a:rPr lang="zh-CN" altLang="en-US"/>
              <a:t>，</a:t>
            </a:r>
            <a:r>
              <a:rPr lang="en-US" altLang="zh-CN"/>
              <a:t>0</a:t>
            </a:r>
            <a:r>
              <a:rPr lang="zh-CN" altLang="en-US"/>
              <a:t>），</a:t>
            </a:r>
            <a:r>
              <a:rPr lang="en-US" altLang="zh-CN"/>
              <a:t>C</a:t>
            </a:r>
            <a:r>
              <a:rPr lang="zh-CN" altLang="en-US"/>
              <a:t>（</a:t>
            </a:r>
            <a:r>
              <a:rPr lang="en-US" altLang="zh-CN"/>
              <a:t>0</a:t>
            </a:r>
            <a:r>
              <a:rPr lang="zh-CN" altLang="en-US"/>
              <a:t>，</a:t>
            </a:r>
            <a:r>
              <a:rPr lang="en-US" altLang="zh-CN"/>
              <a:t>2</a:t>
            </a:r>
            <a:r>
              <a:rPr lang="zh-CN" altLang="en-US"/>
              <a:t>，</a:t>
            </a:r>
            <a:r>
              <a:rPr lang="en-US" altLang="zh-CN"/>
              <a:t>0</a:t>
            </a:r>
            <a:r>
              <a:rPr lang="zh-CN" altLang="en-US"/>
              <a:t>），</a:t>
            </a:r>
            <a:r>
              <a:rPr lang="en-US" altLang="zh-CN"/>
              <a:t>D</a:t>
            </a:r>
            <a:r>
              <a:rPr lang="zh-CN" altLang="en-US"/>
              <a:t>（</a:t>
            </a:r>
            <a:r>
              <a:rPr lang="en-US" altLang="zh-CN"/>
              <a:t>2</a:t>
            </a:r>
            <a:r>
              <a:rPr lang="zh-CN" altLang="en-US"/>
              <a:t>，</a:t>
            </a:r>
            <a:r>
              <a:rPr lang="en-US" altLang="zh-CN"/>
              <a:t>2</a:t>
            </a:r>
            <a:r>
              <a:rPr lang="zh-CN" altLang="en-US"/>
              <a:t>，</a:t>
            </a:r>
            <a:r>
              <a:rPr lang="en-US" altLang="zh-CN"/>
              <a:t>2</a:t>
            </a:r>
            <a:r>
              <a:rPr lang="zh-CN" altLang="en-US"/>
              <a:t>），如图</a:t>
            </a:r>
            <a:r>
              <a:rPr lang="en-US" altLang="zh-CN"/>
              <a:t>6-33</a:t>
            </a:r>
            <a:r>
              <a:rPr lang="zh-CN" altLang="en-US"/>
              <a:t>所示，求解（</a:t>
            </a:r>
            <a:r>
              <a:rPr lang="en-US" altLang="zh-CN"/>
              <a:t>1</a:t>
            </a:r>
            <a:r>
              <a:rPr lang="zh-CN" altLang="en-US"/>
              <a:t>）关于点 </a:t>
            </a:r>
            <a:r>
              <a:rPr lang="en-US" altLang="zh-CN"/>
              <a:t>P</a:t>
            </a:r>
            <a:r>
              <a:rPr lang="zh-CN" altLang="en-US"/>
              <a:t>（</a:t>
            </a:r>
            <a:r>
              <a:rPr lang="en-US" altLang="zh-CN"/>
              <a:t>2</a:t>
            </a:r>
            <a:r>
              <a:rPr lang="zh-CN" altLang="en-US"/>
              <a:t>，</a:t>
            </a:r>
            <a:r>
              <a:rPr lang="en-US" altLang="zh-CN"/>
              <a:t>-2</a:t>
            </a:r>
            <a:r>
              <a:rPr lang="zh-CN" altLang="en-US"/>
              <a:t>，</a:t>
            </a:r>
            <a:r>
              <a:rPr lang="en-US" altLang="zh-CN"/>
              <a:t>2</a:t>
            </a:r>
            <a:r>
              <a:rPr lang="zh-CN" altLang="en-US"/>
              <a:t>）整体放大</a:t>
            </a:r>
            <a:r>
              <a:rPr lang="en-US" altLang="zh-CN"/>
              <a:t>2</a:t>
            </a:r>
            <a:r>
              <a:rPr lang="zh-CN" altLang="en-US"/>
              <a:t>倍的变换矩阵。（</a:t>
            </a:r>
            <a:r>
              <a:rPr lang="en-US" altLang="zh-CN"/>
              <a:t>2</a:t>
            </a:r>
            <a:r>
              <a:rPr lang="zh-CN" altLang="en-US"/>
              <a:t>）变换后的四面体顶点坐标。</a:t>
            </a:r>
          </a:p>
        </p:txBody>
      </p:sp>
      <p:sp>
        <p:nvSpPr>
          <p:cNvPr id="94211" name="Rectangle 406"/>
          <p:cNvSpPr>
            <a:spLocks noChangeArrowheads="1"/>
          </p:cNvSpPr>
          <p:nvPr/>
        </p:nvSpPr>
        <p:spPr bwMode="auto">
          <a:xfrm>
            <a:off x="4133850" y="5907088"/>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2000">
                <a:latin typeface="楷体_GB2312" pitchFamily="49" charset="-122"/>
              </a:rPr>
              <a:t>图</a:t>
            </a:r>
            <a:r>
              <a:rPr lang="en-US" altLang="zh-CN" sz="2000">
                <a:latin typeface="楷体_GB2312" pitchFamily="49" charset="-122"/>
              </a:rPr>
              <a:t>6-33 </a:t>
            </a:r>
            <a:r>
              <a:rPr lang="zh-CN" altLang="en-US" sz="2000">
                <a:latin typeface="楷体_GB2312" pitchFamily="49" charset="-122"/>
              </a:rPr>
              <a:t>四面体</a:t>
            </a:r>
          </a:p>
        </p:txBody>
      </p:sp>
      <p:sp>
        <p:nvSpPr>
          <p:cNvPr id="94212" name="Rectangle 8"/>
          <p:cNvSpPr>
            <a:spLocks noChangeArrowheads="1"/>
          </p:cNvSpPr>
          <p:nvPr/>
        </p:nvSpPr>
        <p:spPr bwMode="auto">
          <a:xfrm>
            <a:off x="0" y="0"/>
            <a:ext cx="9144000" cy="0"/>
          </a:xfrm>
          <a:prstGeom prst="rect">
            <a:avLst/>
          </a:prstGeom>
          <a:noFill/>
          <a:ln>
            <a:noFill/>
          </a:ln>
          <a:effectLst>
            <a:prstShdw prst="shdw17" dist="17961" dir="2700000">
              <a:srgbClr val="008965"/>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94213" name="Object 7"/>
          <p:cNvGraphicFramePr>
            <a:graphicFrameLocks noChangeAspect="1"/>
          </p:cNvGraphicFramePr>
          <p:nvPr/>
        </p:nvGraphicFramePr>
        <p:xfrm>
          <a:off x="3071813" y="2143125"/>
          <a:ext cx="4143375" cy="3444875"/>
        </p:xfrm>
        <a:graphic>
          <a:graphicData uri="http://schemas.openxmlformats.org/presentationml/2006/ole">
            <mc:AlternateContent xmlns:mc="http://schemas.openxmlformats.org/markup-compatibility/2006">
              <mc:Choice xmlns:v="urn:schemas-microsoft-com:vml" Requires="v">
                <p:oleObj spid="_x0000_s94219" r:id="rId3" imgW="3278022" imgH="2724506" progId="Visio.Drawing.11">
                  <p:embed/>
                </p:oleObj>
              </mc:Choice>
              <mc:Fallback>
                <p:oleObj r:id="rId3" imgW="3278022" imgH="2724506"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2143125"/>
                        <a:ext cx="4143375"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19"/>
          <p:cNvSpPr>
            <a:spLocks noChangeArrowheads="1"/>
          </p:cNvSpPr>
          <p:nvPr/>
        </p:nvSpPr>
        <p:spPr bwMode="auto">
          <a:xfrm>
            <a:off x="1331913" y="404813"/>
            <a:ext cx="75612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latin typeface="楷体_GB2312" pitchFamily="49" charset="-122"/>
                <a:cs typeface="Times New Roman" panose="02020603050405020304" pitchFamily="18" charset="0"/>
              </a:rPr>
              <a:t>3.</a:t>
            </a:r>
            <a:r>
              <a:rPr lang="zh-CN" altLang="en-US">
                <a:cs typeface="Times New Roman" panose="02020603050405020304" pitchFamily="18" charset="0"/>
              </a:rPr>
              <a:t>常用的两种斜平行投影是斜等测和斜二测。请使用</a:t>
            </a:r>
            <a:r>
              <a:rPr lang="en-US" altLang="zh-CN">
                <a:cs typeface="Times New Roman" panose="02020603050405020304" pitchFamily="18" charset="0"/>
              </a:rPr>
              <a:t>VC++</a:t>
            </a:r>
            <a:r>
              <a:rPr lang="zh-CN" altLang="en-US">
                <a:cs typeface="Times New Roman" panose="02020603050405020304" pitchFamily="18" charset="0"/>
              </a:rPr>
              <a:t>编程绘制立方体的斜等测图和斜二测图。</a:t>
            </a:r>
            <a:endParaRPr lang="zh-CN" altLang="en-US">
              <a:latin typeface="楷体_GB2312" pitchFamily="49" charset="-122"/>
              <a:cs typeface="Times New Roman" panose="02020603050405020304" pitchFamily="18" charset="0"/>
            </a:endParaRPr>
          </a:p>
        </p:txBody>
      </p:sp>
      <p:sp>
        <p:nvSpPr>
          <p:cNvPr id="95235" name="Rectangle 21"/>
          <p:cNvSpPr>
            <a:spLocks noChangeArrowheads="1"/>
          </p:cNvSpPr>
          <p:nvPr/>
        </p:nvSpPr>
        <p:spPr bwMode="auto">
          <a:xfrm>
            <a:off x="1331913" y="1341438"/>
            <a:ext cx="74882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latin typeface="楷体_GB2312" pitchFamily="49" charset="-122"/>
              </a:rPr>
              <a:t>4.</a:t>
            </a:r>
            <a:r>
              <a:rPr lang="zh-CN" altLang="en-US"/>
              <a:t>使用斜等测投影绘制图</a:t>
            </a:r>
            <a:r>
              <a:rPr lang="en-US" altLang="zh-CN"/>
              <a:t>6-34</a:t>
            </a:r>
            <a:r>
              <a:rPr lang="zh-CN" altLang="en-US"/>
              <a:t>所示多面体的斜等厕投影图及其三视图，要求使用包含平移参数的三视图变换矩阵编程实现。</a:t>
            </a:r>
          </a:p>
        </p:txBody>
      </p:sp>
      <p:sp>
        <p:nvSpPr>
          <p:cNvPr id="95236" name="Rectangle 26"/>
          <p:cNvSpPr>
            <a:spLocks noChangeArrowheads="1"/>
          </p:cNvSpPr>
          <p:nvPr/>
        </p:nvSpPr>
        <p:spPr bwMode="auto">
          <a:xfrm>
            <a:off x="2987675" y="6308725"/>
            <a:ext cx="4833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2000"/>
              <a:t>图</a:t>
            </a:r>
            <a:r>
              <a:rPr lang="en-US" altLang="zh-CN" sz="2000"/>
              <a:t>6-34 </a:t>
            </a:r>
            <a:r>
              <a:rPr lang="zh-CN" altLang="en-US" sz="2000"/>
              <a:t>多面体的斜等测投影图及其三视图</a:t>
            </a:r>
          </a:p>
        </p:txBody>
      </p:sp>
      <p:pic>
        <p:nvPicPr>
          <p:cNvPr id="95237"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2565400"/>
            <a:ext cx="49688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a:spLocks noChangeArrowheads="1"/>
          </p:cNvSpPr>
          <p:nvPr/>
        </p:nvSpPr>
        <p:spPr bwMode="auto">
          <a:xfrm>
            <a:off x="1258888" y="260350"/>
            <a:ext cx="7561262"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69875" algn="l"/>
              </a:tabLst>
              <a:defRPr sz="2400">
                <a:solidFill>
                  <a:schemeClr val="tx1"/>
                </a:solidFill>
                <a:latin typeface="Tahoma" panose="020B0604030504040204" pitchFamily="34" charset="0"/>
                <a:ea typeface="楷体_GB2312" pitchFamily="49" charset="-122"/>
              </a:defRPr>
            </a:lvl1pPr>
            <a:lvl2pPr marL="742950" indent="-285750">
              <a:tabLst>
                <a:tab pos="269875" algn="l"/>
              </a:tabLst>
              <a:defRPr sz="2400">
                <a:solidFill>
                  <a:schemeClr val="tx1"/>
                </a:solidFill>
                <a:latin typeface="Tahoma" panose="020B0604030504040204" pitchFamily="34" charset="0"/>
                <a:ea typeface="楷体_GB2312" pitchFamily="49" charset="-122"/>
              </a:defRPr>
            </a:lvl2pPr>
            <a:lvl3pPr marL="1143000" indent="-228600">
              <a:tabLst>
                <a:tab pos="269875" algn="l"/>
              </a:tabLst>
              <a:defRPr sz="2400">
                <a:solidFill>
                  <a:schemeClr val="tx1"/>
                </a:solidFill>
                <a:latin typeface="Tahoma" panose="020B0604030504040204" pitchFamily="34" charset="0"/>
                <a:ea typeface="楷体_GB2312" pitchFamily="49" charset="-122"/>
              </a:defRPr>
            </a:lvl3pPr>
            <a:lvl4pPr marL="1600200" indent="-228600">
              <a:tabLst>
                <a:tab pos="269875" algn="l"/>
              </a:tabLst>
              <a:defRPr sz="2400">
                <a:solidFill>
                  <a:schemeClr val="tx1"/>
                </a:solidFill>
                <a:latin typeface="Tahoma" panose="020B0604030504040204" pitchFamily="34" charset="0"/>
                <a:ea typeface="楷体_GB2312" pitchFamily="49" charset="-122"/>
              </a:defRPr>
            </a:lvl4pPr>
            <a:lvl5pPr marL="2057400" indent="-228600">
              <a:tabLst>
                <a:tab pos="2698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t>5. </a:t>
            </a:r>
            <a:r>
              <a:rPr lang="zh-CN" altLang="en-US"/>
              <a:t>*建立三维世界坐标系</a:t>
            </a:r>
            <a:r>
              <a:rPr lang="en-US" altLang="zh-CN"/>
              <a:t>O</a:t>
            </a:r>
            <a:r>
              <a:rPr lang="en-US" altLang="zh-CN" baseline="-25000"/>
              <a:t>w</a:t>
            </a:r>
            <a:r>
              <a:rPr lang="en-US" altLang="zh-CN"/>
              <a:t>x</a:t>
            </a:r>
            <a:r>
              <a:rPr lang="en-US" altLang="zh-CN" baseline="-25000"/>
              <a:t>w</a:t>
            </a:r>
            <a:r>
              <a:rPr lang="en-US" altLang="zh-CN"/>
              <a:t>y</a:t>
            </a:r>
            <a:r>
              <a:rPr lang="en-US" altLang="zh-CN" baseline="-25000"/>
              <a:t>w</a:t>
            </a:r>
            <a:r>
              <a:rPr lang="en-US" altLang="zh-CN"/>
              <a:t>z</a:t>
            </a:r>
            <a:r>
              <a:rPr lang="en-US" altLang="zh-CN" baseline="-25000"/>
              <a:t>w</a:t>
            </a:r>
            <a:r>
              <a:rPr lang="zh-CN" altLang="en-US"/>
              <a:t>，</a:t>
            </a:r>
            <a:r>
              <a:rPr lang="en-US" altLang="zh-CN"/>
              <a:t>x</a:t>
            </a:r>
            <a:r>
              <a:rPr lang="en-US" altLang="zh-CN" baseline="-25000"/>
              <a:t>w</a:t>
            </a:r>
            <a:r>
              <a:rPr lang="zh-CN" altLang="en-US"/>
              <a:t>轴向右，</a:t>
            </a:r>
            <a:r>
              <a:rPr lang="en-US" altLang="zh-CN"/>
              <a:t>y</a:t>
            </a:r>
            <a:r>
              <a:rPr lang="en-US" altLang="zh-CN" baseline="-25000"/>
              <a:t>w</a:t>
            </a:r>
            <a:r>
              <a:rPr lang="zh-CN" altLang="en-US"/>
              <a:t>轴向上，</a:t>
            </a:r>
            <a:r>
              <a:rPr lang="en-US" altLang="zh-CN"/>
              <a:t>z</a:t>
            </a:r>
            <a:r>
              <a:rPr lang="en-US" altLang="zh-CN" baseline="-25000"/>
              <a:t>w</a:t>
            </a:r>
            <a:r>
              <a:rPr lang="zh-CN" altLang="en-US"/>
              <a:t>轴指向观察者，以原点</a:t>
            </a:r>
            <a:r>
              <a:rPr lang="en-US" altLang="zh-CN"/>
              <a:t>O</a:t>
            </a:r>
            <a:r>
              <a:rPr lang="en-US" altLang="zh-CN" baseline="-25000"/>
              <a:t>w</a:t>
            </a:r>
            <a:r>
              <a:rPr lang="zh-CN" altLang="en-US"/>
              <a:t>为立方体体心建立边长为</a:t>
            </a:r>
            <a:r>
              <a:rPr lang="en-US" altLang="zh-CN"/>
              <a:t>2a</a:t>
            </a:r>
            <a:r>
              <a:rPr lang="zh-CN" altLang="en-US"/>
              <a:t>的立方体线框模型 。将立方体的</a:t>
            </a:r>
            <a:r>
              <a:rPr lang="en-US" altLang="zh-CN"/>
              <a:t>8</a:t>
            </a:r>
            <a:r>
              <a:rPr lang="zh-CN" altLang="en-US"/>
              <a:t>个顶点颜色分别为红色、绿色、蓝色、黄色、品红、青色、白色和黑色。使用透视投影绘制立方体线框模型，如图</a:t>
            </a:r>
            <a:r>
              <a:rPr lang="en-US" altLang="zh-CN"/>
              <a:t>6-35</a:t>
            </a:r>
            <a:r>
              <a:rPr lang="zh-CN" altLang="en-US"/>
              <a:t>所示。要求立方体边界采用光滑着色模式。立方体旋转采用“视点固定，物体变换”的方式。请使用工具条上的“动画”图标播放旋转动画。</a:t>
            </a:r>
          </a:p>
        </p:txBody>
      </p:sp>
      <p:pic>
        <p:nvPicPr>
          <p:cNvPr id="9625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0" y="3284538"/>
            <a:ext cx="300037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Rectangle 6"/>
          <p:cNvSpPr>
            <a:spLocks noChangeArrowheads="1"/>
          </p:cNvSpPr>
          <p:nvPr/>
        </p:nvSpPr>
        <p:spPr bwMode="auto">
          <a:xfrm>
            <a:off x="2484438" y="6430963"/>
            <a:ext cx="4913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2000"/>
              <a:t>图</a:t>
            </a:r>
            <a:r>
              <a:rPr lang="en-US" altLang="zh-CN" sz="2000"/>
              <a:t>6-35 </a:t>
            </a:r>
            <a:r>
              <a:rPr lang="zh-CN" altLang="en-US" sz="2000">
                <a:hlinkClick r:id="rId3" action="ppaction://hlinkfile"/>
              </a:rPr>
              <a:t>光滑着色立方体线框模型透视投影 </a:t>
            </a:r>
            <a:endParaRPr lang="zh-CN" altLang="en-US" sz="20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ChangeArrowheads="1"/>
          </p:cNvSpPr>
          <p:nvPr/>
        </p:nvSpPr>
        <p:spPr bwMode="auto">
          <a:xfrm>
            <a:off x="1331913" y="203200"/>
            <a:ext cx="7343775"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tabLst>
                <a:tab pos="269875" algn="l"/>
              </a:tabLst>
              <a:defRPr sz="2400">
                <a:solidFill>
                  <a:schemeClr val="tx1"/>
                </a:solidFill>
                <a:latin typeface="Tahoma" panose="020B0604030504040204" pitchFamily="34" charset="0"/>
                <a:ea typeface="楷体_GB2312" pitchFamily="49" charset="-122"/>
              </a:defRPr>
            </a:lvl1pPr>
            <a:lvl2pPr marL="742950" indent="-285750">
              <a:tabLst>
                <a:tab pos="269875" algn="l"/>
              </a:tabLst>
              <a:defRPr sz="2400">
                <a:solidFill>
                  <a:schemeClr val="tx1"/>
                </a:solidFill>
                <a:latin typeface="Tahoma" panose="020B0604030504040204" pitchFamily="34" charset="0"/>
                <a:ea typeface="楷体_GB2312" pitchFamily="49" charset="-122"/>
              </a:defRPr>
            </a:lvl2pPr>
            <a:lvl3pPr marL="1143000" indent="-228600">
              <a:tabLst>
                <a:tab pos="269875" algn="l"/>
              </a:tabLst>
              <a:defRPr sz="2400">
                <a:solidFill>
                  <a:schemeClr val="tx1"/>
                </a:solidFill>
                <a:latin typeface="Tahoma" panose="020B0604030504040204" pitchFamily="34" charset="0"/>
                <a:ea typeface="楷体_GB2312" pitchFamily="49" charset="-122"/>
              </a:defRPr>
            </a:lvl3pPr>
            <a:lvl4pPr marL="1600200" indent="-228600">
              <a:tabLst>
                <a:tab pos="269875" algn="l"/>
              </a:tabLst>
              <a:defRPr sz="2400">
                <a:solidFill>
                  <a:schemeClr val="tx1"/>
                </a:solidFill>
                <a:latin typeface="Tahoma" panose="020B0604030504040204" pitchFamily="34" charset="0"/>
                <a:ea typeface="楷体_GB2312" pitchFamily="49" charset="-122"/>
              </a:defRPr>
            </a:lvl4pPr>
            <a:lvl5pPr marL="2057400" indent="-228600">
              <a:tabLst>
                <a:tab pos="269875" algn="l"/>
              </a:tabLst>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tabLst>
                <a:tab pos="269875" algn="l"/>
              </a:tabLst>
              <a:defRPr sz="2400">
                <a:solidFill>
                  <a:schemeClr val="tx1"/>
                </a:solidFill>
                <a:latin typeface="Tahoma" panose="020B0604030504040204" pitchFamily="34" charset="0"/>
                <a:ea typeface="楷体_GB2312" pitchFamily="49" charset="-122"/>
              </a:defRPr>
            </a:lvl9pPr>
          </a:lstStyle>
          <a:p>
            <a:pPr eaLnBrk="1" hangingPunct="1">
              <a:lnSpc>
                <a:spcPct val="120000"/>
              </a:lnSpc>
              <a:buFont typeface="Arial" panose="020B0604020202020204" pitchFamily="34" charset="0"/>
              <a:buNone/>
            </a:pPr>
            <a:r>
              <a:rPr lang="en-US" altLang="zh-CN"/>
              <a:t>6.</a:t>
            </a:r>
            <a:r>
              <a:rPr lang="zh-CN" altLang="en-US"/>
              <a:t>视点、屏幕和物体的位置关系有三种。屏幕位于物体和视点之间，如图</a:t>
            </a:r>
            <a:r>
              <a:rPr lang="en-US" altLang="zh-CN"/>
              <a:t>6-36</a:t>
            </a:r>
            <a:r>
              <a:rPr lang="zh-CN" altLang="en-US"/>
              <a:t>（</a:t>
            </a:r>
            <a:r>
              <a:rPr lang="en-US" altLang="zh-CN"/>
              <a:t>a</a:t>
            </a:r>
            <a:r>
              <a:rPr lang="zh-CN" altLang="en-US"/>
              <a:t>）所示；物体位于屏幕和视点之间，如图</a:t>
            </a:r>
            <a:r>
              <a:rPr lang="en-US" altLang="zh-CN"/>
              <a:t>6-36</a:t>
            </a:r>
            <a:r>
              <a:rPr lang="zh-CN" altLang="en-US"/>
              <a:t>（</a:t>
            </a:r>
            <a:r>
              <a:rPr lang="en-US" altLang="zh-CN"/>
              <a:t>b</a:t>
            </a:r>
            <a:r>
              <a:rPr lang="zh-CN" altLang="en-US"/>
              <a:t>）所示；视点位于屏幕和物体之间，如图</a:t>
            </a:r>
            <a:r>
              <a:rPr lang="en-US" altLang="zh-CN"/>
              <a:t>6-36</a:t>
            </a:r>
            <a:r>
              <a:rPr lang="zh-CN" altLang="en-US"/>
              <a:t>（</a:t>
            </a:r>
            <a:r>
              <a:rPr lang="en-US" altLang="zh-CN"/>
              <a:t>c</a:t>
            </a:r>
            <a:r>
              <a:rPr lang="zh-CN" altLang="en-US"/>
              <a:t>）所示。设用户坐标系建在物体上，视径为</a:t>
            </a:r>
            <a:r>
              <a:rPr lang="en-US" altLang="zh-CN"/>
              <a:t>R</a:t>
            </a:r>
            <a:r>
              <a:rPr lang="zh-CN" altLang="en-US"/>
              <a:t>，视距为</a:t>
            </a:r>
            <a:r>
              <a:rPr lang="en-US" altLang="zh-CN"/>
              <a:t>d</a:t>
            </a:r>
            <a:r>
              <a:rPr lang="zh-CN" altLang="en-US"/>
              <a:t>，请分析这三种情形下像和物之间的关系。</a:t>
            </a:r>
          </a:p>
        </p:txBody>
      </p:sp>
      <p:graphicFrame>
        <p:nvGraphicFramePr>
          <p:cNvPr id="97283" name="Object 7"/>
          <p:cNvGraphicFramePr>
            <a:graphicFrameLocks noChangeAspect="1"/>
          </p:cNvGraphicFramePr>
          <p:nvPr/>
        </p:nvGraphicFramePr>
        <p:xfrm>
          <a:off x="1547813" y="3306763"/>
          <a:ext cx="2160587" cy="1444625"/>
        </p:xfrm>
        <a:graphic>
          <a:graphicData uri="http://schemas.openxmlformats.org/presentationml/2006/ole">
            <mc:AlternateContent xmlns:mc="http://schemas.openxmlformats.org/markup-compatibility/2006">
              <mc:Choice xmlns:v="urn:schemas-microsoft-com:vml" Requires="v">
                <p:oleObj spid="_x0000_s97311" r:id="rId3" imgW="10486949" imgH="6958889" progId="Visio.Drawing.11">
                  <p:embed/>
                </p:oleObj>
              </mc:Choice>
              <mc:Fallback>
                <p:oleObj r:id="rId3" imgW="10486949" imgH="6958889"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3306763"/>
                        <a:ext cx="2160587"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4" name="Object 6"/>
          <p:cNvGraphicFramePr>
            <a:graphicFrameLocks noChangeAspect="1"/>
          </p:cNvGraphicFramePr>
          <p:nvPr/>
        </p:nvGraphicFramePr>
        <p:xfrm>
          <a:off x="4284663" y="3306763"/>
          <a:ext cx="2016125" cy="1357312"/>
        </p:xfrm>
        <a:graphic>
          <a:graphicData uri="http://schemas.openxmlformats.org/presentationml/2006/ole">
            <mc:AlternateContent xmlns:mc="http://schemas.openxmlformats.org/markup-compatibility/2006">
              <mc:Choice xmlns:v="urn:schemas-microsoft-com:vml" Requires="v">
                <p:oleObj spid="_x0000_s97312" r:id="rId5" imgW="11071860" imgH="7417613" progId="Visio.Drawing.11">
                  <p:embed/>
                </p:oleObj>
              </mc:Choice>
              <mc:Fallback>
                <p:oleObj r:id="rId5" imgW="11071860" imgH="7417613" progId="Visio.Drawing.11">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4663" y="3306763"/>
                        <a:ext cx="2016125"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5" name="Object 5"/>
          <p:cNvGraphicFramePr>
            <a:graphicFrameLocks noChangeAspect="1"/>
          </p:cNvGraphicFramePr>
          <p:nvPr/>
        </p:nvGraphicFramePr>
        <p:xfrm>
          <a:off x="6804025" y="3235325"/>
          <a:ext cx="1943100" cy="1643063"/>
        </p:xfrm>
        <a:graphic>
          <a:graphicData uri="http://schemas.openxmlformats.org/presentationml/2006/ole">
            <mc:AlternateContent xmlns:mc="http://schemas.openxmlformats.org/markup-compatibility/2006">
              <mc:Choice xmlns:v="urn:schemas-microsoft-com:vml" Requires="v">
                <p:oleObj spid="_x0000_s97313" r:id="rId7" imgW="10702747" imgH="9046769" progId="Visio.Drawing.11">
                  <p:embed/>
                </p:oleObj>
              </mc:Choice>
              <mc:Fallback>
                <p:oleObj r:id="rId7" imgW="10702747" imgH="9046769" progId="Visio.Drawing.11">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04025" y="3235325"/>
                        <a:ext cx="1943100"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6" name="Text Box 10"/>
          <p:cNvSpPr txBox="1">
            <a:spLocks noChangeArrowheads="1"/>
          </p:cNvSpPr>
          <p:nvPr/>
        </p:nvSpPr>
        <p:spPr bwMode="auto">
          <a:xfrm>
            <a:off x="3132138" y="4133850"/>
            <a:ext cx="12382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d</a:t>
            </a:r>
            <a:endParaRPr lang="en-US" altLang="zh-CN" sz="2000">
              <a:latin typeface="Arial" panose="020B0604020202020204" pitchFamily="34" charset="0"/>
              <a:ea typeface="宋体" panose="02010600030101010101" pitchFamily="2" charset="-122"/>
            </a:endParaRPr>
          </a:p>
        </p:txBody>
      </p:sp>
      <p:sp>
        <p:nvSpPr>
          <p:cNvPr id="97287" name="Text Box 13"/>
          <p:cNvSpPr txBox="1">
            <a:spLocks noChangeArrowheads="1"/>
          </p:cNvSpPr>
          <p:nvPr/>
        </p:nvSpPr>
        <p:spPr bwMode="auto">
          <a:xfrm>
            <a:off x="2339975" y="4387850"/>
            <a:ext cx="288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R</a:t>
            </a:r>
            <a:endParaRPr lang="en-US" altLang="zh-CN" sz="2000">
              <a:latin typeface="Arial" panose="020B0604020202020204" pitchFamily="34" charset="0"/>
              <a:ea typeface="宋体" panose="02010600030101010101" pitchFamily="2" charset="-122"/>
            </a:endParaRPr>
          </a:p>
        </p:txBody>
      </p:sp>
      <p:sp>
        <p:nvSpPr>
          <p:cNvPr id="97288" name="Text Box 11"/>
          <p:cNvSpPr txBox="1">
            <a:spLocks noChangeArrowheads="1"/>
          </p:cNvSpPr>
          <p:nvPr/>
        </p:nvSpPr>
        <p:spPr bwMode="auto">
          <a:xfrm>
            <a:off x="8243888" y="3883025"/>
            <a:ext cx="12382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R</a:t>
            </a:r>
            <a:endParaRPr lang="en-US" altLang="zh-CN" sz="2000">
              <a:latin typeface="Arial" panose="020B0604020202020204" pitchFamily="34" charset="0"/>
              <a:ea typeface="宋体" panose="02010600030101010101" pitchFamily="2" charset="-122"/>
            </a:endParaRPr>
          </a:p>
        </p:txBody>
      </p:sp>
      <p:sp>
        <p:nvSpPr>
          <p:cNvPr id="97289" name="Text Box 12"/>
          <p:cNvSpPr txBox="1">
            <a:spLocks noChangeArrowheads="1"/>
          </p:cNvSpPr>
          <p:nvPr/>
        </p:nvSpPr>
        <p:spPr bwMode="auto">
          <a:xfrm>
            <a:off x="5148263" y="4387850"/>
            <a:ext cx="12382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d</a:t>
            </a:r>
            <a:endParaRPr lang="en-US" altLang="zh-CN" sz="2000">
              <a:latin typeface="Arial" panose="020B0604020202020204" pitchFamily="34" charset="0"/>
              <a:ea typeface="宋体" panose="02010600030101010101" pitchFamily="2" charset="-122"/>
            </a:endParaRPr>
          </a:p>
        </p:txBody>
      </p:sp>
      <p:sp>
        <p:nvSpPr>
          <p:cNvPr id="97290" name="Text Box 9"/>
          <p:cNvSpPr txBox="1">
            <a:spLocks noChangeArrowheads="1"/>
          </p:cNvSpPr>
          <p:nvPr/>
        </p:nvSpPr>
        <p:spPr bwMode="auto">
          <a:xfrm>
            <a:off x="5724525" y="4171950"/>
            <a:ext cx="12382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R</a:t>
            </a:r>
            <a:endParaRPr lang="en-US" altLang="zh-CN" sz="2000">
              <a:latin typeface="Arial" panose="020B0604020202020204" pitchFamily="34" charset="0"/>
              <a:ea typeface="宋体" panose="02010600030101010101" pitchFamily="2" charset="-122"/>
            </a:endParaRPr>
          </a:p>
        </p:txBody>
      </p:sp>
      <p:sp>
        <p:nvSpPr>
          <p:cNvPr id="97291" name="Text Box 8"/>
          <p:cNvSpPr txBox="1">
            <a:spLocks noChangeArrowheads="1"/>
          </p:cNvSpPr>
          <p:nvPr/>
        </p:nvSpPr>
        <p:spPr bwMode="auto">
          <a:xfrm>
            <a:off x="7092950" y="4530725"/>
            <a:ext cx="358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sz="2000">
                <a:latin typeface="Times New Roman" panose="02020603050405020304" pitchFamily="18" charset="0"/>
                <a:ea typeface="宋体" panose="02010600030101010101" pitchFamily="2" charset="-122"/>
              </a:rPr>
              <a:t>-d</a:t>
            </a:r>
            <a:endParaRPr lang="en-US" altLang="zh-CN" sz="2000">
              <a:latin typeface="Arial" panose="020B0604020202020204" pitchFamily="34" charset="0"/>
              <a:ea typeface="宋体" panose="02010600030101010101" pitchFamily="2" charset="-122"/>
            </a:endParaRPr>
          </a:p>
        </p:txBody>
      </p:sp>
      <p:sp>
        <p:nvSpPr>
          <p:cNvPr id="97292" name="Rectangle 16"/>
          <p:cNvSpPr>
            <a:spLocks noChangeArrowheads="1"/>
          </p:cNvSpPr>
          <p:nvPr/>
        </p:nvSpPr>
        <p:spPr bwMode="auto">
          <a:xfrm>
            <a:off x="0" y="2165350"/>
            <a:ext cx="35242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sz="1100"/>
          </a:p>
          <a:p>
            <a:pPr>
              <a:buFont typeface="Arial" panose="020B0604020202020204" pitchFamily="34" charset="0"/>
              <a:buNone/>
            </a:pPr>
            <a:r>
              <a:rPr lang="zh-CN" altLang="en-US">
                <a:latin typeface="Arial" panose="020B0604020202020204" pitchFamily="34" charset="0"/>
                <a:ea typeface="宋体" panose="02010600030101010101" pitchFamily="2" charset="-122"/>
              </a:rPr>
              <a:t>  </a:t>
            </a:r>
          </a:p>
        </p:txBody>
      </p:sp>
      <p:sp>
        <p:nvSpPr>
          <p:cNvPr id="97293" name="Rectangle 17"/>
          <p:cNvSpPr>
            <a:spLocks noChangeArrowheads="1"/>
          </p:cNvSpPr>
          <p:nvPr/>
        </p:nvSpPr>
        <p:spPr bwMode="auto">
          <a:xfrm>
            <a:off x="0" y="3752850"/>
            <a:ext cx="352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latin typeface="Arial" panose="020B0604020202020204" pitchFamily="34" charset="0"/>
                <a:ea typeface="宋体" panose="02010600030101010101" pitchFamily="2" charset="-122"/>
              </a:rPr>
              <a:t>  </a:t>
            </a:r>
          </a:p>
        </p:txBody>
      </p:sp>
      <p:sp>
        <p:nvSpPr>
          <p:cNvPr id="97294" name="Rectangle 18"/>
          <p:cNvSpPr>
            <a:spLocks noChangeArrowheads="1"/>
          </p:cNvSpPr>
          <p:nvPr/>
        </p:nvSpPr>
        <p:spPr bwMode="auto">
          <a:xfrm>
            <a:off x="1547813" y="5180013"/>
            <a:ext cx="7194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lgn="ctr" eaLnBrk="1" hangingPunct="1">
              <a:buFont typeface="Arial" panose="020B0604020202020204" pitchFamily="34" charset="0"/>
              <a:buNone/>
            </a:pPr>
            <a:r>
              <a:rPr lang="zh-CN" altLang="en-US" sz="1600">
                <a:latin typeface="Times New Roman" panose="02020603050405020304" pitchFamily="18" charset="0"/>
                <a:ea typeface="宋体" panose="02010600030101010101" pitchFamily="2" charset="-122"/>
              </a:rPr>
              <a:t>屏幕位于物体和视点之间    物体位于屏幕和视点之间  视点位于屏幕和物体之间</a:t>
            </a:r>
            <a:endParaRPr lang="zh-CN" altLang="en-US" sz="1600">
              <a:ea typeface="宋体" panose="02010600030101010101" pitchFamily="2" charset="-122"/>
            </a:endParaRPr>
          </a:p>
        </p:txBody>
      </p:sp>
      <p:sp>
        <p:nvSpPr>
          <p:cNvPr id="97295" name="Rectangle 21"/>
          <p:cNvSpPr>
            <a:spLocks noChangeArrowheads="1"/>
          </p:cNvSpPr>
          <p:nvPr/>
        </p:nvSpPr>
        <p:spPr bwMode="auto">
          <a:xfrm>
            <a:off x="2411413" y="6021388"/>
            <a:ext cx="4833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a:buFont typeface="Arial" panose="020B0604020202020204" pitchFamily="34" charset="0"/>
              <a:buNone/>
            </a:pPr>
            <a:r>
              <a:rPr lang="zh-CN" altLang="en-US" sz="2000"/>
              <a:t>图</a:t>
            </a:r>
            <a:r>
              <a:rPr lang="en-US" altLang="zh-CN" sz="2000"/>
              <a:t>6-36 </a:t>
            </a:r>
            <a:r>
              <a:rPr lang="zh-CN" altLang="en-US" sz="2000"/>
              <a:t>视点、屏幕和物体的三种位置关系</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1258888" y="77788"/>
            <a:ext cx="76327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en-US" altLang="zh-CN">
                <a:latin typeface="楷体_GB2312" pitchFamily="49" charset="-122"/>
              </a:rPr>
              <a:t>7.</a:t>
            </a:r>
            <a:r>
              <a:rPr lang="zh-CN" altLang="en-US"/>
              <a:t>对</a:t>
            </a:r>
            <a:r>
              <a:rPr lang="en-US" altLang="zh-CN"/>
              <a:t>xOy</a:t>
            </a:r>
            <a:r>
              <a:rPr lang="zh-CN" altLang="en-US"/>
              <a:t>坐标系内的点</a:t>
            </a:r>
            <a:r>
              <a:rPr lang="en-US" altLang="zh-CN"/>
              <a:t>P</a:t>
            </a:r>
            <a:r>
              <a:rPr lang="zh-CN" altLang="en-US"/>
              <a:t>（</a:t>
            </a:r>
            <a:r>
              <a:rPr lang="en-US" altLang="zh-CN"/>
              <a:t>2,4</a:t>
            </a:r>
            <a:r>
              <a:rPr lang="zh-CN" altLang="en-US"/>
              <a:t>），进行坐标系之间的变换。新坐标系为</a:t>
            </a:r>
            <a:r>
              <a:rPr lang="en-US" altLang="zh-CN"/>
              <a:t>x’O’y’</a:t>
            </a:r>
            <a:r>
              <a:rPr lang="zh-CN" altLang="en-US"/>
              <a:t>，其原点位于</a:t>
            </a:r>
            <a:r>
              <a:rPr lang="en-US" altLang="zh-CN"/>
              <a:t>O’</a:t>
            </a:r>
            <a:r>
              <a:rPr lang="zh-CN" altLang="en-US"/>
              <a:t>（</a:t>
            </a:r>
            <a:r>
              <a:rPr lang="en-US" altLang="zh-CN"/>
              <a:t>5,5</a:t>
            </a:r>
            <a:r>
              <a:rPr lang="zh-CN" altLang="en-US"/>
              <a:t>），</a:t>
            </a:r>
            <a:r>
              <a:rPr lang="en-US" altLang="zh-CN"/>
              <a:t>x’</a:t>
            </a:r>
            <a:r>
              <a:rPr lang="zh-CN" altLang="en-US"/>
              <a:t>轴指向</a:t>
            </a:r>
            <a:r>
              <a:rPr lang="en-US" altLang="zh-CN"/>
              <a:t>xOy</a:t>
            </a:r>
            <a:r>
              <a:rPr lang="zh-CN" altLang="en-US"/>
              <a:t>坐标系的原点，</a:t>
            </a:r>
            <a:r>
              <a:rPr lang="en-US" altLang="zh-CN"/>
              <a:t>P</a:t>
            </a:r>
            <a:r>
              <a:rPr lang="zh-CN" altLang="en-US"/>
              <a:t>点在</a:t>
            </a:r>
            <a:r>
              <a:rPr lang="en-US" altLang="zh-CN"/>
              <a:t>x’O’y’</a:t>
            </a:r>
            <a:r>
              <a:rPr lang="zh-CN" altLang="en-US"/>
              <a:t>坐标系内的坐标为（</a:t>
            </a:r>
            <a:r>
              <a:rPr lang="en-US" altLang="zh-CN"/>
              <a:t>2      ,     </a:t>
            </a:r>
            <a:r>
              <a:rPr lang="zh-CN" altLang="en-US"/>
              <a:t>），如图</a:t>
            </a:r>
            <a:r>
              <a:rPr lang="en-US" altLang="zh-CN"/>
              <a:t>6-36</a:t>
            </a:r>
            <a:r>
              <a:rPr lang="zh-CN" altLang="en-US"/>
              <a:t>所示。请实施以下坐标系之间变换：</a:t>
            </a:r>
          </a:p>
        </p:txBody>
      </p:sp>
      <p:sp>
        <p:nvSpPr>
          <p:cNvPr id="98307"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endParaRPr lang="zh-CN" altLang="en-US"/>
          </a:p>
        </p:txBody>
      </p:sp>
      <p:graphicFrame>
        <p:nvGraphicFramePr>
          <p:cNvPr id="98308" name="Object 4"/>
          <p:cNvGraphicFramePr>
            <a:graphicFrameLocks noChangeAspect="1"/>
          </p:cNvGraphicFramePr>
          <p:nvPr/>
        </p:nvGraphicFramePr>
        <p:xfrm>
          <a:off x="1908175" y="1196975"/>
          <a:ext cx="360363" cy="331788"/>
        </p:xfrm>
        <a:graphic>
          <a:graphicData uri="http://schemas.openxmlformats.org/presentationml/2006/ole">
            <mc:AlternateContent xmlns:mc="http://schemas.openxmlformats.org/markup-compatibility/2006">
              <mc:Choice xmlns:v="urn:schemas-microsoft-com:vml" Requires="v">
                <p:oleObj spid="_x0000_s98346" r:id="rId3" imgW="241405" imgH="215994" progId="Equation.3">
                  <p:embed/>
                </p:oleObj>
              </mc:Choice>
              <mc:Fallback>
                <p:oleObj r:id="rId3" imgW="241405" imgH="21599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196975"/>
                        <a:ext cx="36036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09" name="Object 5"/>
          <p:cNvGraphicFramePr>
            <a:graphicFrameLocks noChangeAspect="1"/>
          </p:cNvGraphicFramePr>
          <p:nvPr/>
        </p:nvGraphicFramePr>
        <p:xfrm>
          <a:off x="2555875" y="1225550"/>
          <a:ext cx="360363" cy="331788"/>
        </p:xfrm>
        <a:graphic>
          <a:graphicData uri="http://schemas.openxmlformats.org/presentationml/2006/ole">
            <mc:AlternateContent xmlns:mc="http://schemas.openxmlformats.org/markup-compatibility/2006">
              <mc:Choice xmlns:v="urn:schemas-microsoft-com:vml" Requires="v">
                <p:oleObj spid="_x0000_s98347" r:id="rId5" imgW="241405" imgH="215994" progId="Equation.3">
                  <p:embed/>
                </p:oleObj>
              </mc:Choice>
              <mc:Fallback>
                <p:oleObj r:id="rId5" imgW="241405" imgH="215994"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1225550"/>
                        <a:ext cx="360363"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0" name="Object 9"/>
          <p:cNvGraphicFramePr>
            <a:graphicFrameLocks noChangeAspect="1"/>
          </p:cNvGraphicFramePr>
          <p:nvPr/>
        </p:nvGraphicFramePr>
        <p:xfrm>
          <a:off x="5292725" y="1773238"/>
          <a:ext cx="3659188" cy="3673475"/>
        </p:xfrm>
        <a:graphic>
          <a:graphicData uri="http://schemas.openxmlformats.org/presentationml/2006/ole">
            <mc:AlternateContent xmlns:mc="http://schemas.openxmlformats.org/markup-compatibility/2006">
              <mc:Choice xmlns:v="urn:schemas-microsoft-com:vml" Requires="v">
                <p:oleObj spid="_x0000_s98348" r:id="rId6" imgW="6418783" imgH="8587740" progId="Visio.Drawing.11">
                  <p:embed/>
                </p:oleObj>
              </mc:Choice>
              <mc:Fallback>
                <p:oleObj r:id="rId6" imgW="6418783" imgH="8587740" progId="Visio.Drawing.11">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t="30724" r="7338"/>
                      <a:stretch>
                        <a:fillRect/>
                      </a:stretch>
                    </p:blipFill>
                    <p:spPr bwMode="auto">
                      <a:xfrm>
                        <a:off x="5292725" y="1773238"/>
                        <a:ext cx="3659188"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11" name="Rectangle 11"/>
          <p:cNvSpPr>
            <a:spLocks noChangeArrowheads="1"/>
          </p:cNvSpPr>
          <p:nvPr/>
        </p:nvSpPr>
        <p:spPr bwMode="auto">
          <a:xfrm>
            <a:off x="1331913" y="2133600"/>
            <a:ext cx="3889375"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47650">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⑴将</a:t>
            </a:r>
            <a:r>
              <a:rPr lang="en-US" altLang="zh-CN"/>
              <a:t>xOy</a:t>
            </a:r>
            <a:r>
              <a:rPr lang="zh-CN" altLang="en-US"/>
              <a:t>坐标系原点</a:t>
            </a:r>
            <a:r>
              <a:rPr lang="en-US" altLang="zh-CN"/>
              <a:t>O(0,0)</a:t>
            </a:r>
            <a:r>
              <a:rPr lang="zh-CN" altLang="en-US"/>
              <a:t>平移到点</a:t>
            </a:r>
            <a:r>
              <a:rPr lang="en-US" altLang="zh-CN"/>
              <a:t>O’</a:t>
            </a:r>
            <a:r>
              <a:rPr lang="zh-CN" altLang="en-US"/>
              <a:t>（</a:t>
            </a:r>
            <a:r>
              <a:rPr lang="en-US" altLang="zh-CN"/>
              <a:t>5,5</a:t>
            </a:r>
            <a:r>
              <a:rPr lang="zh-CN" altLang="en-US"/>
              <a:t>），变换矩阵为</a:t>
            </a:r>
            <a:r>
              <a:rPr lang="en-US" altLang="zh-CN"/>
              <a:t>T1</a:t>
            </a:r>
            <a:r>
              <a:rPr lang="zh-CN" altLang="en-US"/>
              <a:t>；</a:t>
            </a:r>
          </a:p>
          <a:p>
            <a:pPr eaLnBrk="1" hangingPunct="1">
              <a:buFont typeface="Arial" panose="020B0604020202020204" pitchFamily="34" charset="0"/>
              <a:buNone/>
            </a:pPr>
            <a:r>
              <a:rPr lang="zh-CN" altLang="en-US"/>
              <a:t>⑵将坐标系逆时针旋转</a:t>
            </a:r>
            <a:r>
              <a:rPr lang="en-US" altLang="zh-CN"/>
              <a:t>45°</a:t>
            </a:r>
            <a:r>
              <a:rPr lang="zh-CN" altLang="en-US"/>
              <a:t>，变换矩阵为</a:t>
            </a:r>
            <a:r>
              <a:rPr lang="en-US" altLang="zh-CN"/>
              <a:t>T2</a:t>
            </a:r>
            <a:r>
              <a:rPr lang="zh-CN" altLang="en-US"/>
              <a:t>；</a:t>
            </a:r>
          </a:p>
          <a:p>
            <a:pPr eaLnBrk="1" hangingPunct="1">
              <a:buFont typeface="Arial" panose="020B0604020202020204" pitchFamily="34" charset="0"/>
              <a:buNone/>
            </a:pPr>
            <a:r>
              <a:rPr lang="zh-CN" altLang="en-US"/>
              <a:t>⑶将</a:t>
            </a:r>
            <a:r>
              <a:rPr lang="en-US" altLang="zh-CN"/>
              <a:t>x</a:t>
            </a:r>
            <a:r>
              <a:rPr lang="zh-CN" altLang="en-US"/>
              <a:t>轴作反射变换，指向</a:t>
            </a:r>
            <a:r>
              <a:rPr lang="en-US" altLang="zh-CN"/>
              <a:t>O</a:t>
            </a:r>
            <a:r>
              <a:rPr lang="zh-CN" altLang="en-US"/>
              <a:t>点，变换矩阵为</a:t>
            </a:r>
            <a:r>
              <a:rPr lang="en-US" altLang="zh-CN"/>
              <a:t>T3</a:t>
            </a:r>
            <a:r>
              <a:rPr lang="zh-CN" altLang="en-US"/>
              <a:t>。 </a:t>
            </a:r>
          </a:p>
          <a:p>
            <a:pPr eaLnBrk="1" hangingPunct="1">
              <a:buFont typeface="Arial" panose="020B0604020202020204" pitchFamily="34" charset="0"/>
              <a:buNone/>
            </a:pPr>
            <a:r>
              <a:rPr lang="zh-CN" altLang="en-US"/>
              <a:t>每步的变换矩阵为</a:t>
            </a:r>
          </a:p>
        </p:txBody>
      </p:sp>
      <p:graphicFrame>
        <p:nvGraphicFramePr>
          <p:cNvPr id="98312" name="Object 5"/>
          <p:cNvGraphicFramePr>
            <a:graphicFrameLocks noChangeAspect="1"/>
          </p:cNvGraphicFramePr>
          <p:nvPr/>
        </p:nvGraphicFramePr>
        <p:xfrm>
          <a:off x="1258888" y="5373688"/>
          <a:ext cx="2160587" cy="1296987"/>
        </p:xfrm>
        <a:graphic>
          <a:graphicData uri="http://schemas.openxmlformats.org/presentationml/2006/ole">
            <mc:AlternateContent xmlns:mc="http://schemas.openxmlformats.org/markup-compatibility/2006">
              <mc:Choice xmlns:v="urn:schemas-microsoft-com:vml" Requires="v">
                <p:oleObj spid="_x0000_s98349" r:id="rId8" imgW="1194318" imgH="711509" progId="Equation.3">
                  <p:embed/>
                </p:oleObj>
              </mc:Choice>
              <mc:Fallback>
                <p:oleObj r:id="rId8" imgW="1194318" imgH="711509"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5373688"/>
                        <a:ext cx="2160587"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3" name="Object 10"/>
          <p:cNvGraphicFramePr>
            <a:graphicFrameLocks noChangeAspect="1"/>
          </p:cNvGraphicFramePr>
          <p:nvPr/>
        </p:nvGraphicFramePr>
        <p:xfrm>
          <a:off x="3571875" y="4786313"/>
          <a:ext cx="2087563" cy="1914525"/>
        </p:xfrm>
        <a:graphic>
          <a:graphicData uri="http://schemas.openxmlformats.org/presentationml/2006/ole">
            <mc:AlternateContent xmlns:mc="http://schemas.openxmlformats.org/markup-compatibility/2006">
              <mc:Choice xmlns:v="urn:schemas-microsoft-com:vml" Requires="v">
                <p:oleObj spid="_x0000_s98350" r:id="rId10" imgW="1384901" imgH="1270551" progId="Equation.3">
                  <p:embed/>
                </p:oleObj>
              </mc:Choice>
              <mc:Fallback>
                <p:oleObj r:id="rId10" imgW="1384901" imgH="1270551"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1875" y="4786313"/>
                        <a:ext cx="208756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8314" name="Object 11"/>
          <p:cNvGraphicFramePr>
            <a:graphicFrameLocks noChangeAspect="1"/>
          </p:cNvGraphicFramePr>
          <p:nvPr/>
        </p:nvGraphicFramePr>
        <p:xfrm>
          <a:off x="6227763" y="5300663"/>
          <a:ext cx="2016125" cy="1349375"/>
        </p:xfrm>
        <a:graphic>
          <a:graphicData uri="http://schemas.openxmlformats.org/presentationml/2006/ole">
            <mc:AlternateContent xmlns:mc="http://schemas.openxmlformats.org/markup-compatibility/2006">
              <mc:Choice xmlns:v="urn:schemas-microsoft-com:vml" Requires="v">
                <p:oleObj spid="_x0000_s98351" r:id="rId12" imgW="1067263" imgH="711509" progId="Equation.3">
                  <p:embed/>
                </p:oleObj>
              </mc:Choice>
              <mc:Fallback>
                <p:oleObj r:id="rId12" imgW="1067263" imgH="711509"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27763" y="5300663"/>
                        <a:ext cx="2016125" cy="134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15" name="Rectangle 17"/>
          <p:cNvSpPr>
            <a:spLocks noChangeArrowheads="1"/>
          </p:cNvSpPr>
          <p:nvPr/>
        </p:nvSpPr>
        <p:spPr bwMode="auto">
          <a:xfrm>
            <a:off x="12700" y="4062413"/>
            <a:ext cx="3111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sz="1000">
                <a:latin typeface="Times New Roman" panose="02020603050405020304" pitchFamily="18"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12"/>
          <p:cNvSpPr>
            <a:spLocks noChangeArrowheads="1"/>
          </p:cNvSpPr>
          <p:nvPr/>
        </p:nvSpPr>
        <p:spPr bwMode="auto">
          <a:xfrm>
            <a:off x="1692275" y="333375"/>
            <a:ext cx="5989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buFont typeface="Arial" panose="020B0604020202020204" pitchFamily="34" charset="0"/>
              <a:buNone/>
            </a:pPr>
            <a:r>
              <a:rPr lang="zh-CN" altLang="en-US"/>
              <a:t>从</a:t>
            </a:r>
            <a:r>
              <a:rPr lang="en-US" altLang="zh-CN"/>
              <a:t>xOy</a:t>
            </a:r>
            <a:r>
              <a:rPr lang="zh-CN" altLang="en-US"/>
              <a:t>坐标系到</a:t>
            </a:r>
            <a:r>
              <a:rPr lang="en-US" altLang="zh-CN"/>
              <a:t>x’O’y’</a:t>
            </a:r>
            <a:r>
              <a:rPr lang="zh-CN" altLang="en-US"/>
              <a:t>坐标系的总变换矩阵为</a:t>
            </a:r>
          </a:p>
        </p:txBody>
      </p:sp>
      <p:sp>
        <p:nvSpPr>
          <p:cNvPr id="99331" name="Rectangle 14"/>
          <p:cNvSpPr>
            <a:spLocks noChangeArrowheads="1"/>
          </p:cNvSpPr>
          <p:nvPr/>
        </p:nvSpPr>
        <p:spPr bwMode="auto">
          <a:xfrm>
            <a:off x="1357313" y="3071813"/>
            <a:ext cx="7345362" cy="223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50000"/>
              </a:lnSpc>
              <a:buFont typeface="Arial" panose="020B0604020202020204" pitchFamily="34" charset="0"/>
              <a:buNone/>
            </a:pPr>
            <a:r>
              <a:rPr lang="en-US" altLang="zh-CN"/>
              <a:t>8*</a:t>
            </a:r>
            <a:r>
              <a:rPr lang="zh-CN" altLang="en-US"/>
              <a:t>将三维基本变换编制为</a:t>
            </a:r>
            <a:r>
              <a:rPr lang="en-US" altLang="zh-CN"/>
              <a:t>CTransform</a:t>
            </a:r>
            <a:r>
              <a:rPr lang="zh-CN" altLang="en-US"/>
              <a:t>类，将立方体的顶点表和面表编制为</a:t>
            </a:r>
            <a:r>
              <a:rPr lang="en-US" altLang="zh-CN"/>
              <a:t>CCube</a:t>
            </a:r>
            <a:r>
              <a:rPr lang="zh-CN" altLang="en-US"/>
              <a:t>类，请在</a:t>
            </a:r>
            <a:r>
              <a:rPr lang="en-US" altLang="zh-CN"/>
              <a:t>CTestView</a:t>
            </a:r>
            <a:r>
              <a:rPr lang="zh-CN" altLang="en-US"/>
              <a:t>类里调用该类对象绘制正交投影的旋转立方体线框模型。请使用工具条上的“动画”图标播放旋转动画。</a:t>
            </a:r>
          </a:p>
        </p:txBody>
      </p:sp>
      <p:graphicFrame>
        <p:nvGraphicFramePr>
          <p:cNvPr id="99332" name="Object 5"/>
          <p:cNvGraphicFramePr>
            <a:graphicFrameLocks noChangeAspect="1"/>
          </p:cNvGraphicFramePr>
          <p:nvPr/>
        </p:nvGraphicFramePr>
        <p:xfrm>
          <a:off x="1835150" y="1052513"/>
          <a:ext cx="2087563" cy="550862"/>
        </p:xfrm>
        <a:graphic>
          <a:graphicData uri="http://schemas.openxmlformats.org/presentationml/2006/ole">
            <mc:AlternateContent xmlns:mc="http://schemas.openxmlformats.org/markup-compatibility/2006">
              <mc:Choice xmlns:v="urn:schemas-microsoft-com:vml" Requires="v">
                <p:oleObj spid="_x0000_s99339" r:id="rId3" imgW="863600" imgH="228600" progId="Equation.3">
                  <p:embed/>
                </p:oleObj>
              </mc:Choice>
              <mc:Fallback>
                <p:oleObj r:id="rId3" imgW="8636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052513"/>
                        <a:ext cx="2087563"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33" name="Rectangle 15"/>
          <p:cNvSpPr>
            <a:spLocks noChangeArrowheads="1"/>
          </p:cNvSpPr>
          <p:nvPr/>
        </p:nvSpPr>
        <p:spPr bwMode="auto">
          <a:xfrm>
            <a:off x="1331913" y="1700213"/>
            <a:ext cx="7632700"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Tahoma" panose="020B0604030504040204" pitchFamily="34" charset="0"/>
                <a:ea typeface="楷体_GB2312" pitchFamily="49" charset="-122"/>
              </a:defRPr>
            </a:lvl1pPr>
            <a:lvl2pPr marL="742950" indent="-285750">
              <a:defRPr sz="2400">
                <a:solidFill>
                  <a:schemeClr val="tx1"/>
                </a:solidFill>
                <a:latin typeface="Tahoma" panose="020B0604030504040204" pitchFamily="34" charset="0"/>
                <a:ea typeface="楷体_GB2312" pitchFamily="49" charset="-122"/>
              </a:defRPr>
            </a:lvl2pPr>
            <a:lvl3pPr marL="1143000" indent="-228600">
              <a:defRPr sz="2400">
                <a:solidFill>
                  <a:schemeClr val="tx1"/>
                </a:solidFill>
                <a:latin typeface="Tahoma" panose="020B0604030504040204" pitchFamily="34" charset="0"/>
                <a:ea typeface="楷体_GB2312" pitchFamily="49" charset="-122"/>
              </a:defRPr>
            </a:lvl3pPr>
            <a:lvl4pPr marL="1600200" indent="-228600">
              <a:defRPr sz="2400">
                <a:solidFill>
                  <a:schemeClr val="tx1"/>
                </a:solidFill>
                <a:latin typeface="Tahoma" panose="020B0604030504040204" pitchFamily="34" charset="0"/>
                <a:ea typeface="楷体_GB2312" pitchFamily="49" charset="-122"/>
              </a:defRPr>
            </a:lvl4pPr>
            <a:lvl5pPr marL="2057400" indent="-228600">
              <a:defRPr sz="2400">
                <a:solidFill>
                  <a:schemeClr val="tx1"/>
                </a:solidFill>
                <a:latin typeface="Tahoma" panose="020B0604030504040204" pitchFamily="34" charset="0"/>
                <a:ea typeface="楷体_GB2312" pitchFamily="49"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楷体_GB2312" pitchFamily="49" charset="-122"/>
              </a:defRPr>
            </a:lvl9pPr>
          </a:lstStyle>
          <a:p>
            <a:pPr eaLnBrk="1" hangingPunct="1">
              <a:lnSpc>
                <a:spcPct val="150000"/>
              </a:lnSpc>
              <a:buFont typeface="Arial" panose="020B0604020202020204" pitchFamily="34" charset="0"/>
              <a:buNone/>
            </a:pPr>
            <a:r>
              <a:rPr lang="zh-CN" altLang="en-US"/>
              <a:t>请验证在坐标系之间的变换过程中，变换矩阵</a:t>
            </a:r>
            <a:r>
              <a:rPr lang="en-US" altLang="zh-CN"/>
              <a:t>T</a:t>
            </a:r>
            <a:r>
              <a:rPr lang="zh-CN" altLang="en-US"/>
              <a:t>能否保证</a:t>
            </a:r>
            <a:r>
              <a:rPr lang="en-US" altLang="zh-CN"/>
              <a:t>P</a:t>
            </a:r>
            <a:r>
              <a:rPr lang="zh-CN" altLang="en-US"/>
              <a:t>点在坐标纸上的位置不发生变化，并解释为什么。</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C:\WINDOWS\Application Data\Microsoft\Templates\oa_9_p2.pot</Template>
  <TotalTime>660</TotalTime>
  <Pages>0</Pages>
  <Words>4531</Words>
  <Characters>0</Characters>
  <Application>Microsoft Office PowerPoint</Application>
  <DocSecurity>0</DocSecurity>
  <PresentationFormat>全屏显示(4:3)</PresentationFormat>
  <Lines>0</Lines>
  <Paragraphs>426</Paragraphs>
  <Slides>83</Slides>
  <Notes>0</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4</vt:i4>
      </vt:variant>
      <vt:variant>
        <vt:lpstr>幻灯片标题</vt:lpstr>
      </vt:variant>
      <vt:variant>
        <vt:i4>83</vt:i4>
      </vt:variant>
    </vt:vector>
  </HeadingPairs>
  <TitlesOfParts>
    <vt:vector size="103" baseType="lpstr">
      <vt:lpstr>等线</vt:lpstr>
      <vt:lpstr>等线 Light</vt:lpstr>
      <vt:lpstr>方正粗黑宋简体</vt:lpstr>
      <vt:lpstr>黑体</vt:lpstr>
      <vt:lpstr>楷体_GB2312</vt:lpstr>
      <vt:lpstr>隶书</vt:lpstr>
      <vt:lpstr>宋体</vt:lpstr>
      <vt:lpstr>微软雅黑</vt:lpstr>
      <vt:lpstr>幼圆</vt:lpstr>
      <vt:lpstr>Arial</vt:lpstr>
      <vt:lpstr>Symbol</vt:lpstr>
      <vt:lpstr>Tahoma</vt:lpstr>
      <vt:lpstr>Times New Roman</vt:lpstr>
      <vt:lpstr>Wingdings</vt:lpstr>
      <vt:lpstr>Office 主题​​</vt:lpstr>
      <vt:lpstr>1_Office 主题​​</vt:lpstr>
      <vt:lpstr>公式</vt:lpstr>
      <vt:lpstr>Microsoft 公式 3.0</vt:lpstr>
      <vt:lpstr>Visio.Drawing.11</vt:lpstr>
      <vt:lpstr>Visio</vt:lpstr>
      <vt:lpstr>PowerPoint 演示文稿</vt:lpstr>
      <vt:lpstr>PowerPoint 演示文稿</vt:lpstr>
      <vt:lpstr>PowerPoint 演示文稿</vt:lpstr>
      <vt:lpstr>6.1 三维图形几何变换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 6</vt:lpstr>
      <vt:lpstr>PowerPoint 演示文稿</vt:lpstr>
      <vt:lpstr>PowerPoint 演示文稿</vt:lpstr>
      <vt:lpstr>PowerPoint 演示文稿</vt:lpstr>
      <vt:lpstr>PowerPoint 演示文稿</vt:lpstr>
      <vt:lpstr>PowerPoint 演示文稿</vt:lpstr>
      <vt:lpstr>PowerPoint 演示文稿</vt:lpstr>
    </vt:vector>
  </TitlesOfParts>
  <Manager/>
  <Company>LZQ</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计算机图形学基础教程</dc:title>
  <dc:subject>太原工业学院</dc:subject>
  <dc:creator>孔令德</dc:creator>
  <cp:keywords/>
  <dc:description/>
  <cp:lastModifiedBy>DELL</cp:lastModifiedBy>
  <cp:revision>652</cp:revision>
  <dcterms:created xsi:type="dcterms:W3CDTF">2001-04-17T13:25:43Z</dcterms:created>
  <dcterms:modified xsi:type="dcterms:W3CDTF">2025-11-22T08:29:53Z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2052-9.1.0.4517</vt:lpwstr>
  </property>
</Properties>
</file>