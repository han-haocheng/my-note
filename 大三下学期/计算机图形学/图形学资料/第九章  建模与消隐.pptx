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ctiveX/activeX1.xml" ContentType="application/vnd.ms-office.activeX+xml"/>
  <Override PartName="/ppt/activeX/activeX1.bin" ContentType="application/vnd.ms-office.activeX"/>
  <Override PartName="/ppt/activeX/activeX2.xml" ContentType="application/vnd.ms-office.activeX+xml"/>
  <Override PartName="/ppt/activeX/activeX2.bin" ContentType="application/vnd.ms-office.activeX"/>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 id="2147483699" r:id="rId2"/>
  </p:sldMasterIdLst>
  <p:notesMasterIdLst>
    <p:notesMasterId r:id="rId118"/>
  </p:notesMasterIdLst>
  <p:sldIdLst>
    <p:sldId id="802" r:id="rId3"/>
    <p:sldId id="709" r:id="rId4"/>
    <p:sldId id="708" r:id="rId5"/>
    <p:sldId id="711" r:id="rId6"/>
    <p:sldId id="622" r:id="rId7"/>
    <p:sldId id="710" r:id="rId8"/>
    <p:sldId id="834" r:id="rId9"/>
    <p:sldId id="713" r:id="rId10"/>
    <p:sldId id="714" r:id="rId11"/>
    <p:sldId id="717" r:id="rId12"/>
    <p:sldId id="716" r:id="rId13"/>
    <p:sldId id="718" r:id="rId14"/>
    <p:sldId id="719" r:id="rId15"/>
    <p:sldId id="720" r:id="rId16"/>
    <p:sldId id="803" r:id="rId17"/>
    <p:sldId id="721" r:id="rId18"/>
    <p:sldId id="836" r:id="rId19"/>
    <p:sldId id="722" r:id="rId20"/>
    <p:sldId id="723" r:id="rId21"/>
    <p:sldId id="724" r:id="rId22"/>
    <p:sldId id="726" r:id="rId23"/>
    <p:sldId id="725" r:id="rId24"/>
    <p:sldId id="736" r:id="rId25"/>
    <p:sldId id="737" r:id="rId26"/>
    <p:sldId id="727" r:id="rId27"/>
    <p:sldId id="733" r:id="rId28"/>
    <p:sldId id="731" r:id="rId29"/>
    <p:sldId id="729" r:id="rId30"/>
    <p:sldId id="728" r:id="rId31"/>
    <p:sldId id="738" r:id="rId32"/>
    <p:sldId id="739" r:id="rId33"/>
    <p:sldId id="812" r:id="rId34"/>
    <p:sldId id="740" r:id="rId35"/>
    <p:sldId id="741" r:id="rId36"/>
    <p:sldId id="742" r:id="rId37"/>
    <p:sldId id="813" r:id="rId38"/>
    <p:sldId id="743" r:id="rId39"/>
    <p:sldId id="831" r:id="rId40"/>
    <p:sldId id="833" r:id="rId41"/>
    <p:sldId id="830" r:id="rId42"/>
    <p:sldId id="744" r:id="rId43"/>
    <p:sldId id="745" r:id="rId44"/>
    <p:sldId id="747" r:id="rId45"/>
    <p:sldId id="748" r:id="rId46"/>
    <p:sldId id="814" r:id="rId47"/>
    <p:sldId id="749" r:id="rId48"/>
    <p:sldId id="750" r:id="rId49"/>
    <p:sldId id="751" r:id="rId50"/>
    <p:sldId id="752" r:id="rId51"/>
    <p:sldId id="805" r:id="rId52"/>
    <p:sldId id="806" r:id="rId53"/>
    <p:sldId id="815" r:id="rId54"/>
    <p:sldId id="753" r:id="rId55"/>
    <p:sldId id="754" r:id="rId56"/>
    <p:sldId id="807" r:id="rId57"/>
    <p:sldId id="755" r:id="rId58"/>
    <p:sldId id="808" r:id="rId59"/>
    <p:sldId id="758" r:id="rId60"/>
    <p:sldId id="809" r:id="rId61"/>
    <p:sldId id="759" r:id="rId62"/>
    <p:sldId id="760" r:id="rId63"/>
    <p:sldId id="761" r:id="rId64"/>
    <p:sldId id="762" r:id="rId65"/>
    <p:sldId id="763" r:id="rId66"/>
    <p:sldId id="764" r:id="rId67"/>
    <p:sldId id="810" r:id="rId68"/>
    <p:sldId id="766" r:id="rId69"/>
    <p:sldId id="767" r:id="rId70"/>
    <p:sldId id="768" r:id="rId71"/>
    <p:sldId id="769" r:id="rId72"/>
    <p:sldId id="770" r:id="rId73"/>
    <p:sldId id="771" r:id="rId74"/>
    <p:sldId id="772" r:id="rId75"/>
    <p:sldId id="773" r:id="rId76"/>
    <p:sldId id="775" r:id="rId77"/>
    <p:sldId id="776" r:id="rId78"/>
    <p:sldId id="777" r:id="rId79"/>
    <p:sldId id="778" r:id="rId80"/>
    <p:sldId id="779" r:id="rId81"/>
    <p:sldId id="781" r:id="rId82"/>
    <p:sldId id="811" r:id="rId83"/>
    <p:sldId id="782" r:id="rId84"/>
    <p:sldId id="783" r:id="rId85"/>
    <p:sldId id="784" r:id="rId86"/>
    <p:sldId id="785" r:id="rId87"/>
    <p:sldId id="786" r:id="rId88"/>
    <p:sldId id="787" r:id="rId89"/>
    <p:sldId id="788" r:id="rId90"/>
    <p:sldId id="789" r:id="rId91"/>
    <p:sldId id="790" r:id="rId92"/>
    <p:sldId id="791" r:id="rId93"/>
    <p:sldId id="792" r:id="rId94"/>
    <p:sldId id="793" r:id="rId95"/>
    <p:sldId id="794" r:id="rId96"/>
    <p:sldId id="795" r:id="rId97"/>
    <p:sldId id="796" r:id="rId98"/>
    <p:sldId id="797" r:id="rId99"/>
    <p:sldId id="798" r:id="rId100"/>
    <p:sldId id="799" r:id="rId101"/>
    <p:sldId id="800" r:id="rId102"/>
    <p:sldId id="801" r:id="rId103"/>
    <p:sldId id="816" r:id="rId104"/>
    <p:sldId id="817" r:id="rId105"/>
    <p:sldId id="818" r:id="rId106"/>
    <p:sldId id="819" r:id="rId107"/>
    <p:sldId id="820" r:id="rId108"/>
    <p:sldId id="821" r:id="rId109"/>
    <p:sldId id="822" r:id="rId110"/>
    <p:sldId id="823" r:id="rId111"/>
    <p:sldId id="824" r:id="rId112"/>
    <p:sldId id="825" r:id="rId113"/>
    <p:sldId id="826" r:id="rId114"/>
    <p:sldId id="827" r:id="rId115"/>
    <p:sldId id="828" r:id="rId116"/>
    <p:sldId id="829" r:id="rId117"/>
  </p:sldIdLst>
  <p:sldSz cx="9144000" cy="6858000" type="screen4x3"/>
  <p:notesSz cx="6858000" cy="9144000"/>
  <p:defaultTextStyle>
    <a:defPPr>
      <a:defRPr lang="en-US"/>
    </a:defPPr>
    <a:lvl1pPr algn="ctr" rtl="0" fontAlgn="base">
      <a:spcBef>
        <a:spcPct val="50000"/>
      </a:spcBef>
      <a:spcAft>
        <a:spcPct val="0"/>
      </a:spcAft>
      <a:buFont typeface="Arial" pitchFamily="34" charset="0"/>
      <a:defRPr sz="2400" kern="1200">
        <a:solidFill>
          <a:srgbClr val="0000CC"/>
        </a:solidFill>
        <a:latin typeface="Arial" pitchFamily="34" charset="0"/>
        <a:ea typeface="宋体" pitchFamily="2" charset="-122"/>
        <a:cs typeface="+mn-cs"/>
      </a:defRPr>
    </a:lvl1pPr>
    <a:lvl2pPr marL="457200" algn="ctr" rtl="0" fontAlgn="base">
      <a:spcBef>
        <a:spcPct val="50000"/>
      </a:spcBef>
      <a:spcAft>
        <a:spcPct val="0"/>
      </a:spcAft>
      <a:buFont typeface="Arial" pitchFamily="34" charset="0"/>
      <a:defRPr sz="2400" kern="1200">
        <a:solidFill>
          <a:srgbClr val="0000CC"/>
        </a:solidFill>
        <a:latin typeface="Arial" pitchFamily="34" charset="0"/>
        <a:ea typeface="宋体" pitchFamily="2" charset="-122"/>
        <a:cs typeface="+mn-cs"/>
      </a:defRPr>
    </a:lvl2pPr>
    <a:lvl3pPr marL="914400" algn="ctr" rtl="0" fontAlgn="base">
      <a:spcBef>
        <a:spcPct val="50000"/>
      </a:spcBef>
      <a:spcAft>
        <a:spcPct val="0"/>
      </a:spcAft>
      <a:buFont typeface="Arial" pitchFamily="34" charset="0"/>
      <a:defRPr sz="2400" kern="1200">
        <a:solidFill>
          <a:srgbClr val="0000CC"/>
        </a:solidFill>
        <a:latin typeface="Arial" pitchFamily="34" charset="0"/>
        <a:ea typeface="宋体" pitchFamily="2" charset="-122"/>
        <a:cs typeface="+mn-cs"/>
      </a:defRPr>
    </a:lvl3pPr>
    <a:lvl4pPr marL="1371600" algn="ctr" rtl="0" fontAlgn="base">
      <a:spcBef>
        <a:spcPct val="50000"/>
      </a:spcBef>
      <a:spcAft>
        <a:spcPct val="0"/>
      </a:spcAft>
      <a:buFont typeface="Arial" pitchFamily="34" charset="0"/>
      <a:defRPr sz="2400" kern="1200">
        <a:solidFill>
          <a:srgbClr val="0000CC"/>
        </a:solidFill>
        <a:latin typeface="Arial" pitchFamily="34" charset="0"/>
        <a:ea typeface="宋体" pitchFamily="2" charset="-122"/>
        <a:cs typeface="+mn-cs"/>
      </a:defRPr>
    </a:lvl4pPr>
    <a:lvl5pPr marL="1828800" algn="ctr" rtl="0" fontAlgn="base">
      <a:spcBef>
        <a:spcPct val="50000"/>
      </a:spcBef>
      <a:spcAft>
        <a:spcPct val="0"/>
      </a:spcAft>
      <a:buFont typeface="Arial" pitchFamily="34" charset="0"/>
      <a:defRPr sz="2400" kern="1200">
        <a:solidFill>
          <a:srgbClr val="0000CC"/>
        </a:solidFill>
        <a:latin typeface="Arial" pitchFamily="34" charset="0"/>
        <a:ea typeface="宋体" pitchFamily="2" charset="-122"/>
        <a:cs typeface="+mn-cs"/>
      </a:defRPr>
    </a:lvl5pPr>
    <a:lvl6pPr marL="2286000" algn="l" defTabSz="914400" rtl="0" eaLnBrk="1" latinLnBrk="0" hangingPunct="1">
      <a:defRPr sz="2400" kern="1200">
        <a:solidFill>
          <a:srgbClr val="0000CC"/>
        </a:solidFill>
        <a:latin typeface="Arial" pitchFamily="34" charset="0"/>
        <a:ea typeface="宋体" pitchFamily="2" charset="-122"/>
        <a:cs typeface="+mn-cs"/>
      </a:defRPr>
    </a:lvl6pPr>
    <a:lvl7pPr marL="2743200" algn="l" defTabSz="914400" rtl="0" eaLnBrk="1" latinLnBrk="0" hangingPunct="1">
      <a:defRPr sz="2400" kern="1200">
        <a:solidFill>
          <a:srgbClr val="0000CC"/>
        </a:solidFill>
        <a:latin typeface="Arial" pitchFamily="34" charset="0"/>
        <a:ea typeface="宋体" pitchFamily="2" charset="-122"/>
        <a:cs typeface="+mn-cs"/>
      </a:defRPr>
    </a:lvl7pPr>
    <a:lvl8pPr marL="3200400" algn="l" defTabSz="914400" rtl="0" eaLnBrk="1" latinLnBrk="0" hangingPunct="1">
      <a:defRPr sz="2400" kern="1200">
        <a:solidFill>
          <a:srgbClr val="0000CC"/>
        </a:solidFill>
        <a:latin typeface="Arial" pitchFamily="34" charset="0"/>
        <a:ea typeface="宋体" pitchFamily="2" charset="-122"/>
        <a:cs typeface="+mn-cs"/>
      </a:defRPr>
    </a:lvl8pPr>
    <a:lvl9pPr marL="3657600" algn="l" defTabSz="914400" rtl="0" eaLnBrk="1" latinLnBrk="0" hangingPunct="1">
      <a:defRPr sz="2400" kern="1200">
        <a:solidFill>
          <a:srgbClr val="0000CC"/>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10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FF"/>
    <a:srgbClr val="DDDDDD"/>
    <a:srgbClr val="000000"/>
    <a:srgbClr val="008080"/>
    <a:srgbClr val="00CC00"/>
    <a:srgbClr val="990033"/>
    <a:srgbClr val="339933"/>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96"/>
      </p:cViewPr>
      <p:guideLst>
        <p:guide orient="horz" pos="2160"/>
        <p:guide pos="100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notesMaster" Target="notesMasters/notesMaster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presProps" Target="presProps.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theme" Target="theme/theme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tableStyles" Target="tableStyles.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activeX1.xml><?xml version="1.0" encoding="utf-8"?>
<ax:ocx xmlns:ax="http://schemas.microsoft.com/office/2006/activeX" xmlns:r="http://schemas.openxmlformats.org/officeDocument/2006/relationships" ax:classid="{8BD21D10-EC42-11CE-9E0D-00AA006002F3}" ax:persistence="persistStorage" r:id="rId1"/>
</file>

<file path=ppt/activeX/activeX2.xml><?xml version="1.0" encoding="utf-8"?>
<ax:ocx xmlns:ax="http://schemas.microsoft.com/office/2006/activeX" xmlns:r="http://schemas.openxmlformats.org/officeDocument/2006/relationships" ax:classid="{8BD21D10-EC42-11CE-9E0D-00AA006002F3}" ax:persistence="persistStorage" r:id="rId1"/>
</file>

<file path=ppt/drawings/_rels/vmlDrawing1.v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image" Target="../media/image4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image" Target="../media/image4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3.wmf"/><Relationship Id="rId7" Type="http://schemas.openxmlformats.org/officeDocument/2006/relationships/image" Target="../media/image57.wmf"/><Relationship Id="rId2" Type="http://schemas.openxmlformats.org/officeDocument/2006/relationships/image" Target="../media/image52.wmf"/><Relationship Id="rId1" Type="http://schemas.openxmlformats.org/officeDocument/2006/relationships/image" Target="../media/image51.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wmf"/><Relationship Id="rId1" Type="http://schemas.openxmlformats.org/officeDocument/2006/relationships/image" Target="../media/image60.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7.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image" Target="../media/image72.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76.emf"/><Relationship Id="rId1" Type="http://schemas.openxmlformats.org/officeDocument/2006/relationships/image" Target="../media/image75.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image" Target="../media/image7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79.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emf"/><Relationship Id="rId4" Type="http://schemas.openxmlformats.org/officeDocument/2006/relationships/image" Target="../media/image88.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image" Target="../media/image91.emf"/><Relationship Id="rId1" Type="http://schemas.openxmlformats.org/officeDocument/2006/relationships/image" Target="../media/image90.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emf"/><Relationship Id="rId4" Type="http://schemas.openxmlformats.org/officeDocument/2006/relationships/image" Target="../media/image97.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98.e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01.emf"/><Relationship Id="rId1" Type="http://schemas.openxmlformats.org/officeDocument/2006/relationships/image" Target="../media/image100.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04.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05.e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07.emf"/><Relationship Id="rId1" Type="http://schemas.openxmlformats.org/officeDocument/2006/relationships/image" Target="../media/image106.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12.emf"/><Relationship Id="rId2" Type="http://schemas.openxmlformats.org/officeDocument/2006/relationships/image" Target="../media/image111.emf"/><Relationship Id="rId1" Type="http://schemas.openxmlformats.org/officeDocument/2006/relationships/image" Target="../media/image110.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13.e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16.wmf"/><Relationship Id="rId7" Type="http://schemas.openxmlformats.org/officeDocument/2006/relationships/image" Target="../media/image120.wmf"/><Relationship Id="rId2" Type="http://schemas.openxmlformats.org/officeDocument/2006/relationships/image" Target="../media/image115.wmf"/><Relationship Id="rId1" Type="http://schemas.openxmlformats.org/officeDocument/2006/relationships/image" Target="../media/image114.wmf"/><Relationship Id="rId6" Type="http://schemas.openxmlformats.org/officeDocument/2006/relationships/image" Target="../media/image119.wmf"/><Relationship Id="rId5" Type="http://schemas.openxmlformats.org/officeDocument/2006/relationships/image" Target="../media/image118.wmf"/><Relationship Id="rId4" Type="http://schemas.openxmlformats.org/officeDocument/2006/relationships/image" Target="../media/image117.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23.wmf"/><Relationship Id="rId7" Type="http://schemas.openxmlformats.org/officeDocument/2006/relationships/image" Target="../media/image127.wmf"/><Relationship Id="rId2" Type="http://schemas.openxmlformats.org/officeDocument/2006/relationships/image" Target="../media/image122.wmf"/><Relationship Id="rId1" Type="http://schemas.openxmlformats.org/officeDocument/2006/relationships/image" Target="../media/image121.wmf"/><Relationship Id="rId6" Type="http://schemas.openxmlformats.org/officeDocument/2006/relationships/image" Target="../media/image126.wmf"/><Relationship Id="rId5" Type="http://schemas.openxmlformats.org/officeDocument/2006/relationships/image" Target="../media/image125.wmf"/><Relationship Id="rId4" Type="http://schemas.openxmlformats.org/officeDocument/2006/relationships/image" Target="../media/image124.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 Id="rId4" Type="http://schemas.openxmlformats.org/officeDocument/2006/relationships/image" Target="../media/image131.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42.emf"/><Relationship Id="rId1" Type="http://schemas.openxmlformats.org/officeDocument/2006/relationships/image" Target="../media/image141.wmf"/><Relationship Id="rId4" Type="http://schemas.openxmlformats.org/officeDocument/2006/relationships/image" Target="../media/image123.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image" Target="../media/image144.wmf"/><Relationship Id="rId1" Type="http://schemas.openxmlformats.org/officeDocument/2006/relationships/image" Target="../media/image143.wmf"/><Relationship Id="rId4" Type="http://schemas.openxmlformats.org/officeDocument/2006/relationships/image" Target="../media/image146.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47.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51.e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54.emf"/><Relationship Id="rId1" Type="http://schemas.openxmlformats.org/officeDocument/2006/relationships/image" Target="../media/image153.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image" Target="../media/image156.wmf"/><Relationship Id="rId1" Type="http://schemas.openxmlformats.org/officeDocument/2006/relationships/image" Target="../media/image155.wmf"/><Relationship Id="rId4" Type="http://schemas.openxmlformats.org/officeDocument/2006/relationships/image" Target="../media/image158.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161.wmf"/><Relationship Id="rId2" Type="http://schemas.openxmlformats.org/officeDocument/2006/relationships/image" Target="../media/image160.wmf"/><Relationship Id="rId1" Type="http://schemas.openxmlformats.org/officeDocument/2006/relationships/image" Target="../media/image159.wmf"/><Relationship Id="rId5" Type="http://schemas.openxmlformats.org/officeDocument/2006/relationships/image" Target="../media/image163.wmf"/><Relationship Id="rId4" Type="http://schemas.openxmlformats.org/officeDocument/2006/relationships/image" Target="../media/image162.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166.wmf"/><Relationship Id="rId2" Type="http://schemas.openxmlformats.org/officeDocument/2006/relationships/image" Target="../media/image165.wmf"/><Relationship Id="rId1" Type="http://schemas.openxmlformats.org/officeDocument/2006/relationships/image" Target="../media/image164.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69.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70.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172.emf"/><Relationship Id="rId1" Type="http://schemas.openxmlformats.org/officeDocument/2006/relationships/image" Target="../media/image171.e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79.emf"/><Relationship Id="rId1" Type="http://schemas.openxmlformats.org/officeDocument/2006/relationships/image" Target="../media/image178.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85.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87.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18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a:spcBef>
                <a:spcPct val="0"/>
              </a:spcBef>
              <a:defRPr sz="1200">
                <a:solidFill>
                  <a:schemeClr val="tx1"/>
                </a:solidFill>
                <a:latin typeface="Tahoma" pitchFamily="34" charset="0"/>
              </a:defRPr>
            </a:lvl1pPr>
          </a:lstStyle>
          <a:p>
            <a:endParaRPr lang="zh-CN" altLang="en-US"/>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0"/>
              </a:spcBef>
              <a:defRPr sz="1200">
                <a:solidFill>
                  <a:schemeClr val="tx1"/>
                </a:solidFill>
                <a:latin typeface="Tahoma" pitchFamily="34" charset="0"/>
              </a:defRPr>
            </a:lvl1pPr>
          </a:lstStyle>
          <a:p>
            <a:endParaRPr lang="en-US" altLang="zh-CN"/>
          </a:p>
        </p:txBody>
      </p:sp>
      <p:sp>
        <p:nvSpPr>
          <p:cNvPr id="3076" name="Rectangle 4"/>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a:spcBef>
                <a:spcPct val="0"/>
              </a:spcBef>
              <a:defRPr sz="1200">
                <a:solidFill>
                  <a:schemeClr val="tx1"/>
                </a:solidFill>
                <a:latin typeface="Tahoma" pitchFamily="34" charset="0"/>
              </a:defRPr>
            </a:lvl1pPr>
          </a:lstStyle>
          <a:p>
            <a:endParaRPr lang="en-US" altLang="zh-CN"/>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a:spcBef>
                <a:spcPct val="0"/>
              </a:spcBef>
              <a:defRPr sz="1200">
                <a:solidFill>
                  <a:schemeClr val="tx1"/>
                </a:solidFill>
                <a:latin typeface="Tahoma" pitchFamily="34" charset="0"/>
              </a:defRPr>
            </a:lvl1pPr>
          </a:lstStyle>
          <a:p>
            <a:fld id="{38C85C18-78A2-4142-B003-01210716E0C2}" type="slidenum">
              <a:rPr lang="zh-CN" altLang="en-US"/>
              <a:pPr/>
              <a:t>‹#›</a:t>
            </a:fld>
            <a:endParaRPr lang="en-US" altLang="zh-CN"/>
          </a:p>
        </p:txBody>
      </p:sp>
    </p:spTree>
    <p:extLst>
      <p:ext uri="{BB962C8B-B14F-4D97-AF65-F5344CB8AC3E}">
        <p14:creationId xmlns:p14="http://schemas.microsoft.com/office/powerpoint/2010/main" val="41168803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3855D8DE-41BD-4B36-92ED-03B39333E742}" type="datetime1">
              <a:rPr lang="zh-CN" altLang="en-US"/>
              <a:pPr/>
              <a:t>2025/11/29</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5D98BB1-7190-469E-8D37-546D847D88C2}" type="slidenum">
              <a:rPr lang="en-US" altLang="zh-CN"/>
              <a:pPr/>
              <a:t>‹#›</a:t>
            </a:fld>
            <a:endParaRPr lang="en-US" altLang="zh-CN"/>
          </a:p>
        </p:txBody>
      </p:sp>
    </p:spTree>
    <p:extLst>
      <p:ext uri="{BB962C8B-B14F-4D97-AF65-F5344CB8AC3E}">
        <p14:creationId xmlns:p14="http://schemas.microsoft.com/office/powerpoint/2010/main" val="245262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4EF68564-4275-4FCC-B71C-26A9002C6A25}" type="datetime1">
              <a:rPr lang="zh-CN" altLang="en-US"/>
              <a:pPr/>
              <a:t>2025/11/29</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0DF049D-1CC1-4992-ACEE-236E566210DA}" type="slidenum">
              <a:rPr lang="en-US" altLang="zh-CN"/>
              <a:pPr/>
              <a:t>‹#›</a:t>
            </a:fld>
            <a:endParaRPr lang="en-US" altLang="zh-CN"/>
          </a:p>
        </p:txBody>
      </p:sp>
    </p:spTree>
    <p:extLst>
      <p:ext uri="{BB962C8B-B14F-4D97-AF65-F5344CB8AC3E}">
        <p14:creationId xmlns:p14="http://schemas.microsoft.com/office/powerpoint/2010/main" val="1305808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A3716D89-B213-43A6-99C3-A98DBAF93EDC}" type="datetime1">
              <a:rPr lang="zh-CN" altLang="en-US"/>
              <a:pPr/>
              <a:t>2025/11/29</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0806AE9-462A-4F56-8564-9BB917F07FE0}" type="slidenum">
              <a:rPr lang="en-US" altLang="zh-CN"/>
              <a:pPr/>
              <a:t>‹#›</a:t>
            </a:fld>
            <a:endParaRPr lang="en-US" altLang="zh-CN"/>
          </a:p>
        </p:txBody>
      </p:sp>
    </p:spTree>
    <p:extLst>
      <p:ext uri="{BB962C8B-B14F-4D97-AF65-F5344CB8AC3E}">
        <p14:creationId xmlns:p14="http://schemas.microsoft.com/office/powerpoint/2010/main" val="4084095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4BF14877-9FBF-4701-9548-C083F94FC277}" type="datetime1">
              <a:rPr lang="zh-CN" altLang="en-US"/>
              <a:pPr/>
              <a:t>2025/11/29</a:t>
            </a:fld>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FFF95AFC-D230-4834-B772-8988ACFE5194}" type="slidenum">
              <a:rPr lang="en-US" altLang="zh-CN"/>
              <a:pPr/>
              <a:t>‹#›</a:t>
            </a:fld>
            <a:endParaRPr lang="en-US" altLang="zh-CN"/>
          </a:p>
        </p:txBody>
      </p:sp>
    </p:spTree>
    <p:extLst>
      <p:ext uri="{BB962C8B-B14F-4D97-AF65-F5344CB8AC3E}">
        <p14:creationId xmlns:p14="http://schemas.microsoft.com/office/powerpoint/2010/main" val="147686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7CA1C6AC-69F8-4960-BCD2-88F0FC4C7896}" type="datetime1">
              <a:rPr lang="zh-CN" altLang="en-US"/>
              <a:pPr/>
              <a:t>2025/11/29</a:t>
            </a:fld>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8258D9DF-871C-41C0-B1AF-E77FFA3CC259}" type="slidenum">
              <a:rPr lang="en-US" altLang="zh-CN"/>
              <a:pPr/>
              <a:t>‹#›</a:t>
            </a:fld>
            <a:endParaRPr lang="en-US" altLang="zh-CN"/>
          </a:p>
        </p:txBody>
      </p:sp>
    </p:spTree>
    <p:extLst>
      <p:ext uri="{BB962C8B-B14F-4D97-AF65-F5344CB8AC3E}">
        <p14:creationId xmlns:p14="http://schemas.microsoft.com/office/powerpoint/2010/main" val="2864704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6905FDE7-635C-4E0F-AD37-9E019DD8DA37}" type="datetime1">
              <a:rPr lang="zh-CN" altLang="en-US"/>
              <a:pPr/>
              <a:t>2025/11/29</a:t>
            </a:fld>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840C62CA-FDDD-4A9C-9A00-2553A872EC04}" type="slidenum">
              <a:rPr lang="en-US" altLang="zh-CN"/>
              <a:pPr/>
              <a:t>‹#›</a:t>
            </a:fld>
            <a:endParaRPr lang="en-US" altLang="zh-CN"/>
          </a:p>
        </p:txBody>
      </p:sp>
    </p:spTree>
    <p:extLst>
      <p:ext uri="{BB962C8B-B14F-4D97-AF65-F5344CB8AC3E}">
        <p14:creationId xmlns:p14="http://schemas.microsoft.com/office/powerpoint/2010/main" val="4219337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27CDA9A7-BF6A-4CA8-960C-C06F3817507E}" type="datetime1">
              <a:rPr lang="zh-CN" altLang="en-US"/>
              <a:pPr/>
              <a:t>2025/11/29</a:t>
            </a:fld>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4F2254DF-0FCE-4B9E-B6B4-C025669C2E1C}" type="slidenum">
              <a:rPr lang="en-US" altLang="zh-CN"/>
              <a:pPr/>
              <a:t>‹#›</a:t>
            </a:fld>
            <a:endParaRPr lang="en-US" altLang="zh-CN"/>
          </a:p>
        </p:txBody>
      </p:sp>
    </p:spTree>
    <p:extLst>
      <p:ext uri="{BB962C8B-B14F-4D97-AF65-F5344CB8AC3E}">
        <p14:creationId xmlns:p14="http://schemas.microsoft.com/office/powerpoint/2010/main" val="1323133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78E1AFE0-6578-45D7-A3D5-D23C2B906FA1}" type="datetime1">
              <a:rPr lang="zh-CN" altLang="en-US"/>
              <a:pPr/>
              <a:t>2025/11/29</a:t>
            </a:fld>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2171273-4998-4DA8-9250-1607DCDE44E6}" type="slidenum">
              <a:rPr lang="en-US" altLang="zh-CN"/>
              <a:pPr/>
              <a:t>‹#›</a:t>
            </a:fld>
            <a:endParaRPr lang="en-US" altLang="zh-CN"/>
          </a:p>
        </p:txBody>
      </p:sp>
    </p:spTree>
    <p:extLst>
      <p:ext uri="{BB962C8B-B14F-4D97-AF65-F5344CB8AC3E}">
        <p14:creationId xmlns:p14="http://schemas.microsoft.com/office/powerpoint/2010/main" val="1304612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D3A94859-BD61-4220-90C8-B917810C815F}" type="datetime1">
              <a:rPr lang="zh-CN" altLang="en-US"/>
              <a:pPr/>
              <a:t>2025/11/29</a:t>
            </a:fld>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3C563BCF-790D-46FB-91E9-2659B54166C3}" type="slidenum">
              <a:rPr lang="en-US" altLang="zh-CN"/>
              <a:pPr/>
              <a:t>‹#›</a:t>
            </a:fld>
            <a:endParaRPr lang="en-US" altLang="zh-CN"/>
          </a:p>
        </p:txBody>
      </p:sp>
    </p:spTree>
    <p:extLst>
      <p:ext uri="{BB962C8B-B14F-4D97-AF65-F5344CB8AC3E}">
        <p14:creationId xmlns:p14="http://schemas.microsoft.com/office/powerpoint/2010/main" val="4143364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3A19E5-C55D-4C0A-ABC5-47DD7A6143CC}" type="datetime1">
              <a:rPr lang="zh-CN" altLang="en-US"/>
              <a:pPr/>
              <a:t>2025/11/29</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18E786B-7DF7-44EA-ADC6-A61919234284}" type="slidenum">
              <a:rPr lang="en-US" altLang="zh-CN"/>
              <a:pPr/>
              <a:t>‹#›</a:t>
            </a:fld>
            <a:endParaRPr lang="en-US" altLang="zh-CN"/>
          </a:p>
        </p:txBody>
      </p:sp>
    </p:spTree>
    <p:extLst>
      <p:ext uri="{BB962C8B-B14F-4D97-AF65-F5344CB8AC3E}">
        <p14:creationId xmlns:p14="http://schemas.microsoft.com/office/powerpoint/2010/main" val="1170028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0DF2B1CC-8BAE-4312-9E03-081C06988911}" type="datetime1">
              <a:rPr lang="zh-CN" altLang="en-US"/>
              <a:pPr/>
              <a:t>2025/11/29</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6CF18986-2EC4-45D6-9B94-059EF461511D}" type="slidenum">
              <a:rPr lang="en-US" altLang="zh-CN"/>
              <a:pPr/>
              <a:t>‹#›</a:t>
            </a:fld>
            <a:endParaRPr lang="en-US" altLang="zh-CN"/>
          </a:p>
        </p:txBody>
      </p:sp>
    </p:spTree>
    <p:extLst>
      <p:ext uri="{BB962C8B-B14F-4D97-AF65-F5344CB8AC3E}">
        <p14:creationId xmlns:p14="http://schemas.microsoft.com/office/powerpoint/2010/main" val="1095045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53919920-BC60-459C-8153-0B217C381A57}" type="datetime1">
              <a:rPr lang="zh-CN" altLang="en-US"/>
              <a:pPr/>
              <a:t>2025/11/29</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2FF84DD7-1D66-4C1B-9F08-D86718EF2C0B}" type="slidenum">
              <a:rPr lang="en-US" altLang="zh-CN"/>
              <a:pPr/>
              <a:t>‹#›</a:t>
            </a:fld>
            <a:endParaRPr lang="en-US" altLang="zh-CN"/>
          </a:p>
        </p:txBody>
      </p:sp>
    </p:spTree>
    <p:extLst>
      <p:ext uri="{BB962C8B-B14F-4D97-AF65-F5344CB8AC3E}">
        <p14:creationId xmlns:p14="http://schemas.microsoft.com/office/powerpoint/2010/main" val="615042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638C1914-1366-4790-A5AB-30295E920939}" type="datetime1">
              <a:rPr lang="zh-CN" altLang="en-US"/>
              <a:pPr/>
              <a:t>2025/11/29</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70522F7-D1D6-40DF-986A-7F8CB4F1B39C}" type="slidenum">
              <a:rPr lang="en-US" altLang="zh-CN"/>
              <a:pPr/>
              <a:t>‹#›</a:t>
            </a:fld>
            <a:endParaRPr lang="en-US" altLang="zh-CN"/>
          </a:p>
        </p:txBody>
      </p:sp>
    </p:spTree>
    <p:extLst>
      <p:ext uri="{BB962C8B-B14F-4D97-AF65-F5344CB8AC3E}">
        <p14:creationId xmlns:p14="http://schemas.microsoft.com/office/powerpoint/2010/main" val="1583088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5118E22D-62D9-4F60-8BFF-9B5A369FABBD}" type="datetime1">
              <a:rPr lang="zh-CN" altLang="en-US"/>
              <a:pPr/>
              <a:t>2025/11/29</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ABF60B9-A5EE-428B-AE4D-F26F1CC32F80}" type="slidenum">
              <a:rPr lang="en-US" altLang="zh-CN"/>
              <a:pPr/>
              <a:t>‹#›</a:t>
            </a:fld>
            <a:endParaRPr lang="en-US" altLang="zh-CN"/>
          </a:p>
        </p:txBody>
      </p:sp>
    </p:spTree>
    <p:extLst>
      <p:ext uri="{BB962C8B-B14F-4D97-AF65-F5344CB8AC3E}">
        <p14:creationId xmlns:p14="http://schemas.microsoft.com/office/powerpoint/2010/main" val="2012880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D4C7AF4D-D4F2-421C-9787-73F0B1957686}" type="datetime1">
              <a:rPr lang="zh-CN" altLang="en-US"/>
              <a:pPr/>
              <a:t>2025/11/29</a:t>
            </a:fld>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38078949-FC4F-4A7A-AFB6-814DC60E3D9C}" type="slidenum">
              <a:rPr lang="en-US" altLang="zh-CN"/>
              <a:pPr/>
              <a:t>‹#›</a:t>
            </a:fld>
            <a:endParaRPr lang="en-US" altLang="zh-CN"/>
          </a:p>
        </p:txBody>
      </p:sp>
    </p:spTree>
    <p:extLst>
      <p:ext uri="{BB962C8B-B14F-4D97-AF65-F5344CB8AC3E}">
        <p14:creationId xmlns:p14="http://schemas.microsoft.com/office/powerpoint/2010/main" val="27577189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30B55ADB-846F-44EE-A8F1-08233F71464B}" type="datetime1">
              <a:rPr lang="zh-CN" altLang="en-US"/>
              <a:pPr/>
              <a:t>2025/11/29</a:t>
            </a:fld>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144509C7-8BE6-4127-A6AB-457A6502C6B9}" type="slidenum">
              <a:rPr lang="en-US" altLang="zh-CN"/>
              <a:pPr/>
              <a:t>‹#›</a:t>
            </a:fld>
            <a:endParaRPr lang="en-US" altLang="zh-CN"/>
          </a:p>
        </p:txBody>
      </p:sp>
    </p:spTree>
    <p:extLst>
      <p:ext uri="{BB962C8B-B14F-4D97-AF65-F5344CB8AC3E}">
        <p14:creationId xmlns:p14="http://schemas.microsoft.com/office/powerpoint/2010/main" val="13464904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D5475F00-0537-41EC-A438-DFCF3B052918}" type="datetime1">
              <a:rPr lang="zh-CN" altLang="en-US"/>
              <a:pPr/>
              <a:t>2025/11/29</a:t>
            </a:fld>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BD359C1D-3E1E-4511-AB96-5445F05BD33D}" type="slidenum">
              <a:rPr lang="en-US" altLang="zh-CN"/>
              <a:pPr/>
              <a:t>‹#›</a:t>
            </a:fld>
            <a:endParaRPr lang="en-US" altLang="zh-CN"/>
          </a:p>
        </p:txBody>
      </p:sp>
    </p:spTree>
    <p:extLst>
      <p:ext uri="{BB962C8B-B14F-4D97-AF65-F5344CB8AC3E}">
        <p14:creationId xmlns:p14="http://schemas.microsoft.com/office/powerpoint/2010/main" val="19718222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6AA0A75A-3CBF-40A7-8132-ACD2773246DE}" type="datetime1">
              <a:rPr lang="zh-CN" altLang="en-US"/>
              <a:pPr/>
              <a:t>2025/11/29</a:t>
            </a:fld>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E35A368E-5282-483C-B2AD-BFDF3B88412B}" type="slidenum">
              <a:rPr lang="en-US" altLang="zh-CN"/>
              <a:pPr/>
              <a:t>‹#›</a:t>
            </a:fld>
            <a:endParaRPr lang="en-US" altLang="zh-CN"/>
          </a:p>
        </p:txBody>
      </p:sp>
    </p:spTree>
    <p:extLst>
      <p:ext uri="{BB962C8B-B14F-4D97-AF65-F5344CB8AC3E}">
        <p14:creationId xmlns:p14="http://schemas.microsoft.com/office/powerpoint/2010/main" val="40138170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8C794438-FB00-4356-B52E-BD1322566847}" type="datetime1">
              <a:rPr lang="zh-CN" altLang="en-US"/>
              <a:pPr/>
              <a:t>2025/11/29</a:t>
            </a:fld>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866AB50-939D-4E94-BF57-12E693341849}" type="slidenum">
              <a:rPr lang="en-US" altLang="zh-CN"/>
              <a:pPr/>
              <a:t>‹#›</a:t>
            </a:fld>
            <a:endParaRPr lang="en-US" altLang="zh-CN"/>
          </a:p>
        </p:txBody>
      </p:sp>
    </p:spTree>
    <p:extLst>
      <p:ext uri="{BB962C8B-B14F-4D97-AF65-F5344CB8AC3E}">
        <p14:creationId xmlns:p14="http://schemas.microsoft.com/office/powerpoint/2010/main" val="35115362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797709C-FB27-46C5-9F07-DACEF8B016F7}" type="datetime1">
              <a:rPr lang="zh-CN" altLang="en-US"/>
              <a:pPr/>
              <a:t>2025/11/29</a:t>
            </a:fld>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15BC8C61-B667-491F-A9F9-857F25EF2631}" type="slidenum">
              <a:rPr lang="en-US" altLang="zh-CN"/>
              <a:pPr/>
              <a:t>‹#›</a:t>
            </a:fld>
            <a:endParaRPr lang="en-US" altLang="zh-CN"/>
          </a:p>
        </p:txBody>
      </p:sp>
    </p:spTree>
    <p:extLst>
      <p:ext uri="{BB962C8B-B14F-4D97-AF65-F5344CB8AC3E}">
        <p14:creationId xmlns:p14="http://schemas.microsoft.com/office/powerpoint/2010/main" val="33275348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21576070-7CF3-43D4-A8DD-1CE15514007F}" type="datetime1">
              <a:rPr lang="zh-CN" altLang="en-US"/>
              <a:pPr/>
              <a:t>2025/11/29</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9AB503C-F46D-4DF0-B67A-ACD9CDED034B}" type="slidenum">
              <a:rPr lang="en-US" altLang="zh-CN"/>
              <a:pPr/>
              <a:t>‹#›</a:t>
            </a:fld>
            <a:endParaRPr lang="en-US" altLang="zh-CN"/>
          </a:p>
        </p:txBody>
      </p:sp>
    </p:spTree>
    <p:extLst>
      <p:ext uri="{BB962C8B-B14F-4D97-AF65-F5344CB8AC3E}">
        <p14:creationId xmlns:p14="http://schemas.microsoft.com/office/powerpoint/2010/main" val="27630002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02979446-E88C-4C64-A120-32861DB8CAF9}" type="datetime1">
              <a:rPr lang="zh-CN" altLang="en-US"/>
              <a:pPr/>
              <a:t>2025/11/29</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1C46CF6-CB5E-4784-AF9A-9ABE58FA6F98}" type="slidenum">
              <a:rPr lang="en-US" altLang="zh-CN"/>
              <a:pPr/>
              <a:t>‹#›</a:t>
            </a:fld>
            <a:endParaRPr lang="en-US" altLang="zh-CN"/>
          </a:p>
        </p:txBody>
      </p:sp>
    </p:spTree>
    <p:extLst>
      <p:ext uri="{BB962C8B-B14F-4D97-AF65-F5344CB8AC3E}">
        <p14:creationId xmlns:p14="http://schemas.microsoft.com/office/powerpoint/2010/main" val="3586553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a:spcBef>
                <a:spcPct val="0"/>
              </a:spcBef>
              <a:defRPr sz="1200">
                <a:solidFill>
                  <a:schemeClr val="tx1"/>
                </a:solidFill>
                <a:latin typeface="+mj-lt"/>
              </a:defRPr>
            </a:lvl1pPr>
          </a:lstStyle>
          <a:p>
            <a:fld id="{6D8EA90E-A027-4782-9640-67539A4564B0}" type="datetime1">
              <a:rPr lang="zh-CN" altLang="en-US"/>
              <a:pPr/>
              <a:t>2025/11/29</a:t>
            </a:fld>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spcBef>
                <a:spcPct val="0"/>
              </a:spcBef>
              <a:defRPr sz="1200">
                <a:solidFill>
                  <a:schemeClr val="tx1"/>
                </a:solidFill>
                <a:latin typeface="+mj-lt"/>
              </a:defRPr>
            </a:lvl1pPr>
          </a:lstStyle>
          <a:p>
            <a:endParaRPr lang="en-US" altLang="zh-CN"/>
          </a:p>
        </p:txBody>
      </p:sp>
      <p:sp>
        <p:nvSpPr>
          <p:cNvPr id="1030" name="Rectangle 6"/>
          <p:cNvSpPr>
            <a:spLocks noGrp="1" noChangeArrowheads="1"/>
          </p:cNvSpPr>
          <p:nvPr>
            <p:ph type="sldNum" sz="quarter" idx="4"/>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a:spcBef>
                <a:spcPct val="0"/>
              </a:spcBef>
              <a:defRPr sz="1200">
                <a:solidFill>
                  <a:schemeClr val="tx1"/>
                </a:solidFill>
                <a:latin typeface="+mj-lt"/>
              </a:defRPr>
            </a:lvl1pPr>
          </a:lstStyle>
          <a:p>
            <a:fld id="{68C94DF6-2F46-4798-B001-66DA2FFF940C}"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宋体" pitchFamily="2" charset="-122"/>
        </a:defRPr>
      </a:lvl2pPr>
      <a:lvl3pPr algn="l" rtl="0" eaLnBrk="0" fontAlgn="base" hangingPunct="0">
        <a:spcBef>
          <a:spcPct val="0"/>
        </a:spcBef>
        <a:spcAft>
          <a:spcPct val="0"/>
        </a:spcAft>
        <a:defRPr sz="4200">
          <a:solidFill>
            <a:schemeClr val="tx2"/>
          </a:solidFill>
          <a:latin typeface="Garamond" pitchFamily="18" charset="0"/>
          <a:ea typeface="宋体" pitchFamily="2" charset="-122"/>
        </a:defRPr>
      </a:lvl3pPr>
      <a:lvl4pPr algn="l" rtl="0" eaLnBrk="0" fontAlgn="base" hangingPunct="0">
        <a:spcBef>
          <a:spcPct val="0"/>
        </a:spcBef>
        <a:spcAft>
          <a:spcPct val="0"/>
        </a:spcAft>
        <a:defRPr sz="4200">
          <a:solidFill>
            <a:schemeClr val="tx2"/>
          </a:solidFill>
          <a:latin typeface="Garamond" pitchFamily="18" charset="0"/>
          <a:ea typeface="宋体" pitchFamily="2" charset="-122"/>
        </a:defRPr>
      </a:lvl4pPr>
      <a:lvl5pPr algn="l" rtl="0" eaLnBrk="0" fontAlgn="base" hangingPunct="0">
        <a:spcBef>
          <a:spcPct val="0"/>
        </a:spcBef>
        <a:spcAft>
          <a:spcPct val="0"/>
        </a:spcAft>
        <a:defRPr sz="4200">
          <a:solidFill>
            <a:schemeClr val="tx2"/>
          </a:solidFill>
          <a:latin typeface="Garamond" pitchFamily="18" charset="0"/>
          <a:ea typeface="宋体" pitchFamily="2" charset="-122"/>
        </a:defRPr>
      </a:lvl5pPr>
      <a:lvl6pPr marL="457200" algn="l" rtl="0" eaLnBrk="0" fontAlgn="base" hangingPunct="0">
        <a:spcBef>
          <a:spcPct val="0"/>
        </a:spcBef>
        <a:spcAft>
          <a:spcPct val="0"/>
        </a:spcAft>
        <a:defRPr sz="4200">
          <a:solidFill>
            <a:schemeClr val="tx2"/>
          </a:solidFill>
          <a:latin typeface="Garamond" pitchFamily="18" charset="0"/>
          <a:ea typeface="宋体" pitchFamily="2" charset="-122"/>
        </a:defRPr>
      </a:lvl6pPr>
      <a:lvl7pPr marL="914400" algn="l" rtl="0" eaLnBrk="0" fontAlgn="base" hangingPunct="0">
        <a:spcBef>
          <a:spcPct val="0"/>
        </a:spcBef>
        <a:spcAft>
          <a:spcPct val="0"/>
        </a:spcAft>
        <a:defRPr sz="4200">
          <a:solidFill>
            <a:schemeClr val="tx2"/>
          </a:solidFill>
          <a:latin typeface="Garamond" pitchFamily="18" charset="0"/>
          <a:ea typeface="宋体" pitchFamily="2" charset="-122"/>
        </a:defRPr>
      </a:lvl7pPr>
      <a:lvl8pPr marL="1371600" algn="l" rtl="0" eaLnBrk="0" fontAlgn="base" hangingPunct="0">
        <a:spcBef>
          <a:spcPct val="0"/>
        </a:spcBef>
        <a:spcAft>
          <a:spcPct val="0"/>
        </a:spcAft>
        <a:defRPr sz="4200">
          <a:solidFill>
            <a:schemeClr val="tx2"/>
          </a:solidFill>
          <a:latin typeface="Garamond" pitchFamily="18" charset="0"/>
          <a:ea typeface="宋体" pitchFamily="2" charset="-122"/>
        </a:defRPr>
      </a:lvl8pPr>
      <a:lvl9pPr marL="1828800" algn="l" rtl="0" eaLnBrk="0" fontAlgn="base" hangingPunct="0">
        <a:spcBef>
          <a:spcPct val="0"/>
        </a:spcBef>
        <a:spcAft>
          <a:spcPct val="0"/>
        </a:spcAft>
        <a:defRPr sz="4200">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1"/>
        </a:buClr>
        <a:buSzPct val="65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1"/>
        </a:buClr>
        <a:buSzPct val="65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65000"/>
        <a:buFont typeface="Wingdings" pitchFamily="2" charset="2"/>
        <a:buChar char="§"/>
        <a:defRPr sz="2000">
          <a:solidFill>
            <a:schemeClr val="tx1"/>
          </a:solidFill>
          <a:latin typeface="+mn-lt"/>
          <a:ea typeface="+mn-ea"/>
        </a:defRPr>
      </a:lvl5pPr>
      <a:lvl6pPr marL="2138363" indent="-339725" algn="l" rtl="0" eaLnBrk="0" fontAlgn="base" hangingPunct="0">
        <a:spcBef>
          <a:spcPct val="20000"/>
        </a:spcBef>
        <a:spcAft>
          <a:spcPct val="0"/>
        </a:spcAft>
        <a:buClr>
          <a:schemeClr val="accent1"/>
        </a:buClr>
        <a:buSzPct val="65000"/>
        <a:buFont typeface="Wingdings" pitchFamily="2" charset="2"/>
        <a:buChar char="§"/>
        <a:defRPr sz="2000">
          <a:solidFill>
            <a:schemeClr val="tx1"/>
          </a:solidFill>
          <a:latin typeface="+mn-lt"/>
          <a:ea typeface="+mn-ea"/>
        </a:defRPr>
      </a:lvl6pPr>
      <a:lvl7pPr marL="2595563" indent="-339725" algn="l" rtl="0" eaLnBrk="0" fontAlgn="base" hangingPunct="0">
        <a:spcBef>
          <a:spcPct val="20000"/>
        </a:spcBef>
        <a:spcAft>
          <a:spcPct val="0"/>
        </a:spcAft>
        <a:buClr>
          <a:schemeClr val="accent1"/>
        </a:buClr>
        <a:buSzPct val="65000"/>
        <a:buFont typeface="Wingdings" pitchFamily="2" charset="2"/>
        <a:buChar char="§"/>
        <a:defRPr sz="2000">
          <a:solidFill>
            <a:schemeClr val="tx1"/>
          </a:solidFill>
          <a:latin typeface="+mn-lt"/>
          <a:ea typeface="+mn-ea"/>
        </a:defRPr>
      </a:lvl7pPr>
      <a:lvl8pPr marL="3052763" indent="-339725" algn="l" rtl="0" eaLnBrk="0" fontAlgn="base" hangingPunct="0">
        <a:spcBef>
          <a:spcPct val="20000"/>
        </a:spcBef>
        <a:spcAft>
          <a:spcPct val="0"/>
        </a:spcAft>
        <a:buClr>
          <a:schemeClr val="accent1"/>
        </a:buClr>
        <a:buSzPct val="65000"/>
        <a:buFont typeface="Wingdings" pitchFamily="2" charset="2"/>
        <a:buChar char="§"/>
        <a:defRPr sz="2000">
          <a:solidFill>
            <a:schemeClr val="tx1"/>
          </a:solidFill>
          <a:latin typeface="+mn-lt"/>
          <a:ea typeface="+mn-ea"/>
        </a:defRPr>
      </a:lvl8pPr>
      <a:lvl9pPr marL="3509963" indent="-339725" algn="l" rtl="0" eaLnBrk="0" fontAlgn="base" hangingPunct="0">
        <a:spcBef>
          <a:spcPct val="20000"/>
        </a:spcBef>
        <a:spcAft>
          <a:spcPct val="0"/>
        </a:spcAft>
        <a:buClr>
          <a:schemeClr val="accent1"/>
        </a:buClr>
        <a:buSzPct val="65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Freeform 7"/>
          <p:cNvSpPr>
            <a:spLocks noChangeArrowheads="1"/>
          </p:cNvSpPr>
          <p:nvPr/>
        </p:nvSpPr>
        <p:spPr bwMode="auto">
          <a:xfrm>
            <a:off x="385763" y="0"/>
            <a:ext cx="7924800" cy="914400"/>
          </a:xfrm>
          <a:custGeom>
            <a:avLst/>
            <a:gdLst>
              <a:gd name="T0" fmla="*/ 0 w 1000"/>
              <a:gd name="T1" fmla="*/ 1000 h 1000"/>
              <a:gd name="T2" fmla="*/ 0 w 1000"/>
              <a:gd name="T3" fmla="*/ 0 h 1000"/>
              <a:gd name="T4" fmla="*/ 1000 w 1000"/>
              <a:gd name="T5" fmla="*/ 0 h 1000"/>
              <a:gd name="T6" fmla="*/ 0 60000 65536"/>
              <a:gd name="T7" fmla="*/ 0 60000 65536"/>
              <a:gd name="T8" fmla="*/ 0 60000 65536"/>
              <a:gd name="T9" fmla="*/ 0 w 1000"/>
              <a:gd name="T10" fmla="*/ 0 h 1000"/>
              <a:gd name="T11" fmla="*/ 1000 w 1000"/>
              <a:gd name="T12" fmla="*/ 1000 h 1000"/>
            </a:gdLst>
            <a:ahLst/>
            <a:cxnLst>
              <a:cxn ang="T6">
                <a:pos x="T0" y="T1"/>
              </a:cxn>
              <a:cxn ang="T7">
                <a:pos x="T2" y="T3"/>
              </a:cxn>
              <a:cxn ang="T8">
                <a:pos x="T4" y="T5"/>
              </a:cxn>
            </a:cxnLst>
            <a:rect l="T9" t="T10" r="T11" b="T12"/>
            <a:pathLst>
              <a:path w="1000" h="1000">
                <a:moveTo>
                  <a:pt x="0" y="1000"/>
                </a:moveTo>
                <a:lnTo>
                  <a:pt x="0" y="0"/>
                </a:lnTo>
                <a:lnTo>
                  <a:pt x="1000" y="0"/>
                </a:lnTo>
              </a:path>
            </a:pathLst>
          </a:custGeom>
          <a:noFill/>
          <a:ln w="25400" cmpd="sng">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2051" name="Line 8"/>
          <p:cNvSpPr>
            <a:spLocks noChangeShapeType="1"/>
          </p:cNvSpPr>
          <p:nvPr/>
        </p:nvSpPr>
        <p:spPr bwMode="auto">
          <a:xfrm>
            <a:off x="1981200" y="3962400"/>
            <a:ext cx="6511925" cy="0"/>
          </a:xfrm>
          <a:prstGeom prst="line">
            <a:avLst/>
          </a:prstGeom>
          <a:noFill/>
          <a:ln w="19050" cmpd="sng">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单击此处编辑母版标题样式</a:t>
            </a:r>
          </a:p>
        </p:txBody>
      </p:sp>
      <p:sp>
        <p:nvSpPr>
          <p:cNvPr id="2053"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054" name="Rectangle 4"/>
          <p:cNvSpPr>
            <a:spLocks noGrp="1" noChangeArrowheads="1"/>
          </p:cNvSpPr>
          <p:nvPr>
            <p:ph type="dt" sz="half" idx="2"/>
          </p:nvPr>
        </p:nvSpPr>
        <p:spPr bwMode="auto">
          <a:xfrm>
            <a:off x="457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a:spcBef>
                <a:spcPct val="0"/>
              </a:spcBef>
              <a:defRPr sz="1200">
                <a:solidFill>
                  <a:schemeClr val="tx1"/>
                </a:solidFill>
                <a:latin typeface="+mj-lt"/>
              </a:defRPr>
            </a:lvl1pPr>
          </a:lstStyle>
          <a:p>
            <a:fld id="{8EC83D13-2314-4CFE-89BD-9A70594CA691}" type="datetime1">
              <a:rPr lang="zh-CN" altLang="en-US"/>
              <a:pPr/>
              <a:t>2025/11/29</a:t>
            </a:fld>
            <a:endParaRPr lang="en-US" altLang="zh-CN"/>
          </a:p>
        </p:txBody>
      </p:sp>
      <p:sp>
        <p:nvSpPr>
          <p:cNvPr id="2055" name="Rectangle 5"/>
          <p:cNvSpPr>
            <a:spLocks noGrp="1" noChangeArrowheads="1"/>
          </p:cNvSpPr>
          <p:nvPr>
            <p:ph type="ftr" sz="quarter" idx="3"/>
          </p:nvPr>
        </p:nvSpPr>
        <p:spPr bwMode="auto">
          <a:xfrm>
            <a:off x="3124200" y="6243638"/>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spcBef>
                <a:spcPct val="0"/>
              </a:spcBef>
              <a:defRPr sz="1200">
                <a:solidFill>
                  <a:schemeClr val="tx1"/>
                </a:solidFill>
                <a:latin typeface="+mj-lt"/>
              </a:defRPr>
            </a:lvl1pPr>
          </a:lstStyle>
          <a:p>
            <a:endParaRPr lang="en-US" altLang="zh-CN"/>
          </a:p>
        </p:txBody>
      </p:sp>
      <p:sp>
        <p:nvSpPr>
          <p:cNvPr id="2056" name="Rectangle 6"/>
          <p:cNvSpPr>
            <a:spLocks noGrp="1" noChangeArrowheads="1"/>
          </p:cNvSpPr>
          <p:nvPr>
            <p:ph type="sldNum" sz="quarter" idx="4"/>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a:spcBef>
                <a:spcPct val="0"/>
              </a:spcBef>
              <a:defRPr sz="1200">
                <a:solidFill>
                  <a:schemeClr val="tx1"/>
                </a:solidFill>
                <a:latin typeface="+mj-lt"/>
              </a:defRPr>
            </a:lvl1pPr>
          </a:lstStyle>
          <a:p>
            <a:fld id="{293BA839-4082-4987-8C42-43F7E3D0CC2D}"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宋体" pitchFamily="2" charset="-122"/>
        </a:defRPr>
      </a:lvl2pPr>
      <a:lvl3pPr algn="l" rtl="0" eaLnBrk="0" fontAlgn="base" hangingPunct="0">
        <a:spcBef>
          <a:spcPct val="0"/>
        </a:spcBef>
        <a:spcAft>
          <a:spcPct val="0"/>
        </a:spcAft>
        <a:defRPr sz="4200">
          <a:solidFill>
            <a:schemeClr val="tx2"/>
          </a:solidFill>
          <a:latin typeface="Garamond" pitchFamily="18" charset="0"/>
          <a:ea typeface="宋体" pitchFamily="2" charset="-122"/>
        </a:defRPr>
      </a:lvl3pPr>
      <a:lvl4pPr algn="l" rtl="0" eaLnBrk="0" fontAlgn="base" hangingPunct="0">
        <a:spcBef>
          <a:spcPct val="0"/>
        </a:spcBef>
        <a:spcAft>
          <a:spcPct val="0"/>
        </a:spcAft>
        <a:defRPr sz="4200">
          <a:solidFill>
            <a:schemeClr val="tx2"/>
          </a:solidFill>
          <a:latin typeface="Garamond" pitchFamily="18" charset="0"/>
          <a:ea typeface="宋体" pitchFamily="2" charset="-122"/>
        </a:defRPr>
      </a:lvl4pPr>
      <a:lvl5pPr algn="l" rtl="0" eaLnBrk="0" fontAlgn="base" hangingPunct="0">
        <a:spcBef>
          <a:spcPct val="0"/>
        </a:spcBef>
        <a:spcAft>
          <a:spcPct val="0"/>
        </a:spcAft>
        <a:defRPr sz="4200">
          <a:solidFill>
            <a:schemeClr val="tx2"/>
          </a:solidFill>
          <a:latin typeface="Garamond" pitchFamily="18" charset="0"/>
          <a:ea typeface="宋体" pitchFamily="2" charset="-122"/>
        </a:defRPr>
      </a:lvl5pPr>
      <a:lvl6pPr marL="457200" algn="l" rtl="0" eaLnBrk="0" fontAlgn="base" hangingPunct="0">
        <a:spcBef>
          <a:spcPct val="0"/>
        </a:spcBef>
        <a:spcAft>
          <a:spcPct val="0"/>
        </a:spcAft>
        <a:defRPr sz="4200">
          <a:solidFill>
            <a:schemeClr val="tx2"/>
          </a:solidFill>
          <a:latin typeface="Garamond" pitchFamily="18" charset="0"/>
          <a:ea typeface="宋体" pitchFamily="2" charset="-122"/>
        </a:defRPr>
      </a:lvl6pPr>
      <a:lvl7pPr marL="914400" algn="l" rtl="0" eaLnBrk="0" fontAlgn="base" hangingPunct="0">
        <a:spcBef>
          <a:spcPct val="0"/>
        </a:spcBef>
        <a:spcAft>
          <a:spcPct val="0"/>
        </a:spcAft>
        <a:defRPr sz="4200">
          <a:solidFill>
            <a:schemeClr val="tx2"/>
          </a:solidFill>
          <a:latin typeface="Garamond" pitchFamily="18" charset="0"/>
          <a:ea typeface="宋体" pitchFamily="2" charset="-122"/>
        </a:defRPr>
      </a:lvl7pPr>
      <a:lvl8pPr marL="1371600" algn="l" rtl="0" eaLnBrk="0" fontAlgn="base" hangingPunct="0">
        <a:spcBef>
          <a:spcPct val="0"/>
        </a:spcBef>
        <a:spcAft>
          <a:spcPct val="0"/>
        </a:spcAft>
        <a:defRPr sz="4200">
          <a:solidFill>
            <a:schemeClr val="tx2"/>
          </a:solidFill>
          <a:latin typeface="Garamond" pitchFamily="18" charset="0"/>
          <a:ea typeface="宋体" pitchFamily="2" charset="-122"/>
        </a:defRPr>
      </a:lvl8pPr>
      <a:lvl9pPr marL="1828800" algn="l" rtl="0" eaLnBrk="0" fontAlgn="base" hangingPunct="0">
        <a:spcBef>
          <a:spcPct val="0"/>
        </a:spcBef>
        <a:spcAft>
          <a:spcPct val="0"/>
        </a:spcAft>
        <a:defRPr sz="4200">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1"/>
        </a:buClr>
        <a:buSzPct val="65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1"/>
        </a:buClr>
        <a:buSzPct val="65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65000"/>
        <a:buFont typeface="Wingdings" pitchFamily="2" charset="2"/>
        <a:buChar char="§"/>
        <a:defRPr sz="2000">
          <a:solidFill>
            <a:schemeClr val="tx1"/>
          </a:solidFill>
          <a:latin typeface="+mn-lt"/>
          <a:ea typeface="+mn-ea"/>
        </a:defRPr>
      </a:lvl5pPr>
      <a:lvl6pPr marL="2138363" indent="-339725" algn="l" rtl="0" eaLnBrk="0" fontAlgn="base" hangingPunct="0">
        <a:spcBef>
          <a:spcPct val="20000"/>
        </a:spcBef>
        <a:spcAft>
          <a:spcPct val="0"/>
        </a:spcAft>
        <a:buClr>
          <a:schemeClr val="accent1"/>
        </a:buClr>
        <a:buSzPct val="65000"/>
        <a:buFont typeface="Wingdings" pitchFamily="2" charset="2"/>
        <a:buChar char="§"/>
        <a:defRPr sz="2000">
          <a:solidFill>
            <a:schemeClr val="tx1"/>
          </a:solidFill>
          <a:latin typeface="+mn-lt"/>
          <a:ea typeface="+mn-ea"/>
        </a:defRPr>
      </a:lvl6pPr>
      <a:lvl7pPr marL="2595563" indent="-339725" algn="l" rtl="0" eaLnBrk="0" fontAlgn="base" hangingPunct="0">
        <a:spcBef>
          <a:spcPct val="20000"/>
        </a:spcBef>
        <a:spcAft>
          <a:spcPct val="0"/>
        </a:spcAft>
        <a:buClr>
          <a:schemeClr val="accent1"/>
        </a:buClr>
        <a:buSzPct val="65000"/>
        <a:buFont typeface="Wingdings" pitchFamily="2" charset="2"/>
        <a:buChar char="§"/>
        <a:defRPr sz="2000">
          <a:solidFill>
            <a:schemeClr val="tx1"/>
          </a:solidFill>
          <a:latin typeface="+mn-lt"/>
          <a:ea typeface="+mn-ea"/>
        </a:defRPr>
      </a:lvl7pPr>
      <a:lvl8pPr marL="3052763" indent="-339725" algn="l" rtl="0" eaLnBrk="0" fontAlgn="base" hangingPunct="0">
        <a:spcBef>
          <a:spcPct val="20000"/>
        </a:spcBef>
        <a:spcAft>
          <a:spcPct val="0"/>
        </a:spcAft>
        <a:buClr>
          <a:schemeClr val="accent1"/>
        </a:buClr>
        <a:buSzPct val="65000"/>
        <a:buFont typeface="Wingdings" pitchFamily="2" charset="2"/>
        <a:buChar char="§"/>
        <a:defRPr sz="2000">
          <a:solidFill>
            <a:schemeClr val="tx1"/>
          </a:solidFill>
          <a:latin typeface="+mn-lt"/>
          <a:ea typeface="+mn-ea"/>
        </a:defRPr>
      </a:lvl8pPr>
      <a:lvl9pPr marL="3509963" indent="-339725" algn="l" rtl="0" eaLnBrk="0" fontAlgn="base" hangingPunct="0">
        <a:spcBef>
          <a:spcPct val="20000"/>
        </a:spcBef>
        <a:spcAft>
          <a:spcPct val="0"/>
        </a:spcAft>
        <a:buClr>
          <a:schemeClr val="accent1"/>
        </a:buClr>
        <a:buSzPct val="65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8" Type="http://schemas.openxmlformats.org/officeDocument/2006/relationships/slide" Target="slide98.xml"/><Relationship Id="rId3" Type="http://schemas.openxmlformats.org/officeDocument/2006/relationships/slide" Target="slide25.xml"/><Relationship Id="rId7" Type="http://schemas.openxmlformats.org/officeDocument/2006/relationships/slide" Target="slide85.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slide" Target="slide81.xml"/><Relationship Id="rId5" Type="http://schemas.openxmlformats.org/officeDocument/2006/relationships/slide" Target="slide74.xml"/><Relationship Id="rId4" Type="http://schemas.openxmlformats.org/officeDocument/2006/relationships/slide" Target="slide5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9.emf"/><Relationship Id="rId5" Type="http://schemas.openxmlformats.org/officeDocument/2006/relationships/oleObject" Target="../embeddings/oleObject2.bin"/><Relationship Id="rId4" Type="http://schemas.openxmlformats.org/officeDocument/2006/relationships/image" Target="../media/image8.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3.emf"/><Relationship Id="rId5" Type="http://schemas.openxmlformats.org/officeDocument/2006/relationships/oleObject" Target="../embeddings/oleObject6.bin"/><Relationship Id="rId4" Type="http://schemas.openxmlformats.org/officeDocument/2006/relationships/image" Target="../media/image12.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8.emf"/><Relationship Id="rId5" Type="http://schemas.openxmlformats.org/officeDocument/2006/relationships/oleObject" Target="../embeddings/oleObject9.bin"/><Relationship Id="rId4" Type="http://schemas.openxmlformats.org/officeDocument/2006/relationships/image" Target="../media/image17.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9.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20.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21.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22.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23.emf"/></Relationships>
</file>

<file path=ppt/slides/_rels/slide25.xml.rels><?xml version="1.0" encoding="UTF-8" standalone="yes"?>
<Relationships xmlns="http://schemas.openxmlformats.org/package/2006/relationships"><Relationship Id="rId8" Type="http://schemas.openxmlformats.org/officeDocument/2006/relationships/image" Target="../media/image28.gif"/><Relationship Id="rId3" Type="http://schemas.openxmlformats.org/officeDocument/2006/relationships/oleObject" Target="../embeddings/oleObject15.bin"/><Relationship Id="rId7" Type="http://schemas.openxmlformats.org/officeDocument/2006/relationships/image" Target="../media/image27.gi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26.gif"/><Relationship Id="rId5" Type="http://schemas.openxmlformats.org/officeDocument/2006/relationships/image" Target="../media/image25.gif"/><Relationship Id="rId4" Type="http://schemas.openxmlformats.org/officeDocument/2006/relationships/image" Target="../media/image24.emf"/><Relationship Id="rId9" Type="http://schemas.openxmlformats.org/officeDocument/2006/relationships/image" Target="../media/image29.gif"/></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7.xml"/><Relationship Id="rId6" Type="http://schemas.openxmlformats.org/officeDocument/2006/relationships/image" Target="../media/image40.emf"/><Relationship Id="rId5" Type="http://schemas.openxmlformats.org/officeDocument/2006/relationships/image" Target="../media/image39.emf"/><Relationship Id="rId4" Type="http://schemas.openxmlformats.org/officeDocument/2006/relationships/image" Target="../media/image38.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41.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43.emf"/><Relationship Id="rId5" Type="http://schemas.openxmlformats.org/officeDocument/2006/relationships/oleObject" Target="../embeddings/oleObject18.bin"/><Relationship Id="rId4" Type="http://schemas.openxmlformats.org/officeDocument/2006/relationships/image" Target="../media/image42.wmf"/></Relationships>
</file>

<file path=ppt/slides/_rels/slide32.xml.rels><?xml version="1.0" encoding="UTF-8" standalone="yes"?>
<Relationships xmlns="http://schemas.openxmlformats.org/package/2006/relationships"><Relationship Id="rId3" Type="http://schemas.openxmlformats.org/officeDocument/2006/relationships/hyperlink" Target="&#27491;&#22235;&#38754;&#20307;&#27169;&#22411;.exe" TargetMode="External"/><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45.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46.emf"/></Relationships>
</file>

<file path=ppt/slides/_rels/slide36.xml.rels><?xml version="1.0" encoding="UTF-8" standalone="yes"?>
<Relationships xmlns="http://schemas.openxmlformats.org/package/2006/relationships"><Relationship Id="rId3" Type="http://schemas.openxmlformats.org/officeDocument/2006/relationships/hyperlink" Target="&#27491;&#20843;&#38754;&#20307;&#27169;&#22411;.exe" TargetMode="External"/><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50.e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49.emf"/><Relationship Id="rId5" Type="http://schemas.openxmlformats.org/officeDocument/2006/relationships/oleObject" Target="../embeddings/oleObject22.bin"/><Relationship Id="rId4" Type="http://schemas.openxmlformats.org/officeDocument/2006/relationships/image" Target="../media/image48.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image" Target="../media/image54.wmf"/><Relationship Id="rId18" Type="http://schemas.openxmlformats.org/officeDocument/2006/relationships/image" Target="../media/image58.png"/><Relationship Id="rId3" Type="http://schemas.openxmlformats.org/officeDocument/2006/relationships/control" Target="../activeX/activeX2.xml"/><Relationship Id="rId7" Type="http://schemas.openxmlformats.org/officeDocument/2006/relationships/image" Target="../media/image51.wmf"/><Relationship Id="rId12" Type="http://schemas.openxmlformats.org/officeDocument/2006/relationships/oleObject" Target="../embeddings/oleObject27.bin"/><Relationship Id="rId17" Type="http://schemas.openxmlformats.org/officeDocument/2006/relationships/image" Target="../media/image56.wmf"/><Relationship Id="rId2" Type="http://schemas.openxmlformats.org/officeDocument/2006/relationships/control" Target="../activeX/activeX1.xml"/><Relationship Id="rId16" Type="http://schemas.openxmlformats.org/officeDocument/2006/relationships/oleObject" Target="../embeddings/oleObject29.bin"/><Relationship Id="rId20" Type="http://schemas.openxmlformats.org/officeDocument/2006/relationships/image" Target="../media/image57.wmf"/><Relationship Id="rId1" Type="http://schemas.openxmlformats.org/officeDocument/2006/relationships/vmlDrawing" Target="../drawings/vmlDrawing16.vml"/><Relationship Id="rId6" Type="http://schemas.openxmlformats.org/officeDocument/2006/relationships/oleObject" Target="../embeddings/oleObject24.bin"/><Relationship Id="rId11" Type="http://schemas.openxmlformats.org/officeDocument/2006/relationships/image" Target="../media/image53.wmf"/><Relationship Id="rId5" Type="http://schemas.openxmlformats.org/officeDocument/2006/relationships/hyperlink" Target="&#40644;&#37329;&#25968;&#30340;&#25512;&#23548;.doc" TargetMode="External"/><Relationship Id="rId15" Type="http://schemas.openxmlformats.org/officeDocument/2006/relationships/image" Target="../media/image55.wmf"/><Relationship Id="rId10" Type="http://schemas.openxmlformats.org/officeDocument/2006/relationships/oleObject" Target="../embeddings/oleObject26.bin"/><Relationship Id="rId19" Type="http://schemas.openxmlformats.org/officeDocument/2006/relationships/image" Target="../media/image59.wmf"/><Relationship Id="rId4" Type="http://schemas.openxmlformats.org/officeDocument/2006/relationships/slideLayout" Target="../slideLayouts/slideLayout7.xml"/><Relationship Id="rId9" Type="http://schemas.openxmlformats.org/officeDocument/2006/relationships/image" Target="../media/image52.wmf"/><Relationship Id="rId14" Type="http://schemas.openxmlformats.org/officeDocument/2006/relationships/oleObject" Target="../embeddings/oleObject28.bin"/></Relationships>
</file>

<file path=ppt/slides/_rels/slide39.xml.rels><?xml version="1.0" encoding="UTF-8" standalone="yes"?>
<Relationships xmlns="http://schemas.openxmlformats.org/package/2006/relationships"><Relationship Id="rId8" Type="http://schemas.openxmlformats.org/officeDocument/2006/relationships/image" Target="../media/image61.wmf"/><Relationship Id="rId3" Type="http://schemas.openxmlformats.org/officeDocument/2006/relationships/image" Target="../media/image63.wmf"/><Relationship Id="rId7"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64.png"/><Relationship Id="rId11" Type="http://schemas.openxmlformats.org/officeDocument/2006/relationships/image" Target="../media/image59.wmf"/><Relationship Id="rId5" Type="http://schemas.openxmlformats.org/officeDocument/2006/relationships/image" Target="../media/image60.wmf"/><Relationship Id="rId10" Type="http://schemas.openxmlformats.org/officeDocument/2006/relationships/image" Target="../media/image62.emf"/><Relationship Id="rId4" Type="http://schemas.openxmlformats.org/officeDocument/2006/relationships/oleObject" Target="../embeddings/oleObject30.bin"/><Relationship Id="rId9" Type="http://schemas.openxmlformats.org/officeDocument/2006/relationships/oleObject" Target="../embeddings/oleObject32.bin"/></Relationships>
</file>

<file path=ppt/slides/_rels/slide40.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image" Target="../media/image65.em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67.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hyperlink" Target="&#27491;&#21313;&#20108;&#38754;&#20307;&#27169;&#22411;.exe" TargetMode="External"/><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hyperlink" Target="&#27491;&#20108;&#21313;&#38754;&#20307;&#27169;&#22411;.exe" TargetMode="External"/><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73.emf"/><Relationship Id="rId5" Type="http://schemas.openxmlformats.org/officeDocument/2006/relationships/oleObject" Target="../embeddings/oleObject35.bin"/><Relationship Id="rId4" Type="http://schemas.openxmlformats.org/officeDocument/2006/relationships/image" Target="../media/image72.wmf"/></Relationships>
</file>

<file path=ppt/slides/_rels/slide5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76.emf"/><Relationship Id="rId5" Type="http://schemas.openxmlformats.org/officeDocument/2006/relationships/oleObject" Target="../embeddings/oleObject37.bin"/><Relationship Id="rId4" Type="http://schemas.openxmlformats.org/officeDocument/2006/relationships/image" Target="../media/image75.e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78.emf"/><Relationship Id="rId5" Type="http://schemas.openxmlformats.org/officeDocument/2006/relationships/oleObject" Target="../embeddings/oleObject39.bin"/><Relationship Id="rId4" Type="http://schemas.openxmlformats.org/officeDocument/2006/relationships/image" Target="../media/image77.emf"/></Relationships>
</file>

<file path=ppt/slides/_rels/slide5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79.emf"/><Relationship Id="rId5" Type="http://schemas.openxmlformats.org/officeDocument/2006/relationships/oleObject" Target="../embeddings/oleObject40.bin"/><Relationship Id="rId4" Type="http://schemas.openxmlformats.org/officeDocument/2006/relationships/hyperlink" Target="&#22320;&#29702;&#21010;&#20998;&#32447;&#26694;&#29699;.exe"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 Id="rId6" Type="http://schemas.openxmlformats.org/officeDocument/2006/relationships/hyperlink" Target="&#27491;&#20108;&#21313;&#38754;&#20307;&#36882;&#24402;&#21010;&#20998;&#32447;&#26694;&#29699;.exe" TargetMode="External"/><Relationship Id="rId5" Type="http://schemas.openxmlformats.org/officeDocument/2006/relationships/image" Target="../media/image84.png"/><Relationship Id="rId4" Type="http://schemas.openxmlformats.org/officeDocument/2006/relationships/image" Target="../media/image83.png"/></Relationships>
</file>

<file path=ppt/slides/_rels/slide60.xml.rels><?xml version="1.0" encoding="UTF-8" standalone="yes"?>
<Relationships xmlns="http://schemas.openxmlformats.org/package/2006/relationships"><Relationship Id="rId8" Type="http://schemas.openxmlformats.org/officeDocument/2006/relationships/image" Target="../media/image87.wmf"/><Relationship Id="rId3" Type="http://schemas.openxmlformats.org/officeDocument/2006/relationships/oleObject" Target="../embeddings/oleObject41.bin"/><Relationship Id="rId7"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86.wmf"/><Relationship Id="rId5" Type="http://schemas.openxmlformats.org/officeDocument/2006/relationships/oleObject" Target="../embeddings/oleObject42.bin"/><Relationship Id="rId10" Type="http://schemas.openxmlformats.org/officeDocument/2006/relationships/image" Target="../media/image88.wmf"/><Relationship Id="rId4" Type="http://schemas.openxmlformats.org/officeDocument/2006/relationships/image" Target="../media/image85.emf"/><Relationship Id="rId9" Type="http://schemas.openxmlformats.org/officeDocument/2006/relationships/oleObject" Target="../embeddings/oleObject44.bin"/></Relationships>
</file>

<file path=ppt/slides/_rels/slide6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8" Type="http://schemas.openxmlformats.org/officeDocument/2006/relationships/image" Target="../media/image92.e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91.emf"/><Relationship Id="rId5" Type="http://schemas.openxmlformats.org/officeDocument/2006/relationships/oleObject" Target="../embeddings/oleObject46.bin"/><Relationship Id="rId4" Type="http://schemas.openxmlformats.org/officeDocument/2006/relationships/image" Target="../media/image90.emf"/></Relationships>
</file>

<file path=ppt/slides/_rels/slide6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hyperlink" Target="&#22278;&#26609;&#38754;&#32593;&#26684;.exe" TargetMode="Externa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95.wmf"/><Relationship Id="rId5" Type="http://schemas.openxmlformats.org/officeDocument/2006/relationships/oleObject" Target="../embeddings/oleObject49.bin"/><Relationship Id="rId10" Type="http://schemas.openxmlformats.org/officeDocument/2006/relationships/image" Target="../media/image97.wmf"/><Relationship Id="rId4" Type="http://schemas.openxmlformats.org/officeDocument/2006/relationships/image" Target="../media/image94.emf"/><Relationship Id="rId9" Type="http://schemas.openxmlformats.org/officeDocument/2006/relationships/oleObject" Target="../embeddings/oleObject51.bin"/></Relationships>
</file>

<file path=ppt/slides/_rels/slide6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slideLayout" Target="../slideLayouts/slideLayout7.xml"/><Relationship Id="rId1" Type="http://schemas.openxmlformats.org/officeDocument/2006/relationships/vmlDrawing" Target="../drawings/vmlDrawing26.vml"/><Relationship Id="rId5" Type="http://schemas.openxmlformats.org/officeDocument/2006/relationships/image" Target="../media/image98.emf"/><Relationship Id="rId4" Type="http://schemas.openxmlformats.org/officeDocument/2006/relationships/oleObject" Target="../embeddings/oleObject52.bin"/></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101.emf"/><Relationship Id="rId5" Type="http://schemas.openxmlformats.org/officeDocument/2006/relationships/oleObject" Target="../embeddings/oleObject54.bin"/><Relationship Id="rId4" Type="http://schemas.openxmlformats.org/officeDocument/2006/relationships/image" Target="../media/image100.emf"/></Relationships>
</file>

<file path=ppt/slides/_rels/slide6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hyperlink" Target="&#22278;&#38181;&#38754;&#32593;&#26684;.exe" TargetMode="External"/><Relationship Id="rId1" Type="http://schemas.openxmlformats.org/officeDocument/2006/relationships/slideLayout" Target="../slideLayouts/slideLayout7.xml"/><Relationship Id="rId4" Type="http://schemas.openxmlformats.org/officeDocument/2006/relationships/image" Target="../media/image103.png"/></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28.vml"/><Relationship Id="rId4" Type="http://schemas.openxmlformats.org/officeDocument/2006/relationships/image" Target="../media/image104.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29.vml"/><Relationship Id="rId4" Type="http://schemas.openxmlformats.org/officeDocument/2006/relationships/image" Target="../media/image105.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07.emf"/><Relationship Id="rId5" Type="http://schemas.openxmlformats.org/officeDocument/2006/relationships/oleObject" Target="../embeddings/oleObject58.bin"/><Relationship Id="rId4" Type="http://schemas.openxmlformats.org/officeDocument/2006/relationships/image" Target="../media/image106.wmf"/></Relationships>
</file>

<file path=ppt/slides/_rels/slide71.xml.rels><?xml version="1.0" encoding="UTF-8" standalone="yes"?>
<Relationships xmlns="http://schemas.openxmlformats.org/package/2006/relationships"><Relationship Id="rId3" Type="http://schemas.openxmlformats.org/officeDocument/2006/relationships/hyperlink" Target="&#22278;&#29615;&#38754;&#32593;&#26684;.exe" TargetMode="External"/><Relationship Id="rId2" Type="http://schemas.openxmlformats.org/officeDocument/2006/relationships/image" Target="../media/image108.png"/><Relationship Id="rId1" Type="http://schemas.openxmlformats.org/officeDocument/2006/relationships/slideLayout" Target="../slideLayouts/slideLayout7.xml"/><Relationship Id="rId5" Type="http://schemas.openxmlformats.org/officeDocument/2006/relationships/hyperlink" Target="&#28040;&#38544;&#29615;.exe" TargetMode="External"/><Relationship Id="rId4" Type="http://schemas.openxmlformats.org/officeDocument/2006/relationships/image" Target="../media/image109.png"/></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oleObject" Target="../embeddings/oleObject59.bin"/><Relationship Id="rId7" Type="http://schemas.openxmlformats.org/officeDocument/2006/relationships/oleObject" Target="../embeddings/oleObject61.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111.emf"/><Relationship Id="rId5" Type="http://schemas.openxmlformats.org/officeDocument/2006/relationships/oleObject" Target="../embeddings/oleObject60.bin"/><Relationship Id="rId4" Type="http://schemas.openxmlformats.org/officeDocument/2006/relationships/image" Target="../media/image110.emf"/><Relationship Id="rId9" Type="http://schemas.openxmlformats.org/officeDocument/2006/relationships/image" Target="../media/image112.e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7.xml"/><Relationship Id="rId1" Type="http://schemas.openxmlformats.org/officeDocument/2006/relationships/vmlDrawing" Target="../drawings/vmlDrawing32.vml"/><Relationship Id="rId4" Type="http://schemas.openxmlformats.org/officeDocument/2006/relationships/image" Target="../media/image113.emf"/></Relationships>
</file>

<file path=ppt/slides/_rels/slide75.xml.rels><?xml version="1.0" encoding="UTF-8" standalone="yes"?>
<Relationships xmlns="http://schemas.openxmlformats.org/package/2006/relationships"><Relationship Id="rId8" Type="http://schemas.openxmlformats.org/officeDocument/2006/relationships/image" Target="../media/image116.wmf"/><Relationship Id="rId13" Type="http://schemas.openxmlformats.org/officeDocument/2006/relationships/oleObject" Target="../embeddings/oleObject69.bin"/><Relationship Id="rId3" Type="http://schemas.openxmlformats.org/officeDocument/2006/relationships/oleObject" Target="../embeddings/oleObject64.bin"/><Relationship Id="rId7" Type="http://schemas.openxmlformats.org/officeDocument/2006/relationships/oleObject" Target="../embeddings/oleObject66.bin"/><Relationship Id="rId12" Type="http://schemas.openxmlformats.org/officeDocument/2006/relationships/image" Target="../media/image118.wmf"/><Relationship Id="rId2" Type="http://schemas.openxmlformats.org/officeDocument/2006/relationships/slideLayout" Target="../slideLayouts/slideLayout7.xml"/><Relationship Id="rId16" Type="http://schemas.openxmlformats.org/officeDocument/2006/relationships/image" Target="../media/image120.wmf"/><Relationship Id="rId1" Type="http://schemas.openxmlformats.org/officeDocument/2006/relationships/vmlDrawing" Target="../drawings/vmlDrawing33.vml"/><Relationship Id="rId6" Type="http://schemas.openxmlformats.org/officeDocument/2006/relationships/image" Target="../media/image115.wmf"/><Relationship Id="rId11" Type="http://schemas.openxmlformats.org/officeDocument/2006/relationships/oleObject" Target="../embeddings/oleObject68.bin"/><Relationship Id="rId5" Type="http://schemas.openxmlformats.org/officeDocument/2006/relationships/oleObject" Target="../embeddings/oleObject65.bin"/><Relationship Id="rId15" Type="http://schemas.openxmlformats.org/officeDocument/2006/relationships/oleObject" Target="../embeddings/oleObject70.bin"/><Relationship Id="rId10" Type="http://schemas.openxmlformats.org/officeDocument/2006/relationships/image" Target="../media/image117.wmf"/><Relationship Id="rId4" Type="http://schemas.openxmlformats.org/officeDocument/2006/relationships/image" Target="../media/image114.wmf"/><Relationship Id="rId9" Type="http://schemas.openxmlformats.org/officeDocument/2006/relationships/oleObject" Target="../embeddings/oleObject67.bin"/><Relationship Id="rId14" Type="http://schemas.openxmlformats.org/officeDocument/2006/relationships/image" Target="../media/image119.wmf"/></Relationships>
</file>

<file path=ppt/slides/_rels/slide76.xml.rels><?xml version="1.0" encoding="UTF-8" standalone="yes"?>
<Relationships xmlns="http://schemas.openxmlformats.org/package/2006/relationships"><Relationship Id="rId8" Type="http://schemas.openxmlformats.org/officeDocument/2006/relationships/image" Target="../media/image123.wmf"/><Relationship Id="rId13" Type="http://schemas.openxmlformats.org/officeDocument/2006/relationships/oleObject" Target="../embeddings/oleObject76.bin"/><Relationship Id="rId3" Type="http://schemas.openxmlformats.org/officeDocument/2006/relationships/oleObject" Target="../embeddings/oleObject71.bin"/><Relationship Id="rId7" Type="http://schemas.openxmlformats.org/officeDocument/2006/relationships/oleObject" Target="../embeddings/oleObject73.bin"/><Relationship Id="rId12" Type="http://schemas.openxmlformats.org/officeDocument/2006/relationships/image" Target="../media/image125.wmf"/><Relationship Id="rId2" Type="http://schemas.openxmlformats.org/officeDocument/2006/relationships/slideLayout" Target="../slideLayouts/slideLayout7.xml"/><Relationship Id="rId16" Type="http://schemas.openxmlformats.org/officeDocument/2006/relationships/image" Target="../media/image127.wmf"/><Relationship Id="rId1" Type="http://schemas.openxmlformats.org/officeDocument/2006/relationships/vmlDrawing" Target="../drawings/vmlDrawing34.vml"/><Relationship Id="rId6" Type="http://schemas.openxmlformats.org/officeDocument/2006/relationships/image" Target="../media/image122.wmf"/><Relationship Id="rId11" Type="http://schemas.openxmlformats.org/officeDocument/2006/relationships/oleObject" Target="../embeddings/oleObject75.bin"/><Relationship Id="rId5" Type="http://schemas.openxmlformats.org/officeDocument/2006/relationships/oleObject" Target="../embeddings/oleObject72.bin"/><Relationship Id="rId15" Type="http://schemas.openxmlformats.org/officeDocument/2006/relationships/oleObject" Target="../embeddings/oleObject77.bin"/><Relationship Id="rId10" Type="http://schemas.openxmlformats.org/officeDocument/2006/relationships/image" Target="../media/image124.wmf"/><Relationship Id="rId4" Type="http://schemas.openxmlformats.org/officeDocument/2006/relationships/image" Target="../media/image121.wmf"/><Relationship Id="rId9" Type="http://schemas.openxmlformats.org/officeDocument/2006/relationships/oleObject" Target="../embeddings/oleObject74.bin"/><Relationship Id="rId14" Type="http://schemas.openxmlformats.org/officeDocument/2006/relationships/image" Target="../media/image126.wmf"/></Relationships>
</file>

<file path=ppt/slides/_rels/slide77.xml.rels><?xml version="1.0" encoding="UTF-8" standalone="yes"?>
<Relationships xmlns="http://schemas.openxmlformats.org/package/2006/relationships"><Relationship Id="rId8" Type="http://schemas.openxmlformats.org/officeDocument/2006/relationships/image" Target="../media/image130.wmf"/><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29.wmf"/><Relationship Id="rId5" Type="http://schemas.openxmlformats.org/officeDocument/2006/relationships/oleObject" Target="../embeddings/oleObject79.bin"/><Relationship Id="rId10" Type="http://schemas.openxmlformats.org/officeDocument/2006/relationships/image" Target="../media/image131.wmf"/><Relationship Id="rId4" Type="http://schemas.openxmlformats.org/officeDocument/2006/relationships/image" Target="../media/image128.wmf"/><Relationship Id="rId9" Type="http://schemas.openxmlformats.org/officeDocument/2006/relationships/oleObject" Target="../embeddings/oleObject81.bin"/></Relationships>
</file>

<file path=ppt/slides/_rels/slide78.xml.rels><?xml version="1.0" encoding="UTF-8" standalone="yes"?>
<Relationships xmlns="http://schemas.openxmlformats.org/package/2006/relationships"><Relationship Id="rId8" Type="http://schemas.openxmlformats.org/officeDocument/2006/relationships/image" Target="../media/image134.wmf"/><Relationship Id="rId3" Type="http://schemas.openxmlformats.org/officeDocument/2006/relationships/oleObject" Target="../embeddings/oleObject82.bin"/><Relationship Id="rId7" Type="http://schemas.openxmlformats.org/officeDocument/2006/relationships/oleObject" Target="../embeddings/oleObject84.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133.wmf"/><Relationship Id="rId5" Type="http://schemas.openxmlformats.org/officeDocument/2006/relationships/oleObject" Target="../embeddings/oleObject83.bin"/><Relationship Id="rId4" Type="http://schemas.openxmlformats.org/officeDocument/2006/relationships/image" Target="../media/image132.wmf"/><Relationship Id="rId9" Type="http://schemas.openxmlformats.org/officeDocument/2006/relationships/oleObject" Target="../embeddings/oleObject85.bin"/></Relationships>
</file>

<file path=ppt/slides/_rels/slide79.xml.rels><?xml version="1.0" encoding="UTF-8" standalone="yes"?>
<Relationships xmlns="http://schemas.openxmlformats.org/package/2006/relationships"><Relationship Id="rId3" Type="http://schemas.openxmlformats.org/officeDocument/2006/relationships/hyperlink" Target="&#31435;&#26041;&#20307;&#65288;&#26410;&#28040;&#38544;&#65289;.exe" TargetMode="External"/><Relationship Id="rId2" Type="http://schemas.openxmlformats.org/officeDocument/2006/relationships/image" Target="../media/image135.png"/><Relationship Id="rId1" Type="http://schemas.openxmlformats.org/officeDocument/2006/relationships/slideLayout" Target="../slideLayouts/slideLayout7.xml"/><Relationship Id="rId5" Type="http://schemas.openxmlformats.org/officeDocument/2006/relationships/hyperlink" Target="&#28040;&#38544;&#21518;&#30340;&#31435;&#26041;&#20307;.exe" TargetMode="External"/><Relationship Id="rId4" Type="http://schemas.openxmlformats.org/officeDocument/2006/relationships/image" Target="../media/image136.png"/></Relationships>
</file>

<file path=ppt/slides/_rels/slide80.xml.rels><?xml version="1.0" encoding="UTF-8" standalone="yes"?>
<Relationships xmlns="http://schemas.openxmlformats.org/package/2006/relationships"><Relationship Id="rId8" Type="http://schemas.openxmlformats.org/officeDocument/2006/relationships/hyperlink" Target="&#27491;&#21313;&#20108;&#38754;&#20307;&#27169;&#22411;(&#34394;&#32447;).exe" TargetMode="External"/><Relationship Id="rId3" Type="http://schemas.openxmlformats.org/officeDocument/2006/relationships/image" Target="../media/image138.png"/><Relationship Id="rId7" Type="http://schemas.openxmlformats.org/officeDocument/2006/relationships/hyperlink" Target="&#27491;&#20843;&#38754;&#20307;&#27169;&#22411;(&#34394;&#32447;).exe" TargetMode="External"/><Relationship Id="rId2" Type="http://schemas.openxmlformats.org/officeDocument/2006/relationships/image" Target="../media/image137.png"/><Relationship Id="rId1" Type="http://schemas.openxmlformats.org/officeDocument/2006/relationships/slideLayout" Target="../slideLayouts/slideLayout7.xml"/><Relationship Id="rId6" Type="http://schemas.openxmlformats.org/officeDocument/2006/relationships/hyperlink" Target="&#31435;&#26041;&#20307;&#34394;&#32447;&#28040;&#38544;.exe" TargetMode="External"/><Relationship Id="rId5" Type="http://schemas.openxmlformats.org/officeDocument/2006/relationships/image" Target="../media/image140.png"/><Relationship Id="rId4" Type="http://schemas.openxmlformats.org/officeDocument/2006/relationships/image" Target="../media/image139.png"/><Relationship Id="rId9" Type="http://schemas.openxmlformats.org/officeDocument/2006/relationships/hyperlink" Target="&#27491;&#20108;&#21313;&#38754;&#20307;&#27169;&#22411;(&#34394;&#32447;).exe"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8" Type="http://schemas.openxmlformats.org/officeDocument/2006/relationships/image" Target="../media/image121.wmf"/><Relationship Id="rId3" Type="http://schemas.openxmlformats.org/officeDocument/2006/relationships/oleObject" Target="../embeddings/oleObject86.bin"/><Relationship Id="rId7" Type="http://schemas.openxmlformats.org/officeDocument/2006/relationships/oleObject" Target="../embeddings/oleObject88.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142.emf"/><Relationship Id="rId11" Type="http://schemas.openxmlformats.org/officeDocument/2006/relationships/image" Target="../media/image123.wmf"/><Relationship Id="rId5" Type="http://schemas.openxmlformats.org/officeDocument/2006/relationships/oleObject" Target="../embeddings/oleObject87.bin"/><Relationship Id="rId10" Type="http://schemas.openxmlformats.org/officeDocument/2006/relationships/oleObject" Target="../embeddings/oleObject90.bin"/><Relationship Id="rId4" Type="http://schemas.openxmlformats.org/officeDocument/2006/relationships/image" Target="../media/image141.wmf"/><Relationship Id="rId9" Type="http://schemas.openxmlformats.org/officeDocument/2006/relationships/oleObject" Target="../embeddings/oleObject89.bin"/></Relationships>
</file>

<file path=ppt/slides/_rels/slide83.xml.rels><?xml version="1.0" encoding="UTF-8" standalone="yes"?>
<Relationships xmlns="http://schemas.openxmlformats.org/package/2006/relationships"><Relationship Id="rId8" Type="http://schemas.openxmlformats.org/officeDocument/2006/relationships/image" Target="../media/image145.wmf"/><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image" Target="../media/image144.wmf"/><Relationship Id="rId5" Type="http://schemas.openxmlformats.org/officeDocument/2006/relationships/oleObject" Target="../embeddings/oleObject92.bin"/><Relationship Id="rId10" Type="http://schemas.openxmlformats.org/officeDocument/2006/relationships/image" Target="../media/image146.wmf"/><Relationship Id="rId4" Type="http://schemas.openxmlformats.org/officeDocument/2006/relationships/image" Target="../media/image143.wmf"/><Relationship Id="rId9" Type="http://schemas.openxmlformats.org/officeDocument/2006/relationships/oleObject" Target="../embeddings/oleObject94.bin"/></Relationships>
</file>

<file path=ppt/slides/_rels/slide84.xml.rels><?xml version="1.0" encoding="UTF-8" standalone="yes"?>
<Relationships xmlns="http://schemas.openxmlformats.org/package/2006/relationships"><Relationship Id="rId8" Type="http://schemas.openxmlformats.org/officeDocument/2006/relationships/hyperlink" Target="&#22320;&#29702;&#21010;&#20998;&#32447;&#26694;&#29699;.exe" TargetMode="External"/><Relationship Id="rId3" Type="http://schemas.openxmlformats.org/officeDocument/2006/relationships/oleObject" Target="../embeddings/oleObject95.bin"/><Relationship Id="rId7" Type="http://schemas.openxmlformats.org/officeDocument/2006/relationships/image" Target="../media/image149.png"/><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hyperlink" Target="&#29699;&#38754;&#65288;&#26410;&#28040;&#38544;&#65289;.exe" TargetMode="External"/><Relationship Id="rId5" Type="http://schemas.openxmlformats.org/officeDocument/2006/relationships/image" Target="../media/image148.png"/><Relationship Id="rId4" Type="http://schemas.openxmlformats.org/officeDocument/2006/relationships/image" Target="../media/image147.wmf"/></Relationships>
</file>

<file path=ppt/slides/_rels/slide85.xml.rels><?xml version="1.0" encoding="UTF-8" standalone="yes"?>
<Relationships xmlns="http://schemas.openxmlformats.org/package/2006/relationships"><Relationship Id="rId2" Type="http://schemas.openxmlformats.org/officeDocument/2006/relationships/image" Target="../media/image150.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7.xml"/><Relationship Id="rId1" Type="http://schemas.openxmlformats.org/officeDocument/2006/relationships/vmlDrawing" Target="../drawings/vmlDrawing40.vml"/><Relationship Id="rId4" Type="http://schemas.openxmlformats.org/officeDocument/2006/relationships/image" Target="../media/image151.emf"/></Relationships>
</file>

<file path=ppt/slides/_rels/slide87.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154.emf"/><Relationship Id="rId5" Type="http://schemas.openxmlformats.org/officeDocument/2006/relationships/oleObject" Target="../embeddings/oleObject98.bin"/><Relationship Id="rId4" Type="http://schemas.openxmlformats.org/officeDocument/2006/relationships/image" Target="../media/image153.emf"/></Relationships>
</file>

<file path=ppt/slides/_rels/slide89.xml.rels><?xml version="1.0" encoding="UTF-8" standalone="yes"?>
<Relationships xmlns="http://schemas.openxmlformats.org/package/2006/relationships"><Relationship Id="rId8" Type="http://schemas.openxmlformats.org/officeDocument/2006/relationships/image" Target="../media/image157.wmf"/><Relationship Id="rId3" Type="http://schemas.openxmlformats.org/officeDocument/2006/relationships/oleObject" Target="../embeddings/oleObject99.bin"/><Relationship Id="rId7" Type="http://schemas.openxmlformats.org/officeDocument/2006/relationships/oleObject" Target="../embeddings/oleObject101.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156.wmf"/><Relationship Id="rId5" Type="http://schemas.openxmlformats.org/officeDocument/2006/relationships/oleObject" Target="../embeddings/oleObject100.bin"/><Relationship Id="rId10" Type="http://schemas.openxmlformats.org/officeDocument/2006/relationships/image" Target="../media/image158.wmf"/><Relationship Id="rId4" Type="http://schemas.openxmlformats.org/officeDocument/2006/relationships/image" Target="../media/image155.wmf"/><Relationship Id="rId9" Type="http://schemas.openxmlformats.org/officeDocument/2006/relationships/oleObject" Target="../embeddings/oleObject102.bin"/></Relationships>
</file>

<file path=ppt/slides/_rels/slide90.xml.rels><?xml version="1.0" encoding="UTF-8" standalone="yes"?>
<Relationships xmlns="http://schemas.openxmlformats.org/package/2006/relationships"><Relationship Id="rId8" Type="http://schemas.openxmlformats.org/officeDocument/2006/relationships/image" Target="../media/image161.wmf"/><Relationship Id="rId13" Type="http://schemas.openxmlformats.org/officeDocument/2006/relationships/oleObject" Target="../embeddings/oleObject107.bin"/><Relationship Id="rId3" Type="http://schemas.openxmlformats.org/officeDocument/2006/relationships/oleObject" Target="../embeddings/oleObject103.bin"/><Relationship Id="rId7" Type="http://schemas.openxmlformats.org/officeDocument/2006/relationships/oleObject" Target="../embeddings/oleObject105.bin"/><Relationship Id="rId12" Type="http://schemas.openxmlformats.org/officeDocument/2006/relationships/image" Target="../media/image167.png"/><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image" Target="../media/image160.wmf"/><Relationship Id="rId11" Type="http://schemas.openxmlformats.org/officeDocument/2006/relationships/image" Target="../media/image162.wmf"/><Relationship Id="rId5" Type="http://schemas.openxmlformats.org/officeDocument/2006/relationships/oleObject" Target="../embeddings/oleObject104.bin"/><Relationship Id="rId10" Type="http://schemas.openxmlformats.org/officeDocument/2006/relationships/oleObject" Target="../embeddings/oleObject106.bin"/><Relationship Id="rId4" Type="http://schemas.openxmlformats.org/officeDocument/2006/relationships/image" Target="../media/image159.wmf"/><Relationship Id="rId9" Type="http://schemas.openxmlformats.org/officeDocument/2006/relationships/image" Target="../media/image166.png"/><Relationship Id="rId14" Type="http://schemas.openxmlformats.org/officeDocument/2006/relationships/image" Target="../media/image163.wmf"/></Relationships>
</file>

<file path=ppt/slides/_rels/slide91.xml.rels><?xml version="1.0" encoding="UTF-8" standalone="yes"?>
<Relationships xmlns="http://schemas.openxmlformats.org/package/2006/relationships"><Relationship Id="rId8" Type="http://schemas.openxmlformats.org/officeDocument/2006/relationships/image" Target="../media/image172.png"/><Relationship Id="rId3" Type="http://schemas.openxmlformats.org/officeDocument/2006/relationships/image" Target="../media/image171.png"/><Relationship Id="rId7" Type="http://schemas.openxmlformats.org/officeDocument/2006/relationships/image" Target="../media/image165.wmf"/><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oleObject" Target="../embeddings/oleObject109.bin"/><Relationship Id="rId11" Type="http://schemas.openxmlformats.org/officeDocument/2006/relationships/image" Target="../media/image173.png"/><Relationship Id="rId5" Type="http://schemas.openxmlformats.org/officeDocument/2006/relationships/image" Target="../media/image164.wmf"/><Relationship Id="rId10" Type="http://schemas.openxmlformats.org/officeDocument/2006/relationships/image" Target="../media/image166.wmf"/><Relationship Id="rId4" Type="http://schemas.openxmlformats.org/officeDocument/2006/relationships/oleObject" Target="../embeddings/oleObject108.bin"/><Relationship Id="rId9" Type="http://schemas.openxmlformats.org/officeDocument/2006/relationships/oleObject" Target="../embeddings/oleObject110.bin"/></Relationships>
</file>

<file path=ppt/slides/_rels/slide92.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image" Target="../media/image169.emf"/><Relationship Id="rId5" Type="http://schemas.openxmlformats.org/officeDocument/2006/relationships/oleObject" Target="../embeddings/oleObject111.bin"/><Relationship Id="rId4" Type="http://schemas.openxmlformats.org/officeDocument/2006/relationships/image" Target="../media/image176.png"/></Relationships>
</file>

<file path=ppt/slides/_rels/slide94.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image" Target="../media/image178.png"/><Relationship Id="rId5" Type="http://schemas.openxmlformats.org/officeDocument/2006/relationships/image" Target="../media/image170.wmf"/><Relationship Id="rId4" Type="http://schemas.openxmlformats.org/officeDocument/2006/relationships/oleObject" Target="../embeddings/oleObject112.bin"/></Relationships>
</file>

<file path=ppt/slides/_rels/slide95.xml.rels><?xml version="1.0" encoding="UTF-8" standalone="yes"?>
<Relationships xmlns="http://schemas.openxmlformats.org/package/2006/relationships"><Relationship Id="rId8" Type="http://schemas.openxmlformats.org/officeDocument/2006/relationships/image" Target="../media/image172.emf"/><Relationship Id="rId3" Type="http://schemas.openxmlformats.org/officeDocument/2006/relationships/image" Target="../media/image168.png"/><Relationship Id="rId7" Type="http://schemas.openxmlformats.org/officeDocument/2006/relationships/oleObject" Target="../embeddings/oleObject114.bin"/><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171.emf"/><Relationship Id="rId5" Type="http://schemas.openxmlformats.org/officeDocument/2006/relationships/oleObject" Target="../embeddings/oleObject113.bin"/><Relationship Id="rId4" Type="http://schemas.openxmlformats.org/officeDocument/2006/relationships/image" Target="../media/image181.png"/></Relationships>
</file>

<file path=ppt/slides/_rels/slide96.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68.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175.png"/><Relationship Id="rId7" Type="http://schemas.openxmlformats.org/officeDocument/2006/relationships/hyperlink" Target="&#28040;&#38544;&#29615;.exe" TargetMode="External"/><Relationship Id="rId2" Type="http://schemas.openxmlformats.org/officeDocument/2006/relationships/image" Target="../media/image168.png"/><Relationship Id="rId1" Type="http://schemas.openxmlformats.org/officeDocument/2006/relationships/slideLayout" Target="../slideLayouts/slideLayout7.xml"/><Relationship Id="rId6" Type="http://schemas.openxmlformats.org/officeDocument/2006/relationships/hyperlink" Target="&#22278;&#29615;&#38754;.exe" TargetMode="External"/><Relationship Id="rId5" Type="http://schemas.openxmlformats.org/officeDocument/2006/relationships/hyperlink" Target="&#22278;&#29615;&#38754;&#32593;&#26684;.exe" TargetMode="External"/><Relationship Id="rId4" Type="http://schemas.openxmlformats.org/officeDocument/2006/relationships/image" Target="../media/image177.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8" Type="http://schemas.openxmlformats.org/officeDocument/2006/relationships/image" Target="../media/image182.png"/><Relationship Id="rId3" Type="http://schemas.openxmlformats.org/officeDocument/2006/relationships/oleObject" Target="../embeddings/oleObject115.bin"/><Relationship Id="rId7" Type="http://schemas.openxmlformats.org/officeDocument/2006/relationships/image" Target="../media/image180.png"/><Relationship Id="rId2" Type="http://schemas.openxmlformats.org/officeDocument/2006/relationships/slideLayout" Target="../slideLayouts/slideLayout7.xml"/><Relationship Id="rId1" Type="http://schemas.openxmlformats.org/officeDocument/2006/relationships/vmlDrawing" Target="../drawings/vmlDrawing48.vml"/><Relationship Id="rId6" Type="http://schemas.openxmlformats.org/officeDocument/2006/relationships/image" Target="../media/image179.emf"/><Relationship Id="rId5" Type="http://schemas.openxmlformats.org/officeDocument/2006/relationships/oleObject" Target="../embeddings/oleObject116.bin"/><Relationship Id="rId4" Type="http://schemas.openxmlformats.org/officeDocument/2006/relationships/image" Target="../media/image178.emf"/><Relationship Id="rId9" Type="http://schemas.openxmlformats.org/officeDocument/2006/relationships/hyperlink" Target="&#20132;&#21449;&#26465;.exe" TargetMode="External"/></Relationships>
</file>

<file path=ppt/slides/_rels/slide101.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183.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184.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oleObject" Target="../embeddings/oleObject117.bin"/><Relationship Id="rId2" Type="http://schemas.openxmlformats.org/officeDocument/2006/relationships/slideLayout" Target="../slideLayouts/slideLayout7.xml"/><Relationship Id="rId1" Type="http://schemas.openxmlformats.org/officeDocument/2006/relationships/vmlDrawing" Target="../drawings/vmlDrawing49.vml"/><Relationship Id="rId5" Type="http://schemas.openxmlformats.org/officeDocument/2006/relationships/image" Target="../media/image186.png"/><Relationship Id="rId4" Type="http://schemas.openxmlformats.org/officeDocument/2006/relationships/image" Target="../media/image185.emf"/></Relationships>
</file>

<file path=ppt/slides/_rels/slide105.xml.rels><?xml version="1.0" encoding="UTF-8" standalone="yes"?>
<Relationships xmlns="http://schemas.openxmlformats.org/package/2006/relationships"><Relationship Id="rId3" Type="http://schemas.openxmlformats.org/officeDocument/2006/relationships/oleObject" Target="../embeddings/oleObject118.bin"/><Relationship Id="rId2" Type="http://schemas.openxmlformats.org/officeDocument/2006/relationships/slideLayout" Target="../slideLayouts/slideLayout7.xml"/><Relationship Id="rId1" Type="http://schemas.openxmlformats.org/officeDocument/2006/relationships/vmlDrawing" Target="../drawings/vmlDrawing50.vml"/><Relationship Id="rId5" Type="http://schemas.openxmlformats.org/officeDocument/2006/relationships/image" Target="../media/image188.png"/><Relationship Id="rId4" Type="http://schemas.openxmlformats.org/officeDocument/2006/relationships/image" Target="../media/image187.emf"/></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119.bin"/><Relationship Id="rId2" Type="http://schemas.openxmlformats.org/officeDocument/2006/relationships/slideLayout" Target="../slideLayouts/slideLayout7.xml"/><Relationship Id="rId1" Type="http://schemas.openxmlformats.org/officeDocument/2006/relationships/vmlDrawing" Target="../drawings/vmlDrawing51.vml"/><Relationship Id="rId5" Type="http://schemas.openxmlformats.org/officeDocument/2006/relationships/image" Target="../media/image190.png"/><Relationship Id="rId4" Type="http://schemas.openxmlformats.org/officeDocument/2006/relationships/image" Target="../media/image189.emf"/></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192.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193.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196.png"/><Relationship Id="rId7" Type="http://schemas.openxmlformats.org/officeDocument/2006/relationships/image" Target="../media/image200.png"/><Relationship Id="rId2" Type="http://schemas.openxmlformats.org/officeDocument/2006/relationships/image" Target="../media/image195.png"/><Relationship Id="rId1" Type="http://schemas.openxmlformats.org/officeDocument/2006/relationships/slideLayout" Target="../slideLayouts/slideLayout7.xml"/><Relationship Id="rId6" Type="http://schemas.openxmlformats.org/officeDocument/2006/relationships/image" Target="../media/image199.png"/><Relationship Id="rId5" Type="http://schemas.openxmlformats.org/officeDocument/2006/relationships/image" Target="../media/image198.png"/><Relationship Id="rId4" Type="http://schemas.openxmlformats.org/officeDocument/2006/relationships/image" Target="../media/image197.png"/></Relationships>
</file>

<file path=ppt/slides/_rels/slide112.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201.png"/><Relationship Id="rId1" Type="http://schemas.openxmlformats.org/officeDocument/2006/relationships/slideLayout" Target="../slideLayouts/slideLayout7.xml"/><Relationship Id="rId4" Type="http://schemas.openxmlformats.org/officeDocument/2006/relationships/image" Target="../media/image203.png"/></Relationships>
</file>

<file path=ppt/slides/_rels/slide113.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04.png"/><Relationship Id="rId1" Type="http://schemas.openxmlformats.org/officeDocument/2006/relationships/slideLayout" Target="../slideLayouts/slideLayout7.xml"/><Relationship Id="rId4" Type="http://schemas.openxmlformats.org/officeDocument/2006/relationships/image" Target="../media/image206.png"/></Relationships>
</file>

<file path=ppt/slides/_rels/slide114.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image" Target="../media/image207.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descr="新闻纸"/>
          <p:cNvSpPr>
            <a:spLocks noChangeArrowheads="1"/>
          </p:cNvSpPr>
          <p:nvPr/>
        </p:nvSpPr>
        <p:spPr bwMode="auto">
          <a:xfrm>
            <a:off x="792163" y="279400"/>
            <a:ext cx="2665412" cy="1412875"/>
          </a:xfrm>
          <a:prstGeom prst="diamond">
            <a:avLst/>
          </a:prstGeom>
          <a:blipFill dpi="0" rotWithShape="0">
            <a:blip r:embed="rId3"/>
            <a:srcRect/>
            <a:tile tx="0" ty="0" sx="100000" sy="100000" flip="none" algn="tl"/>
          </a:blipFill>
          <a:ln>
            <a:noFill/>
          </a:ln>
          <a:effectLst>
            <a:prstShdw prst="shdw17" dist="17961" dir="2700000">
              <a:srgbClr val="959595"/>
            </a:prstShdw>
          </a:effectLst>
          <a:extLst>
            <a:ext uri="{91240B29-F687-4F45-9708-019B960494DF}">
              <a14:hiddenLine xmlns:a14="http://schemas.microsoft.com/office/drawing/2010/main" w="9525">
                <a:solidFill>
                  <a:srgbClr val="000000"/>
                </a:solidFill>
                <a:miter lim="800000"/>
                <a:headEnd/>
                <a:tailEnd/>
              </a14:hiddenLine>
            </a:ext>
          </a:extLst>
        </p:spPr>
        <p:txBody>
          <a:bodyPr t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nSpc>
                <a:spcPct val="150000"/>
              </a:lnSpc>
              <a:spcBef>
                <a:spcPct val="0"/>
              </a:spcBef>
            </a:pPr>
            <a:r>
              <a:rPr lang="zh-CN" altLang="en-US" b="1">
                <a:solidFill>
                  <a:srgbClr val="3333FF"/>
                </a:solidFill>
                <a:latin typeface="Times New Roman" pitchFamily="18" charset="0"/>
                <a:ea typeface="楷体_GB2312" pitchFamily="1" charset="-122"/>
              </a:rPr>
              <a:t>第九章</a:t>
            </a:r>
            <a:endParaRPr lang="en-US" altLang="zh-CN" b="1">
              <a:solidFill>
                <a:srgbClr val="3333FF"/>
              </a:solidFill>
              <a:latin typeface="幼圆" pitchFamily="49" charset="-122"/>
              <a:ea typeface="楷体_GB2312" pitchFamily="1" charset="-122"/>
            </a:endParaRPr>
          </a:p>
        </p:txBody>
      </p:sp>
      <p:grpSp>
        <p:nvGrpSpPr>
          <p:cNvPr id="5124" name="Group 4"/>
          <p:cNvGrpSpPr>
            <a:grpSpLocks/>
          </p:cNvGrpSpPr>
          <p:nvPr/>
        </p:nvGrpSpPr>
        <p:grpSpPr bwMode="auto">
          <a:xfrm>
            <a:off x="1557338" y="3609975"/>
            <a:ext cx="3810000" cy="519113"/>
            <a:chOff x="0" y="0"/>
            <a:chExt cx="5675" cy="663"/>
          </a:xfrm>
        </p:grpSpPr>
        <p:grpSp>
          <p:nvGrpSpPr>
            <p:cNvPr id="5125" name="Group 5"/>
            <p:cNvGrpSpPr>
              <a:grpSpLocks/>
            </p:cNvGrpSpPr>
            <p:nvPr/>
          </p:nvGrpSpPr>
          <p:grpSpPr bwMode="auto">
            <a:xfrm>
              <a:off x="183" y="68"/>
              <a:ext cx="448" cy="299"/>
              <a:chOff x="0" y="0"/>
              <a:chExt cx="624" cy="432"/>
            </a:xfrm>
          </p:grpSpPr>
          <p:sp>
            <p:nvSpPr>
              <p:cNvPr id="5126" name="Rectangle 6"/>
              <p:cNvSpPr>
                <a:spLocks noChangeArrowheads="1"/>
              </p:cNvSpPr>
              <p:nvPr/>
            </p:nvSpPr>
            <p:spPr bwMode="auto">
              <a:xfrm>
                <a:off x="0" y="0"/>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5127" name="Rectangle 7"/>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grpSp>
        <p:grpSp>
          <p:nvGrpSpPr>
            <p:cNvPr id="5128" name="Group 8"/>
            <p:cNvGrpSpPr>
              <a:grpSpLocks/>
            </p:cNvGrpSpPr>
            <p:nvPr/>
          </p:nvGrpSpPr>
          <p:grpSpPr bwMode="auto">
            <a:xfrm>
              <a:off x="261" y="334"/>
              <a:ext cx="465" cy="299"/>
              <a:chOff x="0" y="0"/>
              <a:chExt cx="672" cy="432"/>
            </a:xfrm>
          </p:grpSpPr>
          <p:sp>
            <p:nvSpPr>
              <p:cNvPr id="5129" name="Rectangle 9"/>
              <p:cNvSpPr>
                <a:spLocks noChangeArrowheads="1"/>
              </p:cNvSpPr>
              <p:nvPr/>
            </p:nvSpPr>
            <p:spPr bwMode="auto">
              <a:xfrm>
                <a:off x="0" y="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5130" name="Rectangle 10"/>
              <p:cNvSpPr>
                <a:spLocks noChangeArrowheads="1"/>
              </p:cNvSpPr>
              <p:nvPr/>
            </p:nvSpPr>
            <p:spPr bwMode="auto">
              <a:xfrm>
                <a:off x="336" y="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grpSp>
        <p:sp>
          <p:nvSpPr>
            <p:cNvPr id="5131" name="Rectangle 11"/>
            <p:cNvSpPr>
              <a:spLocks noChangeArrowheads="1"/>
            </p:cNvSpPr>
            <p:nvPr/>
          </p:nvSpPr>
          <p:spPr bwMode="auto">
            <a:xfrm>
              <a:off x="0" y="288"/>
              <a:ext cx="353" cy="266"/>
            </a:xfrm>
            <a:prstGeom prst="rect">
              <a:avLst/>
            </a:prstGeom>
            <a:gradFill rotWithShape="0">
              <a:gsLst>
                <a:gs pos="0">
                  <a:schemeClr val="bg1"/>
                </a:gs>
                <a:gs pos="100000">
                  <a:schemeClr val="hlink"/>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5132" name="Rectangle 12"/>
            <p:cNvSpPr>
              <a:spLocks noChangeArrowheads="1"/>
            </p:cNvSpPr>
            <p:nvPr/>
          </p:nvSpPr>
          <p:spPr bwMode="auto">
            <a:xfrm>
              <a:off x="400" y="0"/>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5133" name="Rectangle 13"/>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grpSp>
      <p:sp>
        <p:nvSpPr>
          <p:cNvPr id="5134" name="WordArt 14"/>
          <p:cNvSpPr>
            <a:spLocks noChangeArrowheads="1" noChangeShapeType="1" noTextEdit="1"/>
          </p:cNvSpPr>
          <p:nvPr/>
        </p:nvSpPr>
        <p:spPr bwMode="auto">
          <a:xfrm>
            <a:off x="2349500" y="3249613"/>
            <a:ext cx="4751388" cy="647700"/>
          </a:xfrm>
          <a:prstGeom prst="rect">
            <a:avLst/>
          </a:prstGeom>
        </p:spPr>
        <p:txBody>
          <a:bodyPr wrap="none" fromWordArt="1">
            <a:prstTxWarp prst="textPlain">
              <a:avLst>
                <a:gd name="adj" fmla="val 50000"/>
              </a:avLst>
            </a:prstTxWarp>
          </a:bodyPr>
          <a:lstStyle/>
          <a:p>
            <a:r>
              <a:rPr lang="zh-CN" altLang="en-US" sz="3200" kern="10">
                <a:ln w="12700" cmpd="sng">
                  <a:solidFill>
                    <a:schemeClr val="tx1"/>
                  </a:solidFill>
                  <a:round/>
                  <a:headEnd/>
                  <a:tailEnd/>
                </a:ln>
                <a:solidFill>
                  <a:schemeClr val="tx1">
                    <a:alpha val="75000"/>
                  </a:schemeClr>
                </a:solidFill>
                <a:effectLst>
                  <a:outerShdw dist="45791" dir="2021404" algn="ctr" rotWithShape="0">
                    <a:srgbClr val="9999FF"/>
                  </a:outerShdw>
                </a:effectLst>
                <a:latin typeface="楷体_GB2312"/>
              </a:rPr>
              <a:t>建模与消隐</a:t>
            </a:r>
          </a:p>
        </p:txBody>
      </p:sp>
    </p:spTree>
  </p:cSld>
  <p:clrMapOvr>
    <a:masterClrMapping/>
  </p:clrMapOvr>
  <p:transition advClick="0" advTm="1000">
    <p:zoom/>
    <p:sndAc>
      <p:stSnd>
        <p:snd r:embed="rId2" name="CAMERA.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380F4389-629C-4E75-AA1D-BF6C03197F49}" type="slidenum">
              <a:rPr lang="en-US" altLang="zh-CN" sz="1200">
                <a:solidFill>
                  <a:schemeClr val="tx1"/>
                </a:solidFill>
                <a:latin typeface="Garamond" pitchFamily="18" charset="0"/>
              </a:rPr>
              <a:pPr algn="r" eaLnBrk="1" hangingPunct="1">
                <a:spcBef>
                  <a:spcPct val="0"/>
                </a:spcBef>
              </a:pPr>
              <a:t>2</a:t>
            </a:fld>
            <a:endParaRPr lang="en-US" altLang="zh-CN" sz="1200">
              <a:solidFill>
                <a:schemeClr val="tx1"/>
              </a:solidFill>
              <a:latin typeface="Garamond" pitchFamily="18" charset="0"/>
            </a:endParaRPr>
          </a:p>
        </p:txBody>
      </p:sp>
      <p:sp>
        <p:nvSpPr>
          <p:cNvPr id="6147" name="AutoShape 4"/>
          <p:cNvSpPr>
            <a:spLocks noChangeArrowheads="1"/>
          </p:cNvSpPr>
          <p:nvPr/>
        </p:nvSpPr>
        <p:spPr bwMode="auto">
          <a:xfrm>
            <a:off x="657225" y="503238"/>
            <a:ext cx="7651750" cy="5454650"/>
          </a:xfrm>
          <a:prstGeom prst="horizontalScroll">
            <a:avLst>
              <a:gd name="adj" fmla="val 6102"/>
            </a:avLst>
          </a:prstGeom>
          <a:solidFill>
            <a:srgbClr val="FFFFCC"/>
          </a:solidFill>
          <a:ln w="9525" cmpd="sng">
            <a:solidFill>
              <a:schemeClr val="tx1"/>
            </a:solidFill>
            <a:round/>
            <a:headEnd/>
            <a:tailEnd/>
          </a:ln>
        </p:spPr>
        <p:txBody>
          <a:bodyPr wrap="none"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endParaRPr lang="zh-CN" altLang="en-US" sz="3200">
              <a:solidFill>
                <a:schemeClr val="folHlink"/>
              </a:solidFill>
              <a:effectLst>
                <a:outerShdw blurRad="38100" dist="38100" dir="2700000" algn="tl">
                  <a:srgbClr val="000000"/>
                </a:outerShdw>
              </a:effectLst>
            </a:endParaRPr>
          </a:p>
          <a:p>
            <a:pPr eaLnBrk="1" hangingPunct="1">
              <a:spcBef>
                <a:spcPct val="0"/>
              </a:spcBef>
            </a:pPr>
            <a:r>
              <a:rPr lang="zh-CN" altLang="en-US" sz="3200">
                <a:solidFill>
                  <a:schemeClr val="folHlink"/>
                </a:solidFill>
                <a:effectLst>
                  <a:outerShdw blurRad="38100" dist="38100" dir="2700000" algn="tl">
                    <a:srgbClr val="000000"/>
                  </a:outerShdw>
                </a:effectLst>
                <a:ea typeface="楷体_GB2312" pitchFamily="1" charset="-122"/>
              </a:rPr>
              <a:t>本章学习目标</a:t>
            </a:r>
          </a:p>
          <a:p>
            <a:pPr eaLnBrk="1" hangingPunct="1">
              <a:spcBef>
                <a:spcPct val="0"/>
              </a:spcBef>
            </a:pPr>
            <a:endParaRPr lang="zh-CN" altLang="en-US" sz="3200">
              <a:solidFill>
                <a:schemeClr val="folHlink"/>
              </a:solidFill>
              <a:effectLst>
                <a:outerShdw blurRad="38100" dist="38100" dir="2700000" algn="tl">
                  <a:srgbClr val="000000"/>
                </a:outerShdw>
              </a:effectLst>
              <a:ea typeface="楷体_GB2312" pitchFamily="1" charset="-122"/>
            </a:endParaRPr>
          </a:p>
          <a:p>
            <a:pPr eaLnBrk="1" hangingPunct="1">
              <a:spcBef>
                <a:spcPct val="0"/>
              </a:spcBef>
              <a:buFont typeface="Arial" pitchFamily="34" charset="0"/>
              <a:buBlip>
                <a:blip r:embed="rId2"/>
              </a:buBlip>
            </a:pPr>
            <a:r>
              <a:rPr lang="zh-CN" altLang="en-US" sz="3000">
                <a:solidFill>
                  <a:schemeClr val="tx1"/>
                </a:solidFill>
                <a:ea typeface="隶书" pitchFamily="49" charset="-122"/>
                <a:hlinkClick r:id="rId3" action="ppaction://hlinksldjump"/>
              </a:rPr>
              <a:t>柏拉图多面体的数据结构</a:t>
            </a:r>
            <a:endParaRPr lang="zh-CN" altLang="en-US" sz="3000">
              <a:solidFill>
                <a:schemeClr val="tx1"/>
              </a:solidFill>
              <a:ea typeface="隶书" pitchFamily="49" charset="-122"/>
            </a:endParaRPr>
          </a:p>
          <a:p>
            <a:pPr eaLnBrk="1" hangingPunct="1">
              <a:spcBef>
                <a:spcPct val="0"/>
              </a:spcBef>
              <a:buFont typeface="Arial" pitchFamily="34" charset="0"/>
              <a:buBlip>
                <a:blip r:embed="rId2"/>
              </a:buBlip>
            </a:pPr>
            <a:r>
              <a:rPr lang="zh-CN" altLang="en-US" sz="3000">
                <a:solidFill>
                  <a:schemeClr val="tx1"/>
                </a:solidFill>
                <a:ea typeface="隶书" pitchFamily="49" charset="-122"/>
                <a:hlinkClick r:id="rId4" action="ppaction://hlinksldjump"/>
              </a:rPr>
              <a:t>光滑物体网格划分的数学模型</a:t>
            </a:r>
            <a:endParaRPr lang="zh-CN" altLang="en-US" sz="3000">
              <a:solidFill>
                <a:schemeClr val="tx1"/>
              </a:solidFill>
              <a:ea typeface="隶书" pitchFamily="49" charset="-122"/>
            </a:endParaRPr>
          </a:p>
          <a:p>
            <a:pPr eaLnBrk="1" hangingPunct="1">
              <a:spcBef>
                <a:spcPct val="0"/>
              </a:spcBef>
              <a:buFont typeface="Arial" pitchFamily="34" charset="0"/>
              <a:buBlip>
                <a:blip r:embed="rId2"/>
              </a:buBlip>
            </a:pPr>
            <a:r>
              <a:rPr lang="zh-CN" altLang="en-US" sz="3000">
                <a:solidFill>
                  <a:schemeClr val="tx1"/>
                </a:solidFill>
                <a:ea typeface="隶书" pitchFamily="49" charset="-122"/>
                <a:hlinkClick r:id="rId5" action="ppaction://hlinksldjump"/>
              </a:rPr>
              <a:t>凸多面体的背面剔除算法</a:t>
            </a:r>
            <a:endParaRPr lang="zh-CN" altLang="en-US" sz="3000">
              <a:solidFill>
                <a:schemeClr val="tx1"/>
              </a:solidFill>
              <a:ea typeface="隶书" pitchFamily="49" charset="-122"/>
            </a:endParaRPr>
          </a:p>
          <a:p>
            <a:pPr eaLnBrk="1" hangingPunct="1">
              <a:spcBef>
                <a:spcPct val="0"/>
              </a:spcBef>
              <a:buFont typeface="Arial" pitchFamily="34" charset="0"/>
              <a:buBlip>
                <a:blip r:embed="rId2"/>
              </a:buBlip>
            </a:pPr>
            <a:r>
              <a:rPr lang="zh-CN" altLang="en-US" sz="3000">
                <a:solidFill>
                  <a:schemeClr val="tx1"/>
                </a:solidFill>
                <a:ea typeface="隶书" pitchFamily="49" charset="-122"/>
                <a:hlinkClick r:id="rId6" action="ppaction://hlinksldjump"/>
              </a:rPr>
              <a:t>曲面的背面剔除算法</a:t>
            </a:r>
            <a:endParaRPr lang="zh-CN" altLang="en-US" sz="3000">
              <a:solidFill>
                <a:schemeClr val="tx1"/>
              </a:solidFill>
              <a:ea typeface="隶书" pitchFamily="49" charset="-122"/>
            </a:endParaRPr>
          </a:p>
          <a:p>
            <a:pPr eaLnBrk="1" hangingPunct="1">
              <a:spcBef>
                <a:spcPct val="0"/>
              </a:spcBef>
              <a:buFont typeface="Arial" pitchFamily="34" charset="0"/>
              <a:buBlip>
                <a:blip r:embed="rId2"/>
              </a:buBlip>
            </a:pPr>
            <a:r>
              <a:rPr lang="zh-CN" altLang="en-US" sz="3000">
                <a:solidFill>
                  <a:schemeClr val="tx1"/>
                </a:solidFill>
                <a:ea typeface="隶书" pitchFamily="49" charset="-122"/>
                <a:hlinkClick r:id="rId7" action="ppaction://hlinksldjump"/>
              </a:rPr>
              <a:t>深度缓冲算法</a:t>
            </a:r>
            <a:endParaRPr lang="zh-CN" altLang="en-US" sz="3000">
              <a:solidFill>
                <a:schemeClr val="tx1"/>
              </a:solidFill>
              <a:ea typeface="隶书" pitchFamily="49" charset="-122"/>
            </a:endParaRPr>
          </a:p>
          <a:p>
            <a:pPr eaLnBrk="1" hangingPunct="1">
              <a:spcBef>
                <a:spcPct val="0"/>
              </a:spcBef>
              <a:buFont typeface="Arial" pitchFamily="34" charset="0"/>
              <a:buBlip>
                <a:blip r:embed="rId2"/>
              </a:buBlip>
            </a:pPr>
            <a:r>
              <a:rPr lang="zh-CN" altLang="en-US" sz="3000">
                <a:solidFill>
                  <a:schemeClr val="tx1"/>
                </a:solidFill>
                <a:ea typeface="隶书" pitchFamily="49" charset="-122"/>
                <a:hlinkClick r:id="rId8" action="ppaction://hlinksldjump"/>
              </a:rPr>
              <a:t>深度排序算法</a:t>
            </a:r>
            <a:endParaRPr lang="zh-CN" altLang="en-US" sz="3000">
              <a:solidFill>
                <a:schemeClr val="tx1"/>
              </a:solidFill>
              <a:ea typeface="隶书" pitchFamily="49" charset="-122"/>
            </a:endParaRPr>
          </a:p>
          <a:p>
            <a:pPr eaLnBrk="1" hangingPunct="1">
              <a:spcBef>
                <a:spcPct val="0"/>
              </a:spcBef>
            </a:pPr>
            <a:endParaRPr lang="zh-CN" altLang="en-US" sz="1800">
              <a:solidFill>
                <a:schemeClr val="folHlink"/>
              </a:solidFill>
              <a:effectLst>
                <a:outerShdw blurRad="38100" dist="38100" dir="2700000" algn="tl">
                  <a:srgbClr val="000000"/>
                </a:outerShdw>
              </a:effectLst>
              <a:ea typeface="隶书"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92761632-B271-4AB6-97B7-4FE14B628FE5}" type="slidenum">
              <a:rPr lang="en-US" altLang="zh-CN" sz="1200">
                <a:solidFill>
                  <a:schemeClr val="tx1"/>
                </a:solidFill>
                <a:latin typeface="Garamond" pitchFamily="18" charset="0"/>
              </a:rPr>
              <a:pPr algn="r" eaLnBrk="1" hangingPunct="1">
                <a:spcBef>
                  <a:spcPct val="0"/>
                </a:spcBef>
              </a:pPr>
              <a:t>3</a:t>
            </a:fld>
            <a:endParaRPr lang="en-US" altLang="zh-CN" sz="1200">
              <a:solidFill>
                <a:schemeClr val="tx1"/>
              </a:solidFill>
              <a:latin typeface="Garamond" pitchFamily="18" charset="0"/>
            </a:endParaRPr>
          </a:p>
        </p:txBody>
      </p:sp>
      <p:sp>
        <p:nvSpPr>
          <p:cNvPr id="7171" name="Rectangle 5"/>
          <p:cNvSpPr>
            <a:spLocks noGrp="1" noChangeArrowheads="1"/>
          </p:cNvSpPr>
          <p:nvPr>
            <p:ph type="body" idx="4294967295"/>
          </p:nvPr>
        </p:nvSpPr>
        <p:spPr>
          <a:xfrm>
            <a:off x="2006600" y="1854200"/>
            <a:ext cx="4724400" cy="4005263"/>
          </a:xfrm>
          <a:noFill/>
        </p:spPr>
        <p:txBody>
          <a:bodyPr/>
          <a:lstStyle/>
          <a:p>
            <a:pPr marL="533400" indent="-533400" eaLnBrk="1" hangingPunct="1">
              <a:lnSpc>
                <a:spcPct val="130000"/>
              </a:lnSpc>
            </a:pPr>
            <a:r>
              <a:rPr lang="zh-CN" altLang="en-US" sz="2600" b="1" dirty="0">
                <a:latin typeface="楷体_GB2312" pitchFamily="1" charset="-122"/>
                <a:ea typeface="楷体_GB2312" pitchFamily="1" charset="-122"/>
              </a:rPr>
              <a:t>9.1 三维物体的数据结构</a:t>
            </a:r>
            <a:r>
              <a:rPr lang="zh-CN" altLang="en-US" sz="2600" dirty="0">
                <a:latin typeface="楷体_GB2312" pitchFamily="1" charset="-122"/>
                <a:ea typeface="楷体_GB2312" pitchFamily="1" charset="-122"/>
              </a:rPr>
              <a:t> </a:t>
            </a:r>
            <a:endParaRPr lang="zh-CN" altLang="en-US" sz="2600" b="1" dirty="0">
              <a:latin typeface="楷体_GB2312" pitchFamily="1" charset="-122"/>
              <a:ea typeface="楷体_GB2312" pitchFamily="1" charset="-122"/>
            </a:endParaRPr>
          </a:p>
          <a:p>
            <a:pPr marL="533400" indent="-533400" eaLnBrk="1" hangingPunct="1">
              <a:lnSpc>
                <a:spcPct val="130000"/>
              </a:lnSpc>
            </a:pPr>
            <a:r>
              <a:rPr lang="zh-CN" altLang="en-US" sz="2600" b="1" dirty="0">
                <a:latin typeface="楷体_GB2312" pitchFamily="1" charset="-122"/>
                <a:ea typeface="楷体_GB2312" pitchFamily="1" charset="-122"/>
              </a:rPr>
              <a:t>9.2 消隐算法分类</a:t>
            </a:r>
            <a:r>
              <a:rPr lang="zh-CN" altLang="en-US" sz="2600" dirty="0">
                <a:latin typeface="楷体_GB2312" pitchFamily="1" charset="-122"/>
                <a:ea typeface="楷体_GB2312" pitchFamily="1" charset="-122"/>
              </a:rPr>
              <a:t> </a:t>
            </a:r>
            <a:endParaRPr lang="zh-CN" altLang="en-US" sz="2600" b="1" dirty="0">
              <a:latin typeface="楷体_GB2312" pitchFamily="1" charset="-122"/>
              <a:ea typeface="楷体_GB2312" pitchFamily="1" charset="-122"/>
            </a:endParaRPr>
          </a:p>
          <a:p>
            <a:pPr marL="533400" indent="-533400" eaLnBrk="1" hangingPunct="1">
              <a:lnSpc>
                <a:spcPct val="130000"/>
              </a:lnSpc>
            </a:pPr>
            <a:r>
              <a:rPr lang="zh-CN" altLang="en-US" sz="2600" b="1" dirty="0">
                <a:latin typeface="楷体_GB2312" pitchFamily="1" charset="-122"/>
                <a:ea typeface="楷体_GB2312" pitchFamily="1" charset="-122"/>
              </a:rPr>
              <a:t>9.3 隐线算法</a:t>
            </a:r>
            <a:r>
              <a:rPr lang="zh-CN" altLang="en-US" sz="2600" dirty="0">
                <a:latin typeface="楷体_GB2312" pitchFamily="1" charset="-122"/>
                <a:ea typeface="楷体_GB2312" pitchFamily="1" charset="-122"/>
              </a:rPr>
              <a:t> </a:t>
            </a:r>
            <a:endParaRPr lang="zh-CN" altLang="en-US" sz="2600" b="1" dirty="0">
              <a:latin typeface="楷体_GB2312" pitchFamily="1" charset="-122"/>
              <a:ea typeface="楷体_GB2312" pitchFamily="1" charset="-122"/>
            </a:endParaRPr>
          </a:p>
          <a:p>
            <a:pPr marL="533400" indent="-533400" eaLnBrk="1" hangingPunct="1">
              <a:lnSpc>
                <a:spcPct val="130000"/>
              </a:lnSpc>
            </a:pPr>
            <a:r>
              <a:rPr lang="zh-CN" altLang="en-US" sz="2600" b="1" dirty="0">
                <a:latin typeface="楷体_GB2312" pitchFamily="1" charset="-122"/>
                <a:ea typeface="楷体_GB2312" pitchFamily="1" charset="-122"/>
              </a:rPr>
              <a:t>9.4 隐面算法</a:t>
            </a:r>
            <a:endParaRPr lang="zh-CN" altLang="en-US" sz="2600" dirty="0">
              <a:latin typeface="楷体_GB2312" pitchFamily="1" charset="-122"/>
              <a:ea typeface="楷体_GB2312" pitchFamily="1" charset="-122"/>
            </a:endParaRPr>
          </a:p>
          <a:p>
            <a:pPr marL="533400" indent="-533400" eaLnBrk="1" hangingPunct="1">
              <a:lnSpc>
                <a:spcPct val="130000"/>
              </a:lnSpc>
            </a:pPr>
            <a:r>
              <a:rPr lang="zh-CN" altLang="en-US" sz="2600" b="1" dirty="0">
                <a:latin typeface="楷体_GB2312" pitchFamily="1" charset="-122"/>
                <a:ea typeface="楷体_GB2312" pitchFamily="1" charset="-122"/>
              </a:rPr>
              <a:t>9.5 本章小结</a:t>
            </a:r>
            <a:r>
              <a:rPr lang="zh-CN" altLang="en-US" sz="2600" dirty="0">
                <a:latin typeface="楷体_GB2312" pitchFamily="1" charset="-122"/>
                <a:ea typeface="楷体_GB2312" pitchFamily="1" charset="-122"/>
              </a:rPr>
              <a:t> </a:t>
            </a:r>
          </a:p>
          <a:p>
            <a:pPr marL="533400" indent="-533400" eaLnBrk="1" hangingPunct="1">
              <a:lnSpc>
                <a:spcPct val="130000"/>
              </a:lnSpc>
            </a:pPr>
            <a:r>
              <a:rPr lang="zh-CN" altLang="en-US" sz="2600" dirty="0">
                <a:latin typeface="楷体_GB2312" pitchFamily="1" charset="-122"/>
                <a:ea typeface="楷体_GB2312" pitchFamily="1" charset="-122"/>
              </a:rPr>
              <a:t>习题 9</a:t>
            </a:r>
            <a:endParaRPr lang="zh-CN" altLang="en-US" sz="2600" b="1" dirty="0">
              <a:latin typeface="楷体_GB2312" pitchFamily="1" charset="-122"/>
              <a:ea typeface="楷体_GB2312" pitchFamily="1" charset="-122"/>
            </a:endParaRPr>
          </a:p>
        </p:txBody>
      </p:sp>
      <p:sp>
        <p:nvSpPr>
          <p:cNvPr id="7172" name="AutoShape 8"/>
          <p:cNvSpPr>
            <a:spLocks noChangeArrowheads="1"/>
          </p:cNvSpPr>
          <p:nvPr/>
        </p:nvSpPr>
        <p:spPr bwMode="auto">
          <a:xfrm flipV="1">
            <a:off x="1150938" y="414338"/>
            <a:ext cx="2700337" cy="720725"/>
          </a:xfrm>
          <a:prstGeom prst="foldedCorner">
            <a:avLst>
              <a:gd name="adj" fmla="val 29926"/>
            </a:avLst>
          </a:prstGeom>
          <a:solidFill>
            <a:srgbClr val="FFFFCC"/>
          </a:solidFill>
          <a:ln>
            <a:noFill/>
          </a:ln>
          <a:effectLst>
            <a:outerShdw dist="107763" dir="18900000" algn="ctr" rotWithShape="0">
              <a:schemeClr val="bg2">
                <a:alpha val="50000"/>
              </a:schemeClr>
            </a:outerShdw>
          </a:effectLst>
          <a:extLst>
            <a:ext uri="{91240B29-F687-4F45-9708-019B960494DF}">
              <a14:hiddenLine xmlns:a14="http://schemas.microsoft.com/office/drawing/2010/main" w="9525">
                <a:solidFill>
                  <a:srgbClr val="000000"/>
                </a:solidFill>
                <a:round/>
                <a:headEnd/>
                <a:tailEnd/>
              </a14:hiddenLine>
            </a:ext>
          </a:extLst>
        </p:spPr>
        <p:txBody>
          <a:bodyPr rot="10800000" wrap="none"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3600" b="1" dirty="0">
                <a:solidFill>
                  <a:schemeClr val="folHlink"/>
                </a:solidFill>
                <a:effectLst>
                  <a:outerShdw blurRad="38100" dist="38100" dir="2700000" algn="tl">
                    <a:srgbClr val="000000"/>
                  </a:outerShdw>
                </a:effectLst>
                <a:ea typeface="楷体_GB2312" pitchFamily="1" charset="-122"/>
              </a:rPr>
              <a:t>本章内容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46EA2679-9956-4C1C-BA34-B3492D5C381B}" type="slidenum">
              <a:rPr lang="en-US" altLang="zh-CN" sz="1200">
                <a:solidFill>
                  <a:schemeClr val="tx1"/>
                </a:solidFill>
                <a:latin typeface="Garamond" pitchFamily="18" charset="0"/>
              </a:rPr>
              <a:pPr algn="r" eaLnBrk="1" hangingPunct="1">
                <a:spcBef>
                  <a:spcPct val="0"/>
                </a:spcBef>
              </a:pPr>
              <a:t>4</a:t>
            </a:fld>
            <a:endParaRPr lang="en-US" altLang="zh-CN" sz="1200">
              <a:solidFill>
                <a:schemeClr val="tx1"/>
              </a:solidFill>
              <a:latin typeface="Garamond" pitchFamily="18" charset="0"/>
            </a:endParaRPr>
          </a:p>
        </p:txBody>
      </p:sp>
      <p:sp>
        <p:nvSpPr>
          <p:cNvPr id="8195" name="Text Box 5"/>
          <p:cNvSpPr txBox="1">
            <a:spLocks noChangeArrowheads="1"/>
          </p:cNvSpPr>
          <p:nvPr/>
        </p:nvSpPr>
        <p:spPr bwMode="auto">
          <a:xfrm>
            <a:off x="657225" y="863600"/>
            <a:ext cx="8054975" cy="5221288"/>
          </a:xfrm>
          <a:prstGeom prst="rect">
            <a:avLst/>
          </a:prstGeom>
          <a:gradFill rotWithShape="1">
            <a:gsLst>
              <a:gs pos="0">
                <a:srgbClr val="FFFFCC"/>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50000"/>
              </a:lnSpc>
            </a:pPr>
            <a:r>
              <a:rPr lang="zh-CN" altLang="en-US" sz="2800" dirty="0">
                <a:solidFill>
                  <a:schemeClr val="tx1"/>
                </a:solidFill>
                <a:latin typeface="楷体_GB2312" pitchFamily="1" charset="-122"/>
                <a:ea typeface="楷体_GB2312" pitchFamily="1" charset="-122"/>
              </a:rPr>
              <a:t>    在二维显示器上绘制三维图形时，必须把三维信息经过</a:t>
            </a:r>
            <a:r>
              <a:rPr lang="zh-CN" altLang="en-US" sz="1800" b="1" dirty="0">
                <a:solidFill>
                  <a:srgbClr val="3366FF"/>
                </a:solidFill>
                <a:latin typeface="方正粗黑宋简体" panose="02000000000000000000" pitchFamily="2" charset="-122"/>
                <a:ea typeface="方正粗黑宋简体" panose="02000000000000000000" pitchFamily="2" charset="-122"/>
              </a:rPr>
              <a:t>投影变换为二维信息</a:t>
            </a:r>
            <a:r>
              <a:rPr lang="zh-CN" altLang="en-US" sz="2800" dirty="0">
                <a:solidFill>
                  <a:schemeClr val="tx1"/>
                </a:solidFill>
                <a:latin typeface="楷体_GB2312" pitchFamily="1" charset="-122"/>
                <a:ea typeface="楷体_GB2312" pitchFamily="1" charset="-122"/>
              </a:rPr>
              <a:t>。由于投影变换失去了图形的</a:t>
            </a:r>
            <a:r>
              <a:rPr lang="zh-CN" altLang="en-US" sz="1800" b="1" dirty="0">
                <a:solidFill>
                  <a:srgbClr val="3366FF"/>
                </a:solidFill>
                <a:latin typeface="方正粗黑宋简体" panose="02000000000000000000" pitchFamily="2" charset="-122"/>
                <a:ea typeface="方正粗黑宋简体" panose="02000000000000000000" pitchFamily="2" charset="-122"/>
              </a:rPr>
              <a:t>深度信息</a:t>
            </a:r>
            <a:r>
              <a:rPr lang="zh-CN" altLang="en-US" sz="2800" dirty="0">
                <a:solidFill>
                  <a:schemeClr val="tx1"/>
                </a:solidFill>
                <a:latin typeface="楷体_GB2312" pitchFamily="1" charset="-122"/>
                <a:ea typeface="楷体_GB2312" pitchFamily="1" charset="-122"/>
              </a:rPr>
              <a:t>，往往导致对图形的理解</a:t>
            </a:r>
            <a:r>
              <a:rPr lang="zh-CN" altLang="en-US" sz="1800" b="1" dirty="0">
                <a:solidFill>
                  <a:srgbClr val="3366FF"/>
                </a:solidFill>
                <a:latin typeface="方正粗黑宋简体" panose="02000000000000000000" pitchFamily="2" charset="-122"/>
                <a:ea typeface="方正粗黑宋简体" panose="02000000000000000000" pitchFamily="2" charset="-122"/>
              </a:rPr>
              <a:t>存在二义性</a:t>
            </a:r>
            <a:r>
              <a:rPr lang="zh-CN" altLang="en-US" sz="2800" dirty="0">
                <a:solidFill>
                  <a:schemeClr val="tx1"/>
                </a:solidFill>
                <a:latin typeface="楷体_GB2312" pitchFamily="1" charset="-122"/>
                <a:ea typeface="楷体_GB2312" pitchFamily="1" charset="-122"/>
              </a:rPr>
              <a:t>。要生成具有真实感的图形，就要</a:t>
            </a:r>
            <a:r>
              <a:rPr lang="zh-CN" altLang="en-US" b="1" dirty="0">
                <a:solidFill>
                  <a:srgbClr val="FF0000"/>
                </a:solidFill>
                <a:latin typeface="方正粗黑宋简体" panose="02000000000000000000" pitchFamily="2" charset="-122"/>
                <a:ea typeface="方正粗黑宋简体" panose="02000000000000000000" pitchFamily="2" charset="-122"/>
              </a:rPr>
              <a:t>在给定视点和视线方向之后，决定场景中物体哪些线段或表面是可见的，哪些线段或表面是不可见的</a:t>
            </a:r>
            <a:r>
              <a:rPr lang="zh-CN" altLang="en-US" sz="2800" dirty="0">
                <a:solidFill>
                  <a:schemeClr val="tx1"/>
                </a:solidFill>
                <a:latin typeface="楷体_GB2312" pitchFamily="1" charset="-122"/>
                <a:ea typeface="楷体_GB2312" pitchFamily="1" charset="-122"/>
              </a:rPr>
              <a:t>。这一问题习惯上称为</a:t>
            </a:r>
            <a:r>
              <a:rPr lang="zh-CN" altLang="en-US" b="1" dirty="0">
                <a:solidFill>
                  <a:srgbClr val="FF0000"/>
                </a:solidFill>
                <a:latin typeface="方正粗黑宋简体" panose="02000000000000000000" pitchFamily="2" charset="-122"/>
                <a:ea typeface="方正粗黑宋简体" panose="02000000000000000000" pitchFamily="2" charset="-122"/>
              </a:rPr>
              <a:t>消除隐藏线和消除隐藏面，简称为消隐</a:t>
            </a:r>
            <a:r>
              <a:rPr lang="zh-CN" altLang="en-US" sz="2800" b="1" dirty="0">
                <a:solidFill>
                  <a:schemeClr val="tx1"/>
                </a:solidFill>
                <a:latin typeface="楷体_GB2312" pitchFamily="1" charset="-122"/>
                <a:ea typeface="楷体_GB2312" pitchFamily="1" charset="-122"/>
              </a:rPr>
              <a:t>。</a:t>
            </a:r>
            <a:endParaRPr lang="zh-CN" altLang="en-US" sz="2800" dirty="0">
              <a:solidFill>
                <a:schemeClr val="tx1"/>
              </a:solidFill>
              <a:latin typeface="楷体_GB2312" pitchFamily="1" charset="-122"/>
              <a:ea typeface="楷体_GB2312" pitchFamily="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D701BFE6-42D3-4E3E-A56F-FE61F45409AB}" type="slidenum">
              <a:rPr lang="en-US" altLang="zh-CN" sz="1200">
                <a:solidFill>
                  <a:schemeClr val="tx1"/>
                </a:solidFill>
                <a:latin typeface="Garamond" pitchFamily="18" charset="0"/>
              </a:rPr>
              <a:pPr algn="r" eaLnBrk="1" hangingPunct="1">
                <a:spcBef>
                  <a:spcPct val="0"/>
                </a:spcBef>
              </a:pPr>
              <a:t>5</a:t>
            </a:fld>
            <a:endParaRPr lang="en-US" altLang="zh-CN" sz="1200">
              <a:solidFill>
                <a:schemeClr val="tx1"/>
              </a:solidFill>
              <a:latin typeface="Garamond" pitchFamily="18" charset="0"/>
            </a:endParaRPr>
          </a:p>
        </p:txBody>
      </p:sp>
      <p:sp>
        <p:nvSpPr>
          <p:cNvPr id="9219" name="Rectangle 2"/>
          <p:cNvSpPr>
            <a:spLocks noGrp="1" noChangeArrowheads="1"/>
          </p:cNvSpPr>
          <p:nvPr>
            <p:ph type="title" idx="4294967295"/>
          </p:nvPr>
        </p:nvSpPr>
        <p:spPr>
          <a:xfrm>
            <a:off x="431800" y="323850"/>
            <a:ext cx="5940425" cy="539750"/>
          </a:xfrm>
          <a:solidFill>
            <a:srgbClr val="FFFFCC"/>
          </a:solidFill>
        </p:spPr>
        <p:txBody>
          <a:bodyPr anchor="ctr" anchorCtr="1"/>
          <a:lstStyle/>
          <a:p>
            <a:pPr eaLnBrk="1" hangingPunct="1"/>
            <a:r>
              <a:rPr lang="zh-CN" altLang="en-US" sz="3600" b="1">
                <a:solidFill>
                  <a:schemeClr val="tx1"/>
                </a:solidFill>
                <a:effectLst>
                  <a:outerShdw blurRad="38100" dist="38100" dir="2700000" algn="tl">
                    <a:srgbClr val="FFFFFF"/>
                  </a:outerShdw>
                </a:effectLst>
                <a:latin typeface="楷体_GB2312" pitchFamily="1" charset="-122"/>
                <a:ea typeface="楷体_GB2312" pitchFamily="1" charset="-122"/>
              </a:rPr>
              <a:t>9.1 三维物体的数据结构</a:t>
            </a:r>
          </a:p>
        </p:txBody>
      </p:sp>
      <p:sp>
        <p:nvSpPr>
          <p:cNvPr id="9220" name="Text Box 6"/>
          <p:cNvSpPr txBox="1">
            <a:spLocks noChangeArrowheads="1"/>
          </p:cNvSpPr>
          <p:nvPr/>
        </p:nvSpPr>
        <p:spPr bwMode="auto">
          <a:xfrm>
            <a:off x="701675" y="954088"/>
            <a:ext cx="481488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90000"/>
              </a:lnSpc>
              <a:spcBef>
                <a:spcPct val="20000"/>
              </a:spcBef>
              <a:buClr>
                <a:schemeClr val="accent1"/>
              </a:buClr>
              <a:buSzPct val="65000"/>
              <a:buFont typeface="Wingdings" pitchFamily="2" charset="2"/>
              <a:buNone/>
            </a:pPr>
            <a:r>
              <a:rPr lang="zh-CN" altLang="en-US">
                <a:solidFill>
                  <a:schemeClr val="tx1"/>
                </a:solidFill>
                <a:latin typeface="楷体_GB2312" pitchFamily="1" charset="-122"/>
                <a:ea typeface="楷体_GB2312" pitchFamily="1" charset="-122"/>
              </a:rPr>
              <a:t> 场景中经常绘制的三维物体有</a:t>
            </a:r>
          </a:p>
        </p:txBody>
      </p:sp>
      <p:grpSp>
        <p:nvGrpSpPr>
          <p:cNvPr id="9221" name="Group 5"/>
          <p:cNvGrpSpPr>
            <a:grpSpLocks/>
          </p:cNvGrpSpPr>
          <p:nvPr/>
        </p:nvGrpSpPr>
        <p:grpSpPr bwMode="auto">
          <a:xfrm>
            <a:off x="566738" y="1403350"/>
            <a:ext cx="2968625" cy="2655888"/>
            <a:chOff x="0" y="0"/>
            <a:chExt cx="1587" cy="1672"/>
          </a:xfrm>
        </p:grpSpPr>
        <p:pic>
          <p:nvPicPr>
            <p:cNvPr id="9222" name="Picture 14" descr="柏拉图多面体示意图 拷贝"/>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75" cy="119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9223" name="Text Box 15"/>
            <p:cNvSpPr txBox="1">
              <a:spLocks noChangeArrowheads="1"/>
            </p:cNvSpPr>
            <p:nvPr/>
          </p:nvSpPr>
          <p:spPr bwMode="auto">
            <a:xfrm>
              <a:off x="85" y="1162"/>
              <a:ext cx="1502"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20000"/>
                </a:spcBef>
                <a:buClr>
                  <a:schemeClr val="accent1"/>
                </a:buClr>
                <a:buSzPct val="65000"/>
                <a:buFont typeface="Wingdings" pitchFamily="2" charset="2"/>
                <a:buNone/>
              </a:pPr>
              <a:r>
                <a:rPr lang="zh-CN" altLang="en-US" sz="2000">
                  <a:solidFill>
                    <a:schemeClr val="tx1"/>
                  </a:solidFill>
                  <a:latin typeface="楷体_GB2312" pitchFamily="1" charset="-122"/>
                  <a:ea typeface="楷体_GB2312" pitchFamily="1" charset="-122"/>
                </a:rPr>
                <a:t>柏拉图多面体</a:t>
              </a:r>
            </a:p>
            <a:p>
              <a:pPr eaLnBrk="1" hangingPunct="1">
                <a:spcBef>
                  <a:spcPct val="20000"/>
                </a:spcBef>
                <a:buClr>
                  <a:schemeClr val="accent1"/>
                </a:buClr>
                <a:buSzPct val="65000"/>
                <a:buFont typeface="Wingdings" pitchFamily="2" charset="2"/>
                <a:buNone/>
              </a:pPr>
              <a:r>
                <a:rPr lang="en-US" altLang="zh-CN" sz="2000">
                  <a:solidFill>
                    <a:schemeClr val="tx1"/>
                  </a:solidFill>
                  <a:latin typeface="楷体_GB2312" pitchFamily="1" charset="-122"/>
                  <a:ea typeface="楷体_GB2312" pitchFamily="1" charset="-122"/>
                </a:rPr>
                <a:t>Platonic Polyhedra</a:t>
              </a:r>
              <a:endParaRPr lang="zh-CN" altLang="en-US" sz="2000">
                <a:solidFill>
                  <a:schemeClr val="tx1"/>
                </a:solidFill>
                <a:latin typeface="楷体_GB2312" pitchFamily="1" charset="-122"/>
                <a:ea typeface="楷体_GB2312" pitchFamily="1" charset="-122"/>
              </a:endParaRPr>
            </a:p>
          </p:txBody>
        </p:sp>
      </p:grpSp>
      <p:grpSp>
        <p:nvGrpSpPr>
          <p:cNvPr id="9224" name="Group 8"/>
          <p:cNvGrpSpPr>
            <a:grpSpLocks/>
          </p:cNvGrpSpPr>
          <p:nvPr/>
        </p:nvGrpSpPr>
        <p:grpSpPr bwMode="auto">
          <a:xfrm>
            <a:off x="4527550" y="1898650"/>
            <a:ext cx="1350963" cy="2205038"/>
            <a:chOff x="0" y="0"/>
            <a:chExt cx="851" cy="1389"/>
          </a:xfrm>
        </p:grpSpPr>
        <p:pic>
          <p:nvPicPr>
            <p:cNvPr id="9225" name="Picture 24"/>
            <p:cNvPicPr>
              <a:picLocks noChangeAspect="1" noChangeArrowheads="1"/>
            </p:cNvPicPr>
            <p:nvPr/>
          </p:nvPicPr>
          <p:blipFill>
            <a:blip r:embed="rId3" cstate="print">
              <a:extLst>
                <a:ext uri="{28A0092B-C50C-407E-A947-70E740481C1C}">
                  <a14:useLocalDpi xmlns:a14="http://schemas.microsoft.com/office/drawing/2010/main" val="0"/>
                </a:ext>
              </a:extLst>
            </a:blip>
            <a:srcRect l="24513" t="12820" r="23323" b="12369"/>
            <a:stretch>
              <a:fillRect/>
            </a:stretch>
          </p:blipFill>
          <p:spPr bwMode="auto">
            <a:xfrm>
              <a:off x="114" y="0"/>
              <a:ext cx="606"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6" name="Text Box 26"/>
            <p:cNvSpPr txBox="1">
              <a:spLocks noChangeArrowheads="1"/>
            </p:cNvSpPr>
            <p:nvPr/>
          </p:nvSpPr>
          <p:spPr bwMode="auto">
            <a:xfrm>
              <a:off x="0" y="879"/>
              <a:ext cx="851"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a:solidFill>
                    <a:schemeClr val="tx1"/>
                  </a:solidFill>
                </a:rPr>
                <a:t>圆柱</a:t>
              </a:r>
              <a:r>
                <a:rPr lang="en-US" altLang="zh-CN">
                  <a:solidFill>
                    <a:schemeClr val="tx1"/>
                  </a:solidFill>
                </a:rPr>
                <a:t>cylinder</a:t>
              </a:r>
            </a:p>
          </p:txBody>
        </p:sp>
      </p:grpSp>
      <p:grpSp>
        <p:nvGrpSpPr>
          <p:cNvPr id="9227" name="Group 11"/>
          <p:cNvGrpSpPr>
            <a:grpSpLocks/>
          </p:cNvGrpSpPr>
          <p:nvPr/>
        </p:nvGrpSpPr>
        <p:grpSpPr bwMode="auto">
          <a:xfrm>
            <a:off x="3357563" y="1943100"/>
            <a:ext cx="1169987" cy="2114550"/>
            <a:chOff x="0" y="0"/>
            <a:chExt cx="737" cy="1332"/>
          </a:xfrm>
        </p:grpSpPr>
        <p:sp>
          <p:nvSpPr>
            <p:cNvPr id="9228" name="Text Box 27"/>
            <p:cNvSpPr txBox="1">
              <a:spLocks noChangeArrowheads="1"/>
            </p:cNvSpPr>
            <p:nvPr/>
          </p:nvSpPr>
          <p:spPr bwMode="auto">
            <a:xfrm>
              <a:off x="0" y="822"/>
              <a:ext cx="737"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a:solidFill>
                    <a:schemeClr val="tx1"/>
                  </a:solidFill>
                </a:rPr>
                <a:t>球 </a:t>
              </a:r>
              <a:r>
                <a:rPr lang="en-US" altLang="zh-CN">
                  <a:solidFill>
                    <a:schemeClr val="tx1"/>
                  </a:solidFill>
                </a:rPr>
                <a:t>sphere</a:t>
              </a:r>
              <a:endParaRPr lang="en-US" altLang="zh-CN" u="sng">
                <a:solidFill>
                  <a:schemeClr val="tx1"/>
                </a:solidFill>
              </a:endParaRPr>
            </a:p>
          </p:txBody>
        </p:sp>
        <p:pic>
          <p:nvPicPr>
            <p:cNvPr id="9229" name="Picture 28"/>
            <p:cNvPicPr>
              <a:picLocks noChangeAspect="1" noChangeArrowheads="1"/>
            </p:cNvPicPr>
            <p:nvPr/>
          </p:nvPicPr>
          <p:blipFill>
            <a:blip r:embed="rId4">
              <a:extLst>
                <a:ext uri="{28A0092B-C50C-407E-A947-70E740481C1C}">
                  <a14:useLocalDpi xmlns:a14="http://schemas.microsoft.com/office/drawing/2010/main" val="0"/>
                </a:ext>
              </a:extLst>
            </a:blip>
            <a:srcRect l="20554" t="15483" r="19698" b="7013"/>
            <a:stretch>
              <a:fillRect/>
            </a:stretch>
          </p:blipFill>
          <p:spPr bwMode="auto">
            <a:xfrm>
              <a:off x="57" y="0"/>
              <a:ext cx="652"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230" name="Group 14"/>
          <p:cNvGrpSpPr>
            <a:grpSpLocks/>
          </p:cNvGrpSpPr>
          <p:nvPr/>
        </p:nvGrpSpPr>
        <p:grpSpPr bwMode="auto">
          <a:xfrm>
            <a:off x="5967413" y="1943100"/>
            <a:ext cx="854075" cy="2116138"/>
            <a:chOff x="0" y="0"/>
            <a:chExt cx="538" cy="1333"/>
          </a:xfrm>
        </p:grpSpPr>
        <p:pic>
          <p:nvPicPr>
            <p:cNvPr id="9231" name="Picture 33"/>
            <p:cNvPicPr>
              <a:picLocks noChangeAspect="1" noChangeArrowheads="1"/>
            </p:cNvPicPr>
            <p:nvPr/>
          </p:nvPicPr>
          <p:blipFill>
            <a:blip r:embed="rId5">
              <a:extLst>
                <a:ext uri="{28A0092B-C50C-407E-A947-70E740481C1C}">
                  <a14:useLocalDpi xmlns:a14="http://schemas.microsoft.com/office/drawing/2010/main" val="0"/>
                </a:ext>
              </a:extLst>
            </a:blip>
            <a:srcRect l="33006" t="24004" r="30557" b="3816"/>
            <a:stretch>
              <a:fillRect/>
            </a:stretch>
          </p:blipFill>
          <p:spPr bwMode="auto">
            <a:xfrm>
              <a:off x="28" y="0"/>
              <a:ext cx="455" cy="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2" name="Text Box 34"/>
            <p:cNvSpPr txBox="1">
              <a:spLocks noChangeArrowheads="1"/>
            </p:cNvSpPr>
            <p:nvPr/>
          </p:nvSpPr>
          <p:spPr bwMode="auto">
            <a:xfrm>
              <a:off x="0" y="822"/>
              <a:ext cx="538"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a:solidFill>
                    <a:schemeClr val="tx1"/>
                  </a:solidFill>
                </a:rPr>
                <a:t>圆锥</a:t>
              </a:r>
              <a:r>
                <a:rPr lang="en-US" altLang="zh-CN">
                  <a:solidFill>
                    <a:schemeClr val="tx1"/>
                  </a:solidFill>
                </a:rPr>
                <a:t>cone</a:t>
              </a:r>
              <a:endParaRPr lang="zh-CN" altLang="en-US">
                <a:solidFill>
                  <a:schemeClr val="tx1"/>
                </a:solidFill>
              </a:endParaRPr>
            </a:p>
          </p:txBody>
        </p:sp>
      </p:grpSp>
      <p:grpSp>
        <p:nvGrpSpPr>
          <p:cNvPr id="9233" name="Group 17"/>
          <p:cNvGrpSpPr>
            <a:grpSpLocks/>
          </p:cNvGrpSpPr>
          <p:nvPr/>
        </p:nvGrpSpPr>
        <p:grpSpPr bwMode="auto">
          <a:xfrm>
            <a:off x="7227888" y="1854200"/>
            <a:ext cx="1125537" cy="2160588"/>
            <a:chOff x="0" y="0"/>
            <a:chExt cx="709" cy="1361"/>
          </a:xfrm>
        </p:grpSpPr>
        <p:pic>
          <p:nvPicPr>
            <p:cNvPr id="9234" name="Picture 41"/>
            <p:cNvPicPr>
              <a:picLocks noChangeAspect="1" noChangeArrowheads="1"/>
            </p:cNvPicPr>
            <p:nvPr/>
          </p:nvPicPr>
          <p:blipFill>
            <a:blip r:embed="rId6">
              <a:extLst>
                <a:ext uri="{28A0092B-C50C-407E-A947-70E740481C1C}">
                  <a14:useLocalDpi xmlns:a14="http://schemas.microsoft.com/office/drawing/2010/main" val="0"/>
                </a:ext>
              </a:extLst>
            </a:blip>
            <a:srcRect l="21198" t="14680" r="22256" b="9413"/>
            <a:stretch>
              <a:fillRect/>
            </a:stretch>
          </p:blipFill>
          <p:spPr bwMode="auto">
            <a:xfrm>
              <a:off x="0" y="0"/>
              <a:ext cx="652" cy="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5" name="Text Box 42"/>
            <p:cNvSpPr txBox="1">
              <a:spLocks noChangeArrowheads="1"/>
            </p:cNvSpPr>
            <p:nvPr/>
          </p:nvSpPr>
          <p:spPr bwMode="auto">
            <a:xfrm>
              <a:off x="85" y="850"/>
              <a:ext cx="624"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a:solidFill>
                    <a:schemeClr val="tx1"/>
                  </a:solidFill>
                </a:rPr>
                <a:t>圆环</a:t>
              </a:r>
              <a:r>
                <a:rPr lang="en-US" altLang="zh-CN">
                  <a:solidFill>
                    <a:schemeClr val="tx1"/>
                  </a:solidFill>
                </a:rPr>
                <a:t>torus</a:t>
              </a:r>
              <a:endParaRPr lang="zh-CN" altLang="en-US">
                <a:solidFill>
                  <a:schemeClr val="tx1"/>
                </a:solidFill>
              </a:endParaRPr>
            </a:p>
          </p:txBody>
        </p:sp>
      </p:grpSp>
      <p:sp>
        <p:nvSpPr>
          <p:cNvPr id="9236" name="Text Box 44"/>
          <p:cNvSpPr txBox="1">
            <a:spLocks noChangeArrowheads="1"/>
          </p:cNvSpPr>
          <p:nvPr/>
        </p:nvSpPr>
        <p:spPr bwMode="auto">
          <a:xfrm>
            <a:off x="611188" y="4238625"/>
            <a:ext cx="8054975" cy="193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dirty="0">
                <a:solidFill>
                  <a:schemeClr val="tx1"/>
                </a:solidFill>
                <a:latin typeface="楷体_GB2312" pitchFamily="1" charset="-122"/>
                <a:ea typeface="楷体_GB2312" pitchFamily="1" charset="-122"/>
              </a:rPr>
              <a:t>    这些物体可以采用</a:t>
            </a:r>
            <a:r>
              <a:rPr lang="zh-CN" altLang="en-US" b="1" dirty="0">
                <a:solidFill>
                  <a:srgbClr val="FF0000"/>
                </a:solidFill>
                <a:latin typeface="方正粗黑宋简体" panose="02000000000000000000" pitchFamily="2" charset="-122"/>
                <a:ea typeface="方正粗黑宋简体" panose="02000000000000000000" pitchFamily="2" charset="-122"/>
              </a:rPr>
              <a:t>线框模型</a:t>
            </a:r>
            <a:r>
              <a:rPr lang="zh-CN" altLang="en-US" dirty="0">
                <a:solidFill>
                  <a:schemeClr val="tx1"/>
                </a:solidFill>
                <a:latin typeface="楷体_GB2312" pitchFamily="1" charset="-122"/>
                <a:ea typeface="楷体_GB2312" pitchFamily="1" charset="-122"/>
              </a:rPr>
              <a:t>描述，也可以采用</a:t>
            </a:r>
            <a:r>
              <a:rPr lang="zh-CN" altLang="en-US" sz="1800" b="1" dirty="0">
                <a:solidFill>
                  <a:srgbClr val="3366FF"/>
                </a:solidFill>
                <a:latin typeface="方正粗黑宋简体" panose="02000000000000000000" pitchFamily="2" charset="-122"/>
                <a:ea typeface="方正粗黑宋简体" panose="02000000000000000000" pitchFamily="2" charset="-122"/>
              </a:rPr>
              <a:t>表面模型或实体模型</a:t>
            </a:r>
            <a:r>
              <a:rPr lang="zh-CN" altLang="en-US" dirty="0">
                <a:solidFill>
                  <a:schemeClr val="tx1"/>
                </a:solidFill>
                <a:latin typeface="楷体_GB2312" pitchFamily="1" charset="-122"/>
                <a:ea typeface="楷体_GB2312" pitchFamily="1" charset="-122"/>
              </a:rPr>
              <a:t>描述。无论使用哪种模型描述，都需要为物体建立</a:t>
            </a:r>
            <a:r>
              <a:rPr lang="zh-CN" altLang="en-US" b="1" dirty="0">
                <a:solidFill>
                  <a:srgbClr val="FF0000"/>
                </a:solidFill>
                <a:latin typeface="方正粗黑宋简体" panose="02000000000000000000" pitchFamily="2" charset="-122"/>
                <a:ea typeface="方正粗黑宋简体" panose="02000000000000000000" pitchFamily="2" charset="-122"/>
              </a:rPr>
              <a:t>顶点表、边表和面表</a:t>
            </a:r>
            <a:r>
              <a:rPr lang="zh-CN" altLang="en-US" dirty="0">
                <a:solidFill>
                  <a:schemeClr val="tx1"/>
                </a:solidFill>
                <a:latin typeface="楷体_GB2312" pitchFamily="1" charset="-122"/>
                <a:ea typeface="楷体_GB2312" pitchFamily="1" charset="-122"/>
              </a:rPr>
              <a:t>构成的数据结构。建立三维用户坐标系为右手</a:t>
            </a:r>
            <a:r>
              <a:rPr lang="zh-CN" altLang="en-US" dirty="0" smtClean="0">
                <a:solidFill>
                  <a:schemeClr val="tx1"/>
                </a:solidFill>
                <a:latin typeface="楷体_GB2312" pitchFamily="1" charset="-122"/>
                <a:ea typeface="楷体_GB2312" pitchFamily="1" charset="-122"/>
              </a:rPr>
              <a:t>系</a:t>
            </a:r>
            <a:r>
              <a:rPr lang="zh-CN" altLang="en-US" b="1" dirty="0" smtClean="0">
                <a:solidFill>
                  <a:srgbClr val="FF0000"/>
                </a:solidFill>
                <a:latin typeface="方正粗黑宋简体" panose="02000000000000000000" pitchFamily="2" charset="-122"/>
                <a:ea typeface="方正粗黑宋简体" panose="02000000000000000000" pitchFamily="2" charset="-122"/>
              </a:rPr>
              <a:t> </a:t>
            </a:r>
            <a:r>
              <a:rPr lang="en-US" altLang="zh-CN" b="1" dirty="0" err="1">
                <a:solidFill>
                  <a:srgbClr val="FF0000"/>
                </a:solidFill>
                <a:latin typeface="方正粗黑宋简体" panose="02000000000000000000" pitchFamily="2" charset="-122"/>
                <a:ea typeface="方正粗黑宋简体" panose="02000000000000000000" pitchFamily="2" charset="-122"/>
              </a:rPr>
              <a:t>Oxyz</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x</a:t>
            </a:r>
            <a:r>
              <a:rPr lang="zh-CN" altLang="en-US" dirty="0">
                <a:solidFill>
                  <a:schemeClr val="tx1"/>
                </a:solidFill>
                <a:latin typeface="楷体_GB2312" pitchFamily="1" charset="-122"/>
                <a:ea typeface="楷体_GB2312" pitchFamily="1" charset="-122"/>
              </a:rPr>
              <a:t>轴水平向右为正，</a:t>
            </a:r>
            <a:r>
              <a:rPr lang="en-US" altLang="zh-CN" dirty="0">
                <a:solidFill>
                  <a:schemeClr val="tx1"/>
                </a:solidFill>
                <a:latin typeface="楷体_GB2312" pitchFamily="1" charset="-122"/>
                <a:ea typeface="楷体_GB2312" pitchFamily="1" charset="-122"/>
              </a:rPr>
              <a:t>y</a:t>
            </a:r>
            <a:r>
              <a:rPr lang="zh-CN" altLang="en-US" dirty="0">
                <a:solidFill>
                  <a:schemeClr val="tx1"/>
                </a:solidFill>
                <a:latin typeface="楷体_GB2312" pitchFamily="1" charset="-122"/>
                <a:ea typeface="楷体_GB2312" pitchFamily="1" charset="-122"/>
              </a:rPr>
              <a:t>轴垂直向上为正，</a:t>
            </a:r>
            <a:r>
              <a:rPr lang="en-US" altLang="zh-CN" dirty="0">
                <a:solidFill>
                  <a:schemeClr val="tx1"/>
                </a:solidFill>
                <a:latin typeface="楷体_GB2312" pitchFamily="1" charset="-122"/>
                <a:ea typeface="楷体_GB2312" pitchFamily="1" charset="-122"/>
              </a:rPr>
              <a:t>z</a:t>
            </a:r>
            <a:r>
              <a:rPr lang="zh-CN" altLang="en-US" dirty="0">
                <a:solidFill>
                  <a:schemeClr val="tx1"/>
                </a:solidFill>
                <a:latin typeface="楷体_GB2312" pitchFamily="1" charset="-122"/>
                <a:ea typeface="楷体_GB2312" pitchFamily="1" charset="-122"/>
              </a:rPr>
              <a:t>轴从纸面指向观察者。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52F8D00F-6E41-4AD5-AAF5-4C83DA750E0D}" type="slidenum">
              <a:rPr lang="en-US" altLang="zh-CN" sz="1200">
                <a:solidFill>
                  <a:schemeClr val="tx1"/>
                </a:solidFill>
                <a:latin typeface="Garamond" pitchFamily="18" charset="0"/>
              </a:rPr>
              <a:pPr algn="r" eaLnBrk="1" hangingPunct="1">
                <a:spcBef>
                  <a:spcPct val="0"/>
                </a:spcBef>
              </a:pPr>
              <a:t>6</a:t>
            </a:fld>
            <a:endParaRPr lang="en-US" altLang="zh-CN" sz="1200">
              <a:solidFill>
                <a:schemeClr val="tx1"/>
              </a:solidFill>
              <a:latin typeface="Garamond" pitchFamily="18" charset="0"/>
            </a:endParaRPr>
          </a:p>
        </p:txBody>
      </p:sp>
      <p:sp>
        <p:nvSpPr>
          <p:cNvPr id="10243" name="Text Box 5"/>
          <p:cNvSpPr txBox="1">
            <a:spLocks noChangeArrowheads="1"/>
          </p:cNvSpPr>
          <p:nvPr/>
        </p:nvSpPr>
        <p:spPr bwMode="auto">
          <a:xfrm>
            <a:off x="296863" y="458788"/>
            <a:ext cx="6481762" cy="57943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en-US" altLang="zh-CN" sz="3200" b="1">
                <a:solidFill>
                  <a:schemeClr val="tx1"/>
                </a:solidFill>
                <a:effectLst>
                  <a:outerShdw blurRad="38100" dist="38100" dir="2700000" algn="tl">
                    <a:srgbClr val="FFFFFF"/>
                  </a:outerShdw>
                </a:effectLst>
                <a:latin typeface="楷体_GB2312" pitchFamily="1" charset="-122"/>
                <a:ea typeface="楷体_GB2312" pitchFamily="1" charset="-122"/>
              </a:rPr>
              <a:t>9.1.1 </a:t>
            </a:r>
            <a:r>
              <a:rPr lang="zh-CN" altLang="en-US" sz="3200" b="1">
                <a:solidFill>
                  <a:schemeClr val="tx1"/>
                </a:solidFill>
                <a:effectLst>
                  <a:outerShdw blurRad="38100" dist="38100" dir="2700000" algn="tl">
                    <a:srgbClr val="FFFFFF"/>
                  </a:outerShdw>
                </a:effectLst>
                <a:latin typeface="楷体_GB2312" pitchFamily="1" charset="-122"/>
                <a:ea typeface="楷体_GB2312" pitchFamily="1" charset="-122"/>
              </a:rPr>
              <a:t>物体的几何信息和拓扑信息</a:t>
            </a:r>
          </a:p>
        </p:txBody>
      </p:sp>
      <p:sp>
        <p:nvSpPr>
          <p:cNvPr id="10244" name="Text Box 6"/>
          <p:cNvSpPr txBox="1">
            <a:spLocks noChangeArrowheads="1"/>
          </p:cNvSpPr>
          <p:nvPr/>
        </p:nvSpPr>
        <p:spPr bwMode="auto">
          <a:xfrm>
            <a:off x="285720" y="2000240"/>
            <a:ext cx="86868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200000"/>
              </a:lnSpc>
              <a:spcBef>
                <a:spcPct val="0"/>
              </a:spcBef>
            </a:pPr>
            <a:r>
              <a:rPr lang="zh-CN" altLang="en-US" sz="1800" b="1" dirty="0">
                <a:solidFill>
                  <a:srgbClr val="3366FF"/>
                </a:solidFill>
                <a:latin typeface="方正粗黑宋简体" panose="02000000000000000000" pitchFamily="2" charset="-122"/>
                <a:ea typeface="方正粗黑宋简体" panose="02000000000000000000" pitchFamily="2" charset="-122"/>
              </a:rPr>
              <a:t>几何信息</a:t>
            </a:r>
            <a:r>
              <a:rPr lang="zh-CN" altLang="en-US" dirty="0">
                <a:solidFill>
                  <a:schemeClr val="tx1"/>
                </a:solidFill>
                <a:latin typeface="楷体_GB2312" pitchFamily="1" charset="-122"/>
                <a:ea typeface="楷体_GB2312" pitchFamily="1" charset="-122"/>
              </a:rPr>
              <a:t>：描述</a:t>
            </a:r>
            <a:r>
              <a:rPr lang="zh-CN" altLang="en-US" b="1" dirty="0">
                <a:solidFill>
                  <a:srgbClr val="FF0000"/>
                </a:solidFill>
                <a:latin typeface="方正粗黑宋简体" panose="02000000000000000000" pitchFamily="2" charset="-122"/>
                <a:ea typeface="方正粗黑宋简体" panose="02000000000000000000" pitchFamily="2" charset="-122"/>
              </a:rPr>
              <a:t>几何元素空间位置的信息</a:t>
            </a:r>
            <a:r>
              <a:rPr lang="zh-CN" altLang="en-US" dirty="0">
                <a:solidFill>
                  <a:schemeClr val="tx1"/>
                </a:solidFill>
                <a:latin typeface="楷体_GB2312" pitchFamily="1" charset="-122"/>
                <a:ea typeface="楷体_GB2312" pitchFamily="1" charset="-122"/>
              </a:rPr>
              <a:t>。</a:t>
            </a:r>
          </a:p>
          <a:p>
            <a:pPr algn="l" eaLnBrk="1" hangingPunct="1">
              <a:lnSpc>
                <a:spcPct val="200000"/>
              </a:lnSpc>
              <a:spcBef>
                <a:spcPct val="0"/>
              </a:spcBef>
            </a:pPr>
            <a:r>
              <a:rPr lang="zh-CN" altLang="en-US" sz="1800" b="1" dirty="0">
                <a:solidFill>
                  <a:srgbClr val="3366FF"/>
                </a:solidFill>
                <a:latin typeface="方正粗黑宋简体" panose="02000000000000000000" pitchFamily="2" charset="-122"/>
                <a:ea typeface="方正粗黑宋简体" panose="02000000000000000000" pitchFamily="2" charset="-122"/>
              </a:rPr>
              <a:t>拓扑信息</a:t>
            </a:r>
            <a:r>
              <a:rPr lang="zh-CN" altLang="en-US" dirty="0">
                <a:solidFill>
                  <a:schemeClr val="tx1"/>
                </a:solidFill>
                <a:latin typeface="楷体_GB2312" pitchFamily="1" charset="-122"/>
                <a:ea typeface="楷体_GB2312" pitchFamily="1" charset="-122"/>
              </a:rPr>
              <a:t>：描述</a:t>
            </a:r>
            <a:r>
              <a:rPr lang="zh-CN" altLang="en-US" b="1" dirty="0">
                <a:solidFill>
                  <a:srgbClr val="FF0000"/>
                </a:solidFill>
                <a:latin typeface="方正粗黑宋简体" panose="02000000000000000000" pitchFamily="2" charset="-122"/>
                <a:ea typeface="方正粗黑宋简体" panose="02000000000000000000" pitchFamily="2" charset="-122"/>
              </a:rPr>
              <a:t>几何元素之间相互连接关系的信息</a:t>
            </a:r>
            <a:r>
              <a:rPr lang="zh-CN" altLang="en-US" dirty="0">
                <a:solidFill>
                  <a:schemeClr val="tx1"/>
                </a:solidFill>
                <a:latin typeface="楷体_GB2312" pitchFamily="1" charset="-122"/>
                <a:ea typeface="楷体_GB2312" pitchFamily="1" charset="-122"/>
              </a:rPr>
              <a:t>。</a:t>
            </a:r>
          </a:p>
          <a:p>
            <a:pPr algn="l" eaLnBrk="1" hangingPunct="1">
              <a:lnSpc>
                <a:spcPct val="200000"/>
              </a:lnSpc>
              <a:spcBef>
                <a:spcPct val="0"/>
              </a:spcBef>
            </a:pPr>
            <a:r>
              <a:rPr lang="zh-CN" altLang="en-US" dirty="0">
                <a:solidFill>
                  <a:schemeClr val="tx1"/>
                </a:solidFill>
                <a:latin typeface="楷体_GB2312" pitchFamily="1" charset="-122"/>
                <a:ea typeface="楷体_GB2312" pitchFamily="1" charset="-122"/>
              </a:rPr>
              <a:t>    描述一个物体不仅需要几何信息的描述而且需要拓扑信息的描述。因为只有几何信息的描述，在表示上存在不惟一性</a:t>
            </a:r>
            <a:r>
              <a:rPr lang="zh-CN" altLang="en-US" dirty="0" smtClean="0">
                <a:solidFill>
                  <a:schemeClr val="tx1"/>
                </a:solidFill>
                <a:latin typeface="楷体_GB2312" pitchFamily="1" charset="-122"/>
                <a:ea typeface="楷体_GB2312" pitchFamily="1" charset="-122"/>
              </a:rPr>
              <a:t>。</a:t>
            </a:r>
            <a:endParaRPr lang="zh-CN" altLang="en-US" dirty="0">
              <a:solidFill>
                <a:schemeClr val="tx1"/>
              </a:solidFill>
              <a:latin typeface="楷体_GB2312" pitchFamily="1" charset="-122"/>
              <a:ea typeface="楷体_GB2312" pitchFamily="1" charset="-122"/>
            </a:endParaRPr>
          </a:p>
        </p:txBody>
      </p:sp>
      <p:sp>
        <p:nvSpPr>
          <p:cNvPr id="10256"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52F8D00F-6E41-4AD5-AAF5-4C83DA750E0D}" type="slidenum">
              <a:rPr lang="en-US" altLang="zh-CN" sz="1200">
                <a:solidFill>
                  <a:schemeClr val="tx1"/>
                </a:solidFill>
                <a:latin typeface="Garamond" pitchFamily="18" charset="0"/>
              </a:rPr>
              <a:pPr algn="r" eaLnBrk="1" hangingPunct="1">
                <a:spcBef>
                  <a:spcPct val="0"/>
                </a:spcBef>
              </a:pPr>
              <a:t>7</a:t>
            </a:fld>
            <a:endParaRPr lang="en-US" altLang="zh-CN" sz="1200">
              <a:solidFill>
                <a:schemeClr val="tx1"/>
              </a:solidFill>
              <a:latin typeface="Garamond" pitchFamily="18" charset="0"/>
            </a:endParaRPr>
          </a:p>
        </p:txBody>
      </p:sp>
      <p:sp>
        <p:nvSpPr>
          <p:cNvPr id="10256"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258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Text Box 11"/>
          <p:cNvSpPr txBox="1">
            <a:spLocks noChangeArrowheads="1"/>
          </p:cNvSpPr>
          <p:nvPr/>
        </p:nvSpPr>
        <p:spPr bwMode="auto">
          <a:xfrm>
            <a:off x="749720" y="3335902"/>
            <a:ext cx="7921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sz="2000" dirty="0">
                <a:solidFill>
                  <a:schemeClr val="tx1"/>
                </a:solidFill>
                <a:latin typeface="楷体_GB2312" pitchFamily="1" charset="-122"/>
                <a:ea typeface="楷体_GB2312" pitchFamily="1" charset="-122"/>
              </a:rPr>
              <a:t> 图</a:t>
            </a:r>
            <a:r>
              <a:rPr lang="en-US" altLang="zh-CN" sz="2000" dirty="0">
                <a:solidFill>
                  <a:schemeClr val="tx1"/>
                </a:solidFill>
                <a:latin typeface="楷体_GB2312" pitchFamily="1" charset="-122"/>
                <a:ea typeface="楷体_GB2312" pitchFamily="1" charset="-122"/>
              </a:rPr>
              <a:t>9-1 </a:t>
            </a:r>
            <a:r>
              <a:rPr lang="zh-CN" altLang="en-US" sz="2000" dirty="0">
                <a:solidFill>
                  <a:schemeClr val="tx1"/>
                </a:solidFill>
                <a:latin typeface="楷体_GB2312" pitchFamily="1" charset="-122"/>
                <a:ea typeface="楷体_GB2312" pitchFamily="1" charset="-122"/>
              </a:rPr>
              <a:t>五个顶点    </a:t>
            </a:r>
            <a:r>
              <a:rPr lang="zh-CN" altLang="en-US" sz="2000" dirty="0" smtClean="0">
                <a:solidFill>
                  <a:schemeClr val="tx1"/>
                </a:solidFill>
                <a:latin typeface="楷体_GB2312" pitchFamily="1" charset="-122"/>
                <a:ea typeface="楷体_GB2312" pitchFamily="1" charset="-122"/>
              </a:rPr>
              <a:t>   图</a:t>
            </a:r>
            <a:r>
              <a:rPr lang="en-US" altLang="zh-CN" sz="2000" dirty="0">
                <a:solidFill>
                  <a:schemeClr val="tx1"/>
                </a:solidFill>
                <a:latin typeface="楷体_GB2312" pitchFamily="1" charset="-122"/>
                <a:ea typeface="楷体_GB2312" pitchFamily="1" charset="-122"/>
              </a:rPr>
              <a:t>9-2 </a:t>
            </a:r>
            <a:r>
              <a:rPr lang="zh-CN" altLang="en-US" sz="2000" dirty="0" smtClean="0">
                <a:solidFill>
                  <a:schemeClr val="tx1"/>
                </a:solidFill>
                <a:latin typeface="楷体_GB2312" pitchFamily="1" charset="-122"/>
                <a:ea typeface="楷体_GB2312" pitchFamily="1" charset="-122"/>
              </a:rPr>
              <a:t>多面体</a:t>
            </a:r>
            <a:r>
              <a:rPr lang="en-US" altLang="zh-CN" sz="2000" dirty="0" smtClean="0">
                <a:solidFill>
                  <a:schemeClr val="tx1"/>
                </a:solidFill>
                <a:latin typeface="楷体_GB2312" pitchFamily="1" charset="-122"/>
                <a:ea typeface="楷体_GB2312" pitchFamily="1" charset="-122"/>
              </a:rPr>
              <a:t>1         </a:t>
            </a:r>
            <a:r>
              <a:rPr lang="zh-CN" altLang="en-US" sz="2000" dirty="0" smtClean="0">
                <a:solidFill>
                  <a:schemeClr val="tx1"/>
                </a:solidFill>
                <a:latin typeface="楷体_GB2312" pitchFamily="1" charset="-122"/>
                <a:ea typeface="楷体_GB2312" pitchFamily="1" charset="-122"/>
              </a:rPr>
              <a:t>图</a:t>
            </a:r>
            <a:r>
              <a:rPr lang="en-US" altLang="zh-CN" sz="2000" dirty="0">
                <a:solidFill>
                  <a:schemeClr val="tx1"/>
                </a:solidFill>
                <a:latin typeface="楷体_GB2312" pitchFamily="1" charset="-122"/>
                <a:ea typeface="楷体_GB2312" pitchFamily="1" charset="-122"/>
              </a:rPr>
              <a:t>9-3 </a:t>
            </a:r>
            <a:r>
              <a:rPr lang="zh-CN" altLang="en-US" sz="2000" dirty="0" smtClean="0">
                <a:solidFill>
                  <a:schemeClr val="tx1"/>
                </a:solidFill>
                <a:latin typeface="楷体_GB2312" pitchFamily="1" charset="-122"/>
                <a:ea typeface="楷体_GB2312" pitchFamily="1" charset="-122"/>
              </a:rPr>
              <a:t>多面体</a:t>
            </a:r>
            <a:r>
              <a:rPr lang="en-US" altLang="zh-CN" sz="2000" dirty="0" smtClean="0">
                <a:solidFill>
                  <a:schemeClr val="tx1"/>
                </a:solidFill>
                <a:latin typeface="楷体_GB2312" pitchFamily="1" charset="-122"/>
                <a:ea typeface="楷体_GB2312" pitchFamily="1" charset="-122"/>
              </a:rPr>
              <a:t>2</a:t>
            </a:r>
            <a:r>
              <a:rPr lang="zh-CN" altLang="en-US" sz="2000" dirty="0" smtClean="0">
                <a:solidFill>
                  <a:schemeClr val="tx1"/>
                </a:solidFill>
                <a:latin typeface="楷体_GB2312" pitchFamily="1" charset="-122"/>
                <a:ea typeface="楷体_GB2312" pitchFamily="1" charset="-122"/>
              </a:rPr>
              <a:t> </a:t>
            </a:r>
            <a:endParaRPr lang="zh-CN" altLang="en-US" sz="2000" dirty="0">
              <a:solidFill>
                <a:schemeClr val="tx1"/>
              </a:solidFill>
              <a:latin typeface="楷体_GB2312" pitchFamily="1" charset="-122"/>
              <a:ea typeface="楷体_GB2312" pitchFamily="1" charset="-122"/>
            </a:endParaRPr>
          </a:p>
        </p:txBody>
      </p:sp>
      <p:sp>
        <p:nvSpPr>
          <p:cNvPr id="15258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2581" name="Object 5"/>
          <p:cNvGraphicFramePr>
            <a:graphicFrameLocks noChangeAspect="1"/>
          </p:cNvGraphicFramePr>
          <p:nvPr>
            <p:extLst>
              <p:ext uri="{D42A27DB-BD31-4B8C-83A1-F6EECF244321}">
                <p14:modId xmlns:p14="http://schemas.microsoft.com/office/powerpoint/2010/main" val="1031254029"/>
              </p:ext>
            </p:extLst>
          </p:nvPr>
        </p:nvGraphicFramePr>
        <p:xfrm>
          <a:off x="106810" y="764134"/>
          <a:ext cx="2714644" cy="2260156"/>
        </p:xfrm>
        <a:graphic>
          <a:graphicData uri="http://schemas.openxmlformats.org/presentationml/2006/ole">
            <mc:AlternateContent xmlns:mc="http://schemas.openxmlformats.org/markup-compatibility/2006">
              <mc:Choice xmlns:v="urn:schemas-microsoft-com:vml" Requires="v">
                <p:oleObj spid="_x0000_s152643" name="Visio" r:id="rId3" imgW="4276678" imgH="3556908" progId="Visio.Drawing.11">
                  <p:embed/>
                </p:oleObj>
              </mc:Choice>
              <mc:Fallback>
                <p:oleObj name="Visio" r:id="rId3" imgW="4276678" imgH="3556908" progId="Visio.Drawing.11">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810" y="764134"/>
                        <a:ext cx="2714644" cy="22601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2584"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2583" name="Object 7"/>
          <p:cNvGraphicFramePr>
            <a:graphicFrameLocks noChangeAspect="1"/>
          </p:cNvGraphicFramePr>
          <p:nvPr>
            <p:extLst>
              <p:ext uri="{D42A27DB-BD31-4B8C-83A1-F6EECF244321}">
                <p14:modId xmlns:p14="http://schemas.microsoft.com/office/powerpoint/2010/main" val="369452394"/>
              </p:ext>
            </p:extLst>
          </p:nvPr>
        </p:nvGraphicFramePr>
        <p:xfrm>
          <a:off x="2749984" y="692696"/>
          <a:ext cx="3143272" cy="2131234"/>
        </p:xfrm>
        <a:graphic>
          <a:graphicData uri="http://schemas.openxmlformats.org/presentationml/2006/ole">
            <mc:AlternateContent xmlns:mc="http://schemas.openxmlformats.org/markup-compatibility/2006">
              <mc:Choice xmlns:v="urn:schemas-microsoft-com:vml" Requires="v">
                <p:oleObj spid="_x0000_s152644" name="Visio" r:id="rId5" imgW="4294772" imgH="2929953" progId="Visio.Drawing.11">
                  <p:embed/>
                </p:oleObj>
              </mc:Choice>
              <mc:Fallback>
                <p:oleObj name="Visio" r:id="rId5" imgW="4294772" imgH="2929953" progId="Visio.Drawing.11">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9984" y="692696"/>
                        <a:ext cx="3143272" cy="21312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258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2585" name="Object 9"/>
          <p:cNvGraphicFramePr>
            <a:graphicFrameLocks noChangeAspect="1"/>
          </p:cNvGraphicFramePr>
          <p:nvPr>
            <p:extLst>
              <p:ext uri="{D42A27DB-BD31-4B8C-83A1-F6EECF244321}">
                <p14:modId xmlns:p14="http://schemas.microsoft.com/office/powerpoint/2010/main" val="2871587744"/>
              </p:ext>
            </p:extLst>
          </p:nvPr>
        </p:nvGraphicFramePr>
        <p:xfrm>
          <a:off x="5893256" y="692696"/>
          <a:ext cx="3143240" cy="2608498"/>
        </p:xfrm>
        <a:graphic>
          <a:graphicData uri="http://schemas.openxmlformats.org/presentationml/2006/ole">
            <mc:AlternateContent xmlns:mc="http://schemas.openxmlformats.org/markup-compatibility/2006">
              <mc:Choice xmlns:v="urn:schemas-microsoft-com:vml" Requires="v">
                <p:oleObj spid="_x0000_s152645" name="Visio" r:id="rId7" imgW="4276678" imgH="3556908" progId="Visio.Drawing.11">
                  <p:embed/>
                </p:oleObj>
              </mc:Choice>
              <mc:Fallback>
                <p:oleObj name="Visio" r:id="rId7" imgW="4276678" imgH="3556908" progId="Visio.Drawing.11">
                  <p:embed/>
                  <p:pic>
                    <p:nvPicPr>
                      <p:cNvPr id="0"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93256" y="692696"/>
                        <a:ext cx="3143240" cy="26084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 Box 13"/>
          <p:cNvSpPr txBox="1">
            <a:spLocks noChangeArrowheads="1"/>
          </p:cNvSpPr>
          <p:nvPr/>
        </p:nvSpPr>
        <p:spPr bwMode="auto">
          <a:xfrm>
            <a:off x="296863" y="4365104"/>
            <a:ext cx="8632823"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50000"/>
              </a:lnSpc>
            </a:pPr>
            <a:r>
              <a:rPr lang="zh-CN" altLang="en-US" dirty="0">
                <a:solidFill>
                  <a:schemeClr val="tx1"/>
                </a:solidFill>
                <a:latin typeface="楷体_GB2312" pitchFamily="1" charset="-122"/>
                <a:ea typeface="楷体_GB2312" pitchFamily="1" charset="-122"/>
              </a:rPr>
              <a:t>    对物体线框信息的描述</a:t>
            </a:r>
            <a:r>
              <a:rPr lang="zh-CN" altLang="en-US" b="1" dirty="0">
                <a:solidFill>
                  <a:srgbClr val="FF0000"/>
                </a:solidFill>
                <a:latin typeface="方正粗黑宋简体" panose="02000000000000000000" pitchFamily="2" charset="-122"/>
                <a:ea typeface="方正粗黑宋简体" panose="02000000000000000000" pitchFamily="2" charset="-122"/>
              </a:rPr>
              <a:t>不仅包括顶点坐标</a:t>
            </a:r>
            <a:r>
              <a:rPr lang="zh-CN" altLang="en-US" b="1" dirty="0">
                <a:solidFill>
                  <a:srgbClr val="FF0000"/>
                </a:solidFill>
                <a:latin typeface="黑体" pitchFamily="49" charset="-122"/>
                <a:ea typeface="黑体" pitchFamily="49" charset="-122"/>
              </a:rPr>
              <a:t>，</a:t>
            </a:r>
            <a:r>
              <a:rPr lang="zh-CN" altLang="en-US" b="1" dirty="0">
                <a:solidFill>
                  <a:srgbClr val="FF0000"/>
                </a:solidFill>
                <a:latin typeface="方正粗黑宋简体" panose="02000000000000000000" pitchFamily="2" charset="-122"/>
                <a:ea typeface="方正粗黑宋简体" panose="02000000000000000000" pitchFamily="2" charset="-122"/>
              </a:rPr>
              <a:t>而且包括每条边是由哪些顶点连接而成</a:t>
            </a:r>
            <a:r>
              <a:rPr lang="zh-CN" altLang="en-US" dirty="0">
                <a:solidFill>
                  <a:schemeClr val="tx1"/>
                </a:solidFill>
                <a:latin typeface="楷体_GB2312" pitchFamily="1" charset="-122"/>
                <a:ea typeface="楷体_GB2312" pitchFamily="1" charset="-122"/>
              </a:rPr>
              <a:t>。对于物体表面信息的描述包括</a:t>
            </a:r>
            <a:r>
              <a:rPr lang="zh-CN" altLang="en-US" b="1" dirty="0">
                <a:solidFill>
                  <a:srgbClr val="FF0000"/>
                </a:solidFill>
                <a:latin typeface="方正粗黑宋简体" panose="02000000000000000000" pitchFamily="2" charset="-122"/>
                <a:ea typeface="方正粗黑宋简体" panose="02000000000000000000" pitchFamily="2" charset="-122"/>
              </a:rPr>
              <a:t>每个表面是由哪些边连接而成</a:t>
            </a:r>
            <a:r>
              <a:rPr lang="zh-CN" altLang="en-US" dirty="0">
                <a:solidFill>
                  <a:schemeClr val="tx1"/>
                </a:solidFill>
                <a:latin typeface="楷体_GB2312" pitchFamily="1" charset="-122"/>
                <a:ea typeface="楷体_GB2312" pitchFamily="1" charset="-122"/>
              </a:rPr>
              <a:t>，或是由哪些顶点环绕而成。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BDA9FED6-7C87-4664-A5B9-B56D08EBF0AA}" type="slidenum">
              <a:rPr lang="en-US" altLang="zh-CN" sz="1200">
                <a:solidFill>
                  <a:schemeClr val="tx1"/>
                </a:solidFill>
                <a:latin typeface="Garamond" pitchFamily="18" charset="0"/>
              </a:rPr>
              <a:pPr algn="r" eaLnBrk="1" hangingPunct="1">
                <a:spcBef>
                  <a:spcPct val="0"/>
                </a:spcBef>
              </a:pPr>
              <a:t>8</a:t>
            </a:fld>
            <a:endParaRPr lang="en-US" altLang="zh-CN" sz="1200">
              <a:solidFill>
                <a:schemeClr val="tx1"/>
              </a:solidFill>
              <a:latin typeface="Garamond" pitchFamily="18" charset="0"/>
            </a:endParaRPr>
          </a:p>
        </p:txBody>
      </p:sp>
      <p:sp>
        <p:nvSpPr>
          <p:cNvPr id="11267" name="Text Box 2"/>
          <p:cNvSpPr txBox="1">
            <a:spLocks noChangeArrowheads="1"/>
          </p:cNvSpPr>
          <p:nvPr/>
        </p:nvSpPr>
        <p:spPr bwMode="auto">
          <a:xfrm>
            <a:off x="341313" y="233363"/>
            <a:ext cx="5310187" cy="57943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en-US" altLang="zh-CN" sz="3200" b="1">
                <a:solidFill>
                  <a:schemeClr val="tx1"/>
                </a:solidFill>
                <a:effectLst>
                  <a:outerShdw blurRad="38100" dist="38100" dir="2700000" algn="tl">
                    <a:srgbClr val="FFFFFF"/>
                  </a:outerShdw>
                </a:effectLst>
                <a:latin typeface="楷体_GB2312" pitchFamily="1" charset="-122"/>
                <a:ea typeface="楷体_GB2312" pitchFamily="1" charset="-122"/>
              </a:rPr>
              <a:t>9.1.2 </a:t>
            </a:r>
            <a:r>
              <a:rPr lang="zh-CN" altLang="en-US" sz="3200" b="1">
                <a:solidFill>
                  <a:schemeClr val="tx1"/>
                </a:solidFill>
                <a:effectLst>
                  <a:outerShdw blurRad="38100" dist="38100" dir="2700000" algn="tl">
                    <a:srgbClr val="FFFFFF"/>
                  </a:outerShdw>
                </a:effectLst>
                <a:latin typeface="楷体_GB2312" pitchFamily="1" charset="-122"/>
                <a:ea typeface="楷体_GB2312" pitchFamily="1" charset="-122"/>
              </a:rPr>
              <a:t>三维物体的数据结构 </a:t>
            </a:r>
          </a:p>
        </p:txBody>
      </p:sp>
      <p:sp>
        <p:nvSpPr>
          <p:cNvPr id="11268" name="Text Box 3"/>
          <p:cNvSpPr txBox="1">
            <a:spLocks noChangeArrowheads="1"/>
          </p:cNvSpPr>
          <p:nvPr/>
        </p:nvSpPr>
        <p:spPr bwMode="auto">
          <a:xfrm>
            <a:off x="385763" y="863600"/>
            <a:ext cx="8326437"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50000"/>
              </a:lnSpc>
              <a:spcBef>
                <a:spcPct val="0"/>
              </a:spcBef>
              <a:buClr>
                <a:srgbClr val="FF3399"/>
              </a:buClr>
              <a:buFont typeface="Wingdings" pitchFamily="2" charset="2"/>
              <a:buNone/>
            </a:pPr>
            <a:r>
              <a:rPr lang="zh-CN" altLang="en-US" dirty="0">
                <a:solidFill>
                  <a:schemeClr val="tx1"/>
                </a:solidFill>
                <a:latin typeface="楷体_GB2312" pitchFamily="1" charset="-122"/>
                <a:ea typeface="楷体_GB2312" pitchFamily="1" charset="-122"/>
              </a:rPr>
              <a:t>    在三维坐标系下，</a:t>
            </a:r>
            <a:r>
              <a:rPr lang="zh-CN" altLang="en-US" b="1" dirty="0">
                <a:solidFill>
                  <a:srgbClr val="FF0000"/>
                </a:solidFill>
                <a:latin typeface="方正粗黑宋简体" panose="02000000000000000000" pitchFamily="2" charset="-122"/>
                <a:ea typeface="方正粗黑宋简体" panose="02000000000000000000" pitchFamily="2" charset="-122"/>
              </a:rPr>
              <a:t>描述一个物体</a:t>
            </a:r>
            <a:r>
              <a:rPr lang="zh-CN" altLang="en-US" sz="1800" b="1" dirty="0">
                <a:solidFill>
                  <a:srgbClr val="3366FF"/>
                </a:solidFill>
                <a:latin typeface="方正粗黑宋简体" panose="02000000000000000000" pitchFamily="2" charset="-122"/>
                <a:ea typeface="方正粗黑宋简体" panose="02000000000000000000" pitchFamily="2" charset="-122"/>
              </a:rPr>
              <a:t>不仅需要顶点表</a:t>
            </a:r>
            <a:r>
              <a:rPr lang="zh-CN" altLang="en-US" b="1" dirty="0">
                <a:solidFill>
                  <a:srgbClr val="FF0000"/>
                </a:solidFill>
                <a:latin typeface="方正粗黑宋简体" panose="02000000000000000000" pitchFamily="2" charset="-122"/>
                <a:ea typeface="方正粗黑宋简体" panose="02000000000000000000" pitchFamily="2" charset="-122"/>
              </a:rPr>
              <a:t>描述其几何信息，而且还需要借助于边表和面表描述其</a:t>
            </a:r>
            <a:r>
              <a:rPr lang="zh-CN" altLang="en-US" sz="1800" b="1" dirty="0">
                <a:solidFill>
                  <a:srgbClr val="3366FF"/>
                </a:solidFill>
                <a:latin typeface="方正粗黑宋简体" panose="02000000000000000000" pitchFamily="2" charset="-122"/>
                <a:ea typeface="方正粗黑宋简体" panose="02000000000000000000" pitchFamily="2" charset="-122"/>
              </a:rPr>
              <a:t>拓扑信息</a:t>
            </a:r>
            <a:r>
              <a:rPr lang="zh-CN" altLang="en-US" b="1" dirty="0">
                <a:solidFill>
                  <a:srgbClr val="FF0000"/>
                </a:solidFill>
                <a:latin typeface="方正粗黑宋简体" panose="02000000000000000000" pitchFamily="2" charset="-122"/>
                <a:ea typeface="方正粗黑宋简体" panose="02000000000000000000" pitchFamily="2" charset="-122"/>
              </a:rPr>
              <a:t>，才能完全确定物体的几何形状。</a:t>
            </a:r>
          </a:p>
        </p:txBody>
      </p:sp>
      <p:sp>
        <p:nvSpPr>
          <p:cNvPr id="11269" name="Text Box 9"/>
          <p:cNvSpPr txBox="1">
            <a:spLocks noChangeArrowheads="1"/>
          </p:cNvSpPr>
          <p:nvPr/>
        </p:nvSpPr>
        <p:spPr bwMode="auto">
          <a:xfrm>
            <a:off x="385763" y="2736850"/>
            <a:ext cx="5040313" cy="373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buClr>
                <a:srgbClr val="FF3399"/>
              </a:buClr>
              <a:buFont typeface="Wingdings" pitchFamily="2" charset="2"/>
              <a:buNone/>
            </a:pPr>
            <a:r>
              <a:rPr lang="zh-CN" altLang="en-US" dirty="0">
                <a:solidFill>
                  <a:schemeClr val="tx1"/>
                </a:solidFill>
                <a:latin typeface="楷体_GB2312" pitchFamily="1" charset="-122"/>
                <a:ea typeface="楷体_GB2312" pitchFamily="1" charset="-122"/>
              </a:rPr>
              <a:t>   制作多面体或曲面体的旋转动画时，</a:t>
            </a:r>
            <a:r>
              <a:rPr lang="zh-CN" altLang="en-US" b="1" dirty="0">
                <a:solidFill>
                  <a:srgbClr val="3333FF"/>
                </a:solidFill>
                <a:latin typeface="方正粗黑宋简体" panose="02000000000000000000" pitchFamily="2" charset="-122"/>
                <a:ea typeface="方正粗黑宋简体" panose="02000000000000000000" pitchFamily="2" charset="-122"/>
              </a:rPr>
              <a:t>常将物体的中心假设为旋转中心</a:t>
            </a:r>
            <a:r>
              <a:rPr lang="zh-CN" altLang="en-US" dirty="0">
                <a:solidFill>
                  <a:schemeClr val="tx1"/>
                </a:solidFill>
                <a:latin typeface="楷体_GB2312" pitchFamily="1" charset="-122"/>
                <a:ea typeface="楷体_GB2312" pitchFamily="1" charset="-122"/>
              </a:rPr>
              <a:t>。假定</a:t>
            </a:r>
            <a:r>
              <a:rPr lang="zh-CN" altLang="en-US" b="1" dirty="0">
                <a:solidFill>
                  <a:srgbClr val="3333FF"/>
                </a:solidFill>
                <a:latin typeface="方正粗黑宋简体" panose="02000000000000000000" pitchFamily="2" charset="-122"/>
                <a:ea typeface="方正粗黑宋简体" panose="02000000000000000000" pitchFamily="2" charset="-122"/>
              </a:rPr>
              <a:t>立方体中心位于三维坐标系原点</a:t>
            </a:r>
            <a:r>
              <a:rPr lang="zh-CN" altLang="en-US" dirty="0">
                <a:solidFill>
                  <a:schemeClr val="tx1"/>
                </a:solidFill>
                <a:latin typeface="楷体_GB2312" pitchFamily="1" charset="-122"/>
                <a:ea typeface="楷体_GB2312" pitchFamily="1" charset="-122"/>
              </a:rPr>
              <a:t>，立方体的边与坐标轴平行，且每条边的长度为</a:t>
            </a:r>
            <a:r>
              <a:rPr lang="en-US" altLang="zh-CN" dirty="0">
                <a:solidFill>
                  <a:schemeClr val="tx1"/>
                </a:solidFill>
                <a:latin typeface="楷体_GB2312" pitchFamily="1" charset="-122"/>
                <a:ea typeface="楷体_GB2312" pitchFamily="1" charset="-122"/>
              </a:rPr>
              <a:t>2a</a:t>
            </a:r>
            <a:r>
              <a:rPr lang="zh-CN" altLang="en-US" dirty="0">
                <a:solidFill>
                  <a:schemeClr val="tx1"/>
                </a:solidFill>
                <a:latin typeface="楷体_GB2312" pitchFamily="1" charset="-122"/>
                <a:ea typeface="楷体_GB2312" pitchFamily="1" charset="-122"/>
              </a:rPr>
              <a:t>。立方体模型如图</a:t>
            </a:r>
            <a:r>
              <a:rPr lang="en-US" altLang="zh-CN" dirty="0">
                <a:solidFill>
                  <a:schemeClr val="tx1"/>
                </a:solidFill>
                <a:latin typeface="楷体_GB2312" pitchFamily="1" charset="-122"/>
                <a:ea typeface="楷体_GB2312" pitchFamily="1" charset="-122"/>
              </a:rPr>
              <a:t>9-4</a:t>
            </a:r>
            <a:r>
              <a:rPr lang="zh-CN" altLang="en-US" dirty="0">
                <a:solidFill>
                  <a:schemeClr val="tx1"/>
                </a:solidFill>
                <a:latin typeface="楷体_GB2312" pitchFamily="1" charset="-122"/>
                <a:ea typeface="楷体_GB2312" pitchFamily="1" charset="-122"/>
              </a:rPr>
              <a:t>所示。立方体是凸多面体，满足欧拉公式</a:t>
            </a:r>
            <a:r>
              <a:rPr lang="zh-CN" altLang="en-US" dirty="0" smtClean="0">
                <a:solidFill>
                  <a:schemeClr val="tx1"/>
                </a:solidFill>
                <a:latin typeface="楷体_GB2312" pitchFamily="1" charset="-122"/>
                <a:ea typeface="楷体_GB2312" pitchFamily="1" charset="-122"/>
              </a:rPr>
              <a:t>：</a:t>
            </a:r>
            <a:endParaRPr lang="en-US" altLang="zh-CN" dirty="0" smtClean="0">
              <a:solidFill>
                <a:schemeClr val="tx1"/>
              </a:solidFill>
              <a:latin typeface="楷体_GB2312" pitchFamily="1" charset="-122"/>
              <a:ea typeface="楷体_GB2312" pitchFamily="1" charset="-122"/>
            </a:endParaRPr>
          </a:p>
          <a:p>
            <a:pPr algn="l" eaLnBrk="1" hangingPunct="1">
              <a:spcBef>
                <a:spcPct val="0"/>
              </a:spcBef>
              <a:buClr>
                <a:srgbClr val="FF3399"/>
              </a:buClr>
              <a:buFont typeface="Wingdings" pitchFamily="2" charset="2"/>
              <a:buNone/>
            </a:pPr>
            <a:r>
              <a:rPr lang="en-US" altLang="zh-CN" b="1" dirty="0" smtClean="0">
                <a:solidFill>
                  <a:srgbClr val="FF0000"/>
                </a:solidFill>
                <a:latin typeface="黑体" pitchFamily="49" charset="-122"/>
                <a:ea typeface="黑体" pitchFamily="49" charset="-122"/>
              </a:rPr>
              <a:t>V+F-E=2</a:t>
            </a:r>
            <a:endParaRPr lang="en-US" altLang="zh-CN" b="1" dirty="0">
              <a:solidFill>
                <a:srgbClr val="3333FF"/>
              </a:solidFill>
              <a:latin typeface="方正粗黑宋简体" panose="02000000000000000000" pitchFamily="2" charset="-122"/>
              <a:ea typeface="方正粗黑宋简体" panose="02000000000000000000" pitchFamily="2" charset="-122"/>
            </a:endParaRPr>
          </a:p>
          <a:p>
            <a:pPr algn="l" eaLnBrk="1" hangingPunct="1">
              <a:spcBef>
                <a:spcPct val="0"/>
              </a:spcBef>
              <a:buClr>
                <a:srgbClr val="FF3399"/>
              </a:buClr>
              <a:buFont typeface="Wingdings" pitchFamily="2" charset="2"/>
              <a:buNone/>
            </a:pPr>
            <a:r>
              <a:rPr lang="zh-CN" altLang="en-US" dirty="0" smtClean="0">
                <a:solidFill>
                  <a:schemeClr val="tx1"/>
                </a:solidFill>
                <a:latin typeface="楷体_GB2312" pitchFamily="1" charset="-122"/>
                <a:ea typeface="楷体_GB2312" pitchFamily="1" charset="-122"/>
              </a:rPr>
              <a:t>式</a:t>
            </a:r>
            <a:r>
              <a:rPr lang="zh-CN" altLang="en-US" dirty="0">
                <a:solidFill>
                  <a:schemeClr val="tx1"/>
                </a:solidFill>
                <a:latin typeface="楷体_GB2312" pitchFamily="1" charset="-122"/>
                <a:ea typeface="楷体_GB2312" pitchFamily="1" charset="-122"/>
              </a:rPr>
              <a:t>中：</a:t>
            </a:r>
            <a:r>
              <a:rPr lang="en-US" altLang="zh-CN" dirty="0" smtClean="0">
                <a:solidFill>
                  <a:schemeClr val="tx1"/>
                </a:solidFill>
                <a:latin typeface="楷体_GB2312" pitchFamily="1" charset="-122"/>
                <a:ea typeface="楷体_GB2312" pitchFamily="1" charset="-122"/>
              </a:rPr>
              <a:t>V </a:t>
            </a:r>
            <a:r>
              <a:rPr lang="zh-CN" altLang="en-US" dirty="0" smtClean="0">
                <a:solidFill>
                  <a:schemeClr val="tx1"/>
                </a:solidFill>
                <a:latin typeface="楷体_GB2312" pitchFamily="1" charset="-122"/>
                <a:ea typeface="楷体_GB2312" pitchFamily="1" charset="-122"/>
              </a:rPr>
              <a:t>是</a:t>
            </a:r>
            <a:r>
              <a:rPr lang="zh-CN" altLang="en-US" dirty="0">
                <a:solidFill>
                  <a:schemeClr val="tx1"/>
                </a:solidFill>
                <a:latin typeface="楷体_GB2312" pitchFamily="1" charset="-122"/>
                <a:ea typeface="楷体_GB2312" pitchFamily="1" charset="-122"/>
              </a:rPr>
              <a:t>多面体的顶点数，</a:t>
            </a:r>
            <a:r>
              <a:rPr lang="en-US" altLang="zh-CN" dirty="0">
                <a:solidFill>
                  <a:schemeClr val="tx1"/>
                </a:solidFill>
                <a:latin typeface="楷体_GB2312" pitchFamily="1" charset="-122"/>
                <a:ea typeface="楷体_GB2312" pitchFamily="1" charset="-122"/>
              </a:rPr>
              <a:t>F</a:t>
            </a:r>
            <a:r>
              <a:rPr lang="zh-CN" altLang="en-US" dirty="0">
                <a:solidFill>
                  <a:schemeClr val="tx1"/>
                </a:solidFill>
                <a:latin typeface="楷体_GB2312" pitchFamily="1" charset="-122"/>
                <a:ea typeface="楷体_GB2312" pitchFamily="1" charset="-122"/>
              </a:rPr>
              <a:t>是多面体的面数，</a:t>
            </a:r>
            <a:r>
              <a:rPr lang="en-US" altLang="zh-CN" dirty="0">
                <a:solidFill>
                  <a:schemeClr val="tx1"/>
                </a:solidFill>
                <a:latin typeface="楷体_GB2312" pitchFamily="1" charset="-122"/>
                <a:ea typeface="楷体_GB2312" pitchFamily="1" charset="-122"/>
              </a:rPr>
              <a:t>E</a:t>
            </a:r>
            <a:r>
              <a:rPr lang="zh-CN" altLang="en-US" dirty="0">
                <a:solidFill>
                  <a:schemeClr val="tx1"/>
                </a:solidFill>
                <a:latin typeface="楷体_GB2312" pitchFamily="1" charset="-122"/>
                <a:ea typeface="楷体_GB2312" pitchFamily="1" charset="-122"/>
              </a:rPr>
              <a:t>是多面体的边数</a:t>
            </a:r>
          </a:p>
        </p:txBody>
      </p:sp>
      <p:sp>
        <p:nvSpPr>
          <p:cNvPr id="11270" name="Rectangle 36"/>
          <p:cNvSpPr>
            <a:spLocks noChangeArrowheads="1"/>
          </p:cNvSpPr>
          <p:nvPr/>
        </p:nvSpPr>
        <p:spPr bwMode="auto">
          <a:xfrm>
            <a:off x="5786438" y="5724525"/>
            <a:ext cx="2790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9-4 </a:t>
            </a:r>
            <a:r>
              <a:rPr lang="zh-CN" altLang="en-US" sz="2000">
                <a:solidFill>
                  <a:schemeClr val="tx1"/>
                </a:solidFill>
                <a:latin typeface="楷体_GB2312" pitchFamily="1" charset="-122"/>
                <a:ea typeface="楷体_GB2312" pitchFamily="1" charset="-122"/>
              </a:rPr>
              <a:t>立方体数学模型</a:t>
            </a:r>
          </a:p>
        </p:txBody>
      </p:sp>
      <p:sp>
        <p:nvSpPr>
          <p:cNvPr id="11271" name="Rectangle 6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graphicFrame>
        <p:nvGraphicFramePr>
          <p:cNvPr id="11272" name="Object 67"/>
          <p:cNvGraphicFramePr>
            <a:graphicFrameLocks noChangeAspect="1"/>
          </p:cNvGraphicFramePr>
          <p:nvPr/>
        </p:nvGraphicFramePr>
        <p:xfrm>
          <a:off x="5607050" y="2124075"/>
          <a:ext cx="3149600" cy="3149600"/>
        </p:xfrm>
        <a:graphic>
          <a:graphicData uri="http://schemas.openxmlformats.org/presentationml/2006/ole">
            <mc:AlternateContent xmlns:mc="http://schemas.openxmlformats.org/markup-compatibility/2006">
              <mc:Choice xmlns:v="urn:schemas-microsoft-com:vml" Requires="v">
                <p:oleObj spid="_x0000_s11297" r:id="rId3" imgW="4127781" imgH="4127781" progId="Visio.Drawing.11">
                  <p:embed/>
                </p:oleObj>
              </mc:Choice>
              <mc:Fallback>
                <p:oleObj r:id="rId3" imgW="4127781" imgH="4127781" progId="Visio.Drawing.11">
                  <p:embed/>
                  <p:pic>
                    <p:nvPicPr>
                      <p:cNvPr id="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7050" y="2124075"/>
                        <a:ext cx="3149600" cy="314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4"/>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1DAAF804-8DE1-45FC-B0CC-9AD46949611C}" type="slidenum">
              <a:rPr lang="en-US" altLang="zh-CN" sz="1200">
                <a:solidFill>
                  <a:schemeClr val="tx1"/>
                </a:solidFill>
                <a:latin typeface="Garamond" pitchFamily="18" charset="0"/>
              </a:rPr>
              <a:pPr algn="r" eaLnBrk="1" hangingPunct="1">
                <a:spcBef>
                  <a:spcPct val="0"/>
                </a:spcBef>
              </a:pPr>
              <a:t>9</a:t>
            </a:fld>
            <a:endParaRPr lang="en-US" altLang="zh-CN" sz="1200">
              <a:solidFill>
                <a:schemeClr val="tx1"/>
              </a:solidFill>
              <a:latin typeface="Garamond" pitchFamily="18" charset="0"/>
            </a:endParaRPr>
          </a:p>
        </p:txBody>
      </p:sp>
      <p:sp>
        <p:nvSpPr>
          <p:cNvPr id="12291" name="Text Box 4"/>
          <p:cNvSpPr txBox="1">
            <a:spLocks noChangeArrowheads="1"/>
          </p:cNvSpPr>
          <p:nvPr/>
        </p:nvSpPr>
        <p:spPr bwMode="auto">
          <a:xfrm>
            <a:off x="3086100" y="638175"/>
            <a:ext cx="3240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a:solidFill>
                  <a:schemeClr val="tx1"/>
                </a:solidFill>
                <a:latin typeface="楷体_GB2312" pitchFamily="1" charset="-122"/>
                <a:ea typeface="楷体_GB2312" pitchFamily="1" charset="-122"/>
              </a:rPr>
              <a:t>表</a:t>
            </a:r>
            <a:r>
              <a:rPr lang="en-US" altLang="zh-CN">
                <a:solidFill>
                  <a:schemeClr val="tx1"/>
                </a:solidFill>
                <a:latin typeface="楷体_GB2312" pitchFamily="1" charset="-122"/>
                <a:ea typeface="楷体_GB2312" pitchFamily="1" charset="-122"/>
              </a:rPr>
              <a:t>9-1 </a:t>
            </a:r>
            <a:r>
              <a:rPr lang="zh-CN" altLang="en-US">
                <a:solidFill>
                  <a:schemeClr val="tx1"/>
                </a:solidFill>
                <a:latin typeface="楷体_GB2312" pitchFamily="1" charset="-122"/>
                <a:ea typeface="楷体_GB2312" pitchFamily="1" charset="-122"/>
              </a:rPr>
              <a:t>立方体顶点表</a:t>
            </a:r>
          </a:p>
        </p:txBody>
      </p:sp>
      <p:graphicFrame>
        <p:nvGraphicFramePr>
          <p:cNvPr id="12292" name="Group 4"/>
          <p:cNvGraphicFramePr>
            <a:graphicFrameLocks noGrp="1"/>
          </p:cNvGraphicFramePr>
          <p:nvPr>
            <p:ph idx="4294967295"/>
          </p:nvPr>
        </p:nvGraphicFramePr>
        <p:xfrm>
          <a:off x="927100" y="1268413"/>
          <a:ext cx="7200900" cy="4724400"/>
        </p:xfrm>
        <a:graphic>
          <a:graphicData uri="http://schemas.openxmlformats.org/drawingml/2006/table">
            <a:tbl>
              <a:tblPr/>
              <a:tblGrid>
                <a:gridCol w="1801813">
                  <a:extLst>
                    <a:ext uri="{9D8B030D-6E8A-4147-A177-3AD203B41FA5}">
                      <a16:colId xmlns:a16="http://schemas.microsoft.com/office/drawing/2014/main" val="20000"/>
                    </a:ext>
                  </a:extLst>
                </a:gridCol>
                <a:gridCol w="1798637">
                  <a:extLst>
                    <a:ext uri="{9D8B030D-6E8A-4147-A177-3AD203B41FA5}">
                      <a16:colId xmlns:a16="http://schemas.microsoft.com/office/drawing/2014/main" val="20001"/>
                    </a:ext>
                  </a:extLst>
                </a:gridCol>
                <a:gridCol w="1801813">
                  <a:extLst>
                    <a:ext uri="{9D8B030D-6E8A-4147-A177-3AD203B41FA5}">
                      <a16:colId xmlns:a16="http://schemas.microsoft.com/office/drawing/2014/main" val="20002"/>
                    </a:ext>
                  </a:extLst>
                </a:gridCol>
                <a:gridCol w="1798637">
                  <a:extLst>
                    <a:ext uri="{9D8B030D-6E8A-4147-A177-3AD203B41FA5}">
                      <a16:colId xmlns:a16="http://schemas.microsoft.com/office/drawing/2014/main" val="20003"/>
                    </a:ext>
                  </a:extLst>
                </a:gridCol>
              </a:tblGrid>
              <a:tr h="4572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顶点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x坐标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y坐标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z坐标</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x</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0</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y</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0</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z</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0</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x</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y</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z</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2</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x</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2</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y</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2</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z</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2</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x</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3</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y</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3</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z</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3</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4</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x</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4</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y</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4</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z</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4</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5</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x</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5</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y</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5</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z</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5</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6</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x</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6</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y</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6</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z</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6</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7</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x</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7</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y</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7</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z</a:t>
                      </a:r>
                      <a:r>
                        <a:rPr kumimoji="0" lang="zh-CN" altLang="en-US"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7</a:t>
                      </a:r>
                      <a:r>
                        <a:rPr kumimoji="0" lang="zh-CN" altLang="en-US"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a:t>
                      </a:r>
                      <a:endParaRPr kumimoji="0" lang="zh-CN" altLang="en-US"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4"/>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6FBA0213-32F1-4D6C-8B83-EAFF296F4DF5}" type="slidenum">
              <a:rPr lang="en-US" altLang="zh-CN" sz="1200">
                <a:solidFill>
                  <a:schemeClr val="tx1"/>
                </a:solidFill>
                <a:latin typeface="Garamond" pitchFamily="18" charset="0"/>
              </a:rPr>
              <a:pPr algn="r" eaLnBrk="1" hangingPunct="1">
                <a:spcBef>
                  <a:spcPct val="0"/>
                </a:spcBef>
              </a:pPr>
              <a:t>10</a:t>
            </a:fld>
            <a:endParaRPr lang="en-US" altLang="zh-CN" sz="1200">
              <a:solidFill>
                <a:schemeClr val="tx1"/>
              </a:solidFill>
              <a:latin typeface="Garamond" pitchFamily="18" charset="0"/>
            </a:endParaRPr>
          </a:p>
        </p:txBody>
      </p:sp>
      <p:sp>
        <p:nvSpPr>
          <p:cNvPr id="13315" name="Text Box 2"/>
          <p:cNvSpPr txBox="1">
            <a:spLocks noChangeArrowheads="1"/>
          </p:cNvSpPr>
          <p:nvPr/>
        </p:nvSpPr>
        <p:spPr bwMode="auto">
          <a:xfrm>
            <a:off x="2726877" y="61259"/>
            <a:ext cx="3240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b="1" dirty="0">
                <a:solidFill>
                  <a:schemeClr val="tx1"/>
                </a:solidFill>
                <a:latin typeface="楷体_GB2312" pitchFamily="1" charset="-122"/>
                <a:ea typeface="楷体_GB2312" pitchFamily="1" charset="-122"/>
              </a:rPr>
              <a:t>表</a:t>
            </a:r>
            <a:r>
              <a:rPr lang="en-US" altLang="zh-CN" b="1" dirty="0">
                <a:solidFill>
                  <a:schemeClr val="tx1"/>
                </a:solidFill>
                <a:latin typeface="楷体_GB2312" pitchFamily="1" charset="-122"/>
                <a:ea typeface="楷体_GB2312" pitchFamily="1" charset="-122"/>
              </a:rPr>
              <a:t>9-2 </a:t>
            </a:r>
            <a:r>
              <a:rPr lang="zh-CN" altLang="en-US" b="1" dirty="0">
                <a:solidFill>
                  <a:schemeClr val="tx1"/>
                </a:solidFill>
                <a:latin typeface="楷体_GB2312" pitchFamily="1" charset="-122"/>
                <a:ea typeface="楷体_GB2312" pitchFamily="1" charset="-122"/>
              </a:rPr>
              <a:t>立方体边表</a:t>
            </a:r>
          </a:p>
        </p:txBody>
      </p:sp>
      <p:graphicFrame>
        <p:nvGraphicFramePr>
          <p:cNvPr id="13316" name="Group 4"/>
          <p:cNvGraphicFramePr>
            <a:graphicFrameLocks noGrp="1"/>
          </p:cNvGraphicFramePr>
          <p:nvPr>
            <p:ph idx="4294967295"/>
            <p:extLst>
              <p:ext uri="{D42A27DB-BD31-4B8C-83A1-F6EECF244321}">
                <p14:modId xmlns:p14="http://schemas.microsoft.com/office/powerpoint/2010/main" val="1033267261"/>
              </p:ext>
            </p:extLst>
          </p:nvPr>
        </p:nvGraphicFramePr>
        <p:xfrm>
          <a:off x="1601802" y="758465"/>
          <a:ext cx="5849937" cy="5973765"/>
        </p:xfrm>
        <a:graphic>
          <a:graphicData uri="http://schemas.openxmlformats.org/drawingml/2006/table">
            <a:tbl>
              <a:tblPr/>
              <a:tblGrid>
                <a:gridCol w="1485900">
                  <a:extLst>
                    <a:ext uri="{9D8B030D-6E8A-4147-A177-3AD203B41FA5}">
                      <a16:colId xmlns:a16="http://schemas.microsoft.com/office/drawing/2014/main" val="20000"/>
                    </a:ext>
                  </a:extLst>
                </a:gridCol>
                <a:gridCol w="2114550">
                  <a:extLst>
                    <a:ext uri="{9D8B030D-6E8A-4147-A177-3AD203B41FA5}">
                      <a16:colId xmlns:a16="http://schemas.microsoft.com/office/drawing/2014/main" val="20001"/>
                    </a:ext>
                  </a:extLst>
                </a:gridCol>
                <a:gridCol w="2249487">
                  <a:extLst>
                    <a:ext uri="{9D8B030D-6E8A-4147-A177-3AD203B41FA5}">
                      <a16:colId xmlns:a16="http://schemas.microsoft.com/office/drawing/2014/main" val="20002"/>
                    </a:ext>
                  </a:extLst>
                </a:gridCol>
              </a:tblGrid>
              <a:tr h="4572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dirty="0" smtClean="0">
                          <a:ln>
                            <a:noFill/>
                          </a:ln>
                          <a:solidFill>
                            <a:schemeClr val="tx1"/>
                          </a:solidFill>
                          <a:effectLst/>
                          <a:latin typeface="Times New Roman" pitchFamily="18" charset="0"/>
                          <a:ea typeface="楷体_GB2312" pitchFamily="1" charset="-122"/>
                        </a:rPr>
                        <a:t>边</a:t>
                      </a:r>
                      <a:endParaRPr kumimoji="0" lang="zh-CN" altLang="en-US" sz="2400" b="0" i="0" u="none" strike="noStrike" cap="none" normalizeH="0" baseline="0" dirty="0" smtClean="0">
                        <a:ln>
                          <a:noFill/>
                        </a:ln>
                        <a:solidFill>
                          <a:schemeClr val="tx1"/>
                        </a:solidFill>
                        <a:effectLst/>
                        <a:latin typeface="Arial" pitchFamily="34" charset="0"/>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楷体_GB2312" pitchFamily="1" charset="-122"/>
                        </a:rPr>
                        <a:t>起点</a:t>
                      </a:r>
                      <a:endParaRPr kumimoji="0" lang="zh-CN" altLang="en-US" sz="2400" b="0" i="0" u="none" strike="noStrike" cap="none" normalizeH="0" baseline="0" smtClean="0">
                        <a:ln>
                          <a:noFill/>
                        </a:ln>
                        <a:solidFill>
                          <a:schemeClr val="tx1"/>
                        </a:solidFill>
                        <a:effectLst/>
                        <a:latin typeface="Arial" pitchFamily="34" charset="0"/>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楷体_GB2312" pitchFamily="1" charset="-122"/>
                        </a:rPr>
                        <a:t>终点</a:t>
                      </a:r>
                      <a:endParaRPr kumimoji="0" lang="zh-CN" altLang="en-US" sz="2400" b="0" i="0" u="none" strike="noStrike" cap="none" normalizeH="0" baseline="0" smtClean="0">
                        <a:ln>
                          <a:noFill/>
                        </a:ln>
                        <a:solidFill>
                          <a:schemeClr val="tx1"/>
                        </a:solidFill>
                        <a:effectLst/>
                        <a:latin typeface="Arial" pitchFamily="34" charset="0"/>
                        <a:ea typeface="楷体_GB2312" pitchFamily="1"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0                                                                                                                                                                                                                                                                                                                                                                                                                    </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878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2</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037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2</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2</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878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037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4</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4</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5</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037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5</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5</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6</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878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6</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6</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7</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037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7</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7</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4</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5878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8</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4</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6037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9</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5</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6037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10</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2</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6</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45878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11</a:t>
                      </a:r>
                      <a:endParaRPr kumimoji="0" lang="en-US" altLang="zh-CN" sz="20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2000" b="0" i="0" u="none" strike="noStrike" cap="none" normalizeH="0" baseline="0" dirty="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V</a:t>
                      </a:r>
                      <a:r>
                        <a:rPr kumimoji="0" lang="en-US" altLang="zh-CN" sz="2000" b="0"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7</a:t>
                      </a:r>
                      <a:endParaRPr kumimoji="0" lang="en-US" altLang="zh-CN" sz="2000" b="0" i="0" u="none" strike="noStrike" cap="none" normalizeH="0" baseline="0" dirty="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4"/>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2E6C0F1D-BEEC-434E-8834-79527477F137}" type="slidenum">
              <a:rPr lang="en-US" altLang="zh-CN" sz="1200">
                <a:solidFill>
                  <a:schemeClr val="tx1"/>
                </a:solidFill>
                <a:latin typeface="Garamond" pitchFamily="18" charset="0"/>
              </a:rPr>
              <a:pPr algn="r" eaLnBrk="1" hangingPunct="1">
                <a:spcBef>
                  <a:spcPct val="0"/>
                </a:spcBef>
              </a:pPr>
              <a:t>11</a:t>
            </a:fld>
            <a:endParaRPr lang="en-US" altLang="zh-CN" sz="1200">
              <a:solidFill>
                <a:schemeClr val="tx1"/>
              </a:solidFill>
              <a:latin typeface="Garamond" pitchFamily="18" charset="0"/>
            </a:endParaRPr>
          </a:p>
        </p:txBody>
      </p:sp>
      <p:sp>
        <p:nvSpPr>
          <p:cNvPr id="14339" name="Text Box 4"/>
          <p:cNvSpPr txBox="1">
            <a:spLocks noChangeArrowheads="1"/>
          </p:cNvSpPr>
          <p:nvPr/>
        </p:nvSpPr>
        <p:spPr bwMode="auto">
          <a:xfrm>
            <a:off x="2951163" y="549275"/>
            <a:ext cx="3016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sz="2800" b="1">
                <a:solidFill>
                  <a:schemeClr val="tx1"/>
                </a:solidFill>
                <a:latin typeface="楷体_GB2312" pitchFamily="1" charset="-122"/>
                <a:ea typeface="楷体_GB2312" pitchFamily="1" charset="-122"/>
              </a:rPr>
              <a:t>表</a:t>
            </a:r>
            <a:r>
              <a:rPr lang="en-US" altLang="zh-CN" sz="2800" b="1">
                <a:solidFill>
                  <a:schemeClr val="tx1"/>
                </a:solidFill>
                <a:latin typeface="楷体_GB2312" pitchFamily="1" charset="-122"/>
                <a:ea typeface="楷体_GB2312" pitchFamily="1" charset="-122"/>
              </a:rPr>
              <a:t>9-3</a:t>
            </a:r>
            <a:r>
              <a:rPr lang="zh-CN" altLang="en-US" sz="2800" b="1">
                <a:solidFill>
                  <a:schemeClr val="tx1"/>
                </a:solidFill>
                <a:latin typeface="楷体_GB2312" pitchFamily="1" charset="-122"/>
                <a:ea typeface="楷体_GB2312" pitchFamily="1" charset="-122"/>
              </a:rPr>
              <a:t>立方体面表</a:t>
            </a:r>
          </a:p>
        </p:txBody>
      </p:sp>
      <p:graphicFrame>
        <p:nvGraphicFramePr>
          <p:cNvPr id="14340" name="Group 4"/>
          <p:cNvGraphicFramePr>
            <a:graphicFrameLocks noGrp="1"/>
          </p:cNvGraphicFramePr>
          <p:nvPr>
            <p:ph idx="4294967295"/>
          </p:nvPr>
        </p:nvGraphicFramePr>
        <p:xfrm>
          <a:off x="385763" y="1268413"/>
          <a:ext cx="8326437" cy="3917951"/>
        </p:xfrm>
        <a:graphic>
          <a:graphicData uri="http://schemas.openxmlformats.org/drawingml/2006/table">
            <a:tbl>
              <a:tblPr/>
              <a:tblGrid>
                <a:gridCol w="854075">
                  <a:extLst>
                    <a:ext uri="{9D8B030D-6E8A-4147-A177-3AD203B41FA5}">
                      <a16:colId xmlns:a16="http://schemas.microsoft.com/office/drawing/2014/main" val="20000"/>
                    </a:ext>
                  </a:extLst>
                </a:gridCol>
                <a:gridCol w="1576387">
                  <a:extLst>
                    <a:ext uri="{9D8B030D-6E8A-4147-A177-3AD203B41FA5}">
                      <a16:colId xmlns:a16="http://schemas.microsoft.com/office/drawing/2014/main" val="20001"/>
                    </a:ext>
                  </a:extLst>
                </a:gridCol>
                <a:gridCol w="1574800">
                  <a:extLst>
                    <a:ext uri="{9D8B030D-6E8A-4147-A177-3AD203B41FA5}">
                      <a16:colId xmlns:a16="http://schemas.microsoft.com/office/drawing/2014/main" val="20002"/>
                    </a:ext>
                  </a:extLst>
                </a:gridCol>
                <a:gridCol w="1574800">
                  <a:extLst>
                    <a:ext uri="{9D8B030D-6E8A-4147-A177-3AD203B41FA5}">
                      <a16:colId xmlns:a16="http://schemas.microsoft.com/office/drawing/2014/main" val="20003"/>
                    </a:ext>
                  </a:extLst>
                </a:gridCol>
                <a:gridCol w="1530350">
                  <a:extLst>
                    <a:ext uri="{9D8B030D-6E8A-4147-A177-3AD203B41FA5}">
                      <a16:colId xmlns:a16="http://schemas.microsoft.com/office/drawing/2014/main" val="20004"/>
                    </a:ext>
                  </a:extLst>
                </a:gridCol>
                <a:gridCol w="1216025">
                  <a:extLst>
                    <a:ext uri="{9D8B030D-6E8A-4147-A177-3AD203B41FA5}">
                      <a16:colId xmlns:a16="http://schemas.microsoft.com/office/drawing/2014/main" val="20005"/>
                    </a:ext>
                  </a:extLst>
                </a:gridCol>
              </a:tblGrid>
              <a:tr h="53975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面</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第1条边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第2条边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第3条边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第4条边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说明</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562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F</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4</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5</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6</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7</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楷体_GB2312" pitchFamily="1" charset="-122"/>
                        </a:rPr>
                        <a:t>前面</a:t>
                      </a:r>
                      <a:endParaRPr kumimoji="0" lang="zh-CN" altLang="en-US" sz="2400" b="0" i="0" u="none" strike="noStrike" cap="none" normalizeH="0" baseline="0" smtClean="0">
                        <a:ln>
                          <a:noFill/>
                        </a:ln>
                        <a:solidFill>
                          <a:schemeClr val="tx1"/>
                        </a:solidFill>
                        <a:effectLst/>
                        <a:latin typeface="Arial" pitchFamily="34" charset="0"/>
                        <a:ea typeface="楷体_GB2312" pitchFamily="1"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403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F</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2</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楷体_GB2312" pitchFamily="1" charset="-122"/>
                        </a:rPr>
                        <a:t>后面</a:t>
                      </a:r>
                      <a:endParaRPr kumimoji="0" lang="zh-CN" altLang="en-US" sz="2400" b="0" i="0" u="none" strike="noStrike" cap="none" normalizeH="0" baseline="0" smtClean="0">
                        <a:ln>
                          <a:noFill/>
                        </a:ln>
                        <a:solidFill>
                          <a:schemeClr val="tx1"/>
                        </a:solidFill>
                        <a:effectLst/>
                        <a:latin typeface="Arial" pitchFamily="34" charset="0"/>
                        <a:ea typeface="楷体_GB2312" pitchFamily="1"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562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F</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2</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8</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7</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11</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楷体_GB2312" pitchFamily="1" charset="-122"/>
                        </a:rPr>
                        <a:t>左面</a:t>
                      </a:r>
                      <a:endParaRPr kumimoji="0" lang="zh-CN" altLang="en-US" sz="2400" b="0" i="0" u="none" strike="noStrike" cap="none" normalizeH="0" baseline="0" smtClean="0">
                        <a:ln>
                          <a:noFill/>
                        </a:ln>
                        <a:solidFill>
                          <a:schemeClr val="tx1"/>
                        </a:solidFill>
                        <a:effectLst/>
                        <a:latin typeface="Arial" pitchFamily="34" charset="0"/>
                        <a:ea typeface="楷体_GB2312" pitchFamily="1"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562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F</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10</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5</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9</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楷体_GB2312" pitchFamily="1" charset="-122"/>
                        </a:rPr>
                        <a:t>右面</a:t>
                      </a:r>
                      <a:endParaRPr kumimoji="0" lang="zh-CN" altLang="en-US" sz="2400" b="0" i="0" u="none" strike="noStrike" cap="none" normalizeH="0" baseline="0" smtClean="0">
                        <a:ln>
                          <a:noFill/>
                        </a:ln>
                        <a:solidFill>
                          <a:schemeClr val="tx1"/>
                        </a:solidFill>
                        <a:effectLst/>
                        <a:latin typeface="Arial" pitchFamily="34" charset="0"/>
                        <a:ea typeface="楷体_GB2312" pitchFamily="1"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5562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F</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4</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2</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11</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6</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10</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楷体_GB2312" pitchFamily="1" charset="-122"/>
                        </a:rPr>
                        <a:t>顶面</a:t>
                      </a:r>
                      <a:endParaRPr kumimoji="0" lang="zh-CN" altLang="en-US" sz="2400" b="0" i="0" u="none" strike="noStrike" cap="none" normalizeH="0" baseline="0" smtClean="0">
                        <a:ln>
                          <a:noFill/>
                        </a:ln>
                        <a:solidFill>
                          <a:schemeClr val="tx1"/>
                        </a:solidFill>
                        <a:effectLst/>
                        <a:latin typeface="Arial" pitchFamily="34" charset="0"/>
                        <a:ea typeface="楷体_GB2312" pitchFamily="1"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01663">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F</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5</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9</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4</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8</a:t>
                      </a:r>
                      <a:endParaRPr kumimoji="0" lang="en-US" altLang="zh-CN" sz="24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楷体_GB2312" pitchFamily="1" charset="-122"/>
                        </a:rPr>
                        <a:t>底面</a:t>
                      </a:r>
                      <a:endParaRPr kumimoji="0" lang="zh-CN" altLang="en-US" sz="2400" b="0" i="0" u="none" strike="noStrike" cap="none" normalizeH="0" baseline="0" smtClean="0">
                        <a:ln>
                          <a:noFill/>
                        </a:ln>
                        <a:solidFill>
                          <a:schemeClr val="tx1"/>
                        </a:solidFill>
                        <a:effectLst/>
                        <a:latin typeface="Arial" pitchFamily="34" charset="0"/>
                        <a:ea typeface="楷体_GB2312" pitchFamily="1"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81459D4A-366A-4F0B-A295-CF2250E8AA62}" type="slidenum">
              <a:rPr lang="en-US" altLang="zh-CN" sz="1200">
                <a:solidFill>
                  <a:schemeClr val="tx1"/>
                </a:solidFill>
                <a:latin typeface="Garamond" pitchFamily="18" charset="0"/>
              </a:rPr>
              <a:pPr algn="r" eaLnBrk="1" hangingPunct="1">
                <a:spcBef>
                  <a:spcPct val="0"/>
                </a:spcBef>
              </a:pPr>
              <a:t>12</a:t>
            </a:fld>
            <a:endParaRPr lang="en-US" altLang="zh-CN" sz="1200">
              <a:solidFill>
                <a:schemeClr val="tx1"/>
              </a:solidFill>
              <a:latin typeface="Garamond" pitchFamily="18" charset="0"/>
            </a:endParaRPr>
          </a:p>
        </p:txBody>
      </p:sp>
      <p:sp>
        <p:nvSpPr>
          <p:cNvPr id="15363" name="Text Box 4"/>
          <p:cNvSpPr txBox="1">
            <a:spLocks noChangeArrowheads="1"/>
          </p:cNvSpPr>
          <p:nvPr/>
        </p:nvSpPr>
        <p:spPr bwMode="auto">
          <a:xfrm>
            <a:off x="566738" y="233363"/>
            <a:ext cx="4410075" cy="57943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en-US" altLang="zh-CN" sz="3200" b="1">
                <a:solidFill>
                  <a:schemeClr val="tx1"/>
                </a:solidFill>
                <a:latin typeface="楷体_GB2312" pitchFamily="1" charset="-122"/>
                <a:ea typeface="楷体_GB2312" pitchFamily="1" charset="-122"/>
              </a:rPr>
              <a:t>9.1.3 </a:t>
            </a:r>
            <a:r>
              <a:rPr lang="zh-CN" altLang="en-US" sz="3200" b="1">
                <a:solidFill>
                  <a:schemeClr val="tx1"/>
                </a:solidFill>
                <a:latin typeface="楷体_GB2312" pitchFamily="1" charset="-122"/>
                <a:ea typeface="楷体_GB2312" pitchFamily="1" charset="-122"/>
              </a:rPr>
              <a:t>实体的描述模型</a:t>
            </a:r>
          </a:p>
        </p:txBody>
      </p:sp>
      <p:sp>
        <p:nvSpPr>
          <p:cNvPr id="15364" name="Text Box 5"/>
          <p:cNvSpPr txBox="1">
            <a:spLocks noChangeArrowheads="1"/>
          </p:cNvSpPr>
          <p:nvPr/>
        </p:nvSpPr>
        <p:spPr bwMode="auto">
          <a:xfrm>
            <a:off x="341313" y="1584325"/>
            <a:ext cx="8461375" cy="427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40000"/>
              </a:lnSpc>
              <a:spcBef>
                <a:spcPct val="0"/>
              </a:spcBef>
              <a:buClr>
                <a:srgbClr val="FF3399"/>
              </a:buClr>
              <a:buFont typeface="Wingdings" pitchFamily="2" charset="2"/>
              <a:buNone/>
            </a:pPr>
            <a:r>
              <a:rPr lang="zh-CN" altLang="en-US" dirty="0">
                <a:solidFill>
                  <a:schemeClr val="tx1"/>
                </a:solidFill>
                <a:latin typeface="楷体_GB2312" pitchFamily="1" charset="-122"/>
                <a:ea typeface="楷体_GB2312" pitchFamily="1" charset="-122"/>
              </a:rPr>
              <a:t>    线框模型（</a:t>
            </a:r>
            <a:r>
              <a:rPr lang="en-US" altLang="zh-CN" dirty="0">
                <a:solidFill>
                  <a:schemeClr val="tx1"/>
                </a:solidFill>
                <a:latin typeface="楷体_GB2312" pitchFamily="1" charset="-122"/>
                <a:ea typeface="楷体_GB2312" pitchFamily="1" charset="-122"/>
              </a:rPr>
              <a:t>wireframe model</a:t>
            </a:r>
            <a:r>
              <a:rPr lang="zh-CN" altLang="en-US" dirty="0">
                <a:solidFill>
                  <a:schemeClr val="tx1"/>
                </a:solidFill>
                <a:latin typeface="楷体_GB2312" pitchFamily="1" charset="-122"/>
                <a:ea typeface="楷体_GB2312" pitchFamily="1" charset="-122"/>
              </a:rPr>
              <a:t>）是计算机图形学中表示物体最早使用的模型，而且一直在使用。</a:t>
            </a:r>
            <a:r>
              <a:rPr lang="zh-CN" altLang="en-US" b="1" dirty="0">
                <a:solidFill>
                  <a:srgbClr val="3333FF"/>
                </a:solidFill>
                <a:latin typeface="方正粗黑宋简体" panose="02000000000000000000" pitchFamily="2" charset="-122"/>
                <a:ea typeface="方正粗黑宋简体" panose="02000000000000000000" pitchFamily="2" charset="-122"/>
              </a:rPr>
              <a:t>线框模型</a:t>
            </a:r>
            <a:r>
              <a:rPr lang="zh-CN" altLang="en-US" b="1" dirty="0">
                <a:solidFill>
                  <a:srgbClr val="FF0000"/>
                </a:solidFill>
                <a:latin typeface="方正粗黑宋简体" panose="02000000000000000000" pitchFamily="2" charset="-122"/>
                <a:ea typeface="方正粗黑宋简体" panose="02000000000000000000" pitchFamily="2" charset="-122"/>
              </a:rPr>
              <a:t>只是用几何体的边线来表示物体的外形</a:t>
            </a:r>
            <a:r>
              <a:rPr lang="zh-CN" altLang="en-US" dirty="0">
                <a:solidFill>
                  <a:schemeClr val="tx1"/>
                </a:solidFill>
                <a:latin typeface="楷体_GB2312" pitchFamily="1" charset="-122"/>
                <a:ea typeface="楷体_GB2312" pitchFamily="1" charset="-122"/>
              </a:rPr>
              <a:t>，没有表面和体积等概念。</a:t>
            </a:r>
            <a:r>
              <a:rPr lang="zh-CN" altLang="en-US" b="1" dirty="0">
                <a:solidFill>
                  <a:srgbClr val="FF0000"/>
                </a:solidFill>
                <a:latin typeface="黑体" pitchFamily="49" charset="-122"/>
                <a:ea typeface="黑体" pitchFamily="49" charset="-122"/>
              </a:rPr>
              <a:t>线框模型是表面模型和实体模型的</a:t>
            </a:r>
            <a:r>
              <a:rPr lang="zh-CN" altLang="en-US" b="1" dirty="0">
                <a:solidFill>
                  <a:srgbClr val="3333FF"/>
                </a:solidFill>
                <a:latin typeface="方正粗黑宋简体" panose="02000000000000000000" pitchFamily="2" charset="-122"/>
                <a:ea typeface="方正粗黑宋简体" panose="02000000000000000000" pitchFamily="2" charset="-122"/>
              </a:rPr>
              <a:t>基础</a:t>
            </a:r>
            <a:r>
              <a:rPr lang="zh-CN" altLang="en-US" dirty="0">
                <a:solidFill>
                  <a:schemeClr val="tx1"/>
                </a:solidFill>
                <a:latin typeface="楷体_GB2312" pitchFamily="1" charset="-122"/>
                <a:ea typeface="楷体_GB2312" pitchFamily="1" charset="-122"/>
              </a:rPr>
              <a:t>，只使用顶点表和边表两个数据结构就可以描述。图</a:t>
            </a:r>
            <a:r>
              <a:rPr lang="en-US" altLang="zh-CN" dirty="0">
                <a:solidFill>
                  <a:schemeClr val="tx1"/>
                </a:solidFill>
                <a:latin typeface="楷体_GB2312" pitchFamily="1" charset="-122"/>
                <a:ea typeface="楷体_GB2312" pitchFamily="1" charset="-122"/>
              </a:rPr>
              <a:t>9-5</a:t>
            </a:r>
            <a:r>
              <a:rPr lang="zh-CN" altLang="en-US" dirty="0">
                <a:solidFill>
                  <a:schemeClr val="tx1"/>
                </a:solidFill>
                <a:latin typeface="楷体_GB2312" pitchFamily="1" charset="-122"/>
                <a:ea typeface="楷体_GB2312" pitchFamily="1" charset="-122"/>
              </a:rPr>
              <a:t>所示为立方体线框模型。</a:t>
            </a:r>
          </a:p>
          <a:p>
            <a:pPr algn="l" eaLnBrk="1" hangingPunct="1">
              <a:lnSpc>
                <a:spcPct val="140000"/>
              </a:lnSpc>
              <a:spcBef>
                <a:spcPct val="0"/>
              </a:spcBef>
              <a:buClr>
                <a:srgbClr val="FF3399"/>
              </a:buClr>
              <a:buFont typeface="Wingdings" pitchFamily="2" charset="2"/>
              <a:buNone/>
            </a:pPr>
            <a:r>
              <a:rPr lang="zh-CN" altLang="en-US" b="1" dirty="0">
                <a:solidFill>
                  <a:srgbClr val="3333FF"/>
                </a:solidFill>
                <a:latin typeface="方正粗黑宋简体" panose="02000000000000000000" pitchFamily="2" charset="-122"/>
                <a:ea typeface="方正粗黑宋简体" panose="02000000000000000000" pitchFamily="2" charset="-122"/>
              </a:rPr>
              <a:t>优点</a:t>
            </a:r>
            <a:r>
              <a:rPr lang="en-US" altLang="zh-CN" dirty="0">
                <a:solidFill>
                  <a:schemeClr val="tx1"/>
                </a:solidFill>
                <a:latin typeface="楷体_GB2312" pitchFamily="1" charset="-122"/>
                <a:ea typeface="楷体_GB2312" pitchFamily="1" charset="-122"/>
              </a:rPr>
              <a:t>:</a:t>
            </a:r>
            <a:r>
              <a:rPr lang="zh-CN" altLang="en-US" dirty="0">
                <a:solidFill>
                  <a:schemeClr val="tx1"/>
                </a:solidFill>
                <a:latin typeface="楷体_GB2312" pitchFamily="1" charset="-122"/>
                <a:ea typeface="楷体_GB2312" pitchFamily="1" charset="-122"/>
              </a:rPr>
              <a:t>可以产生任意方向视图，视图间保持正确的投影关系，常用于绘制三视图或斜轴测图等。</a:t>
            </a:r>
          </a:p>
          <a:p>
            <a:pPr algn="l" eaLnBrk="1" hangingPunct="1">
              <a:lnSpc>
                <a:spcPct val="140000"/>
              </a:lnSpc>
              <a:spcBef>
                <a:spcPct val="0"/>
              </a:spcBef>
              <a:buClr>
                <a:srgbClr val="FF3399"/>
              </a:buClr>
              <a:buFont typeface="Wingdings" pitchFamily="2" charset="2"/>
              <a:buNone/>
            </a:pPr>
            <a:r>
              <a:rPr lang="zh-CN" altLang="en-US" b="1" dirty="0">
                <a:solidFill>
                  <a:srgbClr val="3333FF"/>
                </a:solidFill>
                <a:latin typeface="方正粗黑宋简体" panose="02000000000000000000" pitchFamily="2" charset="-122"/>
                <a:ea typeface="方正粗黑宋简体" panose="02000000000000000000" pitchFamily="2" charset="-122"/>
              </a:rPr>
              <a:t>缺点</a:t>
            </a:r>
            <a:r>
              <a:rPr lang="zh-CN" altLang="en-US" dirty="0">
                <a:solidFill>
                  <a:schemeClr val="tx1"/>
                </a:solidFill>
                <a:latin typeface="楷体_GB2312" pitchFamily="1" charset="-122"/>
                <a:ea typeface="楷体_GB2312" pitchFamily="1" charset="-122"/>
              </a:rPr>
              <a:t>：</a:t>
            </a:r>
            <a:r>
              <a:rPr lang="zh-CN" altLang="en-US" b="1" dirty="0">
                <a:solidFill>
                  <a:srgbClr val="FF0000"/>
                </a:solidFill>
                <a:latin typeface="黑体" pitchFamily="49" charset="-122"/>
                <a:ea typeface="黑体" pitchFamily="49" charset="-122"/>
              </a:rPr>
              <a:t>所有棱边</a:t>
            </a:r>
            <a:r>
              <a:rPr lang="zh-CN" altLang="en-US" dirty="0">
                <a:solidFill>
                  <a:schemeClr val="tx1"/>
                </a:solidFill>
                <a:latin typeface="楷体_GB2312" pitchFamily="1" charset="-122"/>
                <a:ea typeface="楷体_GB2312" pitchFamily="1" charset="-122"/>
              </a:rPr>
              <a:t>全部绘制出来，容易产生</a:t>
            </a:r>
            <a:r>
              <a:rPr lang="zh-CN" altLang="en-US" b="1" dirty="0">
                <a:solidFill>
                  <a:srgbClr val="FF0000"/>
                </a:solidFill>
                <a:latin typeface="方正粗黑宋简体" panose="02000000000000000000" pitchFamily="2" charset="-122"/>
                <a:ea typeface="方正粗黑宋简体" panose="02000000000000000000" pitchFamily="2" charset="-122"/>
              </a:rPr>
              <a:t>二义性</a:t>
            </a:r>
            <a:r>
              <a:rPr lang="en-US" altLang="zh-CN" dirty="0">
                <a:solidFill>
                  <a:schemeClr val="tx1"/>
                </a:solidFill>
                <a:latin typeface="楷体_GB2312" pitchFamily="1" charset="-122"/>
                <a:ea typeface="楷体_GB2312" pitchFamily="1" charset="-122"/>
              </a:rPr>
              <a:t>,</a:t>
            </a:r>
            <a:r>
              <a:rPr lang="zh-CN" altLang="en-US" dirty="0">
                <a:solidFill>
                  <a:schemeClr val="tx1"/>
                </a:solidFill>
                <a:latin typeface="楷体_GB2312" pitchFamily="1" charset="-122"/>
                <a:ea typeface="楷体_GB2312" pitchFamily="1" charset="-122"/>
              </a:rPr>
              <a:t>如图</a:t>
            </a:r>
            <a:r>
              <a:rPr lang="en-US" altLang="zh-CN" dirty="0">
                <a:solidFill>
                  <a:schemeClr val="tx1"/>
                </a:solidFill>
                <a:latin typeface="楷体_GB2312" pitchFamily="1" charset="-122"/>
                <a:ea typeface="楷体_GB2312" pitchFamily="1" charset="-122"/>
              </a:rPr>
              <a:t>9-6</a:t>
            </a:r>
            <a:r>
              <a:rPr lang="zh-CN" altLang="en-US" dirty="0">
                <a:solidFill>
                  <a:schemeClr val="tx1"/>
                </a:solidFill>
                <a:latin typeface="楷体_GB2312" pitchFamily="1" charset="-122"/>
                <a:ea typeface="楷体_GB2312" pitchFamily="1" charset="-122"/>
              </a:rPr>
              <a:t>所示</a:t>
            </a:r>
          </a:p>
        </p:txBody>
      </p:sp>
      <p:sp>
        <p:nvSpPr>
          <p:cNvPr id="15365" name="Rectangle 6"/>
          <p:cNvSpPr>
            <a:spLocks noChangeArrowheads="1"/>
          </p:cNvSpPr>
          <p:nvPr/>
        </p:nvSpPr>
        <p:spPr bwMode="auto">
          <a:xfrm>
            <a:off x="657225" y="998538"/>
            <a:ext cx="1866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buClr>
                <a:schemeClr val="tx1"/>
              </a:buClr>
              <a:buFont typeface="Arial" pitchFamily="34" charset="0"/>
              <a:buAutoNum type="arabicPeriod"/>
            </a:pPr>
            <a:r>
              <a:rPr lang="zh-CN" altLang="en-US" b="1">
                <a:solidFill>
                  <a:schemeClr val="tx1"/>
                </a:solidFill>
                <a:ea typeface="楷体_GB2312" pitchFamily="1" charset="-122"/>
              </a:rPr>
              <a:t>线框模型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8826B25D-C004-48A8-921D-02074BFF5219}" type="slidenum">
              <a:rPr lang="en-US" altLang="zh-CN" sz="1200">
                <a:solidFill>
                  <a:schemeClr val="tx1"/>
                </a:solidFill>
                <a:latin typeface="Garamond" pitchFamily="18" charset="0"/>
              </a:rPr>
              <a:pPr algn="r" eaLnBrk="1" hangingPunct="1">
                <a:spcBef>
                  <a:spcPct val="0"/>
                </a:spcBef>
              </a:pPr>
              <a:t>13</a:t>
            </a:fld>
            <a:endParaRPr lang="en-US" altLang="zh-CN" sz="1200">
              <a:solidFill>
                <a:schemeClr val="tx1"/>
              </a:solidFill>
              <a:latin typeface="Garamond" pitchFamily="18" charset="0"/>
            </a:endParaRPr>
          </a:p>
        </p:txBody>
      </p:sp>
      <p:graphicFrame>
        <p:nvGraphicFramePr>
          <p:cNvPr id="16390" name="Object 4"/>
          <p:cNvGraphicFramePr>
            <a:graphicFrameLocks noChangeAspect="1"/>
          </p:cNvGraphicFramePr>
          <p:nvPr/>
        </p:nvGraphicFramePr>
        <p:xfrm>
          <a:off x="3402013" y="458788"/>
          <a:ext cx="2386012" cy="2386012"/>
        </p:xfrm>
        <a:graphic>
          <a:graphicData uri="http://schemas.openxmlformats.org/presentationml/2006/ole">
            <mc:AlternateContent xmlns:mc="http://schemas.openxmlformats.org/markup-compatibility/2006">
              <mc:Choice xmlns:v="urn:schemas-microsoft-com:vml" Requires="v">
                <p:oleObj spid="_x0000_s16467" r:id="rId3" imgW="2926994" imgH="2926994" progId="Visio.Drawing.11">
                  <p:embed/>
                </p:oleObj>
              </mc:Choice>
              <mc:Fallback>
                <p:oleObj r:id="rId3" imgW="2926994" imgH="2926994" progId="Visio.Drawing.11">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2013" y="458788"/>
                        <a:ext cx="2386012" cy="2386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1" name="Text Box 6"/>
          <p:cNvSpPr txBox="1">
            <a:spLocks noChangeArrowheads="1"/>
          </p:cNvSpPr>
          <p:nvPr/>
        </p:nvSpPr>
        <p:spPr bwMode="auto">
          <a:xfrm>
            <a:off x="2997200" y="3024188"/>
            <a:ext cx="2790825"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9-5</a:t>
            </a:r>
            <a:r>
              <a:rPr lang="zh-CN" altLang="en-US" sz="2000">
                <a:solidFill>
                  <a:schemeClr val="tx1"/>
                </a:solidFill>
                <a:latin typeface="楷体_GB2312" pitchFamily="1" charset="-122"/>
                <a:ea typeface="楷体_GB2312" pitchFamily="1" charset="-122"/>
              </a:rPr>
              <a:t>立方体线框模型</a:t>
            </a:r>
          </a:p>
        </p:txBody>
      </p:sp>
      <p:graphicFrame>
        <p:nvGraphicFramePr>
          <p:cNvPr id="16392" name="Object 7"/>
          <p:cNvGraphicFramePr>
            <a:graphicFrameLocks noChangeAspect="1"/>
          </p:cNvGraphicFramePr>
          <p:nvPr/>
        </p:nvGraphicFramePr>
        <p:xfrm>
          <a:off x="1241425" y="3698875"/>
          <a:ext cx="2339975" cy="2339975"/>
        </p:xfrm>
        <a:graphic>
          <a:graphicData uri="http://schemas.openxmlformats.org/presentationml/2006/ole">
            <mc:AlternateContent xmlns:mc="http://schemas.openxmlformats.org/markup-compatibility/2006">
              <mc:Choice xmlns:v="urn:schemas-microsoft-com:vml" Requires="v">
                <p:oleObj spid="_x0000_s16468" r:id="rId5" imgW="2914802" imgH="2926994" progId="Visio.Drawing.11">
                  <p:embed/>
                </p:oleObj>
              </mc:Choice>
              <mc:Fallback>
                <p:oleObj r:id="rId5" imgW="2914802" imgH="2926994" progId="Visio.Drawing.11">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1425" y="3698875"/>
                        <a:ext cx="2339975" cy="2339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3" name="Object 9"/>
          <p:cNvGraphicFramePr>
            <a:graphicFrameLocks noChangeAspect="1"/>
          </p:cNvGraphicFramePr>
          <p:nvPr/>
        </p:nvGraphicFramePr>
        <p:xfrm>
          <a:off x="5607050" y="3608388"/>
          <a:ext cx="2292350" cy="2292350"/>
        </p:xfrm>
        <a:graphic>
          <a:graphicData uri="http://schemas.openxmlformats.org/presentationml/2006/ole">
            <mc:AlternateContent xmlns:mc="http://schemas.openxmlformats.org/markup-compatibility/2006">
              <mc:Choice xmlns:v="urn:schemas-microsoft-com:vml" Requires="v">
                <p:oleObj spid="_x0000_s16469" r:id="rId7" imgW="2926994" imgH="2914802" progId="Visio.Drawing.11">
                  <p:embed/>
                </p:oleObj>
              </mc:Choice>
              <mc:Fallback>
                <p:oleObj r:id="rId7" imgW="2926994" imgH="2914802" progId="Visio.Drawing.11">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07050" y="3608388"/>
                        <a:ext cx="2292350" cy="2292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4" name="Text Box 11"/>
          <p:cNvSpPr txBox="1">
            <a:spLocks noChangeArrowheads="1"/>
          </p:cNvSpPr>
          <p:nvPr/>
        </p:nvSpPr>
        <p:spPr bwMode="auto">
          <a:xfrm>
            <a:off x="3041650" y="6173788"/>
            <a:ext cx="32400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sz="2000">
                <a:solidFill>
                  <a:schemeClr val="tx1"/>
                </a:solidFill>
                <a:latin typeface="楷体_GB2312" pitchFamily="1" charset="-122"/>
                <a:ea typeface="楷体_GB2312" pitchFamily="1" charset="-122"/>
              </a:rPr>
              <a:t> 图</a:t>
            </a:r>
            <a:r>
              <a:rPr lang="en-US" altLang="zh-CN" sz="2000">
                <a:solidFill>
                  <a:schemeClr val="tx1"/>
                </a:solidFill>
                <a:latin typeface="楷体_GB2312" pitchFamily="1" charset="-122"/>
                <a:ea typeface="楷体_GB2312" pitchFamily="1" charset="-122"/>
              </a:rPr>
              <a:t>9-6</a:t>
            </a:r>
            <a:r>
              <a:rPr lang="zh-CN" altLang="en-US" sz="2000">
                <a:solidFill>
                  <a:schemeClr val="tx1"/>
                </a:solidFill>
                <a:latin typeface="楷体_GB2312" pitchFamily="1" charset="-122"/>
                <a:ea typeface="楷体_GB2312" pitchFamily="1" charset="-122"/>
              </a:rPr>
              <a:t>线框模型二义性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3097927D-A5BD-4866-A00C-4D5DAE9D7054}" type="slidenum">
              <a:rPr lang="en-US" altLang="zh-CN" sz="1200">
                <a:solidFill>
                  <a:schemeClr val="tx1"/>
                </a:solidFill>
                <a:latin typeface="Garamond" pitchFamily="18" charset="0"/>
              </a:rPr>
              <a:pPr algn="r" eaLnBrk="1" hangingPunct="1">
                <a:spcBef>
                  <a:spcPct val="0"/>
                </a:spcBef>
              </a:pPr>
              <a:t>14</a:t>
            </a:fld>
            <a:endParaRPr lang="en-US" altLang="zh-CN" sz="1200">
              <a:solidFill>
                <a:schemeClr val="tx1"/>
              </a:solidFill>
              <a:latin typeface="Garamond" pitchFamily="18" charset="0"/>
            </a:endParaRPr>
          </a:p>
        </p:txBody>
      </p:sp>
      <p:sp>
        <p:nvSpPr>
          <p:cNvPr id="17411" name="Text Box 4"/>
          <p:cNvSpPr txBox="1">
            <a:spLocks noChangeArrowheads="1"/>
          </p:cNvSpPr>
          <p:nvPr/>
        </p:nvSpPr>
        <p:spPr bwMode="auto">
          <a:xfrm>
            <a:off x="522288" y="1089025"/>
            <a:ext cx="80994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20000"/>
              </a:lnSpc>
              <a:spcBef>
                <a:spcPct val="0"/>
              </a:spcBef>
              <a:buClr>
                <a:srgbClr val="FF3399"/>
              </a:buClr>
              <a:buFont typeface="Wingdings" pitchFamily="2" charset="2"/>
              <a:buNone/>
            </a:pPr>
            <a:r>
              <a:rPr lang="zh-CN" altLang="en-US" dirty="0">
                <a:solidFill>
                  <a:schemeClr val="tx1"/>
                </a:solidFill>
                <a:latin typeface="楷体_GB2312" pitchFamily="1" charset="-122"/>
                <a:ea typeface="楷体_GB2312" pitchFamily="1" charset="-122"/>
              </a:rPr>
              <a:t>    表面模型（</a:t>
            </a:r>
            <a:r>
              <a:rPr lang="fr-FR" altLang="en-US" dirty="0">
                <a:solidFill>
                  <a:schemeClr val="tx1"/>
                </a:solidFill>
                <a:latin typeface="楷体_GB2312" pitchFamily="1" charset="-122"/>
                <a:ea typeface="楷体_GB2312" pitchFamily="1" charset="-122"/>
              </a:rPr>
              <a:t>surface model</a:t>
            </a:r>
            <a:r>
              <a:rPr lang="zh-CN" altLang="en-US" dirty="0">
                <a:solidFill>
                  <a:schemeClr val="tx1"/>
                </a:solidFill>
                <a:latin typeface="楷体_GB2312" pitchFamily="1" charset="-122"/>
                <a:ea typeface="楷体_GB2312" pitchFamily="1" charset="-122"/>
              </a:rPr>
              <a:t>）是</a:t>
            </a:r>
            <a:r>
              <a:rPr lang="zh-CN" altLang="en-US" b="1" dirty="0">
                <a:solidFill>
                  <a:srgbClr val="FF0000"/>
                </a:solidFill>
                <a:latin typeface="方正粗黑宋简体" panose="02000000000000000000" pitchFamily="2" charset="-122"/>
                <a:ea typeface="方正粗黑宋简体" panose="02000000000000000000" pitchFamily="2" charset="-122"/>
              </a:rPr>
              <a:t>利用物体的</a:t>
            </a:r>
            <a:r>
              <a:rPr lang="zh-CN" altLang="en-US" b="1" dirty="0">
                <a:solidFill>
                  <a:srgbClr val="3333FF"/>
                </a:solidFill>
                <a:latin typeface="方正粗黑宋简体" panose="02000000000000000000" pitchFamily="2" charset="-122"/>
                <a:ea typeface="方正粗黑宋简体" panose="02000000000000000000" pitchFamily="2" charset="-122"/>
              </a:rPr>
              <a:t>外表面</a:t>
            </a:r>
            <a:r>
              <a:rPr lang="zh-CN" altLang="en-US" b="1" dirty="0">
                <a:solidFill>
                  <a:srgbClr val="FF0000"/>
                </a:solidFill>
                <a:latin typeface="方正粗黑宋简体" panose="02000000000000000000" pitchFamily="2" charset="-122"/>
                <a:ea typeface="方正粗黑宋简体" panose="02000000000000000000" pitchFamily="2" charset="-122"/>
              </a:rPr>
              <a:t>来构造模型</a:t>
            </a:r>
            <a:r>
              <a:rPr lang="zh-CN" altLang="en-US" dirty="0">
                <a:solidFill>
                  <a:schemeClr val="tx1"/>
                </a:solidFill>
                <a:latin typeface="楷体_GB2312" pitchFamily="1" charset="-122"/>
                <a:ea typeface="楷体_GB2312" pitchFamily="1" charset="-122"/>
              </a:rPr>
              <a:t>，就如同在线框模型上蒙上了一层外皮，使物体具有了一层外表。表面模型仍缺乏体积的概念，是一个物体的空壳。与线框模型相比，表面模型增加了一个</a:t>
            </a:r>
            <a:r>
              <a:rPr lang="zh-CN" altLang="en-US" b="1" dirty="0">
                <a:solidFill>
                  <a:srgbClr val="3333FF"/>
                </a:solidFill>
                <a:latin typeface="方正粗黑宋简体" panose="02000000000000000000" pitchFamily="2" charset="-122"/>
                <a:ea typeface="方正粗黑宋简体" panose="02000000000000000000" pitchFamily="2" charset="-122"/>
              </a:rPr>
              <a:t>面表</a:t>
            </a:r>
            <a:r>
              <a:rPr lang="zh-CN" altLang="en-US" dirty="0">
                <a:solidFill>
                  <a:schemeClr val="tx1"/>
                </a:solidFill>
                <a:latin typeface="楷体_GB2312" pitchFamily="1" charset="-122"/>
                <a:ea typeface="楷体_GB2312" pitchFamily="1" charset="-122"/>
              </a:rPr>
              <a:t>，用以</a:t>
            </a:r>
            <a:r>
              <a:rPr lang="zh-CN" altLang="en-US" b="1" dirty="0">
                <a:solidFill>
                  <a:srgbClr val="3333FF"/>
                </a:solidFill>
                <a:latin typeface="方正粗黑宋简体" panose="02000000000000000000" pitchFamily="2" charset="-122"/>
                <a:ea typeface="方正粗黑宋简体" panose="02000000000000000000" pitchFamily="2" charset="-122"/>
              </a:rPr>
              <a:t>记录边面之间的拓扑关系</a:t>
            </a:r>
            <a:r>
              <a:rPr lang="zh-CN" altLang="en-US" dirty="0">
                <a:solidFill>
                  <a:schemeClr val="tx1"/>
                </a:solidFill>
                <a:latin typeface="楷体_GB2312" pitchFamily="1" charset="-122"/>
                <a:ea typeface="楷体_GB2312" pitchFamily="1" charset="-122"/>
              </a:rPr>
              <a:t>。</a:t>
            </a:r>
          </a:p>
          <a:p>
            <a:pPr algn="l" eaLnBrk="1" hangingPunct="1">
              <a:lnSpc>
                <a:spcPct val="120000"/>
              </a:lnSpc>
              <a:spcBef>
                <a:spcPct val="0"/>
              </a:spcBef>
              <a:buClr>
                <a:srgbClr val="FF3399"/>
              </a:buClr>
              <a:buFont typeface="Wingdings" pitchFamily="2" charset="2"/>
              <a:buNone/>
            </a:pPr>
            <a:r>
              <a:rPr lang="zh-CN" altLang="en-US" b="1" dirty="0">
                <a:solidFill>
                  <a:srgbClr val="3333FF"/>
                </a:solidFill>
                <a:latin typeface="方正粗黑宋简体" panose="02000000000000000000" pitchFamily="2" charset="-122"/>
                <a:ea typeface="方正粗黑宋简体" panose="02000000000000000000" pitchFamily="2" charset="-122"/>
              </a:rPr>
              <a:t>优点</a:t>
            </a:r>
            <a:r>
              <a:rPr lang="zh-CN" altLang="en-US" dirty="0">
                <a:solidFill>
                  <a:schemeClr val="tx1"/>
                </a:solidFill>
                <a:latin typeface="楷体_GB2312" pitchFamily="1" charset="-122"/>
                <a:ea typeface="楷体_GB2312" pitchFamily="1" charset="-122"/>
              </a:rPr>
              <a:t>：可以对表面进行平面着色或光滑着色、可以为物体添加光照或纹理等。</a:t>
            </a:r>
          </a:p>
          <a:p>
            <a:pPr algn="l" eaLnBrk="1" hangingPunct="1">
              <a:lnSpc>
                <a:spcPct val="120000"/>
              </a:lnSpc>
              <a:spcBef>
                <a:spcPct val="0"/>
              </a:spcBef>
              <a:buClr>
                <a:srgbClr val="FF3399"/>
              </a:buClr>
              <a:buFont typeface="Wingdings" pitchFamily="2" charset="2"/>
              <a:buNone/>
            </a:pPr>
            <a:r>
              <a:rPr lang="zh-CN" altLang="en-US" b="1" dirty="0">
                <a:solidFill>
                  <a:srgbClr val="3333FF"/>
                </a:solidFill>
                <a:latin typeface="方正粗黑宋简体" panose="02000000000000000000" pitchFamily="2" charset="-122"/>
                <a:ea typeface="方正粗黑宋简体" panose="02000000000000000000" pitchFamily="2" charset="-122"/>
              </a:rPr>
              <a:t>缺点</a:t>
            </a:r>
            <a:r>
              <a:rPr lang="zh-CN" altLang="en-US" dirty="0">
                <a:solidFill>
                  <a:schemeClr val="tx1"/>
                </a:solidFill>
                <a:latin typeface="楷体_GB2312" pitchFamily="1" charset="-122"/>
                <a:ea typeface="楷体_GB2312" pitchFamily="1" charset="-122"/>
              </a:rPr>
              <a:t>：</a:t>
            </a:r>
            <a:r>
              <a:rPr lang="zh-CN" altLang="en-US" b="1" dirty="0">
                <a:solidFill>
                  <a:srgbClr val="FF0000"/>
                </a:solidFill>
                <a:latin typeface="方正粗黑宋简体" panose="02000000000000000000" pitchFamily="2" charset="-122"/>
                <a:ea typeface="方正粗黑宋简体" panose="02000000000000000000" pitchFamily="2" charset="-122"/>
              </a:rPr>
              <a:t>无法进行实体之间的并交叉运算</a:t>
            </a:r>
            <a:r>
              <a:rPr lang="zh-CN" altLang="en-US" dirty="0">
                <a:solidFill>
                  <a:schemeClr val="tx1"/>
                </a:solidFill>
                <a:latin typeface="楷体_GB2312" pitchFamily="1" charset="-122"/>
                <a:ea typeface="楷体_GB2312" pitchFamily="1" charset="-122"/>
              </a:rPr>
              <a:t>。图</a:t>
            </a:r>
            <a:r>
              <a:rPr lang="en-US" altLang="zh-CN" dirty="0">
                <a:solidFill>
                  <a:schemeClr val="tx1"/>
                </a:solidFill>
                <a:latin typeface="楷体_GB2312" pitchFamily="1" charset="-122"/>
                <a:ea typeface="楷体_GB2312" pitchFamily="1" charset="-122"/>
              </a:rPr>
              <a:t>9-7</a:t>
            </a:r>
            <a:r>
              <a:rPr lang="zh-CN" altLang="en-US" dirty="0">
                <a:solidFill>
                  <a:schemeClr val="tx1"/>
                </a:solidFill>
                <a:latin typeface="楷体_GB2312" pitchFamily="1" charset="-122"/>
                <a:ea typeface="楷体_GB2312" pitchFamily="1" charset="-122"/>
              </a:rPr>
              <a:t>表示的是双三次</a:t>
            </a:r>
            <a:r>
              <a:rPr lang="en-US" altLang="zh-CN" dirty="0">
                <a:solidFill>
                  <a:schemeClr val="tx1"/>
                </a:solidFill>
                <a:latin typeface="楷体_GB2312" pitchFamily="1" charset="-122"/>
                <a:ea typeface="楷体_GB2312" pitchFamily="1" charset="-122"/>
              </a:rPr>
              <a:t>Bezier</a:t>
            </a:r>
            <a:r>
              <a:rPr lang="zh-CN" altLang="en-US" dirty="0">
                <a:solidFill>
                  <a:schemeClr val="tx1"/>
                </a:solidFill>
                <a:latin typeface="楷体_GB2312" pitchFamily="1" charset="-122"/>
                <a:ea typeface="楷体_GB2312" pitchFamily="1" charset="-122"/>
              </a:rPr>
              <a:t>曲面的网格模型。图</a:t>
            </a:r>
            <a:r>
              <a:rPr lang="en-US" altLang="zh-CN" dirty="0">
                <a:solidFill>
                  <a:schemeClr val="tx1"/>
                </a:solidFill>
                <a:latin typeface="楷体_GB2312" pitchFamily="1" charset="-122"/>
                <a:ea typeface="楷体_GB2312" pitchFamily="1" charset="-122"/>
              </a:rPr>
              <a:t>9-8</a:t>
            </a:r>
            <a:r>
              <a:rPr lang="zh-CN" altLang="en-US" dirty="0">
                <a:solidFill>
                  <a:schemeClr val="tx1"/>
                </a:solidFill>
                <a:latin typeface="楷体_GB2312" pitchFamily="1" charset="-122"/>
                <a:ea typeface="楷体_GB2312" pitchFamily="1" charset="-122"/>
              </a:rPr>
              <a:t>表示的是双三次</a:t>
            </a:r>
            <a:r>
              <a:rPr lang="en-US" altLang="zh-CN" dirty="0">
                <a:solidFill>
                  <a:schemeClr val="tx1"/>
                </a:solidFill>
                <a:latin typeface="楷体_GB2312" pitchFamily="1" charset="-122"/>
                <a:ea typeface="楷体_GB2312" pitchFamily="1" charset="-122"/>
              </a:rPr>
              <a:t>Bezier</a:t>
            </a:r>
            <a:r>
              <a:rPr lang="zh-CN" altLang="en-US" dirty="0">
                <a:solidFill>
                  <a:schemeClr val="tx1"/>
                </a:solidFill>
                <a:latin typeface="楷体_GB2312" pitchFamily="1" charset="-122"/>
                <a:ea typeface="楷体_GB2312" pitchFamily="1" charset="-122"/>
              </a:rPr>
              <a:t>曲面的表面模型。在图</a:t>
            </a:r>
            <a:r>
              <a:rPr lang="en-US" altLang="zh-CN" dirty="0">
                <a:solidFill>
                  <a:schemeClr val="tx1"/>
                </a:solidFill>
                <a:latin typeface="楷体_GB2312" pitchFamily="1" charset="-122"/>
                <a:ea typeface="楷体_GB2312" pitchFamily="1" charset="-122"/>
              </a:rPr>
              <a:t>9-8</a:t>
            </a:r>
            <a:r>
              <a:rPr lang="zh-CN" altLang="en-US" dirty="0">
                <a:solidFill>
                  <a:schemeClr val="tx1"/>
                </a:solidFill>
                <a:latin typeface="楷体_GB2312" pitchFamily="1" charset="-122"/>
                <a:ea typeface="楷体_GB2312" pitchFamily="1" charset="-122"/>
              </a:rPr>
              <a:t>中，</a:t>
            </a:r>
            <a:r>
              <a:rPr lang="en-US" altLang="zh-CN" dirty="0">
                <a:solidFill>
                  <a:schemeClr val="tx1"/>
                </a:solidFill>
                <a:latin typeface="楷体_GB2312" pitchFamily="1" charset="-122"/>
                <a:ea typeface="楷体_GB2312" pitchFamily="1" charset="-122"/>
              </a:rPr>
              <a:t>Bezier</a:t>
            </a:r>
            <a:r>
              <a:rPr lang="zh-CN" altLang="en-US" dirty="0">
                <a:solidFill>
                  <a:schemeClr val="tx1"/>
                </a:solidFill>
                <a:latin typeface="楷体_GB2312" pitchFamily="1" charset="-122"/>
                <a:ea typeface="楷体_GB2312" pitchFamily="1" charset="-122"/>
              </a:rPr>
              <a:t>曲面没有围成一个封闭的空间，只是一张很薄的面片，其</a:t>
            </a:r>
            <a:r>
              <a:rPr lang="zh-CN" altLang="en-US" b="1" dirty="0">
                <a:solidFill>
                  <a:srgbClr val="3333FF"/>
                </a:solidFill>
                <a:latin typeface="方正粗黑宋简体" panose="02000000000000000000" pitchFamily="2" charset="-122"/>
                <a:ea typeface="方正粗黑宋简体" panose="02000000000000000000" pitchFamily="2" charset="-122"/>
              </a:rPr>
              <a:t>表面无内外之分</a:t>
            </a:r>
            <a:r>
              <a:rPr lang="zh-CN" altLang="en-US" dirty="0">
                <a:solidFill>
                  <a:schemeClr val="tx1"/>
                </a:solidFill>
                <a:latin typeface="楷体_GB2312" pitchFamily="1" charset="-122"/>
                <a:ea typeface="楷体_GB2312" pitchFamily="1" charset="-122"/>
              </a:rPr>
              <a:t>，哪面是正面、哪面是反面，</a:t>
            </a:r>
            <a:r>
              <a:rPr lang="zh-CN" altLang="en-US" b="1" dirty="0">
                <a:solidFill>
                  <a:srgbClr val="3333FF"/>
                </a:solidFill>
                <a:latin typeface="方正粗黑宋简体" panose="02000000000000000000" pitchFamily="2" charset="-122"/>
                <a:ea typeface="方正粗黑宋简体" panose="02000000000000000000" pitchFamily="2" charset="-122"/>
              </a:rPr>
              <a:t>没有给出明确的定义</a:t>
            </a:r>
            <a:r>
              <a:rPr lang="zh-CN" altLang="en-US" dirty="0">
                <a:solidFill>
                  <a:schemeClr val="tx1"/>
                </a:solidFill>
                <a:latin typeface="楷体_GB2312" pitchFamily="1" charset="-122"/>
                <a:ea typeface="楷体_GB2312" pitchFamily="1" charset="-122"/>
              </a:rPr>
              <a:t>。</a:t>
            </a:r>
          </a:p>
        </p:txBody>
      </p:sp>
      <p:sp>
        <p:nvSpPr>
          <p:cNvPr id="17412" name="Rectangle 5"/>
          <p:cNvSpPr>
            <a:spLocks noChangeArrowheads="1"/>
          </p:cNvSpPr>
          <p:nvPr/>
        </p:nvSpPr>
        <p:spPr bwMode="auto">
          <a:xfrm>
            <a:off x="657225" y="414338"/>
            <a:ext cx="1866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buClr>
                <a:schemeClr val="tx1"/>
              </a:buClr>
              <a:buFont typeface="Arial" pitchFamily="34" charset="0"/>
              <a:buAutoNum type="arabicPeriod" startAt="2"/>
            </a:pPr>
            <a:r>
              <a:rPr lang="zh-CN" altLang="en-US" b="1">
                <a:solidFill>
                  <a:schemeClr val="tx1"/>
                </a:solidFill>
                <a:ea typeface="楷体_GB2312" pitchFamily="1" charset="-122"/>
              </a:rPr>
              <a:t>表面模型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AED20A23-BA0A-423E-A56E-B8705288EB6F}" type="slidenum">
              <a:rPr lang="en-US" altLang="zh-CN" sz="1200">
                <a:solidFill>
                  <a:schemeClr val="tx1"/>
                </a:solidFill>
                <a:latin typeface="Garamond" pitchFamily="18" charset="0"/>
              </a:rPr>
              <a:pPr algn="r" eaLnBrk="1" hangingPunct="1">
                <a:spcBef>
                  <a:spcPct val="0"/>
                </a:spcBef>
              </a:pPr>
              <a:t>15</a:t>
            </a:fld>
            <a:endParaRPr lang="en-US" altLang="zh-CN" sz="1200">
              <a:solidFill>
                <a:schemeClr val="tx1"/>
              </a:solidFill>
              <a:latin typeface="Garamond" pitchFamily="18" charset="0"/>
            </a:endParaRPr>
          </a:p>
        </p:txBody>
      </p:sp>
      <p:pic>
        <p:nvPicPr>
          <p:cNvPr id="1843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613" y="2033588"/>
            <a:ext cx="3465512" cy="223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Text Box 6"/>
          <p:cNvSpPr txBox="1">
            <a:spLocks noChangeArrowheads="1"/>
          </p:cNvSpPr>
          <p:nvPr/>
        </p:nvSpPr>
        <p:spPr bwMode="auto">
          <a:xfrm>
            <a:off x="836613" y="5543550"/>
            <a:ext cx="3690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9-7 </a:t>
            </a:r>
            <a:r>
              <a:rPr lang="zh-CN" altLang="en-US" sz="2000">
                <a:solidFill>
                  <a:schemeClr val="tx1"/>
                </a:solidFill>
                <a:latin typeface="楷体_GB2312" pitchFamily="1" charset="-122"/>
                <a:ea typeface="楷体_GB2312" pitchFamily="1" charset="-122"/>
              </a:rPr>
              <a:t>双三次</a:t>
            </a:r>
            <a:r>
              <a:rPr lang="en-US" altLang="zh-CN" sz="2000">
                <a:solidFill>
                  <a:schemeClr val="tx1"/>
                </a:solidFill>
                <a:latin typeface="楷体_GB2312" pitchFamily="1" charset="-122"/>
                <a:ea typeface="楷体_GB2312" pitchFamily="1" charset="-122"/>
              </a:rPr>
              <a:t>Bezier</a:t>
            </a:r>
            <a:r>
              <a:rPr lang="zh-CN" altLang="en-US" sz="2000">
                <a:solidFill>
                  <a:schemeClr val="tx1"/>
                </a:solidFill>
                <a:latin typeface="楷体_GB2312" pitchFamily="1" charset="-122"/>
                <a:ea typeface="楷体_GB2312" pitchFamily="1" charset="-122"/>
              </a:rPr>
              <a:t>线框模型 </a:t>
            </a:r>
          </a:p>
        </p:txBody>
      </p:sp>
      <p:sp>
        <p:nvSpPr>
          <p:cNvPr id="18437" name="Text Box 7"/>
          <p:cNvSpPr txBox="1">
            <a:spLocks noChangeArrowheads="1"/>
          </p:cNvSpPr>
          <p:nvPr/>
        </p:nvSpPr>
        <p:spPr bwMode="auto">
          <a:xfrm>
            <a:off x="5067300" y="5499100"/>
            <a:ext cx="36464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sz="2000">
                <a:solidFill>
                  <a:schemeClr val="tx1"/>
                </a:solidFill>
                <a:latin typeface="楷体_GB2312" pitchFamily="1" charset="-122"/>
                <a:ea typeface="楷体_GB2312" pitchFamily="1" charset="-122"/>
              </a:rPr>
              <a:t> 图</a:t>
            </a:r>
            <a:r>
              <a:rPr lang="en-US" altLang="zh-CN" sz="2000">
                <a:solidFill>
                  <a:schemeClr val="tx1"/>
                </a:solidFill>
                <a:latin typeface="楷体_GB2312" pitchFamily="1" charset="-122"/>
                <a:ea typeface="楷体_GB2312" pitchFamily="1" charset="-122"/>
              </a:rPr>
              <a:t>9-8</a:t>
            </a:r>
            <a:r>
              <a:rPr lang="zh-CN" altLang="en-US" sz="2000">
                <a:solidFill>
                  <a:schemeClr val="tx1"/>
                </a:solidFill>
                <a:latin typeface="楷体_GB2312" pitchFamily="1" charset="-122"/>
                <a:ea typeface="楷体_GB2312" pitchFamily="1" charset="-122"/>
              </a:rPr>
              <a:t>双三次</a:t>
            </a:r>
            <a:r>
              <a:rPr lang="en-US" altLang="zh-CN" sz="2000">
                <a:solidFill>
                  <a:schemeClr val="tx1"/>
                </a:solidFill>
                <a:latin typeface="楷体_GB2312" pitchFamily="1" charset="-122"/>
                <a:ea typeface="楷体_GB2312" pitchFamily="1" charset="-122"/>
              </a:rPr>
              <a:t>Bezier</a:t>
            </a:r>
            <a:r>
              <a:rPr lang="zh-CN" altLang="en-US" sz="2000">
                <a:solidFill>
                  <a:schemeClr val="tx1"/>
                </a:solidFill>
                <a:latin typeface="楷体_GB2312" pitchFamily="1" charset="-122"/>
                <a:ea typeface="楷体_GB2312" pitchFamily="1" charset="-122"/>
              </a:rPr>
              <a:t>表面模型 </a:t>
            </a:r>
          </a:p>
        </p:txBody>
      </p:sp>
      <p:pic>
        <p:nvPicPr>
          <p:cNvPr id="1843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7425" y="1628775"/>
            <a:ext cx="3870325"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660B35CF-CB32-4B5C-AB31-B5C3A4FA29C8}" type="slidenum">
              <a:rPr lang="en-US" altLang="zh-CN" sz="1200">
                <a:solidFill>
                  <a:schemeClr val="tx1"/>
                </a:solidFill>
                <a:latin typeface="Garamond" pitchFamily="18" charset="0"/>
              </a:rPr>
              <a:pPr algn="r" eaLnBrk="1" hangingPunct="1">
                <a:spcBef>
                  <a:spcPct val="0"/>
                </a:spcBef>
              </a:pPr>
              <a:t>16</a:t>
            </a:fld>
            <a:endParaRPr lang="en-US" altLang="zh-CN" sz="1200">
              <a:solidFill>
                <a:schemeClr val="tx1"/>
              </a:solidFill>
              <a:latin typeface="Garamond" pitchFamily="18" charset="0"/>
            </a:endParaRPr>
          </a:p>
        </p:txBody>
      </p:sp>
      <p:sp>
        <p:nvSpPr>
          <p:cNvPr id="19459" name="Text Box 4"/>
          <p:cNvSpPr txBox="1">
            <a:spLocks noChangeArrowheads="1"/>
          </p:cNvSpPr>
          <p:nvPr/>
        </p:nvSpPr>
        <p:spPr bwMode="auto">
          <a:xfrm>
            <a:off x="385763" y="863600"/>
            <a:ext cx="8326437" cy="558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50000"/>
              </a:lnSpc>
              <a:spcBef>
                <a:spcPct val="0"/>
              </a:spcBef>
            </a:pPr>
            <a:r>
              <a:rPr lang="zh-CN" altLang="en-US" dirty="0">
                <a:solidFill>
                  <a:schemeClr val="tx1"/>
                </a:solidFill>
                <a:latin typeface="楷体_GB2312" pitchFamily="1" charset="-122"/>
                <a:ea typeface="楷体_GB2312" pitchFamily="1" charset="-122"/>
              </a:rPr>
              <a:t>    </a:t>
            </a:r>
            <a:r>
              <a:rPr lang="zh-CN" altLang="en-US" b="1" dirty="0">
                <a:solidFill>
                  <a:srgbClr val="3333FF"/>
                </a:solidFill>
                <a:latin typeface="方正粗黑宋简体" panose="02000000000000000000" pitchFamily="2" charset="-122"/>
                <a:ea typeface="方正粗黑宋简体" panose="02000000000000000000" pitchFamily="2" charset="-122"/>
              </a:rPr>
              <a:t>实体模型</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solid model)</a:t>
            </a:r>
            <a:r>
              <a:rPr lang="zh-CN" altLang="en-US" dirty="0">
                <a:solidFill>
                  <a:schemeClr val="tx1"/>
                </a:solidFill>
                <a:latin typeface="楷体_GB2312" pitchFamily="1" charset="-122"/>
                <a:ea typeface="楷体_GB2312" pitchFamily="1" charset="-122"/>
              </a:rPr>
              <a:t>是在封闭的表面模型内部进行了</a:t>
            </a:r>
            <a:r>
              <a:rPr lang="zh-CN" altLang="en-US" b="1" dirty="0">
                <a:solidFill>
                  <a:srgbClr val="3333FF"/>
                </a:solidFill>
                <a:latin typeface="方正粗黑宋简体" panose="02000000000000000000" pitchFamily="2" charset="-122"/>
                <a:ea typeface="方正粗黑宋简体" panose="02000000000000000000" pitchFamily="2" charset="-122"/>
              </a:rPr>
              <a:t>填充</a:t>
            </a:r>
            <a:r>
              <a:rPr lang="zh-CN" altLang="en-US" dirty="0">
                <a:solidFill>
                  <a:schemeClr val="tx1"/>
                </a:solidFill>
                <a:latin typeface="楷体_GB2312" pitchFamily="1" charset="-122"/>
                <a:ea typeface="楷体_GB2312" pitchFamily="1" charset="-122"/>
              </a:rPr>
              <a:t>，有了如</a:t>
            </a:r>
            <a:r>
              <a:rPr lang="zh-CN" altLang="en-US" b="1" dirty="0">
                <a:solidFill>
                  <a:srgbClr val="3333FF"/>
                </a:solidFill>
                <a:latin typeface="方正粗黑宋简体" panose="02000000000000000000" pitchFamily="2" charset="-122"/>
                <a:ea typeface="方正粗黑宋简体" panose="02000000000000000000" pitchFamily="2" charset="-122"/>
              </a:rPr>
              <a:t>体积和重量</a:t>
            </a:r>
            <a:r>
              <a:rPr lang="zh-CN" altLang="en-US" dirty="0">
                <a:solidFill>
                  <a:schemeClr val="tx1"/>
                </a:solidFill>
                <a:latin typeface="楷体_GB2312" pitchFamily="1" charset="-122"/>
                <a:ea typeface="楷体_GB2312" pitchFamily="1" charset="-122"/>
              </a:rPr>
              <a:t>等特性，</a:t>
            </a:r>
            <a:r>
              <a:rPr lang="zh-CN" altLang="en-US" b="1" dirty="0">
                <a:solidFill>
                  <a:srgbClr val="3333FF"/>
                </a:solidFill>
                <a:latin typeface="方正粗黑宋简体" panose="02000000000000000000" pitchFamily="2" charset="-122"/>
                <a:ea typeface="方正粗黑宋简体" panose="02000000000000000000" pitchFamily="2" charset="-122"/>
              </a:rPr>
              <a:t>能反映立体的真实性</a:t>
            </a:r>
            <a:r>
              <a:rPr lang="zh-CN" altLang="en-US" dirty="0">
                <a:solidFill>
                  <a:schemeClr val="tx1"/>
                </a:solidFill>
                <a:latin typeface="楷体_GB2312" pitchFamily="1" charset="-122"/>
                <a:ea typeface="楷体_GB2312" pitchFamily="1" charset="-122"/>
              </a:rPr>
              <a:t>，立体才具有</a:t>
            </a:r>
            <a:r>
              <a:rPr lang="zh-CN" altLang="en-US" dirty="0">
                <a:solidFill>
                  <a:schemeClr val="tx1"/>
                </a:solidFill>
                <a:latin typeface="Adobe 楷体 Std R" pitchFamily="2" charset="-122"/>
                <a:ea typeface="楷体_GB2312" pitchFamily="1" charset="-122"/>
              </a:rPr>
              <a:t>“</a:t>
            </a:r>
            <a:r>
              <a:rPr lang="zh-CN" altLang="en-US" dirty="0">
                <a:solidFill>
                  <a:schemeClr val="tx1"/>
                </a:solidFill>
                <a:latin typeface="楷体_GB2312" pitchFamily="1" charset="-122"/>
                <a:ea typeface="楷体_GB2312" pitchFamily="1" charset="-122"/>
              </a:rPr>
              <a:t>体</a:t>
            </a:r>
            <a:r>
              <a:rPr lang="zh-CN" altLang="en-US" dirty="0">
                <a:solidFill>
                  <a:schemeClr val="tx1"/>
                </a:solidFill>
                <a:latin typeface="Adobe 楷体 Std R" pitchFamily="2" charset="-122"/>
                <a:ea typeface="楷体_GB2312" pitchFamily="1" charset="-122"/>
              </a:rPr>
              <a:t>”</a:t>
            </a:r>
            <a:r>
              <a:rPr lang="zh-CN" altLang="en-US" dirty="0">
                <a:solidFill>
                  <a:schemeClr val="tx1"/>
                </a:solidFill>
                <a:latin typeface="楷体_GB2312" pitchFamily="1" charset="-122"/>
                <a:ea typeface="楷体_GB2312" pitchFamily="1" charset="-122"/>
              </a:rPr>
              <a:t>的概念。它的</a:t>
            </a:r>
            <a:r>
              <a:rPr lang="zh-CN" altLang="en-US" b="1" dirty="0">
                <a:solidFill>
                  <a:srgbClr val="FF0000"/>
                </a:solidFill>
                <a:latin typeface="方正粗黑宋简体" panose="02000000000000000000" pitchFamily="2" charset="-122"/>
                <a:ea typeface="方正粗黑宋简体" panose="02000000000000000000" pitchFamily="2" charset="-122"/>
              </a:rPr>
              <a:t>内部和外部</a:t>
            </a:r>
            <a:r>
              <a:rPr lang="zh-CN" altLang="en-US" b="1" dirty="0">
                <a:solidFill>
                  <a:srgbClr val="3333FF"/>
                </a:solidFill>
                <a:latin typeface="方正粗黑宋简体" panose="02000000000000000000" pitchFamily="2" charset="-122"/>
                <a:ea typeface="方正粗黑宋简体" panose="02000000000000000000" pitchFamily="2" charset="-122"/>
              </a:rPr>
              <a:t>的概念</a:t>
            </a:r>
            <a:r>
              <a:rPr lang="zh-CN" altLang="en-US" dirty="0">
                <a:solidFill>
                  <a:schemeClr val="tx1"/>
                </a:solidFill>
                <a:latin typeface="楷体_GB2312" pitchFamily="1" charset="-122"/>
                <a:ea typeface="楷体_GB2312" pitchFamily="1" charset="-122"/>
              </a:rPr>
              <a:t>，定义了在表面模型的哪一侧存在实体。它的</a:t>
            </a:r>
            <a:r>
              <a:rPr lang="zh-CN" altLang="en-US" b="1" dirty="0">
                <a:solidFill>
                  <a:srgbClr val="3333FF"/>
                </a:solidFill>
                <a:latin typeface="方正粗黑宋简体" panose="02000000000000000000" pitchFamily="2" charset="-122"/>
                <a:ea typeface="方正粗黑宋简体" panose="02000000000000000000" pitchFamily="2" charset="-122"/>
              </a:rPr>
              <a:t>表面有</a:t>
            </a:r>
            <a:r>
              <a:rPr lang="zh-CN" altLang="en-US" b="1" dirty="0">
                <a:solidFill>
                  <a:srgbClr val="FF0000"/>
                </a:solidFill>
                <a:latin typeface="方正粗黑宋简体" panose="02000000000000000000" pitchFamily="2" charset="-122"/>
                <a:ea typeface="方正粗黑宋简体" panose="02000000000000000000" pitchFamily="2" charset="-122"/>
              </a:rPr>
              <a:t>正面和反面</a:t>
            </a:r>
            <a:r>
              <a:rPr lang="zh-CN" altLang="en-US" dirty="0">
                <a:solidFill>
                  <a:schemeClr val="tx1"/>
                </a:solidFill>
                <a:latin typeface="楷体_GB2312" pitchFamily="1" charset="-122"/>
                <a:ea typeface="楷体_GB2312" pitchFamily="1" charset="-122"/>
              </a:rPr>
              <a:t>之分。如图</a:t>
            </a:r>
            <a:r>
              <a:rPr lang="en-US" altLang="zh-CN" dirty="0">
                <a:solidFill>
                  <a:schemeClr val="tx1"/>
                </a:solidFill>
                <a:latin typeface="楷体_GB2312" pitchFamily="1" charset="-122"/>
                <a:ea typeface="楷体_GB2312" pitchFamily="1" charset="-122"/>
              </a:rPr>
              <a:t>9-9</a:t>
            </a:r>
            <a:r>
              <a:rPr lang="zh-CN" altLang="en-US" dirty="0">
                <a:solidFill>
                  <a:schemeClr val="tx1"/>
                </a:solidFill>
                <a:latin typeface="楷体_GB2312" pitchFamily="1" charset="-122"/>
                <a:ea typeface="楷体_GB2312" pitchFamily="1" charset="-122"/>
              </a:rPr>
              <a:t>所示。</a:t>
            </a:r>
          </a:p>
          <a:p>
            <a:pPr algn="l" eaLnBrk="1" hangingPunct="1">
              <a:lnSpc>
                <a:spcPct val="150000"/>
              </a:lnSpc>
              <a:spcBef>
                <a:spcPct val="0"/>
              </a:spcBef>
              <a:buClr>
                <a:srgbClr val="FF3399"/>
              </a:buClr>
              <a:buFont typeface="Wingdings" pitchFamily="2" charset="2"/>
              <a:buNone/>
            </a:pPr>
            <a:r>
              <a:rPr lang="zh-CN" altLang="en-US" dirty="0">
                <a:solidFill>
                  <a:schemeClr val="tx1"/>
                </a:solidFill>
                <a:latin typeface="楷体_GB2312" pitchFamily="1" charset="-122"/>
                <a:ea typeface="楷体_GB2312" pitchFamily="1" charset="-122"/>
              </a:rPr>
              <a:t>    用有向棱边隐含地表示表面的</a:t>
            </a:r>
            <a:r>
              <a:rPr lang="zh-CN" altLang="en-US" b="1" dirty="0">
                <a:solidFill>
                  <a:srgbClr val="FF0000"/>
                </a:solidFill>
                <a:latin typeface="方正粗黑宋简体" panose="02000000000000000000" pitchFamily="2" charset="-122"/>
                <a:ea typeface="方正粗黑宋简体" panose="02000000000000000000" pitchFamily="2" charset="-122"/>
              </a:rPr>
              <a:t>外法向量方向</a:t>
            </a:r>
            <a:r>
              <a:rPr lang="zh-CN" altLang="en-US" dirty="0">
                <a:solidFill>
                  <a:schemeClr val="tx1"/>
                </a:solidFill>
                <a:latin typeface="楷体_GB2312" pitchFamily="1" charset="-122"/>
                <a:ea typeface="楷体_GB2312" pitchFamily="1" charset="-122"/>
              </a:rPr>
              <a:t>。常用右手准则定义，</a:t>
            </a:r>
            <a:r>
              <a:rPr lang="zh-CN" altLang="en-US" b="1" dirty="0">
                <a:solidFill>
                  <a:srgbClr val="FF0000"/>
                </a:solidFill>
                <a:latin typeface="方正粗黑宋简体" panose="02000000000000000000" pitchFamily="2" charset="-122"/>
                <a:ea typeface="方正粗黑宋简体" panose="02000000000000000000" pitchFamily="2" charset="-122"/>
              </a:rPr>
              <a:t>拓扑合法的物体在相邻两个面的公共边界上，棱边的方向正好相反</a:t>
            </a:r>
            <a:r>
              <a:rPr lang="zh-CN" altLang="en-US" dirty="0">
                <a:solidFill>
                  <a:schemeClr val="tx1"/>
                </a:solidFill>
                <a:latin typeface="楷体_GB2312" pitchFamily="1" charset="-122"/>
                <a:ea typeface="楷体_GB2312" pitchFamily="1" charset="-122"/>
              </a:rPr>
              <a:t>，如图</a:t>
            </a:r>
            <a:r>
              <a:rPr lang="fr-FR" altLang="en-US" dirty="0">
                <a:solidFill>
                  <a:schemeClr val="tx1"/>
                </a:solidFill>
                <a:latin typeface="楷体_GB2312" pitchFamily="1" charset="-122"/>
                <a:ea typeface="楷体_GB2312" pitchFamily="1" charset="-122"/>
              </a:rPr>
              <a:t>9-10</a:t>
            </a:r>
            <a:r>
              <a:rPr lang="zh-CN" altLang="en-US" dirty="0">
                <a:solidFill>
                  <a:schemeClr val="tx1"/>
                </a:solidFill>
                <a:latin typeface="楷体_GB2312" pitchFamily="1" charset="-122"/>
                <a:ea typeface="楷体_GB2312" pitchFamily="1" charset="-122"/>
              </a:rPr>
              <a:t>所示</a:t>
            </a:r>
            <a:r>
              <a:rPr lang="zh-CN" altLang="en-US" dirty="0" smtClean="0">
                <a:solidFill>
                  <a:schemeClr val="tx1"/>
                </a:solidFill>
                <a:latin typeface="楷体_GB2312" pitchFamily="1" charset="-122"/>
                <a:ea typeface="楷体_GB2312" pitchFamily="1" charset="-122"/>
              </a:rPr>
              <a:t>。</a:t>
            </a:r>
            <a:endParaRPr lang="zh-CN" altLang="en-US" dirty="0">
              <a:solidFill>
                <a:schemeClr val="tx1"/>
              </a:solidFill>
              <a:latin typeface="楷体_GB2312" pitchFamily="1" charset="-122"/>
              <a:ea typeface="楷体_GB2312" pitchFamily="1" charset="-122"/>
            </a:endParaRPr>
          </a:p>
        </p:txBody>
      </p:sp>
      <p:sp>
        <p:nvSpPr>
          <p:cNvPr id="19460" name="Rectangle 5"/>
          <p:cNvSpPr>
            <a:spLocks noChangeArrowheads="1"/>
          </p:cNvSpPr>
          <p:nvPr/>
        </p:nvSpPr>
        <p:spPr bwMode="auto">
          <a:xfrm>
            <a:off x="657225" y="233363"/>
            <a:ext cx="1717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b="1">
                <a:solidFill>
                  <a:schemeClr val="tx1"/>
                </a:solidFill>
                <a:latin typeface="楷体_GB2312" pitchFamily="1" charset="-122"/>
                <a:ea typeface="楷体_GB2312" pitchFamily="1" charset="-122"/>
              </a:rPr>
              <a:t>3.</a:t>
            </a:r>
            <a:r>
              <a:rPr lang="zh-CN" altLang="en-US" b="1">
                <a:solidFill>
                  <a:schemeClr val="tx1"/>
                </a:solidFill>
                <a:latin typeface="楷体_GB2312" pitchFamily="1" charset="-122"/>
                <a:ea typeface="楷体_GB2312" pitchFamily="1" charset="-122"/>
              </a:rPr>
              <a:t>实体模型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660B35CF-CB32-4B5C-AB31-B5C3A4FA29C8}" type="slidenum">
              <a:rPr lang="en-US" altLang="zh-CN" sz="1200">
                <a:solidFill>
                  <a:schemeClr val="tx1"/>
                </a:solidFill>
                <a:latin typeface="Garamond" pitchFamily="18" charset="0"/>
              </a:rPr>
              <a:pPr algn="r" eaLnBrk="1" hangingPunct="1">
                <a:spcBef>
                  <a:spcPct val="0"/>
                </a:spcBef>
              </a:pPr>
              <a:t>17</a:t>
            </a:fld>
            <a:endParaRPr lang="en-US" altLang="zh-CN" sz="1200">
              <a:solidFill>
                <a:schemeClr val="tx1"/>
              </a:solidFill>
              <a:latin typeface="Garamond" pitchFamily="18" charset="0"/>
            </a:endParaRPr>
          </a:p>
        </p:txBody>
      </p:sp>
      <p:sp>
        <p:nvSpPr>
          <p:cNvPr id="19459" name="Text Box 4"/>
          <p:cNvSpPr txBox="1">
            <a:spLocks noChangeArrowheads="1"/>
          </p:cNvSpPr>
          <p:nvPr/>
        </p:nvSpPr>
        <p:spPr bwMode="auto">
          <a:xfrm>
            <a:off x="385763" y="863600"/>
            <a:ext cx="8326437" cy="558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50000"/>
              </a:lnSpc>
              <a:spcBef>
                <a:spcPct val="0"/>
              </a:spcBef>
            </a:pPr>
            <a:r>
              <a:rPr lang="zh-CN" altLang="en-US" dirty="0" smtClean="0">
                <a:solidFill>
                  <a:schemeClr val="tx1"/>
                </a:solidFill>
                <a:latin typeface="楷体_GB2312" pitchFamily="1" charset="-122"/>
                <a:ea typeface="楷体_GB2312" pitchFamily="1" charset="-122"/>
              </a:rPr>
              <a:t>与</a:t>
            </a:r>
            <a:r>
              <a:rPr lang="zh-CN" altLang="en-US" dirty="0">
                <a:solidFill>
                  <a:schemeClr val="tx1"/>
                </a:solidFill>
                <a:latin typeface="楷体_GB2312" pitchFamily="1" charset="-122"/>
                <a:ea typeface="楷体_GB2312" pitchFamily="1" charset="-122"/>
              </a:rPr>
              <a:t>表面模型数据结构的差异。将面表的顶点索引号按照从</a:t>
            </a:r>
            <a:r>
              <a:rPr lang="zh-CN" altLang="en-US" b="1" dirty="0">
                <a:solidFill>
                  <a:srgbClr val="FF0000"/>
                </a:solidFill>
                <a:latin typeface="方正粗黑宋简体" panose="02000000000000000000" pitchFamily="2" charset="-122"/>
                <a:ea typeface="方正粗黑宋简体" panose="02000000000000000000" pitchFamily="2" charset="-122"/>
              </a:rPr>
              <a:t>物体外部观察的逆时针方向的顺序排列</a:t>
            </a:r>
            <a:r>
              <a:rPr lang="zh-CN" altLang="en-US" dirty="0">
                <a:solidFill>
                  <a:schemeClr val="tx1"/>
                </a:solidFill>
                <a:latin typeface="楷体_GB2312" pitchFamily="1" charset="-122"/>
                <a:ea typeface="楷体_GB2312" pitchFamily="1" charset="-122"/>
              </a:rPr>
              <a:t>，可</a:t>
            </a:r>
            <a:r>
              <a:rPr lang="zh-CN" altLang="en-US" b="1" dirty="0">
                <a:solidFill>
                  <a:srgbClr val="3333FF"/>
                </a:solidFill>
                <a:latin typeface="方正粗黑宋简体" panose="02000000000000000000" pitchFamily="2" charset="-122"/>
                <a:ea typeface="方正粗黑宋简体" panose="02000000000000000000" pitchFamily="2" charset="-122"/>
              </a:rPr>
              <a:t>确切地分清体内体外。</a:t>
            </a:r>
          </a:p>
          <a:p>
            <a:pPr algn="l" eaLnBrk="1" hangingPunct="1">
              <a:lnSpc>
                <a:spcPct val="150000"/>
              </a:lnSpc>
              <a:spcBef>
                <a:spcPct val="0"/>
              </a:spcBef>
              <a:buClr>
                <a:srgbClr val="FF3399"/>
              </a:buClr>
              <a:buFont typeface="Wingdings" pitchFamily="2" charset="2"/>
              <a:buNone/>
            </a:pPr>
            <a:r>
              <a:rPr lang="zh-CN" altLang="en-US" dirty="0">
                <a:solidFill>
                  <a:schemeClr val="tx1"/>
                </a:solidFill>
                <a:latin typeface="楷体_GB2312" pitchFamily="1" charset="-122"/>
                <a:ea typeface="楷体_GB2312" pitchFamily="1" charset="-122"/>
              </a:rPr>
              <a:t>   与线框模型、表面模型的区别。记录了顶点的信息，以及线、面、体的拓扑信息。</a:t>
            </a:r>
          </a:p>
          <a:p>
            <a:pPr algn="l" eaLnBrk="1" hangingPunct="1">
              <a:lnSpc>
                <a:spcPct val="150000"/>
              </a:lnSpc>
              <a:spcBef>
                <a:spcPct val="0"/>
              </a:spcBef>
              <a:buClr>
                <a:srgbClr val="FF3399"/>
              </a:buClr>
              <a:buFont typeface="Wingdings" pitchFamily="2" charset="2"/>
              <a:buNone/>
            </a:pPr>
            <a:r>
              <a:rPr lang="zh-CN" altLang="en-US" dirty="0">
                <a:solidFill>
                  <a:schemeClr val="tx1"/>
                </a:solidFill>
                <a:latin typeface="楷体_GB2312" pitchFamily="1" charset="-122"/>
                <a:ea typeface="楷体_GB2312" pitchFamily="1" charset="-122"/>
              </a:rPr>
              <a:t>   实体模型常采用</a:t>
            </a:r>
            <a:r>
              <a:rPr lang="zh-CN" altLang="en-US" b="1" dirty="0">
                <a:solidFill>
                  <a:srgbClr val="FF0000"/>
                </a:solidFill>
                <a:latin typeface="方正粗黑宋简体" panose="02000000000000000000" pitchFamily="2" charset="-122"/>
                <a:ea typeface="方正粗黑宋简体" panose="02000000000000000000" pitchFamily="2" charset="-122"/>
              </a:rPr>
              <a:t>集合论</a:t>
            </a:r>
            <a:r>
              <a:rPr lang="zh-CN" altLang="en-US" b="1" dirty="0">
                <a:solidFill>
                  <a:srgbClr val="FF0000"/>
                </a:solidFill>
                <a:latin typeface="方正粗黑宋简体" panose="02000000000000000000" pitchFamily="2" charset="-122"/>
                <a:ea typeface="方正粗黑宋简体" panose="02000000000000000000" pitchFamily="2" charset="-122"/>
              </a:rPr>
              <a:t>中的</a:t>
            </a:r>
            <a:r>
              <a:rPr lang="zh-CN" altLang="en-US" b="1" dirty="0">
                <a:solidFill>
                  <a:srgbClr val="3333FF"/>
                </a:solidFill>
                <a:latin typeface="方正粗黑宋简体" panose="02000000000000000000" pitchFamily="2" charset="-122"/>
                <a:ea typeface="方正粗黑宋简体" panose="02000000000000000000" pitchFamily="2" charset="-122"/>
              </a:rPr>
              <a:t>并、交、差</a:t>
            </a:r>
            <a:r>
              <a:rPr lang="zh-CN" altLang="en-US" dirty="0">
                <a:solidFill>
                  <a:schemeClr val="tx1"/>
                </a:solidFill>
                <a:latin typeface="楷体_GB2312" pitchFamily="1" charset="-122"/>
                <a:ea typeface="楷体_GB2312" pitchFamily="1" charset="-122"/>
              </a:rPr>
              <a:t>等运算来构造复杂实体 。 </a:t>
            </a:r>
          </a:p>
        </p:txBody>
      </p:sp>
      <p:sp>
        <p:nvSpPr>
          <p:cNvPr id="19460" name="Rectangle 5"/>
          <p:cNvSpPr>
            <a:spLocks noChangeArrowheads="1"/>
          </p:cNvSpPr>
          <p:nvPr/>
        </p:nvSpPr>
        <p:spPr bwMode="auto">
          <a:xfrm>
            <a:off x="657225" y="233363"/>
            <a:ext cx="1717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b="1">
                <a:solidFill>
                  <a:schemeClr val="tx1"/>
                </a:solidFill>
                <a:latin typeface="楷体_GB2312" pitchFamily="1" charset="-122"/>
                <a:ea typeface="楷体_GB2312" pitchFamily="1" charset="-122"/>
              </a:rPr>
              <a:t>3.</a:t>
            </a:r>
            <a:r>
              <a:rPr lang="zh-CN" altLang="en-US" b="1">
                <a:solidFill>
                  <a:schemeClr val="tx1"/>
                </a:solidFill>
                <a:latin typeface="楷体_GB2312" pitchFamily="1" charset="-122"/>
                <a:ea typeface="楷体_GB2312" pitchFamily="1" charset="-122"/>
              </a:rPr>
              <a:t>实体模型</a:t>
            </a:r>
          </a:p>
        </p:txBody>
      </p:sp>
    </p:spTree>
    <p:extLst>
      <p:ext uri="{BB962C8B-B14F-4D97-AF65-F5344CB8AC3E}">
        <p14:creationId xmlns:p14="http://schemas.microsoft.com/office/powerpoint/2010/main" val="1008963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EC7F13EA-7D20-43E5-AE15-1F6182D083DE}" type="slidenum">
              <a:rPr lang="en-US" altLang="zh-CN" sz="1200">
                <a:solidFill>
                  <a:schemeClr val="tx1"/>
                </a:solidFill>
                <a:latin typeface="Garamond" pitchFamily="18" charset="0"/>
              </a:rPr>
              <a:pPr algn="r" eaLnBrk="1" hangingPunct="1">
                <a:spcBef>
                  <a:spcPct val="0"/>
                </a:spcBef>
              </a:pPr>
              <a:t>18</a:t>
            </a:fld>
            <a:endParaRPr lang="en-US" altLang="zh-CN" sz="1200">
              <a:solidFill>
                <a:schemeClr val="tx1"/>
              </a:solidFill>
              <a:latin typeface="Garamond" pitchFamily="18" charset="0"/>
            </a:endParaRPr>
          </a:p>
        </p:txBody>
      </p:sp>
      <p:graphicFrame>
        <p:nvGraphicFramePr>
          <p:cNvPr id="20484" name="Object 4"/>
          <p:cNvGraphicFramePr>
            <a:graphicFrameLocks noChangeAspect="1"/>
          </p:cNvGraphicFramePr>
          <p:nvPr/>
        </p:nvGraphicFramePr>
        <p:xfrm>
          <a:off x="657225" y="279400"/>
          <a:ext cx="4140200" cy="1922463"/>
        </p:xfrm>
        <a:graphic>
          <a:graphicData uri="http://schemas.openxmlformats.org/presentationml/2006/ole">
            <mc:AlternateContent xmlns:mc="http://schemas.openxmlformats.org/markup-compatibility/2006">
              <mc:Choice xmlns:v="urn:schemas-microsoft-com:vml" Requires="v">
                <p:oleObj spid="_x0000_s20544" r:id="rId3" imgW="6346725" imgH="2936981" progId="Visio.Drawing.11">
                  <p:embed/>
                </p:oleObj>
              </mc:Choice>
              <mc:Fallback>
                <p:oleObj r:id="rId3" imgW="6346725" imgH="2936981" progId="Visio.Drawing.11">
                  <p:embed/>
                  <p:pic>
                    <p:nvPicPr>
                      <p:cNvPr id="0"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225" y="279400"/>
                        <a:ext cx="4140200" cy="1922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6" name="Object 6"/>
          <p:cNvGraphicFramePr>
            <a:graphicFrameLocks noChangeAspect="1"/>
          </p:cNvGraphicFramePr>
          <p:nvPr/>
        </p:nvGraphicFramePr>
        <p:xfrm>
          <a:off x="5967413" y="-169863"/>
          <a:ext cx="2284412" cy="2384426"/>
        </p:xfrm>
        <a:graphic>
          <a:graphicData uri="http://schemas.openxmlformats.org/presentationml/2006/ole">
            <mc:AlternateContent xmlns:mc="http://schemas.openxmlformats.org/markup-compatibility/2006">
              <mc:Choice xmlns:v="urn:schemas-microsoft-com:vml" Requires="v">
                <p:oleObj spid="_x0000_s20545" r:id="rId5" imgW="3432120" imgH="3576129" progId="Visio.Drawing.11">
                  <p:embed/>
                </p:oleObj>
              </mc:Choice>
              <mc:Fallback>
                <p:oleObj r:id="rId5" imgW="3432120" imgH="3576129" progId="Visio.Drawing.11">
                  <p:embed/>
                  <p:pic>
                    <p:nvPicPr>
                      <p:cNvPr id="0" name="Picture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67413" y="-169863"/>
                        <a:ext cx="2284412" cy="23844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7" name="Rectangle 8"/>
          <p:cNvSpPr>
            <a:spLocks noChangeArrowheads="1"/>
          </p:cNvSpPr>
          <p:nvPr/>
        </p:nvSpPr>
        <p:spPr bwMode="auto">
          <a:xfrm>
            <a:off x="476250" y="2214563"/>
            <a:ext cx="4070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a:t>
            </a:r>
            <a:r>
              <a:rPr lang="en-US" altLang="zh-CN" sz="2000">
                <a:solidFill>
                  <a:schemeClr val="tx1"/>
                </a:solidFill>
                <a:latin typeface="楷体_GB2312" pitchFamily="1" charset="-122"/>
                <a:ea typeface="楷体_GB2312" pitchFamily="1" charset="-122"/>
              </a:rPr>
              <a:t>a</a:t>
            </a:r>
            <a:r>
              <a:rPr lang="zh-CN" altLang="en-US" sz="2000">
                <a:solidFill>
                  <a:schemeClr val="tx1"/>
                </a:solidFill>
                <a:latin typeface="楷体_GB2312" pitchFamily="1" charset="-122"/>
                <a:ea typeface="楷体_GB2312" pitchFamily="1" charset="-122"/>
              </a:rPr>
              <a:t>）正面           （</a:t>
            </a:r>
            <a:r>
              <a:rPr lang="en-US" altLang="zh-CN" sz="2000">
                <a:solidFill>
                  <a:schemeClr val="tx1"/>
                </a:solidFill>
                <a:latin typeface="楷体_GB2312" pitchFamily="1" charset="-122"/>
                <a:ea typeface="楷体_GB2312" pitchFamily="1" charset="-122"/>
              </a:rPr>
              <a:t>b</a:t>
            </a:r>
            <a:r>
              <a:rPr lang="zh-CN" altLang="en-US" sz="2000">
                <a:solidFill>
                  <a:schemeClr val="tx1"/>
                </a:solidFill>
                <a:latin typeface="楷体_GB2312" pitchFamily="1" charset="-122"/>
                <a:ea typeface="楷体_GB2312" pitchFamily="1" charset="-122"/>
              </a:rPr>
              <a:t>）反面</a:t>
            </a:r>
          </a:p>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9-9 </a:t>
            </a:r>
            <a:r>
              <a:rPr lang="zh-CN" altLang="en-US" sz="2000">
                <a:solidFill>
                  <a:schemeClr val="tx1"/>
                </a:solidFill>
                <a:latin typeface="楷体_GB2312" pitchFamily="1" charset="-122"/>
                <a:ea typeface="楷体_GB2312" pitchFamily="1" charset="-122"/>
              </a:rPr>
              <a:t>立方体表面的正面和反面</a:t>
            </a:r>
          </a:p>
        </p:txBody>
      </p:sp>
      <p:sp>
        <p:nvSpPr>
          <p:cNvPr id="20488" name="Rectangle 9"/>
          <p:cNvSpPr>
            <a:spLocks noChangeArrowheads="1"/>
          </p:cNvSpPr>
          <p:nvPr/>
        </p:nvSpPr>
        <p:spPr bwMode="auto">
          <a:xfrm>
            <a:off x="5668963" y="2349500"/>
            <a:ext cx="285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9-10 </a:t>
            </a:r>
            <a:r>
              <a:rPr lang="zh-CN" altLang="en-US" sz="2000">
                <a:solidFill>
                  <a:schemeClr val="tx1"/>
                </a:solidFill>
                <a:latin typeface="楷体_GB2312" pitchFamily="1" charset="-122"/>
                <a:ea typeface="楷体_GB2312" pitchFamily="1" charset="-122"/>
              </a:rPr>
              <a:t>立方体实体模型</a:t>
            </a:r>
          </a:p>
        </p:txBody>
      </p:sp>
      <p:sp>
        <p:nvSpPr>
          <p:cNvPr id="20489" name="Rectangle 10"/>
          <p:cNvSpPr>
            <a:spLocks noChangeArrowheads="1"/>
          </p:cNvSpPr>
          <p:nvPr/>
        </p:nvSpPr>
        <p:spPr bwMode="auto">
          <a:xfrm>
            <a:off x="385763" y="3049578"/>
            <a:ext cx="8507412"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buClr>
                <a:srgbClr val="FF3399"/>
              </a:buClr>
              <a:buFont typeface="Wingdings" pitchFamily="2" charset="2"/>
              <a:buNone/>
            </a:pPr>
            <a:r>
              <a:rPr lang="zh-CN" altLang="en-US" dirty="0">
                <a:solidFill>
                  <a:schemeClr val="tx1"/>
                </a:solidFill>
                <a:latin typeface="楷体_GB2312" pitchFamily="1" charset="-122"/>
                <a:ea typeface="楷体_GB2312" pitchFamily="1" charset="-122"/>
              </a:rPr>
              <a:t>    一般情况下，使用</a:t>
            </a:r>
            <a:r>
              <a:rPr lang="zh-CN" altLang="en-US" b="1" dirty="0">
                <a:solidFill>
                  <a:srgbClr val="FF0000"/>
                </a:solidFill>
                <a:latin typeface="方正粗黑宋简体" panose="02000000000000000000" pitchFamily="2" charset="-122"/>
                <a:ea typeface="方正粗黑宋简体" panose="02000000000000000000" pitchFamily="2" charset="-122"/>
              </a:rPr>
              <a:t>顶点表、边表和面表</a:t>
            </a:r>
            <a:r>
              <a:rPr lang="en-US" altLang="zh-CN" dirty="0">
                <a:solidFill>
                  <a:schemeClr val="tx1"/>
                </a:solidFill>
                <a:latin typeface="楷体_GB2312" pitchFamily="1" charset="-122"/>
                <a:ea typeface="楷体_GB2312" pitchFamily="1" charset="-122"/>
              </a:rPr>
              <a:t>3</a:t>
            </a:r>
            <a:r>
              <a:rPr lang="zh-CN" altLang="en-US" dirty="0">
                <a:solidFill>
                  <a:schemeClr val="tx1"/>
                </a:solidFill>
                <a:latin typeface="楷体_GB2312" pitchFamily="1" charset="-122"/>
                <a:ea typeface="楷体_GB2312" pitchFamily="1" charset="-122"/>
              </a:rPr>
              <a:t>张表可以方便地检索到物体的</a:t>
            </a:r>
            <a:r>
              <a:rPr lang="zh-CN" altLang="en-US" b="1" dirty="0">
                <a:solidFill>
                  <a:srgbClr val="FF0000"/>
                </a:solidFill>
                <a:latin typeface="黑体" pitchFamily="49" charset="-122"/>
                <a:ea typeface="黑体" pitchFamily="49" charset="-122"/>
              </a:rPr>
              <a:t>任意一个顶点、任意一条边和任意一个表面</a:t>
            </a:r>
            <a:r>
              <a:rPr lang="zh-CN" altLang="en-US" dirty="0">
                <a:solidFill>
                  <a:schemeClr val="tx1"/>
                </a:solidFill>
                <a:latin typeface="楷体_GB2312" pitchFamily="1" charset="-122"/>
                <a:ea typeface="楷体_GB2312" pitchFamily="1" charset="-122"/>
              </a:rPr>
              <a:t>，而且数据结构清晰。</a:t>
            </a:r>
            <a:endParaRPr lang="en-US" altLang="zh-CN" dirty="0">
              <a:solidFill>
                <a:schemeClr val="tx1"/>
              </a:solidFill>
              <a:latin typeface="楷体_GB2312" pitchFamily="1" charset="-122"/>
              <a:ea typeface="楷体_GB2312" pitchFamily="1" charset="-122"/>
            </a:endParaRPr>
          </a:p>
          <a:p>
            <a:pPr algn="l" eaLnBrk="1" hangingPunct="1">
              <a:spcBef>
                <a:spcPct val="0"/>
              </a:spcBef>
              <a:buClr>
                <a:srgbClr val="FF3399"/>
              </a:buClr>
              <a:buFont typeface="Wingdings" pitchFamily="2" charset="2"/>
              <a:buNone/>
            </a:pPr>
            <a:r>
              <a:rPr lang="zh-CN" altLang="en-US" dirty="0">
                <a:solidFill>
                  <a:schemeClr val="tx1"/>
                </a:solidFill>
                <a:latin typeface="楷体_GB2312" pitchFamily="1" charset="-122"/>
                <a:ea typeface="楷体_GB2312" pitchFamily="1" charset="-122"/>
              </a:rPr>
              <a:t>    实际建模中，实体模型采用了</a:t>
            </a:r>
            <a:r>
              <a:rPr lang="zh-CN" altLang="en-US" b="1" dirty="0">
                <a:solidFill>
                  <a:srgbClr val="3333FF"/>
                </a:solidFill>
                <a:latin typeface="方正粗黑宋简体" panose="02000000000000000000" pitchFamily="2" charset="-122"/>
                <a:ea typeface="方正粗黑宋简体" panose="02000000000000000000" pitchFamily="2" charset="-122"/>
              </a:rPr>
              <a:t>有向棱边</a:t>
            </a:r>
            <a:r>
              <a:rPr lang="zh-CN" altLang="en-US" dirty="0">
                <a:solidFill>
                  <a:schemeClr val="tx1"/>
                </a:solidFill>
                <a:latin typeface="楷体_GB2312" pitchFamily="1" charset="-122"/>
                <a:ea typeface="楷体_GB2312" pitchFamily="1" charset="-122"/>
              </a:rPr>
              <a:t>，相邻两个表面上共享的一条棱边的</a:t>
            </a:r>
            <a:r>
              <a:rPr lang="zh-CN" altLang="en-US" b="1" dirty="0">
                <a:solidFill>
                  <a:srgbClr val="3333FF"/>
                </a:solidFill>
                <a:latin typeface="方正粗黑宋简体" panose="02000000000000000000" pitchFamily="2" charset="-122"/>
                <a:ea typeface="方正粗黑宋简体" panose="02000000000000000000" pitchFamily="2" charset="-122"/>
              </a:rPr>
              <a:t>定义方向截然相反</a:t>
            </a:r>
            <a:r>
              <a:rPr lang="zh-CN" altLang="en-US" dirty="0">
                <a:solidFill>
                  <a:schemeClr val="tx1"/>
                </a:solidFill>
                <a:latin typeface="楷体_GB2312" pitchFamily="1" charset="-122"/>
                <a:ea typeface="楷体_GB2312" pitchFamily="1" charset="-122"/>
              </a:rPr>
              <a:t>，导致无法确定棱边的顶点连接顺序，因而放弃边表，</a:t>
            </a:r>
            <a:r>
              <a:rPr lang="zh-CN" altLang="en-US" b="1" dirty="0">
                <a:solidFill>
                  <a:srgbClr val="FF0000"/>
                </a:solidFill>
                <a:latin typeface="方正粗黑宋简体" panose="02000000000000000000" pitchFamily="2" charset="-122"/>
                <a:ea typeface="方正粗黑宋简体" panose="02000000000000000000" pitchFamily="2" charset="-122"/>
              </a:rPr>
              <a:t>仅使用</a:t>
            </a:r>
            <a:r>
              <a:rPr lang="zh-CN" altLang="en-US" b="1" dirty="0">
                <a:solidFill>
                  <a:srgbClr val="3333FF"/>
                </a:solidFill>
                <a:latin typeface="方正粗黑宋简体" panose="02000000000000000000" pitchFamily="2" charset="-122"/>
                <a:ea typeface="方正粗黑宋简体" panose="02000000000000000000" pitchFamily="2" charset="-122"/>
              </a:rPr>
              <a:t>顶点表和面表</a:t>
            </a:r>
            <a:r>
              <a:rPr lang="zh-CN" altLang="en-US" b="1" dirty="0">
                <a:solidFill>
                  <a:srgbClr val="FF0000"/>
                </a:solidFill>
                <a:latin typeface="方正粗黑宋简体" panose="02000000000000000000" pitchFamily="2" charset="-122"/>
                <a:ea typeface="方正粗黑宋简体" panose="02000000000000000000" pitchFamily="2" charset="-122"/>
              </a:rPr>
              <a:t>来表示物体的几何模型</a:t>
            </a:r>
            <a:r>
              <a:rPr lang="zh-CN" altLang="en-US" dirty="0">
                <a:solidFill>
                  <a:schemeClr val="tx1"/>
                </a:solidFill>
                <a:latin typeface="楷体_GB2312" pitchFamily="1" charset="-122"/>
                <a:ea typeface="楷体_GB2312" pitchFamily="1" charset="-122"/>
              </a:rPr>
              <a:t>。且面表中按照</a:t>
            </a:r>
            <a:r>
              <a:rPr lang="zh-CN" altLang="en-US" b="1" dirty="0">
                <a:solidFill>
                  <a:srgbClr val="3333FF"/>
                </a:solidFill>
                <a:latin typeface="方正粗黑宋简体" panose="02000000000000000000" pitchFamily="2" charset="-122"/>
                <a:ea typeface="方正粗黑宋简体" panose="02000000000000000000" pitchFamily="2" charset="-122"/>
              </a:rPr>
              <a:t>表面法矢量向外的方向</a:t>
            </a:r>
            <a:r>
              <a:rPr lang="zh-CN" altLang="en-US" dirty="0">
                <a:solidFill>
                  <a:schemeClr val="tx1"/>
                </a:solidFill>
                <a:latin typeface="楷体_GB2312" pitchFamily="1" charset="-122"/>
                <a:ea typeface="楷体_GB2312" pitchFamily="1" charset="-122"/>
              </a:rPr>
              <a:t>遍历多边形顶点索引号，表明处理的是物体的正面。</a:t>
            </a:r>
            <a:r>
              <a:rPr lang="zh-CN" altLang="en-US" b="1" dirty="0">
                <a:solidFill>
                  <a:srgbClr val="FF0000"/>
                </a:solidFill>
                <a:latin typeface="方正粗黑宋简体" panose="02000000000000000000" pitchFamily="2" charset="-122"/>
                <a:ea typeface="方正粗黑宋简体" panose="02000000000000000000" pitchFamily="2" charset="-122"/>
              </a:rPr>
              <a:t>仅用顶点表和面表的缺点是物体的每条边被重复绘制</a:t>
            </a:r>
            <a:r>
              <a:rPr lang="en-US" altLang="zh-CN" b="1" dirty="0">
                <a:solidFill>
                  <a:srgbClr val="FF0000"/>
                </a:solidFill>
                <a:latin typeface="方正粗黑宋简体" panose="02000000000000000000" pitchFamily="2" charset="-122"/>
                <a:ea typeface="方正粗黑宋简体" panose="02000000000000000000" pitchFamily="2" charset="-122"/>
              </a:rPr>
              <a:t>2</a:t>
            </a:r>
            <a:r>
              <a:rPr lang="zh-CN" altLang="en-US" b="1" dirty="0">
                <a:solidFill>
                  <a:srgbClr val="FF0000"/>
                </a:solidFill>
                <a:latin typeface="方正粗黑宋简体" panose="02000000000000000000" pitchFamily="2" charset="-122"/>
                <a:ea typeface="方正粗黑宋简体" panose="02000000000000000000" pitchFamily="2" charset="-122"/>
              </a:rPr>
              <a:t>次。</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1ED0C79E-9C0E-4B4F-80E9-63E25642FDED}" type="slidenum">
              <a:rPr lang="en-US" altLang="zh-CN" sz="1200">
                <a:solidFill>
                  <a:schemeClr val="tx1"/>
                </a:solidFill>
                <a:latin typeface="Garamond" pitchFamily="18" charset="0"/>
              </a:rPr>
              <a:pPr algn="r" eaLnBrk="1" hangingPunct="1">
                <a:spcBef>
                  <a:spcPct val="0"/>
                </a:spcBef>
              </a:pPr>
              <a:t>19</a:t>
            </a:fld>
            <a:endParaRPr lang="en-US" altLang="zh-CN" sz="1200">
              <a:solidFill>
                <a:schemeClr val="tx1"/>
              </a:solidFill>
              <a:latin typeface="Garamond" pitchFamily="18" charset="0"/>
            </a:endParaRPr>
          </a:p>
        </p:txBody>
      </p:sp>
      <p:sp>
        <p:nvSpPr>
          <p:cNvPr id="21507" name="Text Box 6"/>
          <p:cNvSpPr txBox="1">
            <a:spLocks noChangeArrowheads="1"/>
          </p:cNvSpPr>
          <p:nvPr/>
        </p:nvSpPr>
        <p:spPr bwMode="auto">
          <a:xfrm>
            <a:off x="385763" y="279400"/>
            <a:ext cx="3195637" cy="5842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en-US" altLang="zh-CN" sz="3200" b="1">
                <a:solidFill>
                  <a:schemeClr val="tx1"/>
                </a:solidFill>
                <a:latin typeface="楷体_GB2312" pitchFamily="1" charset="-122"/>
                <a:ea typeface="楷体_GB2312" pitchFamily="1" charset="-122"/>
              </a:rPr>
              <a:t>9.1.4 </a:t>
            </a:r>
            <a:r>
              <a:rPr lang="zh-CN" altLang="en-US" sz="3200" b="1">
                <a:solidFill>
                  <a:schemeClr val="tx1"/>
                </a:solidFill>
                <a:latin typeface="楷体_GB2312" pitchFamily="1" charset="-122"/>
                <a:ea typeface="楷体_GB2312" pitchFamily="1" charset="-122"/>
              </a:rPr>
              <a:t>双表结构</a:t>
            </a:r>
          </a:p>
        </p:txBody>
      </p:sp>
      <p:sp>
        <p:nvSpPr>
          <p:cNvPr id="21510" name="Text Box 34"/>
          <p:cNvSpPr txBox="1">
            <a:spLocks noChangeArrowheads="1"/>
          </p:cNvSpPr>
          <p:nvPr/>
        </p:nvSpPr>
        <p:spPr bwMode="auto">
          <a:xfrm>
            <a:off x="431800" y="1223963"/>
            <a:ext cx="2744788" cy="4860925"/>
          </a:xfrm>
          <a:prstGeom prst="rect">
            <a:avLst/>
          </a:prstGeom>
          <a:gradFill rotWithShape="0">
            <a:gsLst>
              <a:gs pos="0">
                <a:srgbClr val="FFCCFF">
                  <a:alpha val="39999"/>
                </a:srgbClr>
              </a:gs>
              <a:gs pos="100000">
                <a:srgbClr val="FFFFCC">
                  <a:alpha val="31999"/>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dirty="0">
                <a:solidFill>
                  <a:schemeClr val="tx1"/>
                </a:solidFill>
                <a:latin typeface="楷体_GB2312" pitchFamily="1" charset="-122"/>
                <a:ea typeface="楷体_GB2312" pitchFamily="1" charset="-122"/>
              </a:rPr>
              <a:t>    不管是三维凸多面体还是光滑物体，只要给出</a:t>
            </a:r>
            <a:r>
              <a:rPr lang="zh-CN" altLang="en-US" b="1" dirty="0">
                <a:solidFill>
                  <a:srgbClr val="FF0000"/>
                </a:solidFill>
                <a:latin typeface="方正粗黑宋简体" panose="02000000000000000000" pitchFamily="2" charset="-122"/>
                <a:ea typeface="方正粗黑宋简体" panose="02000000000000000000" pitchFamily="2" charset="-122"/>
              </a:rPr>
              <a:t>顶点表和面表数据文件，就可以正确地确定数据结构</a:t>
            </a:r>
            <a:r>
              <a:rPr lang="zh-CN" altLang="en-US" dirty="0">
                <a:solidFill>
                  <a:schemeClr val="tx1"/>
                </a:solidFill>
                <a:latin typeface="楷体_GB2312" pitchFamily="1" charset="-122"/>
                <a:ea typeface="楷体_GB2312" pitchFamily="1" charset="-122"/>
              </a:rPr>
              <a:t>。在双表结构中，立方体的</a:t>
            </a:r>
            <a:r>
              <a:rPr lang="zh-CN" altLang="en-US" b="1" dirty="0">
                <a:solidFill>
                  <a:srgbClr val="FF0000"/>
                </a:solidFill>
                <a:latin typeface="黑体" pitchFamily="49" charset="-122"/>
                <a:ea typeface="黑体" pitchFamily="49" charset="-122"/>
              </a:rPr>
              <a:t>顶点表</a:t>
            </a:r>
            <a:r>
              <a:rPr lang="zh-CN" altLang="en-US" dirty="0">
                <a:solidFill>
                  <a:schemeClr val="tx1"/>
                </a:solidFill>
                <a:latin typeface="楷体_GB2312" pitchFamily="1" charset="-122"/>
                <a:ea typeface="楷体_GB2312" pitchFamily="1" charset="-122"/>
              </a:rPr>
              <a:t>依然使用表</a:t>
            </a:r>
            <a:r>
              <a:rPr lang="en-US" altLang="zh-CN" dirty="0">
                <a:solidFill>
                  <a:schemeClr val="tx1"/>
                </a:solidFill>
                <a:latin typeface="楷体_GB2312" pitchFamily="1" charset="-122"/>
                <a:ea typeface="楷体_GB2312" pitchFamily="1" charset="-122"/>
              </a:rPr>
              <a:t>9-1</a:t>
            </a:r>
            <a:r>
              <a:rPr lang="zh-CN" altLang="en-US" dirty="0">
                <a:solidFill>
                  <a:schemeClr val="tx1"/>
                </a:solidFill>
                <a:latin typeface="楷体_GB2312" pitchFamily="1" charset="-122"/>
                <a:ea typeface="楷体_GB2312" pitchFamily="1" charset="-122"/>
              </a:rPr>
              <a:t>。面表需要重新按顶点索引号设计。图</a:t>
            </a:r>
            <a:r>
              <a:rPr lang="en-US" altLang="zh-CN" dirty="0">
                <a:solidFill>
                  <a:schemeClr val="tx1"/>
                </a:solidFill>
                <a:latin typeface="楷体_GB2312" pitchFamily="1" charset="-122"/>
                <a:ea typeface="楷体_GB2312" pitchFamily="1" charset="-122"/>
              </a:rPr>
              <a:t>9-11</a:t>
            </a:r>
            <a:r>
              <a:rPr lang="zh-CN" altLang="en-US" dirty="0">
                <a:solidFill>
                  <a:schemeClr val="tx1"/>
                </a:solidFill>
                <a:latin typeface="楷体_GB2312" pitchFamily="1" charset="-122"/>
                <a:ea typeface="楷体_GB2312" pitchFamily="1" charset="-122"/>
              </a:rPr>
              <a:t>为图</a:t>
            </a:r>
            <a:r>
              <a:rPr lang="en-US" altLang="zh-CN" dirty="0">
                <a:solidFill>
                  <a:schemeClr val="tx1"/>
                </a:solidFill>
                <a:latin typeface="楷体_GB2312" pitchFamily="1" charset="-122"/>
                <a:ea typeface="楷体_GB2312" pitchFamily="1" charset="-122"/>
              </a:rPr>
              <a:t>9-4</a:t>
            </a:r>
            <a:r>
              <a:rPr lang="zh-CN" altLang="en-US" dirty="0">
                <a:solidFill>
                  <a:schemeClr val="tx1"/>
                </a:solidFill>
                <a:latin typeface="楷体_GB2312" pitchFamily="1" charset="-122"/>
                <a:ea typeface="楷体_GB2312" pitchFamily="1" charset="-122"/>
              </a:rPr>
              <a:t>所示立方体的展开图。</a:t>
            </a:r>
          </a:p>
        </p:txBody>
      </p:sp>
      <p:grpSp>
        <p:nvGrpSpPr>
          <p:cNvPr id="21511" name="Group 7"/>
          <p:cNvGrpSpPr>
            <a:grpSpLocks/>
          </p:cNvGrpSpPr>
          <p:nvPr/>
        </p:nvGrpSpPr>
        <p:grpSpPr bwMode="auto">
          <a:xfrm>
            <a:off x="3357563" y="998538"/>
            <a:ext cx="5643562" cy="4546600"/>
            <a:chOff x="0" y="0"/>
            <a:chExt cx="3555" cy="2864"/>
          </a:xfrm>
        </p:grpSpPr>
        <p:graphicFrame>
          <p:nvGraphicFramePr>
            <p:cNvPr id="21512" name="Object 8"/>
            <p:cNvGraphicFramePr>
              <a:graphicFrameLocks noChangeAspect="1"/>
            </p:cNvGraphicFramePr>
            <p:nvPr/>
          </p:nvGraphicFramePr>
          <p:xfrm>
            <a:off x="101" y="255"/>
            <a:ext cx="3289" cy="2485"/>
          </p:xfrm>
          <a:graphic>
            <a:graphicData uri="http://schemas.openxmlformats.org/presentationml/2006/ole">
              <mc:AlternateContent xmlns:mc="http://schemas.openxmlformats.org/markup-compatibility/2006">
                <mc:Choice xmlns:v="urn:schemas-microsoft-com:vml" Requires="v">
                  <p:oleObj spid="_x0000_s21560" r:id="rId3" imgW="2926994" imgH="2206752" progId="Visio.Drawing.11">
                    <p:embed/>
                  </p:oleObj>
                </mc:Choice>
                <mc:Fallback>
                  <p:oleObj r:id="rId3" imgW="2926994" imgH="2206752" progId="Visio.Drawing.11">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 y="255"/>
                          <a:ext cx="3289" cy="24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13" name="Text Box 12"/>
            <p:cNvSpPr txBox="1">
              <a:spLocks noChangeArrowheads="1"/>
            </p:cNvSpPr>
            <p:nvPr/>
          </p:nvSpPr>
          <p:spPr bwMode="auto">
            <a:xfrm>
              <a:off x="2551" y="709"/>
              <a:ext cx="239"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2</a:t>
              </a:r>
              <a:endParaRPr lang="en-US" altLang="zh-CN">
                <a:solidFill>
                  <a:schemeClr val="tx1"/>
                </a:solidFill>
              </a:endParaRPr>
            </a:p>
          </p:txBody>
        </p:sp>
        <p:sp>
          <p:nvSpPr>
            <p:cNvPr id="21514" name="Text Box 9"/>
            <p:cNvSpPr txBox="1">
              <a:spLocks noChangeArrowheads="1"/>
            </p:cNvSpPr>
            <p:nvPr/>
          </p:nvSpPr>
          <p:spPr bwMode="auto">
            <a:xfrm>
              <a:off x="1842" y="2523"/>
              <a:ext cx="239"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1</a:t>
              </a:r>
              <a:endParaRPr lang="en-US" altLang="zh-CN">
                <a:solidFill>
                  <a:schemeClr val="tx1"/>
                </a:solidFill>
              </a:endParaRPr>
            </a:p>
          </p:txBody>
        </p:sp>
        <p:sp>
          <p:nvSpPr>
            <p:cNvPr id="21515" name="Text Box 10"/>
            <p:cNvSpPr txBox="1">
              <a:spLocks noChangeArrowheads="1"/>
            </p:cNvSpPr>
            <p:nvPr/>
          </p:nvSpPr>
          <p:spPr bwMode="auto">
            <a:xfrm>
              <a:off x="3231" y="1984"/>
              <a:ext cx="324"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0</a:t>
              </a:r>
              <a:endParaRPr lang="en-US" altLang="zh-CN">
                <a:solidFill>
                  <a:schemeClr val="tx1"/>
                </a:solidFill>
              </a:endParaRPr>
            </a:p>
          </p:txBody>
        </p:sp>
        <p:sp>
          <p:nvSpPr>
            <p:cNvPr id="21516" name="Text Box 11"/>
            <p:cNvSpPr txBox="1">
              <a:spLocks noChangeArrowheads="1"/>
            </p:cNvSpPr>
            <p:nvPr/>
          </p:nvSpPr>
          <p:spPr bwMode="auto">
            <a:xfrm>
              <a:off x="3203" y="709"/>
              <a:ext cx="32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3</a:t>
              </a:r>
              <a:endParaRPr lang="en-US" altLang="zh-CN">
                <a:solidFill>
                  <a:schemeClr val="tx1"/>
                </a:solidFill>
              </a:endParaRPr>
            </a:p>
          </p:txBody>
        </p:sp>
        <p:sp>
          <p:nvSpPr>
            <p:cNvPr id="21517" name="Text Box 13"/>
            <p:cNvSpPr txBox="1">
              <a:spLocks noChangeArrowheads="1"/>
            </p:cNvSpPr>
            <p:nvPr/>
          </p:nvSpPr>
          <p:spPr bwMode="auto">
            <a:xfrm>
              <a:off x="1831" y="794"/>
              <a:ext cx="323"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6</a:t>
              </a:r>
              <a:endParaRPr lang="en-US" altLang="zh-CN">
                <a:solidFill>
                  <a:schemeClr val="tx1"/>
                </a:solidFill>
              </a:endParaRPr>
            </a:p>
          </p:txBody>
        </p:sp>
        <p:sp>
          <p:nvSpPr>
            <p:cNvPr id="21518" name="Text Box 14"/>
            <p:cNvSpPr txBox="1">
              <a:spLocks noChangeArrowheads="1"/>
            </p:cNvSpPr>
            <p:nvPr/>
          </p:nvSpPr>
          <p:spPr bwMode="auto">
            <a:xfrm>
              <a:off x="1814" y="1956"/>
              <a:ext cx="21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5</a:t>
              </a:r>
              <a:endParaRPr lang="en-US" altLang="zh-CN">
                <a:solidFill>
                  <a:schemeClr val="tx1"/>
                </a:solidFill>
              </a:endParaRPr>
            </a:p>
          </p:txBody>
        </p:sp>
        <p:sp>
          <p:nvSpPr>
            <p:cNvPr id="21519" name="Text Box 15"/>
            <p:cNvSpPr txBox="1">
              <a:spLocks noChangeArrowheads="1"/>
            </p:cNvSpPr>
            <p:nvPr/>
          </p:nvSpPr>
          <p:spPr bwMode="auto">
            <a:xfrm>
              <a:off x="2511" y="1984"/>
              <a:ext cx="210"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1</a:t>
              </a:r>
              <a:endParaRPr lang="en-US" altLang="zh-CN">
                <a:solidFill>
                  <a:schemeClr val="tx1"/>
                </a:solidFill>
              </a:endParaRPr>
            </a:p>
          </p:txBody>
        </p:sp>
        <p:sp>
          <p:nvSpPr>
            <p:cNvPr id="21520" name="Text Box 16"/>
            <p:cNvSpPr txBox="1">
              <a:spLocks noChangeArrowheads="1"/>
            </p:cNvSpPr>
            <p:nvPr/>
          </p:nvSpPr>
          <p:spPr bwMode="auto">
            <a:xfrm>
              <a:off x="595" y="2552"/>
              <a:ext cx="211"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0</a:t>
              </a:r>
              <a:endParaRPr lang="en-US" altLang="zh-CN">
                <a:solidFill>
                  <a:schemeClr val="tx1"/>
                </a:solidFill>
              </a:endParaRPr>
            </a:p>
          </p:txBody>
        </p:sp>
        <p:sp>
          <p:nvSpPr>
            <p:cNvPr id="21521" name="Text Box 17"/>
            <p:cNvSpPr txBox="1">
              <a:spLocks noChangeArrowheads="1"/>
            </p:cNvSpPr>
            <p:nvPr/>
          </p:nvSpPr>
          <p:spPr bwMode="auto">
            <a:xfrm>
              <a:off x="651" y="1985"/>
              <a:ext cx="312"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4</a:t>
              </a:r>
              <a:endParaRPr lang="en-US" altLang="zh-CN">
                <a:solidFill>
                  <a:schemeClr val="tx1"/>
                </a:solidFill>
              </a:endParaRPr>
            </a:p>
          </p:txBody>
        </p:sp>
        <p:sp>
          <p:nvSpPr>
            <p:cNvPr id="21522" name="Text Box 18"/>
            <p:cNvSpPr txBox="1">
              <a:spLocks noChangeArrowheads="1"/>
            </p:cNvSpPr>
            <p:nvPr/>
          </p:nvSpPr>
          <p:spPr bwMode="auto">
            <a:xfrm>
              <a:off x="652" y="737"/>
              <a:ext cx="26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7</a:t>
              </a:r>
              <a:endParaRPr lang="en-US" altLang="zh-CN">
                <a:solidFill>
                  <a:schemeClr val="tx1"/>
                </a:solidFill>
              </a:endParaRPr>
            </a:p>
          </p:txBody>
        </p:sp>
        <p:sp>
          <p:nvSpPr>
            <p:cNvPr id="21523" name="Text Box 19"/>
            <p:cNvSpPr txBox="1">
              <a:spLocks noChangeArrowheads="1"/>
            </p:cNvSpPr>
            <p:nvPr/>
          </p:nvSpPr>
          <p:spPr bwMode="auto">
            <a:xfrm>
              <a:off x="0" y="737"/>
              <a:ext cx="210"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3</a:t>
              </a:r>
              <a:endParaRPr lang="en-US" altLang="zh-CN">
                <a:solidFill>
                  <a:schemeClr val="tx1"/>
                </a:solidFill>
              </a:endParaRPr>
            </a:p>
          </p:txBody>
        </p:sp>
        <p:sp>
          <p:nvSpPr>
            <p:cNvPr id="21524" name="Text Box 20"/>
            <p:cNvSpPr txBox="1">
              <a:spLocks noChangeArrowheads="1"/>
            </p:cNvSpPr>
            <p:nvPr/>
          </p:nvSpPr>
          <p:spPr bwMode="auto">
            <a:xfrm>
              <a:off x="1814" y="57"/>
              <a:ext cx="239"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2</a:t>
              </a:r>
              <a:endParaRPr lang="en-US" altLang="zh-CN">
                <a:solidFill>
                  <a:schemeClr val="tx1"/>
                </a:solidFill>
              </a:endParaRPr>
            </a:p>
          </p:txBody>
        </p:sp>
        <p:sp>
          <p:nvSpPr>
            <p:cNvPr id="21525" name="Text Box 23"/>
            <p:cNvSpPr txBox="1">
              <a:spLocks noChangeArrowheads="1"/>
            </p:cNvSpPr>
            <p:nvPr/>
          </p:nvSpPr>
          <p:spPr bwMode="auto">
            <a:xfrm>
              <a:off x="652" y="0"/>
              <a:ext cx="26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3</a:t>
              </a:r>
              <a:endParaRPr lang="en-US" altLang="zh-CN">
                <a:solidFill>
                  <a:schemeClr val="tx1"/>
                </a:solidFill>
              </a:endParaRPr>
            </a:p>
          </p:txBody>
        </p:sp>
        <p:sp>
          <p:nvSpPr>
            <p:cNvPr id="21526" name="Text Box 24"/>
            <p:cNvSpPr txBox="1">
              <a:spLocks noChangeArrowheads="1"/>
            </p:cNvSpPr>
            <p:nvPr/>
          </p:nvSpPr>
          <p:spPr bwMode="auto">
            <a:xfrm>
              <a:off x="44" y="1985"/>
              <a:ext cx="239"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0</a:t>
              </a:r>
              <a:endParaRPr lang="en-US" altLang="zh-CN">
                <a:solidFill>
                  <a:schemeClr val="tx1"/>
                </a:solidFill>
              </a:endParaRPr>
            </a:p>
          </p:txBody>
        </p:sp>
        <p:sp>
          <p:nvSpPr>
            <p:cNvPr id="21527" name="Text Box 26"/>
            <p:cNvSpPr txBox="1">
              <a:spLocks noChangeArrowheads="1"/>
            </p:cNvSpPr>
            <p:nvPr/>
          </p:nvSpPr>
          <p:spPr bwMode="auto">
            <a:xfrm>
              <a:off x="1219" y="1304"/>
              <a:ext cx="26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F</a:t>
              </a:r>
              <a:r>
                <a:rPr lang="en-US" altLang="zh-CN" baseline="-30000">
                  <a:solidFill>
                    <a:schemeClr val="tx1"/>
                  </a:solidFill>
                  <a:latin typeface="Times New Roman" pitchFamily="18" charset="0"/>
                  <a:cs typeface="Times New Roman" pitchFamily="18" charset="0"/>
                </a:rPr>
                <a:t>0</a:t>
              </a:r>
              <a:endParaRPr lang="en-US" altLang="zh-CN">
                <a:solidFill>
                  <a:schemeClr val="tx1"/>
                </a:solidFill>
              </a:endParaRPr>
            </a:p>
          </p:txBody>
        </p:sp>
        <p:sp>
          <p:nvSpPr>
            <p:cNvPr id="21528" name="Text Box 21"/>
            <p:cNvSpPr txBox="1">
              <a:spLocks noChangeArrowheads="1"/>
            </p:cNvSpPr>
            <p:nvPr/>
          </p:nvSpPr>
          <p:spPr bwMode="auto">
            <a:xfrm>
              <a:off x="2926" y="1303"/>
              <a:ext cx="220"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F</a:t>
              </a:r>
              <a:r>
                <a:rPr lang="en-US" altLang="zh-CN" baseline="-30000">
                  <a:solidFill>
                    <a:schemeClr val="tx1"/>
                  </a:solidFill>
                  <a:latin typeface="Times New Roman" pitchFamily="18" charset="0"/>
                  <a:cs typeface="Times New Roman" pitchFamily="18" charset="0"/>
                </a:rPr>
                <a:t>1</a:t>
              </a:r>
              <a:endParaRPr lang="en-US" altLang="zh-CN">
                <a:solidFill>
                  <a:schemeClr val="tx1"/>
                </a:solidFill>
              </a:endParaRPr>
            </a:p>
          </p:txBody>
        </p:sp>
        <p:sp>
          <p:nvSpPr>
            <p:cNvPr id="21529" name="Text Box 22"/>
            <p:cNvSpPr txBox="1">
              <a:spLocks noChangeArrowheads="1"/>
            </p:cNvSpPr>
            <p:nvPr/>
          </p:nvSpPr>
          <p:spPr bwMode="auto">
            <a:xfrm>
              <a:off x="412" y="1332"/>
              <a:ext cx="240"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F</a:t>
              </a:r>
              <a:r>
                <a:rPr lang="en-US" altLang="zh-CN" baseline="-30000">
                  <a:solidFill>
                    <a:schemeClr val="tx1"/>
                  </a:solidFill>
                  <a:latin typeface="Times New Roman" pitchFamily="18" charset="0"/>
                  <a:cs typeface="Times New Roman" pitchFamily="18" charset="0"/>
                </a:rPr>
                <a:t>2</a:t>
              </a:r>
              <a:endParaRPr lang="en-US" altLang="zh-CN">
                <a:solidFill>
                  <a:schemeClr val="tx1"/>
                </a:solidFill>
              </a:endParaRPr>
            </a:p>
          </p:txBody>
        </p:sp>
        <p:sp>
          <p:nvSpPr>
            <p:cNvPr id="21530" name="Text Box 25"/>
            <p:cNvSpPr txBox="1">
              <a:spLocks noChangeArrowheads="1"/>
            </p:cNvSpPr>
            <p:nvPr/>
          </p:nvSpPr>
          <p:spPr bwMode="auto">
            <a:xfrm>
              <a:off x="2113" y="1331"/>
              <a:ext cx="26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F</a:t>
              </a:r>
              <a:r>
                <a:rPr lang="en-US" altLang="zh-CN" baseline="-30000">
                  <a:solidFill>
                    <a:schemeClr val="tx1"/>
                  </a:solidFill>
                  <a:latin typeface="Times New Roman" pitchFamily="18" charset="0"/>
                  <a:cs typeface="Times New Roman" pitchFamily="18" charset="0"/>
                </a:rPr>
                <a:t>3</a:t>
              </a:r>
              <a:endParaRPr lang="en-US" altLang="zh-CN">
                <a:solidFill>
                  <a:schemeClr val="tx1"/>
                </a:solidFill>
              </a:endParaRPr>
            </a:p>
          </p:txBody>
        </p:sp>
        <p:sp>
          <p:nvSpPr>
            <p:cNvPr id="21531" name="Text Box 27"/>
            <p:cNvSpPr txBox="1">
              <a:spLocks noChangeArrowheads="1"/>
            </p:cNvSpPr>
            <p:nvPr/>
          </p:nvSpPr>
          <p:spPr bwMode="auto">
            <a:xfrm>
              <a:off x="1219" y="539"/>
              <a:ext cx="23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dirty="0">
                  <a:solidFill>
                    <a:schemeClr val="tx1"/>
                  </a:solidFill>
                  <a:latin typeface="Times New Roman" pitchFamily="18" charset="0"/>
                  <a:cs typeface="Times New Roman" pitchFamily="18" charset="0"/>
                </a:rPr>
                <a:t>F</a:t>
              </a:r>
              <a:r>
                <a:rPr lang="en-US" altLang="zh-CN" baseline="-30000" dirty="0">
                  <a:solidFill>
                    <a:schemeClr val="tx1"/>
                  </a:solidFill>
                  <a:latin typeface="Times New Roman" pitchFamily="18" charset="0"/>
                  <a:cs typeface="Times New Roman" pitchFamily="18" charset="0"/>
                </a:rPr>
                <a:t>4</a:t>
              </a:r>
              <a:endParaRPr lang="en-US" altLang="zh-CN" dirty="0">
                <a:solidFill>
                  <a:schemeClr val="tx1"/>
                </a:solidFill>
              </a:endParaRPr>
            </a:p>
          </p:txBody>
        </p:sp>
        <p:sp>
          <p:nvSpPr>
            <p:cNvPr id="21532" name="Text Box 28"/>
            <p:cNvSpPr txBox="1">
              <a:spLocks noChangeArrowheads="1"/>
            </p:cNvSpPr>
            <p:nvPr/>
          </p:nvSpPr>
          <p:spPr bwMode="auto">
            <a:xfrm>
              <a:off x="1292" y="2155"/>
              <a:ext cx="255"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F</a:t>
              </a:r>
              <a:r>
                <a:rPr lang="en-US" altLang="zh-CN" baseline="-30000">
                  <a:solidFill>
                    <a:schemeClr val="tx1"/>
                  </a:solidFill>
                  <a:latin typeface="Times New Roman" pitchFamily="18" charset="0"/>
                  <a:cs typeface="Times New Roman" pitchFamily="18" charset="0"/>
                </a:rPr>
                <a:t>5</a:t>
              </a:r>
              <a:endParaRPr lang="en-US" altLang="zh-CN">
                <a:solidFill>
                  <a:schemeClr val="tx1"/>
                </a:solidFill>
              </a:endParaRPr>
            </a:p>
          </p:txBody>
        </p:sp>
      </p:grpSp>
      <p:sp>
        <p:nvSpPr>
          <p:cNvPr id="21533" name="Text Box 35" descr="瓦形"/>
          <p:cNvSpPr txBox="1">
            <a:spLocks noChangeArrowheads="1"/>
          </p:cNvSpPr>
          <p:nvPr/>
        </p:nvSpPr>
        <p:spPr bwMode="auto">
          <a:xfrm>
            <a:off x="4122738" y="5994400"/>
            <a:ext cx="3421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9-11 </a:t>
            </a:r>
            <a:r>
              <a:rPr lang="zh-CN" altLang="en-US" sz="2000">
                <a:solidFill>
                  <a:schemeClr val="tx1"/>
                </a:solidFill>
                <a:latin typeface="楷体_GB2312" pitchFamily="1" charset="-122"/>
                <a:ea typeface="楷体_GB2312" pitchFamily="1" charset="-122"/>
              </a:rPr>
              <a:t>立方体的展开图</a:t>
            </a:r>
            <a:r>
              <a:rPr lang="zh-CN" altLang="en-US" b="1"/>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463FE84D-C226-489C-8DCD-B5B6E26C8D6C}" type="slidenum">
              <a:rPr lang="en-US" altLang="zh-CN" sz="1200">
                <a:solidFill>
                  <a:schemeClr val="tx1"/>
                </a:solidFill>
                <a:latin typeface="Garamond" pitchFamily="18" charset="0"/>
              </a:rPr>
              <a:pPr algn="r" eaLnBrk="1" hangingPunct="1">
                <a:spcBef>
                  <a:spcPct val="0"/>
                </a:spcBef>
              </a:pPr>
              <a:t>20</a:t>
            </a:fld>
            <a:endParaRPr lang="en-US" altLang="zh-CN" sz="1200">
              <a:solidFill>
                <a:schemeClr val="tx1"/>
              </a:solidFill>
              <a:latin typeface="Garamond" pitchFamily="18" charset="0"/>
            </a:endParaRPr>
          </a:p>
        </p:txBody>
      </p:sp>
      <p:sp>
        <p:nvSpPr>
          <p:cNvPr id="22531" name="Text Box 4" descr="瓦形"/>
          <p:cNvSpPr txBox="1">
            <a:spLocks noChangeArrowheads="1"/>
          </p:cNvSpPr>
          <p:nvPr/>
        </p:nvSpPr>
        <p:spPr bwMode="auto">
          <a:xfrm>
            <a:off x="385763" y="458788"/>
            <a:ext cx="69310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a:solidFill>
                  <a:schemeClr val="tx1"/>
                </a:solidFill>
                <a:latin typeface="楷体_GB2312" pitchFamily="1" charset="-122"/>
                <a:ea typeface="楷体_GB2312" pitchFamily="1" charset="-122"/>
              </a:rPr>
              <a:t>表</a:t>
            </a:r>
            <a:r>
              <a:rPr lang="en-US" altLang="zh-CN">
                <a:solidFill>
                  <a:schemeClr val="tx1"/>
                </a:solidFill>
                <a:latin typeface="楷体_GB2312" pitchFamily="1" charset="-122"/>
                <a:ea typeface="楷体_GB2312" pitchFamily="1" charset="-122"/>
              </a:rPr>
              <a:t>9-4</a:t>
            </a:r>
            <a:r>
              <a:rPr lang="zh-CN" altLang="en-US">
                <a:solidFill>
                  <a:schemeClr val="tx1"/>
                </a:solidFill>
                <a:latin typeface="楷体_GB2312" pitchFamily="1" charset="-122"/>
                <a:ea typeface="楷体_GB2312" pitchFamily="1" charset="-122"/>
              </a:rPr>
              <a:t>根据立方体的展开图重新设计了面表结构。</a:t>
            </a:r>
            <a:r>
              <a:rPr lang="zh-CN" altLang="en-US" sz="2800" b="1">
                <a:solidFill>
                  <a:schemeClr val="tx1"/>
                </a:solidFill>
              </a:rPr>
              <a:t> </a:t>
            </a:r>
          </a:p>
        </p:txBody>
      </p:sp>
      <p:sp>
        <p:nvSpPr>
          <p:cNvPr id="22532" name="Rectangle 5" descr="瓦形"/>
          <p:cNvSpPr>
            <a:spLocks noChangeArrowheads="1"/>
          </p:cNvSpPr>
          <p:nvPr/>
        </p:nvSpPr>
        <p:spPr bwMode="auto">
          <a:xfrm>
            <a:off x="2457450" y="1350963"/>
            <a:ext cx="3511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b="1">
                <a:solidFill>
                  <a:schemeClr val="tx1"/>
                </a:solidFill>
                <a:latin typeface="楷体_GB2312" pitchFamily="1" charset="-122"/>
                <a:ea typeface="楷体_GB2312" pitchFamily="1" charset="-122"/>
              </a:rPr>
              <a:t>表</a:t>
            </a:r>
            <a:r>
              <a:rPr lang="en-US" altLang="zh-CN" b="1">
                <a:solidFill>
                  <a:schemeClr val="tx1"/>
                </a:solidFill>
                <a:latin typeface="楷体_GB2312" pitchFamily="1" charset="-122"/>
                <a:ea typeface="楷体_GB2312" pitchFamily="1" charset="-122"/>
              </a:rPr>
              <a:t>9-4</a:t>
            </a:r>
            <a:r>
              <a:rPr lang="zh-CN" altLang="en-US" b="1">
                <a:solidFill>
                  <a:schemeClr val="tx1"/>
                </a:solidFill>
                <a:latin typeface="楷体_GB2312" pitchFamily="1" charset="-122"/>
                <a:ea typeface="楷体_GB2312" pitchFamily="1" charset="-122"/>
              </a:rPr>
              <a:t>立方体面表</a:t>
            </a:r>
          </a:p>
        </p:txBody>
      </p:sp>
      <p:graphicFrame>
        <p:nvGraphicFramePr>
          <p:cNvPr id="22533" name="Group 5"/>
          <p:cNvGraphicFramePr>
            <a:graphicFrameLocks noGrp="1"/>
          </p:cNvGraphicFramePr>
          <p:nvPr/>
        </p:nvGraphicFramePr>
        <p:xfrm>
          <a:off x="657225" y="1898650"/>
          <a:ext cx="7877175" cy="4213228"/>
        </p:xfrm>
        <a:graphic>
          <a:graphicData uri="http://schemas.openxmlformats.org/drawingml/2006/table">
            <a:tbl>
              <a:tblPr/>
              <a:tblGrid>
                <a:gridCol w="719138">
                  <a:extLst>
                    <a:ext uri="{9D8B030D-6E8A-4147-A177-3AD203B41FA5}">
                      <a16:colId xmlns:a16="http://schemas.microsoft.com/office/drawing/2014/main" val="20000"/>
                    </a:ext>
                  </a:extLst>
                </a:gridCol>
                <a:gridCol w="1530350">
                  <a:extLst>
                    <a:ext uri="{9D8B030D-6E8A-4147-A177-3AD203B41FA5}">
                      <a16:colId xmlns:a16="http://schemas.microsoft.com/office/drawing/2014/main" val="20001"/>
                    </a:ext>
                  </a:extLst>
                </a:gridCol>
                <a:gridCol w="1576387">
                  <a:extLst>
                    <a:ext uri="{9D8B030D-6E8A-4147-A177-3AD203B41FA5}">
                      <a16:colId xmlns:a16="http://schemas.microsoft.com/office/drawing/2014/main" val="20002"/>
                    </a:ext>
                  </a:extLst>
                </a:gridCol>
                <a:gridCol w="1528763">
                  <a:extLst>
                    <a:ext uri="{9D8B030D-6E8A-4147-A177-3AD203B41FA5}">
                      <a16:colId xmlns:a16="http://schemas.microsoft.com/office/drawing/2014/main" val="20003"/>
                    </a:ext>
                  </a:extLst>
                </a:gridCol>
                <a:gridCol w="1530350">
                  <a:extLst>
                    <a:ext uri="{9D8B030D-6E8A-4147-A177-3AD203B41FA5}">
                      <a16:colId xmlns:a16="http://schemas.microsoft.com/office/drawing/2014/main" val="20004"/>
                    </a:ext>
                  </a:extLst>
                </a:gridCol>
                <a:gridCol w="992187">
                  <a:extLst>
                    <a:ext uri="{9D8B030D-6E8A-4147-A177-3AD203B41FA5}">
                      <a16:colId xmlns:a16="http://schemas.microsoft.com/office/drawing/2014/main" val="20005"/>
                    </a:ext>
                  </a:extLst>
                </a:gridCol>
              </a:tblGrid>
              <a:tr h="58578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200" b="0" i="0" u="none" strike="noStrike" cap="none" normalizeH="0" baseline="0" smtClean="0">
                          <a:ln>
                            <a:noFill/>
                          </a:ln>
                          <a:solidFill>
                            <a:schemeClr val="tx1"/>
                          </a:solidFill>
                          <a:effectLst/>
                          <a:latin typeface="Times New Roman" pitchFamily="18" charset="0"/>
                          <a:ea typeface="楷体_GB2312" pitchFamily="1" charset="-122"/>
                        </a:rPr>
                        <a:t>面</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Times New Roman" pitchFamily="18" charset="0"/>
                          <a:ea typeface="楷体_GB2312" pitchFamily="1" charset="-122"/>
                        </a:rPr>
                        <a:t>第一个顶点</a:t>
                      </a:r>
                      <a:endParaRPr kumimoji="0" lang="zh-CN" altLang="en-US" sz="1800" b="0" i="0" u="none" strike="noStrike" cap="none" normalizeH="0" baseline="0" smtClean="0">
                        <a:ln>
                          <a:noFill/>
                        </a:ln>
                        <a:solidFill>
                          <a:schemeClr val="tx1"/>
                        </a:solidFill>
                        <a:effectLst/>
                        <a:latin typeface="Arial" pitchFamily="34" charset="0"/>
                        <a:ea typeface="楷体_GB2312" pitchFamily="1" charset="-122"/>
                      </a:endParaRP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Times New Roman" pitchFamily="18" charset="0"/>
                          <a:ea typeface="楷体_GB2312" pitchFamily="1" charset="-122"/>
                        </a:rPr>
                        <a:t>第二个顶点</a:t>
                      </a:r>
                      <a:endParaRPr kumimoji="0" lang="zh-CN" altLang="en-US" sz="1800" b="0" i="0" u="none" strike="noStrike" cap="none" normalizeH="0" baseline="0" smtClean="0">
                        <a:ln>
                          <a:noFill/>
                        </a:ln>
                        <a:solidFill>
                          <a:schemeClr val="tx1"/>
                        </a:solidFill>
                        <a:effectLst/>
                        <a:latin typeface="Arial" pitchFamily="34" charset="0"/>
                        <a:ea typeface="楷体_GB2312" pitchFamily="1" charset="-122"/>
                      </a:endParaRP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Times New Roman" pitchFamily="18" charset="0"/>
                          <a:ea typeface="楷体_GB2312" pitchFamily="1" charset="-122"/>
                        </a:rPr>
                        <a:t>第三个顶点</a:t>
                      </a:r>
                      <a:endParaRPr kumimoji="0" lang="zh-CN" altLang="en-US" sz="1800" b="0" i="0" u="none" strike="noStrike" cap="none" normalizeH="0" baseline="0" smtClean="0">
                        <a:ln>
                          <a:noFill/>
                        </a:ln>
                        <a:solidFill>
                          <a:schemeClr val="tx1"/>
                        </a:solidFill>
                        <a:effectLst/>
                        <a:latin typeface="Arial" pitchFamily="34" charset="0"/>
                        <a:ea typeface="楷体_GB2312" pitchFamily="1" charset="-122"/>
                      </a:endParaRP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Times New Roman" pitchFamily="18" charset="0"/>
                          <a:ea typeface="楷体_GB2312" pitchFamily="1" charset="-122"/>
                        </a:rPr>
                        <a:t>第四个顶点</a:t>
                      </a:r>
                      <a:endParaRPr kumimoji="0" lang="zh-CN" altLang="en-US" sz="1800" b="0" i="0" u="none" strike="noStrike" cap="none" normalizeH="0" baseline="0" smtClean="0">
                        <a:ln>
                          <a:noFill/>
                        </a:ln>
                        <a:solidFill>
                          <a:schemeClr val="tx1"/>
                        </a:solidFill>
                        <a:effectLst/>
                        <a:latin typeface="Arial" pitchFamily="34" charset="0"/>
                        <a:ea typeface="楷体_GB2312" pitchFamily="1" charset="-122"/>
                      </a:endParaRP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Times New Roman" pitchFamily="18" charset="0"/>
                          <a:ea typeface="楷体_GB2312" pitchFamily="1" charset="-122"/>
                        </a:rPr>
                        <a:t>说明</a:t>
                      </a:r>
                      <a:endParaRPr kumimoji="0" lang="zh-CN" altLang="en-US" sz="1800" b="0" i="0" u="none" strike="noStrike" cap="none" normalizeH="0" baseline="0" smtClean="0">
                        <a:ln>
                          <a:noFill/>
                        </a:ln>
                        <a:solidFill>
                          <a:schemeClr val="tx1"/>
                        </a:solidFill>
                        <a:effectLst/>
                        <a:latin typeface="Arial" pitchFamily="34" charset="0"/>
                        <a:ea typeface="楷体_GB2312" pitchFamily="1" charset="-122"/>
                      </a:endParaRP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468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18000" smtClean="0">
                          <a:ln>
                            <a:noFill/>
                          </a:ln>
                          <a:solidFill>
                            <a:schemeClr val="tx1"/>
                          </a:solidFill>
                          <a:effectLst/>
                          <a:latin typeface="楷体_GB2312" pitchFamily="1" charset="-122"/>
                          <a:ea typeface="楷体_GB2312" pitchFamily="1" charset="-122"/>
                        </a:rPr>
                        <a:t>0</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4</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5</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6</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7</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楷体_GB2312" pitchFamily="1" charset="-122"/>
                        </a:rPr>
                        <a:t>前面</a:t>
                      </a:r>
                      <a:endParaRPr kumimoji="0" lang="zh-CN" altLang="en-US" sz="2400" b="0" i="0" u="none" strike="noStrike" cap="none" normalizeH="0" baseline="0" smtClean="0">
                        <a:ln>
                          <a:noFill/>
                        </a:ln>
                        <a:solidFill>
                          <a:schemeClr val="tx1"/>
                        </a:solidFill>
                        <a:effectLst/>
                        <a:latin typeface="Arial" pitchFamily="34" charset="0"/>
                        <a:ea typeface="楷体_GB2312" pitchFamily="1" charset="-122"/>
                      </a:endParaRP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848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18000" smtClean="0">
                          <a:ln>
                            <a:noFill/>
                          </a:ln>
                          <a:solidFill>
                            <a:schemeClr val="tx1"/>
                          </a:solidFill>
                          <a:effectLst/>
                          <a:latin typeface="楷体_GB2312" pitchFamily="1" charset="-122"/>
                          <a:ea typeface="楷体_GB2312" pitchFamily="1" charset="-122"/>
                        </a:rPr>
                        <a:t>1</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0</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3</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2</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楷体_GB2312" pitchFamily="1" charset="-122"/>
                        </a:rPr>
                        <a:t>后面</a:t>
                      </a:r>
                      <a:endParaRPr kumimoji="0" lang="zh-CN" altLang="en-US" sz="2400" b="0" i="0" u="none" strike="noStrike" cap="none" normalizeH="0" baseline="0" smtClean="0">
                        <a:ln>
                          <a:noFill/>
                        </a:ln>
                        <a:solidFill>
                          <a:schemeClr val="tx1"/>
                        </a:solidFill>
                        <a:effectLst/>
                        <a:latin typeface="Arial" pitchFamily="34" charset="0"/>
                        <a:ea typeface="楷体_GB2312" pitchFamily="1" charset="-122"/>
                      </a:endParaRP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848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25000" smtClean="0">
                          <a:ln>
                            <a:noFill/>
                          </a:ln>
                          <a:solidFill>
                            <a:schemeClr val="tx1"/>
                          </a:solidFill>
                          <a:effectLst/>
                          <a:latin typeface="楷体_GB2312" pitchFamily="1" charset="-122"/>
                          <a:ea typeface="楷体_GB2312" pitchFamily="1" charset="-122"/>
                        </a:rPr>
                        <a:t>2</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0</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4</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7</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3</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楷体_GB2312" pitchFamily="1" charset="-122"/>
                        </a:rPr>
                        <a:t>左面</a:t>
                      </a:r>
                      <a:endParaRPr kumimoji="0" lang="zh-CN" altLang="en-US" sz="2400" b="0" i="0" u="none" strike="noStrike" cap="none" normalizeH="0" baseline="0" smtClean="0">
                        <a:ln>
                          <a:noFill/>
                        </a:ln>
                        <a:solidFill>
                          <a:schemeClr val="tx1"/>
                        </a:solidFill>
                        <a:effectLst/>
                        <a:latin typeface="Arial" pitchFamily="34" charset="0"/>
                        <a:ea typeface="楷体_GB2312" pitchFamily="1" charset="-122"/>
                      </a:endParaRP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848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25000" smtClean="0">
                          <a:ln>
                            <a:noFill/>
                          </a:ln>
                          <a:solidFill>
                            <a:schemeClr val="tx1"/>
                          </a:solidFill>
                          <a:effectLst/>
                          <a:latin typeface="楷体_GB2312" pitchFamily="1" charset="-122"/>
                          <a:ea typeface="楷体_GB2312" pitchFamily="1" charset="-122"/>
                        </a:rPr>
                        <a:t>3</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2</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6</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5</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楷体_GB2312" pitchFamily="1" charset="-122"/>
                        </a:rPr>
                        <a:t>右面</a:t>
                      </a:r>
                      <a:endParaRPr kumimoji="0" lang="zh-CN" altLang="en-US" sz="2400" b="0" i="0" u="none" strike="noStrike" cap="none" normalizeH="0" baseline="0" smtClean="0">
                        <a:ln>
                          <a:noFill/>
                        </a:ln>
                        <a:solidFill>
                          <a:schemeClr val="tx1"/>
                        </a:solidFill>
                        <a:effectLst/>
                        <a:latin typeface="Arial" pitchFamily="34" charset="0"/>
                        <a:ea typeface="楷体_GB2312" pitchFamily="1" charset="-122"/>
                      </a:endParaRP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25000" smtClean="0">
                          <a:ln>
                            <a:noFill/>
                          </a:ln>
                          <a:solidFill>
                            <a:schemeClr val="tx1"/>
                          </a:solidFill>
                          <a:effectLst/>
                          <a:latin typeface="楷体_GB2312" pitchFamily="1" charset="-122"/>
                          <a:ea typeface="楷体_GB2312" pitchFamily="1" charset="-122"/>
                        </a:rPr>
                        <a:t>4</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2</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3</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7</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6</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楷体_GB2312" pitchFamily="1" charset="-122"/>
                        </a:rPr>
                        <a:t>顶面</a:t>
                      </a:r>
                      <a:endParaRPr kumimoji="0" lang="zh-CN" altLang="en-US" sz="2400" b="0" i="0" u="none" strike="noStrike" cap="none" normalizeH="0" baseline="0" smtClean="0">
                        <a:ln>
                          <a:noFill/>
                        </a:ln>
                        <a:solidFill>
                          <a:schemeClr val="tx1"/>
                        </a:solidFill>
                        <a:effectLst/>
                        <a:latin typeface="Arial" pitchFamily="34" charset="0"/>
                        <a:ea typeface="楷体_GB2312" pitchFamily="1" charset="-122"/>
                      </a:endParaRP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785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18000" smtClean="0">
                          <a:ln>
                            <a:noFill/>
                          </a:ln>
                          <a:solidFill>
                            <a:schemeClr val="tx1"/>
                          </a:solidFill>
                          <a:effectLst/>
                          <a:latin typeface="楷体_GB2312" pitchFamily="1" charset="-122"/>
                          <a:ea typeface="楷体_GB2312" pitchFamily="1" charset="-122"/>
                        </a:rPr>
                        <a:t>5</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0</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5</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4</a:t>
                      </a: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Times New Roman" pitchFamily="18" charset="0"/>
                          <a:ea typeface="楷体_GB2312" pitchFamily="1" charset="-122"/>
                        </a:rPr>
                        <a:t>底面</a:t>
                      </a:r>
                      <a:endParaRPr kumimoji="0" lang="zh-CN" altLang="en-US" sz="2400" b="0" i="0" u="none" strike="noStrike" cap="none" normalizeH="0" baseline="0" smtClean="0">
                        <a:ln>
                          <a:noFill/>
                        </a:ln>
                        <a:solidFill>
                          <a:schemeClr val="tx1"/>
                        </a:solidFill>
                        <a:effectLst/>
                        <a:latin typeface="Arial" pitchFamily="34" charset="0"/>
                        <a:ea typeface="楷体_GB2312" pitchFamily="1" charset="-122"/>
                      </a:endParaRPr>
                    </a:p>
                  </a:txBody>
                  <a:tcPr marL="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6E4145F2-B783-4549-89F7-CF9256F35B04}" type="slidenum">
              <a:rPr lang="en-US" altLang="zh-CN" sz="1200">
                <a:solidFill>
                  <a:schemeClr val="tx1"/>
                </a:solidFill>
                <a:latin typeface="Garamond" pitchFamily="18" charset="0"/>
              </a:rPr>
              <a:pPr algn="r" eaLnBrk="1" hangingPunct="1">
                <a:spcBef>
                  <a:spcPct val="0"/>
                </a:spcBef>
              </a:pPr>
              <a:t>21</a:t>
            </a:fld>
            <a:endParaRPr lang="en-US" altLang="zh-CN" sz="1200">
              <a:solidFill>
                <a:schemeClr val="tx1"/>
              </a:solidFill>
              <a:latin typeface="Garamond" pitchFamily="18" charset="0"/>
            </a:endParaRPr>
          </a:p>
        </p:txBody>
      </p:sp>
      <p:sp>
        <p:nvSpPr>
          <p:cNvPr id="23555" name="Text Box 4"/>
          <p:cNvSpPr txBox="1">
            <a:spLocks noChangeArrowheads="1"/>
          </p:cNvSpPr>
          <p:nvPr/>
        </p:nvSpPr>
        <p:spPr bwMode="auto">
          <a:xfrm>
            <a:off x="522288" y="414338"/>
            <a:ext cx="3463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b="1" dirty="0">
                <a:solidFill>
                  <a:schemeClr val="tx1"/>
                </a:solidFill>
                <a:latin typeface="楷体_GB2312" pitchFamily="1" charset="-122"/>
                <a:ea typeface="楷体_GB2312" pitchFamily="1" charset="-122"/>
              </a:rPr>
              <a:t>1</a:t>
            </a:r>
            <a:r>
              <a:rPr lang="zh-CN" altLang="en-US" b="1" dirty="0">
                <a:solidFill>
                  <a:schemeClr val="tx1"/>
                </a:solidFill>
                <a:latin typeface="楷体_GB2312" pitchFamily="1" charset="-122"/>
                <a:ea typeface="楷体_GB2312" pitchFamily="1" charset="-122"/>
              </a:rPr>
              <a:t>．定义三维</a:t>
            </a:r>
            <a:r>
              <a:rPr lang="zh-CN" altLang="en-US" b="1" dirty="0">
                <a:solidFill>
                  <a:srgbClr val="FF0000"/>
                </a:solidFill>
                <a:latin typeface="黑体" pitchFamily="49" charset="-122"/>
                <a:ea typeface="黑体" pitchFamily="49" charset="-122"/>
              </a:rPr>
              <a:t>顶点类 </a:t>
            </a:r>
          </a:p>
        </p:txBody>
      </p:sp>
      <p:sp>
        <p:nvSpPr>
          <p:cNvPr id="23556" name="Text Box 7"/>
          <p:cNvSpPr txBox="1">
            <a:spLocks noChangeArrowheads="1"/>
          </p:cNvSpPr>
          <p:nvPr/>
        </p:nvSpPr>
        <p:spPr bwMode="auto">
          <a:xfrm>
            <a:off x="746125" y="954088"/>
            <a:ext cx="7200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dirty="0">
                <a:solidFill>
                  <a:schemeClr val="tx1"/>
                </a:solidFill>
                <a:latin typeface="楷体_GB2312" pitchFamily="1" charset="-122"/>
                <a:ea typeface="楷体_GB2312" pitchFamily="1" charset="-122"/>
              </a:rPr>
              <a:t>如图</a:t>
            </a:r>
            <a:r>
              <a:rPr lang="en-US" altLang="zh-CN" dirty="0">
                <a:solidFill>
                  <a:schemeClr val="tx1"/>
                </a:solidFill>
                <a:latin typeface="楷体_GB2312" pitchFamily="1" charset="-122"/>
                <a:ea typeface="楷体_GB2312" pitchFamily="1" charset="-122"/>
              </a:rPr>
              <a:t>9-12</a:t>
            </a:r>
            <a:r>
              <a:rPr lang="zh-CN" altLang="en-US" dirty="0">
                <a:solidFill>
                  <a:schemeClr val="tx1"/>
                </a:solidFill>
                <a:latin typeface="楷体_GB2312" pitchFamily="1" charset="-122"/>
                <a:ea typeface="楷体_GB2312" pitchFamily="1" charset="-122"/>
              </a:rPr>
              <a:t>所示，包括顶点的三维</a:t>
            </a:r>
            <a:r>
              <a:rPr lang="zh-CN" altLang="en-US" b="1" dirty="0">
                <a:solidFill>
                  <a:srgbClr val="FF0000"/>
                </a:solidFill>
                <a:latin typeface="黑体" pitchFamily="49" charset="-122"/>
                <a:ea typeface="黑体" pitchFamily="49" charset="-122"/>
              </a:rPr>
              <a:t>坐标</a:t>
            </a:r>
            <a:r>
              <a:rPr lang="zh-CN" altLang="en-US" dirty="0">
                <a:solidFill>
                  <a:schemeClr val="tx1"/>
                </a:solidFill>
                <a:latin typeface="楷体_GB2312" pitchFamily="1" charset="-122"/>
                <a:ea typeface="楷体_GB2312" pitchFamily="1" charset="-122"/>
              </a:rPr>
              <a:t>（</a:t>
            </a:r>
            <a:r>
              <a:rPr lang="en-US" altLang="zh-CN" dirty="0" err="1">
                <a:solidFill>
                  <a:schemeClr val="tx1"/>
                </a:solidFill>
                <a:latin typeface="楷体_GB2312" pitchFamily="1" charset="-122"/>
                <a:ea typeface="楷体_GB2312" pitchFamily="1" charset="-122"/>
              </a:rPr>
              <a:t>x,y,z</a:t>
            </a:r>
            <a:r>
              <a:rPr lang="en-US" altLang="zh-CN" dirty="0">
                <a:solidFill>
                  <a:schemeClr val="tx1"/>
                </a:solidFill>
                <a:latin typeface="楷体_GB2312" pitchFamily="1" charset="-122"/>
                <a:ea typeface="楷体_GB2312" pitchFamily="1" charset="-122"/>
              </a:rPr>
              <a:t>) </a:t>
            </a:r>
            <a:endParaRPr lang="zh-CN" altLang="en-US" dirty="0">
              <a:solidFill>
                <a:schemeClr val="tx1"/>
              </a:solidFill>
              <a:latin typeface="楷体_GB2312" pitchFamily="1" charset="-122"/>
              <a:ea typeface="楷体_GB2312" pitchFamily="1" charset="-122"/>
            </a:endParaRPr>
          </a:p>
        </p:txBody>
      </p:sp>
      <p:sp>
        <p:nvSpPr>
          <p:cNvPr id="23557" name="Text Box 8"/>
          <p:cNvSpPr txBox="1">
            <a:spLocks noChangeArrowheads="1"/>
          </p:cNvSpPr>
          <p:nvPr/>
        </p:nvSpPr>
        <p:spPr bwMode="auto">
          <a:xfrm>
            <a:off x="3402013" y="5678488"/>
            <a:ext cx="2790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9-12 </a:t>
            </a:r>
            <a:r>
              <a:rPr lang="zh-CN" altLang="en-US" sz="2000">
                <a:solidFill>
                  <a:schemeClr val="tx1"/>
                </a:solidFill>
                <a:latin typeface="楷体_GB2312" pitchFamily="1" charset="-122"/>
                <a:ea typeface="楷体_GB2312" pitchFamily="1" charset="-122"/>
              </a:rPr>
              <a:t>三维顶点类</a:t>
            </a:r>
            <a:r>
              <a:rPr lang="zh-CN" altLang="en-US" sz="2000">
                <a:latin typeface="楷体_GB2312" pitchFamily="1" charset="-122"/>
                <a:ea typeface="楷体_GB2312" pitchFamily="1" charset="-122"/>
              </a:rPr>
              <a:t> </a:t>
            </a:r>
          </a:p>
        </p:txBody>
      </p:sp>
      <p:graphicFrame>
        <p:nvGraphicFramePr>
          <p:cNvPr id="23559" name="Object 45"/>
          <p:cNvGraphicFramePr>
            <a:graphicFrameLocks noChangeAspect="1"/>
          </p:cNvGraphicFramePr>
          <p:nvPr/>
        </p:nvGraphicFramePr>
        <p:xfrm>
          <a:off x="2411413" y="1584325"/>
          <a:ext cx="4140200" cy="3686175"/>
        </p:xfrm>
        <a:graphic>
          <a:graphicData uri="http://schemas.openxmlformats.org/presentationml/2006/ole">
            <mc:AlternateContent xmlns:mc="http://schemas.openxmlformats.org/markup-compatibility/2006">
              <mc:Choice xmlns:v="urn:schemas-microsoft-com:vml" Requires="v">
                <p:oleObj spid="_x0000_s23585" r:id="rId3" imgW="2530772" imgH="2242754" progId="Visio.Drawing.11">
                  <p:embed/>
                </p:oleObj>
              </mc:Choice>
              <mc:Fallback>
                <p:oleObj r:id="rId3" imgW="2530772" imgH="2242754" progId="Visio.Drawing.11">
                  <p:embed/>
                  <p:pic>
                    <p:nvPicPr>
                      <p:cNvPr id="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1584325"/>
                        <a:ext cx="4140200" cy="3686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147D38C3-A597-45D9-97C0-4252836268D0}" type="slidenum">
              <a:rPr lang="en-US" altLang="zh-CN" sz="1200">
                <a:solidFill>
                  <a:schemeClr val="tx1"/>
                </a:solidFill>
                <a:latin typeface="Garamond" pitchFamily="18" charset="0"/>
              </a:rPr>
              <a:pPr algn="r" eaLnBrk="1" hangingPunct="1">
                <a:spcBef>
                  <a:spcPct val="0"/>
                </a:spcBef>
              </a:pPr>
              <a:t>22</a:t>
            </a:fld>
            <a:endParaRPr lang="en-US" altLang="zh-CN" sz="1200">
              <a:solidFill>
                <a:schemeClr val="tx1"/>
              </a:solidFill>
              <a:latin typeface="Garamond" pitchFamily="18" charset="0"/>
            </a:endParaRPr>
          </a:p>
        </p:txBody>
      </p:sp>
      <p:sp>
        <p:nvSpPr>
          <p:cNvPr id="24579" name="Text Box 4"/>
          <p:cNvSpPr txBox="1">
            <a:spLocks noChangeArrowheads="1"/>
          </p:cNvSpPr>
          <p:nvPr/>
        </p:nvSpPr>
        <p:spPr bwMode="auto">
          <a:xfrm>
            <a:off x="701675" y="233363"/>
            <a:ext cx="3014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b="1" dirty="0">
                <a:solidFill>
                  <a:schemeClr val="tx1"/>
                </a:solidFill>
                <a:latin typeface="楷体_GB2312" pitchFamily="1" charset="-122"/>
                <a:ea typeface="楷体_GB2312" pitchFamily="1" charset="-122"/>
              </a:rPr>
              <a:t>2</a:t>
            </a:r>
            <a:r>
              <a:rPr lang="zh-CN" altLang="en-US" b="1" dirty="0">
                <a:solidFill>
                  <a:schemeClr val="tx1"/>
                </a:solidFill>
                <a:latin typeface="楷体_GB2312" pitchFamily="1" charset="-122"/>
                <a:ea typeface="楷体_GB2312" pitchFamily="1" charset="-122"/>
              </a:rPr>
              <a:t>．定义</a:t>
            </a:r>
            <a:r>
              <a:rPr lang="zh-CN" altLang="en-US" b="1" dirty="0">
                <a:solidFill>
                  <a:srgbClr val="FF0000"/>
                </a:solidFill>
                <a:latin typeface="方正粗黑宋简体" panose="02000000000000000000" pitchFamily="2" charset="-122"/>
                <a:ea typeface="方正粗黑宋简体" panose="02000000000000000000" pitchFamily="2" charset="-122"/>
              </a:rPr>
              <a:t>表面类</a:t>
            </a:r>
            <a:r>
              <a:rPr lang="zh-CN" altLang="en-US" b="1" dirty="0">
                <a:solidFill>
                  <a:srgbClr val="FF0000"/>
                </a:solidFill>
                <a:latin typeface="黑体" pitchFamily="49" charset="-122"/>
                <a:ea typeface="黑体" pitchFamily="49" charset="-122"/>
              </a:rPr>
              <a:t> </a:t>
            </a:r>
          </a:p>
        </p:txBody>
      </p:sp>
      <p:sp>
        <p:nvSpPr>
          <p:cNvPr id="24580" name="Text Box 5"/>
          <p:cNvSpPr txBox="1">
            <a:spLocks noChangeArrowheads="1"/>
          </p:cNvSpPr>
          <p:nvPr/>
        </p:nvSpPr>
        <p:spPr bwMode="auto">
          <a:xfrm>
            <a:off x="701675" y="666750"/>
            <a:ext cx="80105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b="1" dirty="0">
                <a:latin typeface="Adobe 楷体 Std R" pitchFamily="2" charset="-122"/>
                <a:ea typeface="Adobe 楷体 Std R" pitchFamily="2" charset="-122"/>
              </a:rPr>
              <a:t>      </a:t>
            </a:r>
            <a:r>
              <a:rPr lang="zh-CN" altLang="en-US" dirty="0">
                <a:solidFill>
                  <a:schemeClr val="tx1"/>
                </a:solidFill>
                <a:latin typeface="楷体_GB2312" pitchFamily="1" charset="-122"/>
                <a:ea typeface="楷体_GB2312" pitchFamily="1" charset="-122"/>
              </a:rPr>
              <a:t>如图</a:t>
            </a:r>
            <a:r>
              <a:rPr lang="en-US" altLang="zh-CN" dirty="0">
                <a:solidFill>
                  <a:schemeClr val="tx1"/>
                </a:solidFill>
                <a:latin typeface="楷体_GB2312" pitchFamily="1" charset="-122"/>
                <a:ea typeface="楷体_GB2312" pitchFamily="1" charset="-122"/>
              </a:rPr>
              <a:t>9-13,</a:t>
            </a:r>
            <a:r>
              <a:rPr lang="zh-CN" altLang="en-US" dirty="0">
                <a:solidFill>
                  <a:schemeClr val="tx1"/>
                </a:solidFill>
                <a:latin typeface="楷体_GB2312" pitchFamily="1" charset="-122"/>
                <a:ea typeface="楷体_GB2312" pitchFamily="1" charset="-122"/>
              </a:rPr>
              <a:t>表面类包括表面的</a:t>
            </a:r>
            <a:r>
              <a:rPr lang="zh-CN" altLang="en-US" b="1" dirty="0">
                <a:solidFill>
                  <a:srgbClr val="FF0000"/>
                </a:solidFill>
                <a:latin typeface="方正粗黑宋简体" panose="02000000000000000000" pitchFamily="2" charset="-122"/>
                <a:ea typeface="方正粗黑宋简体" panose="02000000000000000000" pitchFamily="2" charset="-122"/>
              </a:rPr>
              <a:t>顶点数</a:t>
            </a:r>
            <a:r>
              <a:rPr lang="zh-CN" altLang="en-US" dirty="0">
                <a:solidFill>
                  <a:schemeClr val="tx1"/>
                </a:solidFill>
                <a:latin typeface="楷体_GB2312" pitchFamily="1" charset="-122"/>
                <a:ea typeface="楷体_GB2312" pitchFamily="1" charset="-122"/>
              </a:rPr>
              <a:t>和表面的顶点</a:t>
            </a:r>
            <a:r>
              <a:rPr lang="zh-CN" altLang="en-US" b="1" dirty="0">
                <a:solidFill>
                  <a:srgbClr val="FF0000"/>
                </a:solidFill>
                <a:latin typeface="方正粗黑宋简体" panose="02000000000000000000" pitchFamily="2" charset="-122"/>
                <a:ea typeface="方正粗黑宋简体" panose="02000000000000000000" pitchFamily="2" charset="-122"/>
              </a:rPr>
              <a:t>索引号</a:t>
            </a:r>
            <a:r>
              <a:rPr lang="zh-CN" altLang="en-US" dirty="0">
                <a:solidFill>
                  <a:schemeClr val="tx1"/>
                </a:solidFill>
                <a:latin typeface="楷体_GB2312" pitchFamily="1" charset="-122"/>
                <a:ea typeface="楷体_GB2312" pitchFamily="1" charset="-122"/>
              </a:rPr>
              <a:t>。</a:t>
            </a:r>
            <a:r>
              <a:rPr lang="en-US" altLang="zh-CN" dirty="0" err="1">
                <a:solidFill>
                  <a:schemeClr val="tx1"/>
                </a:solidFill>
                <a:latin typeface="楷体_GB2312" pitchFamily="1" charset="-122"/>
                <a:ea typeface="楷体_GB2312" pitchFamily="1" charset="-122"/>
              </a:rPr>
              <a:t>SetNum</a:t>
            </a:r>
            <a:r>
              <a:rPr lang="en-US" altLang="zh-CN" dirty="0">
                <a:solidFill>
                  <a:schemeClr val="tx1"/>
                </a:solidFill>
                <a:latin typeface="楷体_GB2312" pitchFamily="1" charset="-122"/>
                <a:ea typeface="楷体_GB2312" pitchFamily="1" charset="-122"/>
              </a:rPr>
              <a:t>()</a:t>
            </a:r>
            <a:r>
              <a:rPr lang="zh-CN" altLang="en-US" dirty="0">
                <a:solidFill>
                  <a:schemeClr val="tx1"/>
                </a:solidFill>
                <a:latin typeface="楷体_GB2312" pitchFamily="1" charset="-122"/>
                <a:ea typeface="楷体_GB2312" pitchFamily="1" charset="-122"/>
              </a:rPr>
              <a:t>用于动态设置表面的顶点数，常用于</a:t>
            </a:r>
            <a:r>
              <a:rPr lang="zh-CN" altLang="en-US" b="1" dirty="0">
                <a:solidFill>
                  <a:srgbClr val="FF0000"/>
                </a:solidFill>
                <a:latin typeface="方正粗黑宋简体" panose="02000000000000000000" pitchFamily="2" charset="-122"/>
                <a:ea typeface="方正粗黑宋简体" panose="02000000000000000000" pitchFamily="2" charset="-122"/>
              </a:rPr>
              <a:t>处理</a:t>
            </a:r>
            <a:r>
              <a:rPr lang="en-US" altLang="zh-CN" b="1" dirty="0">
                <a:solidFill>
                  <a:srgbClr val="FF0000"/>
                </a:solidFill>
                <a:latin typeface="方正粗黑宋简体" panose="02000000000000000000" pitchFamily="2" charset="-122"/>
                <a:ea typeface="方正粗黑宋简体" panose="02000000000000000000" pitchFamily="2" charset="-122"/>
              </a:rPr>
              <a:t>3</a:t>
            </a:r>
            <a:r>
              <a:rPr lang="zh-CN" altLang="en-US" b="1" dirty="0">
                <a:solidFill>
                  <a:srgbClr val="FF0000"/>
                </a:solidFill>
                <a:latin typeface="方正粗黑宋简体" panose="02000000000000000000" pitchFamily="2" charset="-122"/>
                <a:ea typeface="方正粗黑宋简体" panose="02000000000000000000" pitchFamily="2" charset="-122"/>
              </a:rPr>
              <a:t>个顶点的三角形面片或</a:t>
            </a:r>
            <a:r>
              <a:rPr lang="en-US" altLang="zh-CN" b="1" dirty="0">
                <a:solidFill>
                  <a:srgbClr val="FF0000"/>
                </a:solidFill>
                <a:latin typeface="方正粗黑宋简体" panose="02000000000000000000" pitchFamily="2" charset="-122"/>
                <a:ea typeface="方正粗黑宋简体" panose="02000000000000000000" pitchFamily="2" charset="-122"/>
              </a:rPr>
              <a:t>4</a:t>
            </a:r>
            <a:r>
              <a:rPr lang="zh-CN" altLang="en-US" b="1" dirty="0">
                <a:solidFill>
                  <a:srgbClr val="FF0000"/>
                </a:solidFill>
                <a:latin typeface="方正粗黑宋简体" panose="02000000000000000000" pitchFamily="2" charset="-122"/>
                <a:ea typeface="方正粗黑宋简体" panose="02000000000000000000" pitchFamily="2" charset="-122"/>
              </a:rPr>
              <a:t>个顶点的四边形面片</a:t>
            </a:r>
            <a:r>
              <a:rPr lang="zh-CN" altLang="en-US" dirty="0">
                <a:solidFill>
                  <a:schemeClr val="tx1"/>
                </a:solidFill>
                <a:latin typeface="楷体_GB2312" pitchFamily="1" charset="-122"/>
                <a:ea typeface="楷体_GB2312" pitchFamily="1" charset="-122"/>
              </a:rPr>
              <a:t>。</a:t>
            </a:r>
          </a:p>
        </p:txBody>
      </p:sp>
      <p:sp>
        <p:nvSpPr>
          <p:cNvPr id="24582" name="Text Box 8"/>
          <p:cNvSpPr txBox="1">
            <a:spLocks noChangeArrowheads="1"/>
          </p:cNvSpPr>
          <p:nvPr/>
        </p:nvSpPr>
        <p:spPr bwMode="auto">
          <a:xfrm>
            <a:off x="3176588" y="5768975"/>
            <a:ext cx="23860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9-13 </a:t>
            </a:r>
            <a:r>
              <a:rPr lang="zh-CN" altLang="en-US" sz="2000">
                <a:solidFill>
                  <a:schemeClr val="tx1"/>
                </a:solidFill>
                <a:latin typeface="楷体_GB2312" pitchFamily="1" charset="-122"/>
                <a:ea typeface="楷体_GB2312" pitchFamily="1" charset="-122"/>
              </a:rPr>
              <a:t>表面类</a:t>
            </a:r>
            <a:r>
              <a:rPr lang="zh-CN" altLang="en-US" sz="2800" b="1"/>
              <a:t> </a:t>
            </a:r>
          </a:p>
        </p:txBody>
      </p:sp>
      <p:graphicFrame>
        <p:nvGraphicFramePr>
          <p:cNvPr id="24586" name="Object 13"/>
          <p:cNvGraphicFramePr>
            <a:graphicFrameLocks noChangeAspect="1"/>
          </p:cNvGraphicFramePr>
          <p:nvPr>
            <p:extLst>
              <p:ext uri="{D42A27DB-BD31-4B8C-83A1-F6EECF244321}">
                <p14:modId xmlns:p14="http://schemas.microsoft.com/office/powerpoint/2010/main" val="2171261948"/>
              </p:ext>
            </p:extLst>
          </p:nvPr>
        </p:nvGraphicFramePr>
        <p:xfrm>
          <a:off x="2051050" y="2033588"/>
          <a:ext cx="4951413" cy="3354387"/>
        </p:xfrm>
        <a:graphic>
          <a:graphicData uri="http://schemas.openxmlformats.org/presentationml/2006/ole">
            <mc:AlternateContent xmlns:mc="http://schemas.openxmlformats.org/markup-compatibility/2006">
              <mc:Choice xmlns:v="urn:schemas-microsoft-com:vml" Requires="v">
                <p:oleObj spid="_x0000_s24613" name="Visio" r:id="rId3" imgW="3256388" imgH="2210950" progId="Visio.Drawing.11">
                  <p:embed/>
                </p:oleObj>
              </mc:Choice>
              <mc:Fallback>
                <p:oleObj name="Visio" r:id="rId3" imgW="3256388" imgH="2210950" progId="Visio.Drawing.11">
                  <p:embed/>
                  <p:pic>
                    <p:nvPicPr>
                      <p:cNvPr id="0"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2033588"/>
                        <a:ext cx="4951413" cy="3354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0CD791D5-9A68-411C-A32F-DFA570647092}" type="slidenum">
              <a:rPr lang="en-US" altLang="zh-CN" sz="1200">
                <a:solidFill>
                  <a:schemeClr val="tx1"/>
                </a:solidFill>
                <a:latin typeface="Garamond" pitchFamily="18" charset="0"/>
              </a:rPr>
              <a:pPr algn="r" eaLnBrk="1" hangingPunct="1">
                <a:spcBef>
                  <a:spcPct val="0"/>
                </a:spcBef>
              </a:pPr>
              <a:t>23</a:t>
            </a:fld>
            <a:endParaRPr lang="en-US" altLang="zh-CN" sz="1200">
              <a:solidFill>
                <a:schemeClr val="tx1"/>
              </a:solidFill>
              <a:latin typeface="Garamond" pitchFamily="18" charset="0"/>
            </a:endParaRPr>
          </a:p>
        </p:txBody>
      </p:sp>
      <p:sp>
        <p:nvSpPr>
          <p:cNvPr id="25603" name="Text Box 4"/>
          <p:cNvSpPr txBox="1">
            <a:spLocks noChangeArrowheads="1"/>
          </p:cNvSpPr>
          <p:nvPr/>
        </p:nvSpPr>
        <p:spPr bwMode="auto">
          <a:xfrm>
            <a:off x="522288" y="188913"/>
            <a:ext cx="355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b="1">
                <a:solidFill>
                  <a:schemeClr val="tx1"/>
                </a:solidFill>
                <a:latin typeface="楷体_GB2312" pitchFamily="1" charset="-122"/>
                <a:ea typeface="楷体_GB2312" pitchFamily="1" charset="-122"/>
              </a:rPr>
              <a:t>3</a:t>
            </a:r>
            <a:r>
              <a:rPr lang="zh-CN" altLang="en-US" b="1">
                <a:solidFill>
                  <a:schemeClr val="tx1"/>
                </a:solidFill>
                <a:latin typeface="楷体_GB2312" pitchFamily="1" charset="-122"/>
                <a:ea typeface="楷体_GB2312" pitchFamily="1" charset="-122"/>
              </a:rPr>
              <a:t>．读入立方体的点表</a:t>
            </a:r>
            <a:r>
              <a:rPr lang="zh-CN" altLang="en-US" b="1">
                <a:latin typeface="楷体_GB2312" pitchFamily="1" charset="-122"/>
                <a:ea typeface="楷体_GB2312" pitchFamily="1" charset="-122"/>
              </a:rPr>
              <a:t> </a:t>
            </a:r>
          </a:p>
        </p:txBody>
      </p:sp>
      <p:sp>
        <p:nvSpPr>
          <p:cNvPr id="25604" name="Text Box 5"/>
          <p:cNvSpPr txBox="1">
            <a:spLocks noChangeArrowheads="1"/>
          </p:cNvSpPr>
          <p:nvPr/>
        </p:nvSpPr>
        <p:spPr bwMode="auto">
          <a:xfrm>
            <a:off x="522288" y="676275"/>
            <a:ext cx="8370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a:solidFill>
                  <a:schemeClr val="tx1"/>
                </a:solidFill>
                <a:latin typeface="楷体_GB2312" pitchFamily="1" charset="-122"/>
                <a:ea typeface="楷体_GB2312" pitchFamily="1" charset="-122"/>
              </a:rPr>
              <a:t>在程序中定义</a:t>
            </a:r>
            <a:r>
              <a:rPr lang="en-US" altLang="zh-CN">
                <a:solidFill>
                  <a:schemeClr val="tx1"/>
                </a:solidFill>
                <a:latin typeface="楷体_GB2312" pitchFamily="1" charset="-122"/>
                <a:ea typeface="楷体_GB2312" pitchFamily="1" charset="-122"/>
              </a:rPr>
              <a:t>ReadVertex()</a:t>
            </a:r>
            <a:r>
              <a:rPr lang="zh-CN" altLang="en-US">
                <a:solidFill>
                  <a:schemeClr val="tx1"/>
                </a:solidFill>
                <a:latin typeface="楷体_GB2312" pitchFamily="1" charset="-122"/>
                <a:ea typeface="楷体_GB2312" pitchFamily="1" charset="-122"/>
              </a:rPr>
              <a:t>函数读入物体的顶点表如图</a:t>
            </a:r>
            <a:r>
              <a:rPr lang="en-US" altLang="zh-CN">
                <a:solidFill>
                  <a:schemeClr val="tx1"/>
                </a:solidFill>
                <a:latin typeface="楷体_GB2312" pitchFamily="1" charset="-122"/>
                <a:ea typeface="楷体_GB2312" pitchFamily="1" charset="-122"/>
              </a:rPr>
              <a:t>9-14</a:t>
            </a:r>
            <a:endParaRPr lang="zh-CN" altLang="en-US">
              <a:solidFill>
                <a:schemeClr val="tx1"/>
              </a:solidFill>
              <a:latin typeface="楷体_GB2312" pitchFamily="1" charset="-122"/>
              <a:ea typeface="楷体_GB2312" pitchFamily="1" charset="-122"/>
            </a:endParaRPr>
          </a:p>
        </p:txBody>
      </p:sp>
      <p:sp>
        <p:nvSpPr>
          <p:cNvPr id="25606" name="Text Box 8"/>
          <p:cNvSpPr txBox="1">
            <a:spLocks noChangeArrowheads="1"/>
          </p:cNvSpPr>
          <p:nvPr/>
        </p:nvSpPr>
        <p:spPr bwMode="auto">
          <a:xfrm>
            <a:off x="2862263" y="5678488"/>
            <a:ext cx="42306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9-14 </a:t>
            </a:r>
            <a:r>
              <a:rPr lang="zh-CN" altLang="en-US" sz="2000">
                <a:solidFill>
                  <a:schemeClr val="tx1"/>
                </a:solidFill>
                <a:latin typeface="楷体_GB2312" pitchFamily="1" charset="-122"/>
                <a:ea typeface="楷体_GB2312" pitchFamily="1" charset="-122"/>
              </a:rPr>
              <a:t>读入立方体的顶点表</a:t>
            </a:r>
          </a:p>
        </p:txBody>
      </p:sp>
      <p:graphicFrame>
        <p:nvGraphicFramePr>
          <p:cNvPr id="25608" name="Object 9"/>
          <p:cNvGraphicFramePr>
            <a:graphicFrameLocks noChangeAspect="1"/>
          </p:cNvGraphicFramePr>
          <p:nvPr/>
        </p:nvGraphicFramePr>
        <p:xfrm>
          <a:off x="2366963" y="1449388"/>
          <a:ext cx="4365625" cy="3698875"/>
        </p:xfrm>
        <a:graphic>
          <a:graphicData uri="http://schemas.openxmlformats.org/presentationml/2006/ole">
            <mc:AlternateContent xmlns:mc="http://schemas.openxmlformats.org/markup-compatibility/2006">
              <mc:Choice xmlns:v="urn:schemas-microsoft-com:vml" Requires="v">
                <p:oleObj spid="_x0000_s25633" r:id="rId3" imgW="3043410" imgH="2578967" progId="Visio.Drawing.11">
                  <p:embed/>
                </p:oleObj>
              </mc:Choice>
              <mc:Fallback>
                <p:oleObj r:id="rId3" imgW="3043410" imgH="2578967" progId="Visio.Drawing.11">
                  <p:embed/>
                  <p:pic>
                    <p:nvPicPr>
                      <p:cNvPr id="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6963" y="1449388"/>
                        <a:ext cx="4365625" cy="3698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84716344-8DED-4EE6-9178-5416032A055C}" type="slidenum">
              <a:rPr lang="en-US" altLang="zh-CN" sz="1200">
                <a:solidFill>
                  <a:schemeClr val="tx1"/>
                </a:solidFill>
                <a:latin typeface="Garamond" pitchFamily="18" charset="0"/>
              </a:rPr>
              <a:pPr algn="r" eaLnBrk="1" hangingPunct="1">
                <a:spcBef>
                  <a:spcPct val="0"/>
                </a:spcBef>
              </a:pPr>
              <a:t>24</a:t>
            </a:fld>
            <a:endParaRPr lang="en-US" altLang="zh-CN" sz="1200">
              <a:solidFill>
                <a:schemeClr val="tx1"/>
              </a:solidFill>
              <a:latin typeface="Garamond" pitchFamily="18" charset="0"/>
            </a:endParaRPr>
          </a:p>
        </p:txBody>
      </p:sp>
      <p:sp>
        <p:nvSpPr>
          <p:cNvPr id="26627" name="Text Box 4"/>
          <p:cNvSpPr txBox="1">
            <a:spLocks noChangeArrowheads="1"/>
          </p:cNvSpPr>
          <p:nvPr/>
        </p:nvSpPr>
        <p:spPr bwMode="auto">
          <a:xfrm>
            <a:off x="657225" y="279400"/>
            <a:ext cx="3554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b="1">
                <a:solidFill>
                  <a:schemeClr val="tx1"/>
                </a:solidFill>
                <a:latin typeface="楷体_GB2312" pitchFamily="1" charset="-122"/>
                <a:ea typeface="楷体_GB2312" pitchFamily="1" charset="-122"/>
              </a:rPr>
              <a:t>4</a:t>
            </a:r>
            <a:r>
              <a:rPr lang="zh-CN" altLang="en-US" b="1">
                <a:solidFill>
                  <a:schemeClr val="tx1"/>
                </a:solidFill>
                <a:latin typeface="楷体_GB2312" pitchFamily="1" charset="-122"/>
                <a:ea typeface="楷体_GB2312" pitchFamily="1" charset="-122"/>
              </a:rPr>
              <a:t>．读入立方体的面表</a:t>
            </a:r>
          </a:p>
        </p:txBody>
      </p:sp>
      <p:sp>
        <p:nvSpPr>
          <p:cNvPr id="26628" name="Text Box 5"/>
          <p:cNvSpPr txBox="1">
            <a:spLocks noChangeArrowheads="1"/>
          </p:cNvSpPr>
          <p:nvPr/>
        </p:nvSpPr>
        <p:spPr bwMode="auto">
          <a:xfrm>
            <a:off x="566738" y="863600"/>
            <a:ext cx="8191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a:solidFill>
                  <a:schemeClr val="tx1"/>
                </a:solidFill>
                <a:latin typeface="楷体_GB2312" pitchFamily="1" charset="-122"/>
                <a:ea typeface="楷体_GB2312" pitchFamily="1" charset="-122"/>
              </a:rPr>
              <a:t>在程序中定义</a:t>
            </a:r>
            <a:r>
              <a:rPr lang="en-US" altLang="zh-CN">
                <a:solidFill>
                  <a:schemeClr val="tx1"/>
                </a:solidFill>
                <a:latin typeface="楷体_GB2312" pitchFamily="1" charset="-122"/>
                <a:ea typeface="楷体_GB2312" pitchFamily="1" charset="-122"/>
              </a:rPr>
              <a:t>ReadFace()</a:t>
            </a:r>
            <a:r>
              <a:rPr lang="zh-CN" altLang="en-US">
                <a:solidFill>
                  <a:schemeClr val="tx1"/>
                </a:solidFill>
                <a:latin typeface="楷体_GB2312" pitchFamily="1" charset="-122"/>
                <a:ea typeface="楷体_GB2312" pitchFamily="1" charset="-122"/>
              </a:rPr>
              <a:t>函数读入物体的面表，如图</a:t>
            </a:r>
            <a:r>
              <a:rPr lang="en-US" altLang="zh-CN">
                <a:solidFill>
                  <a:schemeClr val="tx1"/>
                </a:solidFill>
                <a:latin typeface="楷体_GB2312" pitchFamily="1" charset="-122"/>
                <a:ea typeface="楷体_GB2312" pitchFamily="1" charset="-122"/>
              </a:rPr>
              <a:t>9-15</a:t>
            </a:r>
            <a:endParaRPr lang="zh-CN" altLang="en-US">
              <a:solidFill>
                <a:schemeClr val="tx1"/>
              </a:solidFill>
              <a:latin typeface="楷体_GB2312" pitchFamily="1" charset="-122"/>
              <a:ea typeface="楷体_GB2312" pitchFamily="1" charset="-122"/>
            </a:endParaRPr>
          </a:p>
        </p:txBody>
      </p:sp>
      <p:sp>
        <p:nvSpPr>
          <p:cNvPr id="26630" name="Text Box 8"/>
          <p:cNvSpPr txBox="1">
            <a:spLocks noChangeArrowheads="1"/>
          </p:cNvSpPr>
          <p:nvPr/>
        </p:nvSpPr>
        <p:spPr bwMode="auto">
          <a:xfrm>
            <a:off x="3176588" y="5589588"/>
            <a:ext cx="3825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9-15 </a:t>
            </a:r>
            <a:r>
              <a:rPr lang="zh-CN" altLang="en-US" sz="2000">
                <a:solidFill>
                  <a:schemeClr val="tx1"/>
                </a:solidFill>
                <a:latin typeface="楷体_GB2312" pitchFamily="1" charset="-122"/>
                <a:ea typeface="楷体_GB2312" pitchFamily="1" charset="-122"/>
              </a:rPr>
              <a:t>读入立方体的面表 </a:t>
            </a:r>
          </a:p>
        </p:txBody>
      </p:sp>
      <p:graphicFrame>
        <p:nvGraphicFramePr>
          <p:cNvPr id="26634" name="Object 13"/>
          <p:cNvGraphicFramePr>
            <a:graphicFrameLocks noChangeAspect="1"/>
          </p:cNvGraphicFramePr>
          <p:nvPr/>
        </p:nvGraphicFramePr>
        <p:xfrm>
          <a:off x="836613" y="1763713"/>
          <a:ext cx="7605712" cy="3295650"/>
        </p:xfrm>
        <a:graphic>
          <a:graphicData uri="http://schemas.openxmlformats.org/presentationml/2006/ole">
            <mc:AlternateContent xmlns:mc="http://schemas.openxmlformats.org/markup-compatibility/2006">
              <mc:Choice xmlns:v="urn:schemas-microsoft-com:vml" Requires="v">
                <p:oleObj spid="_x0000_s26659" r:id="rId3" imgW="4060366" imgH="1763394" progId="Visio.Drawing.11">
                  <p:embed/>
                </p:oleObj>
              </mc:Choice>
              <mc:Fallback>
                <p:oleObj r:id="rId3" imgW="4060366" imgH="1763394" progId="Visio.Drawing.11">
                  <p:embed/>
                  <p:pic>
                    <p:nvPicPr>
                      <p:cNvPr id="0"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613" y="1763713"/>
                        <a:ext cx="7605712" cy="329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6DC93195-7118-4C26-BC08-E959E85048C6}" type="slidenum">
              <a:rPr lang="en-US" altLang="zh-CN" sz="1200">
                <a:solidFill>
                  <a:schemeClr val="tx1"/>
                </a:solidFill>
                <a:latin typeface="Garamond" pitchFamily="18" charset="0"/>
              </a:rPr>
              <a:pPr algn="r" eaLnBrk="1" hangingPunct="1">
                <a:spcBef>
                  <a:spcPct val="0"/>
                </a:spcBef>
              </a:pPr>
              <a:t>25</a:t>
            </a:fld>
            <a:endParaRPr lang="en-US" altLang="zh-CN" sz="1200">
              <a:solidFill>
                <a:schemeClr val="tx1"/>
              </a:solidFill>
              <a:latin typeface="Garamond" pitchFamily="18" charset="0"/>
            </a:endParaRPr>
          </a:p>
        </p:txBody>
      </p:sp>
      <p:sp>
        <p:nvSpPr>
          <p:cNvPr id="27651" name="Text Box 4"/>
          <p:cNvSpPr txBox="1">
            <a:spLocks noChangeArrowheads="1"/>
          </p:cNvSpPr>
          <p:nvPr/>
        </p:nvSpPr>
        <p:spPr bwMode="auto">
          <a:xfrm>
            <a:off x="566738" y="323850"/>
            <a:ext cx="5219700" cy="5794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en-US" altLang="zh-CN" sz="3200" b="1">
                <a:solidFill>
                  <a:schemeClr val="tx1"/>
                </a:solidFill>
                <a:latin typeface="楷体_GB2312" pitchFamily="1" charset="-122"/>
                <a:ea typeface="楷体_GB2312" pitchFamily="1" charset="-122"/>
              </a:rPr>
              <a:t>9.1.5 </a:t>
            </a:r>
            <a:r>
              <a:rPr lang="zh-CN" altLang="en-US" sz="3200" b="1">
                <a:solidFill>
                  <a:schemeClr val="tx1"/>
                </a:solidFill>
                <a:latin typeface="楷体_GB2312" pitchFamily="1" charset="-122"/>
                <a:ea typeface="楷体_GB2312" pitchFamily="1" charset="-122"/>
              </a:rPr>
              <a:t>常用物体的数学模型</a:t>
            </a:r>
          </a:p>
        </p:txBody>
      </p:sp>
      <p:sp>
        <p:nvSpPr>
          <p:cNvPr id="27653" name="Text Box 7"/>
          <p:cNvSpPr txBox="1">
            <a:spLocks noChangeArrowheads="1"/>
          </p:cNvSpPr>
          <p:nvPr/>
        </p:nvSpPr>
        <p:spPr bwMode="auto">
          <a:xfrm>
            <a:off x="657225" y="1719263"/>
            <a:ext cx="4454525" cy="4589462"/>
          </a:xfrm>
          <a:prstGeom prst="rect">
            <a:avLst/>
          </a:prstGeom>
          <a:solidFill>
            <a:srgbClr val="E8FE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20000"/>
              </a:lnSpc>
            </a:pPr>
            <a:r>
              <a:rPr lang="zh-CN" altLang="en-US" dirty="0">
                <a:solidFill>
                  <a:schemeClr val="tx1"/>
                </a:solidFill>
                <a:latin typeface="楷体_GB2312" pitchFamily="1" charset="-122"/>
                <a:ea typeface="楷体_GB2312" pitchFamily="1" charset="-122"/>
              </a:rPr>
              <a:t>正多面体是由若干个全等的正多边形围成，并且相交在各个顶点上的</a:t>
            </a:r>
            <a:r>
              <a:rPr lang="zh-CN" altLang="en-US" b="1" dirty="0">
                <a:solidFill>
                  <a:srgbClr val="FF0000"/>
                </a:solidFill>
                <a:latin typeface="方正粗黑宋简体" panose="02000000000000000000" pitchFamily="2" charset="-122"/>
                <a:ea typeface="方正粗黑宋简体" panose="02000000000000000000" pitchFamily="2" charset="-122"/>
              </a:rPr>
              <a:t>棱边数都相等的凸多面体</a:t>
            </a:r>
            <a:r>
              <a:rPr lang="zh-CN" altLang="en-US" dirty="0">
                <a:solidFill>
                  <a:schemeClr val="tx1"/>
                </a:solidFill>
                <a:latin typeface="楷体_GB2312" pitchFamily="1" charset="-122"/>
                <a:ea typeface="楷体_GB2312" pitchFamily="1" charset="-122"/>
              </a:rPr>
              <a:t>。正多面体只有正四面体、正六面体、正八面体、正十二面体和正二十面体五种，如图</a:t>
            </a:r>
            <a:r>
              <a:rPr lang="fr-FR" altLang="en-US" dirty="0">
                <a:solidFill>
                  <a:schemeClr val="tx1"/>
                </a:solidFill>
                <a:latin typeface="楷体_GB2312" pitchFamily="1" charset="-122"/>
                <a:ea typeface="楷体_GB2312" pitchFamily="1" charset="-122"/>
              </a:rPr>
              <a:t>9-16 </a:t>
            </a:r>
            <a:r>
              <a:rPr lang="zh-CN" altLang="en-US" dirty="0">
                <a:solidFill>
                  <a:schemeClr val="tx1"/>
                </a:solidFill>
                <a:latin typeface="楷体_GB2312" pitchFamily="1" charset="-122"/>
                <a:ea typeface="楷体_GB2312" pitchFamily="1" charset="-122"/>
              </a:rPr>
              <a:t>所示。表</a:t>
            </a:r>
            <a:r>
              <a:rPr lang="fr-FR" altLang="en-US" dirty="0">
                <a:solidFill>
                  <a:schemeClr val="tx1"/>
                </a:solidFill>
                <a:latin typeface="楷体_GB2312" pitchFamily="1" charset="-122"/>
                <a:ea typeface="楷体_GB2312" pitchFamily="1" charset="-122"/>
              </a:rPr>
              <a:t>9-5</a:t>
            </a:r>
            <a:r>
              <a:rPr lang="zh-CN" altLang="en-US" dirty="0">
                <a:solidFill>
                  <a:schemeClr val="tx1"/>
                </a:solidFill>
                <a:latin typeface="楷体_GB2312" pitchFamily="1" charset="-122"/>
                <a:ea typeface="楷体_GB2312" pitchFamily="1" charset="-122"/>
              </a:rPr>
              <a:t>给出了其几何信息。这五种多面体统称为柏拉图多面体。柏拉图多面体属于凸多面体。 </a:t>
            </a:r>
          </a:p>
        </p:txBody>
      </p:sp>
      <p:sp>
        <p:nvSpPr>
          <p:cNvPr id="27654" name="Text Box 8"/>
          <p:cNvSpPr txBox="1">
            <a:spLocks noChangeArrowheads="1"/>
          </p:cNvSpPr>
          <p:nvPr/>
        </p:nvSpPr>
        <p:spPr bwMode="auto">
          <a:xfrm>
            <a:off x="657225" y="1133475"/>
            <a:ext cx="2835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Font typeface="Arial" pitchFamily="34" charset="0"/>
              <a:buAutoNum type="arabicPeriod"/>
            </a:pPr>
            <a:r>
              <a:rPr lang="zh-CN" altLang="en-US" sz="2800" b="1">
                <a:solidFill>
                  <a:schemeClr val="tx1"/>
                </a:solidFill>
                <a:latin typeface="楷体_GB2312" pitchFamily="1" charset="-122"/>
                <a:ea typeface="楷体_GB2312" pitchFamily="1" charset="-122"/>
              </a:rPr>
              <a:t>柏拉图多面体</a:t>
            </a:r>
          </a:p>
        </p:txBody>
      </p:sp>
      <p:graphicFrame>
        <p:nvGraphicFramePr>
          <p:cNvPr id="27655" name="Object 10"/>
          <p:cNvGraphicFramePr>
            <a:graphicFrameLocks noChangeAspect="1"/>
          </p:cNvGraphicFramePr>
          <p:nvPr/>
        </p:nvGraphicFramePr>
        <p:xfrm>
          <a:off x="5111750" y="1268413"/>
          <a:ext cx="4032250" cy="3570287"/>
        </p:xfrm>
        <a:graphic>
          <a:graphicData uri="http://schemas.openxmlformats.org/presentationml/2006/ole">
            <mc:AlternateContent xmlns:mc="http://schemas.openxmlformats.org/markup-compatibility/2006">
              <mc:Choice xmlns:v="urn:schemas-microsoft-com:vml" Requires="v">
                <p:oleObj spid="_x0000_s27693" r:id="rId3" imgW="5394655" imgH="4466234" progId="Visio.Drawing.11">
                  <p:embed/>
                </p:oleObj>
              </mc:Choice>
              <mc:Fallback>
                <p:oleObj r:id="rId3" imgW="5394655" imgH="4466234" progId="Visio.Drawing.11">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1750" y="1268413"/>
                        <a:ext cx="4032250" cy="3570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6" name="Text Box 11" descr="瓦形"/>
          <p:cNvSpPr txBox="1">
            <a:spLocks noChangeArrowheads="1"/>
          </p:cNvSpPr>
          <p:nvPr/>
        </p:nvSpPr>
        <p:spPr bwMode="auto">
          <a:xfrm>
            <a:off x="5926138" y="5022850"/>
            <a:ext cx="2738437"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9-16 </a:t>
            </a:r>
            <a:r>
              <a:rPr lang="zh-CN" altLang="en-US" sz="2000">
                <a:solidFill>
                  <a:schemeClr val="tx1"/>
                </a:solidFill>
                <a:latin typeface="楷体_GB2312" pitchFamily="1" charset="-122"/>
                <a:ea typeface="楷体_GB2312" pitchFamily="1" charset="-122"/>
              </a:rPr>
              <a:t>柏拉图多面体</a:t>
            </a:r>
          </a:p>
        </p:txBody>
      </p:sp>
      <p:pic>
        <p:nvPicPr>
          <p:cNvPr id="27663" name="Picture 15" descr="C:\Users\dzx\Documents\Tencent Files\997796978\FileRecv\MobileFile\Dodekaeder-Animation.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30240" y="5873918"/>
            <a:ext cx="822960" cy="762000"/>
          </a:xfrm>
          <a:prstGeom prst="rect">
            <a:avLst/>
          </a:prstGeom>
          <a:noFill/>
          <a:extLst>
            <a:ext uri="{909E8E84-426E-40DD-AFC4-6F175D3DCCD1}">
              <a14:hiddenFill xmlns:a14="http://schemas.microsoft.com/office/drawing/2010/main">
                <a:solidFill>
                  <a:srgbClr val="FFFFFF"/>
                </a:solidFill>
              </a14:hiddenFill>
            </a:ext>
          </a:extLst>
        </p:spPr>
      </p:pic>
      <p:pic>
        <p:nvPicPr>
          <p:cNvPr id="27664" name="Picture 16" descr="C:\Users\dzx\Documents\Tencent Files\997796978\FileRecv\MobileFile\Ikosaeder-Animation.gif"/>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7002162" y="5862638"/>
            <a:ext cx="777240" cy="762000"/>
          </a:xfrm>
          <a:prstGeom prst="rect">
            <a:avLst/>
          </a:prstGeom>
          <a:noFill/>
          <a:extLst>
            <a:ext uri="{909E8E84-426E-40DD-AFC4-6F175D3DCCD1}">
              <a14:hiddenFill xmlns:a14="http://schemas.microsoft.com/office/drawing/2010/main">
                <a:solidFill>
                  <a:srgbClr val="FFFFFF"/>
                </a:solidFill>
              </a14:hiddenFill>
            </a:ext>
          </a:extLst>
        </p:spPr>
      </p:pic>
      <p:pic>
        <p:nvPicPr>
          <p:cNvPr id="27665" name="Picture 17" descr="C:\Users\dzx\Documents\Tencent Files\997796978\FileRecv\MobileFile\Cube_Animation.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65780" y="5937335"/>
            <a:ext cx="853440" cy="762000"/>
          </a:xfrm>
          <a:prstGeom prst="rect">
            <a:avLst/>
          </a:prstGeom>
          <a:noFill/>
          <a:extLst>
            <a:ext uri="{909E8E84-426E-40DD-AFC4-6F175D3DCCD1}">
              <a14:hiddenFill xmlns:a14="http://schemas.microsoft.com/office/drawing/2010/main">
                <a:solidFill>
                  <a:srgbClr val="FFFFFF"/>
                </a:solidFill>
              </a14:hiddenFill>
            </a:ext>
          </a:extLst>
        </p:spPr>
      </p:pic>
      <p:pic>
        <p:nvPicPr>
          <p:cNvPr id="27666" name="Picture 18" descr="C:\Users\dzx\Documents\Tencent Files\997796978\FileRecv\MobileFile\Oktaeder-Animation.gif"/>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6991" y="5873918"/>
            <a:ext cx="853440" cy="762000"/>
          </a:xfrm>
          <a:prstGeom prst="rect">
            <a:avLst/>
          </a:prstGeom>
          <a:noFill/>
          <a:extLst>
            <a:ext uri="{909E8E84-426E-40DD-AFC4-6F175D3DCCD1}">
              <a14:hiddenFill xmlns:a14="http://schemas.microsoft.com/office/drawing/2010/main">
                <a:solidFill>
                  <a:srgbClr val="FFFFFF"/>
                </a:solidFill>
              </a14:hiddenFill>
            </a:ext>
          </a:extLst>
        </p:spPr>
      </p:pic>
      <p:pic>
        <p:nvPicPr>
          <p:cNvPr id="27667" name="Picture 19" descr="C:\Users\dzx\Documents\Tencent Files\997796978\FileRecv\MobileFile\Tetraeder-Animation.gif"/>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44332" y="5950870"/>
            <a:ext cx="861060" cy="76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C182D2FE-3ADD-4A92-9B8F-B5315A6C048C}" type="slidenum">
              <a:rPr lang="en-US" altLang="zh-CN" sz="1200">
                <a:solidFill>
                  <a:schemeClr val="tx1"/>
                </a:solidFill>
                <a:latin typeface="Garamond" pitchFamily="18" charset="0"/>
              </a:rPr>
              <a:pPr algn="r" eaLnBrk="1" hangingPunct="1">
                <a:spcBef>
                  <a:spcPct val="0"/>
                </a:spcBef>
              </a:pPr>
              <a:t>26</a:t>
            </a:fld>
            <a:endParaRPr lang="en-US" altLang="zh-CN" sz="1200">
              <a:solidFill>
                <a:schemeClr val="tx1"/>
              </a:solidFill>
              <a:latin typeface="Garamond" pitchFamily="18" charset="0"/>
            </a:endParaRPr>
          </a:p>
        </p:txBody>
      </p:sp>
      <p:sp>
        <p:nvSpPr>
          <p:cNvPr id="28675" name="Text Box 13"/>
          <p:cNvSpPr txBox="1">
            <a:spLocks noChangeArrowheads="1"/>
          </p:cNvSpPr>
          <p:nvPr/>
        </p:nvSpPr>
        <p:spPr bwMode="auto">
          <a:xfrm>
            <a:off x="2051050" y="5815013"/>
            <a:ext cx="5356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9-17 </a:t>
            </a:r>
            <a:r>
              <a:rPr lang="zh-CN" altLang="en-US" sz="2000">
                <a:solidFill>
                  <a:schemeClr val="tx1"/>
                </a:solidFill>
                <a:latin typeface="楷体_GB2312" pitchFamily="1" charset="-122"/>
                <a:ea typeface="楷体_GB2312" pitchFamily="1" charset="-122"/>
              </a:rPr>
              <a:t>柏拉图多面体对偶多面体</a:t>
            </a:r>
            <a:r>
              <a:rPr lang="zh-CN" altLang="en-US" sz="2000">
                <a:latin typeface="楷体_GB2312" pitchFamily="1" charset="-122"/>
                <a:ea typeface="楷体_GB2312" pitchFamily="1" charset="-122"/>
              </a:rPr>
              <a:t> </a:t>
            </a:r>
          </a:p>
        </p:txBody>
      </p:sp>
      <p:sp>
        <p:nvSpPr>
          <p:cNvPr id="28676" name="Text Box 14" descr="5%"/>
          <p:cNvSpPr txBox="1">
            <a:spLocks noChangeArrowheads="1"/>
          </p:cNvSpPr>
          <p:nvPr/>
        </p:nvSpPr>
        <p:spPr bwMode="auto">
          <a:xfrm>
            <a:off x="476250" y="323850"/>
            <a:ext cx="8145463" cy="83099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dirty="0">
                <a:solidFill>
                  <a:schemeClr val="tx1"/>
                </a:solidFill>
                <a:latin typeface="楷体_GB2312" pitchFamily="1" charset="-122"/>
                <a:ea typeface="楷体_GB2312" pitchFamily="1" charset="-122"/>
              </a:rPr>
              <a:t>在几何学中，</a:t>
            </a:r>
            <a:r>
              <a:rPr lang="zh-CN" altLang="en-US" b="1" dirty="0">
                <a:solidFill>
                  <a:srgbClr val="3333FF"/>
                </a:solidFill>
                <a:latin typeface="方正粗黑宋简体" panose="02000000000000000000" pitchFamily="2" charset="-122"/>
                <a:ea typeface="方正粗黑宋简体" panose="02000000000000000000" pitchFamily="2" charset="-122"/>
              </a:rPr>
              <a:t>若一种多面体的每个顶点均能对应到另一种多面体上的每个面的中心，二者互称为</a:t>
            </a:r>
            <a:r>
              <a:rPr lang="zh-CN" altLang="en-US" b="1" dirty="0">
                <a:solidFill>
                  <a:srgbClr val="FF0000"/>
                </a:solidFill>
                <a:latin typeface="方正粗黑宋简体" panose="02000000000000000000" pitchFamily="2" charset="-122"/>
                <a:ea typeface="方正粗黑宋简体" panose="02000000000000000000" pitchFamily="2" charset="-122"/>
              </a:rPr>
              <a:t>对偶多面体</a:t>
            </a:r>
            <a:r>
              <a:rPr lang="zh-CN" altLang="en-US" b="1" dirty="0">
                <a:solidFill>
                  <a:srgbClr val="FF0000"/>
                </a:solidFill>
                <a:latin typeface="黑体" pitchFamily="49" charset="-122"/>
                <a:ea typeface="黑体" pitchFamily="49" charset="-122"/>
              </a:rPr>
              <a:t>。</a:t>
            </a:r>
          </a:p>
        </p:txBody>
      </p:sp>
      <p:grpSp>
        <p:nvGrpSpPr>
          <p:cNvPr id="28677" name="Group 5"/>
          <p:cNvGrpSpPr>
            <a:grpSpLocks noChangeAspect="1"/>
          </p:cNvGrpSpPr>
          <p:nvPr/>
        </p:nvGrpSpPr>
        <p:grpSpPr bwMode="auto">
          <a:xfrm>
            <a:off x="1466850" y="1314450"/>
            <a:ext cx="6357938" cy="4154488"/>
            <a:chOff x="0" y="0"/>
            <a:chExt cx="4005" cy="2617"/>
          </a:xfrm>
        </p:grpSpPr>
        <p:pic>
          <p:nvPicPr>
            <p:cNvPr id="28678" name="Picture 7"/>
            <p:cNvPicPr>
              <a:picLocks noChangeAspect="1" noChangeArrowheads="1"/>
            </p:cNvPicPr>
            <p:nvPr/>
          </p:nvPicPr>
          <p:blipFill>
            <a:blip r:embed="rId3">
              <a:extLst>
                <a:ext uri="{28A0092B-C50C-407E-A947-70E740481C1C}">
                  <a14:useLocalDpi xmlns:a14="http://schemas.microsoft.com/office/drawing/2010/main" val="0"/>
                </a:ext>
              </a:extLst>
            </a:blip>
            <a:srcRect l="18997" r="14925" b="29640"/>
            <a:stretch>
              <a:fillRect/>
            </a:stretch>
          </p:blipFill>
          <p:spPr bwMode="auto">
            <a:xfrm>
              <a:off x="347" y="1275"/>
              <a:ext cx="1390" cy="1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4" y="1417"/>
              <a:ext cx="1191" cy="1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0" name="Picture 9"/>
            <p:cNvPicPr>
              <a:picLocks noChangeAspect="1" noChangeArrowheads="1"/>
            </p:cNvPicPr>
            <p:nvPr/>
          </p:nvPicPr>
          <p:blipFill>
            <a:blip r:embed="rId5">
              <a:extLst>
                <a:ext uri="{28A0092B-C50C-407E-A947-70E740481C1C}">
                  <a14:useLocalDpi xmlns:a14="http://schemas.microsoft.com/office/drawing/2010/main" val="0"/>
                </a:ext>
              </a:extLst>
            </a:blip>
            <a:srcRect l="25993" r="27548" b="43167"/>
            <a:stretch>
              <a:fillRect/>
            </a:stretch>
          </p:blipFill>
          <p:spPr bwMode="auto">
            <a:xfrm>
              <a:off x="2778" y="0"/>
              <a:ext cx="1227" cy="1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1" name="Picture 8"/>
            <p:cNvPicPr>
              <a:picLocks noChangeAspect="1" noChangeArrowheads="1"/>
            </p:cNvPicPr>
            <p:nvPr/>
          </p:nvPicPr>
          <p:blipFill>
            <a:blip r:embed="rId6">
              <a:extLst>
                <a:ext uri="{28A0092B-C50C-407E-A947-70E740481C1C}">
                  <a14:useLocalDpi xmlns:a14="http://schemas.microsoft.com/office/drawing/2010/main" val="0"/>
                </a:ext>
              </a:extLst>
            </a:blip>
            <a:srcRect l="18784" r="7170" b="27538"/>
            <a:stretch>
              <a:fillRect/>
            </a:stretch>
          </p:blipFill>
          <p:spPr bwMode="auto">
            <a:xfrm>
              <a:off x="1430" y="56"/>
              <a:ext cx="1178" cy="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2" name="Picture 15"/>
            <p:cNvPicPr>
              <a:picLocks noChangeAspect="1" noChangeArrowheads="1"/>
            </p:cNvPicPr>
            <p:nvPr/>
          </p:nvPicPr>
          <p:blipFill>
            <a:blip r:embed="rId7">
              <a:extLst>
                <a:ext uri="{28A0092B-C50C-407E-A947-70E740481C1C}">
                  <a14:useLocalDpi xmlns:a14="http://schemas.microsoft.com/office/drawing/2010/main" val="0"/>
                </a:ext>
              </a:extLst>
            </a:blip>
            <a:srcRect l="24591" r="20654" b="42706"/>
            <a:stretch>
              <a:fillRect/>
            </a:stretch>
          </p:blipFill>
          <p:spPr bwMode="auto">
            <a:xfrm>
              <a:off x="0" y="75"/>
              <a:ext cx="1276" cy="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91D269EB-D885-4B00-8A77-59E7778DC465}" type="slidenum">
              <a:rPr lang="en-US" altLang="zh-CN" sz="1200">
                <a:solidFill>
                  <a:schemeClr val="tx1"/>
                </a:solidFill>
                <a:latin typeface="Garamond" pitchFamily="18" charset="0"/>
              </a:rPr>
              <a:pPr algn="r" eaLnBrk="1" hangingPunct="1">
                <a:spcBef>
                  <a:spcPct val="0"/>
                </a:spcBef>
              </a:pPr>
              <a:t>27</a:t>
            </a:fld>
            <a:endParaRPr lang="en-US" altLang="zh-CN" sz="1200">
              <a:solidFill>
                <a:schemeClr val="tx1"/>
              </a:solidFill>
              <a:latin typeface="Garamond" pitchFamily="18" charset="0"/>
            </a:endParaRPr>
          </a:p>
        </p:txBody>
      </p:sp>
      <p:sp>
        <p:nvSpPr>
          <p:cNvPr id="29699" name="Rectangle 2"/>
          <p:cNvSpPr>
            <a:spLocks noGrp="1" noChangeArrowheads="1"/>
          </p:cNvSpPr>
          <p:nvPr>
            <p:ph type="title" idx="4294967295"/>
          </p:nvPr>
        </p:nvSpPr>
        <p:spPr>
          <a:xfrm>
            <a:off x="792163" y="458788"/>
            <a:ext cx="4049712" cy="560387"/>
          </a:xfrm>
        </p:spPr>
        <p:txBody>
          <a:bodyPr anchor="ctr"/>
          <a:lstStyle/>
          <a:p>
            <a:pPr eaLnBrk="1" hangingPunct="1"/>
            <a:r>
              <a:rPr lang="zh-CN" altLang="en-US" sz="2400" b="1" kern="1200" dirty="0">
                <a:solidFill>
                  <a:srgbClr val="FF0000"/>
                </a:solidFill>
                <a:latin typeface="方正粗黑宋简体" panose="02000000000000000000" pitchFamily="2" charset="-122"/>
                <a:ea typeface="方正粗黑宋简体" panose="02000000000000000000" pitchFamily="2" charset="-122"/>
                <a:cs typeface="+mn-cs"/>
              </a:rPr>
              <a:t>柏拉图多面体对偶性</a:t>
            </a:r>
          </a:p>
        </p:txBody>
      </p:sp>
      <p:grpSp>
        <p:nvGrpSpPr>
          <p:cNvPr id="29700" name="Group 4"/>
          <p:cNvGrpSpPr>
            <a:grpSpLocks/>
          </p:cNvGrpSpPr>
          <p:nvPr/>
        </p:nvGrpSpPr>
        <p:grpSpPr bwMode="auto">
          <a:xfrm>
            <a:off x="206375" y="1449388"/>
            <a:ext cx="8647113" cy="4151312"/>
            <a:chOff x="0" y="0"/>
            <a:chExt cx="5447" cy="2615"/>
          </a:xfrm>
        </p:grpSpPr>
        <p:grpSp>
          <p:nvGrpSpPr>
            <p:cNvPr id="29701" name="Group 5"/>
            <p:cNvGrpSpPr>
              <a:grpSpLocks/>
            </p:cNvGrpSpPr>
            <p:nvPr/>
          </p:nvGrpSpPr>
          <p:grpSpPr bwMode="auto">
            <a:xfrm>
              <a:off x="0" y="35"/>
              <a:ext cx="5447" cy="2580"/>
              <a:chOff x="0" y="0"/>
              <a:chExt cx="5447" cy="2580"/>
            </a:xfrm>
          </p:grpSpPr>
          <p:sp>
            <p:nvSpPr>
              <p:cNvPr id="29702" name="Line 19"/>
              <p:cNvSpPr>
                <a:spLocks noChangeShapeType="1"/>
              </p:cNvSpPr>
              <p:nvPr/>
            </p:nvSpPr>
            <p:spPr bwMode="auto">
              <a:xfrm>
                <a:off x="0" y="1340"/>
                <a:ext cx="5447" cy="0"/>
              </a:xfrm>
              <a:prstGeom prst="line">
                <a:avLst/>
              </a:prstGeom>
              <a:noFill/>
              <a:ln w="9525" cmpd="sng">
                <a:solidFill>
                  <a:srgbClr val="B2B2B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3" name="Line 20"/>
              <p:cNvSpPr>
                <a:spLocks noChangeShapeType="1"/>
              </p:cNvSpPr>
              <p:nvPr/>
            </p:nvSpPr>
            <p:spPr bwMode="auto">
              <a:xfrm>
                <a:off x="0" y="734"/>
                <a:ext cx="5447" cy="0"/>
              </a:xfrm>
              <a:prstGeom prst="line">
                <a:avLst/>
              </a:prstGeom>
              <a:noFill/>
              <a:ln w="9525" cmpd="sng">
                <a:solidFill>
                  <a:srgbClr val="B2B2B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4" name="Line 21"/>
              <p:cNvSpPr>
                <a:spLocks noChangeShapeType="1"/>
              </p:cNvSpPr>
              <p:nvPr/>
            </p:nvSpPr>
            <p:spPr bwMode="auto">
              <a:xfrm>
                <a:off x="0" y="1945"/>
                <a:ext cx="5447" cy="0"/>
              </a:xfrm>
              <a:prstGeom prst="line">
                <a:avLst/>
              </a:prstGeom>
              <a:noFill/>
              <a:ln w="9525" cmpd="sng">
                <a:solidFill>
                  <a:srgbClr val="B2B2B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5" name="Line 22"/>
              <p:cNvSpPr>
                <a:spLocks noChangeShapeType="1"/>
              </p:cNvSpPr>
              <p:nvPr/>
            </p:nvSpPr>
            <p:spPr bwMode="auto">
              <a:xfrm>
                <a:off x="1484" y="0"/>
                <a:ext cx="0" cy="2580"/>
              </a:xfrm>
              <a:prstGeom prst="line">
                <a:avLst/>
              </a:prstGeom>
              <a:noFill/>
              <a:ln w="9525" cmpd="sng">
                <a:solidFill>
                  <a:srgbClr val="B2B2B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6" name="Line 23"/>
              <p:cNvSpPr>
                <a:spLocks noChangeShapeType="1"/>
              </p:cNvSpPr>
              <p:nvPr/>
            </p:nvSpPr>
            <p:spPr bwMode="auto">
              <a:xfrm>
                <a:off x="522" y="0"/>
                <a:ext cx="0" cy="2580"/>
              </a:xfrm>
              <a:prstGeom prst="line">
                <a:avLst/>
              </a:prstGeom>
              <a:noFill/>
              <a:ln w="9525" cmpd="sng">
                <a:solidFill>
                  <a:srgbClr val="B2B2B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7" name="Line 24"/>
              <p:cNvSpPr>
                <a:spLocks noChangeShapeType="1"/>
              </p:cNvSpPr>
              <p:nvPr/>
            </p:nvSpPr>
            <p:spPr bwMode="auto">
              <a:xfrm>
                <a:off x="2446" y="0"/>
                <a:ext cx="0" cy="2580"/>
              </a:xfrm>
              <a:prstGeom prst="line">
                <a:avLst/>
              </a:prstGeom>
              <a:noFill/>
              <a:ln w="9525" cmpd="sng">
                <a:solidFill>
                  <a:srgbClr val="B2B2B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8" name="Line 25"/>
              <p:cNvSpPr>
                <a:spLocks noChangeShapeType="1"/>
              </p:cNvSpPr>
              <p:nvPr/>
            </p:nvSpPr>
            <p:spPr bwMode="auto">
              <a:xfrm>
                <a:off x="3408" y="0"/>
                <a:ext cx="0" cy="2580"/>
              </a:xfrm>
              <a:prstGeom prst="line">
                <a:avLst/>
              </a:prstGeom>
              <a:noFill/>
              <a:ln w="9525" cmpd="sng">
                <a:solidFill>
                  <a:srgbClr val="B2B2B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9" name="Line 26"/>
              <p:cNvSpPr>
                <a:spLocks noChangeShapeType="1"/>
              </p:cNvSpPr>
              <p:nvPr/>
            </p:nvSpPr>
            <p:spPr bwMode="auto">
              <a:xfrm>
                <a:off x="4370" y="0"/>
                <a:ext cx="0" cy="2580"/>
              </a:xfrm>
              <a:prstGeom prst="line">
                <a:avLst/>
              </a:prstGeom>
              <a:noFill/>
              <a:ln w="9525" cmpd="sng">
                <a:solidFill>
                  <a:srgbClr val="B2B2B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9710" name="Rectangle 27"/>
            <p:cNvSpPr>
              <a:spLocks noChangeArrowheads="1"/>
            </p:cNvSpPr>
            <p:nvPr/>
          </p:nvSpPr>
          <p:spPr bwMode="auto">
            <a:xfrm>
              <a:off x="111" y="914"/>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800">
                  <a:solidFill>
                    <a:schemeClr val="tx2"/>
                  </a:solidFill>
                  <a:ea typeface="PMingLiU" pitchFamily="18" charset="-120"/>
                </a:rPr>
                <a:t>点</a:t>
              </a:r>
              <a:endParaRPr lang="zh-TW" altLang="en-US" sz="2800">
                <a:solidFill>
                  <a:schemeClr val="tx2"/>
                </a:solidFill>
                <a:ea typeface="PMingLiU" pitchFamily="18" charset="-120"/>
              </a:endParaRPr>
            </a:p>
          </p:txBody>
        </p:sp>
        <p:sp>
          <p:nvSpPr>
            <p:cNvPr id="29711" name="Rectangle 28"/>
            <p:cNvSpPr>
              <a:spLocks noChangeArrowheads="1"/>
            </p:cNvSpPr>
            <p:nvPr/>
          </p:nvSpPr>
          <p:spPr bwMode="auto">
            <a:xfrm>
              <a:off x="111" y="1510"/>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800">
                  <a:solidFill>
                    <a:schemeClr val="tx2"/>
                  </a:solidFill>
                  <a:ea typeface="PMingLiU" pitchFamily="18" charset="-120"/>
                </a:rPr>
                <a:t>线</a:t>
              </a:r>
            </a:p>
          </p:txBody>
        </p:sp>
        <p:sp>
          <p:nvSpPr>
            <p:cNvPr id="29712" name="Rectangle 29"/>
            <p:cNvSpPr>
              <a:spLocks noChangeArrowheads="1"/>
            </p:cNvSpPr>
            <p:nvPr/>
          </p:nvSpPr>
          <p:spPr bwMode="auto">
            <a:xfrm>
              <a:off x="114" y="2117"/>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TW" altLang="en-US" sz="2800">
                  <a:solidFill>
                    <a:schemeClr val="tx2"/>
                  </a:solidFill>
                  <a:ea typeface="PMingLiU" pitchFamily="18" charset="-120"/>
                </a:rPr>
                <a:t>面</a:t>
              </a:r>
            </a:p>
          </p:txBody>
        </p:sp>
        <p:pic>
          <p:nvPicPr>
            <p:cNvPr id="29713" name="Picture 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9" y="0"/>
              <a:ext cx="601"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4"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7" y="28"/>
              <a:ext cx="601"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5"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9" y="28"/>
              <a:ext cx="601" cy="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6" name="Picture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9" y="28"/>
              <a:ext cx="601"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7" name="Picture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9" y="50"/>
              <a:ext cx="601"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18" name="Text Box 35"/>
            <p:cNvSpPr txBox="1">
              <a:spLocks noChangeArrowheads="1"/>
            </p:cNvSpPr>
            <p:nvPr/>
          </p:nvSpPr>
          <p:spPr bwMode="auto">
            <a:xfrm>
              <a:off x="879" y="92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800">
                  <a:solidFill>
                    <a:srgbClr val="0000FF"/>
                  </a:solidFill>
                  <a:latin typeface="Times New Roman" pitchFamily="18" charset="0"/>
                  <a:ea typeface="PMingLiU" pitchFamily="18" charset="-120"/>
                </a:rPr>
                <a:t>4</a:t>
              </a:r>
            </a:p>
          </p:txBody>
        </p:sp>
        <p:sp>
          <p:nvSpPr>
            <p:cNvPr id="29719" name="Text Box 36"/>
            <p:cNvSpPr txBox="1">
              <a:spLocks noChangeArrowheads="1"/>
            </p:cNvSpPr>
            <p:nvPr/>
          </p:nvSpPr>
          <p:spPr bwMode="auto">
            <a:xfrm>
              <a:off x="891" y="152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800">
                  <a:solidFill>
                    <a:srgbClr val="0000FF"/>
                  </a:solidFill>
                  <a:latin typeface="Times New Roman" pitchFamily="18" charset="0"/>
                  <a:ea typeface="PMingLiU" pitchFamily="18" charset="-120"/>
                </a:rPr>
                <a:t>6</a:t>
              </a:r>
            </a:p>
          </p:txBody>
        </p:sp>
        <p:sp>
          <p:nvSpPr>
            <p:cNvPr id="29720" name="Text Box 37"/>
            <p:cNvSpPr txBox="1">
              <a:spLocks noChangeArrowheads="1"/>
            </p:cNvSpPr>
            <p:nvPr/>
          </p:nvSpPr>
          <p:spPr bwMode="auto">
            <a:xfrm>
              <a:off x="891" y="213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800">
                  <a:solidFill>
                    <a:srgbClr val="0000FF"/>
                  </a:solidFill>
                  <a:latin typeface="Times New Roman" pitchFamily="18" charset="0"/>
                  <a:ea typeface="PMingLiU" pitchFamily="18" charset="-120"/>
                </a:rPr>
                <a:t>4</a:t>
              </a:r>
            </a:p>
          </p:txBody>
        </p:sp>
        <p:sp>
          <p:nvSpPr>
            <p:cNvPr id="29721" name="Text Box 38"/>
            <p:cNvSpPr txBox="1">
              <a:spLocks noChangeArrowheads="1"/>
            </p:cNvSpPr>
            <p:nvPr/>
          </p:nvSpPr>
          <p:spPr bwMode="auto">
            <a:xfrm>
              <a:off x="1854" y="90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800">
                  <a:solidFill>
                    <a:srgbClr val="0000FF"/>
                  </a:solidFill>
                  <a:latin typeface="Times New Roman" pitchFamily="18" charset="0"/>
                  <a:ea typeface="PMingLiU" pitchFamily="18" charset="-120"/>
                </a:rPr>
                <a:t>8</a:t>
              </a:r>
            </a:p>
          </p:txBody>
        </p:sp>
        <p:sp>
          <p:nvSpPr>
            <p:cNvPr id="29722" name="Text Box 39"/>
            <p:cNvSpPr txBox="1">
              <a:spLocks noChangeArrowheads="1"/>
            </p:cNvSpPr>
            <p:nvPr/>
          </p:nvSpPr>
          <p:spPr bwMode="auto">
            <a:xfrm>
              <a:off x="1798" y="1507"/>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800">
                  <a:solidFill>
                    <a:srgbClr val="0000FF"/>
                  </a:solidFill>
                  <a:latin typeface="Times New Roman" pitchFamily="18" charset="0"/>
                  <a:ea typeface="PMingLiU" pitchFamily="18" charset="-120"/>
                </a:rPr>
                <a:t>12</a:t>
              </a:r>
            </a:p>
          </p:txBody>
        </p:sp>
        <p:sp>
          <p:nvSpPr>
            <p:cNvPr id="29723" name="Text Box 40"/>
            <p:cNvSpPr txBox="1">
              <a:spLocks noChangeArrowheads="1"/>
            </p:cNvSpPr>
            <p:nvPr/>
          </p:nvSpPr>
          <p:spPr bwMode="auto">
            <a:xfrm>
              <a:off x="1843" y="222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800">
                  <a:solidFill>
                    <a:srgbClr val="0000FF"/>
                  </a:solidFill>
                  <a:latin typeface="Times New Roman" pitchFamily="18" charset="0"/>
                  <a:ea typeface="PMingLiU" pitchFamily="18" charset="-120"/>
                </a:rPr>
                <a:t>6</a:t>
              </a:r>
            </a:p>
          </p:txBody>
        </p:sp>
        <p:sp>
          <p:nvSpPr>
            <p:cNvPr id="29724" name="Text Box 41"/>
            <p:cNvSpPr txBox="1">
              <a:spLocks noChangeArrowheads="1"/>
            </p:cNvSpPr>
            <p:nvPr/>
          </p:nvSpPr>
          <p:spPr bwMode="auto">
            <a:xfrm>
              <a:off x="2815" y="90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800">
                  <a:solidFill>
                    <a:srgbClr val="0000FF"/>
                  </a:solidFill>
                  <a:latin typeface="Times New Roman" pitchFamily="18" charset="0"/>
                  <a:ea typeface="PMingLiU" pitchFamily="18" charset="-120"/>
                </a:rPr>
                <a:t>6</a:t>
              </a:r>
            </a:p>
          </p:txBody>
        </p:sp>
        <p:sp>
          <p:nvSpPr>
            <p:cNvPr id="29725" name="Text Box 42"/>
            <p:cNvSpPr txBox="1">
              <a:spLocks noChangeArrowheads="1"/>
            </p:cNvSpPr>
            <p:nvPr/>
          </p:nvSpPr>
          <p:spPr bwMode="auto">
            <a:xfrm>
              <a:off x="2759" y="1507"/>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800">
                  <a:solidFill>
                    <a:srgbClr val="0000FF"/>
                  </a:solidFill>
                  <a:latin typeface="Times New Roman" pitchFamily="18" charset="0"/>
                  <a:ea typeface="PMingLiU" pitchFamily="18" charset="-120"/>
                </a:rPr>
                <a:t>12</a:t>
              </a:r>
            </a:p>
          </p:txBody>
        </p:sp>
        <p:sp>
          <p:nvSpPr>
            <p:cNvPr id="29726" name="Text Box 43"/>
            <p:cNvSpPr txBox="1">
              <a:spLocks noChangeArrowheads="1"/>
            </p:cNvSpPr>
            <p:nvPr/>
          </p:nvSpPr>
          <p:spPr bwMode="auto">
            <a:xfrm>
              <a:off x="2807" y="221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800">
                  <a:solidFill>
                    <a:srgbClr val="0000FF"/>
                  </a:solidFill>
                  <a:latin typeface="Times New Roman" pitchFamily="18" charset="0"/>
                  <a:ea typeface="PMingLiU" pitchFamily="18" charset="-120"/>
                </a:rPr>
                <a:t>8</a:t>
              </a:r>
            </a:p>
          </p:txBody>
        </p:sp>
        <p:sp>
          <p:nvSpPr>
            <p:cNvPr id="29727" name="Text Box 44"/>
            <p:cNvSpPr txBox="1">
              <a:spLocks noChangeArrowheads="1"/>
            </p:cNvSpPr>
            <p:nvPr/>
          </p:nvSpPr>
          <p:spPr bwMode="auto">
            <a:xfrm>
              <a:off x="3722" y="1512"/>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800">
                  <a:solidFill>
                    <a:srgbClr val="0000FF"/>
                  </a:solidFill>
                  <a:latin typeface="Times New Roman" pitchFamily="18" charset="0"/>
                  <a:ea typeface="PMingLiU" pitchFamily="18" charset="-120"/>
                </a:rPr>
                <a:t>30</a:t>
              </a:r>
            </a:p>
          </p:txBody>
        </p:sp>
        <p:sp>
          <p:nvSpPr>
            <p:cNvPr id="29728" name="Text Box 45"/>
            <p:cNvSpPr txBox="1">
              <a:spLocks noChangeArrowheads="1"/>
            </p:cNvSpPr>
            <p:nvPr/>
          </p:nvSpPr>
          <p:spPr bwMode="auto">
            <a:xfrm>
              <a:off x="4734" y="2211"/>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800">
                  <a:solidFill>
                    <a:srgbClr val="0000FF"/>
                  </a:solidFill>
                  <a:latin typeface="Times New Roman" pitchFamily="18" charset="0"/>
                  <a:ea typeface="PMingLiU" pitchFamily="18" charset="-120"/>
                </a:rPr>
                <a:t>20</a:t>
              </a:r>
            </a:p>
          </p:txBody>
        </p:sp>
        <p:sp>
          <p:nvSpPr>
            <p:cNvPr id="29729" name="Text Box 46"/>
            <p:cNvSpPr txBox="1">
              <a:spLocks noChangeArrowheads="1"/>
            </p:cNvSpPr>
            <p:nvPr/>
          </p:nvSpPr>
          <p:spPr bwMode="auto">
            <a:xfrm>
              <a:off x="4734" y="878"/>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800">
                  <a:solidFill>
                    <a:srgbClr val="0000FF"/>
                  </a:solidFill>
                  <a:latin typeface="Times New Roman" pitchFamily="18" charset="0"/>
                  <a:ea typeface="PMingLiU" pitchFamily="18" charset="-120"/>
                </a:rPr>
                <a:t>12</a:t>
              </a:r>
            </a:p>
          </p:txBody>
        </p:sp>
        <p:sp>
          <p:nvSpPr>
            <p:cNvPr id="29730" name="Text Box 47"/>
            <p:cNvSpPr txBox="1">
              <a:spLocks noChangeArrowheads="1"/>
            </p:cNvSpPr>
            <p:nvPr/>
          </p:nvSpPr>
          <p:spPr bwMode="auto">
            <a:xfrm>
              <a:off x="3686" y="2211"/>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800">
                  <a:solidFill>
                    <a:srgbClr val="0000FF"/>
                  </a:solidFill>
                  <a:latin typeface="Times New Roman" pitchFamily="18" charset="0"/>
                  <a:ea typeface="PMingLiU" pitchFamily="18" charset="-120"/>
                </a:rPr>
                <a:t>12</a:t>
              </a:r>
            </a:p>
          </p:txBody>
        </p:sp>
        <p:sp>
          <p:nvSpPr>
            <p:cNvPr id="29731" name="Text Box 48"/>
            <p:cNvSpPr txBox="1">
              <a:spLocks noChangeArrowheads="1"/>
            </p:cNvSpPr>
            <p:nvPr/>
          </p:nvSpPr>
          <p:spPr bwMode="auto">
            <a:xfrm>
              <a:off x="4684" y="1512"/>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800">
                  <a:solidFill>
                    <a:srgbClr val="0000FF"/>
                  </a:solidFill>
                  <a:latin typeface="Times New Roman" pitchFamily="18" charset="0"/>
                  <a:ea typeface="PMingLiU" pitchFamily="18" charset="-120"/>
                </a:rPr>
                <a:t>30</a:t>
              </a:r>
            </a:p>
          </p:txBody>
        </p:sp>
        <p:sp>
          <p:nvSpPr>
            <p:cNvPr id="29732" name="Text Box 49"/>
            <p:cNvSpPr txBox="1">
              <a:spLocks noChangeArrowheads="1"/>
            </p:cNvSpPr>
            <p:nvPr/>
          </p:nvSpPr>
          <p:spPr bwMode="auto">
            <a:xfrm>
              <a:off x="3686" y="878"/>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800">
                  <a:solidFill>
                    <a:srgbClr val="0000FF"/>
                  </a:solidFill>
                  <a:latin typeface="Times New Roman" pitchFamily="18" charset="0"/>
                  <a:ea typeface="PMingLiU" pitchFamily="18" charset="-120"/>
                </a:rPr>
                <a:t>20</a:t>
              </a:r>
            </a:p>
          </p:txBody>
        </p:sp>
        <p:grpSp>
          <p:nvGrpSpPr>
            <p:cNvPr id="29733" name="Group 37"/>
            <p:cNvGrpSpPr>
              <a:grpSpLocks/>
            </p:cNvGrpSpPr>
            <p:nvPr/>
          </p:nvGrpSpPr>
          <p:grpSpPr bwMode="auto">
            <a:xfrm>
              <a:off x="2037" y="1153"/>
              <a:ext cx="822" cy="1036"/>
              <a:chOff x="0" y="0"/>
              <a:chExt cx="962" cy="1212"/>
            </a:xfrm>
          </p:grpSpPr>
          <p:sp>
            <p:nvSpPr>
              <p:cNvPr id="29734" name="Line 50"/>
              <p:cNvSpPr>
                <a:spLocks noChangeShapeType="1"/>
              </p:cNvSpPr>
              <p:nvPr/>
            </p:nvSpPr>
            <p:spPr bwMode="auto">
              <a:xfrm flipH="1" flipV="1">
                <a:off x="1" y="0"/>
                <a:ext cx="961" cy="1212"/>
              </a:xfrm>
              <a:prstGeom prst="line">
                <a:avLst/>
              </a:prstGeom>
              <a:noFill/>
              <a:ln w="38100" cmpd="sng">
                <a:solidFill>
                  <a:srgbClr val="FF0000">
                    <a:alpha val="50000"/>
                  </a:srgbClr>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5" name="Line 52"/>
              <p:cNvSpPr>
                <a:spLocks noChangeShapeType="1"/>
              </p:cNvSpPr>
              <p:nvPr/>
            </p:nvSpPr>
            <p:spPr bwMode="auto">
              <a:xfrm flipV="1">
                <a:off x="0" y="0"/>
                <a:ext cx="962" cy="1212"/>
              </a:xfrm>
              <a:prstGeom prst="line">
                <a:avLst/>
              </a:prstGeom>
              <a:noFill/>
              <a:ln w="38100" cmpd="sng">
                <a:solidFill>
                  <a:srgbClr val="FF0000">
                    <a:alpha val="50000"/>
                  </a:srgbClr>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9736" name="Group 40"/>
            <p:cNvGrpSpPr>
              <a:grpSpLocks/>
            </p:cNvGrpSpPr>
            <p:nvPr/>
          </p:nvGrpSpPr>
          <p:grpSpPr bwMode="auto">
            <a:xfrm>
              <a:off x="3962" y="1158"/>
              <a:ext cx="822" cy="1036"/>
              <a:chOff x="0" y="0"/>
              <a:chExt cx="962" cy="1212"/>
            </a:xfrm>
          </p:grpSpPr>
          <p:sp>
            <p:nvSpPr>
              <p:cNvPr id="29737" name="Line 57"/>
              <p:cNvSpPr>
                <a:spLocks noChangeShapeType="1"/>
              </p:cNvSpPr>
              <p:nvPr/>
            </p:nvSpPr>
            <p:spPr bwMode="auto">
              <a:xfrm flipH="1" flipV="1">
                <a:off x="1" y="0"/>
                <a:ext cx="961" cy="1212"/>
              </a:xfrm>
              <a:prstGeom prst="line">
                <a:avLst/>
              </a:prstGeom>
              <a:noFill/>
              <a:ln w="38100" cmpd="sng">
                <a:solidFill>
                  <a:srgbClr val="FF0000">
                    <a:alpha val="50000"/>
                  </a:srgbClr>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8" name="Line 58"/>
              <p:cNvSpPr>
                <a:spLocks noChangeShapeType="1"/>
              </p:cNvSpPr>
              <p:nvPr/>
            </p:nvSpPr>
            <p:spPr bwMode="auto">
              <a:xfrm flipV="1">
                <a:off x="0" y="0"/>
                <a:ext cx="962" cy="1212"/>
              </a:xfrm>
              <a:prstGeom prst="line">
                <a:avLst/>
              </a:prstGeom>
              <a:noFill/>
              <a:ln w="38100" cmpd="sng">
                <a:solidFill>
                  <a:srgbClr val="FF0000">
                    <a:alpha val="50000"/>
                  </a:srgbClr>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9739" name="Oval 59"/>
            <p:cNvSpPr>
              <a:spLocks noChangeArrowheads="1"/>
            </p:cNvSpPr>
            <p:nvPr/>
          </p:nvSpPr>
          <p:spPr bwMode="auto">
            <a:xfrm>
              <a:off x="798" y="875"/>
              <a:ext cx="415" cy="415"/>
            </a:xfrm>
            <a:prstGeom prst="ellipse">
              <a:avLst/>
            </a:prstGeom>
            <a:noFill/>
            <a:ln w="38100" cmpd="sng">
              <a:solidFill>
                <a:srgbClr val="FF0000">
                  <a:alpha val="50000"/>
                </a:srgb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endParaRPr lang="zh-TW" altLang="en-US" sz="1800">
                <a:solidFill>
                  <a:schemeClr val="tx1"/>
                </a:solidFill>
                <a:ea typeface="PMingLiU" pitchFamily="18" charset="-120"/>
              </a:endParaRPr>
            </a:p>
          </p:txBody>
        </p:sp>
        <p:sp>
          <p:nvSpPr>
            <p:cNvPr id="29740" name="Oval 60"/>
            <p:cNvSpPr>
              <a:spLocks noChangeArrowheads="1"/>
            </p:cNvSpPr>
            <p:nvPr/>
          </p:nvSpPr>
          <p:spPr bwMode="auto">
            <a:xfrm>
              <a:off x="798" y="2087"/>
              <a:ext cx="415" cy="415"/>
            </a:xfrm>
            <a:prstGeom prst="ellipse">
              <a:avLst/>
            </a:prstGeom>
            <a:noFill/>
            <a:ln w="38100" cmpd="sng">
              <a:solidFill>
                <a:srgbClr val="FF0000">
                  <a:alpha val="50000"/>
                </a:srgb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endParaRPr lang="zh-TW" altLang="en-US" sz="1800">
                <a:solidFill>
                  <a:schemeClr val="tx1"/>
                </a:solidFill>
                <a:ea typeface="PMingLiU" pitchFamily="18" charset="-120"/>
              </a:endParaRPr>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AA504244-EBA7-44A4-8977-F10880EFD925}" type="slidenum">
              <a:rPr lang="en-US" altLang="zh-CN" sz="1200">
                <a:solidFill>
                  <a:schemeClr val="tx1"/>
                </a:solidFill>
                <a:latin typeface="Garamond" pitchFamily="18" charset="0"/>
              </a:rPr>
              <a:pPr algn="r" eaLnBrk="1" hangingPunct="1">
                <a:spcBef>
                  <a:spcPct val="0"/>
                </a:spcBef>
              </a:pPr>
              <a:t>28</a:t>
            </a:fld>
            <a:endParaRPr lang="en-US" altLang="zh-CN" sz="1200">
              <a:solidFill>
                <a:schemeClr val="tx1"/>
              </a:solidFill>
              <a:latin typeface="Garamond" pitchFamily="18" charset="0"/>
            </a:endParaRPr>
          </a:p>
        </p:txBody>
      </p:sp>
      <p:graphicFrame>
        <p:nvGraphicFramePr>
          <p:cNvPr id="30723" name="Group 3"/>
          <p:cNvGraphicFramePr>
            <a:graphicFrameLocks noGrp="1"/>
          </p:cNvGraphicFramePr>
          <p:nvPr>
            <p:ph idx="4294967295"/>
          </p:nvPr>
        </p:nvGraphicFramePr>
        <p:xfrm>
          <a:off x="746125" y="1943100"/>
          <a:ext cx="7966075" cy="3014663"/>
        </p:xfrm>
        <a:graphic>
          <a:graphicData uri="http://schemas.openxmlformats.org/drawingml/2006/table">
            <a:tbl>
              <a:tblPr/>
              <a:tblGrid>
                <a:gridCol w="1350963">
                  <a:extLst>
                    <a:ext uri="{9D8B030D-6E8A-4147-A177-3AD203B41FA5}">
                      <a16:colId xmlns:a16="http://schemas.microsoft.com/office/drawing/2014/main" val="20000"/>
                    </a:ext>
                  </a:extLst>
                </a:gridCol>
                <a:gridCol w="1169987">
                  <a:extLst>
                    <a:ext uri="{9D8B030D-6E8A-4147-A177-3AD203B41FA5}">
                      <a16:colId xmlns:a16="http://schemas.microsoft.com/office/drawing/2014/main" val="20001"/>
                    </a:ext>
                  </a:extLst>
                </a:gridCol>
                <a:gridCol w="1260475">
                  <a:extLst>
                    <a:ext uri="{9D8B030D-6E8A-4147-A177-3AD203B41FA5}">
                      <a16:colId xmlns:a16="http://schemas.microsoft.com/office/drawing/2014/main" val="20002"/>
                    </a:ext>
                  </a:extLst>
                </a:gridCol>
                <a:gridCol w="1169988">
                  <a:extLst>
                    <a:ext uri="{9D8B030D-6E8A-4147-A177-3AD203B41FA5}">
                      <a16:colId xmlns:a16="http://schemas.microsoft.com/office/drawing/2014/main" val="20003"/>
                    </a:ext>
                  </a:extLst>
                </a:gridCol>
                <a:gridCol w="1484312">
                  <a:extLst>
                    <a:ext uri="{9D8B030D-6E8A-4147-A177-3AD203B41FA5}">
                      <a16:colId xmlns:a16="http://schemas.microsoft.com/office/drawing/2014/main" val="20004"/>
                    </a:ext>
                  </a:extLst>
                </a:gridCol>
                <a:gridCol w="1530350">
                  <a:extLst>
                    <a:ext uri="{9D8B030D-6E8A-4147-A177-3AD203B41FA5}">
                      <a16:colId xmlns:a16="http://schemas.microsoft.com/office/drawing/2014/main" val="20005"/>
                    </a:ext>
                  </a:extLst>
                </a:gridCol>
              </a:tblGrid>
              <a:tr h="60325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smtClean="0">
                          <a:ln>
                            <a:noFill/>
                          </a:ln>
                          <a:solidFill>
                            <a:schemeClr val="tx1"/>
                          </a:solidFill>
                          <a:effectLst/>
                          <a:latin typeface="楷体_GB2312" pitchFamily="1" charset="-122"/>
                          <a:ea typeface="楷体_GB2312" pitchFamily="1" charset="-122"/>
                        </a:rPr>
                        <a:t>多面体</a:t>
                      </a:r>
                    </a:p>
                  </a:txBody>
                  <a:tcPr marL="18000" marR="18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smtClean="0">
                          <a:ln>
                            <a:noFill/>
                          </a:ln>
                          <a:solidFill>
                            <a:schemeClr val="tx1"/>
                          </a:solidFill>
                          <a:effectLst/>
                          <a:latin typeface="楷体_GB2312" pitchFamily="1" charset="-122"/>
                          <a:ea typeface="楷体_GB2312" pitchFamily="1" charset="-122"/>
                        </a:rPr>
                        <a:t>正四面体 </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smtClean="0">
                          <a:ln>
                            <a:noFill/>
                          </a:ln>
                          <a:solidFill>
                            <a:schemeClr val="tx1"/>
                          </a:solidFill>
                          <a:effectLst/>
                          <a:latin typeface="楷体_GB2312" pitchFamily="1" charset="-122"/>
                          <a:ea typeface="楷体_GB2312" pitchFamily="1" charset="-122"/>
                        </a:rPr>
                        <a:t>正六面体 </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smtClean="0">
                          <a:ln>
                            <a:noFill/>
                          </a:ln>
                          <a:solidFill>
                            <a:schemeClr val="tx1"/>
                          </a:solidFill>
                          <a:effectLst/>
                          <a:latin typeface="楷体_GB2312" pitchFamily="1" charset="-122"/>
                          <a:ea typeface="楷体_GB2312" pitchFamily="1" charset="-122"/>
                        </a:rPr>
                        <a:t>正八面体 </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smtClean="0">
                          <a:ln>
                            <a:noFill/>
                          </a:ln>
                          <a:solidFill>
                            <a:schemeClr val="tx1"/>
                          </a:solidFill>
                          <a:effectLst/>
                          <a:latin typeface="楷体_GB2312" pitchFamily="1" charset="-122"/>
                          <a:ea typeface="楷体_GB2312" pitchFamily="1" charset="-122"/>
                        </a:rPr>
                        <a:t>正十二面体 </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smtClean="0">
                          <a:ln>
                            <a:noFill/>
                          </a:ln>
                          <a:solidFill>
                            <a:schemeClr val="tx1"/>
                          </a:solidFill>
                          <a:effectLst/>
                          <a:latin typeface="楷体_GB2312" pitchFamily="1" charset="-122"/>
                          <a:ea typeface="楷体_GB2312" pitchFamily="1" charset="-122"/>
                        </a:rPr>
                        <a:t>正二十面体 </a:t>
                      </a:r>
                    </a:p>
                  </a:txBody>
                  <a:tcPr marL="18000" marR="18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325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smtClean="0">
                          <a:ln>
                            <a:noFill/>
                          </a:ln>
                          <a:solidFill>
                            <a:schemeClr val="tx1"/>
                          </a:solidFill>
                          <a:effectLst/>
                          <a:latin typeface="楷体_GB2312" pitchFamily="1" charset="-122"/>
                          <a:ea typeface="楷体_GB2312" pitchFamily="1" charset="-122"/>
                        </a:rPr>
                        <a:t>顶点数V </a:t>
                      </a:r>
                    </a:p>
                  </a:txBody>
                  <a:tcPr marL="18000" marR="18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4</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8</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6</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20</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12</a:t>
                      </a:r>
                    </a:p>
                  </a:txBody>
                  <a:tcPr marL="18000" marR="18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1663">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smtClean="0">
                          <a:ln>
                            <a:noFill/>
                          </a:ln>
                          <a:solidFill>
                            <a:schemeClr val="tx1"/>
                          </a:solidFill>
                          <a:effectLst/>
                          <a:latin typeface="楷体_GB2312" pitchFamily="1" charset="-122"/>
                          <a:ea typeface="楷体_GB2312" pitchFamily="1" charset="-122"/>
                        </a:rPr>
                        <a:t>边数E</a:t>
                      </a:r>
                    </a:p>
                  </a:txBody>
                  <a:tcPr marL="18000" marR="18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6</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12</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12</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30</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30</a:t>
                      </a:r>
                    </a:p>
                  </a:txBody>
                  <a:tcPr marL="18000" marR="18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23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smtClean="0">
                          <a:ln>
                            <a:noFill/>
                          </a:ln>
                          <a:solidFill>
                            <a:schemeClr val="tx1"/>
                          </a:solidFill>
                          <a:effectLst/>
                          <a:latin typeface="楷体_GB2312" pitchFamily="1" charset="-122"/>
                          <a:ea typeface="楷体_GB2312" pitchFamily="1" charset="-122"/>
                        </a:rPr>
                        <a:t>面数F</a:t>
                      </a:r>
                    </a:p>
                  </a:txBody>
                  <a:tcPr marL="18000" marR="18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4</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6</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8</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12</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20</a:t>
                      </a:r>
                    </a:p>
                  </a:txBody>
                  <a:tcPr marL="18000" marR="18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42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smtClean="0">
                          <a:ln>
                            <a:noFill/>
                          </a:ln>
                          <a:solidFill>
                            <a:schemeClr val="tx1"/>
                          </a:solidFill>
                          <a:effectLst/>
                          <a:latin typeface="楷体_GB2312" pitchFamily="1" charset="-122"/>
                          <a:ea typeface="楷体_GB2312" pitchFamily="1" charset="-122"/>
                        </a:rPr>
                        <a:t>面的形状 </a:t>
                      </a:r>
                    </a:p>
                  </a:txBody>
                  <a:tcPr marL="18000" marR="18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smtClean="0">
                          <a:ln>
                            <a:noFill/>
                          </a:ln>
                          <a:solidFill>
                            <a:schemeClr val="tx1"/>
                          </a:solidFill>
                          <a:effectLst/>
                          <a:latin typeface="楷体_GB2312" pitchFamily="1" charset="-122"/>
                          <a:ea typeface="楷体_GB2312" pitchFamily="1" charset="-122"/>
                        </a:rPr>
                        <a:t>正三角形</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smtClean="0">
                          <a:ln>
                            <a:noFill/>
                          </a:ln>
                          <a:solidFill>
                            <a:schemeClr val="tx1"/>
                          </a:solidFill>
                          <a:effectLst/>
                          <a:latin typeface="楷体_GB2312" pitchFamily="1" charset="-122"/>
                          <a:ea typeface="楷体_GB2312" pitchFamily="1" charset="-122"/>
                        </a:rPr>
                        <a:t>正方形</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smtClean="0">
                          <a:ln>
                            <a:noFill/>
                          </a:ln>
                          <a:solidFill>
                            <a:schemeClr val="tx1"/>
                          </a:solidFill>
                          <a:effectLst/>
                          <a:latin typeface="楷体_GB2312" pitchFamily="1" charset="-122"/>
                          <a:ea typeface="楷体_GB2312" pitchFamily="1" charset="-122"/>
                        </a:rPr>
                        <a:t>正三角形</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smtClean="0">
                          <a:ln>
                            <a:noFill/>
                          </a:ln>
                          <a:solidFill>
                            <a:schemeClr val="tx1"/>
                          </a:solidFill>
                          <a:effectLst/>
                          <a:latin typeface="楷体_GB2312" pitchFamily="1" charset="-122"/>
                          <a:ea typeface="楷体_GB2312" pitchFamily="1" charset="-122"/>
                        </a:rPr>
                        <a:t>正五边形</a:t>
                      </a:r>
                    </a:p>
                  </a:txBody>
                  <a:tcPr marL="18000" marR="18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200" b="0" i="0" u="none" strike="noStrike" cap="none" normalizeH="0" baseline="0" smtClean="0">
                          <a:ln>
                            <a:noFill/>
                          </a:ln>
                          <a:solidFill>
                            <a:schemeClr val="tx1"/>
                          </a:solidFill>
                          <a:effectLst/>
                          <a:latin typeface="楷体_GB2312" pitchFamily="1" charset="-122"/>
                          <a:ea typeface="楷体_GB2312" pitchFamily="1" charset="-122"/>
                        </a:rPr>
                        <a:t>正三角形</a:t>
                      </a:r>
                    </a:p>
                  </a:txBody>
                  <a:tcPr marL="18000" marR="18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0767" name="Text Box 71"/>
          <p:cNvSpPr txBox="1">
            <a:spLocks noChangeArrowheads="1"/>
          </p:cNvSpPr>
          <p:nvPr/>
        </p:nvSpPr>
        <p:spPr bwMode="auto">
          <a:xfrm>
            <a:off x="1962150" y="946150"/>
            <a:ext cx="4951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b="1">
                <a:solidFill>
                  <a:schemeClr val="tx1"/>
                </a:solidFill>
                <a:latin typeface="楷体_GB2312" pitchFamily="1" charset="-122"/>
                <a:ea typeface="楷体_GB2312" pitchFamily="1" charset="-122"/>
              </a:rPr>
              <a:t>表</a:t>
            </a:r>
            <a:r>
              <a:rPr lang="en-US" altLang="zh-CN" b="1">
                <a:solidFill>
                  <a:schemeClr val="tx1"/>
                </a:solidFill>
                <a:latin typeface="楷体_GB2312" pitchFamily="1" charset="-122"/>
                <a:ea typeface="楷体_GB2312" pitchFamily="1" charset="-122"/>
              </a:rPr>
              <a:t>9-5 </a:t>
            </a:r>
            <a:r>
              <a:rPr lang="zh-CN" altLang="en-US" b="1">
                <a:solidFill>
                  <a:schemeClr val="tx1"/>
                </a:solidFill>
                <a:latin typeface="楷体_GB2312" pitchFamily="1" charset="-122"/>
                <a:ea typeface="楷体_GB2312" pitchFamily="1" charset="-122"/>
              </a:rPr>
              <a:t>柏拉图多面体几何信息统计</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7F5B94E1-419E-4E84-9590-78DF59D5727E}" type="slidenum">
              <a:rPr lang="en-US" altLang="zh-CN" sz="1200">
                <a:solidFill>
                  <a:schemeClr val="tx1"/>
                </a:solidFill>
                <a:latin typeface="Garamond" pitchFamily="18" charset="0"/>
              </a:rPr>
              <a:pPr algn="r" eaLnBrk="1" hangingPunct="1">
                <a:spcBef>
                  <a:spcPct val="0"/>
                </a:spcBef>
              </a:pPr>
              <a:t>29</a:t>
            </a:fld>
            <a:endParaRPr lang="en-US" altLang="zh-CN" sz="1200">
              <a:solidFill>
                <a:schemeClr val="tx1"/>
              </a:solidFill>
              <a:latin typeface="Garamond" pitchFamily="18" charset="0"/>
            </a:endParaRPr>
          </a:p>
        </p:txBody>
      </p:sp>
      <p:sp>
        <p:nvSpPr>
          <p:cNvPr id="31747" name="Text Box 417"/>
          <p:cNvSpPr txBox="1">
            <a:spLocks noChangeArrowheads="1"/>
          </p:cNvSpPr>
          <p:nvPr/>
        </p:nvSpPr>
        <p:spPr bwMode="auto">
          <a:xfrm>
            <a:off x="341313" y="368300"/>
            <a:ext cx="2790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en-US" altLang="zh-CN" b="1">
                <a:solidFill>
                  <a:schemeClr val="tx1"/>
                </a:solidFill>
                <a:latin typeface="楷体_GB2312" pitchFamily="1" charset="-122"/>
                <a:ea typeface="楷体_GB2312" pitchFamily="1" charset="-122"/>
              </a:rPr>
              <a:t>〔1〕</a:t>
            </a:r>
            <a:r>
              <a:rPr lang="zh-CN" altLang="en-US" b="1">
                <a:solidFill>
                  <a:schemeClr val="tx1"/>
                </a:solidFill>
                <a:latin typeface="楷体_GB2312" pitchFamily="1" charset="-122"/>
                <a:ea typeface="楷体_GB2312" pitchFamily="1" charset="-122"/>
              </a:rPr>
              <a:t>正四面体</a:t>
            </a:r>
          </a:p>
        </p:txBody>
      </p:sp>
      <p:sp>
        <p:nvSpPr>
          <p:cNvPr id="31748" name="Text Box 418"/>
          <p:cNvSpPr txBox="1">
            <a:spLocks noChangeArrowheads="1"/>
          </p:cNvSpPr>
          <p:nvPr/>
        </p:nvSpPr>
        <p:spPr bwMode="auto">
          <a:xfrm>
            <a:off x="566738" y="908050"/>
            <a:ext cx="832643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Clr>
                <a:srgbClr val="FF3399"/>
              </a:buClr>
              <a:buFont typeface="Wingdings" pitchFamily="2" charset="2"/>
              <a:buNone/>
            </a:pPr>
            <a:r>
              <a:rPr lang="zh-CN" altLang="en-US" dirty="0">
                <a:solidFill>
                  <a:schemeClr val="tx1"/>
                </a:solidFill>
                <a:ea typeface="楷体_GB2312" pitchFamily="1" charset="-122"/>
              </a:rPr>
              <a:t>       </a:t>
            </a:r>
            <a:r>
              <a:rPr lang="zh-CN" altLang="en-US" b="1" dirty="0">
                <a:solidFill>
                  <a:srgbClr val="FF0000"/>
                </a:solidFill>
                <a:latin typeface="方正粗黑宋简体" panose="02000000000000000000" pitchFamily="2" charset="-122"/>
                <a:ea typeface="方正粗黑宋简体" panose="02000000000000000000" pitchFamily="2" charset="-122"/>
              </a:rPr>
              <a:t>建立正四面体的伴随立方体</a:t>
            </a:r>
            <a:r>
              <a:rPr lang="zh-CN" altLang="en-US" dirty="0">
                <a:solidFill>
                  <a:schemeClr val="tx1"/>
                </a:solidFill>
                <a:ea typeface="楷体_GB2312" pitchFamily="1" charset="-122"/>
              </a:rPr>
              <a:t>可以很容易地确定正四面体的顶点表和面表。</a:t>
            </a:r>
          </a:p>
        </p:txBody>
      </p:sp>
      <p:graphicFrame>
        <p:nvGraphicFramePr>
          <p:cNvPr id="31749" name="Object 419"/>
          <p:cNvGraphicFramePr>
            <a:graphicFrameLocks noChangeAspect="1"/>
          </p:cNvGraphicFramePr>
          <p:nvPr/>
        </p:nvGraphicFramePr>
        <p:xfrm>
          <a:off x="4662488" y="1133475"/>
          <a:ext cx="4210050" cy="4229100"/>
        </p:xfrm>
        <a:graphic>
          <a:graphicData uri="http://schemas.openxmlformats.org/presentationml/2006/ole">
            <mc:AlternateContent xmlns:mc="http://schemas.openxmlformats.org/markup-compatibility/2006">
              <mc:Choice xmlns:v="urn:schemas-microsoft-com:vml" Requires="v">
                <p:oleObj spid="_x0000_s31788" r:id="rId3" imgW="4578706" imgH="4587850" progId="Visio.Drawing.11">
                  <p:embed/>
                </p:oleObj>
              </mc:Choice>
              <mc:Fallback>
                <p:oleObj r:id="rId3" imgW="4578706" imgH="4587850" progId="Visio.Drawing.11">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2488" y="1133475"/>
                        <a:ext cx="4210050" cy="422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0" name="Text Box 420"/>
          <p:cNvSpPr txBox="1">
            <a:spLocks noChangeArrowheads="1"/>
          </p:cNvSpPr>
          <p:nvPr/>
        </p:nvSpPr>
        <p:spPr bwMode="auto">
          <a:xfrm>
            <a:off x="8667750" y="3087688"/>
            <a:ext cx="342900"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endParaRPr lang="zh-CN" altLang="en-US">
              <a:solidFill>
                <a:schemeClr val="tx1"/>
              </a:solidFill>
              <a:latin typeface="Times New Roman" pitchFamily="18" charset="0"/>
              <a:cs typeface="Times New Roman" pitchFamily="18" charset="0"/>
            </a:endParaRPr>
          </a:p>
          <a:p>
            <a:pPr algn="l">
              <a:spcBef>
                <a:spcPct val="0"/>
              </a:spcBef>
            </a:pPr>
            <a:r>
              <a:rPr lang="en-US" altLang="zh-CN">
                <a:solidFill>
                  <a:schemeClr val="tx1"/>
                </a:solidFill>
                <a:latin typeface="Times New Roman" pitchFamily="18" charset="0"/>
                <a:cs typeface="Times New Roman" pitchFamily="18" charset="0"/>
              </a:rPr>
              <a:t>x</a:t>
            </a:r>
            <a:endParaRPr lang="en-US" altLang="zh-CN">
              <a:solidFill>
                <a:schemeClr val="tx1"/>
              </a:solidFill>
            </a:endParaRPr>
          </a:p>
        </p:txBody>
      </p:sp>
      <p:sp>
        <p:nvSpPr>
          <p:cNvPr id="31751" name="Text Box 421"/>
          <p:cNvSpPr txBox="1">
            <a:spLocks noChangeArrowheads="1"/>
          </p:cNvSpPr>
          <p:nvPr/>
        </p:nvSpPr>
        <p:spPr bwMode="auto">
          <a:xfrm>
            <a:off x="6372225" y="908050"/>
            <a:ext cx="3429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endParaRPr lang="zh-CN" altLang="en-US">
              <a:solidFill>
                <a:schemeClr val="tx1"/>
              </a:solidFill>
              <a:latin typeface="Times New Roman" pitchFamily="18" charset="0"/>
              <a:cs typeface="Times New Roman" pitchFamily="18" charset="0"/>
            </a:endParaRPr>
          </a:p>
          <a:p>
            <a:pPr algn="l">
              <a:spcBef>
                <a:spcPct val="0"/>
              </a:spcBef>
            </a:pPr>
            <a:r>
              <a:rPr lang="en-US" altLang="zh-CN">
                <a:solidFill>
                  <a:schemeClr val="tx1"/>
                </a:solidFill>
                <a:latin typeface="Times New Roman" pitchFamily="18" charset="0"/>
                <a:cs typeface="Times New Roman" pitchFamily="18" charset="0"/>
              </a:rPr>
              <a:t>y</a:t>
            </a:r>
            <a:endParaRPr lang="en-US" altLang="zh-CN">
              <a:solidFill>
                <a:schemeClr val="tx1"/>
              </a:solidFill>
            </a:endParaRPr>
          </a:p>
        </p:txBody>
      </p:sp>
      <p:sp>
        <p:nvSpPr>
          <p:cNvPr id="31752" name="Text Box 423"/>
          <p:cNvSpPr txBox="1">
            <a:spLocks noChangeArrowheads="1"/>
          </p:cNvSpPr>
          <p:nvPr/>
        </p:nvSpPr>
        <p:spPr bwMode="auto">
          <a:xfrm>
            <a:off x="5381625" y="3743325"/>
            <a:ext cx="3429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endParaRPr lang="zh-CN" altLang="en-US">
              <a:solidFill>
                <a:schemeClr val="tx1"/>
              </a:solidFill>
              <a:latin typeface="Times New Roman" pitchFamily="18" charset="0"/>
              <a:cs typeface="Times New Roman" pitchFamily="18" charset="0"/>
            </a:endParaRPr>
          </a:p>
          <a:p>
            <a:pPr algn="l">
              <a:spcBef>
                <a:spcPct val="0"/>
              </a:spcBef>
            </a:pPr>
            <a:r>
              <a:rPr lang="en-US" altLang="zh-CN">
                <a:solidFill>
                  <a:schemeClr val="tx1"/>
                </a:solidFill>
                <a:latin typeface="Times New Roman" pitchFamily="18" charset="0"/>
                <a:cs typeface="Times New Roman" pitchFamily="18" charset="0"/>
              </a:rPr>
              <a:t>z</a:t>
            </a:r>
            <a:endParaRPr lang="en-US" altLang="zh-CN">
              <a:solidFill>
                <a:schemeClr val="tx1"/>
              </a:solidFill>
            </a:endParaRPr>
          </a:p>
        </p:txBody>
      </p:sp>
      <p:sp>
        <p:nvSpPr>
          <p:cNvPr id="31753" name="Text Box 427"/>
          <p:cNvSpPr txBox="1">
            <a:spLocks noChangeArrowheads="1"/>
          </p:cNvSpPr>
          <p:nvPr/>
        </p:nvSpPr>
        <p:spPr bwMode="auto">
          <a:xfrm>
            <a:off x="7947025" y="4614863"/>
            <a:ext cx="525463"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1</a:t>
            </a:r>
            <a:endParaRPr lang="en-US" altLang="zh-CN">
              <a:solidFill>
                <a:schemeClr val="tx1"/>
              </a:solidFill>
            </a:endParaRPr>
          </a:p>
        </p:txBody>
      </p:sp>
      <p:sp>
        <p:nvSpPr>
          <p:cNvPr id="31754" name="Text Box 422"/>
          <p:cNvSpPr txBox="1">
            <a:spLocks noChangeArrowheads="1"/>
          </p:cNvSpPr>
          <p:nvPr/>
        </p:nvSpPr>
        <p:spPr bwMode="auto">
          <a:xfrm>
            <a:off x="6237288" y="3203575"/>
            <a:ext cx="3429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endParaRPr lang="zh-CN" altLang="en-US">
              <a:solidFill>
                <a:schemeClr val="tx1"/>
              </a:solidFill>
              <a:latin typeface="Times New Roman" pitchFamily="18" charset="0"/>
              <a:cs typeface="Times New Roman" pitchFamily="18" charset="0"/>
            </a:endParaRPr>
          </a:p>
          <a:p>
            <a:pPr algn="l">
              <a:spcBef>
                <a:spcPct val="0"/>
              </a:spcBef>
            </a:pPr>
            <a:r>
              <a:rPr lang="en-US" altLang="zh-CN">
                <a:solidFill>
                  <a:schemeClr val="tx1"/>
                </a:solidFill>
                <a:latin typeface="Times New Roman" pitchFamily="18" charset="0"/>
                <a:cs typeface="Times New Roman" pitchFamily="18" charset="0"/>
              </a:rPr>
              <a:t>O</a:t>
            </a:r>
            <a:endParaRPr lang="en-US" altLang="zh-CN">
              <a:solidFill>
                <a:schemeClr val="tx1"/>
              </a:solidFill>
            </a:endParaRPr>
          </a:p>
        </p:txBody>
      </p:sp>
      <p:sp>
        <p:nvSpPr>
          <p:cNvPr id="31755" name="Text Box 424"/>
          <p:cNvSpPr txBox="1">
            <a:spLocks noChangeArrowheads="1"/>
          </p:cNvSpPr>
          <p:nvPr/>
        </p:nvSpPr>
        <p:spPr bwMode="auto">
          <a:xfrm>
            <a:off x="4941888" y="1268413"/>
            <a:ext cx="709612"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endParaRPr lang="zh-CN" altLang="en-US">
              <a:solidFill>
                <a:schemeClr val="tx1"/>
              </a:solidFill>
              <a:latin typeface="Times New Roman" pitchFamily="18" charset="0"/>
              <a:cs typeface="Times New Roman" pitchFamily="18" charset="0"/>
            </a:endParaRPr>
          </a:p>
          <a:p>
            <a:pPr algn="l">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3</a:t>
            </a:r>
            <a:endParaRPr lang="en-US" altLang="zh-CN">
              <a:solidFill>
                <a:schemeClr val="tx1"/>
              </a:solidFill>
            </a:endParaRPr>
          </a:p>
        </p:txBody>
      </p:sp>
      <p:sp>
        <p:nvSpPr>
          <p:cNvPr id="31756" name="Text Box 425"/>
          <p:cNvSpPr txBox="1">
            <a:spLocks noChangeArrowheads="1"/>
          </p:cNvSpPr>
          <p:nvPr/>
        </p:nvSpPr>
        <p:spPr bwMode="auto">
          <a:xfrm>
            <a:off x="4211638" y="4689475"/>
            <a:ext cx="671512"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endParaRPr lang="zh-CN" altLang="en-US">
              <a:solidFill>
                <a:schemeClr val="tx1"/>
              </a:solidFill>
              <a:latin typeface="Times New Roman" pitchFamily="18" charset="0"/>
              <a:cs typeface="Times New Roman" pitchFamily="18" charset="0"/>
            </a:endParaRPr>
          </a:p>
          <a:p>
            <a:pPr algn="l">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2</a:t>
            </a:r>
            <a:endParaRPr lang="en-US" altLang="zh-CN">
              <a:solidFill>
                <a:schemeClr val="tx1"/>
              </a:solidFill>
            </a:endParaRPr>
          </a:p>
        </p:txBody>
      </p:sp>
      <p:sp>
        <p:nvSpPr>
          <p:cNvPr id="31757" name="Text Box 426"/>
          <p:cNvSpPr txBox="1">
            <a:spLocks noChangeArrowheads="1"/>
          </p:cNvSpPr>
          <p:nvPr/>
        </p:nvSpPr>
        <p:spPr bwMode="auto">
          <a:xfrm>
            <a:off x="7002463" y="1844675"/>
            <a:ext cx="712787"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endParaRPr lang="zh-CN" altLang="en-US">
              <a:solidFill>
                <a:schemeClr val="tx1"/>
              </a:solidFill>
              <a:latin typeface="Times New Roman" pitchFamily="18" charset="0"/>
              <a:cs typeface="Times New Roman" pitchFamily="18" charset="0"/>
            </a:endParaRPr>
          </a:p>
          <a:p>
            <a:pPr algn="l">
              <a:spcBef>
                <a:spcPct val="0"/>
              </a:spcBef>
            </a:pPr>
            <a:r>
              <a:rPr lang="en-US" altLang="zh-CN">
                <a:solidFill>
                  <a:schemeClr val="tx1"/>
                </a:solidFill>
                <a:latin typeface="Times New Roman" pitchFamily="18" charset="0"/>
                <a:cs typeface="Times New Roman" pitchFamily="18" charset="0"/>
              </a:rPr>
              <a:t>V</a:t>
            </a:r>
            <a:r>
              <a:rPr lang="en-US" altLang="zh-CN" baseline="-30000">
                <a:solidFill>
                  <a:schemeClr val="tx1"/>
                </a:solidFill>
                <a:latin typeface="Times New Roman" pitchFamily="18" charset="0"/>
                <a:cs typeface="Times New Roman" pitchFamily="18" charset="0"/>
              </a:rPr>
              <a:t>0</a:t>
            </a:r>
            <a:endParaRPr lang="en-US" altLang="zh-CN">
              <a:solidFill>
                <a:schemeClr val="tx1"/>
              </a:solidFill>
            </a:endParaRPr>
          </a:p>
        </p:txBody>
      </p:sp>
      <p:sp>
        <p:nvSpPr>
          <p:cNvPr id="31760" name="Rectangle 430"/>
          <p:cNvSpPr>
            <a:spLocks noChangeArrowheads="1"/>
          </p:cNvSpPr>
          <p:nvPr/>
        </p:nvSpPr>
        <p:spPr bwMode="auto">
          <a:xfrm>
            <a:off x="4392613" y="5724525"/>
            <a:ext cx="387032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nchorCtr="1"/>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endParaRPr lang="zh-CN" altLang="en-US" sz="2000">
              <a:solidFill>
                <a:schemeClr val="tx1"/>
              </a:solidFill>
              <a:latin typeface="楷体_GB2312" pitchFamily="1" charset="-122"/>
              <a:ea typeface="楷体_GB2312" pitchFamily="1" charset="-122"/>
            </a:endParaRPr>
          </a:p>
          <a:p>
            <a:pPr>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9-18 </a:t>
            </a:r>
            <a:r>
              <a:rPr lang="zh-CN" altLang="en-US" sz="2000">
                <a:solidFill>
                  <a:schemeClr val="tx1"/>
                </a:solidFill>
                <a:latin typeface="楷体_GB2312" pitchFamily="1" charset="-122"/>
                <a:ea typeface="楷体_GB2312" pitchFamily="1" charset="-122"/>
              </a:rPr>
              <a:t>正四面体几何模型</a:t>
            </a:r>
          </a:p>
        </p:txBody>
      </p:sp>
      <p:sp>
        <p:nvSpPr>
          <p:cNvPr id="31761" name="Text Box 431"/>
          <p:cNvSpPr txBox="1">
            <a:spLocks noChangeArrowheads="1"/>
          </p:cNvSpPr>
          <p:nvPr/>
        </p:nvSpPr>
        <p:spPr bwMode="auto">
          <a:xfrm>
            <a:off x="385763" y="2259013"/>
            <a:ext cx="3602037" cy="3933384"/>
          </a:xfrm>
          <a:prstGeom prst="rect">
            <a:avLst/>
          </a:prstGeom>
          <a:solidFill>
            <a:srgbClr val="FFEBE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30000"/>
              </a:lnSpc>
              <a:buClr>
                <a:srgbClr val="FF3399"/>
              </a:buClr>
              <a:buFont typeface="Wingdings" pitchFamily="2" charset="2"/>
              <a:buNone/>
            </a:pPr>
            <a:r>
              <a:rPr lang="zh-CN" altLang="en-US" dirty="0">
                <a:solidFill>
                  <a:schemeClr val="tx1"/>
                </a:solidFill>
                <a:latin typeface="楷体_GB2312" pitchFamily="1" charset="-122"/>
                <a:ea typeface="楷体_GB2312" pitchFamily="1" charset="-122"/>
              </a:rPr>
              <a:t>正四面体的</a:t>
            </a:r>
            <a:r>
              <a:rPr lang="zh-CN" altLang="en-US" b="1" dirty="0">
                <a:solidFill>
                  <a:srgbClr val="FF0000"/>
                </a:solidFill>
                <a:latin typeface="方正粗黑宋简体" panose="02000000000000000000" pitchFamily="2" charset="-122"/>
                <a:ea typeface="方正粗黑宋简体" panose="02000000000000000000" pitchFamily="2" charset="-122"/>
              </a:rPr>
              <a:t>外接球</a:t>
            </a:r>
            <a:r>
              <a:rPr lang="zh-CN" altLang="en-US" dirty="0">
                <a:solidFill>
                  <a:schemeClr val="tx1"/>
                </a:solidFill>
                <a:latin typeface="楷体_GB2312" pitchFamily="1" charset="-122"/>
                <a:ea typeface="楷体_GB2312" pitchFamily="1" charset="-122"/>
              </a:rPr>
              <a:t>和其伴随立方体的外接球是同一个球；正四面</a:t>
            </a:r>
            <a:r>
              <a:rPr lang="zh-CN" altLang="en-US" b="1" dirty="0">
                <a:solidFill>
                  <a:srgbClr val="FF0000"/>
                </a:solidFill>
                <a:latin typeface="方正粗黑宋简体" panose="02000000000000000000" pitchFamily="2" charset="-122"/>
                <a:ea typeface="方正粗黑宋简体" panose="02000000000000000000" pitchFamily="2" charset="-122"/>
              </a:rPr>
              <a:t>体外接球</a:t>
            </a:r>
            <a:r>
              <a:rPr lang="zh-CN" altLang="en-US" dirty="0">
                <a:solidFill>
                  <a:schemeClr val="tx1"/>
                </a:solidFill>
                <a:latin typeface="楷体_GB2312" pitchFamily="1" charset="-122"/>
                <a:ea typeface="楷体_GB2312" pitchFamily="1" charset="-122"/>
              </a:rPr>
              <a:t>的直径就是立方体的对角线。假设立方体的半边长为</a:t>
            </a:r>
            <a:r>
              <a:rPr lang="en-US" altLang="zh-CN" dirty="0">
                <a:solidFill>
                  <a:schemeClr val="tx1"/>
                </a:solidFill>
                <a:latin typeface="楷体_GB2312" pitchFamily="1" charset="-122"/>
                <a:ea typeface="楷体_GB2312" pitchFamily="1" charset="-122"/>
              </a:rPr>
              <a:t>a</a:t>
            </a:r>
            <a:r>
              <a:rPr lang="zh-CN" altLang="en-US" dirty="0">
                <a:solidFill>
                  <a:schemeClr val="tx1"/>
                </a:solidFill>
                <a:latin typeface="楷体_GB2312" pitchFamily="1" charset="-122"/>
                <a:ea typeface="楷体_GB2312" pitchFamily="1" charset="-122"/>
              </a:rPr>
              <a:t>，令</a:t>
            </a:r>
            <a:r>
              <a:rPr lang="en-US" altLang="zh-CN" dirty="0">
                <a:solidFill>
                  <a:schemeClr val="tx1"/>
                </a:solidFill>
                <a:latin typeface="楷体_GB2312" pitchFamily="1" charset="-122"/>
                <a:ea typeface="楷体_GB2312" pitchFamily="1" charset="-122"/>
              </a:rPr>
              <a:t>V</a:t>
            </a:r>
            <a:r>
              <a:rPr lang="en-US" altLang="zh-CN" baseline="-20000"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rPr>
              <a:t>点为（</a:t>
            </a:r>
            <a:r>
              <a:rPr lang="en-US" altLang="zh-CN" dirty="0">
                <a:solidFill>
                  <a:schemeClr val="tx1"/>
                </a:solidFill>
                <a:latin typeface="楷体_GB2312" pitchFamily="1" charset="-122"/>
                <a:ea typeface="楷体_GB2312" pitchFamily="1" charset="-122"/>
              </a:rPr>
              <a:t>a</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a</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a</a:t>
            </a:r>
            <a:r>
              <a:rPr lang="zh-CN" altLang="en-US" dirty="0">
                <a:solidFill>
                  <a:schemeClr val="tx1"/>
                </a:solidFill>
                <a:latin typeface="楷体_GB2312" pitchFamily="1" charset="-122"/>
                <a:ea typeface="楷体_GB2312" pitchFamily="1" charset="-122"/>
              </a:rPr>
              <a:t>），则正</a:t>
            </a:r>
            <a:r>
              <a:rPr lang="en-US" altLang="zh-CN" dirty="0">
                <a:solidFill>
                  <a:schemeClr val="tx1"/>
                </a:solidFill>
                <a:latin typeface="楷体_GB2312" pitchFamily="1" charset="-122"/>
                <a:ea typeface="楷体_GB2312" pitchFamily="1" charset="-122"/>
              </a:rPr>
              <a:t>V</a:t>
            </a:r>
            <a:r>
              <a:rPr lang="en-US" altLang="zh-CN" baseline="-20000" dirty="0">
                <a:solidFill>
                  <a:schemeClr val="tx1"/>
                </a:solidFill>
                <a:latin typeface="楷体_GB2312" pitchFamily="1" charset="-122"/>
                <a:ea typeface="楷体_GB2312" pitchFamily="1" charset="-122"/>
              </a:rPr>
              <a:t>1</a:t>
            </a:r>
            <a:r>
              <a:rPr lang="en-US" altLang="zh-CN" dirty="0">
                <a:solidFill>
                  <a:schemeClr val="tx1"/>
                </a:solidFill>
                <a:latin typeface="楷体_GB2312" pitchFamily="1" charset="-122"/>
                <a:ea typeface="楷体_GB2312" pitchFamily="1" charset="-122"/>
              </a:rPr>
              <a:t> V</a:t>
            </a:r>
            <a:r>
              <a:rPr lang="en-US" altLang="zh-CN" baseline="-20000" dirty="0">
                <a:solidFill>
                  <a:schemeClr val="tx1"/>
                </a:solidFill>
                <a:latin typeface="楷体_GB2312" pitchFamily="1" charset="-122"/>
                <a:ea typeface="楷体_GB2312" pitchFamily="1" charset="-122"/>
              </a:rPr>
              <a:t>2</a:t>
            </a:r>
            <a:r>
              <a:rPr lang="en-US" altLang="zh-CN" dirty="0">
                <a:solidFill>
                  <a:schemeClr val="tx1"/>
                </a:solidFill>
                <a:latin typeface="楷体_GB2312" pitchFamily="1" charset="-122"/>
                <a:ea typeface="楷体_GB2312" pitchFamily="1" charset="-122"/>
              </a:rPr>
              <a:t> V</a:t>
            </a:r>
            <a:r>
              <a:rPr lang="en-US" altLang="zh-CN" baseline="-20000" dirty="0">
                <a:solidFill>
                  <a:schemeClr val="tx1"/>
                </a:solidFill>
                <a:latin typeface="楷体_GB2312" pitchFamily="1" charset="-122"/>
                <a:ea typeface="楷体_GB2312" pitchFamily="1" charset="-122"/>
              </a:rPr>
              <a:t>3</a:t>
            </a:r>
            <a:r>
              <a:rPr lang="zh-CN" altLang="en-US" dirty="0">
                <a:solidFill>
                  <a:schemeClr val="tx1"/>
                </a:solidFill>
                <a:latin typeface="楷体_GB2312" pitchFamily="1" charset="-122"/>
                <a:ea typeface="楷体_GB2312" pitchFamily="1" charset="-122"/>
              </a:rPr>
              <a:t>顶点表见表</a:t>
            </a:r>
            <a:r>
              <a:rPr lang="en-US" altLang="zh-CN" dirty="0">
                <a:solidFill>
                  <a:schemeClr val="tx1"/>
                </a:solidFill>
                <a:latin typeface="楷体_GB2312" pitchFamily="1" charset="-122"/>
                <a:ea typeface="楷体_GB2312" pitchFamily="1" charset="-122"/>
              </a:rPr>
              <a:t>9-6</a:t>
            </a:r>
            <a:r>
              <a:rPr lang="zh-CN" altLang="en-US" dirty="0">
                <a:solidFill>
                  <a:schemeClr val="tx1"/>
                </a:solidFill>
                <a:latin typeface="楷体_GB2312" pitchFamily="1" charset="-122"/>
                <a:ea typeface="楷体_GB2312" pitchFamily="1" charset="-122"/>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6"/>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1EF86105-A817-42D2-94F8-6A9F8A0CF85A}" type="slidenum">
              <a:rPr lang="en-US" altLang="zh-CN" sz="1200">
                <a:solidFill>
                  <a:schemeClr val="tx1"/>
                </a:solidFill>
                <a:latin typeface="Garamond" pitchFamily="18" charset="0"/>
              </a:rPr>
              <a:pPr algn="r" eaLnBrk="1" hangingPunct="1">
                <a:spcBef>
                  <a:spcPct val="0"/>
                </a:spcBef>
              </a:pPr>
              <a:t>30</a:t>
            </a:fld>
            <a:endParaRPr lang="en-US" altLang="zh-CN" sz="1200">
              <a:solidFill>
                <a:schemeClr val="tx1"/>
              </a:solidFill>
              <a:latin typeface="Garamond" pitchFamily="18" charset="0"/>
            </a:endParaRPr>
          </a:p>
        </p:txBody>
      </p:sp>
      <p:sp>
        <p:nvSpPr>
          <p:cNvPr id="32771" name="Rectangle 4"/>
          <p:cNvSpPr>
            <a:spLocks noChangeArrowheads="1"/>
          </p:cNvSpPr>
          <p:nvPr/>
        </p:nvSpPr>
        <p:spPr bwMode="auto">
          <a:xfrm>
            <a:off x="2411413" y="219075"/>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latin typeface="楷体_GB2312" pitchFamily="1" charset="-122"/>
                <a:ea typeface="楷体_GB2312" pitchFamily="1" charset="-122"/>
              </a:rPr>
              <a:t>表</a:t>
            </a:r>
            <a:r>
              <a:rPr lang="en-US" altLang="zh-CN">
                <a:solidFill>
                  <a:schemeClr val="tx1"/>
                </a:solidFill>
                <a:latin typeface="楷体_GB2312" pitchFamily="1" charset="-122"/>
                <a:ea typeface="楷体_GB2312" pitchFamily="1" charset="-122"/>
              </a:rPr>
              <a:t>9-6 </a:t>
            </a:r>
            <a:r>
              <a:rPr lang="zh-CN" altLang="en-US">
                <a:solidFill>
                  <a:schemeClr val="tx1"/>
                </a:solidFill>
                <a:latin typeface="楷体_GB2312" pitchFamily="1" charset="-122"/>
                <a:ea typeface="楷体_GB2312" pitchFamily="1" charset="-122"/>
              </a:rPr>
              <a:t>正四面体顶点表 </a:t>
            </a:r>
          </a:p>
        </p:txBody>
      </p:sp>
      <p:graphicFrame>
        <p:nvGraphicFramePr>
          <p:cNvPr id="32772" name="Group 4"/>
          <p:cNvGraphicFramePr>
            <a:graphicFrameLocks noGrp="1"/>
          </p:cNvGraphicFramePr>
          <p:nvPr>
            <p:ph sz="half" idx="4294967295"/>
          </p:nvPr>
        </p:nvGraphicFramePr>
        <p:xfrm>
          <a:off x="657225" y="684213"/>
          <a:ext cx="8075613" cy="2535239"/>
        </p:xfrm>
        <a:graphic>
          <a:graphicData uri="http://schemas.openxmlformats.org/drawingml/2006/table">
            <a:tbl>
              <a:tblPr/>
              <a:tblGrid>
                <a:gridCol w="2019300">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gridCol w="2017713">
                  <a:extLst>
                    <a:ext uri="{9D8B030D-6E8A-4147-A177-3AD203B41FA5}">
                      <a16:colId xmlns:a16="http://schemas.microsoft.com/office/drawing/2014/main" val="20002"/>
                    </a:ext>
                  </a:extLst>
                </a:gridCol>
                <a:gridCol w="2019300">
                  <a:extLst>
                    <a:ext uri="{9D8B030D-6E8A-4147-A177-3AD203B41FA5}">
                      <a16:colId xmlns:a16="http://schemas.microsoft.com/office/drawing/2014/main" val="20003"/>
                    </a:ext>
                  </a:extLst>
                </a:gridCol>
              </a:tblGrid>
              <a:tr h="461963">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顶点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x坐标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y坐标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z坐标</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extLst>
                  <a:ext uri="{0D108BD9-81ED-4DB2-BD59-A6C34878D82A}">
                    <a16:rowId xmlns:a16="http://schemas.microsoft.com/office/drawing/2014/main" val="10000"/>
                  </a:ext>
                </a:extLst>
              </a:tr>
              <a:tr h="519113">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400" b="0" i="0" u="none" strike="noStrike" cap="none" normalizeH="0" baseline="-20000" smtClean="0">
                          <a:ln>
                            <a:noFill/>
                          </a:ln>
                          <a:solidFill>
                            <a:schemeClr val="tx1"/>
                          </a:solidFill>
                          <a:effectLst/>
                          <a:latin typeface="楷体_GB2312" pitchFamily="1" charset="-122"/>
                          <a:ea typeface="楷体_GB2312" pitchFamily="1" charset="-122"/>
                        </a:rPr>
                        <a:t>0</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400" b="0" i="0" u="none" strike="noStrike" cap="none" normalizeH="0" baseline="-25000" smtClean="0">
                          <a:ln>
                            <a:noFill/>
                          </a:ln>
                          <a:solidFill>
                            <a:schemeClr val="tx1"/>
                          </a:solidFill>
                          <a:effectLst/>
                          <a:latin typeface="楷体_GB2312" pitchFamily="1" charset="-122"/>
                          <a:ea typeface="楷体_GB2312" pitchFamily="1" charset="-122"/>
                        </a:rPr>
                        <a:t>0</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 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400" b="0" i="0" u="none" strike="noStrike" cap="none" normalizeH="0" baseline="-25000" smtClean="0">
                          <a:ln>
                            <a:noFill/>
                          </a:ln>
                          <a:solidFill>
                            <a:schemeClr val="tx1"/>
                          </a:solidFill>
                          <a:effectLst/>
                          <a:latin typeface="楷体_GB2312" pitchFamily="1" charset="-122"/>
                          <a:ea typeface="楷体_GB2312" pitchFamily="1" charset="-122"/>
                        </a:rPr>
                        <a:t>0</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 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400" b="0" i="0" u="none" strike="noStrike" cap="none" normalizeH="0" baseline="-25000" smtClean="0">
                          <a:ln>
                            <a:noFill/>
                          </a:ln>
                          <a:solidFill>
                            <a:schemeClr val="tx1"/>
                          </a:solidFill>
                          <a:effectLst/>
                          <a:latin typeface="楷体_GB2312" pitchFamily="1" charset="-122"/>
                          <a:ea typeface="楷体_GB2312" pitchFamily="1" charset="-122"/>
                        </a:rPr>
                        <a:t>0</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 a</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extLst>
                  <a:ext uri="{0D108BD9-81ED-4DB2-BD59-A6C34878D82A}">
                    <a16:rowId xmlns:a16="http://schemas.microsoft.com/office/drawing/2014/main" val="10001"/>
                  </a:ext>
                </a:extLst>
              </a:tr>
              <a:tr h="51752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400" b="0" i="0" u="none" strike="noStrike" cap="none" normalizeH="0" baseline="-25000" smtClean="0">
                          <a:ln>
                            <a:noFill/>
                          </a:ln>
                          <a:solidFill>
                            <a:schemeClr val="tx1"/>
                          </a:solidFill>
                          <a:effectLst/>
                          <a:latin typeface="楷体_GB2312" pitchFamily="1" charset="-122"/>
                          <a:ea typeface="楷体_GB2312" pitchFamily="1" charset="-122"/>
                        </a:rPr>
                        <a:t>1</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400" b="0" i="0" u="none" strike="noStrike" cap="none" normalizeH="0" baseline="-25000" smtClean="0">
                          <a:ln>
                            <a:noFill/>
                          </a:ln>
                          <a:solidFill>
                            <a:schemeClr val="tx1"/>
                          </a:solidFill>
                          <a:effectLst/>
                          <a:latin typeface="楷体_GB2312" pitchFamily="1" charset="-122"/>
                          <a:ea typeface="楷体_GB2312" pitchFamily="1" charset="-122"/>
                        </a:rPr>
                        <a:t>1</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 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400" b="0" i="0" u="none" strike="noStrike" cap="none" normalizeH="0" baseline="-25000" smtClean="0">
                          <a:ln>
                            <a:noFill/>
                          </a:ln>
                          <a:solidFill>
                            <a:schemeClr val="tx1"/>
                          </a:solidFill>
                          <a:effectLst/>
                          <a:latin typeface="楷体_GB2312" pitchFamily="1" charset="-122"/>
                          <a:ea typeface="楷体_GB2312" pitchFamily="1" charset="-122"/>
                        </a:rPr>
                        <a:t>1</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400" b="0" i="0" u="none" strike="noStrike" cap="none" normalizeH="0" baseline="-25000" smtClean="0">
                          <a:ln>
                            <a:noFill/>
                          </a:ln>
                          <a:solidFill>
                            <a:schemeClr val="tx1"/>
                          </a:solidFill>
                          <a:effectLst/>
                          <a:latin typeface="楷体_GB2312" pitchFamily="1" charset="-122"/>
                          <a:ea typeface="楷体_GB2312" pitchFamily="1" charset="-122"/>
                        </a:rPr>
                        <a:t>1</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extLst>
                  <a:ext uri="{0D108BD9-81ED-4DB2-BD59-A6C34878D82A}">
                    <a16:rowId xmlns:a16="http://schemas.microsoft.com/office/drawing/2014/main" val="10002"/>
                  </a:ext>
                </a:extLst>
              </a:tr>
              <a:tr h="51752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400" b="0" i="0" u="none" strike="noStrike" cap="none" normalizeH="0" baseline="-25000" smtClean="0">
                          <a:ln>
                            <a:noFill/>
                          </a:ln>
                          <a:solidFill>
                            <a:schemeClr val="tx1"/>
                          </a:solidFill>
                          <a:effectLst/>
                          <a:latin typeface="楷体_GB2312" pitchFamily="1" charset="-122"/>
                          <a:ea typeface="楷体_GB2312" pitchFamily="1" charset="-122"/>
                        </a:rPr>
                        <a:t>2</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400" b="0" i="0" u="none" strike="noStrike" cap="none" normalizeH="0" baseline="-25000" smtClean="0">
                          <a:ln>
                            <a:noFill/>
                          </a:ln>
                          <a:solidFill>
                            <a:schemeClr val="tx1"/>
                          </a:solidFill>
                          <a:effectLst/>
                          <a:latin typeface="楷体_GB2312" pitchFamily="1" charset="-122"/>
                          <a:ea typeface="楷体_GB2312" pitchFamily="1" charset="-122"/>
                        </a:rPr>
                        <a:t>2</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400" b="0" i="0" u="none" strike="noStrike" cap="none" normalizeH="0" baseline="-25000" smtClean="0">
                          <a:ln>
                            <a:noFill/>
                          </a:ln>
                          <a:solidFill>
                            <a:schemeClr val="tx1"/>
                          </a:solidFill>
                          <a:effectLst/>
                          <a:latin typeface="楷体_GB2312" pitchFamily="1" charset="-122"/>
                          <a:ea typeface="楷体_GB2312" pitchFamily="1" charset="-122"/>
                        </a:rPr>
                        <a:t>2</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400" b="0" i="0" u="none" strike="noStrike" cap="none" normalizeH="0" baseline="-25000" smtClean="0">
                          <a:ln>
                            <a:noFill/>
                          </a:ln>
                          <a:solidFill>
                            <a:schemeClr val="tx1"/>
                          </a:solidFill>
                          <a:effectLst/>
                          <a:latin typeface="楷体_GB2312" pitchFamily="1" charset="-122"/>
                          <a:ea typeface="楷体_GB2312" pitchFamily="1" charset="-122"/>
                        </a:rPr>
                        <a:t>2</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 a</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extLst>
                  <a:ext uri="{0D108BD9-81ED-4DB2-BD59-A6C34878D82A}">
                    <a16:rowId xmlns:a16="http://schemas.microsoft.com/office/drawing/2014/main" val="10003"/>
                  </a:ext>
                </a:extLst>
              </a:tr>
              <a:tr h="519113">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400" b="0" i="0" u="none" strike="noStrike" cap="none" normalizeH="0" baseline="-25000" smtClean="0">
                          <a:ln>
                            <a:noFill/>
                          </a:ln>
                          <a:solidFill>
                            <a:schemeClr val="tx1"/>
                          </a:solidFill>
                          <a:effectLst/>
                          <a:latin typeface="楷体_GB2312" pitchFamily="1" charset="-122"/>
                          <a:ea typeface="楷体_GB2312" pitchFamily="1" charset="-122"/>
                        </a:rPr>
                        <a:t>3</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400" b="0" i="0" u="none" strike="noStrike" cap="none" normalizeH="0" baseline="-25000" smtClean="0">
                          <a:ln>
                            <a:noFill/>
                          </a:ln>
                          <a:solidFill>
                            <a:schemeClr val="tx1"/>
                          </a:solidFill>
                          <a:effectLst/>
                          <a:latin typeface="楷体_GB2312" pitchFamily="1" charset="-122"/>
                          <a:ea typeface="楷体_GB2312" pitchFamily="1" charset="-122"/>
                        </a:rPr>
                        <a:t>3</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400" b="0" i="0" u="none" strike="noStrike" cap="none" normalizeH="0" baseline="-25000" smtClean="0">
                          <a:ln>
                            <a:noFill/>
                          </a:ln>
                          <a:solidFill>
                            <a:schemeClr val="tx1"/>
                          </a:solidFill>
                          <a:effectLst/>
                          <a:latin typeface="楷体_GB2312" pitchFamily="1" charset="-122"/>
                          <a:ea typeface="楷体_GB2312" pitchFamily="1" charset="-122"/>
                        </a:rPr>
                        <a:t>3</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 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400" b="0" i="0" u="none" strike="noStrike" cap="none" normalizeH="0" baseline="-25000" smtClean="0">
                          <a:ln>
                            <a:noFill/>
                          </a:ln>
                          <a:solidFill>
                            <a:schemeClr val="tx1"/>
                          </a:solidFill>
                          <a:effectLst/>
                          <a:latin typeface="楷体_GB2312" pitchFamily="1" charset="-122"/>
                          <a:ea typeface="楷体_GB2312" pitchFamily="1" charset="-122"/>
                        </a:rPr>
                        <a:t>3</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F5FF"/>
                    </a:solidFill>
                  </a:tcPr>
                </a:tc>
                <a:extLst>
                  <a:ext uri="{0D108BD9-81ED-4DB2-BD59-A6C34878D82A}">
                    <a16:rowId xmlns:a16="http://schemas.microsoft.com/office/drawing/2014/main" val="10004"/>
                  </a:ext>
                </a:extLst>
              </a:tr>
            </a:tbl>
          </a:graphicData>
        </a:graphic>
      </p:graphicFrame>
      <p:sp>
        <p:nvSpPr>
          <p:cNvPr id="32805" name="Rectangle 135"/>
          <p:cNvSpPr>
            <a:spLocks noChangeArrowheads="1"/>
          </p:cNvSpPr>
          <p:nvPr/>
        </p:nvSpPr>
        <p:spPr bwMode="auto">
          <a:xfrm>
            <a:off x="3086100" y="3159125"/>
            <a:ext cx="292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latin typeface="楷体_GB2312" pitchFamily="1" charset="-122"/>
                <a:ea typeface="楷体_GB2312" pitchFamily="1" charset="-122"/>
              </a:rPr>
              <a:t>表</a:t>
            </a:r>
            <a:r>
              <a:rPr lang="en-US" altLang="zh-CN">
                <a:solidFill>
                  <a:schemeClr val="tx1"/>
                </a:solidFill>
                <a:latin typeface="楷体_GB2312" pitchFamily="1" charset="-122"/>
                <a:ea typeface="楷体_GB2312" pitchFamily="1" charset="-122"/>
              </a:rPr>
              <a:t>9-7 </a:t>
            </a:r>
            <a:r>
              <a:rPr lang="zh-CN" altLang="en-US">
                <a:solidFill>
                  <a:schemeClr val="tx1"/>
                </a:solidFill>
                <a:latin typeface="楷体_GB2312" pitchFamily="1" charset="-122"/>
                <a:ea typeface="楷体_GB2312" pitchFamily="1" charset="-122"/>
              </a:rPr>
              <a:t>正四面体面表</a:t>
            </a:r>
          </a:p>
        </p:txBody>
      </p:sp>
      <p:graphicFrame>
        <p:nvGraphicFramePr>
          <p:cNvPr id="32806" name="Group 38"/>
          <p:cNvGraphicFramePr>
            <a:graphicFrameLocks noGrp="1"/>
          </p:cNvGraphicFramePr>
          <p:nvPr>
            <p:ph sz="half" idx="4294967295"/>
          </p:nvPr>
        </p:nvGraphicFramePr>
        <p:xfrm>
          <a:off x="1150938" y="3743325"/>
          <a:ext cx="7200900" cy="2593976"/>
        </p:xfrm>
        <a:graphic>
          <a:graphicData uri="http://schemas.openxmlformats.org/drawingml/2006/table">
            <a:tbl>
              <a:tblPr/>
              <a:tblGrid>
                <a:gridCol w="811212">
                  <a:extLst>
                    <a:ext uri="{9D8B030D-6E8A-4147-A177-3AD203B41FA5}">
                      <a16:colId xmlns:a16="http://schemas.microsoft.com/office/drawing/2014/main" val="20000"/>
                    </a:ext>
                  </a:extLst>
                </a:gridCol>
                <a:gridCol w="2068513">
                  <a:extLst>
                    <a:ext uri="{9D8B030D-6E8A-4147-A177-3AD203B41FA5}">
                      <a16:colId xmlns:a16="http://schemas.microsoft.com/office/drawing/2014/main" val="20001"/>
                    </a:ext>
                  </a:extLst>
                </a:gridCol>
                <a:gridCol w="2114550">
                  <a:extLst>
                    <a:ext uri="{9D8B030D-6E8A-4147-A177-3AD203B41FA5}">
                      <a16:colId xmlns:a16="http://schemas.microsoft.com/office/drawing/2014/main" val="20002"/>
                    </a:ext>
                  </a:extLst>
                </a:gridCol>
                <a:gridCol w="2206625">
                  <a:extLst>
                    <a:ext uri="{9D8B030D-6E8A-4147-A177-3AD203B41FA5}">
                      <a16:colId xmlns:a16="http://schemas.microsoft.com/office/drawing/2014/main" val="20003"/>
                    </a:ext>
                  </a:extLst>
                </a:gridCol>
              </a:tblGrid>
              <a:tr h="51435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 面</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第一个顶点</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第二个顶点</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第三个顶点</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0"/>
                  </a:ext>
                </a:extLst>
              </a:tr>
              <a:tr h="5207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25000" smtClean="0">
                          <a:ln>
                            <a:noFill/>
                          </a:ln>
                          <a:solidFill>
                            <a:schemeClr val="tx1"/>
                          </a:solidFill>
                          <a:effectLst/>
                          <a:latin typeface="楷体_GB2312" pitchFamily="1" charset="-122"/>
                          <a:ea typeface="楷体_GB2312" pitchFamily="1" charset="-122"/>
                        </a:rPr>
                        <a:t>0</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2</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3</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1"/>
                  </a:ext>
                </a:extLst>
              </a:tr>
              <a:tr h="519113">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25000" smtClean="0">
                          <a:ln>
                            <a:noFill/>
                          </a:ln>
                          <a:solidFill>
                            <a:schemeClr val="tx1"/>
                          </a:solidFill>
                          <a:effectLst/>
                          <a:latin typeface="楷体_GB2312" pitchFamily="1" charset="-122"/>
                          <a:ea typeface="楷体_GB2312" pitchFamily="1" charset="-122"/>
                        </a:rPr>
                        <a:t>1</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0</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3</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2</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2"/>
                  </a:ext>
                </a:extLst>
              </a:tr>
              <a:tr h="5207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25000" smtClean="0">
                          <a:ln>
                            <a:noFill/>
                          </a:ln>
                          <a:solidFill>
                            <a:schemeClr val="tx1"/>
                          </a:solidFill>
                          <a:effectLst/>
                          <a:latin typeface="楷体_GB2312" pitchFamily="1" charset="-122"/>
                          <a:ea typeface="楷体_GB2312" pitchFamily="1" charset="-122"/>
                        </a:rPr>
                        <a:t>2</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0</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3</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3"/>
                  </a:ext>
                </a:extLst>
              </a:tr>
              <a:tr h="519113">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25000" smtClean="0">
                          <a:ln>
                            <a:noFill/>
                          </a:ln>
                          <a:solidFill>
                            <a:schemeClr val="tx1"/>
                          </a:solidFill>
                          <a:effectLst/>
                          <a:latin typeface="楷体_GB2312" pitchFamily="1" charset="-122"/>
                          <a:ea typeface="楷体_GB2312" pitchFamily="1" charset="-122"/>
                        </a:rPr>
                        <a:t>3</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0</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2</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a:t>
                      </a:r>
                    </a:p>
                  </a:txBody>
                  <a:tcPr marL="36000" marR="36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86F1EB45-6582-419E-94B2-0ABA6750861B}" type="slidenum">
              <a:rPr lang="en-US" altLang="zh-CN" sz="1200">
                <a:solidFill>
                  <a:schemeClr val="tx1"/>
                </a:solidFill>
                <a:latin typeface="Garamond" pitchFamily="18" charset="0"/>
              </a:rPr>
              <a:pPr algn="r" eaLnBrk="1" hangingPunct="1">
                <a:spcBef>
                  <a:spcPct val="0"/>
                </a:spcBef>
              </a:pPr>
              <a:t>31</a:t>
            </a:fld>
            <a:endParaRPr lang="en-US" altLang="zh-CN" sz="1200">
              <a:solidFill>
                <a:schemeClr val="tx1"/>
              </a:solidFill>
              <a:latin typeface="Garamond" pitchFamily="18" charset="0"/>
            </a:endParaRPr>
          </a:p>
        </p:txBody>
      </p:sp>
      <p:sp>
        <p:nvSpPr>
          <p:cNvPr id="33795"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33800" name="Text Box 24"/>
          <p:cNvSpPr txBox="1">
            <a:spLocks noChangeArrowheads="1"/>
          </p:cNvSpPr>
          <p:nvPr/>
        </p:nvSpPr>
        <p:spPr bwMode="auto">
          <a:xfrm>
            <a:off x="611188" y="458788"/>
            <a:ext cx="8099425" cy="830997"/>
          </a:xfrm>
          <a:prstGeom prst="rect">
            <a:avLst/>
          </a:prstGeom>
          <a:solidFill>
            <a:srgbClr val="FFEBE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Clr>
                <a:srgbClr val="FF3399"/>
              </a:buClr>
              <a:buFont typeface="Wingdings" pitchFamily="2" charset="2"/>
              <a:buNone/>
            </a:pPr>
            <a:r>
              <a:rPr lang="zh-CN" altLang="en-US" dirty="0">
                <a:solidFill>
                  <a:schemeClr val="tx1"/>
                </a:solidFill>
                <a:latin typeface="楷体_GB2312" pitchFamily="1" charset="-122"/>
                <a:ea typeface="楷体_GB2312" pitchFamily="1" charset="-122"/>
              </a:rPr>
              <a:t>正四面体的</a:t>
            </a:r>
            <a:r>
              <a:rPr lang="zh-CN" altLang="en-US" b="1" dirty="0">
                <a:solidFill>
                  <a:srgbClr val="FF0000"/>
                </a:solidFill>
                <a:latin typeface="方正粗黑宋简体" panose="02000000000000000000" pitchFamily="2" charset="-122"/>
                <a:ea typeface="方正粗黑宋简体" panose="02000000000000000000" pitchFamily="2" charset="-122"/>
              </a:rPr>
              <a:t>外接球面的半径</a:t>
            </a:r>
            <a:r>
              <a:rPr lang="zh-CN" altLang="en-US" dirty="0">
                <a:solidFill>
                  <a:schemeClr val="tx1"/>
                </a:solidFill>
                <a:latin typeface="楷体_GB2312" pitchFamily="1" charset="-122"/>
                <a:ea typeface="楷体_GB2312" pitchFamily="1" charset="-122"/>
              </a:rPr>
              <a:t>为           ，展开图如图</a:t>
            </a:r>
            <a:r>
              <a:rPr lang="en-US" altLang="zh-CN" dirty="0">
                <a:solidFill>
                  <a:schemeClr val="tx1"/>
                </a:solidFill>
                <a:latin typeface="楷体_GB2312" pitchFamily="1" charset="-122"/>
                <a:ea typeface="楷体_GB2312" pitchFamily="1" charset="-122"/>
              </a:rPr>
              <a:t>9-19</a:t>
            </a:r>
            <a:r>
              <a:rPr lang="zh-CN" altLang="en-US" dirty="0">
                <a:solidFill>
                  <a:schemeClr val="tx1"/>
                </a:solidFill>
                <a:latin typeface="楷体_GB2312" pitchFamily="1" charset="-122"/>
                <a:ea typeface="楷体_GB2312" pitchFamily="1" charset="-122"/>
              </a:rPr>
              <a:t>所示，面表见表</a:t>
            </a:r>
            <a:r>
              <a:rPr lang="en-US" altLang="zh-CN" dirty="0">
                <a:solidFill>
                  <a:schemeClr val="tx1"/>
                </a:solidFill>
                <a:latin typeface="楷体_GB2312" pitchFamily="1" charset="-122"/>
                <a:ea typeface="楷体_GB2312" pitchFamily="1" charset="-122"/>
              </a:rPr>
              <a:t>9-7</a:t>
            </a:r>
            <a:r>
              <a:rPr lang="zh-CN" altLang="en-US" dirty="0">
                <a:solidFill>
                  <a:schemeClr val="tx1"/>
                </a:solidFill>
                <a:latin typeface="楷体_GB2312" pitchFamily="1" charset="-122"/>
                <a:ea typeface="楷体_GB2312" pitchFamily="1" charset="-122"/>
              </a:rPr>
              <a:t>。 </a:t>
            </a:r>
          </a:p>
        </p:txBody>
      </p:sp>
      <p:graphicFrame>
        <p:nvGraphicFramePr>
          <p:cNvPr id="33801" name="Object 9"/>
          <p:cNvGraphicFramePr>
            <a:graphicFrameLocks noChangeAspect="1"/>
          </p:cNvGraphicFramePr>
          <p:nvPr/>
        </p:nvGraphicFramePr>
        <p:xfrm>
          <a:off x="4886325" y="414338"/>
          <a:ext cx="1260475" cy="541337"/>
        </p:xfrm>
        <a:graphic>
          <a:graphicData uri="http://schemas.openxmlformats.org/presentationml/2006/ole">
            <mc:AlternateContent xmlns:mc="http://schemas.openxmlformats.org/markup-compatibility/2006">
              <mc:Choice xmlns:v="urn:schemas-microsoft-com:vml" Requires="v">
                <p:oleObj spid="_x0000_s33857" r:id="rId3" imgW="533632" imgH="228699" progId="Equation.3">
                  <p:embed/>
                </p:oleObj>
              </mc:Choice>
              <mc:Fallback>
                <p:oleObj r:id="rId3" imgW="533632" imgH="228699" progId="Equation.3">
                  <p:embed/>
                  <p:pic>
                    <p:nvPicPr>
                      <p:cNvPr id="0" name="Picture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6325" y="414338"/>
                        <a:ext cx="1260475" cy="541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02" name="Text Box 37"/>
          <p:cNvSpPr txBox="1">
            <a:spLocks noChangeArrowheads="1"/>
          </p:cNvSpPr>
          <p:nvPr/>
        </p:nvSpPr>
        <p:spPr bwMode="auto">
          <a:xfrm>
            <a:off x="3132138" y="5768975"/>
            <a:ext cx="3644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9-19 </a:t>
            </a:r>
            <a:r>
              <a:rPr lang="zh-CN" altLang="en-US" sz="2000">
                <a:solidFill>
                  <a:schemeClr val="tx1"/>
                </a:solidFill>
                <a:latin typeface="楷体_GB2312" pitchFamily="1" charset="-122"/>
                <a:ea typeface="楷体_GB2312" pitchFamily="1" charset="-122"/>
              </a:rPr>
              <a:t>正四面体展开图 </a:t>
            </a:r>
          </a:p>
        </p:txBody>
      </p:sp>
      <p:graphicFrame>
        <p:nvGraphicFramePr>
          <p:cNvPr id="33804" name="Object 38"/>
          <p:cNvGraphicFramePr>
            <a:graphicFrameLocks noChangeAspect="1"/>
          </p:cNvGraphicFramePr>
          <p:nvPr/>
        </p:nvGraphicFramePr>
        <p:xfrm>
          <a:off x="2546350" y="1673225"/>
          <a:ext cx="4410075" cy="3716338"/>
        </p:xfrm>
        <a:graphic>
          <a:graphicData uri="http://schemas.openxmlformats.org/presentationml/2006/ole">
            <mc:AlternateContent xmlns:mc="http://schemas.openxmlformats.org/markup-compatibility/2006">
              <mc:Choice xmlns:v="urn:schemas-microsoft-com:vml" Requires="v">
                <p:oleObj spid="_x0000_s33858" r:id="rId5" imgW="3034783" imgH="2566751" progId="Visio.Drawing.11">
                  <p:embed/>
                </p:oleObj>
              </mc:Choice>
              <mc:Fallback>
                <p:oleObj r:id="rId5" imgW="3034783" imgH="2566751" progId="Visio.Drawing.11">
                  <p:embed/>
                  <p:pic>
                    <p:nvPicPr>
                      <p:cNvPr id="0" name="Picture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6350" y="1673225"/>
                        <a:ext cx="4410075" cy="3716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20A823D4-EC14-48A7-AC7F-1CD413090A4D}" type="slidenum">
              <a:rPr lang="en-US" altLang="zh-CN" sz="1200">
                <a:solidFill>
                  <a:schemeClr val="tx1"/>
                </a:solidFill>
                <a:latin typeface="Garamond" pitchFamily="18" charset="0"/>
              </a:rPr>
              <a:pPr algn="r" eaLnBrk="1" hangingPunct="1">
                <a:spcBef>
                  <a:spcPct val="0"/>
                </a:spcBef>
              </a:pPr>
              <a:t>32</a:t>
            </a:fld>
            <a:endParaRPr lang="en-US" altLang="zh-CN" sz="1200">
              <a:solidFill>
                <a:schemeClr val="tx1"/>
              </a:solidFill>
              <a:latin typeface="Garamond" pitchFamily="18" charset="0"/>
            </a:endParaRPr>
          </a:p>
        </p:txBody>
      </p:sp>
      <p:pic>
        <p:nvPicPr>
          <p:cNvPr id="3481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458788"/>
            <a:ext cx="6030913" cy="434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Text Box 5"/>
          <p:cNvSpPr txBox="1">
            <a:spLocks noChangeArrowheads="1"/>
          </p:cNvSpPr>
          <p:nvPr/>
        </p:nvSpPr>
        <p:spPr bwMode="auto">
          <a:xfrm>
            <a:off x="3222625" y="5454650"/>
            <a:ext cx="2744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ea typeface="楷体_GB2312" pitchFamily="1" charset="-122"/>
                <a:hlinkClick r:id="rId3" action="ppaction://hlinkfile"/>
              </a:rPr>
              <a:t>正四面体</a:t>
            </a:r>
            <a:endParaRPr lang="zh-CN" altLang="en-US" sz="2000">
              <a:solidFill>
                <a:schemeClr val="tx1"/>
              </a:solidFill>
              <a:ea typeface="楷体_GB2312" pitchFamily="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603A13D7-47F2-4E44-9542-91DE5453BCA1}" type="slidenum">
              <a:rPr lang="en-US" altLang="zh-CN" sz="1200">
                <a:solidFill>
                  <a:schemeClr val="tx1"/>
                </a:solidFill>
                <a:latin typeface="Garamond" pitchFamily="18" charset="0"/>
              </a:rPr>
              <a:pPr algn="r" eaLnBrk="1" hangingPunct="1">
                <a:spcBef>
                  <a:spcPct val="0"/>
                </a:spcBef>
              </a:pPr>
              <a:t>33</a:t>
            </a:fld>
            <a:endParaRPr lang="en-US" altLang="zh-CN" sz="1200">
              <a:solidFill>
                <a:schemeClr val="tx1"/>
              </a:solidFill>
              <a:latin typeface="Garamond" pitchFamily="18" charset="0"/>
            </a:endParaRPr>
          </a:p>
        </p:txBody>
      </p:sp>
      <p:sp>
        <p:nvSpPr>
          <p:cNvPr id="35843" name="Text Box 4"/>
          <p:cNvSpPr txBox="1">
            <a:spLocks noChangeArrowheads="1"/>
          </p:cNvSpPr>
          <p:nvPr/>
        </p:nvSpPr>
        <p:spPr bwMode="auto">
          <a:xfrm>
            <a:off x="161925" y="368300"/>
            <a:ext cx="3016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b="1">
                <a:solidFill>
                  <a:schemeClr val="tx1"/>
                </a:solidFill>
                <a:latin typeface="楷体_GB2312" pitchFamily="1" charset="-122"/>
                <a:ea typeface="楷体_GB2312" pitchFamily="1" charset="-122"/>
              </a:rPr>
              <a:t>〔2〕</a:t>
            </a:r>
            <a:r>
              <a:rPr lang="zh-CN" altLang="en-US" b="1">
                <a:solidFill>
                  <a:schemeClr val="tx1"/>
                </a:solidFill>
                <a:latin typeface="楷体_GB2312" pitchFamily="1" charset="-122"/>
                <a:ea typeface="楷体_GB2312" pitchFamily="1" charset="-122"/>
              </a:rPr>
              <a:t>正八面体 </a:t>
            </a:r>
          </a:p>
        </p:txBody>
      </p:sp>
      <p:sp>
        <p:nvSpPr>
          <p:cNvPr id="35844" name="Text Box 5"/>
          <p:cNvSpPr txBox="1">
            <a:spLocks noChangeArrowheads="1"/>
          </p:cNvSpPr>
          <p:nvPr/>
        </p:nvSpPr>
        <p:spPr bwMode="auto">
          <a:xfrm>
            <a:off x="701675" y="908050"/>
            <a:ext cx="3014663" cy="5130800"/>
          </a:xfrm>
          <a:prstGeom prst="rect">
            <a:avLst/>
          </a:prstGeom>
          <a:solidFill>
            <a:srgbClr val="FFEB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30000"/>
              </a:lnSpc>
            </a:pPr>
            <a:r>
              <a:rPr lang="zh-CN" altLang="en-US" dirty="0">
                <a:solidFill>
                  <a:schemeClr val="tx1"/>
                </a:solidFill>
                <a:latin typeface="楷体_GB2312" pitchFamily="1" charset="-122"/>
                <a:ea typeface="楷体_GB2312" pitchFamily="1" charset="-122"/>
              </a:rPr>
              <a:t>    设正八面体的外接球面的</a:t>
            </a:r>
            <a:r>
              <a:rPr lang="zh-CN" altLang="en-US" b="1" dirty="0">
                <a:solidFill>
                  <a:srgbClr val="FF0000"/>
                </a:solidFill>
                <a:latin typeface="方正粗黑宋简体" panose="02000000000000000000" pitchFamily="2" charset="-122"/>
                <a:ea typeface="方正粗黑宋简体" panose="02000000000000000000" pitchFamily="2" charset="-122"/>
              </a:rPr>
              <a:t>半径为</a:t>
            </a:r>
            <a:r>
              <a:rPr lang="en-US" altLang="zh-CN" b="1" dirty="0">
                <a:solidFill>
                  <a:srgbClr val="FF0000"/>
                </a:solidFill>
                <a:latin typeface="方正粗黑宋简体" panose="02000000000000000000" pitchFamily="2" charset="-122"/>
                <a:ea typeface="方正粗黑宋简体" panose="02000000000000000000" pitchFamily="2" charset="-122"/>
              </a:rPr>
              <a:t>r</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6</a:t>
            </a:r>
            <a:r>
              <a:rPr lang="zh-CN" altLang="en-US" dirty="0">
                <a:solidFill>
                  <a:schemeClr val="tx1"/>
                </a:solidFill>
                <a:latin typeface="楷体_GB2312" pitchFamily="1" charset="-122"/>
                <a:ea typeface="楷体_GB2312" pitchFamily="1" charset="-122"/>
              </a:rPr>
              <a:t>个顶点都取自坐标轴，并且</a:t>
            </a:r>
            <a:r>
              <a:rPr lang="zh-CN" altLang="en-US" b="1" dirty="0">
                <a:solidFill>
                  <a:srgbClr val="FF0000"/>
                </a:solidFill>
                <a:latin typeface="方正粗黑宋简体" panose="02000000000000000000" pitchFamily="2" charset="-122"/>
                <a:ea typeface="方正粗黑宋简体" panose="02000000000000000000" pitchFamily="2" charset="-122"/>
              </a:rPr>
              <a:t>两两关于原点对称</a:t>
            </a:r>
            <a:r>
              <a:rPr lang="zh-CN" altLang="en-US" dirty="0">
                <a:solidFill>
                  <a:schemeClr val="tx1"/>
                </a:solidFill>
                <a:latin typeface="楷体_GB2312" pitchFamily="1" charset="-122"/>
                <a:ea typeface="楷体_GB2312" pitchFamily="1" charset="-122"/>
              </a:rPr>
              <a:t>，如图</a:t>
            </a:r>
            <a:r>
              <a:rPr lang="en-US" altLang="zh-CN" dirty="0">
                <a:solidFill>
                  <a:schemeClr val="tx1"/>
                </a:solidFill>
                <a:latin typeface="楷体_GB2312" pitchFamily="1" charset="-122"/>
                <a:ea typeface="楷体_GB2312" pitchFamily="1" charset="-122"/>
              </a:rPr>
              <a:t>9-20</a:t>
            </a:r>
            <a:r>
              <a:rPr lang="zh-CN" altLang="en-US" dirty="0">
                <a:solidFill>
                  <a:schemeClr val="tx1"/>
                </a:solidFill>
                <a:latin typeface="楷体_GB2312" pitchFamily="1" charset="-122"/>
                <a:ea typeface="楷体_GB2312" pitchFamily="1" charset="-122"/>
              </a:rPr>
              <a:t>所示，顶点表见表</a:t>
            </a:r>
            <a:r>
              <a:rPr lang="en-US" altLang="zh-CN" dirty="0">
                <a:solidFill>
                  <a:schemeClr val="tx1"/>
                </a:solidFill>
                <a:latin typeface="楷体_GB2312" pitchFamily="1" charset="-122"/>
                <a:ea typeface="楷体_GB2312" pitchFamily="1" charset="-122"/>
              </a:rPr>
              <a:t>9-8</a:t>
            </a:r>
            <a:r>
              <a:rPr lang="zh-CN" altLang="en-US" dirty="0">
                <a:solidFill>
                  <a:schemeClr val="tx1"/>
                </a:solidFill>
                <a:latin typeface="楷体_GB2312" pitchFamily="1" charset="-122"/>
                <a:ea typeface="楷体_GB2312" pitchFamily="1" charset="-122"/>
              </a:rPr>
              <a:t>。根据图</a:t>
            </a:r>
            <a:r>
              <a:rPr lang="en-US" altLang="zh-CN" dirty="0">
                <a:solidFill>
                  <a:schemeClr val="tx1"/>
                </a:solidFill>
                <a:latin typeface="楷体_GB2312" pitchFamily="1" charset="-122"/>
                <a:ea typeface="楷体_GB2312" pitchFamily="1" charset="-122"/>
              </a:rPr>
              <a:t>9-21</a:t>
            </a:r>
            <a:r>
              <a:rPr lang="zh-CN" altLang="en-US" dirty="0">
                <a:solidFill>
                  <a:schemeClr val="tx1"/>
                </a:solidFill>
                <a:latin typeface="楷体_GB2312" pitchFamily="1" charset="-122"/>
                <a:ea typeface="楷体_GB2312" pitchFamily="1" charset="-122"/>
              </a:rPr>
              <a:t>所示的正八面体展开图可以得到正八面体的面表，见表</a:t>
            </a:r>
            <a:r>
              <a:rPr lang="en-US" altLang="zh-CN" dirty="0">
                <a:solidFill>
                  <a:schemeClr val="tx1"/>
                </a:solidFill>
                <a:latin typeface="楷体_GB2312" pitchFamily="1" charset="-122"/>
                <a:ea typeface="楷体_GB2312" pitchFamily="1" charset="-122"/>
              </a:rPr>
              <a:t>9-9</a:t>
            </a:r>
            <a:r>
              <a:rPr lang="zh-CN" altLang="en-US" dirty="0">
                <a:solidFill>
                  <a:schemeClr val="tx1"/>
                </a:solidFill>
                <a:latin typeface="楷体_GB2312" pitchFamily="1" charset="-122"/>
                <a:ea typeface="楷体_GB2312" pitchFamily="1" charset="-122"/>
              </a:rPr>
              <a:t>。</a:t>
            </a:r>
          </a:p>
        </p:txBody>
      </p:sp>
      <p:graphicFrame>
        <p:nvGraphicFramePr>
          <p:cNvPr id="35845" name="Object 6"/>
          <p:cNvGraphicFramePr>
            <a:graphicFrameLocks noChangeAspect="1"/>
          </p:cNvGraphicFramePr>
          <p:nvPr/>
        </p:nvGraphicFramePr>
        <p:xfrm>
          <a:off x="4138613" y="0"/>
          <a:ext cx="4521200" cy="5199063"/>
        </p:xfrm>
        <a:graphic>
          <a:graphicData uri="http://schemas.openxmlformats.org/presentationml/2006/ole">
            <mc:AlternateContent xmlns:mc="http://schemas.openxmlformats.org/markup-compatibility/2006">
              <mc:Choice xmlns:v="urn:schemas-microsoft-com:vml" Requires="v">
                <p:oleObj spid="_x0000_s35884" r:id="rId3" imgW="3389986" imgH="3611880" progId="Visio.Drawing.11">
                  <p:embed/>
                </p:oleObj>
              </mc:Choice>
              <mc:Fallback>
                <p:oleObj r:id="rId3" imgW="3389986" imgH="3611880" progId="Visio.Drawing.11">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8613" y="0"/>
                        <a:ext cx="4521200" cy="519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6" name="Text Box 13"/>
          <p:cNvSpPr txBox="1">
            <a:spLocks noChangeArrowheads="1"/>
          </p:cNvSpPr>
          <p:nvPr/>
        </p:nvSpPr>
        <p:spPr bwMode="auto">
          <a:xfrm>
            <a:off x="6192838" y="593725"/>
            <a:ext cx="6032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b="1">
                <a:solidFill>
                  <a:schemeClr val="tx1"/>
                </a:solidFill>
                <a:latin typeface="Times New Roman" pitchFamily="18" charset="0"/>
                <a:cs typeface="Times New Roman" pitchFamily="18" charset="0"/>
              </a:rPr>
              <a:t>V</a:t>
            </a:r>
            <a:r>
              <a:rPr lang="en-US" altLang="zh-CN" b="1" baseline="-30000">
                <a:solidFill>
                  <a:schemeClr val="tx1"/>
                </a:solidFill>
                <a:latin typeface="Verdana" pitchFamily="34" charset="0"/>
                <a:cs typeface="Times New Roman" pitchFamily="18" charset="0"/>
              </a:rPr>
              <a:t>0</a:t>
            </a:r>
            <a:endParaRPr lang="en-US" altLang="zh-CN" b="1">
              <a:solidFill>
                <a:schemeClr val="tx1"/>
              </a:solidFill>
            </a:endParaRPr>
          </a:p>
        </p:txBody>
      </p:sp>
      <p:sp>
        <p:nvSpPr>
          <p:cNvPr id="35847" name="Text Box 16"/>
          <p:cNvSpPr txBox="1">
            <a:spLocks noChangeArrowheads="1"/>
          </p:cNvSpPr>
          <p:nvPr/>
        </p:nvSpPr>
        <p:spPr bwMode="auto">
          <a:xfrm>
            <a:off x="5591175" y="3365500"/>
            <a:ext cx="690563"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b="1">
                <a:solidFill>
                  <a:schemeClr val="tx1"/>
                </a:solidFill>
                <a:latin typeface="Times New Roman" pitchFamily="18" charset="0"/>
                <a:cs typeface="Times New Roman" pitchFamily="18" charset="0"/>
              </a:rPr>
              <a:t>V</a:t>
            </a:r>
            <a:r>
              <a:rPr lang="en-US" altLang="zh-CN" b="1" baseline="-30000">
                <a:solidFill>
                  <a:schemeClr val="tx1"/>
                </a:solidFill>
                <a:latin typeface="Verdana" pitchFamily="34" charset="0"/>
                <a:cs typeface="Times New Roman" pitchFamily="18" charset="0"/>
              </a:rPr>
              <a:t>5</a:t>
            </a:r>
            <a:endParaRPr lang="en-US" altLang="zh-CN" b="1">
              <a:solidFill>
                <a:schemeClr val="tx1"/>
              </a:solidFill>
            </a:endParaRPr>
          </a:p>
        </p:txBody>
      </p:sp>
      <p:sp>
        <p:nvSpPr>
          <p:cNvPr id="35848" name="Text Box 11"/>
          <p:cNvSpPr txBox="1">
            <a:spLocks noChangeArrowheads="1"/>
          </p:cNvSpPr>
          <p:nvPr/>
        </p:nvSpPr>
        <p:spPr bwMode="auto">
          <a:xfrm>
            <a:off x="7605713" y="2451100"/>
            <a:ext cx="657225"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b="1">
                <a:solidFill>
                  <a:schemeClr val="tx1"/>
                </a:solidFill>
                <a:latin typeface="Times New Roman" pitchFamily="18" charset="0"/>
                <a:cs typeface="Times New Roman" pitchFamily="18" charset="0"/>
              </a:rPr>
              <a:t>V</a:t>
            </a:r>
            <a:r>
              <a:rPr lang="en-US" altLang="zh-CN" b="1" baseline="-30000">
                <a:solidFill>
                  <a:schemeClr val="tx1"/>
                </a:solidFill>
                <a:latin typeface="Verdana" pitchFamily="34" charset="0"/>
                <a:cs typeface="Times New Roman" pitchFamily="18" charset="0"/>
              </a:rPr>
              <a:t>2</a:t>
            </a:r>
            <a:endParaRPr lang="en-US" altLang="zh-CN" b="1">
              <a:solidFill>
                <a:schemeClr val="tx1"/>
              </a:solidFill>
            </a:endParaRPr>
          </a:p>
        </p:txBody>
      </p:sp>
      <p:sp>
        <p:nvSpPr>
          <p:cNvPr id="35849" name="Text Box 10"/>
          <p:cNvSpPr txBox="1">
            <a:spLocks noChangeArrowheads="1"/>
          </p:cNvSpPr>
          <p:nvPr/>
        </p:nvSpPr>
        <p:spPr bwMode="auto">
          <a:xfrm>
            <a:off x="6462713" y="2168525"/>
            <a:ext cx="646112"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b="1">
                <a:solidFill>
                  <a:schemeClr val="tx1"/>
                </a:solidFill>
                <a:latin typeface="Times New Roman" pitchFamily="18" charset="0"/>
                <a:cs typeface="Times New Roman" pitchFamily="18" charset="0"/>
              </a:rPr>
              <a:t>V</a:t>
            </a:r>
            <a:r>
              <a:rPr lang="en-US" altLang="zh-CN" b="1" baseline="-30000">
                <a:solidFill>
                  <a:schemeClr val="tx1"/>
                </a:solidFill>
                <a:latin typeface="Verdana" pitchFamily="34" charset="0"/>
                <a:cs typeface="Times New Roman" pitchFamily="18" charset="0"/>
              </a:rPr>
              <a:t>3</a:t>
            </a:r>
            <a:endParaRPr lang="en-US" altLang="zh-CN" b="1">
              <a:solidFill>
                <a:schemeClr val="tx1"/>
              </a:solidFill>
            </a:endParaRPr>
          </a:p>
        </p:txBody>
      </p:sp>
      <p:sp>
        <p:nvSpPr>
          <p:cNvPr id="35850" name="Text Box 12"/>
          <p:cNvSpPr txBox="1">
            <a:spLocks noChangeArrowheads="1"/>
          </p:cNvSpPr>
          <p:nvPr/>
        </p:nvSpPr>
        <p:spPr bwMode="auto">
          <a:xfrm>
            <a:off x="3897313" y="2408238"/>
            <a:ext cx="604837"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b="1">
                <a:solidFill>
                  <a:schemeClr val="tx1"/>
                </a:solidFill>
                <a:latin typeface="Times New Roman" pitchFamily="18" charset="0"/>
                <a:cs typeface="Times New Roman" pitchFamily="18" charset="0"/>
              </a:rPr>
              <a:t>V</a:t>
            </a:r>
            <a:r>
              <a:rPr lang="en-US" altLang="zh-CN" b="1" baseline="-30000">
                <a:solidFill>
                  <a:schemeClr val="tx1"/>
                </a:solidFill>
                <a:latin typeface="Verdana" pitchFamily="34" charset="0"/>
                <a:cs typeface="Times New Roman" pitchFamily="18" charset="0"/>
              </a:rPr>
              <a:t>4</a:t>
            </a:r>
            <a:endParaRPr lang="en-US" altLang="zh-CN" b="1">
              <a:solidFill>
                <a:schemeClr val="tx1"/>
              </a:solidFill>
            </a:endParaRPr>
          </a:p>
        </p:txBody>
      </p:sp>
      <p:sp>
        <p:nvSpPr>
          <p:cNvPr id="35851" name="Text Box 14"/>
          <p:cNvSpPr txBox="1">
            <a:spLocks noChangeArrowheads="1"/>
          </p:cNvSpPr>
          <p:nvPr/>
        </p:nvSpPr>
        <p:spPr bwMode="auto">
          <a:xfrm>
            <a:off x="6011863" y="5184775"/>
            <a:ext cx="6445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b="1">
                <a:solidFill>
                  <a:schemeClr val="tx1"/>
                </a:solidFill>
                <a:latin typeface="Times New Roman" pitchFamily="18" charset="0"/>
                <a:cs typeface="Times New Roman" pitchFamily="18" charset="0"/>
              </a:rPr>
              <a:t>V</a:t>
            </a:r>
            <a:r>
              <a:rPr lang="en-US" altLang="zh-CN" b="1" baseline="-30000">
                <a:solidFill>
                  <a:schemeClr val="tx1"/>
                </a:solidFill>
                <a:latin typeface="Verdana" pitchFamily="34" charset="0"/>
                <a:cs typeface="Times New Roman" pitchFamily="18" charset="0"/>
              </a:rPr>
              <a:t>1</a:t>
            </a:r>
            <a:endParaRPr lang="en-US" altLang="zh-CN" b="1">
              <a:solidFill>
                <a:schemeClr val="tx1"/>
              </a:solidFill>
            </a:endParaRPr>
          </a:p>
        </p:txBody>
      </p:sp>
      <p:sp>
        <p:nvSpPr>
          <p:cNvPr id="35852" name="Text Box 7"/>
          <p:cNvSpPr txBox="1">
            <a:spLocks noChangeArrowheads="1"/>
          </p:cNvSpPr>
          <p:nvPr/>
        </p:nvSpPr>
        <p:spPr bwMode="auto">
          <a:xfrm>
            <a:off x="8397875" y="3159125"/>
            <a:ext cx="385763"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b="1">
                <a:solidFill>
                  <a:schemeClr val="tx1"/>
                </a:solidFill>
                <a:latin typeface="Times New Roman" pitchFamily="18" charset="0"/>
                <a:cs typeface="Times New Roman" pitchFamily="18" charset="0"/>
              </a:rPr>
              <a:t>x</a:t>
            </a:r>
            <a:endParaRPr lang="en-US" altLang="zh-CN" b="1">
              <a:solidFill>
                <a:schemeClr val="tx1"/>
              </a:solidFill>
            </a:endParaRPr>
          </a:p>
        </p:txBody>
      </p:sp>
      <p:sp>
        <p:nvSpPr>
          <p:cNvPr id="35853" name="Text Box 8"/>
          <p:cNvSpPr txBox="1">
            <a:spLocks noChangeArrowheads="1"/>
          </p:cNvSpPr>
          <p:nvPr/>
        </p:nvSpPr>
        <p:spPr bwMode="auto">
          <a:xfrm>
            <a:off x="6327775" y="0"/>
            <a:ext cx="404813"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b="1">
                <a:solidFill>
                  <a:schemeClr val="tx1"/>
                </a:solidFill>
                <a:latin typeface="Times New Roman" pitchFamily="18" charset="0"/>
                <a:cs typeface="Times New Roman" pitchFamily="18" charset="0"/>
              </a:rPr>
              <a:t>y</a:t>
            </a:r>
            <a:endParaRPr lang="en-US" altLang="zh-CN" b="1">
              <a:solidFill>
                <a:schemeClr val="tx1"/>
              </a:solidFill>
            </a:endParaRPr>
          </a:p>
        </p:txBody>
      </p:sp>
      <p:sp>
        <p:nvSpPr>
          <p:cNvPr id="35854" name="Text Box 9"/>
          <p:cNvSpPr txBox="1">
            <a:spLocks noChangeArrowheads="1"/>
          </p:cNvSpPr>
          <p:nvPr/>
        </p:nvSpPr>
        <p:spPr bwMode="auto">
          <a:xfrm>
            <a:off x="4302125" y="4464050"/>
            <a:ext cx="3159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b="1">
                <a:solidFill>
                  <a:schemeClr val="tx1"/>
                </a:solidFill>
                <a:latin typeface="Times New Roman" pitchFamily="18" charset="0"/>
                <a:cs typeface="Times New Roman" pitchFamily="18" charset="0"/>
              </a:rPr>
              <a:t>z</a:t>
            </a:r>
            <a:endParaRPr lang="en-US" altLang="zh-CN" b="1">
              <a:solidFill>
                <a:schemeClr val="tx1"/>
              </a:solidFill>
            </a:endParaRPr>
          </a:p>
        </p:txBody>
      </p:sp>
      <p:sp>
        <p:nvSpPr>
          <p:cNvPr id="35855" name="Text Box 15"/>
          <p:cNvSpPr txBox="1">
            <a:spLocks noChangeArrowheads="1"/>
          </p:cNvSpPr>
          <p:nvPr/>
        </p:nvSpPr>
        <p:spPr bwMode="auto">
          <a:xfrm>
            <a:off x="6011863" y="2979738"/>
            <a:ext cx="369887"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b="1">
                <a:solidFill>
                  <a:schemeClr val="tx1"/>
                </a:solidFill>
                <a:latin typeface="Times New Roman" pitchFamily="18" charset="0"/>
                <a:cs typeface="Times New Roman" pitchFamily="18" charset="0"/>
              </a:rPr>
              <a:t>O</a:t>
            </a:r>
            <a:endParaRPr lang="en-US" altLang="zh-CN" b="1">
              <a:solidFill>
                <a:schemeClr val="tx1"/>
              </a:solidFill>
            </a:endParaRPr>
          </a:p>
        </p:txBody>
      </p:sp>
      <p:sp>
        <p:nvSpPr>
          <p:cNvPr id="35857" name="Text Box 21"/>
          <p:cNvSpPr txBox="1">
            <a:spLocks noChangeArrowheads="1"/>
          </p:cNvSpPr>
          <p:nvPr/>
        </p:nvSpPr>
        <p:spPr bwMode="auto">
          <a:xfrm>
            <a:off x="4527550" y="5724525"/>
            <a:ext cx="391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9-20 </a:t>
            </a:r>
            <a:r>
              <a:rPr lang="zh-CN" altLang="en-US" sz="2000">
                <a:solidFill>
                  <a:schemeClr val="tx1"/>
                </a:solidFill>
                <a:latin typeface="楷体_GB2312" pitchFamily="1" charset="-122"/>
                <a:ea typeface="楷体_GB2312" pitchFamily="1" charset="-122"/>
              </a:rPr>
              <a:t>正八面体几何模型</a:t>
            </a:r>
            <a:r>
              <a:rPr lang="zh-CN" altLang="en-US" sz="2000">
                <a:latin typeface="楷体_GB2312" pitchFamily="1" charset="-122"/>
                <a:ea typeface="楷体_GB2312" pitchFamily="1" charset="-122"/>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4"/>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0DE98CB9-BFBD-40C3-BE64-9B74F0B0CA63}" type="slidenum">
              <a:rPr lang="en-US" altLang="zh-CN" sz="1200">
                <a:solidFill>
                  <a:schemeClr val="tx1"/>
                </a:solidFill>
                <a:latin typeface="Garamond" pitchFamily="18" charset="0"/>
              </a:rPr>
              <a:pPr algn="r" eaLnBrk="1" hangingPunct="1">
                <a:spcBef>
                  <a:spcPct val="0"/>
                </a:spcBef>
              </a:pPr>
              <a:t>34</a:t>
            </a:fld>
            <a:endParaRPr lang="en-US" altLang="zh-CN" sz="1200">
              <a:solidFill>
                <a:schemeClr val="tx1"/>
              </a:solidFill>
              <a:latin typeface="Garamond" pitchFamily="18" charset="0"/>
            </a:endParaRPr>
          </a:p>
        </p:txBody>
      </p:sp>
      <p:sp>
        <p:nvSpPr>
          <p:cNvPr id="36867" name="Text Box 4"/>
          <p:cNvSpPr txBox="1">
            <a:spLocks noChangeArrowheads="1"/>
          </p:cNvSpPr>
          <p:nvPr/>
        </p:nvSpPr>
        <p:spPr bwMode="auto">
          <a:xfrm>
            <a:off x="1871663" y="414338"/>
            <a:ext cx="5445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a:solidFill>
                  <a:schemeClr val="tx1"/>
                </a:solidFill>
                <a:latin typeface="楷体_GB2312" pitchFamily="1" charset="-122"/>
                <a:ea typeface="楷体_GB2312" pitchFamily="1" charset="-122"/>
              </a:rPr>
              <a:t>表</a:t>
            </a:r>
            <a:r>
              <a:rPr lang="en-US" altLang="zh-CN">
                <a:solidFill>
                  <a:schemeClr val="tx1"/>
                </a:solidFill>
                <a:latin typeface="楷体_GB2312" pitchFamily="1" charset="-122"/>
                <a:ea typeface="楷体_GB2312" pitchFamily="1" charset="-122"/>
              </a:rPr>
              <a:t>9-8 </a:t>
            </a:r>
            <a:r>
              <a:rPr lang="zh-CN" altLang="en-US">
                <a:solidFill>
                  <a:schemeClr val="tx1"/>
                </a:solidFill>
                <a:latin typeface="楷体_GB2312" pitchFamily="1" charset="-122"/>
                <a:ea typeface="楷体_GB2312" pitchFamily="1" charset="-122"/>
              </a:rPr>
              <a:t>正八面体顶点表</a:t>
            </a:r>
            <a:r>
              <a:rPr lang="zh-CN" altLang="en-US">
                <a:latin typeface="楷体_GB2312" pitchFamily="1" charset="-122"/>
                <a:ea typeface="楷体_GB2312" pitchFamily="1" charset="-122"/>
              </a:rPr>
              <a:t> </a:t>
            </a:r>
          </a:p>
        </p:txBody>
      </p:sp>
      <p:graphicFrame>
        <p:nvGraphicFramePr>
          <p:cNvPr id="36868" name="Group 4"/>
          <p:cNvGraphicFramePr>
            <a:graphicFrameLocks noGrp="1"/>
          </p:cNvGraphicFramePr>
          <p:nvPr>
            <p:ph idx="4294967295"/>
          </p:nvPr>
        </p:nvGraphicFramePr>
        <p:xfrm>
          <a:off x="971550" y="1403350"/>
          <a:ext cx="7291388" cy="3663950"/>
        </p:xfrm>
        <a:graphic>
          <a:graphicData uri="http://schemas.openxmlformats.org/drawingml/2006/table">
            <a:tbl>
              <a:tblPr/>
              <a:tblGrid>
                <a:gridCol w="1260475">
                  <a:extLst>
                    <a:ext uri="{9D8B030D-6E8A-4147-A177-3AD203B41FA5}">
                      <a16:colId xmlns:a16="http://schemas.microsoft.com/office/drawing/2014/main" val="20000"/>
                    </a:ext>
                  </a:extLst>
                </a:gridCol>
                <a:gridCol w="2025650">
                  <a:extLst>
                    <a:ext uri="{9D8B030D-6E8A-4147-A177-3AD203B41FA5}">
                      <a16:colId xmlns:a16="http://schemas.microsoft.com/office/drawing/2014/main" val="20001"/>
                    </a:ext>
                  </a:extLst>
                </a:gridCol>
                <a:gridCol w="1935163">
                  <a:extLst>
                    <a:ext uri="{9D8B030D-6E8A-4147-A177-3AD203B41FA5}">
                      <a16:colId xmlns:a16="http://schemas.microsoft.com/office/drawing/2014/main" val="20002"/>
                    </a:ext>
                  </a:extLst>
                </a:gridCol>
                <a:gridCol w="2070100">
                  <a:extLst>
                    <a:ext uri="{9D8B030D-6E8A-4147-A177-3AD203B41FA5}">
                      <a16:colId xmlns:a16="http://schemas.microsoft.com/office/drawing/2014/main" val="20003"/>
                    </a:ext>
                  </a:extLst>
                </a:gridCol>
              </a:tblGrid>
              <a:tr h="46355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顶点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x坐标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y坐标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z坐标</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0</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0</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0</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 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0</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1</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1</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1</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1</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2</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2</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2</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2</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3</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3</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3</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3</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＝-r</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4</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4</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4</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4</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5</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5</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3</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400" b="0" i="0" u="none" strike="noStrike" cap="none" normalizeH="0" baseline="-30000" smtClean="0">
                          <a:ln>
                            <a:noFill/>
                          </a:ln>
                          <a:solidFill>
                            <a:schemeClr val="tx1"/>
                          </a:solidFill>
                          <a:effectLst/>
                          <a:latin typeface="楷体_GB2312" pitchFamily="1" charset="-122"/>
                          <a:ea typeface="楷体_GB2312" pitchFamily="1" charset="-122"/>
                        </a:rPr>
                        <a:t>5</a:t>
                      </a: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＝r</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E281A6C0-D03F-403A-971F-58DB857ECA71}" type="slidenum">
              <a:rPr lang="en-US" altLang="zh-CN" sz="1200">
                <a:solidFill>
                  <a:schemeClr val="tx1"/>
                </a:solidFill>
                <a:latin typeface="Garamond" pitchFamily="18" charset="0"/>
              </a:rPr>
              <a:pPr algn="r" eaLnBrk="1" hangingPunct="1">
                <a:spcBef>
                  <a:spcPct val="0"/>
                </a:spcBef>
              </a:pPr>
              <a:t>35</a:t>
            </a:fld>
            <a:endParaRPr lang="en-US" altLang="zh-CN" sz="1200">
              <a:solidFill>
                <a:schemeClr val="tx1"/>
              </a:solidFill>
              <a:latin typeface="Garamond" pitchFamily="18" charset="0"/>
            </a:endParaRPr>
          </a:p>
        </p:txBody>
      </p:sp>
      <p:graphicFrame>
        <p:nvGraphicFramePr>
          <p:cNvPr id="37892" name="Group 4"/>
          <p:cNvGraphicFramePr>
            <a:graphicFrameLocks noGrp="1"/>
          </p:cNvGraphicFramePr>
          <p:nvPr/>
        </p:nvGraphicFramePr>
        <p:xfrm>
          <a:off x="161925" y="2933700"/>
          <a:ext cx="5895975" cy="3792540"/>
        </p:xfrm>
        <a:graphic>
          <a:graphicData uri="http://schemas.openxmlformats.org/drawingml/2006/table">
            <a:tbl>
              <a:tblPr/>
              <a:tblGrid>
                <a:gridCol w="900113">
                  <a:extLst>
                    <a:ext uri="{9D8B030D-6E8A-4147-A177-3AD203B41FA5}">
                      <a16:colId xmlns:a16="http://schemas.microsoft.com/office/drawing/2014/main" val="20000"/>
                    </a:ext>
                  </a:extLst>
                </a:gridCol>
                <a:gridCol w="1620837">
                  <a:extLst>
                    <a:ext uri="{9D8B030D-6E8A-4147-A177-3AD203B41FA5}">
                      <a16:colId xmlns:a16="http://schemas.microsoft.com/office/drawing/2014/main" val="20001"/>
                    </a:ext>
                  </a:extLst>
                </a:gridCol>
                <a:gridCol w="1530350">
                  <a:extLst>
                    <a:ext uri="{9D8B030D-6E8A-4147-A177-3AD203B41FA5}">
                      <a16:colId xmlns:a16="http://schemas.microsoft.com/office/drawing/2014/main" val="20002"/>
                    </a:ext>
                  </a:extLst>
                </a:gridCol>
                <a:gridCol w="1844675">
                  <a:extLst>
                    <a:ext uri="{9D8B030D-6E8A-4147-A177-3AD203B41FA5}">
                      <a16:colId xmlns:a16="http://schemas.microsoft.com/office/drawing/2014/main" val="20003"/>
                    </a:ext>
                  </a:extLst>
                </a:gridCol>
              </a:tblGrid>
              <a:tr h="430213">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面</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第一个顶点</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第二个顶点</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第三个顶点</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545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0</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0</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4</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5</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3863">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1</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0</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5</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2</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2"/>
                  </a:ext>
                </a:extLst>
              </a:tr>
              <a:tr h="42545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2</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0</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2</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3</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545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3</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0</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3</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4</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4"/>
                  </a:ext>
                </a:extLst>
              </a:tr>
              <a:tr h="423863">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4</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1</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5</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4</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545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5</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1</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2</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5</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6"/>
                  </a:ext>
                </a:extLst>
              </a:tr>
              <a:tr h="423863">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6</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1</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3</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2</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6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600" b="0" i="0" u="none" strike="noStrike" cap="none" normalizeH="0" baseline="-30000" smtClean="0">
                          <a:ln>
                            <a:noFill/>
                          </a:ln>
                          <a:solidFill>
                            <a:schemeClr val="tx1"/>
                          </a:solidFill>
                          <a:effectLst/>
                          <a:latin typeface="楷体_GB2312" pitchFamily="1" charset="-122"/>
                          <a:ea typeface="楷体_GB2312" pitchFamily="1" charset="-122"/>
                        </a:rPr>
                        <a:t>7</a:t>
                      </a:r>
                      <a:endParaRPr kumimoji="0" lang="en-US" altLang="zh-CN" sz="16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1</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4</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3</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8"/>
                  </a:ext>
                </a:extLst>
              </a:tr>
            </a:tbl>
          </a:graphicData>
        </a:graphic>
      </p:graphicFrame>
      <p:sp>
        <p:nvSpPr>
          <p:cNvPr id="37944" name="AutoShape 289"/>
          <p:cNvSpPr>
            <a:spLocks noChangeArrowheads="1"/>
          </p:cNvSpPr>
          <p:nvPr/>
        </p:nvSpPr>
        <p:spPr bwMode="auto">
          <a:xfrm flipH="1">
            <a:off x="296863" y="549275"/>
            <a:ext cx="3509962" cy="539750"/>
          </a:xfrm>
          <a:prstGeom prst="wedgeRoundRectCallout">
            <a:avLst>
              <a:gd name="adj1" fmla="val -72120"/>
              <a:gd name="adj2" fmla="val 187352"/>
              <a:gd name="adj3" fmla="val 16667"/>
            </a:avLst>
          </a:prstGeom>
          <a:solidFill>
            <a:srgbClr val="FFCCFF"/>
          </a:solidFill>
          <a:ln w="9525" cmpd="sng">
            <a:solidFill>
              <a:schemeClr val="tx1"/>
            </a:solidFill>
            <a:miter lim="800000"/>
            <a:headEnd/>
            <a:tailEnd/>
          </a:ln>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9-21</a:t>
            </a:r>
            <a:r>
              <a:rPr lang="zh-CN" altLang="en-US" sz="2000">
                <a:solidFill>
                  <a:schemeClr val="tx1"/>
                </a:solidFill>
                <a:latin typeface="楷体_GB2312" pitchFamily="1" charset="-122"/>
                <a:ea typeface="楷体_GB2312" pitchFamily="1" charset="-122"/>
              </a:rPr>
              <a:t>正八面体展开图</a:t>
            </a:r>
          </a:p>
        </p:txBody>
      </p:sp>
      <p:sp>
        <p:nvSpPr>
          <p:cNvPr id="37945" name="AutoShape 316"/>
          <p:cNvSpPr>
            <a:spLocks noChangeArrowheads="1"/>
          </p:cNvSpPr>
          <p:nvPr/>
        </p:nvSpPr>
        <p:spPr bwMode="auto">
          <a:xfrm>
            <a:off x="6462713" y="3968750"/>
            <a:ext cx="2681287" cy="495300"/>
          </a:xfrm>
          <a:prstGeom prst="wedgeRoundRectCallout">
            <a:avLst>
              <a:gd name="adj1" fmla="val -60065"/>
              <a:gd name="adj2" fmla="val 9296"/>
              <a:gd name="adj3" fmla="val 16667"/>
            </a:avLst>
          </a:prstGeom>
          <a:solidFill>
            <a:srgbClr val="CCFFFF"/>
          </a:solidFill>
          <a:ln w="9525" cmpd="sng">
            <a:solidFill>
              <a:schemeClr val="tx1"/>
            </a:solidFill>
            <a:miter lim="800000"/>
            <a:headEnd/>
            <a:tailEnd/>
          </a:ln>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sz="2000">
                <a:solidFill>
                  <a:schemeClr val="tx1"/>
                </a:solidFill>
                <a:latin typeface="楷体_GB2312" pitchFamily="1" charset="-122"/>
                <a:ea typeface="楷体_GB2312" pitchFamily="1" charset="-122"/>
              </a:rPr>
              <a:t>表</a:t>
            </a:r>
            <a:r>
              <a:rPr lang="en-US" altLang="zh-CN" sz="2000">
                <a:solidFill>
                  <a:schemeClr val="tx1"/>
                </a:solidFill>
                <a:latin typeface="楷体_GB2312" pitchFamily="1" charset="-122"/>
                <a:ea typeface="楷体_GB2312" pitchFamily="1" charset="-122"/>
              </a:rPr>
              <a:t>9-9 </a:t>
            </a:r>
            <a:r>
              <a:rPr lang="zh-CN" altLang="en-US" sz="2000">
                <a:solidFill>
                  <a:schemeClr val="tx1"/>
                </a:solidFill>
                <a:latin typeface="楷体_GB2312" pitchFamily="1" charset="-122"/>
                <a:ea typeface="楷体_GB2312" pitchFamily="1" charset="-122"/>
              </a:rPr>
              <a:t>正八面体面表</a:t>
            </a:r>
            <a:endParaRPr lang="zh-CN" altLang="en-US" sz="2000">
              <a:latin typeface="楷体_GB2312" pitchFamily="1" charset="-122"/>
              <a:ea typeface="楷体_GB2312" pitchFamily="1" charset="-122"/>
            </a:endParaRPr>
          </a:p>
        </p:txBody>
      </p:sp>
      <p:graphicFrame>
        <p:nvGraphicFramePr>
          <p:cNvPr id="37947" name="Object 319"/>
          <p:cNvGraphicFramePr>
            <a:graphicFrameLocks noChangeAspect="1"/>
          </p:cNvGraphicFramePr>
          <p:nvPr/>
        </p:nvGraphicFramePr>
        <p:xfrm>
          <a:off x="4886325" y="0"/>
          <a:ext cx="4257675" cy="3413125"/>
        </p:xfrm>
        <a:graphic>
          <a:graphicData uri="http://schemas.openxmlformats.org/presentationml/2006/ole">
            <mc:AlternateContent xmlns:mc="http://schemas.openxmlformats.org/markup-compatibility/2006">
              <mc:Choice xmlns:v="urn:schemas-microsoft-com:vml" Requires="v">
                <p:oleObj spid="_x0000_s37972" r:id="rId3" imgW="4546854" imgH="3646932" progId="Visio.Drawing.11">
                  <p:embed/>
                </p:oleObj>
              </mc:Choice>
              <mc:Fallback>
                <p:oleObj r:id="rId3" imgW="4546854" imgH="3646932" progId="Visio.Drawing.11">
                  <p:embed/>
                  <p:pic>
                    <p:nvPicPr>
                      <p:cNvPr id="0" name="Picture 6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6325" y="0"/>
                        <a:ext cx="4257675" cy="341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98B38846-8BF1-4340-86FD-0A5206162EA3}" type="slidenum">
              <a:rPr lang="en-US" altLang="zh-CN" sz="1200">
                <a:solidFill>
                  <a:schemeClr val="tx1"/>
                </a:solidFill>
                <a:latin typeface="Garamond" pitchFamily="18" charset="0"/>
              </a:rPr>
              <a:pPr algn="r" eaLnBrk="1" hangingPunct="1">
                <a:spcBef>
                  <a:spcPct val="0"/>
                </a:spcBef>
              </a:pPr>
              <a:t>36</a:t>
            </a:fld>
            <a:endParaRPr lang="en-US" altLang="zh-CN" sz="1200">
              <a:solidFill>
                <a:schemeClr val="tx1"/>
              </a:solidFill>
              <a:latin typeface="Garamond" pitchFamily="18" charset="0"/>
            </a:endParaRPr>
          </a:p>
        </p:txBody>
      </p:sp>
      <p:pic>
        <p:nvPicPr>
          <p:cNvPr id="3891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1788" y="279400"/>
            <a:ext cx="6256337" cy="450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Text Box 5"/>
          <p:cNvSpPr txBox="1">
            <a:spLocks noChangeArrowheads="1"/>
          </p:cNvSpPr>
          <p:nvPr/>
        </p:nvSpPr>
        <p:spPr bwMode="auto">
          <a:xfrm>
            <a:off x="3222625" y="5184775"/>
            <a:ext cx="2654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ea typeface="楷体_GB2312" pitchFamily="1" charset="-122"/>
                <a:hlinkClick r:id="rId3" action="ppaction://hlinkfile"/>
              </a:rPr>
              <a:t>正八面体模型</a:t>
            </a:r>
            <a:endParaRPr lang="zh-CN" altLang="en-US" sz="2000">
              <a:ea typeface="楷体_GB2312" pitchFamily="1"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CF3491C6-ECF0-4E00-A602-2DBEAEFCD4B0}" type="slidenum">
              <a:rPr lang="en-US" altLang="zh-CN" sz="1200">
                <a:solidFill>
                  <a:schemeClr val="tx1"/>
                </a:solidFill>
                <a:latin typeface="Garamond" pitchFamily="18" charset="0"/>
              </a:rPr>
              <a:pPr algn="r" eaLnBrk="1" hangingPunct="1">
                <a:spcBef>
                  <a:spcPct val="0"/>
                </a:spcBef>
              </a:pPr>
              <a:t>37</a:t>
            </a:fld>
            <a:endParaRPr lang="en-US" altLang="zh-CN" sz="1200">
              <a:solidFill>
                <a:schemeClr val="tx1"/>
              </a:solidFill>
              <a:latin typeface="Garamond" pitchFamily="18" charset="0"/>
            </a:endParaRPr>
          </a:p>
        </p:txBody>
      </p:sp>
      <p:sp>
        <p:nvSpPr>
          <p:cNvPr id="39939" name="Text Box 4"/>
          <p:cNvSpPr txBox="1">
            <a:spLocks noChangeArrowheads="1"/>
          </p:cNvSpPr>
          <p:nvPr/>
        </p:nvSpPr>
        <p:spPr bwMode="auto">
          <a:xfrm>
            <a:off x="522288" y="414338"/>
            <a:ext cx="3059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b="1">
                <a:solidFill>
                  <a:schemeClr val="tx1"/>
                </a:solidFill>
                <a:latin typeface="楷体_GB2312" pitchFamily="1" charset="-122"/>
                <a:ea typeface="楷体_GB2312" pitchFamily="1" charset="-122"/>
              </a:rPr>
              <a:t>〔3〕</a:t>
            </a:r>
            <a:r>
              <a:rPr lang="zh-CN" altLang="en-US" b="1">
                <a:solidFill>
                  <a:schemeClr val="tx1"/>
                </a:solidFill>
                <a:latin typeface="楷体_GB2312" pitchFamily="1" charset="-122"/>
                <a:ea typeface="楷体_GB2312" pitchFamily="1" charset="-122"/>
              </a:rPr>
              <a:t>正十二面体</a:t>
            </a:r>
          </a:p>
        </p:txBody>
      </p:sp>
      <p:sp>
        <p:nvSpPr>
          <p:cNvPr id="39940" name="Text Box 5"/>
          <p:cNvSpPr txBox="1">
            <a:spLocks noChangeArrowheads="1"/>
          </p:cNvSpPr>
          <p:nvPr/>
        </p:nvSpPr>
        <p:spPr bwMode="auto">
          <a:xfrm>
            <a:off x="566738" y="1403350"/>
            <a:ext cx="3825875" cy="46355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Clr>
                <a:srgbClr val="FF0066"/>
              </a:buClr>
              <a:buFont typeface="Wingdings" pitchFamily="2" charset="2"/>
              <a:buNone/>
            </a:pPr>
            <a:r>
              <a:rPr lang="zh-CN" altLang="en-US" sz="2800" dirty="0" smtClean="0">
                <a:solidFill>
                  <a:schemeClr val="tx1"/>
                </a:solidFill>
                <a:latin typeface="楷体_GB2312" pitchFamily="1" charset="-122"/>
                <a:ea typeface="楷体_GB2312" pitchFamily="1" charset="-122"/>
              </a:rPr>
              <a:t>    建立</a:t>
            </a:r>
            <a:r>
              <a:rPr lang="zh-CN" altLang="en-US" sz="2800" dirty="0">
                <a:solidFill>
                  <a:schemeClr val="tx1"/>
                </a:solidFill>
                <a:latin typeface="楷体_GB2312" pitchFamily="1" charset="-122"/>
                <a:ea typeface="楷体_GB2312" pitchFamily="1" charset="-122"/>
              </a:rPr>
              <a:t>正十二面体的坐标系如图</a:t>
            </a:r>
            <a:r>
              <a:rPr lang="en-US" altLang="zh-CN" sz="2800" dirty="0">
                <a:solidFill>
                  <a:schemeClr val="tx1"/>
                </a:solidFill>
                <a:latin typeface="楷体_GB2312" pitchFamily="1" charset="-122"/>
                <a:ea typeface="楷体_GB2312" pitchFamily="1" charset="-122"/>
              </a:rPr>
              <a:t>9-22</a:t>
            </a:r>
            <a:r>
              <a:rPr lang="zh-CN" altLang="en-US" sz="2800" dirty="0">
                <a:solidFill>
                  <a:schemeClr val="tx1"/>
                </a:solidFill>
                <a:latin typeface="楷体_GB2312" pitchFamily="1" charset="-122"/>
                <a:ea typeface="楷体_GB2312" pitchFamily="1" charset="-122"/>
              </a:rPr>
              <a:t>所示</a:t>
            </a:r>
            <a:r>
              <a:rPr lang="zh-CN" altLang="en-US" sz="2800" dirty="0" smtClean="0">
                <a:solidFill>
                  <a:schemeClr val="tx1"/>
                </a:solidFill>
                <a:latin typeface="楷体_GB2312" pitchFamily="1" charset="-122"/>
                <a:ea typeface="楷体_GB2312" pitchFamily="1" charset="-122"/>
              </a:rPr>
              <a:t>。在正十二面体内建立</a:t>
            </a:r>
            <a:r>
              <a:rPr lang="zh-CN" altLang="en-US" b="1" dirty="0">
                <a:solidFill>
                  <a:srgbClr val="FF0000"/>
                </a:solidFill>
                <a:latin typeface="方正粗黑宋简体" panose="02000000000000000000" pitchFamily="2" charset="-122"/>
                <a:ea typeface="方正粗黑宋简体" panose="02000000000000000000" pitchFamily="2" charset="-122"/>
              </a:rPr>
              <a:t>内接立方体</a:t>
            </a:r>
            <a:r>
              <a:rPr lang="zh-CN" altLang="en-US" sz="2800" dirty="0" smtClean="0">
                <a:solidFill>
                  <a:schemeClr val="tx1"/>
                </a:solidFill>
                <a:latin typeface="楷体_GB2312" pitchFamily="1" charset="-122"/>
                <a:ea typeface="楷体_GB2312" pitchFamily="1" charset="-122"/>
              </a:rPr>
              <a:t>。</a:t>
            </a:r>
            <a:endParaRPr lang="zh-CN" altLang="en-US" sz="2800" dirty="0">
              <a:solidFill>
                <a:schemeClr val="tx1"/>
              </a:solidFill>
              <a:latin typeface="楷体_GB2312" pitchFamily="1" charset="-122"/>
              <a:ea typeface="楷体_GB2312" pitchFamily="1" charset="-122"/>
            </a:endParaRPr>
          </a:p>
          <a:p>
            <a:pPr algn="l" eaLnBrk="1" hangingPunct="1">
              <a:buClr>
                <a:srgbClr val="FF0066"/>
              </a:buClr>
              <a:buFont typeface="Wingdings" pitchFamily="2" charset="2"/>
              <a:buNone/>
            </a:pPr>
            <a:r>
              <a:rPr lang="zh-CN" altLang="en-US" sz="2800" dirty="0">
                <a:solidFill>
                  <a:schemeClr val="tx1"/>
                </a:solidFill>
                <a:latin typeface="楷体_GB2312" pitchFamily="1" charset="-122"/>
                <a:ea typeface="楷体_GB2312" pitchFamily="1" charset="-122"/>
              </a:rPr>
              <a:t>黄金矩形就是矩形的短边与长边之比为：</a:t>
            </a:r>
          </a:p>
          <a:p>
            <a:pPr algn="l" eaLnBrk="1" hangingPunct="1">
              <a:buClr>
                <a:srgbClr val="FF0066"/>
              </a:buClr>
              <a:buFont typeface="Wingdings" pitchFamily="2" charset="2"/>
              <a:buNone/>
            </a:pPr>
            <a:endParaRPr lang="zh-CN" altLang="en-US" sz="2800" dirty="0">
              <a:solidFill>
                <a:schemeClr val="tx1"/>
              </a:solidFill>
              <a:latin typeface="楷体_GB2312" pitchFamily="1" charset="-122"/>
              <a:ea typeface="楷体_GB2312" pitchFamily="1" charset="-122"/>
              <a:sym typeface="Symbol" pitchFamily="18" charset="2"/>
            </a:endParaRPr>
          </a:p>
          <a:p>
            <a:pPr algn="l" eaLnBrk="1" hangingPunct="1">
              <a:buClr>
                <a:srgbClr val="FF0066"/>
              </a:buClr>
              <a:buFont typeface="Wingdings" pitchFamily="2" charset="2"/>
              <a:buNone/>
            </a:pPr>
            <a:r>
              <a:rPr lang="zh-CN" altLang="en-US" b="1" i="1" dirty="0">
                <a:solidFill>
                  <a:srgbClr val="3333FF"/>
                </a:solidFill>
                <a:latin typeface="方正粗黑宋简体" panose="02000000000000000000" pitchFamily="2" charset="-122"/>
                <a:ea typeface="方正粗黑宋简体" panose="02000000000000000000" pitchFamily="2" charset="-122"/>
                <a:sym typeface="Symbol" pitchFamily="18" charset="2"/>
              </a:rPr>
              <a:t></a:t>
            </a:r>
            <a:r>
              <a:rPr lang="zh-CN" altLang="en-US" sz="2800" dirty="0">
                <a:solidFill>
                  <a:schemeClr val="tx1"/>
                </a:solidFill>
                <a:latin typeface="楷体_GB2312" pitchFamily="1" charset="-122"/>
                <a:ea typeface="楷体_GB2312" pitchFamily="1" charset="-122"/>
              </a:rPr>
              <a:t>被称为黄金分割数，简称黄金数。 </a:t>
            </a:r>
          </a:p>
        </p:txBody>
      </p:sp>
      <p:sp>
        <p:nvSpPr>
          <p:cNvPr id="39943" name="Text Box 8"/>
          <p:cNvSpPr txBox="1">
            <a:spLocks noChangeArrowheads="1"/>
          </p:cNvSpPr>
          <p:nvPr/>
        </p:nvSpPr>
        <p:spPr bwMode="auto">
          <a:xfrm>
            <a:off x="4357686" y="6000768"/>
            <a:ext cx="4321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dirty="0">
                <a:solidFill>
                  <a:schemeClr val="tx1"/>
                </a:solidFill>
                <a:latin typeface="楷体_GB2312" pitchFamily="1" charset="-122"/>
                <a:ea typeface="楷体_GB2312" pitchFamily="1" charset="-122"/>
              </a:rPr>
              <a:t>图</a:t>
            </a:r>
            <a:r>
              <a:rPr lang="fr-FR" altLang="en-US" sz="2000" dirty="0">
                <a:solidFill>
                  <a:schemeClr val="tx1"/>
                </a:solidFill>
                <a:latin typeface="楷体_GB2312" pitchFamily="1" charset="-122"/>
                <a:ea typeface="楷体_GB2312" pitchFamily="1" charset="-122"/>
              </a:rPr>
              <a:t>9-22 </a:t>
            </a:r>
            <a:r>
              <a:rPr lang="zh-CN" altLang="en-US" sz="2000" dirty="0">
                <a:solidFill>
                  <a:schemeClr val="tx1"/>
                </a:solidFill>
                <a:latin typeface="楷体_GB2312" pitchFamily="1" charset="-122"/>
                <a:ea typeface="楷体_GB2312" pitchFamily="1" charset="-122"/>
              </a:rPr>
              <a:t>正十二面体坐标系</a:t>
            </a:r>
          </a:p>
        </p:txBody>
      </p:sp>
      <p:sp>
        <p:nvSpPr>
          <p:cNvPr id="39944"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graphicFrame>
        <p:nvGraphicFramePr>
          <p:cNvPr id="39945" name="Object 9"/>
          <p:cNvGraphicFramePr>
            <a:graphicFrameLocks noChangeAspect="1"/>
          </p:cNvGraphicFramePr>
          <p:nvPr>
            <p:extLst>
              <p:ext uri="{D42A27DB-BD31-4B8C-83A1-F6EECF244321}">
                <p14:modId xmlns:p14="http://schemas.microsoft.com/office/powerpoint/2010/main" val="841309627"/>
              </p:ext>
            </p:extLst>
          </p:nvPr>
        </p:nvGraphicFramePr>
        <p:xfrm>
          <a:off x="769143" y="4300543"/>
          <a:ext cx="3421063" cy="623887"/>
        </p:xfrm>
        <a:graphic>
          <a:graphicData uri="http://schemas.openxmlformats.org/presentationml/2006/ole">
            <mc:AlternateContent xmlns:mc="http://schemas.openxmlformats.org/markup-compatibility/2006">
              <mc:Choice xmlns:v="urn:schemas-microsoft-com:vml" Requires="v">
                <p:oleObj spid="_x0000_s40019" r:id="rId3" imgW="1448429" imgH="241405" progId="Equation.3">
                  <p:embed/>
                </p:oleObj>
              </mc:Choice>
              <mc:Fallback>
                <p:oleObj r:id="rId3" imgW="1448429" imgH="241405" progId="Equation.3">
                  <p:embed/>
                  <p:pic>
                    <p:nvPicPr>
                      <p:cNvPr id="0"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143" y="4300543"/>
                        <a:ext cx="3421063" cy="623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57"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9956" name="Object 20"/>
          <p:cNvGraphicFramePr>
            <a:graphicFrameLocks noChangeAspect="1"/>
          </p:cNvGraphicFramePr>
          <p:nvPr/>
        </p:nvGraphicFramePr>
        <p:xfrm>
          <a:off x="4561652" y="0"/>
          <a:ext cx="4582348" cy="4071966"/>
        </p:xfrm>
        <a:graphic>
          <a:graphicData uri="http://schemas.openxmlformats.org/presentationml/2006/ole">
            <mc:AlternateContent xmlns:mc="http://schemas.openxmlformats.org/markup-compatibility/2006">
              <mc:Choice xmlns:v="urn:schemas-microsoft-com:vml" Requires="v">
                <p:oleObj spid="_x0000_s40020" name="Visio" r:id="rId5" imgW="3935004" imgH="3497813" progId="Visio.Drawing.11">
                  <p:embed/>
                </p:oleObj>
              </mc:Choice>
              <mc:Fallback>
                <p:oleObj name="Visio" r:id="rId5" imgW="3935004" imgH="3497813" progId="Visio.Drawing.11">
                  <p:embed/>
                  <p:pic>
                    <p:nvPicPr>
                      <p:cNvPr id="0" name="Picture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61652" y="0"/>
                        <a:ext cx="4582348" cy="40719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59" name="Rectangle 2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9958" name="Object 22"/>
          <p:cNvGraphicFramePr>
            <a:graphicFrameLocks noChangeAspect="1"/>
          </p:cNvGraphicFramePr>
          <p:nvPr/>
        </p:nvGraphicFramePr>
        <p:xfrm>
          <a:off x="4786314" y="4143380"/>
          <a:ext cx="3533775" cy="1562100"/>
        </p:xfrm>
        <a:graphic>
          <a:graphicData uri="http://schemas.openxmlformats.org/presentationml/2006/ole">
            <mc:AlternateContent xmlns:mc="http://schemas.openxmlformats.org/markup-compatibility/2006">
              <mc:Choice xmlns:v="urn:schemas-microsoft-com:vml" Requires="v">
                <p:oleObj spid="_x0000_s40021" name="Visio" r:id="rId7" imgW="2863181" imgH="1270263" progId="Visio.Drawing.11">
                  <p:embed/>
                </p:oleObj>
              </mc:Choice>
              <mc:Fallback>
                <p:oleObj name="Visio" r:id="rId7" imgW="2863181" imgH="1270263" progId="Visio.Drawing.11">
                  <p:embed/>
                  <p:pic>
                    <p:nvPicPr>
                      <p:cNvPr id="0" name="Picture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6314" y="4143380"/>
                        <a:ext cx="3533775" cy="156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3039B985-DA08-4EB4-9B84-2EAF0A67CD30}" type="slidenum">
              <a:rPr lang="en-US" altLang="zh-CN" sz="1200">
                <a:solidFill>
                  <a:schemeClr val="tx1"/>
                </a:solidFill>
                <a:latin typeface="Garamond" pitchFamily="18" charset="0"/>
              </a:rPr>
              <a:pPr algn="r" eaLnBrk="1" hangingPunct="1">
                <a:spcBef>
                  <a:spcPct val="0"/>
                </a:spcBef>
              </a:pPr>
              <a:t>38</a:t>
            </a:fld>
            <a:endParaRPr lang="en-US" altLang="zh-CN" sz="1200">
              <a:solidFill>
                <a:schemeClr val="tx1"/>
              </a:solidFill>
              <a:latin typeface="Garamond" pitchFamily="18" charset="0"/>
            </a:endParaRPr>
          </a:p>
        </p:txBody>
      </p:sp>
      <p:sp>
        <p:nvSpPr>
          <p:cNvPr id="40963" name="Rectangle 14"/>
          <p:cNvSpPr>
            <a:spLocks noChangeArrowheads="1"/>
          </p:cNvSpPr>
          <p:nvPr/>
        </p:nvSpPr>
        <p:spPr bwMode="auto">
          <a:xfrm>
            <a:off x="296863" y="1158175"/>
            <a:ext cx="8169275"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20000"/>
              </a:lnSpc>
              <a:spcBef>
                <a:spcPct val="0"/>
              </a:spcBef>
            </a:pPr>
            <a:r>
              <a:rPr lang="zh-CN" altLang="en-US" dirty="0">
                <a:solidFill>
                  <a:schemeClr val="tx1"/>
                </a:solidFill>
                <a:latin typeface="楷体_GB2312" pitchFamily="1" charset="-122"/>
                <a:ea typeface="楷体_GB2312" pitchFamily="1" charset="-122"/>
              </a:rPr>
              <a:t>   把一条线段分割为两部分，</a:t>
            </a:r>
            <a:r>
              <a:rPr lang="zh-CN" altLang="en-US" b="1" dirty="0">
                <a:solidFill>
                  <a:srgbClr val="FF0000"/>
                </a:solidFill>
                <a:latin typeface="方正粗黑宋简体" panose="02000000000000000000" pitchFamily="2" charset="-122"/>
                <a:ea typeface="方正粗黑宋简体" panose="02000000000000000000" pitchFamily="2" charset="-122"/>
              </a:rPr>
              <a:t>使其中一部分与全长之比等于另一部分与这部分之比</a:t>
            </a:r>
            <a:r>
              <a:rPr lang="zh-CN" altLang="en-US" dirty="0">
                <a:solidFill>
                  <a:schemeClr val="tx1"/>
                </a:solidFill>
                <a:latin typeface="楷体_GB2312" pitchFamily="1" charset="-122"/>
                <a:ea typeface="楷体_GB2312" pitchFamily="1" charset="-122"/>
              </a:rPr>
              <a:t>。其比值是一个无理数，取其前三位数字的近似值是</a:t>
            </a:r>
            <a:r>
              <a:rPr lang="en-US" altLang="zh-CN" b="1" dirty="0">
                <a:solidFill>
                  <a:srgbClr val="FF0000"/>
                </a:solidFill>
                <a:latin typeface="黑体" pitchFamily="49" charset="-122"/>
                <a:ea typeface="黑体" pitchFamily="49" charset="-122"/>
              </a:rPr>
              <a:t>0.618</a:t>
            </a:r>
            <a:r>
              <a:rPr lang="zh-CN" altLang="en-US" dirty="0">
                <a:solidFill>
                  <a:schemeClr val="tx1"/>
                </a:solidFill>
                <a:latin typeface="楷体_GB2312" pitchFamily="1" charset="-122"/>
                <a:ea typeface="楷体_GB2312" pitchFamily="1" charset="-122"/>
              </a:rPr>
              <a:t>。由于按此比例设计的造型十分美丽，</a:t>
            </a:r>
            <a:r>
              <a:rPr lang="en-US" altLang="zh-CN" dirty="0">
                <a:solidFill>
                  <a:schemeClr val="tx1"/>
                </a:solidFill>
                <a:latin typeface="楷体_GB2312" pitchFamily="1" charset="-122"/>
                <a:ea typeface="楷体_GB2312" pitchFamily="1" charset="-122"/>
              </a:rPr>
              <a:t>0.618</a:t>
            </a:r>
            <a:r>
              <a:rPr lang="zh-CN" altLang="en-US" dirty="0">
                <a:solidFill>
                  <a:schemeClr val="tx1"/>
                </a:solidFill>
                <a:latin typeface="楷体_GB2312" pitchFamily="1" charset="-122"/>
                <a:ea typeface="楷体_GB2312" pitchFamily="1" charset="-122"/>
              </a:rPr>
              <a:t>被称为</a:t>
            </a:r>
            <a:r>
              <a:rPr lang="zh-CN" altLang="en-US" b="1" dirty="0">
                <a:solidFill>
                  <a:srgbClr val="FF0000"/>
                </a:solidFill>
                <a:latin typeface="方正粗黑宋简体" panose="02000000000000000000" pitchFamily="2" charset="-122"/>
                <a:ea typeface="方正粗黑宋简体" panose="02000000000000000000" pitchFamily="2" charset="-122"/>
                <a:hlinkClick r:id="rId5" action="ppaction://hlinkfile"/>
              </a:rPr>
              <a:t>黄金分割数</a:t>
            </a:r>
            <a:r>
              <a:rPr lang="zh-CN" altLang="en-US" dirty="0">
                <a:solidFill>
                  <a:schemeClr val="tx1"/>
                </a:solidFill>
                <a:latin typeface="楷体_GB2312" pitchFamily="1" charset="-122"/>
                <a:ea typeface="楷体_GB2312" pitchFamily="1" charset="-122"/>
              </a:rPr>
              <a:t>。</a:t>
            </a:r>
          </a:p>
        </p:txBody>
      </p:sp>
      <p:graphicFrame>
        <p:nvGraphicFramePr>
          <p:cNvPr id="40964" name="Object 4"/>
          <p:cNvGraphicFramePr>
            <a:graphicFrameLocks noChangeAspect="1"/>
          </p:cNvGraphicFramePr>
          <p:nvPr/>
        </p:nvGraphicFramePr>
        <p:xfrm>
          <a:off x="927100" y="3294063"/>
          <a:ext cx="2357438" cy="1074737"/>
        </p:xfrm>
        <a:graphic>
          <a:graphicData uri="http://schemas.openxmlformats.org/presentationml/2006/ole">
            <mc:AlternateContent xmlns:mc="http://schemas.openxmlformats.org/markup-compatibility/2006">
              <mc:Choice xmlns:v="urn:schemas-microsoft-com:vml" Requires="v">
                <p:oleObj spid="_x0000_s41170" r:id="rId6" imgW="863600" imgH="393700" progId="Equation.3">
                  <p:embed/>
                </p:oleObj>
              </mc:Choice>
              <mc:Fallback>
                <p:oleObj r:id="rId6" imgW="863600" imgH="393700" progId="Equation.3">
                  <p:embed/>
                  <p:pic>
                    <p:nvPicPr>
                      <p:cNvPr id="0" name="Picture 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7100" y="3294063"/>
                        <a:ext cx="2357438" cy="1074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5" name="WordArt 22"/>
          <p:cNvSpPr>
            <a:spLocks noChangeArrowheads="1" noChangeShapeType="1" noTextEdit="1"/>
          </p:cNvSpPr>
          <p:nvPr/>
        </p:nvSpPr>
        <p:spPr bwMode="auto">
          <a:xfrm>
            <a:off x="3627438" y="279400"/>
            <a:ext cx="2070100" cy="765175"/>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zh-CN" altLang="en-US" b="1" dirty="0">
                <a:solidFill>
                  <a:srgbClr val="FF0000"/>
                </a:solidFill>
                <a:latin typeface="方正粗黑宋简体" panose="02000000000000000000" pitchFamily="2" charset="-122"/>
                <a:ea typeface="方正粗黑宋简体" panose="02000000000000000000" pitchFamily="2" charset="-122"/>
              </a:rPr>
              <a:t>黄金数</a:t>
            </a:r>
          </a:p>
        </p:txBody>
      </p:sp>
      <p:graphicFrame>
        <p:nvGraphicFramePr>
          <p:cNvPr id="40966" name="Object 6"/>
          <p:cNvGraphicFramePr>
            <a:graphicFrameLocks noChangeAspect="1"/>
          </p:cNvGraphicFramePr>
          <p:nvPr/>
        </p:nvGraphicFramePr>
        <p:xfrm>
          <a:off x="1241425" y="4598988"/>
          <a:ext cx="1630363" cy="1144587"/>
        </p:xfrm>
        <a:graphic>
          <a:graphicData uri="http://schemas.openxmlformats.org/presentationml/2006/ole">
            <mc:AlternateContent xmlns:mc="http://schemas.openxmlformats.org/markup-compatibility/2006">
              <mc:Choice xmlns:v="urn:schemas-microsoft-com:vml" Requires="v">
                <p:oleObj spid="_x0000_s41171" r:id="rId8" imgW="597159" imgH="419282" progId="Equation.3">
                  <p:embed/>
                </p:oleObj>
              </mc:Choice>
              <mc:Fallback>
                <p:oleObj r:id="rId8" imgW="597159" imgH="419282" progId="Equation.3">
                  <p:embed/>
                  <p:pic>
                    <p:nvPicPr>
                      <p:cNvPr id="0" name="Picture 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1425" y="4598988"/>
                        <a:ext cx="1630363" cy="1144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7" name="Object 7"/>
          <p:cNvGraphicFramePr>
            <a:graphicFrameLocks noChangeAspect="1"/>
          </p:cNvGraphicFramePr>
          <p:nvPr/>
        </p:nvGraphicFramePr>
        <p:xfrm>
          <a:off x="3357563" y="4868863"/>
          <a:ext cx="1735137" cy="623887"/>
        </p:xfrm>
        <a:graphic>
          <a:graphicData uri="http://schemas.openxmlformats.org/presentationml/2006/ole">
            <mc:AlternateContent xmlns:mc="http://schemas.openxmlformats.org/markup-compatibility/2006">
              <mc:Choice xmlns:v="urn:schemas-microsoft-com:vml" Requires="v">
                <p:oleObj spid="_x0000_s41172" r:id="rId10" imgW="635276" imgH="228699" progId="Equation.3">
                  <p:embed/>
                </p:oleObj>
              </mc:Choice>
              <mc:Fallback>
                <p:oleObj r:id="rId10" imgW="635276" imgH="228699" progId="Equation.3">
                  <p:embed/>
                  <p:pic>
                    <p:nvPicPr>
                      <p:cNvPr id="0" name="Picture 4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57563" y="4868863"/>
                        <a:ext cx="1735137" cy="623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8" name="Object 8"/>
          <p:cNvGraphicFramePr>
            <a:graphicFrameLocks noChangeAspect="1"/>
          </p:cNvGraphicFramePr>
          <p:nvPr/>
        </p:nvGraphicFramePr>
        <p:xfrm>
          <a:off x="5741988" y="4689475"/>
          <a:ext cx="3019425" cy="1074738"/>
        </p:xfrm>
        <a:graphic>
          <a:graphicData uri="http://schemas.openxmlformats.org/presentationml/2006/ole">
            <mc:AlternateContent xmlns:mc="http://schemas.openxmlformats.org/markup-compatibility/2006">
              <mc:Choice xmlns:v="urn:schemas-microsoft-com:vml" Requires="v">
                <p:oleObj spid="_x0000_s41173" r:id="rId12" imgW="1104900" imgH="393700" progId="Equation.3">
                  <p:embed/>
                </p:oleObj>
              </mc:Choice>
              <mc:Fallback>
                <p:oleObj r:id="rId12" imgW="1104900" imgH="393700" progId="Equation.3">
                  <p:embed/>
                  <p:pic>
                    <p:nvPicPr>
                      <p:cNvPr id="0" name="Picture 4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41988" y="4689475"/>
                        <a:ext cx="3019425" cy="1074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9" name="Object 9"/>
          <p:cNvGraphicFramePr>
            <a:graphicFrameLocks noChangeAspect="1"/>
          </p:cNvGraphicFramePr>
          <p:nvPr/>
        </p:nvGraphicFramePr>
        <p:xfrm>
          <a:off x="1241425" y="5783263"/>
          <a:ext cx="2187575" cy="1074737"/>
        </p:xfrm>
        <a:graphic>
          <a:graphicData uri="http://schemas.openxmlformats.org/presentationml/2006/ole">
            <mc:AlternateContent xmlns:mc="http://schemas.openxmlformats.org/markup-compatibility/2006">
              <mc:Choice xmlns:v="urn:schemas-microsoft-com:vml" Requires="v">
                <p:oleObj spid="_x0000_s41174" r:id="rId14" imgW="800100" imgH="393700" progId="Equation.3">
                  <p:embed/>
                </p:oleObj>
              </mc:Choice>
              <mc:Fallback>
                <p:oleObj r:id="rId14" imgW="800100" imgH="393700" progId="Equation.3">
                  <p:embed/>
                  <p:pic>
                    <p:nvPicPr>
                      <p:cNvPr id="0" name="Picture 4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41425" y="5783263"/>
                        <a:ext cx="2187575" cy="1074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70" name="Object 10"/>
          <p:cNvGraphicFramePr>
            <a:graphicFrameLocks noChangeAspect="1"/>
          </p:cNvGraphicFramePr>
          <p:nvPr/>
        </p:nvGraphicFramePr>
        <p:xfrm>
          <a:off x="4302125" y="5680075"/>
          <a:ext cx="3194050" cy="1177925"/>
        </p:xfrm>
        <a:graphic>
          <a:graphicData uri="http://schemas.openxmlformats.org/presentationml/2006/ole">
            <mc:AlternateContent xmlns:mc="http://schemas.openxmlformats.org/markup-compatibility/2006">
              <mc:Choice xmlns:v="urn:schemas-microsoft-com:vml" Requires="v">
                <p:oleObj spid="_x0000_s41175" r:id="rId16" imgW="1168400" imgH="431800" progId="Equation.3">
                  <p:embed/>
                </p:oleObj>
              </mc:Choice>
              <mc:Fallback>
                <p:oleObj r:id="rId16" imgW="1168400" imgH="431800" progId="Equation.3">
                  <p:embed/>
                  <p:pic>
                    <p:nvPicPr>
                      <p:cNvPr id="0" name="Picture 4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02125" y="5680075"/>
                        <a:ext cx="3194050" cy="1177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71" name="Text Box 31"/>
          <p:cNvSpPr txBox="1">
            <a:spLocks noChangeArrowheads="1"/>
          </p:cNvSpPr>
          <p:nvPr/>
        </p:nvSpPr>
        <p:spPr bwMode="auto">
          <a:xfrm>
            <a:off x="0" y="4914900"/>
            <a:ext cx="1106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a:solidFill>
                  <a:schemeClr val="tx1"/>
                </a:solidFill>
                <a:ea typeface="楷体_GB2312" pitchFamily="1" charset="-122"/>
              </a:rPr>
              <a:t>推导：</a:t>
            </a:r>
          </a:p>
        </p:txBody>
      </p:sp>
      <p:pic>
        <p:nvPicPr>
          <p:cNvPr id="40972" name="Picture 32" descr="220px-Golden_ratio_line_svg"/>
          <p:cNvPicPr>
            <a:picLocks noChangeAspect="1" noChangeArrowheads="1"/>
          </p:cNvPicPr>
          <p:nvPr/>
        </p:nvPicPr>
        <p:blipFill>
          <a:blip r:embed="rId18">
            <a:extLst>
              <a:ext uri="{28A0092B-C50C-407E-A947-70E740481C1C}">
                <a14:useLocalDpi xmlns:a14="http://schemas.microsoft.com/office/drawing/2010/main" val="0"/>
              </a:ext>
            </a:extLst>
          </a:blip>
          <a:srcRect b="20447"/>
          <a:stretch>
            <a:fillRect/>
          </a:stretch>
        </p:blipFill>
        <p:spPr bwMode="auto">
          <a:xfrm>
            <a:off x="4706938" y="2708275"/>
            <a:ext cx="4062412"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5" name="Picture 15"/>
          <p:cNvPicPr preferRelativeResize="0">
            <a:picLocks noChangeAspect="1" noChangeArrowheads="1" noChangeShapeType="1"/>
          </p:cNvPicPr>
          <p:nvPr/>
        </p:nvPicPr>
        <p:blipFill>
          <a:blip r:embed="rId19">
            <a:extLst>
              <a:ext uri="{28A0092B-C50C-407E-A947-70E740481C1C}">
                <a14:useLocalDpi xmlns:a14="http://schemas.microsoft.com/office/drawing/2010/main" val="0"/>
              </a:ext>
            </a:extLst>
          </a:blip>
          <a:srcRect/>
          <a:stretch>
            <a:fillRect/>
          </a:stretch>
        </p:blipFill>
        <p:spPr bwMode="auto">
          <a:xfrm>
            <a:off x="0" y="0"/>
            <a:ext cx="914400" cy="228600"/>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spTree>
    <p:controls>
      <mc:AlternateContent xmlns:mc="http://schemas.openxmlformats.org/markup-compatibility/2006">
        <mc:Choice xmlns:v="urn:schemas-microsoft-com:vml" Requires="v">
          <p:control spid="41176" name="TextBox1" r:id="rId2" imgW="914400" imgH="228600"/>
        </mc:Choice>
        <mc:Fallback>
          <p:control name="TextBox1" r:id="rId2" imgW="914400" imgH="228600">
            <p:pic>
              <p:nvPicPr>
                <p:cNvPr id="2" name="TextBox1"/>
                <p:cNvPicPr preferRelativeResize="0">
                  <a:picLocks noChangeAspect="1" noChangeArrowheads="1" noChangeShapeType="1"/>
                </p:cNvPicPr>
                <p:nvPr/>
              </p:nvPicPr>
              <p:blipFill>
                <a:blip r:embed="rId20"/>
                <a:srcRect/>
                <a:stretch>
                  <a:fillRect/>
                </a:stretch>
              </p:blipFill>
              <p:spPr bwMode="auto">
                <a:xfrm>
                  <a:off x="0" y="0"/>
                  <a:ext cx="914400" cy="228600"/>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mc:AlternateContent xmlns:mc="http://schemas.openxmlformats.org/markup-compatibility/2006">
        <mc:Choice xmlns:v="urn:schemas-microsoft-com:vml" Requires="v">
          <p:control spid="41177" name="TextBox2" r:id="rId3" imgW="914400" imgH="228600"/>
        </mc:Choice>
        <mc:Fallback>
          <p:control name="TextBox2" r:id="rId3" imgW="914400" imgH="228600">
            <p:pic>
              <p:nvPicPr>
                <p:cNvPr id="3" name="TextBox2"/>
                <p:cNvPicPr preferRelativeResize="0">
                  <a:picLocks noChangeAspect="1" noChangeArrowheads="1" noChangeShapeType="1"/>
                </p:cNvPicPr>
                <p:nvPr/>
              </p:nvPicPr>
              <p:blipFill>
                <a:blip r:embed="rId20"/>
                <a:srcRect/>
                <a:stretch>
                  <a:fillRect/>
                </a:stretch>
              </p:blipFill>
              <p:spPr bwMode="auto">
                <a:xfrm>
                  <a:off x="0" y="0"/>
                  <a:ext cx="914400" cy="228600"/>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p:controls>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FC121F80-4BBA-4527-993A-5EFE4E66BC7D}" type="slidenum">
              <a:rPr lang="en-US" altLang="zh-CN" sz="1200">
                <a:solidFill>
                  <a:schemeClr val="tx1"/>
                </a:solidFill>
                <a:latin typeface="Garamond" pitchFamily="18" charset="0"/>
              </a:rPr>
              <a:pPr algn="r" eaLnBrk="1" hangingPunct="1">
                <a:spcBef>
                  <a:spcPct val="0"/>
                </a:spcBef>
              </a:pPr>
              <a:t>39</a:t>
            </a:fld>
            <a:endParaRPr lang="en-US" altLang="zh-CN" sz="1200">
              <a:solidFill>
                <a:schemeClr val="tx1"/>
              </a:solidFill>
              <a:latin typeface="Garamond" pitchFamily="18" charset="0"/>
            </a:endParaRPr>
          </a:p>
        </p:txBody>
      </p:sp>
      <p:pic>
        <p:nvPicPr>
          <p:cNvPr id="41987" name="Object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7100" y="593725"/>
            <a:ext cx="3527425" cy="1077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988" name="Rectangle 9"/>
          <p:cNvSpPr>
            <a:spLocks noChangeArrowheads="1"/>
          </p:cNvSpPr>
          <p:nvPr/>
        </p:nvSpPr>
        <p:spPr bwMode="auto">
          <a:xfrm>
            <a:off x="4841875" y="863600"/>
            <a:ext cx="809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ea typeface="楷体_GB2312" pitchFamily="1" charset="-122"/>
              </a:rPr>
              <a:t>,</a:t>
            </a:r>
            <a:r>
              <a:rPr lang="zh-CN" altLang="en-US">
                <a:solidFill>
                  <a:schemeClr val="tx1"/>
                </a:solidFill>
                <a:ea typeface="楷体_GB2312" pitchFamily="1" charset="-122"/>
              </a:rPr>
              <a:t>即</a:t>
            </a:r>
          </a:p>
        </p:txBody>
      </p:sp>
      <p:graphicFrame>
        <p:nvGraphicFramePr>
          <p:cNvPr id="41989" name="Object 5"/>
          <p:cNvGraphicFramePr>
            <a:graphicFrameLocks noChangeAspect="1"/>
          </p:cNvGraphicFramePr>
          <p:nvPr/>
        </p:nvGraphicFramePr>
        <p:xfrm>
          <a:off x="6057900" y="638175"/>
          <a:ext cx="1301750" cy="914400"/>
        </p:xfrm>
        <a:graphic>
          <a:graphicData uri="http://schemas.openxmlformats.org/presentationml/2006/ole">
            <mc:AlternateContent xmlns:mc="http://schemas.openxmlformats.org/markup-compatibility/2006">
              <mc:Choice xmlns:v="urn:schemas-microsoft-com:vml" Requires="v">
                <p:oleObj spid="_x0000_s42081" r:id="rId4" imgW="597159" imgH="419282" progId="Equation.3">
                  <p:embed/>
                </p:oleObj>
              </mc:Choice>
              <mc:Fallback>
                <p:oleObj r:id="rId4" imgW="597159" imgH="419282" progId="Equation.3">
                  <p:embed/>
                  <p:pic>
                    <p:nvPicPr>
                      <p:cNvPr id="0"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57900" y="638175"/>
                        <a:ext cx="130175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0" name="WordArt 13"/>
          <p:cNvSpPr>
            <a:spLocks noChangeArrowheads="1" noChangeShapeType="1" noTextEdit="1"/>
          </p:cNvSpPr>
          <p:nvPr/>
        </p:nvSpPr>
        <p:spPr bwMode="auto">
          <a:xfrm>
            <a:off x="1196975" y="1989138"/>
            <a:ext cx="2070100" cy="765175"/>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zh-CN" altLang="en-US" sz="3600">
                <a:gradFill rotWithShape="1">
                  <a:gsLst>
                    <a:gs pos="0">
                      <a:srgbClr val="FFFF00"/>
                    </a:gs>
                    <a:gs pos="100000">
                      <a:srgbClr val="FF9933"/>
                    </a:gs>
                  </a:gsLst>
                  <a:path path="rect">
                    <a:fillToRect l="50000" t="50000" r="50000" b="50000"/>
                  </a:path>
                </a:gradFill>
                <a:effectLst>
                  <a:outerShdw dist="35921" dir="2700000" algn="ctr" rotWithShape="0">
                    <a:srgbClr val="C0C0C0">
                      <a:alpha val="78999"/>
                    </a:srgbClr>
                  </a:outerShdw>
                </a:effectLst>
                <a:latin typeface="宋体"/>
                <a:ea typeface="宋体"/>
              </a:rPr>
              <a:t>黄金矩形</a:t>
            </a:r>
          </a:p>
        </p:txBody>
      </p:sp>
      <p:pic>
        <p:nvPicPr>
          <p:cNvPr id="41991" name="Picture 15" descr="220px-SimilarGoldenRectangles_sv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07050" y="1673225"/>
            <a:ext cx="3536950" cy="307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1992" name="Object 8"/>
          <p:cNvGraphicFramePr>
            <a:graphicFrameLocks noChangeAspect="1"/>
          </p:cNvGraphicFramePr>
          <p:nvPr/>
        </p:nvGraphicFramePr>
        <p:xfrm>
          <a:off x="1376363" y="3024188"/>
          <a:ext cx="2357437" cy="1074737"/>
        </p:xfrm>
        <a:graphic>
          <a:graphicData uri="http://schemas.openxmlformats.org/presentationml/2006/ole">
            <mc:AlternateContent xmlns:mc="http://schemas.openxmlformats.org/markup-compatibility/2006">
              <mc:Choice xmlns:v="urn:schemas-microsoft-com:vml" Requires="v">
                <p:oleObj spid="_x0000_s42082" r:id="rId7" imgW="863600" imgH="393700" progId="Equation.3">
                  <p:embed/>
                </p:oleObj>
              </mc:Choice>
              <mc:Fallback>
                <p:oleObj r:id="rId7" imgW="863600" imgH="393700" progId="Equation.3">
                  <p:embed/>
                  <p:pic>
                    <p:nvPicPr>
                      <p:cNvPr id="0" name="Picture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6363" y="3024188"/>
                        <a:ext cx="2357437" cy="1074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3" name="Rectangle 18"/>
          <p:cNvSpPr>
            <a:spLocks noChangeArrowheads="1"/>
          </p:cNvSpPr>
          <p:nvPr/>
        </p:nvSpPr>
        <p:spPr bwMode="auto">
          <a:xfrm>
            <a:off x="296863" y="4914900"/>
            <a:ext cx="499586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TW" altLang="en-US" dirty="0">
                <a:solidFill>
                  <a:schemeClr val="tx1"/>
                </a:solidFill>
                <a:latin typeface="楷体_GB2312" pitchFamily="1" charset="-122"/>
                <a:ea typeface="楷体_GB2312" pitchFamily="1" charset="-122"/>
              </a:rPr>
              <a:t>  </a:t>
            </a:r>
            <a:r>
              <a:rPr lang="zh-CN" altLang="en-US" b="1" dirty="0">
                <a:solidFill>
                  <a:srgbClr val="FF0000"/>
                </a:solidFill>
                <a:latin typeface="方正粗黑宋简体" panose="02000000000000000000" pitchFamily="2" charset="-122"/>
                <a:ea typeface="方正粗黑宋简体" panose="02000000000000000000" pitchFamily="2" charset="-122"/>
              </a:rPr>
              <a:t>黄</a:t>
            </a:r>
            <a:r>
              <a:rPr lang="zh-TW" altLang="en-US" b="1" dirty="0">
                <a:solidFill>
                  <a:srgbClr val="FF0000"/>
                </a:solidFill>
                <a:latin typeface="方正粗黑宋简体" panose="02000000000000000000" pitchFamily="2" charset="-122"/>
                <a:ea typeface="方正粗黑宋简体" panose="02000000000000000000" pitchFamily="2" charset="-122"/>
              </a:rPr>
              <a:t>金矩形分割</a:t>
            </a:r>
            <a:r>
              <a:rPr lang="zh-CN" altLang="en-US" b="1" dirty="0">
                <a:solidFill>
                  <a:srgbClr val="FF0000"/>
                </a:solidFill>
                <a:latin typeface="方正粗黑宋简体" panose="02000000000000000000" pitchFamily="2" charset="-122"/>
                <a:ea typeface="方正粗黑宋简体" panose="02000000000000000000" pitchFamily="2" charset="-122"/>
              </a:rPr>
              <a:t>为两块</a:t>
            </a:r>
            <a:r>
              <a:rPr lang="en-US" altLang="zh-CN" b="1" dirty="0">
                <a:solidFill>
                  <a:srgbClr val="FF0000"/>
                </a:solidFill>
                <a:latin typeface="方正粗黑宋简体" panose="02000000000000000000" pitchFamily="2" charset="-122"/>
                <a:ea typeface="方正粗黑宋简体" panose="02000000000000000000" pitchFamily="2" charset="-122"/>
              </a:rPr>
              <a:t>,</a:t>
            </a:r>
            <a:r>
              <a:rPr lang="zh-TW" altLang="en-US" b="1" dirty="0">
                <a:solidFill>
                  <a:srgbClr val="FF0000"/>
                </a:solidFill>
                <a:latin typeface="方正粗黑宋简体" panose="02000000000000000000" pitchFamily="2" charset="-122"/>
                <a:ea typeface="方正粗黑宋简体" panose="02000000000000000000" pitchFamily="2" charset="-122"/>
              </a:rPr>
              <a:t>其中一</a:t>
            </a:r>
            <a:r>
              <a:rPr lang="zh-CN" altLang="en-US" b="1" dirty="0">
                <a:solidFill>
                  <a:srgbClr val="FF0000"/>
                </a:solidFill>
                <a:latin typeface="方正粗黑宋简体" panose="02000000000000000000" pitchFamily="2" charset="-122"/>
                <a:ea typeface="方正粗黑宋简体" panose="02000000000000000000" pitchFamily="2" charset="-122"/>
              </a:rPr>
              <a:t>块为</a:t>
            </a:r>
            <a:r>
              <a:rPr lang="zh-TW" altLang="en-US" b="1" dirty="0">
                <a:solidFill>
                  <a:srgbClr val="FF0000"/>
                </a:solidFill>
                <a:latin typeface="方正粗黑宋简体" panose="02000000000000000000" pitchFamily="2" charset="-122"/>
                <a:ea typeface="方正粗黑宋简体" panose="02000000000000000000" pitchFamily="2" charset="-122"/>
              </a:rPr>
              <a:t>正方形</a:t>
            </a:r>
            <a:r>
              <a:rPr lang="en-US" altLang="zh-CN" b="1" dirty="0">
                <a:solidFill>
                  <a:srgbClr val="FF0000"/>
                </a:solidFill>
                <a:latin typeface="方正粗黑宋简体" panose="02000000000000000000" pitchFamily="2" charset="-122"/>
                <a:ea typeface="方正粗黑宋简体" panose="02000000000000000000" pitchFamily="2" charset="-122"/>
              </a:rPr>
              <a:t>,</a:t>
            </a:r>
            <a:r>
              <a:rPr lang="zh-TW" altLang="en-US" b="1" dirty="0">
                <a:solidFill>
                  <a:srgbClr val="FF0000"/>
                </a:solidFill>
                <a:latin typeface="方正粗黑宋简体" panose="02000000000000000000" pitchFamily="2" charset="-122"/>
                <a:ea typeface="方正粗黑宋简体" panose="02000000000000000000" pitchFamily="2" charset="-122"/>
              </a:rPr>
              <a:t>另一</a:t>
            </a:r>
            <a:r>
              <a:rPr lang="zh-CN" altLang="en-US" b="1" dirty="0">
                <a:solidFill>
                  <a:srgbClr val="FF0000"/>
                </a:solidFill>
                <a:latin typeface="方正粗黑宋简体" panose="02000000000000000000" pitchFamily="2" charset="-122"/>
                <a:ea typeface="方正粗黑宋简体" panose="02000000000000000000" pitchFamily="2" charset="-122"/>
              </a:rPr>
              <a:t>块为</a:t>
            </a:r>
            <a:r>
              <a:rPr lang="zh-CN" altLang="en-US" b="1" dirty="0" smtClean="0">
                <a:solidFill>
                  <a:srgbClr val="FF0000"/>
                </a:solidFill>
                <a:latin typeface="方正粗黑宋简体" panose="02000000000000000000" pitchFamily="2" charset="-122"/>
                <a:ea typeface="方正粗黑宋简体" panose="02000000000000000000" pitchFamily="2" charset="-122"/>
              </a:rPr>
              <a:t>黄金</a:t>
            </a:r>
            <a:r>
              <a:rPr lang="zh-TW" altLang="en-US" b="1" dirty="0" smtClean="0">
                <a:solidFill>
                  <a:srgbClr val="FF0000"/>
                </a:solidFill>
                <a:latin typeface="方正粗黑宋简体" panose="02000000000000000000" pitchFamily="2" charset="-122"/>
                <a:ea typeface="方正粗黑宋简体" panose="02000000000000000000" pitchFamily="2" charset="-122"/>
              </a:rPr>
              <a:t>矩形</a:t>
            </a:r>
            <a:r>
              <a:rPr lang="zh-CN" altLang="en-US" b="1" dirty="0">
                <a:solidFill>
                  <a:srgbClr val="FF0000"/>
                </a:solidFill>
                <a:latin typeface="方正粗黑宋简体" panose="02000000000000000000" pitchFamily="2" charset="-122"/>
                <a:ea typeface="方正粗黑宋简体" panose="02000000000000000000" pitchFamily="2" charset="-122"/>
              </a:rPr>
              <a:t>，可以递归划分。</a:t>
            </a:r>
          </a:p>
        </p:txBody>
      </p:sp>
      <p:graphicFrame>
        <p:nvGraphicFramePr>
          <p:cNvPr id="41994" name="Object 20"/>
          <p:cNvGraphicFramePr>
            <a:graphicFrameLocks noChangeAspect="1"/>
          </p:cNvGraphicFramePr>
          <p:nvPr/>
        </p:nvGraphicFramePr>
        <p:xfrm>
          <a:off x="5921375" y="4733925"/>
          <a:ext cx="3014663" cy="1892300"/>
        </p:xfrm>
        <a:graphic>
          <a:graphicData uri="http://schemas.openxmlformats.org/presentationml/2006/ole">
            <mc:AlternateContent xmlns:mc="http://schemas.openxmlformats.org/markup-compatibility/2006">
              <mc:Choice xmlns:v="urn:schemas-microsoft-com:vml" Requires="v">
                <p:oleObj spid="_x0000_s42083" r:id="rId9" imgW="3673665" imgH="2305579" progId="Visio.Drawing.11">
                  <p:embed/>
                </p:oleObj>
              </mc:Choice>
              <mc:Fallback>
                <p:oleObj r:id="rId9" imgW="3673665" imgH="2305579" progId="Visio.Drawing.11">
                  <p:embed/>
                  <p:pic>
                    <p:nvPicPr>
                      <p:cNvPr id="0" name="Picture 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21375" y="4733925"/>
                        <a:ext cx="3014663" cy="189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1997" name="Control 13"/>
          <p:cNvPicPr preferRelativeResize="0">
            <a:picLocks noChangeAspect="1" noChangeArrowheads="1" noChangeShapeType="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914400" cy="2286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1995" name="Picture 11"/>
          <p:cNvPicPr preferRelativeResize="0">
            <a:picLocks noChangeAspect="1" noChangeArrowheads="1" noChangeShapeType="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914400" cy="228600"/>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pic>
        <p:nvPicPr>
          <p:cNvPr id="41996" name="Picture 12"/>
          <p:cNvPicPr preferRelativeResize="0">
            <a:picLocks noChangeAspect="1" noChangeArrowheads="1" noChangeShapeType="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914400" cy="228600"/>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7BDFEB02-00F3-430A-8D87-37422508D357}" type="slidenum">
              <a:rPr lang="en-US" altLang="zh-CN" sz="1200">
                <a:solidFill>
                  <a:schemeClr val="tx1"/>
                </a:solidFill>
                <a:latin typeface="Garamond" pitchFamily="18" charset="0"/>
              </a:rPr>
              <a:pPr algn="r" eaLnBrk="1" hangingPunct="1">
                <a:spcBef>
                  <a:spcPct val="0"/>
                </a:spcBef>
              </a:pPr>
              <a:t>40</a:t>
            </a:fld>
            <a:endParaRPr lang="en-US" altLang="zh-CN" sz="1200">
              <a:solidFill>
                <a:schemeClr val="tx1"/>
              </a:solidFill>
              <a:latin typeface="Garamond" pitchFamily="18" charset="0"/>
            </a:endParaRPr>
          </a:p>
        </p:txBody>
      </p:sp>
      <p:sp>
        <p:nvSpPr>
          <p:cNvPr id="43011" name="內容版面配置區 2"/>
          <p:cNvSpPr>
            <a:spLocks noChangeArrowheads="1"/>
          </p:cNvSpPr>
          <p:nvPr/>
        </p:nvSpPr>
        <p:spPr bwMode="auto">
          <a:xfrm>
            <a:off x="385763" y="1538288"/>
            <a:ext cx="6751637"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20000"/>
              </a:spcBef>
              <a:buClr>
                <a:schemeClr val="accent1"/>
              </a:buClr>
              <a:buSzPct val="65000"/>
              <a:buFont typeface="Wingdings" pitchFamily="2" charset="2"/>
              <a:buChar char="n"/>
            </a:pPr>
            <a:r>
              <a:rPr lang="zh-CN" altLang="en-US">
                <a:solidFill>
                  <a:schemeClr val="tx1"/>
                </a:solidFill>
                <a:latin typeface="楷体_GB2312" pitchFamily="1" charset="-122"/>
                <a:ea typeface="楷体_GB2312" pitchFamily="1" charset="-122"/>
              </a:rPr>
              <a:t>维纳斯</a:t>
            </a:r>
            <a:r>
              <a:rPr lang="zh-TW" altLang="en-US">
                <a:solidFill>
                  <a:schemeClr val="tx1"/>
                </a:solidFill>
                <a:latin typeface="楷体_GB2312" pitchFamily="1" charset="-122"/>
                <a:ea typeface="楷体_GB2312" pitchFamily="1" charset="-122"/>
              </a:rPr>
              <a:t>雕像</a:t>
            </a:r>
            <a:r>
              <a:rPr lang="en-US" altLang="zh-CN">
                <a:solidFill>
                  <a:schemeClr val="tx1"/>
                </a:solidFill>
                <a:latin typeface="楷体_GB2312" pitchFamily="1" charset="-122"/>
                <a:ea typeface="楷体_GB2312" pitchFamily="1" charset="-122"/>
              </a:rPr>
              <a:t>,</a:t>
            </a:r>
            <a:r>
              <a:rPr lang="zh-TW" altLang="en-US">
                <a:solidFill>
                  <a:schemeClr val="tx1"/>
                </a:solidFill>
                <a:latin typeface="楷体_GB2312" pitchFamily="1" charset="-122"/>
                <a:ea typeface="楷体_GB2312" pitchFamily="1" charset="-122"/>
              </a:rPr>
              <a:t>被</a:t>
            </a:r>
            <a:r>
              <a:rPr lang="zh-CN" altLang="en-US">
                <a:solidFill>
                  <a:schemeClr val="tx1"/>
                </a:solidFill>
                <a:latin typeface="楷体_GB2312" pitchFamily="1" charset="-122"/>
                <a:ea typeface="楷体_GB2312" pitchFamily="1" charset="-122"/>
              </a:rPr>
              <a:t>视为</a:t>
            </a:r>
            <a:r>
              <a:rPr lang="zh-TW" altLang="en-US">
                <a:solidFill>
                  <a:schemeClr val="tx1"/>
                </a:solidFill>
                <a:latin typeface="楷体_GB2312" pitchFamily="1" charset="-122"/>
                <a:ea typeface="楷体_GB2312" pitchFamily="1" charset="-122"/>
              </a:rPr>
              <a:t>女性</a:t>
            </a:r>
            <a:r>
              <a:rPr lang="zh-CN" altLang="en-US">
                <a:solidFill>
                  <a:schemeClr val="tx1"/>
                </a:solidFill>
                <a:latin typeface="楷体_GB2312" pitchFamily="1" charset="-122"/>
                <a:ea typeface="楷体_GB2312" pitchFamily="1" charset="-122"/>
              </a:rPr>
              <a:t>体型</a:t>
            </a:r>
            <a:r>
              <a:rPr lang="zh-TW" altLang="en-US">
                <a:solidFill>
                  <a:schemeClr val="tx1"/>
                </a:solidFill>
                <a:latin typeface="楷体_GB2312" pitchFamily="1" charset="-122"/>
                <a:ea typeface="楷体_GB2312" pitchFamily="1" charset="-122"/>
              </a:rPr>
              <a:t>美的</a:t>
            </a:r>
            <a:r>
              <a:rPr lang="zh-CN" altLang="en-US">
                <a:solidFill>
                  <a:schemeClr val="tx1"/>
                </a:solidFill>
                <a:latin typeface="楷体_GB2312" pitchFamily="1" charset="-122"/>
                <a:ea typeface="楷体_GB2312" pitchFamily="1" charset="-122"/>
              </a:rPr>
              <a:t>标准。</a:t>
            </a:r>
          </a:p>
          <a:p>
            <a:pPr algn="l" eaLnBrk="1" hangingPunct="1">
              <a:spcBef>
                <a:spcPct val="20000"/>
              </a:spcBef>
              <a:buClr>
                <a:schemeClr val="accent1"/>
              </a:buClr>
              <a:buSzPct val="65000"/>
              <a:buFont typeface="Wingdings" pitchFamily="2" charset="2"/>
              <a:buChar char="n"/>
            </a:pPr>
            <a:r>
              <a:rPr lang="en-US" altLang="zh-CN">
                <a:solidFill>
                  <a:schemeClr val="tx1"/>
                </a:solidFill>
                <a:latin typeface="楷体_GB2312" pitchFamily="1" charset="-122"/>
                <a:ea typeface="楷体_GB2312" pitchFamily="1" charset="-122"/>
              </a:rPr>
              <a:t>(1)</a:t>
            </a:r>
            <a:r>
              <a:rPr lang="zh-TW" altLang="en-US">
                <a:solidFill>
                  <a:schemeClr val="tx1"/>
                </a:solidFill>
                <a:latin typeface="楷体_GB2312" pitchFamily="1" charset="-122"/>
                <a:ea typeface="楷体_GB2312" pitchFamily="1" charset="-122"/>
              </a:rPr>
              <a:t>人的</a:t>
            </a:r>
            <a:r>
              <a:rPr lang="zh-CN" altLang="en-US">
                <a:solidFill>
                  <a:schemeClr val="tx1"/>
                </a:solidFill>
                <a:latin typeface="楷体_GB2312" pitchFamily="1" charset="-122"/>
                <a:ea typeface="楷体_GB2312" pitchFamily="1" charset="-122"/>
              </a:rPr>
              <a:t>肚跻</a:t>
            </a:r>
            <a:r>
              <a:rPr lang="zh-TW" altLang="en-US">
                <a:solidFill>
                  <a:schemeClr val="tx1"/>
                </a:solidFill>
                <a:latin typeface="楷体_GB2312" pitchFamily="1" charset="-122"/>
                <a:ea typeface="楷体_GB2312" pitchFamily="1" charset="-122"/>
              </a:rPr>
              <a:t>位</a:t>
            </a:r>
            <a:r>
              <a:rPr lang="zh-CN" altLang="en-US">
                <a:solidFill>
                  <a:schemeClr val="tx1"/>
                </a:solidFill>
                <a:latin typeface="楷体_GB2312" pitchFamily="1" charset="-122"/>
                <a:ea typeface="楷体_GB2312" pitchFamily="1" charset="-122"/>
              </a:rPr>
              <a:t>于</a:t>
            </a:r>
            <a:r>
              <a:rPr lang="zh-TW" altLang="en-US">
                <a:solidFill>
                  <a:schemeClr val="tx1"/>
                </a:solidFill>
                <a:latin typeface="楷体_GB2312" pitchFamily="1" charset="-122"/>
                <a:ea typeface="楷体_GB2312" pitchFamily="1" charset="-122"/>
              </a:rPr>
              <a:t>人</a:t>
            </a:r>
            <a:r>
              <a:rPr lang="zh-CN" altLang="en-US">
                <a:solidFill>
                  <a:schemeClr val="tx1"/>
                </a:solidFill>
                <a:latin typeface="楷体_GB2312" pitchFamily="1" charset="-122"/>
                <a:ea typeface="楷体_GB2312" pitchFamily="1" charset="-122"/>
              </a:rPr>
              <a:t>体</a:t>
            </a:r>
            <a:r>
              <a:rPr lang="zh-TW" altLang="en-US">
                <a:solidFill>
                  <a:schemeClr val="tx1"/>
                </a:solidFill>
                <a:latin typeface="楷体_GB2312" pitchFamily="1" charset="-122"/>
                <a:ea typeface="楷体_GB2312" pitchFamily="1" charset="-122"/>
              </a:rPr>
              <a:t>身高的</a:t>
            </a:r>
            <a:r>
              <a:rPr lang="zh-CN" altLang="en-US">
                <a:solidFill>
                  <a:schemeClr val="tx1"/>
                </a:solidFill>
                <a:latin typeface="楷体_GB2312" pitchFamily="1" charset="-122"/>
                <a:ea typeface="楷体_GB2312" pitchFamily="1" charset="-122"/>
              </a:rPr>
              <a:t>黄</a:t>
            </a:r>
            <a:r>
              <a:rPr lang="zh-TW" altLang="en-US">
                <a:solidFill>
                  <a:schemeClr val="tx1"/>
                </a:solidFill>
                <a:latin typeface="楷体_GB2312" pitchFamily="1" charset="-122"/>
                <a:ea typeface="楷体_GB2312" pitchFamily="1" charset="-122"/>
              </a:rPr>
              <a:t>金分割</a:t>
            </a:r>
            <a:r>
              <a:rPr lang="zh-CN" altLang="en-US">
                <a:solidFill>
                  <a:schemeClr val="tx1"/>
                </a:solidFill>
                <a:latin typeface="楷体_GB2312" pitchFamily="1" charset="-122"/>
                <a:ea typeface="楷体_GB2312" pitchFamily="1" charset="-122"/>
              </a:rPr>
              <a:t>点。</a:t>
            </a:r>
            <a:r>
              <a:rPr lang="zh-TW" altLang="en-US">
                <a:solidFill>
                  <a:schemeClr val="tx1"/>
                </a:solidFill>
                <a:latin typeface="楷体_GB2312" pitchFamily="1" charset="-122"/>
                <a:ea typeface="楷体_GB2312" pitchFamily="1" charset="-122"/>
              </a:rPr>
              <a:t>  </a:t>
            </a:r>
          </a:p>
          <a:p>
            <a:pPr algn="l" eaLnBrk="1" hangingPunct="1">
              <a:spcBef>
                <a:spcPct val="20000"/>
              </a:spcBef>
              <a:buClr>
                <a:schemeClr val="accent1"/>
              </a:buClr>
              <a:buSzPct val="65000"/>
              <a:buFont typeface="Wingdings" pitchFamily="2" charset="2"/>
              <a:buChar char="n"/>
            </a:pPr>
            <a:r>
              <a:rPr lang="en-US" altLang="zh-CN">
                <a:solidFill>
                  <a:schemeClr val="tx1"/>
                </a:solidFill>
                <a:latin typeface="楷体_GB2312" pitchFamily="1" charset="-122"/>
                <a:ea typeface="楷体_GB2312" pitchFamily="1" charset="-122"/>
              </a:rPr>
              <a:t>(2)</a:t>
            </a:r>
            <a:r>
              <a:rPr lang="zh-CN" altLang="en-US">
                <a:solidFill>
                  <a:schemeClr val="tx1"/>
                </a:solidFill>
                <a:latin typeface="楷体_GB2312" pitchFamily="1" charset="-122"/>
                <a:ea typeface="楷体_GB2312" pitchFamily="1" charset="-122"/>
              </a:rPr>
              <a:t>肚跻</a:t>
            </a:r>
            <a:r>
              <a:rPr lang="zh-TW" altLang="en-US">
                <a:solidFill>
                  <a:schemeClr val="tx1"/>
                </a:solidFill>
                <a:latin typeface="楷体_GB2312" pitchFamily="1" charset="-122"/>
                <a:ea typeface="楷体_GB2312" pitchFamily="1" charset="-122"/>
              </a:rPr>
              <a:t>以上</a:t>
            </a:r>
            <a:r>
              <a:rPr lang="en-US" altLang="zh-CN">
                <a:solidFill>
                  <a:schemeClr val="tx1"/>
                </a:solidFill>
                <a:latin typeface="楷体_GB2312" pitchFamily="1" charset="-122"/>
                <a:ea typeface="楷体_GB2312" pitchFamily="1" charset="-122"/>
              </a:rPr>
              <a:t>,</a:t>
            </a:r>
            <a:r>
              <a:rPr lang="zh-CN" altLang="en-US">
                <a:solidFill>
                  <a:schemeClr val="tx1"/>
                </a:solidFill>
                <a:latin typeface="楷体_GB2312" pitchFamily="1" charset="-122"/>
                <a:ea typeface="楷体_GB2312" pitchFamily="1" charset="-122"/>
              </a:rPr>
              <a:t>颈</a:t>
            </a:r>
            <a:r>
              <a:rPr lang="zh-TW" altLang="en-US">
                <a:solidFill>
                  <a:schemeClr val="tx1"/>
                </a:solidFill>
                <a:latin typeface="楷体_GB2312" pitchFamily="1" charset="-122"/>
                <a:ea typeface="楷体_GB2312" pitchFamily="1" charset="-122"/>
              </a:rPr>
              <a:t>部是</a:t>
            </a:r>
            <a:r>
              <a:rPr lang="zh-CN" altLang="en-US">
                <a:solidFill>
                  <a:schemeClr val="tx1"/>
                </a:solidFill>
                <a:latin typeface="楷体_GB2312" pitchFamily="1" charset="-122"/>
                <a:ea typeface="楷体_GB2312" pitchFamily="1" charset="-122"/>
              </a:rPr>
              <a:t>黄</a:t>
            </a:r>
            <a:r>
              <a:rPr lang="zh-TW" altLang="en-US">
                <a:solidFill>
                  <a:schemeClr val="tx1"/>
                </a:solidFill>
                <a:latin typeface="楷体_GB2312" pitchFamily="1" charset="-122"/>
                <a:ea typeface="楷体_GB2312" pitchFamily="1" charset="-122"/>
              </a:rPr>
              <a:t>金分割</a:t>
            </a:r>
            <a:r>
              <a:rPr lang="zh-CN" altLang="en-US">
                <a:solidFill>
                  <a:schemeClr val="tx1"/>
                </a:solidFill>
                <a:latin typeface="楷体_GB2312" pitchFamily="1" charset="-122"/>
                <a:ea typeface="楷体_GB2312" pitchFamily="1" charset="-122"/>
              </a:rPr>
              <a:t>点。</a:t>
            </a:r>
          </a:p>
          <a:p>
            <a:pPr algn="l" eaLnBrk="1" hangingPunct="1">
              <a:spcBef>
                <a:spcPct val="20000"/>
              </a:spcBef>
              <a:buClr>
                <a:schemeClr val="accent1"/>
              </a:buClr>
              <a:buSzPct val="65000"/>
              <a:buFont typeface="Wingdings" pitchFamily="2" charset="2"/>
              <a:buChar char="n"/>
            </a:pPr>
            <a:r>
              <a:rPr lang="en-US" altLang="zh-CN">
                <a:solidFill>
                  <a:schemeClr val="tx1"/>
                </a:solidFill>
                <a:latin typeface="楷体_GB2312" pitchFamily="1" charset="-122"/>
                <a:ea typeface="楷体_GB2312" pitchFamily="1" charset="-122"/>
              </a:rPr>
              <a:t>(3)</a:t>
            </a:r>
            <a:r>
              <a:rPr lang="zh-CN" altLang="en-US">
                <a:solidFill>
                  <a:schemeClr val="tx1"/>
                </a:solidFill>
                <a:latin typeface="楷体_GB2312" pitchFamily="1" charset="-122"/>
                <a:ea typeface="楷体_GB2312" pitchFamily="1" charset="-122"/>
              </a:rPr>
              <a:t>肚跻</a:t>
            </a:r>
            <a:r>
              <a:rPr lang="zh-TW" altLang="en-US">
                <a:solidFill>
                  <a:schemeClr val="tx1"/>
                </a:solidFill>
                <a:latin typeface="楷体_GB2312" pitchFamily="1" charset="-122"/>
                <a:ea typeface="楷体_GB2312" pitchFamily="1" charset="-122"/>
              </a:rPr>
              <a:t>以下</a:t>
            </a:r>
            <a:r>
              <a:rPr lang="en-US" altLang="zh-CN">
                <a:solidFill>
                  <a:schemeClr val="tx1"/>
                </a:solidFill>
                <a:latin typeface="楷体_GB2312" pitchFamily="1" charset="-122"/>
                <a:ea typeface="楷体_GB2312" pitchFamily="1" charset="-122"/>
              </a:rPr>
              <a:t>,</a:t>
            </a:r>
            <a:r>
              <a:rPr lang="zh-CN" altLang="en-US">
                <a:solidFill>
                  <a:schemeClr val="tx1"/>
                </a:solidFill>
                <a:latin typeface="楷体_GB2312" pitchFamily="1" charset="-122"/>
                <a:ea typeface="楷体_GB2312" pitchFamily="1" charset="-122"/>
              </a:rPr>
              <a:t>膝盖</a:t>
            </a:r>
            <a:r>
              <a:rPr lang="zh-TW" altLang="en-US">
                <a:solidFill>
                  <a:schemeClr val="tx1"/>
                </a:solidFill>
                <a:latin typeface="楷体_GB2312" pitchFamily="1" charset="-122"/>
                <a:ea typeface="楷体_GB2312" pitchFamily="1" charset="-122"/>
              </a:rPr>
              <a:t>是</a:t>
            </a:r>
            <a:r>
              <a:rPr lang="zh-CN" altLang="en-US">
                <a:solidFill>
                  <a:schemeClr val="tx1"/>
                </a:solidFill>
                <a:latin typeface="楷体_GB2312" pitchFamily="1" charset="-122"/>
                <a:ea typeface="楷体_GB2312" pitchFamily="1" charset="-122"/>
              </a:rPr>
              <a:t>黄</a:t>
            </a:r>
            <a:r>
              <a:rPr lang="zh-TW" altLang="en-US">
                <a:solidFill>
                  <a:schemeClr val="tx1"/>
                </a:solidFill>
                <a:latin typeface="楷体_GB2312" pitchFamily="1" charset="-122"/>
                <a:ea typeface="楷体_GB2312" pitchFamily="1" charset="-122"/>
              </a:rPr>
              <a:t>金分割</a:t>
            </a:r>
            <a:r>
              <a:rPr lang="zh-CN" altLang="en-US">
                <a:solidFill>
                  <a:schemeClr val="tx1"/>
                </a:solidFill>
                <a:latin typeface="楷体_GB2312" pitchFamily="1" charset="-122"/>
                <a:ea typeface="楷体_GB2312" pitchFamily="1" charset="-122"/>
              </a:rPr>
              <a:t>点。</a:t>
            </a:r>
            <a:endParaRPr lang="zh-TW" altLang="en-US">
              <a:solidFill>
                <a:schemeClr val="tx1"/>
              </a:solidFill>
              <a:latin typeface="楷体_GB2312" pitchFamily="1" charset="-122"/>
              <a:ea typeface="楷体_GB2312" pitchFamily="1" charset="-122"/>
            </a:endParaRPr>
          </a:p>
        </p:txBody>
      </p:sp>
      <p:pic>
        <p:nvPicPr>
          <p:cNvPr id="43012" name="圖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1550" y="279400"/>
            <a:ext cx="1822450" cy="510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6575" y="3968750"/>
            <a:ext cx="2654300" cy="264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4" name="Rectangle 8"/>
          <p:cNvSpPr>
            <a:spLocks noChangeArrowheads="1"/>
          </p:cNvSpPr>
          <p:nvPr/>
        </p:nvSpPr>
        <p:spPr bwMode="auto">
          <a:xfrm>
            <a:off x="341313" y="5138738"/>
            <a:ext cx="39592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dirty="0">
                <a:solidFill>
                  <a:schemeClr val="tx1"/>
                </a:solidFill>
                <a:latin typeface="楷体_GB2312" pitchFamily="1" charset="-122"/>
                <a:ea typeface="楷体_GB2312" pitchFamily="1" charset="-122"/>
              </a:rPr>
              <a:t>点</a:t>
            </a:r>
            <a:r>
              <a:rPr lang="en-US" altLang="zh-CN" dirty="0">
                <a:solidFill>
                  <a:schemeClr val="tx1"/>
                </a:solidFill>
                <a:latin typeface="楷体_GB2312" pitchFamily="1" charset="-122"/>
                <a:ea typeface="楷体_GB2312" pitchFamily="1" charset="-122"/>
              </a:rPr>
              <a:t>F</a:t>
            </a:r>
            <a:r>
              <a:rPr lang="zh-CN" altLang="en-US" dirty="0">
                <a:solidFill>
                  <a:schemeClr val="tx1"/>
                </a:solidFill>
                <a:latin typeface="楷体_GB2312" pitchFamily="1" charset="-122"/>
                <a:ea typeface="楷体_GB2312" pitchFamily="1" charset="-122"/>
              </a:rPr>
              <a:t>为线段</a:t>
            </a:r>
            <a:r>
              <a:rPr lang="en-US" altLang="zh-CN" dirty="0">
                <a:solidFill>
                  <a:schemeClr val="tx1"/>
                </a:solidFill>
                <a:latin typeface="楷体_GB2312" pitchFamily="1" charset="-122"/>
                <a:ea typeface="楷体_GB2312" pitchFamily="1" charset="-122"/>
              </a:rPr>
              <a:t>CA</a:t>
            </a:r>
            <a:r>
              <a:rPr lang="zh-TW" altLang="en-US" dirty="0">
                <a:solidFill>
                  <a:schemeClr val="tx1"/>
                </a:solidFill>
                <a:latin typeface="楷体_GB2312" pitchFamily="1" charset="-122"/>
                <a:ea typeface="楷体_GB2312" pitchFamily="1" charset="-122"/>
              </a:rPr>
              <a:t>黃金分割</a:t>
            </a:r>
            <a:r>
              <a:rPr lang="zh-CN" altLang="en-US" dirty="0">
                <a:solidFill>
                  <a:schemeClr val="tx1"/>
                </a:solidFill>
                <a:latin typeface="楷体_GB2312" pitchFamily="1" charset="-122"/>
                <a:ea typeface="楷体_GB2312" pitchFamily="1" charset="-122"/>
              </a:rPr>
              <a:t>点。点</a:t>
            </a:r>
            <a:r>
              <a:rPr lang="en-US" altLang="zh-CN" dirty="0">
                <a:solidFill>
                  <a:schemeClr val="tx1"/>
                </a:solidFill>
                <a:latin typeface="楷体_GB2312" pitchFamily="1" charset="-122"/>
                <a:ea typeface="楷体_GB2312" pitchFamily="1" charset="-122"/>
              </a:rPr>
              <a:t>G</a:t>
            </a:r>
            <a:r>
              <a:rPr lang="zh-CN" altLang="en-US" dirty="0">
                <a:solidFill>
                  <a:schemeClr val="tx1"/>
                </a:solidFill>
                <a:latin typeface="楷体_GB2312" pitchFamily="1" charset="-122"/>
                <a:ea typeface="楷体_GB2312" pitchFamily="1" charset="-122"/>
              </a:rPr>
              <a:t>为线段</a:t>
            </a:r>
            <a:r>
              <a:rPr lang="en-US" altLang="zh-CN" dirty="0">
                <a:solidFill>
                  <a:schemeClr val="tx1"/>
                </a:solidFill>
                <a:latin typeface="楷体_GB2312" pitchFamily="1" charset="-122"/>
                <a:ea typeface="楷体_GB2312" pitchFamily="1" charset="-122"/>
              </a:rPr>
              <a:t>CF</a:t>
            </a:r>
            <a:r>
              <a:rPr lang="zh-TW" altLang="en-US" dirty="0">
                <a:solidFill>
                  <a:schemeClr val="tx1"/>
                </a:solidFill>
                <a:latin typeface="楷体_GB2312" pitchFamily="1" charset="-122"/>
                <a:ea typeface="楷体_GB2312" pitchFamily="1" charset="-122"/>
              </a:rPr>
              <a:t>黃金分割</a:t>
            </a:r>
            <a:r>
              <a:rPr lang="zh-CN" altLang="en-US" dirty="0">
                <a:solidFill>
                  <a:schemeClr val="tx1"/>
                </a:solidFill>
                <a:latin typeface="楷体_GB2312" pitchFamily="1" charset="-122"/>
                <a:ea typeface="楷体_GB2312" pitchFamily="1" charset="-122"/>
              </a:rPr>
              <a:t>点。</a:t>
            </a:r>
          </a:p>
        </p:txBody>
      </p:sp>
      <p:sp>
        <p:nvSpPr>
          <p:cNvPr id="43015" name="WordArt 9"/>
          <p:cNvSpPr>
            <a:spLocks noChangeArrowheads="1" noChangeShapeType="1" noTextEdit="1"/>
          </p:cNvSpPr>
          <p:nvPr/>
        </p:nvSpPr>
        <p:spPr bwMode="auto">
          <a:xfrm>
            <a:off x="3627438" y="233363"/>
            <a:ext cx="2070100" cy="765175"/>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zh-CN" altLang="en-US" sz="3600">
                <a:gradFill rotWithShape="1">
                  <a:gsLst>
                    <a:gs pos="0">
                      <a:srgbClr val="FFFF00"/>
                    </a:gs>
                    <a:gs pos="100000">
                      <a:srgbClr val="FF9933"/>
                    </a:gs>
                  </a:gsLst>
                  <a:path path="rect">
                    <a:fillToRect l="50000" t="50000" r="50000" b="50000"/>
                  </a:path>
                </a:gradFill>
                <a:effectLst>
                  <a:outerShdw dist="35921" dir="2700000" algn="ctr" rotWithShape="0">
                    <a:srgbClr val="C0C0C0">
                      <a:alpha val="78999"/>
                    </a:srgbClr>
                  </a:outerShdw>
                </a:effectLst>
                <a:latin typeface="宋体"/>
                <a:ea typeface="宋体"/>
              </a:rPr>
              <a:t>黄金比例</a:t>
            </a:r>
          </a:p>
        </p:txBody>
      </p:sp>
      <p:sp>
        <p:nvSpPr>
          <p:cNvPr id="43016" name="WordArt 10"/>
          <p:cNvSpPr>
            <a:spLocks noChangeArrowheads="1" noChangeShapeType="1" noTextEdit="1"/>
          </p:cNvSpPr>
          <p:nvPr/>
        </p:nvSpPr>
        <p:spPr bwMode="auto">
          <a:xfrm>
            <a:off x="1466850" y="3789363"/>
            <a:ext cx="2070100" cy="765175"/>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zh-CN" altLang="en-US" sz="3600">
                <a:gradFill rotWithShape="1">
                  <a:gsLst>
                    <a:gs pos="0">
                      <a:srgbClr val="FFFF00"/>
                    </a:gs>
                    <a:gs pos="100000">
                      <a:srgbClr val="FF9933"/>
                    </a:gs>
                  </a:gsLst>
                  <a:path path="rect">
                    <a:fillToRect l="50000" t="50000" r="50000" b="50000"/>
                  </a:path>
                </a:gradFill>
                <a:effectLst>
                  <a:outerShdw dist="35921" dir="2700000" algn="ctr" rotWithShape="0">
                    <a:srgbClr val="C0C0C0">
                      <a:alpha val="78999"/>
                    </a:srgbClr>
                  </a:outerShdw>
                </a:effectLst>
                <a:latin typeface="宋体"/>
                <a:ea typeface="宋体"/>
              </a:rPr>
              <a:t>黄金三角形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2" presetClass="emph" presetSubtype="0" fill="hold" nodeType="clickEffect">
                                  <p:stCondLst>
                                    <p:cond delay="0"/>
                                  </p:stCondLst>
                                  <p:childTnLst>
                                    <p:animClr clrSpc="rgb" dir="cw">
                                      <p:cBhvr override="childStyle">
                                        <p:cTn id="6" dur="100" fill="hold"/>
                                        <p:tgtEl>
                                          <p:spTgt spid="43011">
                                            <p:txEl>
                                              <p:pRg st="1" end="1"/>
                                            </p:txEl>
                                          </p:spTgt>
                                        </p:tgtEl>
                                        <p:attrNameLst>
                                          <p:attrName>style.color</p:attrName>
                                        </p:attrNameLst>
                                      </p:cBhvr>
                                      <p:to>
                                        <a:schemeClr val="accent2"/>
                                      </p:to>
                                    </p:animClr>
                                    <p:animClr clrSpc="rgb" dir="cw">
                                      <p:cBhvr>
                                        <p:cTn id="7" dur="100" fill="hold"/>
                                        <p:tgtEl>
                                          <p:spTgt spid="43011">
                                            <p:txEl>
                                              <p:pRg st="1" end="1"/>
                                            </p:txEl>
                                          </p:spTgt>
                                        </p:tgtEl>
                                        <p:attrNameLst>
                                          <p:attrName>fillcolor</p:attrName>
                                        </p:attrNameLst>
                                      </p:cBhvr>
                                      <p:to>
                                        <a:schemeClr val="accent2"/>
                                      </p:to>
                                    </p:animClr>
                                    <p:set>
                                      <p:cBhvr>
                                        <p:cTn id="8" dur="100" fill="hold"/>
                                        <p:tgtEl>
                                          <p:spTgt spid="43011">
                                            <p:txEl>
                                              <p:pRg st="1" end="1"/>
                                            </p:txEl>
                                          </p:spTgt>
                                        </p:tgtEl>
                                        <p:attrNameLst>
                                          <p:attrName>fill.type</p:attrName>
                                        </p:attrNameLst>
                                      </p:cBhvr>
                                      <p:to>
                                        <p:strVal val="solid"/>
                                      </p:to>
                                    </p:set>
                                    <p:set>
                                      <p:cBhvr>
                                        <p:cTn id="9" dur="100" fill="hold"/>
                                        <p:tgtEl>
                                          <p:spTgt spid="43011">
                                            <p:txEl>
                                              <p:pRg st="1" end="1"/>
                                            </p:txEl>
                                          </p:spTgt>
                                        </p:tgtEl>
                                        <p:attrNameLst>
                                          <p:attrName>fill.on</p:attrName>
                                        </p:attrNameLst>
                                      </p:cBhvr>
                                      <p:to>
                                        <p:strVal val="true"/>
                                      </p:to>
                                    </p:set>
                                    <p:animRot by="120000">
                                      <p:cBhvr>
                                        <p:cTn id="10" dur="100" fill="hold">
                                          <p:stCondLst>
                                            <p:cond delay="0"/>
                                          </p:stCondLst>
                                        </p:cTn>
                                        <p:tgtEl>
                                          <p:spTgt spid="43011">
                                            <p:txEl>
                                              <p:pRg st="1" end="1"/>
                                            </p:txEl>
                                          </p:spTgt>
                                        </p:tgtEl>
                                        <p:attrNameLst>
                                          <p:attrName>r</p:attrName>
                                        </p:attrNameLst>
                                      </p:cBhvr>
                                    </p:animRot>
                                    <p:animRot by="-239940">
                                      <p:cBhvr>
                                        <p:cTn id="11" dur="200" fill="hold">
                                          <p:stCondLst>
                                            <p:cond delay="200"/>
                                          </p:stCondLst>
                                        </p:cTn>
                                        <p:tgtEl>
                                          <p:spTgt spid="43011">
                                            <p:txEl>
                                              <p:pRg st="1" end="1"/>
                                            </p:txEl>
                                          </p:spTgt>
                                        </p:tgtEl>
                                        <p:attrNameLst>
                                          <p:attrName>r</p:attrName>
                                        </p:attrNameLst>
                                      </p:cBhvr>
                                    </p:animRot>
                                    <p:animRot by="240000">
                                      <p:cBhvr>
                                        <p:cTn id="12" dur="200" fill="hold">
                                          <p:stCondLst>
                                            <p:cond delay="400"/>
                                          </p:stCondLst>
                                        </p:cTn>
                                        <p:tgtEl>
                                          <p:spTgt spid="43011">
                                            <p:txEl>
                                              <p:pRg st="1" end="1"/>
                                            </p:txEl>
                                          </p:spTgt>
                                        </p:tgtEl>
                                        <p:attrNameLst>
                                          <p:attrName>r</p:attrName>
                                        </p:attrNameLst>
                                      </p:cBhvr>
                                    </p:animRot>
                                    <p:animRot by="-239940">
                                      <p:cBhvr>
                                        <p:cTn id="13" dur="200" fill="hold">
                                          <p:stCondLst>
                                            <p:cond delay="600"/>
                                          </p:stCondLst>
                                        </p:cTn>
                                        <p:tgtEl>
                                          <p:spTgt spid="43011">
                                            <p:txEl>
                                              <p:pRg st="1" end="1"/>
                                            </p:txEl>
                                          </p:spTgt>
                                        </p:tgtEl>
                                        <p:attrNameLst>
                                          <p:attrName>r</p:attrName>
                                        </p:attrNameLst>
                                      </p:cBhvr>
                                    </p:animRot>
                                    <p:animRot by="120000">
                                      <p:cBhvr>
                                        <p:cTn id="14" dur="200" fill="hold">
                                          <p:stCondLst>
                                            <p:cond delay="800"/>
                                          </p:stCondLst>
                                        </p:cTn>
                                        <p:tgtEl>
                                          <p:spTgt spid="43011">
                                            <p:txEl>
                                              <p:pRg st="1" end="1"/>
                                            </p:txEl>
                                          </p:spTgt>
                                        </p:tgtEl>
                                        <p:attrNameLst>
                                          <p:attrName>r</p:attrName>
                                        </p:attrNameLst>
                                      </p:cBhvr>
                                    </p:animRot>
                                  </p:childTnLst>
                                </p:cTn>
                              </p:par>
                            </p:childTnLst>
                          </p:cTn>
                        </p:par>
                      </p:childTnLst>
                    </p:cTn>
                  </p:par>
                  <p:par>
                    <p:cTn id="15" fill="hold" nodeType="clickPar">
                      <p:stCondLst>
                        <p:cond delay="indefinite"/>
                      </p:stCondLst>
                      <p:childTnLst>
                        <p:par>
                          <p:cTn id="16" fill="hold" nodeType="withGroup">
                            <p:stCondLst>
                              <p:cond delay="0"/>
                            </p:stCondLst>
                            <p:childTnLst>
                              <p:par>
                                <p:cTn id="17" presetID="32" presetClass="emph" presetSubtype="0" fill="hold" nodeType="clickEffect">
                                  <p:stCondLst>
                                    <p:cond delay="0"/>
                                  </p:stCondLst>
                                  <p:childTnLst>
                                    <p:animClr clrSpc="rgb" dir="cw">
                                      <p:cBhvr override="childStyle">
                                        <p:cTn id="18" dur="100" fill="hold"/>
                                        <p:tgtEl>
                                          <p:spTgt spid="43011">
                                            <p:txEl>
                                              <p:pRg st="2" end="2"/>
                                            </p:txEl>
                                          </p:spTgt>
                                        </p:tgtEl>
                                        <p:attrNameLst>
                                          <p:attrName>style.color</p:attrName>
                                        </p:attrNameLst>
                                      </p:cBhvr>
                                      <p:to>
                                        <a:schemeClr val="accent2"/>
                                      </p:to>
                                    </p:animClr>
                                    <p:animClr clrSpc="rgb" dir="cw">
                                      <p:cBhvr>
                                        <p:cTn id="19" dur="100" fill="hold"/>
                                        <p:tgtEl>
                                          <p:spTgt spid="43011">
                                            <p:txEl>
                                              <p:pRg st="2" end="2"/>
                                            </p:txEl>
                                          </p:spTgt>
                                        </p:tgtEl>
                                        <p:attrNameLst>
                                          <p:attrName>fillcolor</p:attrName>
                                        </p:attrNameLst>
                                      </p:cBhvr>
                                      <p:to>
                                        <a:schemeClr val="accent2"/>
                                      </p:to>
                                    </p:animClr>
                                    <p:set>
                                      <p:cBhvr>
                                        <p:cTn id="20" dur="100" fill="hold"/>
                                        <p:tgtEl>
                                          <p:spTgt spid="43011">
                                            <p:txEl>
                                              <p:pRg st="2" end="2"/>
                                            </p:txEl>
                                          </p:spTgt>
                                        </p:tgtEl>
                                        <p:attrNameLst>
                                          <p:attrName>fill.type</p:attrName>
                                        </p:attrNameLst>
                                      </p:cBhvr>
                                      <p:to>
                                        <p:strVal val="solid"/>
                                      </p:to>
                                    </p:set>
                                    <p:set>
                                      <p:cBhvr>
                                        <p:cTn id="21" dur="100" fill="hold"/>
                                        <p:tgtEl>
                                          <p:spTgt spid="43011">
                                            <p:txEl>
                                              <p:pRg st="2" end="2"/>
                                            </p:txEl>
                                          </p:spTgt>
                                        </p:tgtEl>
                                        <p:attrNameLst>
                                          <p:attrName>fill.on</p:attrName>
                                        </p:attrNameLst>
                                      </p:cBhvr>
                                      <p:to>
                                        <p:strVal val="true"/>
                                      </p:to>
                                    </p:set>
                                    <p:animRot by="120000">
                                      <p:cBhvr>
                                        <p:cTn id="22" dur="100" fill="hold">
                                          <p:stCondLst>
                                            <p:cond delay="0"/>
                                          </p:stCondLst>
                                        </p:cTn>
                                        <p:tgtEl>
                                          <p:spTgt spid="43011">
                                            <p:txEl>
                                              <p:pRg st="2" end="2"/>
                                            </p:txEl>
                                          </p:spTgt>
                                        </p:tgtEl>
                                        <p:attrNameLst>
                                          <p:attrName>r</p:attrName>
                                        </p:attrNameLst>
                                      </p:cBhvr>
                                    </p:animRot>
                                    <p:animRot by="-239940">
                                      <p:cBhvr>
                                        <p:cTn id="23" dur="200" fill="hold">
                                          <p:stCondLst>
                                            <p:cond delay="200"/>
                                          </p:stCondLst>
                                        </p:cTn>
                                        <p:tgtEl>
                                          <p:spTgt spid="43011">
                                            <p:txEl>
                                              <p:pRg st="2" end="2"/>
                                            </p:txEl>
                                          </p:spTgt>
                                        </p:tgtEl>
                                        <p:attrNameLst>
                                          <p:attrName>r</p:attrName>
                                        </p:attrNameLst>
                                      </p:cBhvr>
                                    </p:animRot>
                                    <p:animRot by="240000">
                                      <p:cBhvr>
                                        <p:cTn id="24" dur="200" fill="hold">
                                          <p:stCondLst>
                                            <p:cond delay="400"/>
                                          </p:stCondLst>
                                        </p:cTn>
                                        <p:tgtEl>
                                          <p:spTgt spid="43011">
                                            <p:txEl>
                                              <p:pRg st="2" end="2"/>
                                            </p:txEl>
                                          </p:spTgt>
                                        </p:tgtEl>
                                        <p:attrNameLst>
                                          <p:attrName>r</p:attrName>
                                        </p:attrNameLst>
                                      </p:cBhvr>
                                    </p:animRot>
                                    <p:animRot by="-239940">
                                      <p:cBhvr>
                                        <p:cTn id="25" dur="200" fill="hold">
                                          <p:stCondLst>
                                            <p:cond delay="600"/>
                                          </p:stCondLst>
                                        </p:cTn>
                                        <p:tgtEl>
                                          <p:spTgt spid="43011">
                                            <p:txEl>
                                              <p:pRg st="2" end="2"/>
                                            </p:txEl>
                                          </p:spTgt>
                                        </p:tgtEl>
                                        <p:attrNameLst>
                                          <p:attrName>r</p:attrName>
                                        </p:attrNameLst>
                                      </p:cBhvr>
                                    </p:animRot>
                                    <p:animRot by="120000">
                                      <p:cBhvr>
                                        <p:cTn id="26" dur="200" fill="hold">
                                          <p:stCondLst>
                                            <p:cond delay="800"/>
                                          </p:stCondLst>
                                        </p:cTn>
                                        <p:tgtEl>
                                          <p:spTgt spid="43011">
                                            <p:txEl>
                                              <p:pRg st="2" end="2"/>
                                            </p:txEl>
                                          </p:spTgt>
                                        </p:tgtEl>
                                        <p:attrNameLst>
                                          <p:attrName>r</p:attrName>
                                        </p:attrNameLst>
                                      </p:cBhvr>
                                    </p:animRot>
                                  </p:childTnLst>
                                </p:cTn>
                              </p:par>
                            </p:childTnLst>
                          </p:cTn>
                        </p:par>
                      </p:childTnLst>
                    </p:cTn>
                  </p:par>
                  <p:par>
                    <p:cTn id="27" fill="hold" nodeType="clickPar">
                      <p:stCondLst>
                        <p:cond delay="indefinite"/>
                      </p:stCondLst>
                      <p:childTnLst>
                        <p:par>
                          <p:cTn id="28" fill="hold" nodeType="withGroup">
                            <p:stCondLst>
                              <p:cond delay="0"/>
                            </p:stCondLst>
                            <p:childTnLst>
                              <p:par>
                                <p:cTn id="29" presetID="32" presetClass="emph" presetSubtype="0" fill="hold" nodeType="clickEffect">
                                  <p:stCondLst>
                                    <p:cond delay="0"/>
                                  </p:stCondLst>
                                  <p:childTnLst>
                                    <p:animClr clrSpc="rgb" dir="cw">
                                      <p:cBhvr override="childStyle">
                                        <p:cTn id="30" dur="100" fill="hold"/>
                                        <p:tgtEl>
                                          <p:spTgt spid="43011">
                                            <p:txEl>
                                              <p:pRg st="3" end="3"/>
                                            </p:txEl>
                                          </p:spTgt>
                                        </p:tgtEl>
                                        <p:attrNameLst>
                                          <p:attrName>style.color</p:attrName>
                                        </p:attrNameLst>
                                      </p:cBhvr>
                                      <p:to>
                                        <a:schemeClr val="accent2"/>
                                      </p:to>
                                    </p:animClr>
                                    <p:animClr clrSpc="rgb" dir="cw">
                                      <p:cBhvr>
                                        <p:cTn id="31" dur="100" fill="hold"/>
                                        <p:tgtEl>
                                          <p:spTgt spid="43011">
                                            <p:txEl>
                                              <p:pRg st="3" end="3"/>
                                            </p:txEl>
                                          </p:spTgt>
                                        </p:tgtEl>
                                        <p:attrNameLst>
                                          <p:attrName>fillcolor</p:attrName>
                                        </p:attrNameLst>
                                      </p:cBhvr>
                                      <p:to>
                                        <a:schemeClr val="accent2"/>
                                      </p:to>
                                    </p:animClr>
                                    <p:set>
                                      <p:cBhvr>
                                        <p:cTn id="32" dur="100" fill="hold"/>
                                        <p:tgtEl>
                                          <p:spTgt spid="43011">
                                            <p:txEl>
                                              <p:pRg st="3" end="3"/>
                                            </p:txEl>
                                          </p:spTgt>
                                        </p:tgtEl>
                                        <p:attrNameLst>
                                          <p:attrName>fill.type</p:attrName>
                                        </p:attrNameLst>
                                      </p:cBhvr>
                                      <p:to>
                                        <p:strVal val="solid"/>
                                      </p:to>
                                    </p:set>
                                    <p:set>
                                      <p:cBhvr>
                                        <p:cTn id="33" dur="100" fill="hold"/>
                                        <p:tgtEl>
                                          <p:spTgt spid="43011">
                                            <p:txEl>
                                              <p:pRg st="3" end="3"/>
                                            </p:txEl>
                                          </p:spTgt>
                                        </p:tgtEl>
                                        <p:attrNameLst>
                                          <p:attrName>fill.on</p:attrName>
                                        </p:attrNameLst>
                                      </p:cBhvr>
                                      <p:to>
                                        <p:strVal val="true"/>
                                      </p:to>
                                    </p:set>
                                    <p:animRot by="120000">
                                      <p:cBhvr>
                                        <p:cTn id="34" dur="100" fill="hold">
                                          <p:stCondLst>
                                            <p:cond delay="0"/>
                                          </p:stCondLst>
                                        </p:cTn>
                                        <p:tgtEl>
                                          <p:spTgt spid="43011">
                                            <p:txEl>
                                              <p:pRg st="3" end="3"/>
                                            </p:txEl>
                                          </p:spTgt>
                                        </p:tgtEl>
                                        <p:attrNameLst>
                                          <p:attrName>r</p:attrName>
                                        </p:attrNameLst>
                                      </p:cBhvr>
                                    </p:animRot>
                                    <p:animRot by="-239940">
                                      <p:cBhvr>
                                        <p:cTn id="35" dur="200" fill="hold">
                                          <p:stCondLst>
                                            <p:cond delay="200"/>
                                          </p:stCondLst>
                                        </p:cTn>
                                        <p:tgtEl>
                                          <p:spTgt spid="43011">
                                            <p:txEl>
                                              <p:pRg st="3" end="3"/>
                                            </p:txEl>
                                          </p:spTgt>
                                        </p:tgtEl>
                                        <p:attrNameLst>
                                          <p:attrName>r</p:attrName>
                                        </p:attrNameLst>
                                      </p:cBhvr>
                                    </p:animRot>
                                    <p:animRot by="240000">
                                      <p:cBhvr>
                                        <p:cTn id="36" dur="200" fill="hold">
                                          <p:stCondLst>
                                            <p:cond delay="400"/>
                                          </p:stCondLst>
                                        </p:cTn>
                                        <p:tgtEl>
                                          <p:spTgt spid="43011">
                                            <p:txEl>
                                              <p:pRg st="3" end="3"/>
                                            </p:txEl>
                                          </p:spTgt>
                                        </p:tgtEl>
                                        <p:attrNameLst>
                                          <p:attrName>r</p:attrName>
                                        </p:attrNameLst>
                                      </p:cBhvr>
                                    </p:animRot>
                                    <p:animRot by="-239940">
                                      <p:cBhvr>
                                        <p:cTn id="37" dur="200" fill="hold">
                                          <p:stCondLst>
                                            <p:cond delay="600"/>
                                          </p:stCondLst>
                                        </p:cTn>
                                        <p:tgtEl>
                                          <p:spTgt spid="43011">
                                            <p:txEl>
                                              <p:pRg st="3" end="3"/>
                                            </p:txEl>
                                          </p:spTgt>
                                        </p:tgtEl>
                                        <p:attrNameLst>
                                          <p:attrName>r</p:attrName>
                                        </p:attrNameLst>
                                      </p:cBhvr>
                                    </p:animRot>
                                    <p:animRot by="120000">
                                      <p:cBhvr>
                                        <p:cTn id="38" dur="200" fill="hold">
                                          <p:stCondLst>
                                            <p:cond delay="800"/>
                                          </p:stCondLst>
                                        </p:cTn>
                                        <p:tgtEl>
                                          <p:spTgt spid="43011">
                                            <p:txEl>
                                              <p:pRg st="3" end="3"/>
                                            </p:txEl>
                                          </p:spTgt>
                                        </p:tgtEl>
                                        <p:attrNameLst>
                                          <p:attrName>r</p:attrName>
                                        </p:attrNameLst>
                                      </p:cBhvr>
                                    </p:animRo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43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4"/>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2E1A2E4C-6EF5-4840-AB3B-4893DEED7F36}" type="slidenum">
              <a:rPr lang="en-US" altLang="zh-CN" sz="1200">
                <a:solidFill>
                  <a:schemeClr val="tx1"/>
                </a:solidFill>
                <a:latin typeface="Garamond" pitchFamily="18" charset="0"/>
              </a:rPr>
              <a:pPr algn="r" eaLnBrk="1" hangingPunct="1">
                <a:spcBef>
                  <a:spcPct val="0"/>
                </a:spcBef>
              </a:pPr>
              <a:t>41</a:t>
            </a:fld>
            <a:endParaRPr lang="en-US" altLang="zh-CN" sz="1200">
              <a:solidFill>
                <a:schemeClr val="tx1"/>
              </a:solidFill>
              <a:latin typeface="Garamond" pitchFamily="18" charset="0"/>
            </a:endParaRPr>
          </a:p>
        </p:txBody>
      </p:sp>
      <p:sp>
        <p:nvSpPr>
          <p:cNvPr id="44035" name="Text Box 4"/>
          <p:cNvSpPr txBox="1">
            <a:spLocks noChangeArrowheads="1"/>
          </p:cNvSpPr>
          <p:nvPr/>
        </p:nvSpPr>
        <p:spPr bwMode="auto">
          <a:xfrm>
            <a:off x="206375" y="233363"/>
            <a:ext cx="8686800" cy="126047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Clr>
                <a:srgbClr val="FF0066"/>
              </a:buClr>
              <a:buFont typeface="Wingdings" pitchFamily="2" charset="2"/>
              <a:buNone/>
            </a:pPr>
            <a:r>
              <a:rPr lang="zh-CN" altLang="en-US" b="1" dirty="0">
                <a:solidFill>
                  <a:srgbClr val="FF0000"/>
                </a:solidFill>
                <a:latin typeface="方正粗黑宋简体" panose="02000000000000000000" pitchFamily="2" charset="-122"/>
                <a:ea typeface="方正粗黑宋简体" panose="02000000000000000000" pitchFamily="2" charset="-122"/>
              </a:rPr>
              <a:t>黄金矩形的顶角位于十二面体的十二个表面中心</a:t>
            </a:r>
            <a:r>
              <a:rPr lang="zh-CN" altLang="en-US" dirty="0">
                <a:solidFill>
                  <a:schemeClr val="tx1"/>
                </a:solidFill>
                <a:latin typeface="楷体_GB2312" pitchFamily="1" charset="-122"/>
                <a:ea typeface="楷体_GB2312" pitchFamily="1" charset="-122"/>
              </a:rPr>
              <a:t>。设黄金矩形的短边半边长</a:t>
            </a:r>
            <a:r>
              <a:rPr lang="zh-CN" altLang="en-US" dirty="0" smtClean="0">
                <a:solidFill>
                  <a:schemeClr val="tx1"/>
                </a:solidFill>
                <a:latin typeface="楷体_GB2312" pitchFamily="1" charset="-122"/>
                <a:ea typeface="楷体_GB2312" pitchFamily="1" charset="-122"/>
              </a:rPr>
              <a:t>为 </a:t>
            </a:r>
            <a:r>
              <a:rPr lang="fr-FR" altLang="en-US" dirty="0" smtClean="0">
                <a:solidFill>
                  <a:schemeClr val="tx1"/>
                </a:solidFill>
                <a:latin typeface="楷体_GB2312" pitchFamily="1" charset="-122"/>
                <a:ea typeface="楷体_GB2312" pitchFamily="1" charset="-122"/>
              </a:rPr>
              <a:t>b</a:t>
            </a:r>
            <a:r>
              <a:rPr lang="zh-CN" altLang="en-US" dirty="0">
                <a:solidFill>
                  <a:schemeClr val="tx1"/>
                </a:solidFill>
                <a:latin typeface="楷体_GB2312" pitchFamily="1" charset="-122"/>
                <a:ea typeface="楷体_GB2312" pitchFamily="1" charset="-122"/>
              </a:rPr>
              <a:t>，则黄金矩形的长边半边长</a:t>
            </a:r>
            <a:r>
              <a:rPr lang="zh-CN" altLang="en-US" dirty="0" smtClean="0">
                <a:solidFill>
                  <a:schemeClr val="tx1"/>
                </a:solidFill>
                <a:latin typeface="楷体_GB2312" pitchFamily="1" charset="-122"/>
                <a:ea typeface="楷体_GB2312" pitchFamily="1" charset="-122"/>
              </a:rPr>
              <a:t>为 </a:t>
            </a:r>
            <a:r>
              <a:rPr lang="fr-FR" altLang="en-US" dirty="0" smtClean="0">
                <a:solidFill>
                  <a:schemeClr val="tx1"/>
                </a:solidFill>
                <a:latin typeface="楷体_GB2312" pitchFamily="1" charset="-122"/>
                <a:ea typeface="楷体_GB2312" pitchFamily="1" charset="-122"/>
              </a:rPr>
              <a:t>a</a:t>
            </a:r>
            <a:r>
              <a:rPr lang="zh-CN" altLang="en-US" dirty="0">
                <a:solidFill>
                  <a:schemeClr val="tx1"/>
                </a:solidFill>
                <a:latin typeface="楷体_GB2312" pitchFamily="1" charset="-122"/>
                <a:ea typeface="楷体_GB2312" pitchFamily="1" charset="-122"/>
              </a:rPr>
              <a:t>＝</a:t>
            </a:r>
            <a:r>
              <a:rPr lang="fr-FR" altLang="en-US" dirty="0">
                <a:solidFill>
                  <a:schemeClr val="tx1"/>
                </a:solidFill>
                <a:latin typeface="楷体_GB2312" pitchFamily="1" charset="-122"/>
                <a:ea typeface="楷体_GB2312" pitchFamily="1" charset="-122"/>
              </a:rPr>
              <a:t>b/</a:t>
            </a:r>
            <a:r>
              <a:rPr lang="fr-FR" altLang="en-US" dirty="0">
                <a:solidFill>
                  <a:schemeClr val="tx1"/>
                </a:solidFill>
                <a:latin typeface="楷体_GB2312" pitchFamily="1" charset="-122"/>
                <a:ea typeface="楷体_GB2312" pitchFamily="1" charset="-122"/>
                <a:sym typeface="Symbol" pitchFamily="18" charset="2"/>
              </a:rPr>
              <a:t></a:t>
            </a:r>
            <a:r>
              <a:rPr lang="zh-CN" altLang="en-US" dirty="0">
                <a:solidFill>
                  <a:schemeClr val="tx1"/>
                </a:solidFill>
                <a:latin typeface="楷体_GB2312" pitchFamily="1" charset="-122"/>
                <a:ea typeface="楷体_GB2312" pitchFamily="1" charset="-122"/>
              </a:rPr>
              <a:t>。表</a:t>
            </a:r>
            <a:r>
              <a:rPr lang="en-US" altLang="zh-CN" dirty="0">
                <a:solidFill>
                  <a:schemeClr val="tx1"/>
                </a:solidFill>
                <a:latin typeface="楷体_GB2312" pitchFamily="1" charset="-122"/>
                <a:ea typeface="楷体_GB2312" pitchFamily="1" charset="-122"/>
              </a:rPr>
              <a:t>9-10</a:t>
            </a:r>
            <a:r>
              <a:rPr lang="zh-CN" altLang="en-US" dirty="0">
                <a:solidFill>
                  <a:schemeClr val="tx1"/>
                </a:solidFill>
                <a:latin typeface="楷体_GB2312" pitchFamily="1" charset="-122"/>
                <a:ea typeface="楷体_GB2312" pitchFamily="1" charset="-122"/>
              </a:rPr>
              <a:t>为正十二面体的顶点表。 </a:t>
            </a:r>
          </a:p>
        </p:txBody>
      </p:sp>
      <p:graphicFrame>
        <p:nvGraphicFramePr>
          <p:cNvPr id="44036" name="Group 4"/>
          <p:cNvGraphicFramePr>
            <a:graphicFrameLocks noGrp="1"/>
          </p:cNvGraphicFramePr>
          <p:nvPr>
            <p:ph idx="4294967295"/>
            <p:extLst>
              <p:ext uri="{D42A27DB-BD31-4B8C-83A1-F6EECF244321}">
                <p14:modId xmlns:p14="http://schemas.microsoft.com/office/powerpoint/2010/main" val="1009705448"/>
              </p:ext>
            </p:extLst>
          </p:nvPr>
        </p:nvGraphicFramePr>
        <p:xfrm>
          <a:off x="655638" y="2001587"/>
          <a:ext cx="7561262" cy="4994277"/>
        </p:xfrm>
        <a:graphic>
          <a:graphicData uri="http://schemas.openxmlformats.org/drawingml/2006/table">
            <a:tbl>
              <a:tblPr/>
              <a:tblGrid>
                <a:gridCol w="2070100">
                  <a:extLst>
                    <a:ext uri="{9D8B030D-6E8A-4147-A177-3AD203B41FA5}">
                      <a16:colId xmlns:a16="http://schemas.microsoft.com/office/drawing/2014/main" val="20000"/>
                    </a:ext>
                  </a:extLst>
                </a:gridCol>
                <a:gridCol w="1708150">
                  <a:extLst>
                    <a:ext uri="{9D8B030D-6E8A-4147-A177-3AD203B41FA5}">
                      <a16:colId xmlns:a16="http://schemas.microsoft.com/office/drawing/2014/main" val="20001"/>
                    </a:ext>
                  </a:extLst>
                </a:gridCol>
                <a:gridCol w="1890712">
                  <a:extLst>
                    <a:ext uri="{9D8B030D-6E8A-4147-A177-3AD203B41FA5}">
                      <a16:colId xmlns:a16="http://schemas.microsoft.com/office/drawing/2014/main" val="20002"/>
                    </a:ext>
                  </a:extLst>
                </a:gridCol>
                <a:gridCol w="1892300">
                  <a:extLst>
                    <a:ext uri="{9D8B030D-6E8A-4147-A177-3AD203B41FA5}">
                      <a16:colId xmlns:a16="http://schemas.microsoft.com/office/drawing/2014/main" val="20003"/>
                    </a:ext>
                  </a:extLst>
                </a:gridCol>
              </a:tblGrid>
              <a:tr h="39687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顶点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x坐标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y坐标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z坐标</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878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0</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0</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0</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0</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037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1</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＝b</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878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2</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2</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2</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2</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037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3</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3</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3</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3</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＝a+b</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037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4</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4</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4</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4</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＝a+b</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878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5</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5</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5</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5</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＝-b</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037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6</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6</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6</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6</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878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7</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7</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7</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7</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6037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8</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8</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8</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8</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6037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9</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9</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9</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dirty="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dirty="0" smtClean="0">
                          <a:ln>
                            <a:noFill/>
                          </a:ln>
                          <a:solidFill>
                            <a:schemeClr val="tx1"/>
                          </a:solidFill>
                          <a:effectLst/>
                          <a:latin typeface="楷体_GB2312" pitchFamily="1" charset="-122"/>
                          <a:ea typeface="楷体_GB2312" pitchFamily="1" charset="-122"/>
                        </a:rPr>
                        <a:t>9</a:t>
                      </a:r>
                      <a:r>
                        <a:rPr kumimoji="0" lang="zh-CN" altLang="en-US" sz="2000" b="0" i="0" u="none" strike="noStrike" cap="none" normalizeH="0" baseline="0" dirty="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44099" name="Text Box 564"/>
          <p:cNvSpPr txBox="1">
            <a:spLocks noChangeArrowheads="1"/>
          </p:cNvSpPr>
          <p:nvPr/>
        </p:nvSpPr>
        <p:spPr bwMode="auto">
          <a:xfrm>
            <a:off x="2141538" y="1514058"/>
            <a:ext cx="409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dirty="0">
                <a:solidFill>
                  <a:schemeClr val="tx1"/>
                </a:solidFill>
                <a:latin typeface="楷体_GB2312" pitchFamily="1" charset="-122"/>
                <a:ea typeface="楷体_GB2312" pitchFamily="1" charset="-122"/>
              </a:rPr>
              <a:t>表</a:t>
            </a:r>
            <a:r>
              <a:rPr lang="en-US" altLang="zh-CN" dirty="0">
                <a:solidFill>
                  <a:schemeClr val="tx1"/>
                </a:solidFill>
                <a:latin typeface="楷体_GB2312" pitchFamily="1" charset="-122"/>
                <a:ea typeface="楷体_GB2312" pitchFamily="1" charset="-122"/>
              </a:rPr>
              <a:t>9-10 </a:t>
            </a:r>
            <a:r>
              <a:rPr lang="zh-CN" altLang="en-US" dirty="0">
                <a:solidFill>
                  <a:schemeClr val="tx1"/>
                </a:solidFill>
                <a:latin typeface="楷体_GB2312" pitchFamily="1" charset="-122"/>
                <a:ea typeface="楷体_GB2312" pitchFamily="1" charset="-122"/>
              </a:rPr>
              <a:t>正十二面体顶点表</a:t>
            </a:r>
          </a:p>
        </p:txBody>
      </p:sp>
      <p:sp>
        <p:nvSpPr>
          <p:cNvPr id="44101" name="AutoShape 570"/>
          <p:cNvSpPr>
            <a:spLocks noChangeArrowheads="1"/>
          </p:cNvSpPr>
          <p:nvPr/>
        </p:nvSpPr>
        <p:spPr bwMode="auto">
          <a:xfrm flipV="1">
            <a:off x="8216900" y="5049838"/>
            <a:ext cx="990600" cy="1169987"/>
          </a:xfrm>
          <a:custGeom>
            <a:avLst/>
            <a:gdLst>
              <a:gd name="T0" fmla="*/ 707591 w 21600"/>
              <a:gd name="T1" fmla="*/ 0 h 21600"/>
              <a:gd name="T2" fmla="*/ 424536 w 21600"/>
              <a:gd name="T3" fmla="*/ 389996 h 21600"/>
              <a:gd name="T4" fmla="*/ 0 w 21600"/>
              <a:gd name="T5" fmla="*/ 975043 h 21600"/>
              <a:gd name="T6" fmla="*/ 424536 w 21600"/>
              <a:gd name="T7" fmla="*/ 1169987 h 21600"/>
              <a:gd name="T8" fmla="*/ 849073 w 21600"/>
              <a:gd name="T9" fmla="*/ 812491 h 21600"/>
              <a:gd name="T10" fmla="*/ 990600 w 21600"/>
              <a:gd name="T11" fmla="*/ 38999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CCFFFF"/>
          </a:solidFill>
          <a:ln w="9525" cmpd="sng">
            <a:solidFill>
              <a:schemeClr val="tx1"/>
            </a:solidFill>
            <a:miter lim="800000"/>
            <a:headEnd/>
            <a:tailEnd/>
          </a:ln>
        </p:spPr>
        <p:txBody>
          <a:bodyPr rot="10800000" wrap="none"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1800" b="1">
                <a:solidFill>
                  <a:schemeClr val="tx1"/>
                </a:solidFill>
              </a:rPr>
              <a:t>接下页</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4"/>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A0332140-C102-415E-8103-19B12B6B8806}" type="slidenum">
              <a:rPr lang="en-US" altLang="zh-CN" sz="1200">
                <a:solidFill>
                  <a:schemeClr val="tx1"/>
                </a:solidFill>
                <a:latin typeface="Garamond" pitchFamily="18" charset="0"/>
              </a:rPr>
              <a:pPr algn="r" eaLnBrk="1" hangingPunct="1">
                <a:spcBef>
                  <a:spcPct val="0"/>
                </a:spcBef>
              </a:pPr>
              <a:t>42</a:t>
            </a:fld>
            <a:endParaRPr lang="en-US" altLang="zh-CN" sz="1200">
              <a:solidFill>
                <a:schemeClr val="tx1"/>
              </a:solidFill>
              <a:latin typeface="Garamond" pitchFamily="18" charset="0"/>
            </a:endParaRPr>
          </a:p>
        </p:txBody>
      </p:sp>
      <p:graphicFrame>
        <p:nvGraphicFramePr>
          <p:cNvPr id="45059" name="Group 3"/>
          <p:cNvGraphicFramePr>
            <a:graphicFrameLocks noGrp="1"/>
          </p:cNvGraphicFramePr>
          <p:nvPr>
            <p:ph idx="4294967295"/>
          </p:nvPr>
        </p:nvGraphicFramePr>
        <p:xfrm>
          <a:off x="611188" y="503238"/>
          <a:ext cx="8012112" cy="5395918"/>
        </p:xfrm>
        <a:graphic>
          <a:graphicData uri="http://schemas.openxmlformats.org/drawingml/2006/table">
            <a:tbl>
              <a:tblPr/>
              <a:tblGrid>
                <a:gridCol w="1998662">
                  <a:extLst>
                    <a:ext uri="{9D8B030D-6E8A-4147-A177-3AD203B41FA5}">
                      <a16:colId xmlns:a16="http://schemas.microsoft.com/office/drawing/2014/main" val="20000"/>
                    </a:ext>
                  </a:extLst>
                </a:gridCol>
                <a:gridCol w="2005013">
                  <a:extLst>
                    <a:ext uri="{9D8B030D-6E8A-4147-A177-3AD203B41FA5}">
                      <a16:colId xmlns:a16="http://schemas.microsoft.com/office/drawing/2014/main" val="20001"/>
                    </a:ext>
                  </a:extLst>
                </a:gridCol>
                <a:gridCol w="2003425">
                  <a:extLst>
                    <a:ext uri="{9D8B030D-6E8A-4147-A177-3AD203B41FA5}">
                      <a16:colId xmlns:a16="http://schemas.microsoft.com/office/drawing/2014/main" val="20002"/>
                    </a:ext>
                  </a:extLst>
                </a:gridCol>
                <a:gridCol w="2005012">
                  <a:extLst>
                    <a:ext uri="{9D8B030D-6E8A-4147-A177-3AD203B41FA5}">
                      <a16:colId xmlns:a16="http://schemas.microsoft.com/office/drawing/2014/main" val="20003"/>
                    </a:ext>
                  </a:extLst>
                </a:gridCol>
              </a:tblGrid>
              <a:tr h="49053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顶点</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x坐标</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y坐标</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z坐标</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053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10</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10</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10</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10</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＝-a-b</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053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11</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11</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11</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11</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053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12</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12</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12</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12</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053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13</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13</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13</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13</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053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14</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14</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14</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14</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＝b</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9053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15</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15</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15</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15</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053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16</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16</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16</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16</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9053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17</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17</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17</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17</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＝-a-b</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9053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18</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18</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18</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18</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9053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2000" b="0" i="0" u="none" strike="noStrike" cap="none" normalizeH="0" baseline="-30000" smtClean="0">
                          <a:ln>
                            <a:noFill/>
                          </a:ln>
                          <a:solidFill>
                            <a:schemeClr val="tx1"/>
                          </a:solidFill>
                          <a:effectLst/>
                          <a:latin typeface="楷体_GB2312" pitchFamily="1" charset="-122"/>
                          <a:ea typeface="楷体_GB2312" pitchFamily="1" charset="-122"/>
                        </a:rPr>
                        <a:t>19</a:t>
                      </a:r>
                      <a:endParaRPr kumimoji="0" lang="en-US" altLang="zh-CN" sz="2000" b="0" i="0" u="none" strike="noStrike" cap="none" normalizeH="0" baseline="0" smtClean="0">
                        <a:ln>
                          <a:noFill/>
                        </a:ln>
                        <a:solidFill>
                          <a:schemeClr val="tx1"/>
                        </a:solidFill>
                        <a:effectLst/>
                        <a:latin typeface="楷体_GB2312" pitchFamily="1" charset="-122"/>
                        <a:ea typeface="楷体_GB2312" pitchFamily="1"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19</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＝-a-b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19</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2000" b="0" i="0" u="none" strike="noStrike" cap="none" normalizeH="0" baseline="-30000" smtClean="0">
                          <a:ln>
                            <a:noFill/>
                          </a:ln>
                          <a:solidFill>
                            <a:schemeClr val="tx1"/>
                          </a:solidFill>
                          <a:effectLst/>
                          <a:latin typeface="楷体_GB2312" pitchFamily="1" charset="-122"/>
                          <a:ea typeface="楷体_GB2312" pitchFamily="1" charset="-122"/>
                        </a:rPr>
                        <a:t>19</a:t>
                      </a: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＝-b</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37D4D5D5-DCB2-41C5-9D4E-B2F0C18CC59A}" type="slidenum">
              <a:rPr lang="en-US" altLang="zh-CN" sz="1200">
                <a:solidFill>
                  <a:schemeClr val="tx1"/>
                </a:solidFill>
                <a:latin typeface="Garamond" pitchFamily="18" charset="0"/>
              </a:rPr>
              <a:pPr algn="r" eaLnBrk="1" hangingPunct="1">
                <a:spcBef>
                  <a:spcPct val="0"/>
                </a:spcBef>
              </a:pPr>
              <a:t>43</a:t>
            </a:fld>
            <a:endParaRPr lang="en-US" altLang="zh-CN" sz="1200">
              <a:solidFill>
                <a:schemeClr val="tx1"/>
              </a:solidFill>
              <a:latin typeface="Garamond" pitchFamily="18" charset="0"/>
            </a:endParaRPr>
          </a:p>
        </p:txBody>
      </p:sp>
      <p:sp>
        <p:nvSpPr>
          <p:cNvPr id="46083" name="Rectangle 57"/>
          <p:cNvSpPr>
            <a:spLocks noChangeArrowheads="1"/>
          </p:cNvSpPr>
          <p:nvPr/>
        </p:nvSpPr>
        <p:spPr bwMode="auto">
          <a:xfrm>
            <a:off x="3446463" y="5949950"/>
            <a:ext cx="3105150" cy="39687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b" anchorCtr="1">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fr-FR" altLang="en-US" sz="2000">
                <a:solidFill>
                  <a:schemeClr val="tx1"/>
                </a:solidFill>
                <a:latin typeface="楷体_GB2312" pitchFamily="1" charset="-122"/>
                <a:ea typeface="楷体_GB2312" pitchFamily="1" charset="-122"/>
              </a:rPr>
              <a:t>9-23 </a:t>
            </a:r>
            <a:r>
              <a:rPr lang="zh-CN" altLang="en-US" sz="2000">
                <a:solidFill>
                  <a:schemeClr val="tx1"/>
                </a:solidFill>
                <a:latin typeface="楷体_GB2312" pitchFamily="1" charset="-122"/>
                <a:ea typeface="楷体_GB2312" pitchFamily="1" charset="-122"/>
              </a:rPr>
              <a:t>正十二面体展开图</a:t>
            </a:r>
          </a:p>
        </p:txBody>
      </p:sp>
      <p:graphicFrame>
        <p:nvGraphicFramePr>
          <p:cNvPr id="46085" name="Object 138"/>
          <p:cNvGraphicFramePr>
            <a:graphicFrameLocks noChangeAspect="1"/>
          </p:cNvGraphicFramePr>
          <p:nvPr/>
        </p:nvGraphicFramePr>
        <p:xfrm>
          <a:off x="927100" y="549275"/>
          <a:ext cx="7245350" cy="5143500"/>
        </p:xfrm>
        <a:graphic>
          <a:graphicData uri="http://schemas.openxmlformats.org/presentationml/2006/ole">
            <mc:AlternateContent xmlns:mc="http://schemas.openxmlformats.org/markup-compatibility/2006">
              <mc:Choice xmlns:v="urn:schemas-microsoft-com:vml" Requires="v">
                <p:oleObj spid="_x0000_s46110" r:id="rId3" imgW="5285448" imgH="4343940" progId="Visio.Drawing.11">
                  <p:embed/>
                </p:oleObj>
              </mc:Choice>
              <mc:Fallback>
                <p:oleObj r:id="rId3" imgW="5285448" imgH="4343940" progId="Visio.Drawing.11">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t="1808" b="11748"/>
                      <a:stretch>
                        <a:fillRect/>
                      </a:stretch>
                    </p:blipFill>
                    <p:spPr bwMode="auto">
                      <a:xfrm>
                        <a:off x="927100" y="549275"/>
                        <a:ext cx="7245350" cy="5143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12D98966-8FDA-44F5-BDE2-D3A1A4100DBD}" type="slidenum">
              <a:rPr lang="en-US" altLang="zh-CN" sz="1200">
                <a:solidFill>
                  <a:schemeClr val="tx1"/>
                </a:solidFill>
                <a:latin typeface="Garamond" pitchFamily="18" charset="0"/>
              </a:rPr>
              <a:pPr algn="r" eaLnBrk="1" hangingPunct="1">
                <a:spcBef>
                  <a:spcPct val="0"/>
                </a:spcBef>
              </a:pPr>
              <a:t>44</a:t>
            </a:fld>
            <a:endParaRPr lang="en-US" altLang="zh-CN" sz="1200">
              <a:solidFill>
                <a:schemeClr val="tx1"/>
              </a:solidFill>
              <a:latin typeface="Garamond" pitchFamily="18" charset="0"/>
            </a:endParaRPr>
          </a:p>
        </p:txBody>
      </p:sp>
      <p:sp>
        <p:nvSpPr>
          <p:cNvPr id="47107" name="Rectangle 4"/>
          <p:cNvSpPr>
            <a:spLocks noChangeArrowheads="1"/>
          </p:cNvSpPr>
          <p:nvPr/>
        </p:nvSpPr>
        <p:spPr bwMode="auto">
          <a:xfrm>
            <a:off x="2681288" y="0"/>
            <a:ext cx="3524250"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latin typeface="楷体_GB2312" pitchFamily="1" charset="-122"/>
                <a:ea typeface="楷体_GB2312" pitchFamily="1" charset="-122"/>
              </a:rPr>
              <a:t>表</a:t>
            </a:r>
            <a:r>
              <a:rPr lang="en-US" altLang="zh-CN">
                <a:solidFill>
                  <a:schemeClr val="tx1"/>
                </a:solidFill>
                <a:latin typeface="楷体_GB2312" pitchFamily="1" charset="-122"/>
                <a:ea typeface="楷体_GB2312" pitchFamily="1" charset="-122"/>
              </a:rPr>
              <a:t>9-11 </a:t>
            </a:r>
            <a:r>
              <a:rPr lang="zh-CN" altLang="en-US">
                <a:solidFill>
                  <a:schemeClr val="tx1"/>
                </a:solidFill>
                <a:latin typeface="楷体_GB2312" pitchFamily="1" charset="-122"/>
                <a:ea typeface="楷体_GB2312" pitchFamily="1" charset="-122"/>
              </a:rPr>
              <a:t>正十二面体面表</a:t>
            </a:r>
          </a:p>
        </p:txBody>
      </p:sp>
      <p:graphicFrame>
        <p:nvGraphicFramePr>
          <p:cNvPr id="47108" name="Group 4"/>
          <p:cNvGraphicFramePr>
            <a:graphicFrameLocks noGrp="1"/>
          </p:cNvGraphicFramePr>
          <p:nvPr>
            <p:extLst>
              <p:ext uri="{D42A27DB-BD31-4B8C-83A1-F6EECF244321}">
                <p14:modId xmlns:p14="http://schemas.microsoft.com/office/powerpoint/2010/main" val="1016881337"/>
              </p:ext>
            </p:extLst>
          </p:nvPr>
        </p:nvGraphicFramePr>
        <p:xfrm>
          <a:off x="688877" y="953835"/>
          <a:ext cx="8010525" cy="4856396"/>
        </p:xfrm>
        <a:graphic>
          <a:graphicData uri="http://schemas.openxmlformats.org/drawingml/2006/table">
            <a:tbl>
              <a:tblPr/>
              <a:tblGrid>
                <a:gridCol w="801687">
                  <a:extLst>
                    <a:ext uri="{9D8B030D-6E8A-4147-A177-3AD203B41FA5}">
                      <a16:colId xmlns:a16="http://schemas.microsoft.com/office/drawing/2014/main" val="20000"/>
                    </a:ext>
                  </a:extLst>
                </a:gridCol>
                <a:gridCol w="1458913">
                  <a:extLst>
                    <a:ext uri="{9D8B030D-6E8A-4147-A177-3AD203B41FA5}">
                      <a16:colId xmlns:a16="http://schemas.microsoft.com/office/drawing/2014/main" val="20001"/>
                    </a:ext>
                  </a:extLst>
                </a:gridCol>
                <a:gridCol w="1414462">
                  <a:extLst>
                    <a:ext uri="{9D8B030D-6E8A-4147-A177-3AD203B41FA5}">
                      <a16:colId xmlns:a16="http://schemas.microsoft.com/office/drawing/2014/main" val="20002"/>
                    </a:ext>
                  </a:extLst>
                </a:gridCol>
                <a:gridCol w="1462088">
                  <a:extLst>
                    <a:ext uri="{9D8B030D-6E8A-4147-A177-3AD203B41FA5}">
                      <a16:colId xmlns:a16="http://schemas.microsoft.com/office/drawing/2014/main" val="20003"/>
                    </a:ext>
                  </a:extLst>
                </a:gridCol>
                <a:gridCol w="1460500">
                  <a:extLst>
                    <a:ext uri="{9D8B030D-6E8A-4147-A177-3AD203B41FA5}">
                      <a16:colId xmlns:a16="http://schemas.microsoft.com/office/drawing/2014/main" val="20004"/>
                    </a:ext>
                  </a:extLst>
                </a:gridCol>
                <a:gridCol w="1412875">
                  <a:extLst>
                    <a:ext uri="{9D8B030D-6E8A-4147-A177-3AD203B41FA5}">
                      <a16:colId xmlns:a16="http://schemas.microsoft.com/office/drawing/2014/main" val="20005"/>
                    </a:ext>
                  </a:extLst>
                </a:gridCol>
              </a:tblGrid>
              <a:tr h="471488">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400" b="0" i="0" u="none" strike="noStrike" cap="none" normalizeH="0" baseline="0" dirty="0" smtClean="0">
                          <a:ln>
                            <a:noFill/>
                          </a:ln>
                          <a:solidFill>
                            <a:schemeClr val="tx1"/>
                          </a:solidFill>
                          <a:effectLst/>
                          <a:latin typeface="楷体_GB2312" pitchFamily="1" charset="-122"/>
                          <a:ea typeface="楷体_GB2312" pitchFamily="1" charset="-122"/>
                        </a:rPr>
                        <a:t>面</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400" b="0" i="0" u="none" strike="noStrike" cap="none" normalizeH="0" baseline="0" smtClean="0">
                          <a:ln>
                            <a:noFill/>
                          </a:ln>
                          <a:solidFill>
                            <a:schemeClr val="tx1"/>
                          </a:solidFill>
                          <a:effectLst/>
                          <a:latin typeface="楷体_GB2312" pitchFamily="1" charset="-122"/>
                          <a:ea typeface="楷体_GB2312" pitchFamily="1" charset="-122"/>
                        </a:rPr>
                        <a:t>第1顶点</a:t>
                      </a:r>
                    </a:p>
                  </a:txBody>
                  <a:tcPr marL="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400" b="0" i="0" u="none" strike="noStrike" cap="none" normalizeH="0" baseline="0" smtClean="0">
                          <a:ln>
                            <a:noFill/>
                          </a:ln>
                          <a:solidFill>
                            <a:schemeClr val="tx1"/>
                          </a:solidFill>
                          <a:effectLst/>
                          <a:latin typeface="楷体_GB2312" pitchFamily="1" charset="-122"/>
                          <a:ea typeface="楷体_GB2312" pitchFamily="1" charset="-122"/>
                        </a:rPr>
                        <a:t>第2顶点</a:t>
                      </a:r>
                    </a:p>
                  </a:txBody>
                  <a:tcPr marL="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400" b="0" i="0" u="none" strike="noStrike" cap="none" normalizeH="0" baseline="0" smtClean="0">
                          <a:ln>
                            <a:noFill/>
                          </a:ln>
                          <a:solidFill>
                            <a:schemeClr val="tx1"/>
                          </a:solidFill>
                          <a:effectLst/>
                          <a:latin typeface="楷体_GB2312" pitchFamily="1" charset="-122"/>
                          <a:ea typeface="楷体_GB2312" pitchFamily="1" charset="-122"/>
                        </a:rPr>
                        <a:t>第3顶点</a:t>
                      </a:r>
                    </a:p>
                  </a:txBody>
                  <a:tcPr marL="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400" b="0" i="0" u="none" strike="noStrike" cap="none" normalizeH="0" baseline="0" smtClean="0">
                          <a:ln>
                            <a:noFill/>
                          </a:ln>
                          <a:solidFill>
                            <a:schemeClr val="tx1"/>
                          </a:solidFill>
                          <a:effectLst/>
                          <a:latin typeface="楷体_GB2312" pitchFamily="1" charset="-122"/>
                          <a:ea typeface="楷体_GB2312" pitchFamily="1" charset="-122"/>
                        </a:rPr>
                        <a:t>第4顶点</a:t>
                      </a:r>
                    </a:p>
                  </a:txBody>
                  <a:tcPr marL="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400" b="0" i="0" u="none" strike="noStrike" cap="none" normalizeH="0" baseline="0" smtClean="0">
                          <a:ln>
                            <a:noFill/>
                          </a:ln>
                          <a:solidFill>
                            <a:schemeClr val="tx1"/>
                          </a:solidFill>
                          <a:effectLst/>
                          <a:latin typeface="楷体_GB2312" pitchFamily="1" charset="-122"/>
                          <a:ea typeface="楷体_GB2312" pitchFamily="1" charset="-122"/>
                        </a:rPr>
                        <a:t>第5顶点</a:t>
                      </a:r>
                    </a:p>
                  </a:txBody>
                  <a:tcPr marL="0" marR="18000" marT="46800" marB="468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3096">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dirty="0" smtClean="0">
                          <a:ln>
                            <a:noFill/>
                          </a:ln>
                          <a:solidFill>
                            <a:schemeClr val="tx1"/>
                          </a:solidFill>
                          <a:effectLst/>
                          <a:latin typeface="楷体_GB2312" pitchFamily="1" charset="-122"/>
                          <a:ea typeface="楷体_GB2312" pitchFamily="1" charset="-122"/>
                        </a:rPr>
                        <a:t>F</a:t>
                      </a:r>
                      <a:r>
                        <a:rPr kumimoji="0" lang="en-US" altLang="zh-CN" sz="1400" b="0" i="0" u="none" strike="noStrike" cap="none" normalizeH="0" baseline="-30000" dirty="0" smtClean="0">
                          <a:ln>
                            <a:noFill/>
                          </a:ln>
                          <a:solidFill>
                            <a:schemeClr val="tx1"/>
                          </a:solidFill>
                          <a:effectLst/>
                          <a:latin typeface="楷体_GB2312" pitchFamily="1" charset="-122"/>
                          <a:ea typeface="楷体_GB2312" pitchFamily="1" charset="-122"/>
                        </a:rPr>
                        <a:t>0</a:t>
                      </a:r>
                      <a:endParaRPr kumimoji="0" lang="en-US" altLang="zh-CN" sz="1400" b="0" i="0" u="none" strike="noStrike" cap="none" normalizeH="0" baseline="0" dirty="0" smtClean="0">
                        <a:ln>
                          <a:noFill/>
                        </a:ln>
                        <a:solidFill>
                          <a:schemeClr val="tx1"/>
                        </a:solidFill>
                        <a:effectLst/>
                        <a:latin typeface="楷体_GB2312" pitchFamily="1" charset="-122"/>
                        <a:ea typeface="楷体_GB2312" pitchFamily="1" charset="-122"/>
                      </a:endParaRPr>
                    </a:p>
                  </a:txBody>
                  <a:tcPr marL="18000" marR="18000" marT="46800" marB="468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0</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7</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8</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15</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4</a:t>
                      </a:r>
                    </a:p>
                  </a:txBody>
                  <a:tcPr marL="18000" marR="18000" marT="46800" marB="468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15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400" b="0" i="0" u="none" strike="noStrike" cap="none" normalizeH="0" baseline="-30000" smtClean="0">
                          <a:ln>
                            <a:noFill/>
                          </a:ln>
                          <a:solidFill>
                            <a:schemeClr val="tx1"/>
                          </a:solidFill>
                          <a:effectLst/>
                          <a:latin typeface="楷体_GB2312" pitchFamily="1" charset="-122"/>
                          <a:ea typeface="楷体_GB2312" pitchFamily="1" charset="-122"/>
                        </a:rPr>
                        <a:t>1</a:t>
                      </a:r>
                      <a:endPar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6</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10</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9</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8</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7</a:t>
                      </a:r>
                    </a:p>
                  </a:txBody>
                  <a:tcPr marL="18000" marR="18000" marT="46800" marB="468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3037">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400" b="0" i="0" u="none" strike="noStrike" cap="none" normalizeH="0" baseline="-30000" smtClean="0">
                          <a:ln>
                            <a:noFill/>
                          </a:ln>
                          <a:solidFill>
                            <a:schemeClr val="tx1"/>
                          </a:solidFill>
                          <a:effectLst/>
                          <a:latin typeface="楷体_GB2312" pitchFamily="1" charset="-122"/>
                          <a:ea typeface="楷体_GB2312" pitchFamily="1" charset="-122"/>
                        </a:rPr>
                        <a:t>2</a:t>
                      </a:r>
                      <a:endPar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5</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6</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7</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0</a:t>
                      </a:r>
                    </a:p>
                  </a:txBody>
                  <a:tcPr marL="18000" marR="18000" marT="46800" marB="468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5021">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400" b="0" i="0" u="none" strike="noStrike" cap="none" normalizeH="0" baseline="-30000" smtClean="0">
                          <a:ln>
                            <a:noFill/>
                          </a:ln>
                          <a:solidFill>
                            <a:schemeClr val="tx1"/>
                          </a:solidFill>
                          <a:effectLst/>
                          <a:latin typeface="楷体_GB2312" pitchFamily="1" charset="-122"/>
                          <a:ea typeface="楷体_GB2312" pitchFamily="1" charset="-122"/>
                        </a:rPr>
                        <a:t>3</a:t>
                      </a:r>
                      <a:endPar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2</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12</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11</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5</a:t>
                      </a:r>
                    </a:p>
                  </a:txBody>
                  <a:tcPr marL="18000" marR="18000" marT="46800" marB="468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5027">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400" b="0" i="0" u="none" strike="noStrike" cap="none" normalizeH="0" baseline="-30000" smtClean="0">
                          <a:ln>
                            <a:noFill/>
                          </a:ln>
                          <a:solidFill>
                            <a:schemeClr val="tx1"/>
                          </a:solidFill>
                          <a:effectLst/>
                          <a:latin typeface="楷体_GB2312" pitchFamily="1" charset="-122"/>
                          <a:ea typeface="楷体_GB2312" pitchFamily="1" charset="-122"/>
                        </a:rPr>
                        <a:t>4</a:t>
                      </a:r>
                      <a:endPar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11</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12</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13</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16</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17</a:t>
                      </a:r>
                    </a:p>
                  </a:txBody>
                  <a:tcPr marL="18000" marR="18000" marT="46800" marB="468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5021">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400" b="0" i="0" u="none" strike="noStrike" cap="none" normalizeH="0" baseline="-30000" smtClean="0">
                          <a:ln>
                            <a:noFill/>
                          </a:ln>
                          <a:solidFill>
                            <a:schemeClr val="tx1"/>
                          </a:solidFill>
                          <a:effectLst/>
                          <a:latin typeface="楷体_GB2312" pitchFamily="1" charset="-122"/>
                          <a:ea typeface="楷体_GB2312" pitchFamily="1" charset="-122"/>
                        </a:rPr>
                        <a:t>5</a:t>
                      </a:r>
                      <a:endPar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2</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3</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18</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13</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12</a:t>
                      </a:r>
                    </a:p>
                  </a:txBody>
                  <a:tcPr marL="18000" marR="18000" marT="46800" marB="468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5021">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400" b="0" i="0" u="none" strike="noStrike" cap="none" normalizeH="0" baseline="-30000" smtClean="0">
                          <a:ln>
                            <a:noFill/>
                          </a:ln>
                          <a:solidFill>
                            <a:schemeClr val="tx1"/>
                          </a:solidFill>
                          <a:effectLst/>
                          <a:latin typeface="楷体_GB2312" pitchFamily="1" charset="-122"/>
                          <a:ea typeface="楷体_GB2312" pitchFamily="1" charset="-122"/>
                        </a:rPr>
                        <a:t>6</a:t>
                      </a:r>
                      <a:endPar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0</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4</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3</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2</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a:t>
                      </a:r>
                    </a:p>
                  </a:txBody>
                  <a:tcPr marL="18000" marR="18000" marT="46800" marB="468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0024">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400" b="0" i="0" u="none" strike="noStrike" cap="none" normalizeH="0" baseline="-30000" smtClean="0">
                          <a:ln>
                            <a:noFill/>
                          </a:ln>
                          <a:solidFill>
                            <a:schemeClr val="tx1"/>
                          </a:solidFill>
                          <a:effectLst/>
                          <a:latin typeface="楷体_GB2312" pitchFamily="1" charset="-122"/>
                          <a:ea typeface="楷体_GB2312" pitchFamily="1" charset="-122"/>
                        </a:rPr>
                        <a:t>7</a:t>
                      </a:r>
                      <a:endPar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3</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4</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15</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14</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18</a:t>
                      </a:r>
                    </a:p>
                  </a:txBody>
                  <a:tcPr marL="18000" marR="18000" marT="46800" marB="468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5027">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400" b="0" i="0" u="none" strike="noStrike" cap="none" normalizeH="0" baseline="-30000" smtClean="0">
                          <a:ln>
                            <a:noFill/>
                          </a:ln>
                          <a:solidFill>
                            <a:schemeClr val="tx1"/>
                          </a:solidFill>
                          <a:effectLst/>
                          <a:latin typeface="楷体_GB2312" pitchFamily="1" charset="-122"/>
                          <a:ea typeface="楷体_GB2312" pitchFamily="1" charset="-122"/>
                        </a:rPr>
                        <a:t>8</a:t>
                      </a:r>
                      <a:endPar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5</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11</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17</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10</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6</a:t>
                      </a:r>
                    </a:p>
                  </a:txBody>
                  <a:tcPr marL="18000" marR="18000" marT="46800" marB="468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0024">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400" b="0" i="0" u="none" strike="noStrike" cap="none" normalizeH="0" baseline="-30000" smtClean="0">
                          <a:ln>
                            <a:noFill/>
                          </a:ln>
                          <a:solidFill>
                            <a:schemeClr val="tx1"/>
                          </a:solidFill>
                          <a:effectLst/>
                          <a:latin typeface="楷体_GB2312" pitchFamily="1" charset="-122"/>
                          <a:ea typeface="楷体_GB2312" pitchFamily="1" charset="-122"/>
                        </a:rPr>
                        <a:t>9</a:t>
                      </a:r>
                      <a:endPar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9</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10</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17</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16</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19</a:t>
                      </a:r>
                    </a:p>
                  </a:txBody>
                  <a:tcPr marL="18000" marR="18000" marT="46800" marB="468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5021">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400" b="0" i="0" u="none" strike="noStrike" cap="none" normalizeH="0" baseline="-30000" smtClean="0">
                          <a:ln>
                            <a:noFill/>
                          </a:ln>
                          <a:solidFill>
                            <a:schemeClr val="tx1"/>
                          </a:solidFill>
                          <a:effectLst/>
                          <a:latin typeface="楷体_GB2312" pitchFamily="1" charset="-122"/>
                          <a:ea typeface="楷体_GB2312" pitchFamily="1" charset="-122"/>
                        </a:rPr>
                        <a:t>10</a:t>
                      </a:r>
                      <a:endPar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8</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9</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19</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14</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15</a:t>
                      </a:r>
                    </a:p>
                  </a:txBody>
                  <a:tcPr marL="18000" marR="18000" marT="46800" marB="468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53657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1400" b="0" i="0" u="none" strike="noStrike" cap="none" normalizeH="0" baseline="-30000" smtClean="0">
                          <a:ln>
                            <a:noFill/>
                          </a:ln>
                          <a:solidFill>
                            <a:schemeClr val="tx1"/>
                          </a:solidFill>
                          <a:effectLst/>
                          <a:latin typeface="楷体_GB2312" pitchFamily="1" charset="-122"/>
                          <a:ea typeface="楷体_GB2312" pitchFamily="1" charset="-122"/>
                        </a:rPr>
                        <a:t>11</a:t>
                      </a:r>
                      <a:endPar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endParaRPr>
                    </a:p>
                  </a:txBody>
                  <a:tcPr marL="18000" marR="18000" marT="46800" marB="468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13</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18</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14</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smtClean="0">
                          <a:ln>
                            <a:noFill/>
                          </a:ln>
                          <a:solidFill>
                            <a:schemeClr val="tx1"/>
                          </a:solidFill>
                          <a:effectLst/>
                          <a:latin typeface="楷体_GB2312" pitchFamily="1" charset="-122"/>
                          <a:ea typeface="楷体_GB2312" pitchFamily="1" charset="-122"/>
                        </a:rPr>
                        <a:t>19</a:t>
                      </a:r>
                    </a:p>
                  </a:txBody>
                  <a:tcPr marL="18000" marR="18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400" b="0" i="0" u="none" strike="noStrike" cap="none" normalizeH="0" baseline="0" dirty="0" smtClean="0">
                          <a:ln>
                            <a:noFill/>
                          </a:ln>
                          <a:solidFill>
                            <a:schemeClr val="tx1"/>
                          </a:solidFill>
                          <a:effectLst/>
                          <a:latin typeface="楷体_GB2312" pitchFamily="1" charset="-122"/>
                          <a:ea typeface="楷体_GB2312" pitchFamily="1" charset="-122"/>
                        </a:rPr>
                        <a:t>16</a:t>
                      </a:r>
                    </a:p>
                  </a:txBody>
                  <a:tcPr marL="18000" marR="18000" marT="46800" marB="468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4C62FDFC-5579-4F0C-A981-5000847C46FF}" type="slidenum">
              <a:rPr lang="en-US" altLang="zh-CN" sz="1200">
                <a:solidFill>
                  <a:schemeClr val="tx1"/>
                </a:solidFill>
                <a:latin typeface="Garamond" pitchFamily="18" charset="0"/>
              </a:rPr>
              <a:pPr algn="r" eaLnBrk="1" hangingPunct="1">
                <a:spcBef>
                  <a:spcPct val="0"/>
                </a:spcBef>
              </a:pPr>
              <a:t>45</a:t>
            </a:fld>
            <a:endParaRPr lang="en-US" altLang="zh-CN" sz="1200">
              <a:solidFill>
                <a:schemeClr val="tx1"/>
              </a:solidFill>
              <a:latin typeface="Garamond" pitchFamily="18" charset="0"/>
            </a:endParaRPr>
          </a:p>
        </p:txBody>
      </p:sp>
      <p:pic>
        <p:nvPicPr>
          <p:cNvPr id="4813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6975" y="279400"/>
            <a:ext cx="670560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Text Box 5"/>
          <p:cNvSpPr txBox="1">
            <a:spLocks noChangeArrowheads="1"/>
          </p:cNvSpPr>
          <p:nvPr/>
        </p:nvSpPr>
        <p:spPr bwMode="auto">
          <a:xfrm>
            <a:off x="3176588" y="5634038"/>
            <a:ext cx="2970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ea typeface="楷体_GB2312" pitchFamily="1" charset="-122"/>
                <a:hlinkClick r:id="rId3" action="ppaction://hlinkfile"/>
              </a:rPr>
              <a:t>正十二面体模型</a:t>
            </a:r>
            <a:endParaRPr lang="zh-CN" altLang="en-US" sz="2000">
              <a:solidFill>
                <a:schemeClr val="tx1"/>
              </a:solidFill>
              <a:ea typeface="楷体_GB2312" pitchFamily="1"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D69BFFDE-C75A-4AB3-9DA4-7C91E7099A9A}" type="slidenum">
              <a:rPr lang="en-US" altLang="zh-CN" sz="1200">
                <a:solidFill>
                  <a:schemeClr val="tx1"/>
                </a:solidFill>
                <a:latin typeface="Garamond" pitchFamily="18" charset="0"/>
              </a:rPr>
              <a:pPr algn="r" eaLnBrk="1" hangingPunct="1">
                <a:spcBef>
                  <a:spcPct val="0"/>
                </a:spcBef>
              </a:pPr>
              <a:t>46</a:t>
            </a:fld>
            <a:endParaRPr lang="en-US" altLang="zh-CN" sz="1200">
              <a:solidFill>
                <a:schemeClr val="tx1"/>
              </a:solidFill>
              <a:latin typeface="Garamond" pitchFamily="18" charset="0"/>
            </a:endParaRPr>
          </a:p>
        </p:txBody>
      </p:sp>
      <p:sp>
        <p:nvSpPr>
          <p:cNvPr id="49155" name="Text Box 4"/>
          <p:cNvSpPr txBox="1">
            <a:spLocks noChangeArrowheads="1"/>
          </p:cNvSpPr>
          <p:nvPr/>
        </p:nvSpPr>
        <p:spPr bwMode="auto">
          <a:xfrm>
            <a:off x="431800" y="279400"/>
            <a:ext cx="314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b="1">
                <a:solidFill>
                  <a:schemeClr val="tx1"/>
                </a:solidFill>
                <a:latin typeface="楷体_GB2312" pitchFamily="1" charset="-122"/>
                <a:ea typeface="楷体_GB2312" pitchFamily="1" charset="-122"/>
              </a:rPr>
              <a:t>〔4〕</a:t>
            </a:r>
            <a:r>
              <a:rPr lang="zh-CN" altLang="en-US" b="1">
                <a:solidFill>
                  <a:schemeClr val="tx1"/>
                </a:solidFill>
                <a:latin typeface="楷体_GB2312" pitchFamily="1" charset="-122"/>
                <a:ea typeface="楷体_GB2312" pitchFamily="1" charset="-122"/>
              </a:rPr>
              <a:t>正二十面体 </a:t>
            </a:r>
          </a:p>
        </p:txBody>
      </p:sp>
      <p:sp>
        <p:nvSpPr>
          <p:cNvPr id="49156" name="Rectangle 5"/>
          <p:cNvSpPr>
            <a:spLocks noChangeArrowheads="1"/>
          </p:cNvSpPr>
          <p:nvPr/>
        </p:nvSpPr>
        <p:spPr bwMode="auto">
          <a:xfrm>
            <a:off x="431800" y="908050"/>
            <a:ext cx="3330575" cy="52657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40000"/>
              </a:lnSpc>
              <a:spcBef>
                <a:spcPct val="0"/>
              </a:spcBef>
            </a:pPr>
            <a:r>
              <a:rPr lang="zh-CN" altLang="en-US" sz="2800" dirty="0">
                <a:solidFill>
                  <a:schemeClr val="tx1"/>
                </a:solidFill>
                <a:latin typeface="Adobe 楷体 Std R" pitchFamily="2" charset="-122"/>
                <a:ea typeface="Adobe 楷体 Std R" pitchFamily="2" charset="-122"/>
              </a:rPr>
              <a:t>    </a:t>
            </a:r>
            <a:r>
              <a:rPr lang="zh-CN" altLang="en-US" dirty="0">
                <a:solidFill>
                  <a:schemeClr val="tx1"/>
                </a:solidFill>
                <a:latin typeface="楷体_GB2312" pitchFamily="1" charset="-122"/>
                <a:ea typeface="楷体_GB2312" pitchFamily="1" charset="-122"/>
              </a:rPr>
              <a:t>图</a:t>
            </a:r>
            <a:r>
              <a:rPr lang="fr-FR" altLang="en-US" dirty="0">
                <a:solidFill>
                  <a:schemeClr val="tx1"/>
                </a:solidFill>
                <a:latin typeface="楷体_GB2312" pitchFamily="1" charset="-122"/>
                <a:ea typeface="楷体_GB2312" pitchFamily="1" charset="-122"/>
              </a:rPr>
              <a:t>9-24</a:t>
            </a:r>
            <a:r>
              <a:rPr lang="zh-CN" altLang="en-US" dirty="0">
                <a:solidFill>
                  <a:schemeClr val="tx1"/>
                </a:solidFill>
                <a:latin typeface="楷体_GB2312" pitchFamily="1" charset="-122"/>
                <a:ea typeface="楷体_GB2312" pitchFamily="1" charset="-122"/>
              </a:rPr>
              <a:t>中</a:t>
            </a:r>
            <a:r>
              <a:rPr lang="zh-CN" altLang="en-US" b="1" dirty="0">
                <a:solidFill>
                  <a:srgbClr val="FF0000"/>
                </a:solidFill>
                <a:latin typeface="方正粗黑宋简体" panose="02000000000000000000" pitchFamily="2" charset="-122"/>
                <a:ea typeface="方正粗黑宋简体" panose="02000000000000000000" pitchFamily="2" charset="-122"/>
              </a:rPr>
              <a:t>三个黄金矩形两两正交</a:t>
            </a:r>
            <a:r>
              <a:rPr lang="zh-CN" altLang="en-US" dirty="0">
                <a:solidFill>
                  <a:schemeClr val="tx1"/>
                </a:solidFill>
                <a:latin typeface="楷体_GB2312" pitchFamily="1" charset="-122"/>
                <a:ea typeface="楷体_GB2312" pitchFamily="1" charset="-122"/>
              </a:rPr>
              <a:t>，这些矩形的顶角是</a:t>
            </a:r>
            <a:r>
              <a:rPr lang="zh-CN" altLang="en-US" b="1" dirty="0">
                <a:solidFill>
                  <a:srgbClr val="FF0000"/>
                </a:solidFill>
                <a:latin typeface="方正粗黑宋简体" panose="02000000000000000000" pitchFamily="2" charset="-122"/>
                <a:ea typeface="方正粗黑宋简体" panose="02000000000000000000" pitchFamily="2" charset="-122"/>
              </a:rPr>
              <a:t>正二十面体的十二个顶点</a:t>
            </a:r>
            <a:r>
              <a:rPr lang="zh-CN" altLang="en-US" dirty="0">
                <a:solidFill>
                  <a:schemeClr val="tx1"/>
                </a:solidFill>
                <a:latin typeface="楷体_GB2312" pitchFamily="1" charset="-122"/>
                <a:ea typeface="楷体_GB2312" pitchFamily="1" charset="-122"/>
              </a:rPr>
              <a:t>。把每一个黄金矩形与一个坐标轴对齐，得到表</a:t>
            </a:r>
            <a:r>
              <a:rPr lang="fr-FR" altLang="en-US" dirty="0">
                <a:solidFill>
                  <a:schemeClr val="tx1"/>
                </a:solidFill>
                <a:latin typeface="楷体_GB2312" pitchFamily="1" charset="-122"/>
                <a:ea typeface="楷体_GB2312" pitchFamily="1" charset="-122"/>
              </a:rPr>
              <a:t>9-12</a:t>
            </a:r>
            <a:r>
              <a:rPr lang="zh-CN" altLang="en-US" dirty="0">
                <a:solidFill>
                  <a:schemeClr val="tx1"/>
                </a:solidFill>
                <a:latin typeface="楷体_GB2312" pitchFamily="1" charset="-122"/>
                <a:ea typeface="楷体_GB2312" pitchFamily="1" charset="-122"/>
              </a:rPr>
              <a:t>的顶点表。由图</a:t>
            </a:r>
            <a:r>
              <a:rPr lang="en-US" altLang="zh-CN" dirty="0">
                <a:solidFill>
                  <a:schemeClr val="tx1"/>
                </a:solidFill>
                <a:latin typeface="楷体_GB2312" pitchFamily="1" charset="-122"/>
                <a:ea typeface="楷体_GB2312" pitchFamily="1" charset="-122"/>
              </a:rPr>
              <a:t>9-25</a:t>
            </a:r>
            <a:r>
              <a:rPr lang="zh-CN" altLang="en-US" dirty="0">
                <a:solidFill>
                  <a:schemeClr val="tx1"/>
                </a:solidFill>
                <a:latin typeface="楷体_GB2312" pitchFamily="1" charset="-122"/>
                <a:ea typeface="楷体_GB2312" pitchFamily="1" charset="-122"/>
              </a:rPr>
              <a:t>所示的正二十面体展开图得到正二十面体的面表，见表</a:t>
            </a:r>
            <a:r>
              <a:rPr lang="en-US" altLang="zh-CN" dirty="0">
                <a:solidFill>
                  <a:schemeClr val="tx1"/>
                </a:solidFill>
                <a:latin typeface="楷体_GB2312" pitchFamily="1" charset="-122"/>
                <a:ea typeface="楷体_GB2312" pitchFamily="1" charset="-122"/>
              </a:rPr>
              <a:t>9-13</a:t>
            </a:r>
            <a:r>
              <a:rPr lang="zh-CN" altLang="en-US" dirty="0">
                <a:solidFill>
                  <a:schemeClr val="tx1"/>
                </a:solidFill>
                <a:latin typeface="楷体_GB2312" pitchFamily="1" charset="-122"/>
                <a:ea typeface="楷体_GB2312" pitchFamily="1" charset="-122"/>
              </a:rPr>
              <a:t>。  </a:t>
            </a:r>
          </a:p>
        </p:txBody>
      </p:sp>
      <p:pic>
        <p:nvPicPr>
          <p:cNvPr id="49158"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6700" y="279400"/>
            <a:ext cx="5067300" cy="494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49159" name="Text Box 8"/>
          <p:cNvSpPr txBox="1">
            <a:spLocks noChangeArrowheads="1"/>
          </p:cNvSpPr>
          <p:nvPr/>
        </p:nvSpPr>
        <p:spPr bwMode="auto">
          <a:xfrm>
            <a:off x="3806825" y="5543550"/>
            <a:ext cx="515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a:solidFill>
                  <a:schemeClr val="tx1"/>
                </a:solidFill>
                <a:latin typeface="楷体_GB2312" pitchFamily="1" charset="-122"/>
                <a:ea typeface="楷体_GB2312" pitchFamily="1" charset="-122"/>
              </a:rPr>
              <a:t>图</a:t>
            </a:r>
            <a:r>
              <a:rPr lang="en-US" altLang="zh-CN">
                <a:solidFill>
                  <a:schemeClr val="tx1"/>
                </a:solidFill>
                <a:latin typeface="楷体_GB2312" pitchFamily="1" charset="-122"/>
                <a:ea typeface="楷体_GB2312" pitchFamily="1" charset="-122"/>
              </a:rPr>
              <a:t>9-24 </a:t>
            </a:r>
            <a:r>
              <a:rPr lang="zh-CN" altLang="en-US">
                <a:solidFill>
                  <a:schemeClr val="tx1"/>
                </a:solidFill>
                <a:latin typeface="楷体_GB2312" pitchFamily="1" charset="-122"/>
                <a:ea typeface="楷体_GB2312" pitchFamily="1" charset="-122"/>
              </a:rPr>
              <a:t>用黄金矩形定义正二十面体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2CA7D099-C32A-4311-A9A3-261FDC89832B}" type="slidenum">
              <a:rPr lang="en-US" altLang="zh-CN" sz="1200">
                <a:solidFill>
                  <a:schemeClr val="tx1"/>
                </a:solidFill>
                <a:latin typeface="Garamond" pitchFamily="18" charset="0"/>
              </a:rPr>
              <a:pPr algn="r" eaLnBrk="1" hangingPunct="1">
                <a:spcBef>
                  <a:spcPct val="0"/>
                </a:spcBef>
              </a:pPr>
              <a:t>47</a:t>
            </a:fld>
            <a:endParaRPr lang="en-US" altLang="zh-CN" sz="1200">
              <a:solidFill>
                <a:schemeClr val="tx1"/>
              </a:solidFill>
              <a:latin typeface="Garamond" pitchFamily="18" charset="0"/>
            </a:endParaRPr>
          </a:p>
        </p:txBody>
      </p:sp>
      <p:sp>
        <p:nvSpPr>
          <p:cNvPr id="50179" name="Rectangle 4"/>
          <p:cNvSpPr>
            <a:spLocks noChangeArrowheads="1"/>
          </p:cNvSpPr>
          <p:nvPr/>
        </p:nvSpPr>
        <p:spPr bwMode="auto">
          <a:xfrm>
            <a:off x="2322513" y="188913"/>
            <a:ext cx="3711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b="1">
                <a:solidFill>
                  <a:schemeClr val="tx1"/>
                </a:solidFill>
                <a:latin typeface="楷体_GB2312" pitchFamily="1" charset="-122"/>
                <a:ea typeface="楷体_GB2312" pitchFamily="1" charset="-122"/>
              </a:rPr>
              <a:t>表</a:t>
            </a:r>
            <a:r>
              <a:rPr lang="en-US" altLang="zh-CN" b="1">
                <a:solidFill>
                  <a:schemeClr val="tx1"/>
                </a:solidFill>
                <a:latin typeface="楷体_GB2312" pitchFamily="1" charset="-122"/>
                <a:ea typeface="楷体_GB2312" pitchFamily="1" charset="-122"/>
              </a:rPr>
              <a:t>9-12 </a:t>
            </a:r>
            <a:r>
              <a:rPr lang="zh-CN" altLang="en-US" b="1">
                <a:solidFill>
                  <a:schemeClr val="tx1"/>
                </a:solidFill>
                <a:latin typeface="楷体_GB2312" pitchFamily="1" charset="-122"/>
                <a:ea typeface="楷体_GB2312" pitchFamily="1" charset="-122"/>
              </a:rPr>
              <a:t>正二十面体顶点表</a:t>
            </a:r>
          </a:p>
        </p:txBody>
      </p:sp>
      <p:graphicFrame>
        <p:nvGraphicFramePr>
          <p:cNvPr id="50180" name="Group 4"/>
          <p:cNvGraphicFramePr>
            <a:graphicFrameLocks noGrp="1"/>
          </p:cNvGraphicFramePr>
          <p:nvPr>
            <p:extLst>
              <p:ext uri="{D42A27DB-BD31-4B8C-83A1-F6EECF244321}">
                <p14:modId xmlns:p14="http://schemas.microsoft.com/office/powerpoint/2010/main" val="1956282180"/>
              </p:ext>
            </p:extLst>
          </p:nvPr>
        </p:nvGraphicFramePr>
        <p:xfrm>
          <a:off x="1106488" y="728663"/>
          <a:ext cx="6254750" cy="5438884"/>
        </p:xfrm>
        <a:graphic>
          <a:graphicData uri="http://schemas.openxmlformats.org/drawingml/2006/table">
            <a:tbl>
              <a:tblPr/>
              <a:tblGrid>
                <a:gridCol w="1304925">
                  <a:extLst>
                    <a:ext uri="{9D8B030D-6E8A-4147-A177-3AD203B41FA5}">
                      <a16:colId xmlns:a16="http://schemas.microsoft.com/office/drawing/2014/main" val="20000"/>
                    </a:ext>
                  </a:extLst>
                </a:gridCol>
                <a:gridCol w="1439862">
                  <a:extLst>
                    <a:ext uri="{9D8B030D-6E8A-4147-A177-3AD203B41FA5}">
                      <a16:colId xmlns:a16="http://schemas.microsoft.com/office/drawing/2014/main" val="20001"/>
                    </a:ext>
                  </a:extLst>
                </a:gridCol>
                <a:gridCol w="1709738">
                  <a:extLst>
                    <a:ext uri="{9D8B030D-6E8A-4147-A177-3AD203B41FA5}">
                      <a16:colId xmlns:a16="http://schemas.microsoft.com/office/drawing/2014/main" val="20002"/>
                    </a:ext>
                  </a:extLst>
                </a:gridCol>
                <a:gridCol w="1800225">
                  <a:extLst>
                    <a:ext uri="{9D8B030D-6E8A-4147-A177-3AD203B41FA5}">
                      <a16:colId xmlns:a16="http://schemas.microsoft.com/office/drawing/2014/main" val="20003"/>
                    </a:ext>
                  </a:extLst>
                </a:gridCol>
              </a:tblGrid>
              <a:tr h="4572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顶点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x坐标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y坐标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z坐标</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014">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0</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0</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0</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0</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＝b</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0024">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1</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1</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1</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1</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＝-b</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928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2</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2</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2</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2</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3555">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3</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3</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3</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3</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5021">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4</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4</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4</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4</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＝-b</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9291">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5</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5</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3</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5</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＝b</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5027">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6</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6</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6</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6</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5027">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7</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7</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7</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7</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5003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8</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8</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8</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8</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5003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9</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9</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9</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9</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5003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10</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10</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10</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z</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10</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rPr>
                        <a:t>V</a:t>
                      </a:r>
                      <a:r>
                        <a:rPr kumimoji="0" lang="en-US" altLang="zh-CN" sz="1800" b="0" i="0" u="none" strike="noStrike" cap="none" normalizeH="0" baseline="-30000" smtClean="0">
                          <a:ln>
                            <a:noFill/>
                          </a:ln>
                          <a:solidFill>
                            <a:schemeClr val="tx1"/>
                          </a:solidFill>
                          <a:effectLst/>
                          <a:latin typeface="楷体_GB2312" pitchFamily="1" charset="-122"/>
                          <a:ea typeface="楷体_GB2312" pitchFamily="1" charset="-122"/>
                        </a:rPr>
                        <a:t>11</a:t>
                      </a:r>
                      <a:endParaRPr kumimoji="0" lang="en-US" altLang="zh-CN" sz="18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x</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11</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y</a:t>
                      </a:r>
                      <a:r>
                        <a:rPr kumimoji="0" lang="zh-CN" altLang="en-US" sz="1800" b="0" i="0" u="none" strike="noStrike" cap="none" normalizeH="0" baseline="-30000" smtClean="0">
                          <a:ln>
                            <a:noFill/>
                          </a:ln>
                          <a:solidFill>
                            <a:schemeClr val="tx1"/>
                          </a:solidFill>
                          <a:effectLst/>
                          <a:latin typeface="楷体_GB2312" pitchFamily="1" charset="-122"/>
                          <a:ea typeface="楷体_GB2312" pitchFamily="1" charset="-122"/>
                        </a:rPr>
                        <a:t>11</a:t>
                      </a: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1800" b="0" i="0" u="none" strike="noStrike" cap="none" normalizeH="0" baseline="0" dirty="0" smtClean="0">
                          <a:ln>
                            <a:noFill/>
                          </a:ln>
                          <a:solidFill>
                            <a:schemeClr val="tx1"/>
                          </a:solidFill>
                          <a:effectLst/>
                          <a:latin typeface="楷体_GB2312" pitchFamily="1" charset="-122"/>
                          <a:ea typeface="楷体_GB2312" pitchFamily="1" charset="-122"/>
                        </a:rPr>
                        <a:t>z</a:t>
                      </a:r>
                      <a:r>
                        <a:rPr kumimoji="0" lang="zh-CN" altLang="en-US" sz="1800" b="0" i="0" u="none" strike="noStrike" cap="none" normalizeH="0" baseline="-30000" dirty="0" smtClean="0">
                          <a:ln>
                            <a:noFill/>
                          </a:ln>
                          <a:solidFill>
                            <a:schemeClr val="tx1"/>
                          </a:solidFill>
                          <a:effectLst/>
                          <a:latin typeface="楷体_GB2312" pitchFamily="1" charset="-122"/>
                          <a:ea typeface="楷体_GB2312" pitchFamily="1" charset="-122"/>
                        </a:rPr>
                        <a:t>11</a:t>
                      </a:r>
                      <a:r>
                        <a:rPr kumimoji="0" lang="zh-CN" altLang="en-US" sz="1800" b="0" i="0" u="none" strike="noStrike" cap="none" normalizeH="0" baseline="0" dirty="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C86C25EA-164F-4C30-860D-C00295A1438F}" type="slidenum">
              <a:rPr lang="en-US" altLang="zh-CN" sz="1200">
                <a:solidFill>
                  <a:schemeClr val="tx1"/>
                </a:solidFill>
                <a:latin typeface="Garamond" pitchFamily="18" charset="0"/>
              </a:rPr>
              <a:pPr algn="r" eaLnBrk="1" hangingPunct="1">
                <a:spcBef>
                  <a:spcPct val="0"/>
                </a:spcBef>
              </a:pPr>
              <a:t>48</a:t>
            </a:fld>
            <a:endParaRPr lang="en-US" altLang="zh-CN" sz="1200">
              <a:solidFill>
                <a:schemeClr val="tx1"/>
              </a:solidFill>
              <a:latin typeface="Garamond" pitchFamily="18" charset="0"/>
            </a:endParaRPr>
          </a:p>
        </p:txBody>
      </p:sp>
      <p:sp>
        <p:nvSpPr>
          <p:cNvPr id="51203" name="Text Box 51"/>
          <p:cNvSpPr txBox="1">
            <a:spLocks noChangeArrowheads="1"/>
          </p:cNvSpPr>
          <p:nvPr/>
        </p:nvSpPr>
        <p:spPr bwMode="auto">
          <a:xfrm>
            <a:off x="2501900" y="6038850"/>
            <a:ext cx="4365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9-25 </a:t>
            </a:r>
            <a:r>
              <a:rPr lang="zh-CN" altLang="en-US" sz="2000">
                <a:solidFill>
                  <a:schemeClr val="tx1"/>
                </a:solidFill>
                <a:latin typeface="楷体_GB2312" pitchFamily="1" charset="-122"/>
                <a:ea typeface="楷体_GB2312" pitchFamily="1" charset="-122"/>
              </a:rPr>
              <a:t>正二十面体展开图</a:t>
            </a:r>
          </a:p>
        </p:txBody>
      </p:sp>
      <p:pic>
        <p:nvPicPr>
          <p:cNvPr id="51205" name="Object 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1300" y="414338"/>
            <a:ext cx="6391275" cy="552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80236A2D-7016-4BAF-A116-29B5DFC77B84}" type="slidenum">
              <a:rPr lang="en-US" altLang="zh-CN" sz="1200">
                <a:solidFill>
                  <a:schemeClr val="tx1"/>
                </a:solidFill>
                <a:latin typeface="Garamond" pitchFamily="18" charset="0"/>
              </a:rPr>
              <a:pPr algn="r" eaLnBrk="1" hangingPunct="1">
                <a:spcBef>
                  <a:spcPct val="0"/>
                </a:spcBef>
              </a:pPr>
              <a:t>49</a:t>
            </a:fld>
            <a:endParaRPr lang="en-US" altLang="zh-CN" sz="1200">
              <a:solidFill>
                <a:schemeClr val="tx1"/>
              </a:solidFill>
              <a:latin typeface="Garamond" pitchFamily="18" charset="0"/>
            </a:endParaRPr>
          </a:p>
        </p:txBody>
      </p:sp>
      <p:sp>
        <p:nvSpPr>
          <p:cNvPr id="52227" name="Rectangle 4"/>
          <p:cNvSpPr>
            <a:spLocks noChangeArrowheads="1"/>
          </p:cNvSpPr>
          <p:nvPr/>
        </p:nvSpPr>
        <p:spPr bwMode="auto">
          <a:xfrm>
            <a:off x="2727325" y="503238"/>
            <a:ext cx="35369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b="1">
                <a:solidFill>
                  <a:schemeClr val="tx1"/>
                </a:solidFill>
                <a:latin typeface="楷体_GB2312" pitchFamily="1" charset="-122"/>
                <a:ea typeface="楷体_GB2312" pitchFamily="1" charset="-122"/>
              </a:rPr>
              <a:t>表</a:t>
            </a:r>
            <a:r>
              <a:rPr lang="en-US" altLang="zh-CN" b="1">
                <a:solidFill>
                  <a:schemeClr val="tx1"/>
                </a:solidFill>
                <a:latin typeface="楷体_GB2312" pitchFamily="1" charset="-122"/>
                <a:ea typeface="楷体_GB2312" pitchFamily="1" charset="-122"/>
              </a:rPr>
              <a:t>9-13 </a:t>
            </a:r>
            <a:r>
              <a:rPr lang="zh-CN" altLang="en-US" b="1">
                <a:solidFill>
                  <a:schemeClr val="tx1"/>
                </a:solidFill>
                <a:latin typeface="楷体_GB2312" pitchFamily="1" charset="-122"/>
                <a:ea typeface="楷体_GB2312" pitchFamily="1" charset="-122"/>
              </a:rPr>
              <a:t>正二十面体面表</a:t>
            </a:r>
          </a:p>
        </p:txBody>
      </p:sp>
      <p:graphicFrame>
        <p:nvGraphicFramePr>
          <p:cNvPr id="52228" name="Group 4"/>
          <p:cNvGraphicFramePr>
            <a:graphicFrameLocks noGrp="1"/>
          </p:cNvGraphicFramePr>
          <p:nvPr/>
        </p:nvGraphicFramePr>
        <p:xfrm>
          <a:off x="1016000" y="1403350"/>
          <a:ext cx="7335838" cy="5046663"/>
        </p:xfrm>
        <a:graphic>
          <a:graphicData uri="http://schemas.openxmlformats.org/drawingml/2006/table">
            <a:tbl>
              <a:tblPr/>
              <a:tblGrid>
                <a:gridCol w="1035050">
                  <a:extLst>
                    <a:ext uri="{9D8B030D-6E8A-4147-A177-3AD203B41FA5}">
                      <a16:colId xmlns:a16="http://schemas.microsoft.com/office/drawing/2014/main" val="20000"/>
                    </a:ext>
                  </a:extLst>
                </a:gridCol>
                <a:gridCol w="2025650">
                  <a:extLst>
                    <a:ext uri="{9D8B030D-6E8A-4147-A177-3AD203B41FA5}">
                      <a16:colId xmlns:a16="http://schemas.microsoft.com/office/drawing/2014/main" val="20001"/>
                    </a:ext>
                  </a:extLst>
                </a:gridCol>
                <a:gridCol w="2251075">
                  <a:extLst>
                    <a:ext uri="{9D8B030D-6E8A-4147-A177-3AD203B41FA5}">
                      <a16:colId xmlns:a16="http://schemas.microsoft.com/office/drawing/2014/main" val="20002"/>
                    </a:ext>
                  </a:extLst>
                </a:gridCol>
                <a:gridCol w="2024063">
                  <a:extLst>
                    <a:ext uri="{9D8B030D-6E8A-4147-A177-3AD203B41FA5}">
                      <a16:colId xmlns:a16="http://schemas.microsoft.com/office/drawing/2014/main" val="20003"/>
                    </a:ext>
                  </a:extLst>
                </a:gridCol>
              </a:tblGrid>
              <a:tr h="779463">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面</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第一个顶点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第二个顶点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第三个顶点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0</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1</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2</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3</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4</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5</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6</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7</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2A73DE44-9F20-4787-8948-20B052367205}" type="slidenum">
              <a:rPr lang="en-US" altLang="zh-CN" sz="1200">
                <a:solidFill>
                  <a:schemeClr val="tx1"/>
                </a:solidFill>
                <a:latin typeface="Garamond" pitchFamily="18" charset="0"/>
              </a:rPr>
              <a:pPr algn="r" eaLnBrk="1" hangingPunct="1">
                <a:spcBef>
                  <a:spcPct val="0"/>
                </a:spcBef>
              </a:pPr>
              <a:t>50</a:t>
            </a:fld>
            <a:endParaRPr lang="en-US" altLang="zh-CN" sz="1200">
              <a:solidFill>
                <a:schemeClr val="tx1"/>
              </a:solidFill>
              <a:latin typeface="Garamond" pitchFamily="18" charset="0"/>
            </a:endParaRPr>
          </a:p>
        </p:txBody>
      </p:sp>
      <p:sp>
        <p:nvSpPr>
          <p:cNvPr id="53251" name="Rectangle 2"/>
          <p:cNvSpPr>
            <a:spLocks noChangeArrowheads="1"/>
          </p:cNvSpPr>
          <p:nvPr/>
        </p:nvSpPr>
        <p:spPr bwMode="auto">
          <a:xfrm>
            <a:off x="2727325" y="503238"/>
            <a:ext cx="35369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b="1">
                <a:solidFill>
                  <a:schemeClr val="tx1"/>
                </a:solidFill>
                <a:latin typeface="楷体_GB2312" pitchFamily="1" charset="-122"/>
                <a:ea typeface="楷体_GB2312" pitchFamily="1" charset="-122"/>
              </a:rPr>
              <a:t>表</a:t>
            </a:r>
            <a:r>
              <a:rPr lang="en-US" altLang="zh-CN" b="1">
                <a:solidFill>
                  <a:schemeClr val="tx1"/>
                </a:solidFill>
                <a:latin typeface="楷体_GB2312" pitchFamily="1" charset="-122"/>
                <a:ea typeface="楷体_GB2312" pitchFamily="1" charset="-122"/>
              </a:rPr>
              <a:t>9-13 </a:t>
            </a:r>
            <a:r>
              <a:rPr lang="zh-CN" altLang="en-US" b="1">
                <a:solidFill>
                  <a:schemeClr val="tx1"/>
                </a:solidFill>
                <a:latin typeface="楷体_GB2312" pitchFamily="1" charset="-122"/>
                <a:ea typeface="楷体_GB2312" pitchFamily="1" charset="-122"/>
              </a:rPr>
              <a:t>正二十面体面表</a:t>
            </a:r>
          </a:p>
        </p:txBody>
      </p:sp>
      <p:graphicFrame>
        <p:nvGraphicFramePr>
          <p:cNvPr id="53252" name="Group 4"/>
          <p:cNvGraphicFramePr>
            <a:graphicFrameLocks noGrp="1"/>
          </p:cNvGraphicFramePr>
          <p:nvPr/>
        </p:nvGraphicFramePr>
        <p:xfrm>
          <a:off x="1016000" y="1403350"/>
          <a:ext cx="7335838" cy="5046663"/>
        </p:xfrm>
        <a:graphic>
          <a:graphicData uri="http://schemas.openxmlformats.org/drawingml/2006/table">
            <a:tbl>
              <a:tblPr/>
              <a:tblGrid>
                <a:gridCol w="1035050">
                  <a:extLst>
                    <a:ext uri="{9D8B030D-6E8A-4147-A177-3AD203B41FA5}">
                      <a16:colId xmlns:a16="http://schemas.microsoft.com/office/drawing/2014/main" val="20000"/>
                    </a:ext>
                  </a:extLst>
                </a:gridCol>
                <a:gridCol w="2025650">
                  <a:extLst>
                    <a:ext uri="{9D8B030D-6E8A-4147-A177-3AD203B41FA5}">
                      <a16:colId xmlns:a16="http://schemas.microsoft.com/office/drawing/2014/main" val="20001"/>
                    </a:ext>
                  </a:extLst>
                </a:gridCol>
                <a:gridCol w="2251075">
                  <a:extLst>
                    <a:ext uri="{9D8B030D-6E8A-4147-A177-3AD203B41FA5}">
                      <a16:colId xmlns:a16="http://schemas.microsoft.com/office/drawing/2014/main" val="20002"/>
                    </a:ext>
                  </a:extLst>
                </a:gridCol>
                <a:gridCol w="2024063">
                  <a:extLst>
                    <a:ext uri="{9D8B030D-6E8A-4147-A177-3AD203B41FA5}">
                      <a16:colId xmlns:a16="http://schemas.microsoft.com/office/drawing/2014/main" val="20003"/>
                    </a:ext>
                  </a:extLst>
                </a:gridCol>
              </a:tblGrid>
              <a:tr h="779463">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面</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第一个顶点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第二个顶点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第三个顶点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8</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9</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10</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11</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12</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13</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14</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15</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294478B4-680A-4272-83CF-372CBAF517A9}" type="slidenum">
              <a:rPr lang="en-US" altLang="zh-CN" sz="1200">
                <a:solidFill>
                  <a:schemeClr val="tx1"/>
                </a:solidFill>
                <a:latin typeface="Garamond" pitchFamily="18" charset="0"/>
              </a:rPr>
              <a:pPr algn="r" eaLnBrk="1" hangingPunct="1">
                <a:spcBef>
                  <a:spcPct val="0"/>
                </a:spcBef>
              </a:pPr>
              <a:t>51</a:t>
            </a:fld>
            <a:endParaRPr lang="en-US" altLang="zh-CN" sz="1200">
              <a:solidFill>
                <a:schemeClr val="tx1"/>
              </a:solidFill>
              <a:latin typeface="Garamond" pitchFamily="18" charset="0"/>
            </a:endParaRPr>
          </a:p>
        </p:txBody>
      </p:sp>
      <p:sp>
        <p:nvSpPr>
          <p:cNvPr id="54275" name="Rectangle 2"/>
          <p:cNvSpPr>
            <a:spLocks noChangeArrowheads="1"/>
          </p:cNvSpPr>
          <p:nvPr/>
        </p:nvSpPr>
        <p:spPr bwMode="auto">
          <a:xfrm>
            <a:off x="2727325" y="503238"/>
            <a:ext cx="35369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b="1">
                <a:solidFill>
                  <a:schemeClr val="tx1"/>
                </a:solidFill>
                <a:latin typeface="楷体_GB2312" pitchFamily="1" charset="-122"/>
                <a:ea typeface="楷体_GB2312" pitchFamily="1" charset="-122"/>
              </a:rPr>
              <a:t>表</a:t>
            </a:r>
            <a:r>
              <a:rPr lang="en-US" altLang="zh-CN" b="1">
                <a:solidFill>
                  <a:schemeClr val="tx1"/>
                </a:solidFill>
                <a:latin typeface="楷体_GB2312" pitchFamily="1" charset="-122"/>
                <a:ea typeface="楷体_GB2312" pitchFamily="1" charset="-122"/>
              </a:rPr>
              <a:t>9-13 </a:t>
            </a:r>
            <a:r>
              <a:rPr lang="zh-CN" altLang="en-US" b="1">
                <a:solidFill>
                  <a:schemeClr val="tx1"/>
                </a:solidFill>
                <a:latin typeface="楷体_GB2312" pitchFamily="1" charset="-122"/>
                <a:ea typeface="楷体_GB2312" pitchFamily="1" charset="-122"/>
              </a:rPr>
              <a:t>正二十面体面表</a:t>
            </a:r>
          </a:p>
        </p:txBody>
      </p:sp>
      <p:graphicFrame>
        <p:nvGraphicFramePr>
          <p:cNvPr id="54276" name="Group 4"/>
          <p:cNvGraphicFramePr>
            <a:graphicFrameLocks noGrp="1"/>
          </p:cNvGraphicFramePr>
          <p:nvPr/>
        </p:nvGraphicFramePr>
        <p:xfrm>
          <a:off x="927100" y="1584325"/>
          <a:ext cx="7335838" cy="2913063"/>
        </p:xfrm>
        <a:graphic>
          <a:graphicData uri="http://schemas.openxmlformats.org/drawingml/2006/table">
            <a:tbl>
              <a:tblPr/>
              <a:tblGrid>
                <a:gridCol w="1035050">
                  <a:extLst>
                    <a:ext uri="{9D8B030D-6E8A-4147-A177-3AD203B41FA5}">
                      <a16:colId xmlns:a16="http://schemas.microsoft.com/office/drawing/2014/main" val="20000"/>
                    </a:ext>
                  </a:extLst>
                </a:gridCol>
                <a:gridCol w="2025650">
                  <a:extLst>
                    <a:ext uri="{9D8B030D-6E8A-4147-A177-3AD203B41FA5}">
                      <a16:colId xmlns:a16="http://schemas.microsoft.com/office/drawing/2014/main" val="20001"/>
                    </a:ext>
                  </a:extLst>
                </a:gridCol>
                <a:gridCol w="2251075">
                  <a:extLst>
                    <a:ext uri="{9D8B030D-6E8A-4147-A177-3AD203B41FA5}">
                      <a16:colId xmlns:a16="http://schemas.microsoft.com/office/drawing/2014/main" val="20002"/>
                    </a:ext>
                  </a:extLst>
                </a:gridCol>
                <a:gridCol w="2024063">
                  <a:extLst>
                    <a:ext uri="{9D8B030D-6E8A-4147-A177-3AD203B41FA5}">
                      <a16:colId xmlns:a16="http://schemas.microsoft.com/office/drawing/2014/main" val="20003"/>
                    </a:ext>
                  </a:extLst>
                </a:gridCol>
              </a:tblGrid>
              <a:tr h="779463">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面</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第一个顶点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第二个顶点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zh-CN" altLang="en-US" sz="2400" b="0" i="0" u="none" strike="noStrike" cap="none" normalizeH="0" baseline="0" smtClean="0">
                          <a:ln>
                            <a:noFill/>
                          </a:ln>
                          <a:solidFill>
                            <a:schemeClr val="tx1"/>
                          </a:solidFill>
                          <a:effectLst/>
                          <a:latin typeface="楷体_GB2312" pitchFamily="1" charset="-122"/>
                          <a:ea typeface="楷体_GB2312" pitchFamily="1" charset="-122"/>
                        </a:rPr>
                        <a:t>第三个顶点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16</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17</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18</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3400">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F</a:t>
                      </a:r>
                      <a:r>
                        <a:rPr kumimoji="0" lang="en-US" altLang="zh-CN" sz="2400" b="0" i="0" u="none" strike="noStrike" cap="none" normalizeH="0" baseline="-30000" smtClean="0">
                          <a:ln>
                            <a:noFill/>
                          </a:ln>
                          <a:solidFill>
                            <a:schemeClr val="tx1"/>
                          </a:solidFill>
                          <a:effectLst/>
                          <a:latin typeface="楷体_GB2312" pitchFamily="1" charset="-122"/>
                          <a:ea typeface="楷体_GB2312" pitchFamily="1" charset="-122"/>
                        </a:rPr>
                        <a:t>19</a:t>
                      </a:r>
                      <a:endPar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SzPct val="65000"/>
                        <a:buFont typeface="Wingdings" pitchFamily="2" charset="2"/>
                        <a:defRPr sz="2600">
                          <a:solidFill>
                            <a:schemeClr val="tx1"/>
                          </a:solidFill>
                          <a:latin typeface="Arial" pitchFamily="34" charset="0"/>
                          <a:ea typeface="宋体" pitchFamily="2" charset="-122"/>
                        </a:defRPr>
                      </a:lvl1pPr>
                      <a:lvl2pPr marL="742950" indent="-285750" algn="l" eaLnBrk="0" hangingPunct="0">
                        <a:spcBef>
                          <a:spcPct val="20000"/>
                        </a:spcBef>
                        <a:buClr>
                          <a:schemeClr val="accent1"/>
                        </a:buClr>
                        <a:buSzPct val="65000"/>
                        <a:buFont typeface="Wingdings" pitchFamily="2" charset="2"/>
                        <a:defRPr sz="2200">
                          <a:solidFill>
                            <a:schemeClr val="tx1"/>
                          </a:solidFill>
                          <a:latin typeface="Arial" pitchFamily="34" charset="0"/>
                          <a:ea typeface="宋体" pitchFamily="2" charset="-122"/>
                        </a:defRPr>
                      </a:lvl2pPr>
                      <a:lvl3pPr marL="1143000" indent="-228600" algn="l" eaLnBrk="0" hangingPunct="0">
                        <a:spcBef>
                          <a:spcPct val="20000"/>
                        </a:spcBef>
                        <a:buClr>
                          <a:schemeClr val="accent1"/>
                        </a:buClr>
                        <a:buSzPct val="65000"/>
                        <a:buFont typeface="Wingdings" pitchFamily="2" charset="2"/>
                        <a:defRPr sz="2000">
                          <a:solidFill>
                            <a:schemeClr val="tx1"/>
                          </a:solidFill>
                          <a:latin typeface="Arial" pitchFamily="34" charset="0"/>
                          <a:ea typeface="宋体" pitchFamily="2" charset="-122"/>
                        </a:defRPr>
                      </a:lvl3pPr>
                      <a:lvl4pPr marL="16002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4pPr>
                      <a:lvl5pPr marL="2057400" indent="-228600" algn="l" eaLnBrk="0" hangingPunct="0">
                        <a:spcBef>
                          <a:spcPct val="20000"/>
                        </a:spcBef>
                        <a:buClr>
                          <a:schemeClr val="accent1"/>
                        </a:buClr>
                        <a:buSzPct val="65000"/>
                        <a:buFont typeface="Wingdings" pitchFamily="2" charset="2"/>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65000"/>
                        <a:buFont typeface="Wingdings" pitchFamily="2" charset="2"/>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n-US" altLang="zh-CN" sz="2400" b="0" i="0" u="none" strike="noStrike" cap="none" normalizeH="0" baseline="0" smtClean="0">
                          <a:ln>
                            <a:noFill/>
                          </a:ln>
                          <a:solidFill>
                            <a:schemeClr val="tx1"/>
                          </a:solidFill>
                          <a:effectLst/>
                          <a:latin typeface="楷体_GB2312" pitchFamily="1" charset="-122"/>
                          <a:ea typeface="楷体_GB2312" pitchFamily="1" charset="-122"/>
                        </a:rPr>
                        <a:t>10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486D1B44-C219-4816-BDCF-1ADA7C407F09}" type="slidenum">
              <a:rPr lang="en-US" altLang="zh-CN" sz="1200">
                <a:solidFill>
                  <a:schemeClr val="tx1"/>
                </a:solidFill>
                <a:latin typeface="Garamond" pitchFamily="18" charset="0"/>
              </a:rPr>
              <a:pPr algn="r" eaLnBrk="1" hangingPunct="1">
                <a:spcBef>
                  <a:spcPct val="0"/>
                </a:spcBef>
              </a:pPr>
              <a:t>52</a:t>
            </a:fld>
            <a:endParaRPr lang="en-US" altLang="zh-CN" sz="1200">
              <a:solidFill>
                <a:schemeClr val="tx1"/>
              </a:solidFill>
              <a:latin typeface="Garamond" pitchFamily="18" charset="0"/>
            </a:endParaRPr>
          </a:p>
        </p:txBody>
      </p:sp>
      <p:pic>
        <p:nvPicPr>
          <p:cNvPr id="5529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2400" y="279400"/>
            <a:ext cx="6891338" cy="496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Text Box 5"/>
          <p:cNvSpPr txBox="1">
            <a:spLocks noChangeArrowheads="1"/>
          </p:cNvSpPr>
          <p:nvPr/>
        </p:nvSpPr>
        <p:spPr bwMode="auto">
          <a:xfrm>
            <a:off x="2906713" y="5724525"/>
            <a:ext cx="3421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ea typeface="楷体_GB2312" pitchFamily="1" charset="-122"/>
                <a:hlinkClick r:id="rId3" action="ppaction://hlinkfile"/>
              </a:rPr>
              <a:t>正二十面体模型</a:t>
            </a:r>
            <a:endParaRPr lang="zh-CN" altLang="en-US" sz="2000">
              <a:solidFill>
                <a:schemeClr val="tx1"/>
              </a:solidFill>
              <a:ea typeface="楷体_GB2312" pitchFamily="1"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A530CF7D-D14F-47E9-B771-70FBE903B0AD}" type="slidenum">
              <a:rPr lang="en-US" altLang="zh-CN" sz="1200">
                <a:solidFill>
                  <a:schemeClr val="tx1"/>
                </a:solidFill>
                <a:latin typeface="Garamond" pitchFamily="18" charset="0"/>
              </a:rPr>
              <a:pPr algn="r" eaLnBrk="1" hangingPunct="1">
                <a:spcBef>
                  <a:spcPct val="0"/>
                </a:spcBef>
              </a:pPr>
              <a:t>53</a:t>
            </a:fld>
            <a:endParaRPr lang="en-US" altLang="zh-CN" sz="1200">
              <a:solidFill>
                <a:schemeClr val="tx1"/>
              </a:solidFill>
              <a:latin typeface="Garamond" pitchFamily="18" charset="0"/>
            </a:endParaRPr>
          </a:p>
        </p:txBody>
      </p:sp>
      <p:sp>
        <p:nvSpPr>
          <p:cNvPr id="56323" name="Rectangle 4"/>
          <p:cNvSpPr>
            <a:spLocks noChangeArrowheads="1"/>
          </p:cNvSpPr>
          <p:nvPr/>
        </p:nvSpPr>
        <p:spPr bwMode="auto">
          <a:xfrm>
            <a:off x="746125" y="1305356"/>
            <a:ext cx="7561263" cy="3896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40000"/>
              </a:lnSpc>
              <a:buClr>
                <a:srgbClr val="FF6699"/>
              </a:buClr>
              <a:buFont typeface="Wingdings" pitchFamily="2" charset="2"/>
              <a:buNone/>
            </a:pPr>
            <a:r>
              <a:rPr lang="zh-CN" altLang="en-US" dirty="0">
                <a:solidFill>
                  <a:schemeClr val="tx1"/>
                </a:solidFill>
                <a:ea typeface="楷体_GB2312" pitchFamily="1" charset="-122"/>
              </a:rPr>
              <a:t>       多面体是由平面多边形组成的物体，</a:t>
            </a:r>
            <a:r>
              <a:rPr lang="zh-CN" altLang="en-US" b="1" dirty="0">
                <a:solidFill>
                  <a:srgbClr val="FF0000"/>
                </a:solidFill>
                <a:latin typeface="方正粗黑宋简体" panose="02000000000000000000" pitchFamily="2" charset="-122"/>
                <a:ea typeface="方正粗黑宋简体" panose="02000000000000000000" pitchFamily="2" charset="-122"/>
              </a:rPr>
              <a:t>多面体</a:t>
            </a:r>
            <a:r>
              <a:rPr lang="zh-CN" altLang="en-US" dirty="0">
                <a:solidFill>
                  <a:schemeClr val="tx1"/>
                </a:solidFill>
                <a:ea typeface="楷体_GB2312" pitchFamily="1" charset="-122"/>
              </a:rPr>
              <a:t>没有方程表示形式，用</a:t>
            </a:r>
            <a:r>
              <a:rPr lang="zh-CN" altLang="en-US" b="1" dirty="0">
                <a:solidFill>
                  <a:srgbClr val="FF0000"/>
                </a:solidFill>
                <a:latin typeface="方正粗黑宋简体" panose="02000000000000000000" pitchFamily="2" charset="-122"/>
                <a:ea typeface="方正粗黑宋简体" panose="02000000000000000000" pitchFamily="2" charset="-122"/>
              </a:rPr>
              <a:t>顶点表和面表直接给出数据结构定义</a:t>
            </a:r>
            <a:r>
              <a:rPr lang="zh-CN" altLang="en-US" dirty="0">
                <a:solidFill>
                  <a:schemeClr val="tx1"/>
                </a:solidFill>
                <a:ea typeface="楷体_GB2312" pitchFamily="1" charset="-122"/>
              </a:rPr>
              <a:t>。</a:t>
            </a:r>
          </a:p>
          <a:p>
            <a:pPr algn="l" eaLnBrk="1" hangingPunct="1">
              <a:lnSpc>
                <a:spcPct val="140000"/>
              </a:lnSpc>
              <a:buClr>
                <a:srgbClr val="FF6699"/>
              </a:buClr>
              <a:buFont typeface="Wingdings" pitchFamily="2" charset="2"/>
              <a:buNone/>
            </a:pPr>
            <a:r>
              <a:rPr lang="zh-CN" altLang="en-US" dirty="0">
                <a:solidFill>
                  <a:schemeClr val="tx1"/>
                </a:solidFill>
                <a:ea typeface="楷体_GB2312" pitchFamily="1" charset="-122"/>
              </a:rPr>
              <a:t>        对于球、圆柱、圆锥、圆环等光滑物体，表面有确定的</a:t>
            </a:r>
            <a:r>
              <a:rPr lang="zh-CN" altLang="en-US" b="1" dirty="0">
                <a:solidFill>
                  <a:srgbClr val="FF0000"/>
                </a:solidFill>
                <a:latin typeface="方正粗黑宋简体" panose="02000000000000000000" pitchFamily="2" charset="-122"/>
                <a:ea typeface="方正粗黑宋简体" panose="02000000000000000000" pitchFamily="2" charset="-122"/>
              </a:rPr>
              <a:t>参数方程</a:t>
            </a:r>
            <a:r>
              <a:rPr lang="zh-CN" altLang="en-US" dirty="0">
                <a:solidFill>
                  <a:schemeClr val="tx1"/>
                </a:solidFill>
                <a:ea typeface="楷体_GB2312" pitchFamily="1" charset="-122"/>
              </a:rPr>
              <a:t>表示形式。绘制光滑物体时，需要进行网格划分，即把</a:t>
            </a:r>
            <a:r>
              <a:rPr lang="zh-CN" altLang="en-US" b="1" dirty="0">
                <a:solidFill>
                  <a:srgbClr val="FF0000"/>
                </a:solidFill>
                <a:latin typeface="方正粗黑宋简体" panose="02000000000000000000" pitchFamily="2" charset="-122"/>
                <a:ea typeface="方正粗黑宋简体" panose="02000000000000000000" pitchFamily="2" charset="-122"/>
              </a:rPr>
              <a:t>光滑曲面离散为平面多边形表示</a:t>
            </a:r>
            <a:r>
              <a:rPr lang="zh-CN" altLang="en-US" dirty="0">
                <a:solidFill>
                  <a:schemeClr val="tx1"/>
                </a:solidFill>
                <a:ea typeface="楷体_GB2312" pitchFamily="1" charset="-122"/>
              </a:rPr>
              <a:t>，这些多边形一般为</a:t>
            </a:r>
            <a:r>
              <a:rPr lang="zh-CN" altLang="en-US" b="1" dirty="0">
                <a:solidFill>
                  <a:srgbClr val="3333FF"/>
                </a:solidFill>
                <a:latin typeface="方正粗黑宋简体" panose="02000000000000000000" pitchFamily="2" charset="-122"/>
                <a:ea typeface="方正粗黑宋简体" panose="02000000000000000000" pitchFamily="2" charset="-122"/>
              </a:rPr>
              <a:t>平面四边形或三角形网格</a:t>
            </a:r>
            <a:r>
              <a:rPr lang="zh-CN" altLang="en-US" dirty="0">
                <a:solidFill>
                  <a:schemeClr val="tx1"/>
                </a:solidFill>
                <a:ea typeface="楷体_GB2312" pitchFamily="1" charset="-122"/>
              </a:rPr>
              <a:t>。光滑物体的网格顶点表和面表使用物体的</a:t>
            </a:r>
            <a:r>
              <a:rPr lang="zh-CN" altLang="en-US" b="1" dirty="0">
                <a:solidFill>
                  <a:srgbClr val="FF0000"/>
                </a:solidFill>
                <a:latin typeface="方正粗黑宋简体" panose="02000000000000000000" pitchFamily="2" charset="-122"/>
                <a:ea typeface="方正粗黑宋简体" panose="02000000000000000000" pitchFamily="2" charset="-122"/>
              </a:rPr>
              <a:t>参数方程</a:t>
            </a:r>
            <a:r>
              <a:rPr lang="zh-CN" altLang="en-US" dirty="0">
                <a:solidFill>
                  <a:schemeClr val="tx1"/>
                </a:solidFill>
                <a:ea typeface="楷体_GB2312" pitchFamily="1" charset="-122"/>
              </a:rPr>
              <a:t>离散计算后得到。</a:t>
            </a:r>
          </a:p>
        </p:txBody>
      </p:sp>
      <p:sp>
        <p:nvSpPr>
          <p:cNvPr id="56324" name="Rectangle 5"/>
          <p:cNvSpPr>
            <a:spLocks noChangeArrowheads="1"/>
          </p:cNvSpPr>
          <p:nvPr/>
        </p:nvSpPr>
        <p:spPr bwMode="auto">
          <a:xfrm>
            <a:off x="814388" y="477838"/>
            <a:ext cx="21510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sz="2800" b="1">
                <a:solidFill>
                  <a:schemeClr val="tx1"/>
                </a:solidFill>
                <a:latin typeface="楷体_GB2312" pitchFamily="1" charset="-122"/>
                <a:ea typeface="楷体_GB2312" pitchFamily="1" charset="-122"/>
              </a:rPr>
              <a:t>2. </a:t>
            </a:r>
            <a:r>
              <a:rPr lang="zh-CN" altLang="en-US" sz="2800" b="1">
                <a:solidFill>
                  <a:schemeClr val="tx1"/>
                </a:solidFill>
                <a:latin typeface="楷体_GB2312" pitchFamily="1" charset="-122"/>
                <a:ea typeface="楷体_GB2312" pitchFamily="1" charset="-122"/>
              </a:rPr>
              <a:t>光滑物体</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9DBE0E87-72A2-4F63-BF6B-013EA47DEB14}" type="slidenum">
              <a:rPr lang="en-US" altLang="zh-CN" sz="1200">
                <a:solidFill>
                  <a:schemeClr val="tx1"/>
                </a:solidFill>
                <a:latin typeface="Garamond" pitchFamily="18" charset="0"/>
              </a:rPr>
              <a:pPr algn="r" eaLnBrk="1" hangingPunct="1">
                <a:spcBef>
                  <a:spcPct val="0"/>
                </a:spcBef>
              </a:pPr>
              <a:t>54</a:t>
            </a:fld>
            <a:endParaRPr lang="en-US" altLang="zh-CN" sz="1200">
              <a:solidFill>
                <a:schemeClr val="tx1"/>
              </a:solidFill>
              <a:latin typeface="Garamond" pitchFamily="18" charset="0"/>
            </a:endParaRPr>
          </a:p>
        </p:txBody>
      </p:sp>
      <p:sp>
        <p:nvSpPr>
          <p:cNvPr id="57347" name="Text Box 6"/>
          <p:cNvSpPr txBox="1">
            <a:spLocks noChangeArrowheads="1"/>
          </p:cNvSpPr>
          <p:nvPr/>
        </p:nvSpPr>
        <p:spPr bwMode="auto">
          <a:xfrm>
            <a:off x="431800" y="188913"/>
            <a:ext cx="22050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en-US" altLang="zh-CN" b="1">
                <a:solidFill>
                  <a:schemeClr val="tx1"/>
                </a:solidFill>
                <a:latin typeface="楷体_GB2312" pitchFamily="1" charset="-122"/>
                <a:ea typeface="楷体_GB2312" pitchFamily="1" charset="-122"/>
              </a:rPr>
              <a:t>〔1〕</a:t>
            </a:r>
            <a:r>
              <a:rPr lang="zh-CN" altLang="en-US" b="1">
                <a:solidFill>
                  <a:schemeClr val="tx1"/>
                </a:solidFill>
                <a:latin typeface="楷体_GB2312" pitchFamily="1" charset="-122"/>
                <a:ea typeface="楷体_GB2312" pitchFamily="1" charset="-122"/>
              </a:rPr>
              <a:t>球面</a:t>
            </a:r>
          </a:p>
        </p:txBody>
      </p:sp>
      <p:sp>
        <p:nvSpPr>
          <p:cNvPr id="57348" name="Text Box 7"/>
          <p:cNvSpPr txBox="1">
            <a:spLocks noChangeArrowheads="1"/>
          </p:cNvSpPr>
          <p:nvPr/>
        </p:nvSpPr>
        <p:spPr bwMode="auto">
          <a:xfrm>
            <a:off x="657225" y="728663"/>
            <a:ext cx="80105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Clr>
                <a:srgbClr val="FF33CC"/>
              </a:buClr>
              <a:buFont typeface="Wingdings" pitchFamily="2" charset="2"/>
              <a:buNone/>
            </a:pPr>
            <a:r>
              <a:rPr lang="zh-CN" altLang="en-US" dirty="0">
                <a:solidFill>
                  <a:schemeClr val="tx1"/>
                </a:solidFill>
                <a:latin typeface="楷体_GB2312" pitchFamily="1" charset="-122"/>
                <a:ea typeface="楷体_GB2312" pitchFamily="1" charset="-122"/>
              </a:rPr>
              <a:t>    球心在原点，半径为</a:t>
            </a:r>
            <a:r>
              <a:rPr lang="en-US" altLang="zh-CN" dirty="0">
                <a:solidFill>
                  <a:schemeClr val="tx1"/>
                </a:solidFill>
                <a:latin typeface="楷体_GB2312" pitchFamily="1" charset="-122"/>
                <a:ea typeface="楷体_GB2312" pitchFamily="1" charset="-122"/>
              </a:rPr>
              <a:t>r</a:t>
            </a:r>
            <a:r>
              <a:rPr lang="zh-CN" altLang="en-US" dirty="0">
                <a:solidFill>
                  <a:schemeClr val="tx1"/>
                </a:solidFill>
                <a:latin typeface="楷体_GB2312" pitchFamily="1" charset="-122"/>
                <a:ea typeface="楷体_GB2312" pitchFamily="1" charset="-122"/>
              </a:rPr>
              <a:t>的球面三维坐标系如图</a:t>
            </a:r>
            <a:r>
              <a:rPr lang="en-US" altLang="zh-CN" dirty="0">
                <a:solidFill>
                  <a:schemeClr val="tx1"/>
                </a:solidFill>
                <a:latin typeface="楷体_GB2312" pitchFamily="1" charset="-122"/>
                <a:ea typeface="楷体_GB2312" pitchFamily="1" charset="-122"/>
              </a:rPr>
              <a:t>9-26</a:t>
            </a:r>
            <a:r>
              <a:rPr lang="zh-CN" altLang="en-US" dirty="0">
                <a:solidFill>
                  <a:schemeClr val="tx1"/>
                </a:solidFill>
                <a:latin typeface="楷体_GB2312" pitchFamily="1" charset="-122"/>
                <a:ea typeface="楷体_GB2312" pitchFamily="1" charset="-122"/>
              </a:rPr>
              <a:t>所示。球面的参数方程表示为</a:t>
            </a:r>
          </a:p>
        </p:txBody>
      </p:sp>
      <p:graphicFrame>
        <p:nvGraphicFramePr>
          <p:cNvPr id="57351" name="Object 7"/>
          <p:cNvGraphicFramePr>
            <a:graphicFrameLocks noChangeAspect="1"/>
          </p:cNvGraphicFramePr>
          <p:nvPr/>
        </p:nvGraphicFramePr>
        <p:xfrm>
          <a:off x="1736725" y="1628775"/>
          <a:ext cx="5175250" cy="1384300"/>
        </p:xfrm>
        <a:graphic>
          <a:graphicData uri="http://schemas.openxmlformats.org/presentationml/2006/ole">
            <mc:AlternateContent xmlns:mc="http://schemas.openxmlformats.org/markup-compatibility/2006">
              <mc:Choice xmlns:v="urn:schemas-microsoft-com:vml" Requires="v">
                <p:oleObj spid="_x0000_s57407" r:id="rId3" imgW="2921000" imgH="711200" progId="Equation.3">
                  <p:embed/>
                </p:oleObj>
              </mc:Choice>
              <mc:Fallback>
                <p:oleObj r:id="rId3" imgW="2921000" imgH="711200" progId="Equation.3">
                  <p:embed/>
                  <p:pic>
                    <p:nvPicPr>
                      <p:cNvPr id="0" name="Picture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5" y="1628775"/>
                        <a:ext cx="5175250" cy="1384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53" name="Text Box 25"/>
          <p:cNvSpPr txBox="1">
            <a:spLocks noChangeArrowheads="1"/>
          </p:cNvSpPr>
          <p:nvPr/>
        </p:nvSpPr>
        <p:spPr bwMode="auto">
          <a:xfrm>
            <a:off x="3402013" y="6264275"/>
            <a:ext cx="3600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9-26 </a:t>
            </a:r>
            <a:r>
              <a:rPr lang="zh-CN" altLang="en-US" sz="2000">
                <a:solidFill>
                  <a:schemeClr val="tx1"/>
                </a:solidFill>
                <a:latin typeface="楷体_GB2312" pitchFamily="1" charset="-122"/>
                <a:ea typeface="楷体_GB2312" pitchFamily="1" charset="-122"/>
              </a:rPr>
              <a:t>球面的数学模型 </a:t>
            </a:r>
          </a:p>
        </p:txBody>
      </p:sp>
      <p:sp>
        <p:nvSpPr>
          <p:cNvPr id="57354" name="Rectangle 28"/>
          <p:cNvSpPr>
            <a:spLocks noChangeArrowheads="1"/>
          </p:cNvSpPr>
          <p:nvPr/>
        </p:nvSpPr>
        <p:spPr bwMode="auto">
          <a:xfrm>
            <a:off x="7586663" y="1943100"/>
            <a:ext cx="1319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rPr>
              <a:t>（</a:t>
            </a:r>
            <a:r>
              <a:rPr lang="en-US" altLang="zh-CN">
                <a:solidFill>
                  <a:schemeClr val="tx1"/>
                </a:solidFill>
              </a:rPr>
              <a:t>9-2</a:t>
            </a:r>
            <a:r>
              <a:rPr lang="zh-CN" altLang="en-US">
                <a:solidFill>
                  <a:schemeClr val="tx1"/>
                </a:solidFill>
              </a:rPr>
              <a:t>） </a:t>
            </a:r>
          </a:p>
        </p:txBody>
      </p:sp>
      <p:graphicFrame>
        <p:nvGraphicFramePr>
          <p:cNvPr id="57356" name="Object 29"/>
          <p:cNvGraphicFramePr>
            <a:graphicFrameLocks noChangeAspect="1"/>
          </p:cNvGraphicFramePr>
          <p:nvPr/>
        </p:nvGraphicFramePr>
        <p:xfrm>
          <a:off x="3176588" y="2857500"/>
          <a:ext cx="3600450" cy="3378200"/>
        </p:xfrm>
        <a:graphic>
          <a:graphicData uri="http://schemas.openxmlformats.org/presentationml/2006/ole">
            <mc:AlternateContent xmlns:mc="http://schemas.openxmlformats.org/markup-compatibility/2006">
              <mc:Choice xmlns:v="urn:schemas-microsoft-com:vml" Requires="v">
                <p:oleObj spid="_x0000_s57408" r:id="rId5" imgW="4127754" imgH="3863340" progId="Visio.Drawing.11">
                  <p:embed/>
                </p:oleObj>
              </mc:Choice>
              <mc:Fallback>
                <p:oleObj r:id="rId5" imgW="4127754" imgH="3863340" progId="Visio.Drawing.11">
                  <p:embed/>
                  <p:pic>
                    <p:nvPicPr>
                      <p:cNvPr id="0" name="Picture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6588" y="2857500"/>
                        <a:ext cx="3600450" cy="337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DAAF9CEB-037C-4E86-9C67-EC733A2A1DF5}" type="slidenum">
              <a:rPr lang="en-US" altLang="zh-CN" sz="1200">
                <a:solidFill>
                  <a:schemeClr val="tx1"/>
                </a:solidFill>
                <a:latin typeface="Garamond" pitchFamily="18" charset="0"/>
              </a:rPr>
              <a:pPr algn="r" eaLnBrk="1" hangingPunct="1">
                <a:spcBef>
                  <a:spcPct val="0"/>
                </a:spcBef>
              </a:pPr>
              <a:t>55</a:t>
            </a:fld>
            <a:endParaRPr lang="en-US" altLang="zh-CN" sz="1200">
              <a:solidFill>
                <a:schemeClr val="tx1"/>
              </a:solidFill>
              <a:latin typeface="Garamond" pitchFamily="18" charset="0"/>
            </a:endParaRPr>
          </a:p>
        </p:txBody>
      </p:sp>
      <p:sp>
        <p:nvSpPr>
          <p:cNvPr id="58371" name="Text Box 4"/>
          <p:cNvSpPr txBox="1">
            <a:spLocks noChangeArrowheads="1"/>
          </p:cNvSpPr>
          <p:nvPr/>
        </p:nvSpPr>
        <p:spPr bwMode="auto">
          <a:xfrm>
            <a:off x="206375" y="188913"/>
            <a:ext cx="8775700"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20000"/>
              </a:lnSpc>
              <a:buClr>
                <a:srgbClr val="FF33CC"/>
              </a:buClr>
              <a:buFont typeface="Wingdings" pitchFamily="2" charset="2"/>
              <a:buNone/>
            </a:pPr>
            <a:r>
              <a:rPr lang="zh-CN" altLang="en-US" dirty="0">
                <a:solidFill>
                  <a:schemeClr val="tx1"/>
                </a:solidFill>
                <a:latin typeface="楷体_GB2312" pitchFamily="1" charset="-122"/>
                <a:ea typeface="楷体_GB2312" pitchFamily="1" charset="-122"/>
              </a:rPr>
              <a:t>    假定将球面划分为</a:t>
            </a:r>
            <a:r>
              <a:rPr lang="en-US" altLang="zh-CN" dirty="0">
                <a:solidFill>
                  <a:schemeClr val="tx1"/>
                </a:solidFill>
                <a:latin typeface="楷体_GB2312" pitchFamily="1" charset="-122"/>
                <a:ea typeface="楷体_GB2312" pitchFamily="1" charset="-122"/>
              </a:rPr>
              <a:t>n</a:t>
            </a:r>
            <a:r>
              <a:rPr lang="en-US" altLang="zh-CN" baseline="-25000" dirty="0">
                <a:solidFill>
                  <a:schemeClr val="tx1"/>
                </a:solidFill>
                <a:latin typeface="楷体_GB2312" pitchFamily="1" charset="-122"/>
                <a:ea typeface="楷体_GB2312" pitchFamily="1" charset="-122"/>
              </a:rPr>
              <a:t>1</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4</a:t>
            </a:r>
            <a:r>
              <a:rPr lang="zh-CN" altLang="en-US" dirty="0">
                <a:solidFill>
                  <a:schemeClr val="tx1"/>
                </a:solidFill>
                <a:latin typeface="楷体_GB2312" pitchFamily="1" charset="-122"/>
                <a:ea typeface="楷体_GB2312" pitchFamily="1" charset="-122"/>
              </a:rPr>
              <a:t>个纬度区域，</a:t>
            </a:r>
            <a:r>
              <a:rPr lang="en-US" altLang="zh-CN" dirty="0">
                <a:solidFill>
                  <a:schemeClr val="tx1"/>
                </a:solidFill>
                <a:latin typeface="楷体_GB2312" pitchFamily="1" charset="-122"/>
                <a:ea typeface="楷体_GB2312" pitchFamily="1" charset="-122"/>
              </a:rPr>
              <a:t>n</a:t>
            </a:r>
            <a:r>
              <a:rPr lang="en-US" altLang="zh-CN" baseline="-25000" dirty="0">
                <a:solidFill>
                  <a:schemeClr val="tx1"/>
                </a:solidFill>
                <a:latin typeface="楷体_GB2312" pitchFamily="1" charset="-122"/>
                <a:ea typeface="楷体_GB2312" pitchFamily="1" charset="-122"/>
              </a:rPr>
              <a:t>2</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8</a:t>
            </a:r>
            <a:r>
              <a:rPr lang="zh-CN" altLang="en-US" dirty="0">
                <a:solidFill>
                  <a:schemeClr val="tx1"/>
                </a:solidFill>
                <a:latin typeface="楷体_GB2312" pitchFamily="1" charset="-122"/>
                <a:ea typeface="楷体_GB2312" pitchFamily="1" charset="-122"/>
              </a:rPr>
              <a:t>个经度区域。则纬度方向的角度增量和经度方向的角度增量均为</a:t>
            </a:r>
            <a:r>
              <a:rPr lang="en-US" altLang="zh-CN" b="1" dirty="0">
                <a:solidFill>
                  <a:srgbClr val="FF0000"/>
                </a:solidFill>
                <a:latin typeface="黑体" pitchFamily="49" charset="-122"/>
                <a:ea typeface="黑体" pitchFamily="49" charset="-122"/>
              </a:rPr>
              <a:t>α=β=45</a:t>
            </a:r>
            <a:r>
              <a:rPr lang="en-US" altLang="zh-CN" dirty="0">
                <a:solidFill>
                  <a:schemeClr val="tx1"/>
                </a:solidFill>
                <a:latin typeface="楷体_GB2312" pitchFamily="1" charset="-122"/>
                <a:ea typeface="楷体_GB2312" pitchFamily="1" charset="-122"/>
              </a:rPr>
              <a:t>°</a:t>
            </a:r>
            <a:r>
              <a:rPr lang="zh-CN" altLang="en-US" dirty="0">
                <a:solidFill>
                  <a:schemeClr val="tx1"/>
                </a:solidFill>
                <a:latin typeface="楷体_GB2312" pitchFamily="1" charset="-122"/>
                <a:ea typeface="楷体_GB2312" pitchFamily="1" charset="-122"/>
              </a:rPr>
              <a:t>，示例球面的网格模型如图</a:t>
            </a:r>
            <a:r>
              <a:rPr lang="en-US" altLang="zh-CN" dirty="0">
                <a:solidFill>
                  <a:schemeClr val="tx1"/>
                </a:solidFill>
                <a:latin typeface="楷体_GB2312" pitchFamily="1" charset="-122"/>
                <a:ea typeface="楷体_GB2312" pitchFamily="1" charset="-122"/>
              </a:rPr>
              <a:t>9-27</a:t>
            </a:r>
            <a:r>
              <a:rPr lang="zh-CN" altLang="en-US" dirty="0">
                <a:solidFill>
                  <a:schemeClr val="tx1"/>
                </a:solidFill>
                <a:latin typeface="楷体_GB2312" pitchFamily="1" charset="-122"/>
                <a:ea typeface="楷体_GB2312" pitchFamily="1" charset="-122"/>
              </a:rPr>
              <a:t>所示。    </a:t>
            </a:r>
          </a:p>
        </p:txBody>
      </p:sp>
      <p:pic>
        <p:nvPicPr>
          <p:cNvPr id="58372" name="Picture 5"/>
          <p:cNvPicPr>
            <a:picLocks noChangeAspect="1" noChangeArrowheads="1"/>
          </p:cNvPicPr>
          <p:nvPr/>
        </p:nvPicPr>
        <p:blipFill>
          <a:blip r:embed="rId2">
            <a:extLst>
              <a:ext uri="{28A0092B-C50C-407E-A947-70E740481C1C}">
                <a14:useLocalDpi xmlns:a14="http://schemas.microsoft.com/office/drawing/2010/main" val="0"/>
              </a:ext>
            </a:extLst>
          </a:blip>
          <a:srcRect l="10880" t="10216" r="9605" b="6886"/>
          <a:stretch>
            <a:fillRect/>
          </a:stretch>
        </p:blipFill>
        <p:spPr bwMode="auto">
          <a:xfrm>
            <a:off x="2951163" y="2124075"/>
            <a:ext cx="3195637" cy="314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Text Box 6"/>
          <p:cNvSpPr txBox="1">
            <a:spLocks noChangeArrowheads="1"/>
          </p:cNvSpPr>
          <p:nvPr/>
        </p:nvSpPr>
        <p:spPr bwMode="auto">
          <a:xfrm>
            <a:off x="3132138" y="5903913"/>
            <a:ext cx="310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latin typeface="楷体_GB2312" pitchFamily="1" charset="-122"/>
                <a:ea typeface="楷体_GB2312" pitchFamily="1" charset="-122"/>
              </a:rPr>
              <a:t> </a:t>
            </a: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9-27 </a:t>
            </a:r>
            <a:r>
              <a:rPr lang="zh-CN" altLang="en-US" sz="2000">
                <a:solidFill>
                  <a:schemeClr val="tx1"/>
                </a:solidFill>
                <a:latin typeface="楷体_GB2312" pitchFamily="1" charset="-122"/>
                <a:ea typeface="楷体_GB2312" pitchFamily="1" charset="-122"/>
              </a:rPr>
              <a:t>示例球面</a:t>
            </a:r>
            <a:r>
              <a:rPr lang="zh-CN" altLang="en-US" sz="2000">
                <a:latin typeface="楷体_GB2312" pitchFamily="1" charset="-122"/>
                <a:ea typeface="楷体_GB2312" pitchFamily="1" charset="-122"/>
              </a:rPr>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83888EE2-453B-453E-BA38-AE1FDB05CD3C}" type="slidenum">
              <a:rPr lang="en-US" altLang="zh-CN" sz="1200">
                <a:solidFill>
                  <a:schemeClr val="tx1"/>
                </a:solidFill>
                <a:latin typeface="Garamond" pitchFamily="18" charset="0"/>
              </a:rPr>
              <a:pPr algn="r" eaLnBrk="1" hangingPunct="1">
                <a:spcBef>
                  <a:spcPct val="0"/>
                </a:spcBef>
              </a:pPr>
              <a:t>56</a:t>
            </a:fld>
            <a:endParaRPr lang="en-US" altLang="zh-CN" sz="1200">
              <a:solidFill>
                <a:schemeClr val="tx1"/>
              </a:solidFill>
              <a:latin typeface="Garamond" pitchFamily="18" charset="0"/>
            </a:endParaRPr>
          </a:p>
        </p:txBody>
      </p:sp>
      <p:sp>
        <p:nvSpPr>
          <p:cNvPr id="59395" name="Text Box 5"/>
          <p:cNvSpPr txBox="1">
            <a:spLocks noChangeArrowheads="1"/>
          </p:cNvSpPr>
          <p:nvPr/>
        </p:nvSpPr>
        <p:spPr bwMode="auto">
          <a:xfrm>
            <a:off x="431800" y="188913"/>
            <a:ext cx="8370888"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20000"/>
              </a:lnSpc>
              <a:buClr>
                <a:srgbClr val="FF33CC"/>
              </a:buClr>
              <a:buFont typeface="Wingdings" pitchFamily="2" charset="2"/>
              <a:buNone/>
            </a:pPr>
            <a:r>
              <a:rPr lang="zh-CN" altLang="en-US" dirty="0">
                <a:solidFill>
                  <a:schemeClr val="tx1"/>
                </a:solidFill>
                <a:latin typeface="楷体_GB2312" pitchFamily="1" charset="-122"/>
                <a:ea typeface="楷体_GB2312" pitchFamily="1" charset="-122"/>
              </a:rPr>
              <a:t>    球面共有</a:t>
            </a:r>
            <a:r>
              <a:rPr lang="en-US" altLang="zh-CN" dirty="0">
                <a:solidFill>
                  <a:schemeClr val="tx1"/>
                </a:solidFill>
                <a:latin typeface="楷体_GB2312" pitchFamily="1" charset="-122"/>
                <a:ea typeface="楷体_GB2312" pitchFamily="1" charset="-122"/>
              </a:rPr>
              <a:t>(n</a:t>
            </a:r>
            <a:r>
              <a:rPr lang="en-US" altLang="zh-CN" baseline="-25000" dirty="0">
                <a:solidFill>
                  <a:schemeClr val="tx1"/>
                </a:solidFill>
                <a:latin typeface="楷体_GB2312" pitchFamily="1" charset="-122"/>
                <a:ea typeface="楷体_GB2312" pitchFamily="1" charset="-122"/>
              </a:rPr>
              <a:t>1</a:t>
            </a:r>
            <a:r>
              <a:rPr lang="en-US" altLang="zh-CN" dirty="0">
                <a:solidFill>
                  <a:schemeClr val="tx1"/>
                </a:solidFill>
                <a:latin typeface="楷体_GB2312" pitchFamily="1" charset="-122"/>
                <a:ea typeface="楷体_GB2312" pitchFamily="1" charset="-122"/>
              </a:rPr>
              <a:t>-1)*n</a:t>
            </a:r>
            <a:r>
              <a:rPr lang="en-US" altLang="zh-CN" baseline="-25000" dirty="0">
                <a:solidFill>
                  <a:schemeClr val="tx1"/>
                </a:solidFill>
                <a:latin typeface="楷体_GB2312" pitchFamily="1" charset="-122"/>
                <a:ea typeface="楷体_GB2312" pitchFamily="1" charset="-122"/>
              </a:rPr>
              <a:t>2</a:t>
            </a:r>
            <a:r>
              <a:rPr lang="en-US" altLang="zh-CN" dirty="0">
                <a:solidFill>
                  <a:schemeClr val="tx1"/>
                </a:solidFill>
                <a:latin typeface="楷体_GB2312" pitchFamily="1" charset="-122"/>
                <a:ea typeface="楷体_GB2312" pitchFamily="1" charset="-122"/>
              </a:rPr>
              <a:t>+2</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26</a:t>
            </a:r>
            <a:r>
              <a:rPr lang="zh-CN" altLang="en-US" dirty="0">
                <a:solidFill>
                  <a:schemeClr val="tx1"/>
                </a:solidFill>
                <a:latin typeface="楷体_GB2312" pitchFamily="1" charset="-122"/>
                <a:ea typeface="楷体_GB2312" pitchFamily="1" charset="-122"/>
              </a:rPr>
              <a:t>个</a:t>
            </a:r>
            <a:r>
              <a:rPr lang="zh-CN" altLang="en-US" b="1" dirty="0">
                <a:solidFill>
                  <a:srgbClr val="FF0000"/>
                </a:solidFill>
                <a:latin typeface="方正粗黑宋简体" panose="02000000000000000000" pitchFamily="2" charset="-122"/>
                <a:ea typeface="方正粗黑宋简体" panose="02000000000000000000" pitchFamily="2" charset="-122"/>
              </a:rPr>
              <a:t>顶点</a:t>
            </a:r>
            <a:r>
              <a:rPr lang="zh-CN" altLang="en-US" dirty="0">
                <a:solidFill>
                  <a:schemeClr val="tx1"/>
                </a:solidFill>
                <a:latin typeface="楷体_GB2312" pitchFamily="1" charset="-122"/>
                <a:ea typeface="楷体_GB2312" pitchFamily="1" charset="-122"/>
              </a:rPr>
              <a:t>。顶点索引号为</a:t>
            </a:r>
            <a:r>
              <a:rPr lang="en-US" altLang="zh-CN"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25</a:t>
            </a:r>
            <a:r>
              <a:rPr lang="zh-CN" altLang="en-US" dirty="0">
                <a:solidFill>
                  <a:schemeClr val="tx1"/>
                </a:solidFill>
                <a:latin typeface="楷体_GB2312" pitchFamily="1" charset="-122"/>
                <a:ea typeface="楷体_GB2312" pitchFamily="1" charset="-122"/>
              </a:rPr>
              <a:t>。北极点序号为</a:t>
            </a:r>
            <a:r>
              <a:rPr lang="en-US" altLang="zh-CN"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rPr>
              <a:t>，然后从</a:t>
            </a:r>
            <a:r>
              <a:rPr lang="en-US" altLang="zh-CN" dirty="0">
                <a:solidFill>
                  <a:schemeClr val="tx1"/>
                </a:solidFill>
                <a:latin typeface="楷体_GB2312" pitchFamily="1" charset="-122"/>
                <a:ea typeface="楷体_GB2312" pitchFamily="1" charset="-122"/>
              </a:rPr>
              <a:t>z</a:t>
            </a:r>
            <a:r>
              <a:rPr lang="zh-CN" altLang="en-US" dirty="0">
                <a:solidFill>
                  <a:schemeClr val="tx1"/>
                </a:solidFill>
                <a:latin typeface="楷体_GB2312" pitchFamily="1" charset="-122"/>
                <a:ea typeface="楷体_GB2312" pitchFamily="1" charset="-122"/>
              </a:rPr>
              <a:t>轴正向开始，绕</a:t>
            </a:r>
            <a:r>
              <a:rPr lang="en-US" altLang="zh-CN" dirty="0">
                <a:solidFill>
                  <a:schemeClr val="tx1"/>
                </a:solidFill>
                <a:latin typeface="楷体_GB2312" pitchFamily="1" charset="-122"/>
                <a:ea typeface="楷体_GB2312" pitchFamily="1" charset="-122"/>
              </a:rPr>
              <a:t>y</a:t>
            </a:r>
            <a:r>
              <a:rPr lang="zh-CN" altLang="en-US" dirty="0">
                <a:solidFill>
                  <a:schemeClr val="tx1"/>
                </a:solidFill>
                <a:latin typeface="楷体_GB2312" pitchFamily="1" charset="-122"/>
                <a:ea typeface="楷体_GB2312" pitchFamily="1" charset="-122"/>
              </a:rPr>
              <a:t>轴按逆时针方向确定位于第一条纬度线上与各条经度线相交的点，如图</a:t>
            </a:r>
            <a:r>
              <a:rPr lang="en-US" altLang="zh-CN" dirty="0">
                <a:solidFill>
                  <a:schemeClr val="tx1"/>
                </a:solidFill>
                <a:latin typeface="楷体_GB2312" pitchFamily="1" charset="-122"/>
                <a:ea typeface="楷体_GB2312" pitchFamily="1" charset="-122"/>
              </a:rPr>
              <a:t>9-28</a:t>
            </a:r>
            <a:r>
              <a:rPr lang="zh-CN" altLang="en-US" dirty="0">
                <a:solidFill>
                  <a:schemeClr val="tx1"/>
                </a:solidFill>
                <a:latin typeface="楷体_GB2312" pitchFamily="1" charset="-122"/>
                <a:ea typeface="楷体_GB2312" pitchFamily="1" charset="-122"/>
              </a:rPr>
              <a:t>和图</a:t>
            </a:r>
            <a:r>
              <a:rPr lang="en-US" altLang="zh-CN" dirty="0">
                <a:solidFill>
                  <a:schemeClr val="tx1"/>
                </a:solidFill>
                <a:latin typeface="楷体_GB2312" pitchFamily="1" charset="-122"/>
                <a:ea typeface="楷体_GB2312" pitchFamily="1" charset="-122"/>
              </a:rPr>
              <a:t>9-29</a:t>
            </a:r>
            <a:r>
              <a:rPr lang="zh-CN" altLang="en-US" dirty="0">
                <a:solidFill>
                  <a:schemeClr val="tx1"/>
                </a:solidFill>
                <a:latin typeface="楷体_GB2312" pitchFamily="1" charset="-122"/>
                <a:ea typeface="楷体_GB2312" pitchFamily="1" charset="-122"/>
              </a:rPr>
              <a:t>所示，最后一个顶点为南极点。北极点坐标为</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0,r,0</a:t>
            </a:r>
            <a:r>
              <a:rPr lang="zh-CN" altLang="en-US" dirty="0">
                <a:solidFill>
                  <a:schemeClr val="tx1"/>
                </a:solidFill>
                <a:latin typeface="楷体_GB2312" pitchFamily="1" charset="-122"/>
                <a:ea typeface="楷体_GB2312" pitchFamily="1" charset="-122"/>
              </a:rPr>
              <a:t>），南极点坐标为</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25</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0, -r,0</a:t>
            </a:r>
            <a:r>
              <a:rPr lang="zh-CN" altLang="en-US" dirty="0">
                <a:solidFill>
                  <a:schemeClr val="tx1"/>
                </a:solidFill>
                <a:latin typeface="楷体_GB2312" pitchFamily="1" charset="-122"/>
                <a:ea typeface="楷体_GB2312" pitchFamily="1" charset="-122"/>
              </a:rPr>
              <a:t>）。 </a:t>
            </a:r>
          </a:p>
        </p:txBody>
      </p:sp>
      <p:sp>
        <p:nvSpPr>
          <p:cNvPr id="59396" name="Rectangle 6"/>
          <p:cNvSpPr>
            <a:spLocks noChangeArrowheads="1"/>
          </p:cNvSpPr>
          <p:nvPr/>
        </p:nvSpPr>
        <p:spPr bwMode="auto">
          <a:xfrm>
            <a:off x="90488" y="4151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59397" name="Rectangle 7"/>
          <p:cNvSpPr>
            <a:spLocks noChangeArrowheads="1"/>
          </p:cNvSpPr>
          <p:nvPr/>
        </p:nvSpPr>
        <p:spPr bwMode="auto">
          <a:xfrm>
            <a:off x="90488" y="2671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59398" name="Rectangle 8"/>
          <p:cNvSpPr>
            <a:spLocks noChangeArrowheads="1"/>
          </p:cNvSpPr>
          <p:nvPr/>
        </p:nvSpPr>
        <p:spPr bwMode="auto">
          <a:xfrm>
            <a:off x="90488" y="2671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59399" name="Text Box 49"/>
          <p:cNvSpPr txBox="1">
            <a:spLocks noChangeArrowheads="1"/>
          </p:cNvSpPr>
          <p:nvPr/>
        </p:nvSpPr>
        <p:spPr bwMode="auto">
          <a:xfrm>
            <a:off x="1062038" y="6219825"/>
            <a:ext cx="3330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9-28</a:t>
            </a:r>
            <a:r>
              <a:rPr lang="zh-CN" altLang="en-US" sz="2000">
                <a:solidFill>
                  <a:schemeClr val="tx1"/>
                </a:solidFill>
                <a:latin typeface="楷体_GB2312" pitchFamily="1" charset="-122"/>
                <a:ea typeface="楷体_GB2312" pitchFamily="1" charset="-122"/>
              </a:rPr>
              <a:t>北半球顶点编号 </a:t>
            </a:r>
          </a:p>
        </p:txBody>
      </p:sp>
      <p:sp>
        <p:nvSpPr>
          <p:cNvPr id="59400" name="Text Box 50"/>
          <p:cNvSpPr txBox="1">
            <a:spLocks noChangeArrowheads="1"/>
          </p:cNvSpPr>
          <p:nvPr/>
        </p:nvSpPr>
        <p:spPr bwMode="auto">
          <a:xfrm>
            <a:off x="4886325" y="6264275"/>
            <a:ext cx="3375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 图</a:t>
            </a:r>
            <a:r>
              <a:rPr lang="en-US" altLang="zh-CN" sz="2000">
                <a:solidFill>
                  <a:schemeClr val="tx1"/>
                </a:solidFill>
                <a:latin typeface="楷体_GB2312" pitchFamily="1" charset="-122"/>
                <a:ea typeface="楷体_GB2312" pitchFamily="1" charset="-122"/>
              </a:rPr>
              <a:t>9-29</a:t>
            </a:r>
            <a:r>
              <a:rPr lang="zh-CN" altLang="en-US" sz="2000">
                <a:solidFill>
                  <a:schemeClr val="tx1"/>
                </a:solidFill>
                <a:latin typeface="楷体_GB2312" pitchFamily="1" charset="-122"/>
                <a:ea typeface="楷体_GB2312" pitchFamily="1" charset="-122"/>
              </a:rPr>
              <a:t>南半球顶点编号 </a:t>
            </a:r>
          </a:p>
        </p:txBody>
      </p:sp>
      <p:graphicFrame>
        <p:nvGraphicFramePr>
          <p:cNvPr id="59401" name="Object 52"/>
          <p:cNvGraphicFramePr>
            <a:graphicFrameLocks noChangeAspect="1"/>
          </p:cNvGraphicFramePr>
          <p:nvPr/>
        </p:nvGraphicFramePr>
        <p:xfrm>
          <a:off x="927100" y="2484438"/>
          <a:ext cx="3644900" cy="3644900"/>
        </p:xfrm>
        <a:graphic>
          <a:graphicData uri="http://schemas.openxmlformats.org/presentationml/2006/ole">
            <mc:AlternateContent xmlns:mc="http://schemas.openxmlformats.org/markup-compatibility/2006">
              <mc:Choice xmlns:v="urn:schemas-microsoft-com:vml" Requires="v">
                <p:oleObj spid="_x0000_s59456" r:id="rId3" imgW="5213429" imgH="5208891" progId="Visio.Drawing.11">
                  <p:embed/>
                </p:oleObj>
              </mc:Choice>
              <mc:Fallback>
                <p:oleObj r:id="rId3" imgW="5213429" imgH="5208891" progId="Visio.Drawing.11">
                  <p:embed/>
                  <p:pic>
                    <p:nvPicPr>
                      <p:cNvPr id="0" name="Picture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100" y="2484438"/>
                        <a:ext cx="3644900" cy="364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402" name="Object 51"/>
          <p:cNvGraphicFramePr>
            <a:graphicFrameLocks noChangeAspect="1"/>
          </p:cNvGraphicFramePr>
          <p:nvPr/>
        </p:nvGraphicFramePr>
        <p:xfrm>
          <a:off x="5067300" y="2259013"/>
          <a:ext cx="3690938" cy="3662362"/>
        </p:xfrm>
        <a:graphic>
          <a:graphicData uri="http://schemas.openxmlformats.org/presentationml/2006/ole">
            <mc:AlternateContent xmlns:mc="http://schemas.openxmlformats.org/markup-compatibility/2006">
              <mc:Choice xmlns:v="urn:schemas-microsoft-com:vml" Requires="v">
                <p:oleObj spid="_x0000_s59457" r:id="rId5" imgW="5213429" imgH="5168630" progId="Visio.Drawing.11">
                  <p:embed/>
                </p:oleObj>
              </mc:Choice>
              <mc:Fallback>
                <p:oleObj r:id="rId5" imgW="5213429" imgH="5168630" progId="Visio.Drawing.11">
                  <p:embed/>
                  <p:pic>
                    <p:nvPicPr>
                      <p:cNvPr id="0"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7300" y="2259013"/>
                        <a:ext cx="3690938" cy="3662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83127952-0DED-4C6F-9EEC-E54B8E8E74A5}" type="slidenum">
              <a:rPr lang="en-US" altLang="zh-CN" sz="1200">
                <a:solidFill>
                  <a:schemeClr val="tx1"/>
                </a:solidFill>
                <a:latin typeface="Garamond" pitchFamily="18" charset="0"/>
              </a:rPr>
              <a:pPr algn="r" eaLnBrk="1" hangingPunct="1">
                <a:spcBef>
                  <a:spcPct val="0"/>
                </a:spcBef>
              </a:pPr>
              <a:t>57</a:t>
            </a:fld>
            <a:endParaRPr lang="en-US" altLang="zh-CN" sz="1200">
              <a:solidFill>
                <a:schemeClr val="tx1"/>
              </a:solidFill>
              <a:latin typeface="Garamond" pitchFamily="18" charset="0"/>
            </a:endParaRPr>
          </a:p>
        </p:txBody>
      </p:sp>
      <p:sp>
        <p:nvSpPr>
          <p:cNvPr id="60419" name="Text Box 2"/>
          <p:cNvSpPr txBox="1">
            <a:spLocks noChangeArrowheads="1"/>
          </p:cNvSpPr>
          <p:nvPr/>
        </p:nvSpPr>
        <p:spPr bwMode="auto">
          <a:xfrm>
            <a:off x="431800" y="188913"/>
            <a:ext cx="8370888"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20000"/>
              </a:lnSpc>
              <a:buClr>
                <a:srgbClr val="FF33CC"/>
              </a:buClr>
              <a:buFont typeface="Wingdings" pitchFamily="2" charset="2"/>
              <a:buNone/>
            </a:pPr>
            <a:r>
              <a:rPr lang="zh-CN" altLang="en-US" dirty="0">
                <a:solidFill>
                  <a:schemeClr val="tx1"/>
                </a:solidFill>
                <a:latin typeface="楷体_GB2312" pitchFamily="1" charset="-122"/>
                <a:ea typeface="楷体_GB2312" pitchFamily="1" charset="-122"/>
              </a:rPr>
              <a:t>    </a:t>
            </a:r>
            <a:r>
              <a:rPr lang="zh-CN" altLang="en-US" b="1" dirty="0">
                <a:solidFill>
                  <a:srgbClr val="FF0000"/>
                </a:solidFill>
                <a:latin typeface="方正粗黑宋简体" panose="02000000000000000000" pitchFamily="2" charset="-122"/>
                <a:ea typeface="方正粗黑宋简体" panose="02000000000000000000" pitchFamily="2" charset="-122"/>
              </a:rPr>
              <a:t>面表</a:t>
            </a:r>
            <a:r>
              <a:rPr lang="zh-CN" altLang="en-US" dirty="0">
                <a:solidFill>
                  <a:schemeClr val="tx1"/>
                </a:solidFill>
                <a:latin typeface="楷体_GB2312" pitchFamily="1" charset="-122"/>
                <a:ea typeface="楷体_GB2312" pitchFamily="1" charset="-122"/>
              </a:rPr>
              <a:t>用二维数组定义，</a:t>
            </a:r>
            <a:r>
              <a:rPr lang="zh-CN" altLang="en-US" b="1" dirty="0">
                <a:solidFill>
                  <a:srgbClr val="FF0000"/>
                </a:solidFill>
                <a:latin typeface="方正粗黑宋简体" panose="02000000000000000000" pitchFamily="2" charset="-122"/>
                <a:ea typeface="方正粗黑宋简体" panose="02000000000000000000" pitchFamily="2" charset="-122"/>
              </a:rPr>
              <a:t>第一维表示纬度自北极向南极递增的方向</a:t>
            </a:r>
            <a:r>
              <a:rPr lang="zh-CN" altLang="en-US" dirty="0">
                <a:solidFill>
                  <a:schemeClr val="tx1"/>
                </a:solidFill>
                <a:latin typeface="楷体_GB2312" pitchFamily="1" charset="-122"/>
                <a:ea typeface="楷体_GB2312" pitchFamily="1" charset="-122"/>
              </a:rPr>
              <a:t>，第二维表示在同一纬度线上</a:t>
            </a:r>
            <a:r>
              <a:rPr lang="zh-CN" altLang="en-US" b="1" dirty="0">
                <a:solidFill>
                  <a:srgbClr val="FF0000"/>
                </a:solidFill>
                <a:latin typeface="方正粗黑宋简体" panose="02000000000000000000" pitchFamily="2" charset="-122"/>
                <a:ea typeface="方正粗黑宋简体" panose="02000000000000000000" pitchFamily="2" charset="-122"/>
              </a:rPr>
              <a:t>从</a:t>
            </a:r>
            <a:r>
              <a:rPr lang="en-US" altLang="zh-CN" b="1" dirty="0">
                <a:solidFill>
                  <a:srgbClr val="FF0000"/>
                </a:solidFill>
                <a:latin typeface="方正粗黑宋简体" panose="02000000000000000000" pitchFamily="2" charset="-122"/>
                <a:ea typeface="方正粗黑宋简体" panose="02000000000000000000" pitchFamily="2" charset="-122"/>
              </a:rPr>
              <a:t>z</a:t>
            </a:r>
            <a:r>
              <a:rPr lang="zh-CN" altLang="en-US" b="1" dirty="0">
                <a:solidFill>
                  <a:srgbClr val="FF0000"/>
                </a:solidFill>
                <a:latin typeface="方正粗黑宋简体" panose="02000000000000000000" pitchFamily="2" charset="-122"/>
                <a:ea typeface="方正粗黑宋简体" panose="02000000000000000000" pitchFamily="2" charset="-122"/>
              </a:rPr>
              <a:t>轴正向开始，绕</a:t>
            </a:r>
            <a:r>
              <a:rPr lang="en-US" altLang="zh-CN" b="1" dirty="0">
                <a:solidFill>
                  <a:srgbClr val="FF0000"/>
                </a:solidFill>
                <a:latin typeface="方正粗黑宋简体" panose="02000000000000000000" pitchFamily="2" charset="-122"/>
                <a:ea typeface="方正粗黑宋简体" panose="02000000000000000000" pitchFamily="2" charset="-122"/>
              </a:rPr>
              <a:t>y</a:t>
            </a:r>
            <a:r>
              <a:rPr lang="zh-CN" altLang="en-US" b="1" dirty="0">
                <a:solidFill>
                  <a:srgbClr val="FF0000"/>
                </a:solidFill>
                <a:latin typeface="方正粗黑宋简体" panose="02000000000000000000" pitchFamily="2" charset="-122"/>
                <a:ea typeface="方正粗黑宋简体" panose="02000000000000000000" pitchFamily="2" charset="-122"/>
              </a:rPr>
              <a:t>轴的逆时针方向</a:t>
            </a:r>
            <a:r>
              <a:rPr lang="zh-CN" altLang="en-US" dirty="0">
                <a:solidFill>
                  <a:schemeClr val="tx1"/>
                </a:solidFill>
                <a:latin typeface="楷体_GB2312" pitchFamily="1" charset="-122"/>
                <a:ea typeface="楷体_GB2312" pitchFamily="1" charset="-122"/>
              </a:rPr>
              <a:t>。如图</a:t>
            </a:r>
            <a:r>
              <a:rPr lang="en-US" altLang="zh-CN" dirty="0">
                <a:solidFill>
                  <a:schemeClr val="tx1"/>
                </a:solidFill>
                <a:latin typeface="楷体_GB2312" pitchFamily="1" charset="-122"/>
                <a:ea typeface="楷体_GB2312" pitchFamily="1" charset="-122"/>
              </a:rPr>
              <a:t>9-30</a:t>
            </a:r>
            <a:r>
              <a:rPr lang="zh-CN" altLang="en-US" dirty="0">
                <a:solidFill>
                  <a:schemeClr val="tx1"/>
                </a:solidFill>
                <a:latin typeface="楷体_GB2312" pitchFamily="1" charset="-122"/>
                <a:ea typeface="楷体_GB2312" pitchFamily="1" charset="-122"/>
              </a:rPr>
              <a:t>和图</a:t>
            </a:r>
            <a:r>
              <a:rPr lang="en-US" altLang="zh-CN" dirty="0">
                <a:solidFill>
                  <a:schemeClr val="tx1"/>
                </a:solidFill>
                <a:latin typeface="楷体_GB2312" pitchFamily="1" charset="-122"/>
                <a:ea typeface="楷体_GB2312" pitchFamily="1" charset="-122"/>
              </a:rPr>
              <a:t>9-31</a:t>
            </a:r>
            <a:r>
              <a:rPr lang="zh-CN" altLang="en-US" dirty="0">
                <a:solidFill>
                  <a:schemeClr val="tx1"/>
                </a:solidFill>
                <a:latin typeface="楷体_GB2312" pitchFamily="1" charset="-122"/>
                <a:ea typeface="楷体_GB2312" pitchFamily="1" charset="-122"/>
              </a:rPr>
              <a:t>所示。所有网格的顶点排列顺序应以小面的</a:t>
            </a:r>
            <a:r>
              <a:rPr lang="zh-CN" altLang="en-US" b="1" dirty="0">
                <a:solidFill>
                  <a:srgbClr val="FF0000"/>
                </a:solidFill>
                <a:latin typeface="方正粗黑宋简体" panose="02000000000000000000" pitchFamily="2" charset="-122"/>
                <a:ea typeface="方正粗黑宋简体" panose="02000000000000000000" pitchFamily="2" charset="-122"/>
              </a:rPr>
              <a:t>法线指向球面外部的右手法则为准</a:t>
            </a:r>
            <a:r>
              <a:rPr lang="zh-CN" altLang="en-US" dirty="0">
                <a:solidFill>
                  <a:schemeClr val="tx1"/>
                </a:solidFill>
                <a:latin typeface="楷体_GB2312" pitchFamily="1" charset="-122"/>
                <a:ea typeface="楷体_GB2312" pitchFamily="1" charset="-122"/>
              </a:rPr>
              <a:t>。</a:t>
            </a:r>
          </a:p>
        </p:txBody>
      </p:sp>
      <p:graphicFrame>
        <p:nvGraphicFramePr>
          <p:cNvPr id="60420" name="Object 4"/>
          <p:cNvGraphicFramePr>
            <a:graphicFrameLocks noChangeAspect="1"/>
          </p:cNvGraphicFramePr>
          <p:nvPr/>
        </p:nvGraphicFramePr>
        <p:xfrm>
          <a:off x="1016000" y="2168525"/>
          <a:ext cx="3870325" cy="3854450"/>
        </p:xfrm>
        <a:graphic>
          <a:graphicData uri="http://schemas.openxmlformats.org/presentationml/2006/ole">
            <mc:AlternateContent xmlns:mc="http://schemas.openxmlformats.org/markup-compatibility/2006">
              <mc:Choice xmlns:v="urn:schemas-microsoft-com:vml" Requires="v">
                <p:oleObj spid="_x0000_s60476" r:id="rId3" imgW="5207889" imgH="5186934" progId="Visio.Drawing.11">
                  <p:embed/>
                </p:oleObj>
              </mc:Choice>
              <mc:Fallback>
                <p:oleObj r:id="rId3" imgW="5207889" imgH="5186934" progId="Visio.Drawing.11">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6000" y="2168525"/>
                        <a:ext cx="3870325" cy="3854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421" name="Object 3"/>
          <p:cNvGraphicFramePr>
            <a:graphicFrameLocks noChangeAspect="1"/>
          </p:cNvGraphicFramePr>
          <p:nvPr/>
        </p:nvGraphicFramePr>
        <p:xfrm>
          <a:off x="5021263" y="1854200"/>
          <a:ext cx="3851275" cy="3821113"/>
        </p:xfrm>
        <a:graphic>
          <a:graphicData uri="http://schemas.openxmlformats.org/presentationml/2006/ole">
            <mc:AlternateContent xmlns:mc="http://schemas.openxmlformats.org/markup-compatibility/2006">
              <mc:Choice xmlns:v="urn:schemas-microsoft-com:vml" Requires="v">
                <p:oleObj spid="_x0000_s60477" r:id="rId5" imgW="5207889" imgH="5168646" progId="Visio.Drawing.11">
                  <p:embed/>
                </p:oleObj>
              </mc:Choice>
              <mc:Fallback>
                <p:oleObj r:id="rId5" imgW="5207889" imgH="5168646" progId="Visio.Drawing.11">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1263" y="1854200"/>
                        <a:ext cx="3851275" cy="3821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23" name="Rectangle 7"/>
          <p:cNvSpPr>
            <a:spLocks noChangeArrowheads="1"/>
          </p:cNvSpPr>
          <p:nvPr/>
        </p:nvSpPr>
        <p:spPr bwMode="auto">
          <a:xfrm>
            <a:off x="927100" y="6159500"/>
            <a:ext cx="7169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9-30</a:t>
            </a:r>
            <a:r>
              <a:rPr lang="zh-CN" altLang="en-US" sz="2000">
                <a:solidFill>
                  <a:schemeClr val="tx1"/>
                </a:solidFill>
                <a:latin typeface="楷体_GB2312" pitchFamily="1" charset="-122"/>
                <a:ea typeface="楷体_GB2312" pitchFamily="1" charset="-122"/>
              </a:rPr>
              <a:t>北半球表面编号             图</a:t>
            </a:r>
            <a:r>
              <a:rPr lang="en-US" altLang="zh-CN" sz="2000">
                <a:solidFill>
                  <a:schemeClr val="tx1"/>
                </a:solidFill>
                <a:latin typeface="楷体_GB2312" pitchFamily="1" charset="-122"/>
                <a:ea typeface="楷体_GB2312" pitchFamily="1" charset="-122"/>
              </a:rPr>
              <a:t>9-31 </a:t>
            </a:r>
            <a:r>
              <a:rPr lang="zh-CN" altLang="en-US" sz="2000">
                <a:solidFill>
                  <a:schemeClr val="tx1"/>
                </a:solidFill>
                <a:latin typeface="楷体_GB2312" pitchFamily="1" charset="-122"/>
                <a:ea typeface="楷体_GB2312" pitchFamily="1" charset="-122"/>
              </a:rPr>
              <a:t>南半球表面编号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7A1CFA9F-7174-4167-BB37-4B58D7EF853A}" type="slidenum">
              <a:rPr lang="en-US" altLang="zh-CN" sz="1200">
                <a:solidFill>
                  <a:schemeClr val="tx1"/>
                </a:solidFill>
                <a:latin typeface="Garamond" pitchFamily="18" charset="0"/>
              </a:rPr>
              <a:pPr algn="r" eaLnBrk="1" hangingPunct="1">
                <a:spcBef>
                  <a:spcPct val="0"/>
                </a:spcBef>
              </a:pPr>
              <a:t>58</a:t>
            </a:fld>
            <a:endParaRPr lang="en-US" altLang="zh-CN" sz="1200">
              <a:solidFill>
                <a:schemeClr val="tx1"/>
              </a:solidFill>
              <a:latin typeface="Garamond" pitchFamily="18" charset="0"/>
            </a:endParaRPr>
          </a:p>
        </p:txBody>
      </p:sp>
      <p:sp>
        <p:nvSpPr>
          <p:cNvPr id="61443" name="Text Box 4"/>
          <p:cNvSpPr txBox="1">
            <a:spLocks noChangeArrowheads="1"/>
          </p:cNvSpPr>
          <p:nvPr/>
        </p:nvSpPr>
        <p:spPr bwMode="auto">
          <a:xfrm>
            <a:off x="341313" y="458788"/>
            <a:ext cx="76517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Clr>
                <a:srgbClr val="FF33CC"/>
              </a:buClr>
              <a:buFont typeface="Wingdings" pitchFamily="2" charset="2"/>
              <a:buNone/>
            </a:pPr>
            <a:r>
              <a:rPr lang="zh-CN" altLang="en-US">
                <a:solidFill>
                  <a:schemeClr val="tx1"/>
                </a:solidFill>
                <a:ea typeface="楷体_GB2312" pitchFamily="1" charset="-122"/>
              </a:rPr>
              <a:t>球面网格化的方法分为</a:t>
            </a:r>
            <a:r>
              <a:rPr lang="zh-CN" altLang="en-US" b="1"/>
              <a:t> ： </a:t>
            </a:r>
            <a:r>
              <a:rPr lang="zh-CN" altLang="en-US">
                <a:solidFill>
                  <a:schemeClr val="tx1"/>
                </a:solidFill>
                <a:ea typeface="楷体_GB2312" pitchFamily="1" charset="-122"/>
              </a:rPr>
              <a:t>地理划分法如图</a:t>
            </a:r>
            <a:r>
              <a:rPr lang="en-US" altLang="zh-CN">
                <a:solidFill>
                  <a:schemeClr val="tx1"/>
                </a:solidFill>
                <a:ea typeface="楷体_GB2312" pitchFamily="1" charset="-122"/>
              </a:rPr>
              <a:t>9-32</a:t>
            </a:r>
            <a:r>
              <a:rPr lang="zh-CN" altLang="en-US">
                <a:solidFill>
                  <a:schemeClr val="tx1"/>
                </a:solidFill>
                <a:ea typeface="楷体_GB2312" pitchFamily="1" charset="-122"/>
              </a:rPr>
              <a:t>所示。</a:t>
            </a:r>
            <a:r>
              <a:rPr lang="zh-CN" altLang="en-US" sz="2800" b="1"/>
              <a:t> </a:t>
            </a:r>
            <a:r>
              <a:rPr lang="zh-CN" altLang="en-US" b="1"/>
              <a:t> </a:t>
            </a:r>
          </a:p>
          <a:p>
            <a:pPr algn="l" eaLnBrk="1" hangingPunct="1">
              <a:buClr>
                <a:srgbClr val="FF33CC"/>
              </a:buClr>
              <a:buFont typeface="Wingdings" pitchFamily="2" charset="2"/>
              <a:buNone/>
            </a:pPr>
            <a:r>
              <a:rPr lang="zh-CN" altLang="en-US">
                <a:solidFill>
                  <a:schemeClr val="tx1"/>
                </a:solidFill>
                <a:ea typeface="楷体_GB2312" pitchFamily="1" charset="-122"/>
              </a:rPr>
              <a:t>递归划分法原理如图</a:t>
            </a:r>
            <a:r>
              <a:rPr lang="en-US" altLang="zh-CN">
                <a:solidFill>
                  <a:schemeClr val="tx1"/>
                </a:solidFill>
                <a:ea typeface="楷体_GB2312" pitchFamily="1" charset="-122"/>
              </a:rPr>
              <a:t>9-33</a:t>
            </a:r>
            <a:r>
              <a:rPr lang="zh-CN" altLang="en-US">
                <a:solidFill>
                  <a:schemeClr val="tx1"/>
                </a:solidFill>
                <a:ea typeface="楷体_GB2312" pitchFamily="1" charset="-122"/>
              </a:rPr>
              <a:t>所示，效果如图</a:t>
            </a:r>
            <a:r>
              <a:rPr lang="en-US" altLang="zh-CN">
                <a:solidFill>
                  <a:schemeClr val="tx1"/>
                </a:solidFill>
                <a:ea typeface="楷体_GB2312" pitchFamily="1" charset="-122"/>
              </a:rPr>
              <a:t>9-34</a:t>
            </a:r>
            <a:r>
              <a:rPr lang="zh-CN" altLang="en-US">
                <a:solidFill>
                  <a:schemeClr val="tx1"/>
                </a:solidFill>
                <a:ea typeface="楷体_GB2312" pitchFamily="1" charset="-122"/>
              </a:rPr>
              <a:t>所示。</a:t>
            </a:r>
          </a:p>
        </p:txBody>
      </p:sp>
      <p:pic>
        <p:nvPicPr>
          <p:cNvPr id="61444"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r="5278"/>
          <a:stretch>
            <a:fillRect/>
          </a:stretch>
        </p:blipFill>
        <p:spPr bwMode="auto">
          <a:xfrm>
            <a:off x="431800" y="1854200"/>
            <a:ext cx="4006850" cy="3059113"/>
          </a:xfrm>
          <a:prstGeom prst="rect">
            <a:avLst/>
          </a:prstGeom>
          <a:noFill/>
          <a:ln w="9525" cmpd="sng">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1446" name="Text Box 9"/>
          <p:cNvSpPr txBox="1">
            <a:spLocks noChangeArrowheads="1"/>
          </p:cNvSpPr>
          <p:nvPr/>
        </p:nvSpPr>
        <p:spPr bwMode="auto">
          <a:xfrm>
            <a:off x="431800" y="5634038"/>
            <a:ext cx="405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9-32 </a:t>
            </a:r>
            <a:r>
              <a:rPr lang="zh-CN" altLang="en-US" sz="2000">
                <a:solidFill>
                  <a:schemeClr val="tx1"/>
                </a:solidFill>
                <a:latin typeface="楷体_GB2312" pitchFamily="1" charset="-122"/>
                <a:ea typeface="楷体_GB2312" pitchFamily="1" charset="-122"/>
                <a:hlinkClick r:id="rId4" action="ppaction://hlinkfile"/>
              </a:rPr>
              <a:t>地理划分法效果图</a:t>
            </a:r>
            <a:endParaRPr lang="zh-CN" altLang="en-US" sz="2000">
              <a:solidFill>
                <a:schemeClr val="tx1"/>
              </a:solidFill>
              <a:latin typeface="楷体_GB2312" pitchFamily="1" charset="-122"/>
              <a:ea typeface="楷体_GB2312" pitchFamily="1" charset="-122"/>
            </a:endParaRPr>
          </a:p>
        </p:txBody>
      </p:sp>
      <p:sp>
        <p:nvSpPr>
          <p:cNvPr id="61447" name="Text Box 10"/>
          <p:cNvSpPr txBox="1">
            <a:spLocks noChangeArrowheads="1"/>
          </p:cNvSpPr>
          <p:nvPr/>
        </p:nvSpPr>
        <p:spPr bwMode="auto">
          <a:xfrm>
            <a:off x="4841875" y="5589588"/>
            <a:ext cx="3870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dirty="0">
                <a:solidFill>
                  <a:schemeClr val="tx1"/>
                </a:solidFill>
                <a:latin typeface="楷体_GB2312" pitchFamily="1" charset="-122"/>
                <a:ea typeface="楷体_GB2312" pitchFamily="1" charset="-122"/>
              </a:rPr>
              <a:t>图</a:t>
            </a:r>
            <a:r>
              <a:rPr lang="en-US" altLang="zh-CN" sz="2000" dirty="0">
                <a:solidFill>
                  <a:schemeClr val="tx1"/>
                </a:solidFill>
                <a:latin typeface="楷体_GB2312" pitchFamily="1" charset="-122"/>
                <a:ea typeface="楷体_GB2312" pitchFamily="1" charset="-122"/>
              </a:rPr>
              <a:t>9-33</a:t>
            </a:r>
            <a:r>
              <a:rPr lang="zh-CN" altLang="en-US" b="1" dirty="0">
                <a:solidFill>
                  <a:srgbClr val="FF0000"/>
                </a:solidFill>
                <a:latin typeface="方正粗黑宋简体" panose="02000000000000000000" pitchFamily="2" charset="-122"/>
                <a:ea typeface="方正粗黑宋简体" panose="02000000000000000000" pitchFamily="2" charset="-122"/>
              </a:rPr>
              <a:t>递归划分法</a:t>
            </a:r>
            <a:r>
              <a:rPr lang="zh-CN" altLang="en-US" sz="2000" dirty="0">
                <a:solidFill>
                  <a:schemeClr val="tx1"/>
                </a:solidFill>
                <a:latin typeface="楷体_GB2312" pitchFamily="1" charset="-122"/>
                <a:ea typeface="楷体_GB2312" pitchFamily="1" charset="-122"/>
              </a:rPr>
              <a:t>效果图 </a:t>
            </a:r>
          </a:p>
        </p:txBody>
      </p:sp>
      <p:sp>
        <p:nvSpPr>
          <p:cNvPr id="61448" name="Rectangle 12"/>
          <p:cNvSpPr>
            <a:spLocks noChangeArrowheads="1"/>
          </p:cNvSpPr>
          <p:nvPr/>
        </p:nvSpPr>
        <p:spPr bwMode="auto">
          <a:xfrm>
            <a:off x="0" y="2638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graphicFrame>
        <p:nvGraphicFramePr>
          <p:cNvPr id="61449" name="Object 11"/>
          <p:cNvGraphicFramePr>
            <a:graphicFrameLocks noChangeAspect="1"/>
          </p:cNvGraphicFramePr>
          <p:nvPr/>
        </p:nvGraphicFramePr>
        <p:xfrm>
          <a:off x="4886325" y="2033588"/>
          <a:ext cx="3689350" cy="2651125"/>
        </p:xfrm>
        <a:graphic>
          <a:graphicData uri="http://schemas.openxmlformats.org/presentationml/2006/ole">
            <mc:AlternateContent xmlns:mc="http://schemas.openxmlformats.org/markup-compatibility/2006">
              <mc:Choice xmlns:v="urn:schemas-microsoft-com:vml" Requires="v">
                <p:oleObj spid="_x0000_s61475" r:id="rId5" imgW="4461698" imgH="3209795" progId="Visio.Drawing.11">
                  <p:embed/>
                </p:oleObj>
              </mc:Choice>
              <mc:Fallback>
                <p:oleObj r:id="rId5" imgW="4461698" imgH="3209795" progId="Visio.Drawing.11">
                  <p:embed/>
                  <p:pic>
                    <p:nvPicPr>
                      <p:cNvPr id="0"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86325" y="2033588"/>
                        <a:ext cx="3689350" cy="2651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DC4CD512-3713-4552-B228-E45AD49A8AC4}" type="slidenum">
              <a:rPr lang="en-US" altLang="zh-CN" sz="1200">
                <a:solidFill>
                  <a:schemeClr val="tx1"/>
                </a:solidFill>
                <a:latin typeface="Garamond" pitchFamily="18" charset="0"/>
              </a:rPr>
              <a:pPr algn="r" eaLnBrk="1" hangingPunct="1">
                <a:spcBef>
                  <a:spcPct val="0"/>
                </a:spcBef>
              </a:pPr>
              <a:t>59</a:t>
            </a:fld>
            <a:endParaRPr lang="en-US" altLang="zh-CN" sz="1200">
              <a:solidFill>
                <a:schemeClr val="tx1"/>
              </a:solidFill>
              <a:latin typeface="Garamond" pitchFamily="18" charset="0"/>
            </a:endParaRPr>
          </a:p>
        </p:txBody>
      </p:sp>
      <p:pic>
        <p:nvPicPr>
          <p:cNvPr id="62467"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6488" y="368300"/>
            <a:ext cx="2790825" cy="201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8"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7425" y="336550"/>
            <a:ext cx="2835275" cy="205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6975" y="3384550"/>
            <a:ext cx="3014663"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0"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06938" y="3365500"/>
            <a:ext cx="3014662" cy="217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1" name="Rectangle 8"/>
          <p:cNvSpPr>
            <a:spLocks noChangeArrowheads="1"/>
          </p:cNvSpPr>
          <p:nvPr/>
        </p:nvSpPr>
        <p:spPr bwMode="auto">
          <a:xfrm>
            <a:off x="0" y="-374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62472" name="Rectangle 9"/>
          <p:cNvSpPr>
            <a:spLocks noChangeArrowheads="1"/>
          </p:cNvSpPr>
          <p:nvPr/>
        </p:nvSpPr>
        <p:spPr bwMode="auto">
          <a:xfrm>
            <a:off x="4467225" y="1119188"/>
            <a:ext cx="215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1000">
                <a:solidFill>
                  <a:schemeClr val="tx1"/>
                </a:solidFill>
                <a:latin typeface="Times New Roman" pitchFamily="18" charset="0"/>
                <a:cs typeface="Times New Roman" pitchFamily="18" charset="0"/>
              </a:rPr>
              <a:t> </a:t>
            </a:r>
            <a:endParaRPr lang="zh-CN" altLang="en-US">
              <a:solidFill>
                <a:schemeClr val="tx1"/>
              </a:solidFill>
            </a:endParaRPr>
          </a:p>
        </p:txBody>
      </p:sp>
      <p:sp>
        <p:nvSpPr>
          <p:cNvPr id="62473" name="Rectangle 10"/>
          <p:cNvSpPr>
            <a:spLocks noChangeArrowheads="1"/>
          </p:cNvSpPr>
          <p:nvPr/>
        </p:nvSpPr>
        <p:spPr bwMode="auto">
          <a:xfrm>
            <a:off x="1196975" y="2754313"/>
            <a:ext cx="7251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sz="2000">
                <a:solidFill>
                  <a:schemeClr val="tx1"/>
                </a:solidFill>
                <a:latin typeface="楷体_GB2312" pitchFamily="1" charset="-122"/>
                <a:ea typeface="楷体_GB2312" pitchFamily="1" charset="-122"/>
              </a:rPr>
              <a:t> （</a:t>
            </a:r>
            <a:r>
              <a:rPr lang="en-US" altLang="zh-CN" sz="2000">
                <a:solidFill>
                  <a:schemeClr val="tx1"/>
                </a:solidFill>
                <a:latin typeface="楷体_GB2312" pitchFamily="1" charset="-122"/>
                <a:ea typeface="楷体_GB2312" pitchFamily="1" charset="-122"/>
              </a:rPr>
              <a:t>a</a:t>
            </a:r>
            <a:r>
              <a:rPr lang="zh-CN" altLang="en-US" sz="2000">
                <a:solidFill>
                  <a:schemeClr val="tx1"/>
                </a:solidFill>
                <a:latin typeface="楷体_GB2312" pitchFamily="1" charset="-122"/>
                <a:ea typeface="楷体_GB2312" pitchFamily="1" charset="-122"/>
              </a:rPr>
              <a:t>）递归深度</a:t>
            </a:r>
            <a:r>
              <a:rPr lang="en-US" altLang="zh-CN" sz="2000">
                <a:solidFill>
                  <a:schemeClr val="tx1"/>
                </a:solidFill>
                <a:latin typeface="楷体_GB2312" pitchFamily="1" charset="-122"/>
                <a:ea typeface="楷体_GB2312" pitchFamily="1" charset="-122"/>
              </a:rPr>
              <a:t>n</a:t>
            </a:r>
            <a:r>
              <a:rPr lang="zh-CN" altLang="en-US" sz="2000">
                <a:solidFill>
                  <a:schemeClr val="tx1"/>
                </a:solidFill>
                <a:latin typeface="楷体_GB2312" pitchFamily="1" charset="-122"/>
                <a:ea typeface="楷体_GB2312" pitchFamily="1" charset="-122"/>
              </a:rPr>
              <a:t>＝</a:t>
            </a:r>
            <a:r>
              <a:rPr lang="en-US" altLang="zh-CN" sz="2000">
                <a:solidFill>
                  <a:schemeClr val="tx1"/>
                </a:solidFill>
                <a:latin typeface="楷体_GB2312" pitchFamily="1" charset="-122"/>
                <a:ea typeface="楷体_GB2312" pitchFamily="1" charset="-122"/>
              </a:rPr>
              <a:t>0           </a:t>
            </a:r>
            <a:r>
              <a:rPr lang="zh-CN" altLang="en-US" sz="2000">
                <a:solidFill>
                  <a:schemeClr val="tx1"/>
                </a:solidFill>
                <a:latin typeface="楷体_GB2312" pitchFamily="1" charset="-122"/>
                <a:ea typeface="楷体_GB2312" pitchFamily="1" charset="-122"/>
              </a:rPr>
              <a:t>（</a:t>
            </a:r>
            <a:r>
              <a:rPr lang="en-US" altLang="zh-CN" sz="2000">
                <a:solidFill>
                  <a:schemeClr val="tx1"/>
                </a:solidFill>
                <a:latin typeface="楷体_GB2312" pitchFamily="1" charset="-122"/>
                <a:ea typeface="楷体_GB2312" pitchFamily="1" charset="-122"/>
              </a:rPr>
              <a:t>b</a:t>
            </a:r>
            <a:r>
              <a:rPr lang="zh-CN" altLang="en-US" sz="2000">
                <a:solidFill>
                  <a:schemeClr val="tx1"/>
                </a:solidFill>
                <a:latin typeface="楷体_GB2312" pitchFamily="1" charset="-122"/>
                <a:ea typeface="楷体_GB2312" pitchFamily="1" charset="-122"/>
              </a:rPr>
              <a:t>）递归深度</a:t>
            </a:r>
            <a:r>
              <a:rPr lang="en-US" altLang="zh-CN" sz="2000">
                <a:solidFill>
                  <a:schemeClr val="tx1"/>
                </a:solidFill>
                <a:latin typeface="楷体_GB2312" pitchFamily="1" charset="-122"/>
                <a:ea typeface="楷体_GB2312" pitchFamily="1" charset="-122"/>
              </a:rPr>
              <a:t>n</a:t>
            </a:r>
            <a:r>
              <a:rPr lang="zh-CN" altLang="en-US" sz="2000">
                <a:solidFill>
                  <a:schemeClr val="tx1"/>
                </a:solidFill>
                <a:latin typeface="楷体_GB2312" pitchFamily="1" charset="-122"/>
                <a:ea typeface="楷体_GB2312" pitchFamily="1" charset="-122"/>
              </a:rPr>
              <a:t>＝</a:t>
            </a:r>
            <a:r>
              <a:rPr lang="en-US" altLang="zh-CN" sz="2000">
                <a:solidFill>
                  <a:schemeClr val="tx1"/>
                </a:solidFill>
                <a:latin typeface="楷体_GB2312" pitchFamily="1" charset="-122"/>
                <a:ea typeface="楷体_GB2312" pitchFamily="1" charset="-122"/>
              </a:rPr>
              <a:t>1</a:t>
            </a:r>
          </a:p>
        </p:txBody>
      </p:sp>
      <p:sp>
        <p:nvSpPr>
          <p:cNvPr id="62474" name="Rectangle 11"/>
          <p:cNvSpPr>
            <a:spLocks noChangeArrowheads="1"/>
          </p:cNvSpPr>
          <p:nvPr/>
        </p:nvSpPr>
        <p:spPr bwMode="auto">
          <a:xfrm>
            <a:off x="4467225" y="5097463"/>
            <a:ext cx="215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1000">
                <a:solidFill>
                  <a:schemeClr val="tx1"/>
                </a:solidFill>
                <a:latin typeface="Times New Roman" pitchFamily="18" charset="0"/>
                <a:cs typeface="Times New Roman" pitchFamily="18" charset="0"/>
              </a:rPr>
              <a:t> </a:t>
            </a:r>
            <a:endParaRPr lang="zh-CN" altLang="en-US">
              <a:solidFill>
                <a:schemeClr val="tx1"/>
              </a:solidFill>
            </a:endParaRPr>
          </a:p>
        </p:txBody>
      </p:sp>
      <p:sp>
        <p:nvSpPr>
          <p:cNvPr id="62475" name="Rectangle 12"/>
          <p:cNvSpPr>
            <a:spLocks noChangeArrowheads="1"/>
          </p:cNvSpPr>
          <p:nvPr/>
        </p:nvSpPr>
        <p:spPr bwMode="auto">
          <a:xfrm>
            <a:off x="1368425" y="5634038"/>
            <a:ext cx="62928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67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a:t>
            </a:r>
            <a:r>
              <a:rPr lang="en-US" altLang="zh-CN" sz="2000">
                <a:solidFill>
                  <a:schemeClr val="tx1"/>
                </a:solidFill>
                <a:latin typeface="楷体_GB2312" pitchFamily="1" charset="-122"/>
                <a:ea typeface="楷体_GB2312" pitchFamily="1" charset="-122"/>
              </a:rPr>
              <a:t>c</a:t>
            </a:r>
            <a:r>
              <a:rPr lang="zh-CN" altLang="en-US" sz="2000">
                <a:solidFill>
                  <a:schemeClr val="tx1"/>
                </a:solidFill>
                <a:latin typeface="楷体_GB2312" pitchFamily="1" charset="-122"/>
                <a:ea typeface="楷体_GB2312" pitchFamily="1" charset="-122"/>
              </a:rPr>
              <a:t>）递归深度</a:t>
            </a:r>
            <a:r>
              <a:rPr lang="en-US" altLang="zh-CN" sz="2000">
                <a:solidFill>
                  <a:schemeClr val="tx1"/>
                </a:solidFill>
                <a:latin typeface="楷体_GB2312" pitchFamily="1" charset="-122"/>
                <a:ea typeface="楷体_GB2312" pitchFamily="1" charset="-122"/>
              </a:rPr>
              <a:t>n</a:t>
            </a:r>
            <a:r>
              <a:rPr lang="zh-CN" altLang="en-US" sz="2000">
                <a:solidFill>
                  <a:schemeClr val="tx1"/>
                </a:solidFill>
                <a:latin typeface="楷体_GB2312" pitchFamily="1" charset="-122"/>
                <a:ea typeface="楷体_GB2312" pitchFamily="1" charset="-122"/>
              </a:rPr>
              <a:t>＝</a:t>
            </a:r>
            <a:r>
              <a:rPr lang="en-US" altLang="zh-CN" sz="2000">
                <a:solidFill>
                  <a:schemeClr val="tx1"/>
                </a:solidFill>
                <a:latin typeface="楷体_GB2312" pitchFamily="1" charset="-122"/>
                <a:ea typeface="楷体_GB2312" pitchFamily="1" charset="-122"/>
              </a:rPr>
              <a:t>2            </a:t>
            </a:r>
            <a:r>
              <a:rPr lang="zh-CN" altLang="en-US" sz="2000">
                <a:solidFill>
                  <a:schemeClr val="tx1"/>
                </a:solidFill>
                <a:latin typeface="楷体_GB2312" pitchFamily="1" charset="-122"/>
                <a:ea typeface="楷体_GB2312" pitchFamily="1" charset="-122"/>
              </a:rPr>
              <a:t>（</a:t>
            </a:r>
            <a:r>
              <a:rPr lang="en-US" altLang="zh-CN" sz="2000">
                <a:solidFill>
                  <a:schemeClr val="tx1"/>
                </a:solidFill>
                <a:latin typeface="楷体_GB2312" pitchFamily="1" charset="-122"/>
                <a:ea typeface="楷体_GB2312" pitchFamily="1" charset="-122"/>
              </a:rPr>
              <a:t>d</a:t>
            </a:r>
            <a:r>
              <a:rPr lang="zh-CN" altLang="en-US" sz="2000">
                <a:solidFill>
                  <a:schemeClr val="tx1"/>
                </a:solidFill>
                <a:latin typeface="楷体_GB2312" pitchFamily="1" charset="-122"/>
                <a:ea typeface="楷体_GB2312" pitchFamily="1" charset="-122"/>
              </a:rPr>
              <a:t>）递归深度</a:t>
            </a:r>
            <a:r>
              <a:rPr lang="en-US" altLang="zh-CN" sz="2000">
                <a:solidFill>
                  <a:schemeClr val="tx1"/>
                </a:solidFill>
                <a:latin typeface="楷体_GB2312" pitchFamily="1" charset="-122"/>
                <a:ea typeface="楷体_GB2312" pitchFamily="1" charset="-122"/>
              </a:rPr>
              <a:t>n</a:t>
            </a:r>
            <a:r>
              <a:rPr lang="zh-CN" altLang="en-US" sz="2000">
                <a:solidFill>
                  <a:schemeClr val="tx1"/>
                </a:solidFill>
                <a:latin typeface="楷体_GB2312" pitchFamily="1" charset="-122"/>
                <a:ea typeface="楷体_GB2312" pitchFamily="1" charset="-122"/>
              </a:rPr>
              <a:t>＝</a:t>
            </a:r>
            <a:r>
              <a:rPr lang="en-US" altLang="zh-CN" sz="2000">
                <a:solidFill>
                  <a:schemeClr val="tx1"/>
                </a:solidFill>
                <a:latin typeface="楷体_GB2312" pitchFamily="1" charset="-122"/>
                <a:ea typeface="楷体_GB2312" pitchFamily="1" charset="-122"/>
              </a:rPr>
              <a:t>3</a:t>
            </a:r>
          </a:p>
          <a:p>
            <a:pPr>
              <a:spcBef>
                <a:spcPct val="0"/>
              </a:spcBef>
            </a:pPr>
            <a:r>
              <a:rPr lang="en-US" altLang="zh-CN" sz="2000">
                <a:solidFill>
                  <a:schemeClr val="tx1"/>
                </a:solidFill>
                <a:latin typeface="楷体_GB2312" pitchFamily="1" charset="-122"/>
                <a:ea typeface="楷体_GB2312" pitchFamily="1" charset="-122"/>
              </a:rPr>
              <a:t>      </a:t>
            </a: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9-34</a:t>
            </a:r>
            <a:r>
              <a:rPr lang="zh-CN" altLang="en-US" sz="2000">
                <a:solidFill>
                  <a:schemeClr val="tx1"/>
                </a:solidFill>
                <a:latin typeface="楷体_GB2312" pitchFamily="1" charset="-122"/>
                <a:ea typeface="楷体_GB2312" pitchFamily="1" charset="-122"/>
                <a:hlinkClick r:id="rId6" action="ppaction://hlinkfile"/>
              </a:rPr>
              <a:t>球面递归划分法效果图</a:t>
            </a:r>
            <a:endParaRPr lang="zh-CN" altLang="en-US" sz="2000">
              <a:solidFill>
                <a:schemeClr val="tx1"/>
              </a:solidFill>
              <a:latin typeface="楷体_GB2312" pitchFamily="1" charset="-122"/>
              <a:ea typeface="楷体_GB2312" pitchFamily="1"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4"/>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000EDDF9-46C3-4BA3-9AAE-A5271E306D83}" type="slidenum">
              <a:rPr lang="en-US" altLang="zh-CN" sz="1200">
                <a:solidFill>
                  <a:schemeClr val="tx1"/>
                </a:solidFill>
                <a:latin typeface="Garamond" pitchFamily="18" charset="0"/>
              </a:rPr>
              <a:pPr algn="r" eaLnBrk="1" hangingPunct="1">
                <a:spcBef>
                  <a:spcPct val="0"/>
                </a:spcBef>
              </a:pPr>
              <a:t>60</a:t>
            </a:fld>
            <a:endParaRPr lang="en-US" altLang="zh-CN" sz="1200">
              <a:solidFill>
                <a:schemeClr val="tx1"/>
              </a:solidFill>
              <a:latin typeface="Garamond" pitchFamily="18" charset="0"/>
            </a:endParaRPr>
          </a:p>
        </p:txBody>
      </p:sp>
      <p:sp>
        <p:nvSpPr>
          <p:cNvPr id="63491" name="Text Box 4"/>
          <p:cNvSpPr txBox="1">
            <a:spLocks noChangeArrowheads="1"/>
          </p:cNvSpPr>
          <p:nvPr/>
        </p:nvSpPr>
        <p:spPr bwMode="auto">
          <a:xfrm>
            <a:off x="250825" y="323850"/>
            <a:ext cx="2386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en-US" altLang="zh-CN" b="1">
                <a:solidFill>
                  <a:schemeClr val="tx1"/>
                </a:solidFill>
                <a:latin typeface="楷体_GB2312" pitchFamily="1" charset="-122"/>
                <a:ea typeface="楷体_GB2312" pitchFamily="1" charset="-122"/>
              </a:rPr>
              <a:t>〔2〕</a:t>
            </a:r>
            <a:r>
              <a:rPr lang="zh-CN" altLang="en-US" b="1">
                <a:solidFill>
                  <a:schemeClr val="tx1"/>
                </a:solidFill>
                <a:latin typeface="楷体_GB2312" pitchFamily="1" charset="-122"/>
                <a:ea typeface="楷体_GB2312" pitchFamily="1" charset="-122"/>
              </a:rPr>
              <a:t>圆柱面</a:t>
            </a:r>
          </a:p>
        </p:txBody>
      </p:sp>
      <p:sp>
        <p:nvSpPr>
          <p:cNvPr id="63492" name="Text Box 5"/>
          <p:cNvSpPr txBox="1">
            <a:spLocks noChangeArrowheads="1"/>
          </p:cNvSpPr>
          <p:nvPr/>
        </p:nvSpPr>
        <p:spPr bwMode="auto">
          <a:xfrm>
            <a:off x="341313" y="819150"/>
            <a:ext cx="8461375"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40000"/>
              </a:lnSpc>
              <a:buClr>
                <a:srgbClr val="FF33CC"/>
              </a:buClr>
              <a:buFont typeface="Wingdings" pitchFamily="2" charset="2"/>
              <a:buNone/>
            </a:pPr>
            <a:r>
              <a:rPr lang="zh-CN" altLang="en-US" dirty="0">
                <a:solidFill>
                  <a:schemeClr val="tx1"/>
                </a:solidFill>
                <a:latin typeface="楷体_GB2312" pitchFamily="1" charset="-122"/>
                <a:ea typeface="楷体_GB2312" pitchFamily="1" charset="-122"/>
              </a:rPr>
              <a:t>    假定圆柱的</a:t>
            </a:r>
            <a:r>
              <a:rPr lang="zh-CN" altLang="en-US" b="1" dirty="0">
                <a:solidFill>
                  <a:srgbClr val="FF0000"/>
                </a:solidFill>
                <a:latin typeface="方正粗黑宋简体" panose="02000000000000000000" pitchFamily="2" charset="-122"/>
                <a:ea typeface="方正粗黑宋简体" panose="02000000000000000000" pitchFamily="2" charset="-122"/>
              </a:rPr>
              <a:t>中心轴与</a:t>
            </a:r>
            <a:r>
              <a:rPr lang="fr-FR" altLang="en-US" b="1" dirty="0">
                <a:solidFill>
                  <a:srgbClr val="FF0000"/>
                </a:solidFill>
                <a:latin typeface="方正粗黑宋简体" panose="02000000000000000000" pitchFamily="2" charset="-122"/>
                <a:ea typeface="方正粗黑宋简体" panose="02000000000000000000" pitchFamily="2" charset="-122"/>
              </a:rPr>
              <a:t>y</a:t>
            </a:r>
            <a:r>
              <a:rPr lang="zh-CN" altLang="en-US" b="1" dirty="0">
                <a:solidFill>
                  <a:srgbClr val="FF0000"/>
                </a:solidFill>
                <a:latin typeface="方正粗黑宋简体" panose="02000000000000000000" pitchFamily="2" charset="-122"/>
                <a:ea typeface="方正粗黑宋简体" panose="02000000000000000000" pitchFamily="2" charset="-122"/>
              </a:rPr>
              <a:t>轴重合</a:t>
            </a:r>
            <a:r>
              <a:rPr lang="zh-CN" altLang="en-US" dirty="0">
                <a:solidFill>
                  <a:schemeClr val="tx1"/>
                </a:solidFill>
                <a:latin typeface="楷体_GB2312" pitchFamily="1" charset="-122"/>
                <a:ea typeface="楷体_GB2312" pitchFamily="1" charset="-122"/>
              </a:rPr>
              <a:t>，横截面是半径为</a:t>
            </a:r>
            <a:r>
              <a:rPr lang="fr-FR" altLang="en-US" dirty="0">
                <a:solidFill>
                  <a:schemeClr val="tx1"/>
                </a:solidFill>
                <a:latin typeface="楷体_GB2312" pitchFamily="1" charset="-122"/>
                <a:ea typeface="楷体_GB2312" pitchFamily="1" charset="-122"/>
              </a:rPr>
              <a:t>r</a:t>
            </a:r>
            <a:r>
              <a:rPr lang="zh-CN" altLang="en-US" dirty="0">
                <a:solidFill>
                  <a:schemeClr val="tx1"/>
                </a:solidFill>
                <a:latin typeface="楷体_GB2312" pitchFamily="1" charset="-122"/>
                <a:ea typeface="楷体_GB2312" pitchFamily="1" charset="-122"/>
              </a:rPr>
              <a:t>的圆，圆柱的高度沿着</a:t>
            </a:r>
            <a:r>
              <a:rPr lang="fr-FR" altLang="en-US" dirty="0">
                <a:solidFill>
                  <a:schemeClr val="tx1"/>
                </a:solidFill>
                <a:latin typeface="楷体_GB2312" pitchFamily="1" charset="-122"/>
                <a:ea typeface="楷体_GB2312" pitchFamily="1" charset="-122"/>
              </a:rPr>
              <a:t>y</a:t>
            </a:r>
            <a:r>
              <a:rPr lang="zh-CN" altLang="en-US" dirty="0">
                <a:solidFill>
                  <a:schemeClr val="tx1"/>
                </a:solidFill>
                <a:latin typeface="楷体_GB2312" pitchFamily="1" charset="-122"/>
                <a:ea typeface="楷体_GB2312" pitchFamily="1" charset="-122"/>
              </a:rPr>
              <a:t>轴方向从</a:t>
            </a:r>
            <a:r>
              <a:rPr lang="fr-FR" altLang="en-US"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rPr>
              <a:t>拉伸到</a:t>
            </a:r>
            <a:r>
              <a:rPr lang="fr-FR" altLang="en-US" dirty="0">
                <a:solidFill>
                  <a:schemeClr val="tx1"/>
                </a:solidFill>
                <a:latin typeface="楷体_GB2312" pitchFamily="1" charset="-122"/>
                <a:ea typeface="楷体_GB2312" pitchFamily="1" charset="-122"/>
              </a:rPr>
              <a:t>h</a:t>
            </a:r>
            <a:r>
              <a:rPr lang="zh-CN" altLang="en-US" dirty="0">
                <a:solidFill>
                  <a:schemeClr val="tx1"/>
                </a:solidFill>
                <a:latin typeface="楷体_GB2312" pitchFamily="1" charset="-122"/>
                <a:ea typeface="楷体_GB2312" pitchFamily="1" charset="-122"/>
              </a:rPr>
              <a:t>，三维坐标系原点</a:t>
            </a:r>
            <a:r>
              <a:rPr lang="fr-FR" altLang="en-US" dirty="0">
                <a:solidFill>
                  <a:schemeClr val="tx1"/>
                </a:solidFill>
                <a:latin typeface="楷体_GB2312" pitchFamily="1" charset="-122"/>
                <a:ea typeface="楷体_GB2312" pitchFamily="1" charset="-122"/>
              </a:rPr>
              <a:t>O</a:t>
            </a:r>
            <a:r>
              <a:rPr lang="zh-CN" altLang="en-US" dirty="0">
                <a:solidFill>
                  <a:schemeClr val="tx1"/>
                </a:solidFill>
                <a:latin typeface="楷体_GB2312" pitchFamily="1" charset="-122"/>
                <a:ea typeface="楷体_GB2312" pitchFamily="1" charset="-122"/>
              </a:rPr>
              <a:t>位于底面中心 ，如图</a:t>
            </a:r>
            <a:r>
              <a:rPr lang="fr-FR" altLang="en-US" dirty="0">
                <a:solidFill>
                  <a:schemeClr val="tx1"/>
                </a:solidFill>
                <a:latin typeface="楷体_GB2312" pitchFamily="1" charset="-122"/>
                <a:ea typeface="楷体_GB2312" pitchFamily="1" charset="-122"/>
              </a:rPr>
              <a:t>9-35</a:t>
            </a:r>
            <a:r>
              <a:rPr lang="zh-CN" altLang="en-US" dirty="0">
                <a:solidFill>
                  <a:schemeClr val="tx1"/>
                </a:solidFill>
                <a:latin typeface="楷体_GB2312" pitchFamily="1" charset="-122"/>
                <a:ea typeface="楷体_GB2312" pitchFamily="1" charset="-122"/>
              </a:rPr>
              <a:t>所示。</a:t>
            </a:r>
          </a:p>
        </p:txBody>
      </p:sp>
      <p:sp>
        <p:nvSpPr>
          <p:cNvPr id="63493"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63494"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63497" name="Text Box 22"/>
          <p:cNvSpPr txBox="1">
            <a:spLocks noChangeArrowheads="1"/>
          </p:cNvSpPr>
          <p:nvPr/>
        </p:nvSpPr>
        <p:spPr bwMode="auto">
          <a:xfrm>
            <a:off x="341313" y="2708275"/>
            <a:ext cx="5445125"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Clr>
                <a:srgbClr val="FF33CC"/>
              </a:buClr>
              <a:buFont typeface="Wingdings" pitchFamily="2" charset="2"/>
              <a:buNone/>
            </a:pPr>
            <a:r>
              <a:rPr lang="zh-CN" altLang="en-US">
                <a:solidFill>
                  <a:schemeClr val="tx1"/>
                </a:solidFill>
                <a:latin typeface="楷体_GB2312" pitchFamily="1" charset="-122"/>
                <a:ea typeface="楷体_GB2312" pitchFamily="1" charset="-122"/>
              </a:rPr>
              <a:t>    如果不考虑顶面和底面，圆柱侧面的参数方程为 </a:t>
            </a:r>
          </a:p>
        </p:txBody>
      </p:sp>
      <p:sp>
        <p:nvSpPr>
          <p:cNvPr id="63498" name="Rectangle 2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63500" name="Rectangle 29"/>
          <p:cNvSpPr>
            <a:spLocks noChangeArrowheads="1"/>
          </p:cNvSpPr>
          <p:nvPr/>
        </p:nvSpPr>
        <p:spPr bwMode="auto">
          <a:xfrm>
            <a:off x="5292725" y="5934075"/>
            <a:ext cx="323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9-35 </a:t>
            </a:r>
            <a:r>
              <a:rPr lang="zh-CN" altLang="en-US" sz="2000">
                <a:solidFill>
                  <a:schemeClr val="tx1"/>
                </a:solidFill>
                <a:latin typeface="楷体_GB2312" pitchFamily="1" charset="-122"/>
                <a:ea typeface="楷体_GB2312" pitchFamily="1" charset="-122"/>
              </a:rPr>
              <a:t>圆柱面的数学模型 </a:t>
            </a:r>
          </a:p>
        </p:txBody>
      </p:sp>
      <p:sp>
        <p:nvSpPr>
          <p:cNvPr id="63501" name="Rectangle 30"/>
          <p:cNvSpPr>
            <a:spLocks noChangeArrowheads="1"/>
          </p:cNvSpPr>
          <p:nvPr/>
        </p:nvSpPr>
        <p:spPr bwMode="auto">
          <a:xfrm>
            <a:off x="4572000" y="4914900"/>
            <a:ext cx="1319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rPr>
              <a:t>（</a:t>
            </a:r>
            <a:r>
              <a:rPr lang="en-US" altLang="zh-CN">
                <a:solidFill>
                  <a:schemeClr val="tx1"/>
                </a:solidFill>
              </a:rPr>
              <a:t>9-3</a:t>
            </a:r>
            <a:r>
              <a:rPr lang="zh-CN" altLang="en-US">
                <a:solidFill>
                  <a:schemeClr val="tx1"/>
                </a:solidFill>
              </a:rPr>
              <a:t>） </a:t>
            </a:r>
          </a:p>
        </p:txBody>
      </p:sp>
      <p:graphicFrame>
        <p:nvGraphicFramePr>
          <p:cNvPr id="63503" name="Object 31"/>
          <p:cNvGraphicFramePr>
            <a:graphicFrameLocks noChangeAspect="1"/>
          </p:cNvGraphicFramePr>
          <p:nvPr/>
        </p:nvGraphicFramePr>
        <p:xfrm>
          <a:off x="6281738" y="2393950"/>
          <a:ext cx="2527300" cy="3105150"/>
        </p:xfrm>
        <a:graphic>
          <a:graphicData uri="http://schemas.openxmlformats.org/presentationml/2006/ole">
            <mc:AlternateContent xmlns:mc="http://schemas.openxmlformats.org/markup-compatibility/2006">
              <mc:Choice xmlns:v="urn:schemas-microsoft-com:vml" Requires="v">
                <p:oleObj spid="_x0000_s63614" r:id="rId3" imgW="3408596" imgH="4177410" progId="Visio.Drawing.11">
                  <p:embed/>
                </p:oleObj>
              </mc:Choice>
              <mc:Fallback>
                <p:oleObj r:id="rId3" imgW="3408596" imgH="4177410" progId="Visio.Drawing.11">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1738" y="2393950"/>
                        <a:ext cx="2527300" cy="3105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505" name="Object 17"/>
          <p:cNvGraphicFramePr>
            <a:graphicFrameLocks noChangeAspect="1"/>
          </p:cNvGraphicFramePr>
          <p:nvPr/>
        </p:nvGraphicFramePr>
        <p:xfrm>
          <a:off x="522288" y="4554538"/>
          <a:ext cx="1709737" cy="976312"/>
        </p:xfrm>
        <a:graphic>
          <a:graphicData uri="http://schemas.openxmlformats.org/presentationml/2006/ole">
            <mc:AlternateContent xmlns:mc="http://schemas.openxmlformats.org/markup-compatibility/2006">
              <mc:Choice xmlns:v="urn:schemas-microsoft-com:vml" Requires="v">
                <p:oleObj spid="_x0000_s63615" r:id="rId5" imgW="800447" imgH="457399" progId="Equation.3">
                  <p:embed/>
                </p:oleObj>
              </mc:Choice>
              <mc:Fallback>
                <p:oleObj r:id="rId5" imgW="800447" imgH="457399" progId="Equation.3">
                  <p:embed/>
                  <p:pic>
                    <p:nvPicPr>
                      <p:cNvPr id="0" name="Picture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2288" y="4554538"/>
                        <a:ext cx="1709737" cy="976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507" name="Object 19"/>
          <p:cNvGraphicFramePr>
            <a:graphicFrameLocks noChangeAspect="1"/>
          </p:cNvGraphicFramePr>
          <p:nvPr/>
        </p:nvGraphicFramePr>
        <p:xfrm>
          <a:off x="2501900" y="4419600"/>
          <a:ext cx="1620838" cy="479425"/>
        </p:xfrm>
        <a:graphic>
          <a:graphicData uri="http://schemas.openxmlformats.org/presentationml/2006/ole">
            <mc:AlternateContent xmlns:mc="http://schemas.openxmlformats.org/markup-compatibility/2006">
              <mc:Choice xmlns:v="urn:schemas-microsoft-com:vml" Requires="v">
                <p:oleObj spid="_x0000_s63616" r:id="rId7" imgW="673392" imgH="203288" progId="Equation.3">
                  <p:embed/>
                </p:oleObj>
              </mc:Choice>
              <mc:Fallback>
                <p:oleObj r:id="rId7" imgW="673392" imgH="203288" progId="Equation.3">
                  <p:embed/>
                  <p:pic>
                    <p:nvPicPr>
                      <p:cNvPr id="0" name="Picture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1900" y="4419600"/>
                        <a:ext cx="1620838"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509" name="Object 21"/>
          <p:cNvGraphicFramePr>
            <a:graphicFrameLocks noChangeAspect="1"/>
          </p:cNvGraphicFramePr>
          <p:nvPr/>
        </p:nvGraphicFramePr>
        <p:xfrm>
          <a:off x="2501900" y="5229225"/>
          <a:ext cx="1709738" cy="400050"/>
        </p:xfrm>
        <a:graphic>
          <a:graphicData uri="http://schemas.openxmlformats.org/presentationml/2006/ole">
            <mc:AlternateContent xmlns:mc="http://schemas.openxmlformats.org/markup-compatibility/2006">
              <mc:Choice xmlns:v="urn:schemas-microsoft-com:vml" Requires="v">
                <p:oleObj spid="_x0000_s63617" r:id="rId9" imgW="774700" imgH="177800" progId="Equation.3">
                  <p:embed/>
                </p:oleObj>
              </mc:Choice>
              <mc:Fallback>
                <p:oleObj r:id="rId9" imgW="774700" imgH="177800" progId="Equation.3">
                  <p:embed/>
                  <p:pic>
                    <p:nvPicPr>
                      <p:cNvPr id="0" name="Picture 4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01900" y="5229225"/>
                        <a:ext cx="1709738" cy="40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1AAFC5E4-1B60-49C6-AD14-5A73686E3840}" type="slidenum">
              <a:rPr lang="en-US" altLang="zh-CN" sz="1200">
                <a:solidFill>
                  <a:schemeClr val="tx1"/>
                </a:solidFill>
                <a:latin typeface="Garamond" pitchFamily="18" charset="0"/>
              </a:rPr>
              <a:pPr algn="r" eaLnBrk="1" hangingPunct="1">
                <a:spcBef>
                  <a:spcPct val="0"/>
                </a:spcBef>
              </a:pPr>
              <a:t>61</a:t>
            </a:fld>
            <a:endParaRPr lang="en-US" altLang="zh-CN" sz="1200">
              <a:solidFill>
                <a:schemeClr val="tx1"/>
              </a:solidFill>
              <a:latin typeface="Garamond" pitchFamily="18" charset="0"/>
            </a:endParaRPr>
          </a:p>
        </p:txBody>
      </p:sp>
      <p:sp>
        <p:nvSpPr>
          <p:cNvPr id="64515"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64516" name="Rectangle 7"/>
          <p:cNvSpPr>
            <a:spLocks noChangeArrowheads="1"/>
          </p:cNvSpPr>
          <p:nvPr/>
        </p:nvSpPr>
        <p:spPr bwMode="auto">
          <a:xfrm>
            <a:off x="296863" y="222296"/>
            <a:ext cx="8596312" cy="2012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30000"/>
              </a:lnSpc>
              <a:spcBef>
                <a:spcPct val="0"/>
              </a:spcBef>
              <a:buClr>
                <a:srgbClr val="FF33CC"/>
              </a:buClr>
              <a:buFont typeface="Wingdings" pitchFamily="2" charset="2"/>
              <a:buNone/>
            </a:pPr>
            <a:r>
              <a:rPr lang="zh-CN" altLang="en-US" dirty="0">
                <a:solidFill>
                  <a:schemeClr val="tx1"/>
                </a:solidFill>
                <a:latin typeface="楷体_GB2312" pitchFamily="1" charset="-122"/>
                <a:ea typeface="楷体_GB2312" pitchFamily="1" charset="-122"/>
              </a:rPr>
              <a:t>圆柱的离散化表示如图</a:t>
            </a:r>
            <a:r>
              <a:rPr lang="en-US" altLang="zh-CN" dirty="0">
                <a:solidFill>
                  <a:schemeClr val="tx1"/>
                </a:solidFill>
                <a:latin typeface="楷体_GB2312" pitchFamily="1" charset="-122"/>
                <a:ea typeface="楷体_GB2312" pitchFamily="1" charset="-122"/>
              </a:rPr>
              <a:t>9-36</a:t>
            </a:r>
            <a:r>
              <a:rPr lang="zh-CN" altLang="en-US" dirty="0">
                <a:solidFill>
                  <a:schemeClr val="tx1"/>
                </a:solidFill>
                <a:latin typeface="楷体_GB2312" pitchFamily="1" charset="-122"/>
                <a:ea typeface="楷体_GB2312" pitchFamily="1" charset="-122"/>
              </a:rPr>
              <a:t>所示 。假定圆柱的周向网格数</a:t>
            </a:r>
            <a:r>
              <a:rPr lang="en-US" altLang="zh-CN" dirty="0">
                <a:solidFill>
                  <a:schemeClr val="tx1"/>
                </a:solidFill>
                <a:latin typeface="楷体_GB2312" pitchFamily="1" charset="-122"/>
                <a:ea typeface="楷体_GB2312" pitchFamily="1" charset="-122"/>
              </a:rPr>
              <a:t>n</a:t>
            </a:r>
            <a:r>
              <a:rPr lang="en-US" altLang="zh-CN" baseline="-25000" dirty="0">
                <a:solidFill>
                  <a:schemeClr val="tx1"/>
                </a:solidFill>
                <a:latin typeface="楷体_GB2312" pitchFamily="1" charset="-122"/>
                <a:ea typeface="楷体_GB2312" pitchFamily="1" charset="-122"/>
              </a:rPr>
              <a:t>1</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8</a:t>
            </a:r>
            <a:r>
              <a:rPr lang="zh-CN" altLang="en-US" dirty="0">
                <a:solidFill>
                  <a:schemeClr val="tx1"/>
                </a:solidFill>
                <a:latin typeface="楷体_GB2312" pitchFamily="1" charset="-122"/>
                <a:ea typeface="楷体_GB2312" pitchFamily="1" charset="-122"/>
              </a:rPr>
              <a:t>，纵向网格数</a:t>
            </a:r>
            <a:r>
              <a:rPr lang="en-US" altLang="zh-CN" dirty="0">
                <a:solidFill>
                  <a:schemeClr val="tx1"/>
                </a:solidFill>
                <a:latin typeface="楷体_GB2312" pitchFamily="1" charset="-122"/>
                <a:ea typeface="楷体_GB2312" pitchFamily="1" charset="-122"/>
              </a:rPr>
              <a:t>n</a:t>
            </a:r>
            <a:r>
              <a:rPr lang="en-US" altLang="zh-CN" baseline="-25000" dirty="0">
                <a:solidFill>
                  <a:schemeClr val="tx1"/>
                </a:solidFill>
                <a:latin typeface="楷体_GB2312" pitchFamily="1" charset="-122"/>
                <a:ea typeface="楷体_GB2312" pitchFamily="1" charset="-122"/>
              </a:rPr>
              <a:t>2</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3</a:t>
            </a:r>
            <a:r>
              <a:rPr lang="zh-CN" altLang="en-US" dirty="0">
                <a:solidFill>
                  <a:schemeClr val="tx1"/>
                </a:solidFill>
                <a:latin typeface="楷体_GB2312" pitchFamily="1" charset="-122"/>
                <a:ea typeface="楷体_GB2312" pitchFamily="1" charset="-122"/>
              </a:rPr>
              <a:t>，圆柱网格模型的顶点表的顶点数为：</a:t>
            </a:r>
            <a:r>
              <a:rPr lang="en-US" altLang="zh-CN" dirty="0">
                <a:solidFill>
                  <a:schemeClr val="tx1"/>
                </a:solidFill>
                <a:latin typeface="楷体_GB2312" pitchFamily="1" charset="-122"/>
                <a:ea typeface="楷体_GB2312" pitchFamily="1" charset="-122"/>
              </a:rPr>
              <a:t>n</a:t>
            </a:r>
            <a:r>
              <a:rPr lang="en-US" altLang="zh-CN" baseline="-25000" dirty="0">
                <a:solidFill>
                  <a:schemeClr val="tx1"/>
                </a:solidFill>
                <a:latin typeface="楷体_GB2312" pitchFamily="1" charset="-122"/>
                <a:ea typeface="楷体_GB2312" pitchFamily="1" charset="-122"/>
              </a:rPr>
              <a:t>1</a:t>
            </a:r>
            <a:r>
              <a:rPr lang="en-US" altLang="zh-CN" dirty="0">
                <a:solidFill>
                  <a:schemeClr val="tx1"/>
                </a:solidFill>
                <a:latin typeface="楷体_GB2312" pitchFamily="1" charset="-122"/>
                <a:ea typeface="楷体_GB2312" pitchFamily="1" charset="-122"/>
              </a:rPr>
              <a:t>×</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n</a:t>
            </a:r>
            <a:r>
              <a:rPr lang="en-US" altLang="zh-CN" baseline="-25000" dirty="0">
                <a:solidFill>
                  <a:schemeClr val="tx1"/>
                </a:solidFill>
                <a:latin typeface="楷体_GB2312" pitchFamily="1" charset="-122"/>
                <a:ea typeface="楷体_GB2312" pitchFamily="1" charset="-122"/>
              </a:rPr>
              <a:t>2</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1</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2</a:t>
            </a:r>
            <a:r>
              <a:rPr lang="zh-CN" altLang="en-US" dirty="0">
                <a:solidFill>
                  <a:schemeClr val="tx1"/>
                </a:solidFill>
                <a:latin typeface="楷体_GB2312" pitchFamily="1" charset="-122"/>
                <a:ea typeface="楷体_GB2312" pitchFamily="1" charset="-122"/>
              </a:rPr>
              <a:t>＝</a:t>
            </a:r>
            <a:r>
              <a:rPr lang="en-US" altLang="zh-CN" b="1" dirty="0">
                <a:solidFill>
                  <a:srgbClr val="FF0000"/>
                </a:solidFill>
                <a:latin typeface="黑体" pitchFamily="49" charset="-122"/>
                <a:ea typeface="黑体" pitchFamily="49" charset="-122"/>
              </a:rPr>
              <a:t>34</a:t>
            </a:r>
            <a:r>
              <a:rPr lang="zh-CN" altLang="en-US" dirty="0">
                <a:solidFill>
                  <a:schemeClr val="tx1"/>
                </a:solidFill>
                <a:latin typeface="楷体_GB2312" pitchFamily="1" charset="-122"/>
                <a:ea typeface="楷体_GB2312" pitchFamily="1" charset="-122"/>
              </a:rPr>
              <a:t>。 顶面和底面各有</a:t>
            </a:r>
            <a:r>
              <a:rPr lang="en-US" altLang="zh-CN" dirty="0">
                <a:solidFill>
                  <a:schemeClr val="tx1"/>
                </a:solidFill>
                <a:latin typeface="楷体_GB2312" pitchFamily="1" charset="-122"/>
                <a:ea typeface="楷体_GB2312" pitchFamily="1" charset="-122"/>
              </a:rPr>
              <a:t>8</a:t>
            </a:r>
            <a:r>
              <a:rPr lang="zh-CN" altLang="en-US" dirty="0">
                <a:solidFill>
                  <a:schemeClr val="tx1"/>
                </a:solidFill>
                <a:latin typeface="楷体_GB2312" pitchFamily="1" charset="-122"/>
                <a:ea typeface="楷体_GB2312" pitchFamily="1" charset="-122"/>
              </a:rPr>
              <a:t>个三角形网格，侧面有</a:t>
            </a:r>
            <a:r>
              <a:rPr lang="en-US" altLang="zh-CN" dirty="0">
                <a:solidFill>
                  <a:schemeClr val="tx1"/>
                </a:solidFill>
                <a:latin typeface="楷体_GB2312" pitchFamily="1" charset="-122"/>
                <a:ea typeface="楷体_GB2312" pitchFamily="1" charset="-122"/>
              </a:rPr>
              <a:t>24</a:t>
            </a:r>
            <a:r>
              <a:rPr lang="zh-CN" altLang="en-US" dirty="0">
                <a:solidFill>
                  <a:schemeClr val="tx1"/>
                </a:solidFill>
                <a:latin typeface="楷体_GB2312" pitchFamily="1" charset="-122"/>
                <a:ea typeface="楷体_GB2312" pitchFamily="1" charset="-122"/>
              </a:rPr>
              <a:t>个四边形网格，圆柱网格模型的面表的面片总数为</a:t>
            </a:r>
            <a:r>
              <a:rPr lang="en-US" altLang="zh-CN" b="1" dirty="0">
                <a:solidFill>
                  <a:srgbClr val="FF0000"/>
                </a:solidFill>
                <a:latin typeface="黑体" pitchFamily="49" charset="-122"/>
                <a:ea typeface="黑体" pitchFamily="49" charset="-122"/>
              </a:rPr>
              <a:t>40</a:t>
            </a:r>
            <a:r>
              <a:rPr lang="zh-CN" altLang="en-US" dirty="0">
                <a:solidFill>
                  <a:schemeClr val="tx1"/>
                </a:solidFill>
                <a:latin typeface="楷体_GB2312" pitchFamily="1" charset="-122"/>
                <a:ea typeface="楷体_GB2312" pitchFamily="1" charset="-122"/>
              </a:rPr>
              <a:t>。 </a:t>
            </a:r>
            <a:endParaRPr lang="en-US" altLang="zh-CN" dirty="0">
              <a:solidFill>
                <a:schemeClr val="tx1"/>
              </a:solidFill>
              <a:latin typeface="楷体_GB2312" pitchFamily="1" charset="-122"/>
              <a:ea typeface="楷体_GB2312" pitchFamily="1" charset="-122"/>
            </a:endParaRPr>
          </a:p>
        </p:txBody>
      </p:sp>
      <p:pic>
        <p:nvPicPr>
          <p:cNvPr id="64518"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2263" y="2528888"/>
            <a:ext cx="2546350" cy="333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9" name="Text Box 11"/>
          <p:cNvSpPr txBox="1">
            <a:spLocks noChangeArrowheads="1"/>
          </p:cNvSpPr>
          <p:nvPr/>
        </p:nvSpPr>
        <p:spPr bwMode="auto">
          <a:xfrm>
            <a:off x="3086100" y="6129338"/>
            <a:ext cx="2790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 图</a:t>
            </a:r>
            <a:r>
              <a:rPr lang="en-US" altLang="zh-CN" sz="2000">
                <a:solidFill>
                  <a:schemeClr val="tx1"/>
                </a:solidFill>
                <a:latin typeface="楷体_GB2312" pitchFamily="1" charset="-122"/>
                <a:ea typeface="楷体_GB2312" pitchFamily="1" charset="-122"/>
              </a:rPr>
              <a:t>9-36 </a:t>
            </a:r>
            <a:r>
              <a:rPr lang="zh-CN" altLang="en-US" sz="2000">
                <a:solidFill>
                  <a:schemeClr val="tx1"/>
                </a:solidFill>
                <a:latin typeface="楷体_GB2312" pitchFamily="1" charset="-122"/>
                <a:ea typeface="楷体_GB2312" pitchFamily="1" charset="-122"/>
              </a:rPr>
              <a:t>示例圆柱</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6A557C7B-320A-424A-A559-4B3271DA946A}" type="slidenum">
              <a:rPr lang="en-US" altLang="zh-CN" sz="1200">
                <a:solidFill>
                  <a:schemeClr val="tx1"/>
                </a:solidFill>
                <a:latin typeface="Garamond" pitchFamily="18" charset="0"/>
              </a:rPr>
              <a:pPr algn="r" eaLnBrk="1" hangingPunct="1">
                <a:spcBef>
                  <a:spcPct val="0"/>
                </a:spcBef>
              </a:pPr>
              <a:t>62</a:t>
            </a:fld>
            <a:endParaRPr lang="en-US" altLang="zh-CN" sz="1200">
              <a:solidFill>
                <a:schemeClr val="tx1"/>
              </a:solidFill>
              <a:latin typeface="Garamond" pitchFamily="18" charset="0"/>
            </a:endParaRPr>
          </a:p>
        </p:txBody>
      </p:sp>
      <p:sp>
        <p:nvSpPr>
          <p:cNvPr id="65539" name="Rectangle 47"/>
          <p:cNvSpPr>
            <a:spLocks noChangeArrowheads="1"/>
          </p:cNvSpPr>
          <p:nvPr/>
        </p:nvSpPr>
        <p:spPr bwMode="auto">
          <a:xfrm>
            <a:off x="0" y="5983288"/>
            <a:ext cx="520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rPr>
              <a:t>    </a:t>
            </a:r>
          </a:p>
        </p:txBody>
      </p:sp>
      <p:sp>
        <p:nvSpPr>
          <p:cNvPr id="65540" name="Text Box 58"/>
          <p:cNvSpPr txBox="1">
            <a:spLocks noChangeArrowheads="1"/>
          </p:cNvSpPr>
          <p:nvPr/>
        </p:nvSpPr>
        <p:spPr bwMode="auto">
          <a:xfrm>
            <a:off x="206375" y="188913"/>
            <a:ext cx="8621713"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30000"/>
              </a:lnSpc>
              <a:buClr>
                <a:srgbClr val="FF33CC"/>
              </a:buClr>
              <a:buFont typeface="Wingdings" pitchFamily="2" charset="2"/>
              <a:buNone/>
            </a:pPr>
            <a:r>
              <a:rPr lang="zh-CN" altLang="en-US">
                <a:solidFill>
                  <a:schemeClr val="tx1"/>
                </a:solidFill>
                <a:latin typeface="楷体_GB2312" pitchFamily="1" charset="-122"/>
                <a:ea typeface="楷体_GB2312" pitchFamily="1" charset="-122"/>
              </a:rPr>
              <a:t>示例圆柱面的顶点和表面编号如图</a:t>
            </a:r>
            <a:r>
              <a:rPr lang="en-US" altLang="zh-CN">
                <a:solidFill>
                  <a:schemeClr val="tx1"/>
                </a:solidFill>
                <a:latin typeface="楷体_GB2312" pitchFamily="1" charset="-122"/>
                <a:ea typeface="楷体_GB2312" pitchFamily="1" charset="-122"/>
              </a:rPr>
              <a:t>9-37</a:t>
            </a:r>
            <a:r>
              <a:rPr lang="zh-CN" altLang="en-US">
                <a:solidFill>
                  <a:schemeClr val="tx1"/>
                </a:solidFill>
                <a:latin typeface="楷体_GB2312" pitchFamily="1" charset="-122"/>
                <a:ea typeface="楷体_GB2312" pitchFamily="1" charset="-122"/>
              </a:rPr>
              <a:t>～图</a:t>
            </a:r>
            <a:r>
              <a:rPr lang="en-US" altLang="zh-CN">
                <a:solidFill>
                  <a:schemeClr val="tx1"/>
                </a:solidFill>
                <a:latin typeface="楷体_GB2312" pitchFamily="1" charset="-122"/>
                <a:ea typeface="楷体_GB2312" pitchFamily="1" charset="-122"/>
              </a:rPr>
              <a:t>9-39</a:t>
            </a:r>
            <a:r>
              <a:rPr lang="zh-CN" altLang="en-US">
                <a:solidFill>
                  <a:schemeClr val="tx1"/>
                </a:solidFill>
                <a:latin typeface="楷体_GB2312" pitchFamily="1" charset="-122"/>
                <a:ea typeface="楷体_GB2312" pitchFamily="1" charset="-122"/>
              </a:rPr>
              <a:t>所示。</a:t>
            </a:r>
          </a:p>
        </p:txBody>
      </p:sp>
      <p:graphicFrame>
        <p:nvGraphicFramePr>
          <p:cNvPr id="65542" name="Object 59"/>
          <p:cNvGraphicFramePr>
            <a:graphicFrameLocks noChangeAspect="1"/>
          </p:cNvGraphicFramePr>
          <p:nvPr/>
        </p:nvGraphicFramePr>
        <p:xfrm>
          <a:off x="792163" y="728663"/>
          <a:ext cx="2789237" cy="2789237"/>
        </p:xfrm>
        <a:graphic>
          <a:graphicData uri="http://schemas.openxmlformats.org/presentationml/2006/ole">
            <mc:AlternateContent xmlns:mc="http://schemas.openxmlformats.org/markup-compatibility/2006">
              <mc:Choice xmlns:v="urn:schemas-microsoft-com:vml" Requires="v">
                <p:oleObj spid="_x0000_s65621" r:id="rId3" imgW="2268855" imgH="2268855" progId="Visio.Drawing.11">
                  <p:embed/>
                </p:oleObj>
              </mc:Choice>
              <mc:Fallback>
                <p:oleObj r:id="rId3" imgW="2268855" imgH="2268855" progId="Visio.Drawing.11">
                  <p:embed/>
                  <p:pic>
                    <p:nvPicPr>
                      <p:cNvPr id="0" name="Picture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163" y="728663"/>
                        <a:ext cx="2789237" cy="2789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544" name="Object 61"/>
          <p:cNvGraphicFramePr>
            <a:graphicFrameLocks noChangeAspect="1"/>
          </p:cNvGraphicFramePr>
          <p:nvPr/>
        </p:nvGraphicFramePr>
        <p:xfrm>
          <a:off x="4662488" y="819150"/>
          <a:ext cx="2700337" cy="2700338"/>
        </p:xfrm>
        <a:graphic>
          <a:graphicData uri="http://schemas.openxmlformats.org/presentationml/2006/ole">
            <mc:AlternateContent xmlns:mc="http://schemas.openxmlformats.org/markup-compatibility/2006">
              <mc:Choice xmlns:v="urn:schemas-microsoft-com:vml" Requires="v">
                <p:oleObj spid="_x0000_s65622" r:id="rId5" imgW="2268855" imgH="2268855" progId="Visio.Drawing.11">
                  <p:embed/>
                </p:oleObj>
              </mc:Choice>
              <mc:Fallback>
                <p:oleObj r:id="rId5" imgW="2268855" imgH="2268855" progId="Visio.Drawing.11">
                  <p:embed/>
                  <p:pic>
                    <p:nvPicPr>
                      <p:cNvPr id="0" name="Picture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62488" y="819150"/>
                        <a:ext cx="2700337" cy="2700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45" name="Rectangle 63"/>
          <p:cNvSpPr>
            <a:spLocks noChangeArrowheads="1"/>
          </p:cNvSpPr>
          <p:nvPr/>
        </p:nvSpPr>
        <p:spPr bwMode="auto">
          <a:xfrm>
            <a:off x="792163" y="3429000"/>
            <a:ext cx="7561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9-37 </a:t>
            </a:r>
            <a:r>
              <a:rPr lang="zh-CN" altLang="en-US" sz="2000">
                <a:solidFill>
                  <a:schemeClr val="tx1"/>
                </a:solidFill>
                <a:latin typeface="楷体_GB2312" pitchFamily="1" charset="-122"/>
                <a:ea typeface="楷体_GB2312" pitchFamily="1" charset="-122"/>
              </a:rPr>
              <a:t>圆柱底面的网格划分    图</a:t>
            </a:r>
            <a:r>
              <a:rPr lang="en-US" altLang="zh-CN" sz="2000">
                <a:solidFill>
                  <a:schemeClr val="tx1"/>
                </a:solidFill>
                <a:latin typeface="楷体_GB2312" pitchFamily="1" charset="-122"/>
                <a:ea typeface="楷体_GB2312" pitchFamily="1" charset="-122"/>
              </a:rPr>
              <a:t>9-38 </a:t>
            </a:r>
            <a:r>
              <a:rPr lang="zh-CN" altLang="en-US" sz="2000">
                <a:solidFill>
                  <a:schemeClr val="tx1"/>
                </a:solidFill>
                <a:latin typeface="楷体_GB2312" pitchFamily="1" charset="-122"/>
                <a:ea typeface="楷体_GB2312" pitchFamily="1" charset="-122"/>
              </a:rPr>
              <a:t>圆柱的顶面的网格划分</a:t>
            </a:r>
          </a:p>
        </p:txBody>
      </p:sp>
      <p:graphicFrame>
        <p:nvGraphicFramePr>
          <p:cNvPr id="65547" name="Object 64"/>
          <p:cNvGraphicFramePr>
            <a:graphicFrameLocks noChangeAspect="1"/>
          </p:cNvGraphicFramePr>
          <p:nvPr/>
        </p:nvGraphicFramePr>
        <p:xfrm>
          <a:off x="1916113" y="3654425"/>
          <a:ext cx="5175250" cy="2570163"/>
        </p:xfrm>
        <a:graphic>
          <a:graphicData uri="http://schemas.openxmlformats.org/presentationml/2006/ole">
            <mc:AlternateContent xmlns:mc="http://schemas.openxmlformats.org/markup-compatibility/2006">
              <mc:Choice xmlns:v="urn:schemas-microsoft-com:vml" Requires="v">
                <p:oleObj spid="_x0000_s65623" r:id="rId7" imgW="6940677" imgH="3430905" progId="Visio.Drawing.11">
                  <p:embed/>
                </p:oleObj>
              </mc:Choice>
              <mc:Fallback>
                <p:oleObj r:id="rId7" imgW="6940677" imgH="3430905" progId="Visio.Drawing.11">
                  <p:embed/>
                  <p:pic>
                    <p:nvPicPr>
                      <p:cNvPr id="0" name="Picture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16113" y="3654425"/>
                        <a:ext cx="5175250" cy="2570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48" name="Rectangle 66"/>
          <p:cNvSpPr>
            <a:spLocks noChangeArrowheads="1"/>
          </p:cNvSpPr>
          <p:nvPr/>
        </p:nvSpPr>
        <p:spPr bwMode="auto">
          <a:xfrm>
            <a:off x="2921000" y="6115050"/>
            <a:ext cx="3624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9-39 </a:t>
            </a:r>
            <a:r>
              <a:rPr lang="zh-CN" altLang="en-US" sz="2000">
                <a:solidFill>
                  <a:schemeClr val="tx1"/>
                </a:solidFill>
                <a:latin typeface="楷体_GB2312" pitchFamily="1" charset="-122"/>
                <a:ea typeface="楷体_GB2312" pitchFamily="1" charset="-122"/>
              </a:rPr>
              <a:t>圆柱侧面的网格划分</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9DCEC7DF-9950-4AD3-862B-11A3599CAB27}" type="slidenum">
              <a:rPr lang="en-US" altLang="zh-CN" sz="1200">
                <a:solidFill>
                  <a:schemeClr val="tx1"/>
                </a:solidFill>
                <a:latin typeface="Garamond" pitchFamily="18" charset="0"/>
              </a:rPr>
              <a:pPr algn="r" eaLnBrk="1" hangingPunct="1">
                <a:spcBef>
                  <a:spcPct val="0"/>
                </a:spcBef>
              </a:pPr>
              <a:t>63</a:t>
            </a:fld>
            <a:endParaRPr lang="en-US" altLang="zh-CN" sz="1200">
              <a:solidFill>
                <a:schemeClr val="tx1"/>
              </a:solidFill>
              <a:latin typeface="Garamond" pitchFamily="18" charset="0"/>
            </a:endParaRPr>
          </a:p>
        </p:txBody>
      </p:sp>
      <p:sp>
        <p:nvSpPr>
          <p:cNvPr id="66563" name="Rectangle 60"/>
          <p:cNvSpPr>
            <a:spLocks noChangeArrowheads="1"/>
          </p:cNvSpPr>
          <p:nvPr/>
        </p:nvSpPr>
        <p:spPr bwMode="auto">
          <a:xfrm>
            <a:off x="0" y="-133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66565" name="Text Box 76"/>
          <p:cNvSpPr txBox="1">
            <a:spLocks noChangeArrowheads="1"/>
          </p:cNvSpPr>
          <p:nvPr/>
        </p:nvSpPr>
        <p:spPr bwMode="auto">
          <a:xfrm>
            <a:off x="206375" y="188913"/>
            <a:ext cx="8621713"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30000"/>
              </a:lnSpc>
              <a:buClr>
                <a:srgbClr val="FF33CC"/>
              </a:buClr>
              <a:buFont typeface="Wingdings" pitchFamily="2" charset="2"/>
              <a:buNone/>
            </a:pPr>
            <a:r>
              <a:rPr lang="zh-CN" altLang="en-US">
                <a:solidFill>
                  <a:schemeClr val="tx1"/>
                </a:solidFill>
                <a:latin typeface="楷体_GB2312" pitchFamily="1" charset="-122"/>
                <a:ea typeface="楷体_GB2312" pitchFamily="1" charset="-122"/>
              </a:rPr>
              <a:t>    适当加大周向和纵向划分的网格数，圆柱面网格模型趋向光滑，透视投影效果如图</a:t>
            </a:r>
            <a:r>
              <a:rPr lang="en-US" altLang="zh-CN">
                <a:solidFill>
                  <a:schemeClr val="tx1"/>
                </a:solidFill>
                <a:latin typeface="楷体_GB2312" pitchFamily="1" charset="-122"/>
                <a:ea typeface="楷体_GB2312" pitchFamily="1" charset="-122"/>
              </a:rPr>
              <a:t>9-39</a:t>
            </a:r>
            <a:r>
              <a:rPr lang="zh-CN" altLang="en-US">
                <a:solidFill>
                  <a:schemeClr val="tx1"/>
                </a:solidFill>
                <a:latin typeface="楷体_GB2312" pitchFamily="1" charset="-122"/>
                <a:ea typeface="楷体_GB2312" pitchFamily="1" charset="-122"/>
              </a:rPr>
              <a:t>所示。</a:t>
            </a:r>
          </a:p>
        </p:txBody>
      </p:sp>
      <p:sp>
        <p:nvSpPr>
          <p:cNvPr id="66566" name="Rectangle 77"/>
          <p:cNvSpPr>
            <a:spLocks noChangeArrowheads="1"/>
          </p:cNvSpPr>
          <p:nvPr/>
        </p:nvSpPr>
        <p:spPr bwMode="auto">
          <a:xfrm>
            <a:off x="2097088" y="6084888"/>
            <a:ext cx="5175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9-40  </a:t>
            </a:r>
            <a:r>
              <a:rPr lang="zh-CN" altLang="en-US" sz="2000">
                <a:solidFill>
                  <a:schemeClr val="tx1"/>
                </a:solidFill>
                <a:latin typeface="楷体_GB2312" pitchFamily="1" charset="-122"/>
                <a:ea typeface="楷体_GB2312" pitchFamily="1" charset="-122"/>
                <a:hlinkClick r:id="rId2" action="ppaction://hlinkfile"/>
              </a:rPr>
              <a:t>圆柱的网格模型透视效果图</a:t>
            </a:r>
            <a:endParaRPr lang="zh-CN" altLang="en-US" sz="2000">
              <a:solidFill>
                <a:schemeClr val="tx1"/>
              </a:solidFill>
              <a:latin typeface="楷体_GB2312" pitchFamily="1" charset="-122"/>
              <a:ea typeface="楷体_GB2312" pitchFamily="1" charset="-122"/>
            </a:endParaRPr>
          </a:p>
        </p:txBody>
      </p:sp>
      <p:pic>
        <p:nvPicPr>
          <p:cNvPr id="66567" name="Picture 7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6238" y="1493838"/>
            <a:ext cx="5895975" cy="42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3F038E99-13B0-4DA6-B414-CA107A56D3C2}" type="slidenum">
              <a:rPr lang="en-US" altLang="zh-CN" sz="1200">
                <a:solidFill>
                  <a:schemeClr val="tx1"/>
                </a:solidFill>
                <a:latin typeface="Garamond" pitchFamily="18" charset="0"/>
              </a:rPr>
              <a:pPr algn="r" eaLnBrk="1" hangingPunct="1">
                <a:spcBef>
                  <a:spcPct val="0"/>
                </a:spcBef>
              </a:pPr>
              <a:t>64</a:t>
            </a:fld>
            <a:endParaRPr lang="en-US" altLang="zh-CN" sz="1200">
              <a:solidFill>
                <a:schemeClr val="tx1"/>
              </a:solidFill>
              <a:latin typeface="Garamond" pitchFamily="18" charset="0"/>
            </a:endParaRPr>
          </a:p>
        </p:txBody>
      </p:sp>
      <p:sp>
        <p:nvSpPr>
          <p:cNvPr id="67587" name="Text Box 4"/>
          <p:cNvSpPr txBox="1">
            <a:spLocks noChangeArrowheads="1"/>
          </p:cNvSpPr>
          <p:nvPr/>
        </p:nvSpPr>
        <p:spPr bwMode="auto">
          <a:xfrm>
            <a:off x="206375" y="414338"/>
            <a:ext cx="2609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b="1">
                <a:solidFill>
                  <a:schemeClr val="tx1"/>
                </a:solidFill>
                <a:latin typeface="楷体_GB2312" pitchFamily="1" charset="-122"/>
                <a:ea typeface="楷体_GB2312" pitchFamily="1" charset="-122"/>
              </a:rPr>
              <a:t>〔3〕</a:t>
            </a:r>
            <a:r>
              <a:rPr lang="zh-CN" altLang="en-US" b="1">
                <a:solidFill>
                  <a:schemeClr val="tx1"/>
                </a:solidFill>
                <a:latin typeface="楷体_GB2312" pitchFamily="1" charset="-122"/>
                <a:ea typeface="楷体_GB2312" pitchFamily="1" charset="-122"/>
              </a:rPr>
              <a:t>圆锥面</a:t>
            </a:r>
          </a:p>
        </p:txBody>
      </p:sp>
      <p:sp>
        <p:nvSpPr>
          <p:cNvPr id="67588" name="Text Box 5"/>
          <p:cNvSpPr txBox="1">
            <a:spLocks noChangeArrowheads="1"/>
          </p:cNvSpPr>
          <p:nvPr/>
        </p:nvSpPr>
        <p:spPr bwMode="auto">
          <a:xfrm>
            <a:off x="522288" y="819150"/>
            <a:ext cx="8324850"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40000"/>
              </a:lnSpc>
              <a:buClr>
                <a:srgbClr val="FF0066"/>
              </a:buClr>
              <a:buFont typeface="Wingdings" pitchFamily="2" charset="2"/>
              <a:buNone/>
            </a:pPr>
            <a:r>
              <a:rPr lang="zh-CN" altLang="en-US" dirty="0">
                <a:solidFill>
                  <a:schemeClr val="tx1"/>
                </a:solidFill>
                <a:latin typeface="楷体_GB2312" pitchFamily="1" charset="-122"/>
                <a:ea typeface="楷体_GB2312" pitchFamily="1" charset="-122"/>
              </a:rPr>
              <a:t>    假定圆锥的</a:t>
            </a:r>
            <a:r>
              <a:rPr lang="zh-CN" altLang="en-US" b="1" dirty="0">
                <a:solidFill>
                  <a:srgbClr val="FF0000"/>
                </a:solidFill>
                <a:latin typeface="方正粗黑宋简体" panose="02000000000000000000" pitchFamily="2" charset="-122"/>
                <a:ea typeface="方正粗黑宋简体" panose="02000000000000000000" pitchFamily="2" charset="-122"/>
              </a:rPr>
              <a:t>中心轴与</a:t>
            </a:r>
            <a:r>
              <a:rPr lang="fr-FR" altLang="en-US" b="1" dirty="0">
                <a:solidFill>
                  <a:srgbClr val="FF0000"/>
                </a:solidFill>
                <a:latin typeface="方正粗黑宋简体" panose="02000000000000000000" pitchFamily="2" charset="-122"/>
                <a:ea typeface="方正粗黑宋简体" panose="02000000000000000000" pitchFamily="2" charset="-122"/>
              </a:rPr>
              <a:t>y</a:t>
            </a:r>
            <a:r>
              <a:rPr lang="zh-CN" altLang="en-US" b="1" dirty="0">
                <a:solidFill>
                  <a:srgbClr val="FF0000"/>
                </a:solidFill>
                <a:latin typeface="方正粗黑宋简体" panose="02000000000000000000" pitchFamily="2" charset="-122"/>
                <a:ea typeface="方正粗黑宋简体" panose="02000000000000000000" pitchFamily="2" charset="-122"/>
              </a:rPr>
              <a:t>轴重合</a:t>
            </a:r>
            <a:r>
              <a:rPr lang="zh-CN" altLang="en-US" dirty="0">
                <a:solidFill>
                  <a:schemeClr val="tx1"/>
                </a:solidFill>
                <a:latin typeface="楷体_GB2312" pitchFamily="1" charset="-122"/>
                <a:ea typeface="楷体_GB2312" pitchFamily="1" charset="-122"/>
              </a:rPr>
              <a:t>，横截面的最大半径为</a:t>
            </a:r>
            <a:r>
              <a:rPr lang="fr-FR" altLang="en-US" dirty="0">
                <a:solidFill>
                  <a:schemeClr val="tx1"/>
                </a:solidFill>
                <a:latin typeface="楷体_GB2312" pitchFamily="1" charset="-122"/>
                <a:ea typeface="楷体_GB2312" pitchFamily="1" charset="-122"/>
              </a:rPr>
              <a:t>r</a:t>
            </a:r>
            <a:r>
              <a:rPr lang="zh-CN" altLang="en-US" dirty="0">
                <a:solidFill>
                  <a:schemeClr val="tx1"/>
                </a:solidFill>
                <a:latin typeface="楷体_GB2312" pitchFamily="1" charset="-122"/>
                <a:ea typeface="楷体_GB2312" pitchFamily="1" charset="-122"/>
              </a:rPr>
              <a:t>，最小半径为</a:t>
            </a:r>
            <a:r>
              <a:rPr lang="fr-FR" altLang="en-US"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rPr>
              <a:t>，圆锥的高度沿着</a:t>
            </a:r>
            <a:r>
              <a:rPr lang="fr-FR" altLang="en-US" dirty="0">
                <a:solidFill>
                  <a:schemeClr val="tx1"/>
                </a:solidFill>
                <a:latin typeface="楷体_GB2312" pitchFamily="1" charset="-122"/>
                <a:ea typeface="楷体_GB2312" pitchFamily="1" charset="-122"/>
              </a:rPr>
              <a:t>y</a:t>
            </a:r>
            <a:r>
              <a:rPr lang="zh-CN" altLang="en-US" dirty="0">
                <a:solidFill>
                  <a:schemeClr val="tx1"/>
                </a:solidFill>
                <a:latin typeface="楷体_GB2312" pitchFamily="1" charset="-122"/>
                <a:ea typeface="楷体_GB2312" pitchFamily="1" charset="-122"/>
              </a:rPr>
              <a:t>轴方向从</a:t>
            </a:r>
            <a:r>
              <a:rPr lang="fr-FR" altLang="en-US"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rPr>
              <a:t>拉伸到</a:t>
            </a:r>
            <a:r>
              <a:rPr lang="fr-FR" altLang="en-US" dirty="0">
                <a:solidFill>
                  <a:schemeClr val="tx1"/>
                </a:solidFill>
                <a:latin typeface="楷体_GB2312" pitchFamily="1" charset="-122"/>
                <a:ea typeface="楷体_GB2312" pitchFamily="1" charset="-122"/>
              </a:rPr>
              <a:t>h</a:t>
            </a:r>
            <a:r>
              <a:rPr lang="zh-CN" altLang="en-US" dirty="0">
                <a:solidFill>
                  <a:schemeClr val="tx1"/>
                </a:solidFill>
                <a:latin typeface="楷体_GB2312" pitchFamily="1" charset="-122"/>
                <a:ea typeface="楷体_GB2312" pitchFamily="1" charset="-122"/>
              </a:rPr>
              <a:t>，三维坐标系原点</a:t>
            </a:r>
            <a:r>
              <a:rPr lang="fr-FR" altLang="en-US" dirty="0">
                <a:solidFill>
                  <a:schemeClr val="tx1"/>
                </a:solidFill>
                <a:latin typeface="楷体_GB2312" pitchFamily="1" charset="-122"/>
                <a:ea typeface="楷体_GB2312" pitchFamily="1" charset="-122"/>
              </a:rPr>
              <a:t>O</a:t>
            </a:r>
            <a:r>
              <a:rPr lang="zh-CN" altLang="en-US" dirty="0">
                <a:solidFill>
                  <a:schemeClr val="tx1"/>
                </a:solidFill>
                <a:latin typeface="楷体_GB2312" pitchFamily="1" charset="-122"/>
                <a:ea typeface="楷体_GB2312" pitchFamily="1" charset="-122"/>
              </a:rPr>
              <a:t>位于底面中心 ，如图</a:t>
            </a:r>
            <a:r>
              <a:rPr lang="fr-FR" altLang="en-US" dirty="0">
                <a:solidFill>
                  <a:schemeClr val="tx1"/>
                </a:solidFill>
                <a:latin typeface="楷体_GB2312" pitchFamily="1" charset="-122"/>
                <a:ea typeface="楷体_GB2312" pitchFamily="1" charset="-122"/>
              </a:rPr>
              <a:t>9-41</a:t>
            </a:r>
            <a:r>
              <a:rPr lang="zh-CN" altLang="en-US" dirty="0">
                <a:solidFill>
                  <a:schemeClr val="tx1"/>
                </a:solidFill>
                <a:latin typeface="楷体_GB2312" pitchFamily="1" charset="-122"/>
                <a:ea typeface="楷体_GB2312" pitchFamily="1" charset="-122"/>
              </a:rPr>
              <a:t>所示。</a:t>
            </a:r>
          </a:p>
        </p:txBody>
      </p:sp>
      <p:sp>
        <p:nvSpPr>
          <p:cNvPr id="67589" name="Rectangle 12"/>
          <p:cNvSpPr>
            <a:spLocks noChangeArrowheads="1"/>
          </p:cNvSpPr>
          <p:nvPr/>
        </p:nvSpPr>
        <p:spPr bwMode="auto">
          <a:xfrm>
            <a:off x="0" y="1131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67590" name="Rectangle 13"/>
          <p:cNvSpPr>
            <a:spLocks noChangeArrowheads="1"/>
          </p:cNvSpPr>
          <p:nvPr/>
        </p:nvSpPr>
        <p:spPr bwMode="auto">
          <a:xfrm>
            <a:off x="0" y="1131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67591" name="Text Box 17"/>
          <p:cNvSpPr txBox="1">
            <a:spLocks noChangeArrowheads="1"/>
          </p:cNvSpPr>
          <p:nvPr/>
        </p:nvSpPr>
        <p:spPr bwMode="auto">
          <a:xfrm>
            <a:off x="5786438" y="5903913"/>
            <a:ext cx="3132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9-41 </a:t>
            </a:r>
            <a:r>
              <a:rPr lang="zh-CN" altLang="en-US" sz="2000">
                <a:solidFill>
                  <a:schemeClr val="tx1"/>
                </a:solidFill>
                <a:latin typeface="楷体_GB2312" pitchFamily="1" charset="-122"/>
                <a:ea typeface="楷体_GB2312" pitchFamily="1" charset="-122"/>
              </a:rPr>
              <a:t>圆锥面的数学模型 </a:t>
            </a:r>
          </a:p>
        </p:txBody>
      </p:sp>
      <p:sp>
        <p:nvSpPr>
          <p:cNvPr id="67592" name="Text Box 18"/>
          <p:cNvSpPr txBox="1">
            <a:spLocks noChangeArrowheads="1"/>
          </p:cNvSpPr>
          <p:nvPr/>
        </p:nvSpPr>
        <p:spPr bwMode="auto">
          <a:xfrm>
            <a:off x="522288" y="2476500"/>
            <a:ext cx="3824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buClr>
                <a:srgbClr val="FF0066"/>
              </a:buClr>
              <a:buFont typeface="Wingdings" pitchFamily="2" charset="2"/>
              <a:buNone/>
            </a:pPr>
            <a:r>
              <a:rPr lang="zh-CN" altLang="en-US" dirty="0">
                <a:solidFill>
                  <a:schemeClr val="tx1"/>
                </a:solidFill>
                <a:latin typeface="楷体_GB2312" pitchFamily="1" charset="-122"/>
                <a:ea typeface="楷体_GB2312" pitchFamily="1" charset="-122"/>
              </a:rPr>
              <a:t>圆锥侧面的参数方程为 </a:t>
            </a:r>
          </a:p>
        </p:txBody>
      </p:sp>
      <p:sp>
        <p:nvSpPr>
          <p:cNvPr id="67594" name="Rectangle 21"/>
          <p:cNvSpPr>
            <a:spLocks noChangeArrowheads="1"/>
          </p:cNvSpPr>
          <p:nvPr/>
        </p:nvSpPr>
        <p:spPr bwMode="auto">
          <a:xfrm>
            <a:off x="4751388" y="3743325"/>
            <a:ext cx="1319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rPr>
              <a:t>（</a:t>
            </a:r>
            <a:r>
              <a:rPr lang="en-US" altLang="zh-CN">
                <a:solidFill>
                  <a:schemeClr val="tx1"/>
                </a:solidFill>
              </a:rPr>
              <a:t>9-4</a:t>
            </a:r>
            <a:r>
              <a:rPr lang="zh-CN" altLang="en-US">
                <a:solidFill>
                  <a:schemeClr val="tx1"/>
                </a:solidFill>
              </a:rPr>
              <a:t>） </a:t>
            </a:r>
          </a:p>
        </p:txBody>
      </p:sp>
      <p:graphicFrame>
        <p:nvGraphicFramePr>
          <p:cNvPr id="67597" name="Object 24"/>
          <p:cNvGraphicFramePr>
            <a:graphicFrameLocks noChangeAspect="1"/>
          </p:cNvGraphicFramePr>
          <p:nvPr/>
        </p:nvGraphicFramePr>
        <p:xfrm>
          <a:off x="6272213" y="2484438"/>
          <a:ext cx="2425700" cy="3014662"/>
        </p:xfrm>
        <a:graphic>
          <a:graphicData uri="http://schemas.openxmlformats.org/presentationml/2006/ole">
            <mc:AlternateContent xmlns:mc="http://schemas.openxmlformats.org/markup-compatibility/2006">
              <mc:Choice xmlns:v="urn:schemas-microsoft-com:vml" Requires="v">
                <p:oleObj spid="_x0000_s67708" r:id="rId3" imgW="3425809" imgH="4249414" progId="Visio.Drawing.11">
                  <p:embed/>
                </p:oleObj>
              </mc:Choice>
              <mc:Fallback>
                <p:oleObj r:id="rId3" imgW="3425809" imgH="4249414" progId="Visio.Drawing.11">
                  <p:embed/>
                  <p:pic>
                    <p:nvPicPr>
                      <p:cNvPr id="0" name="Picture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2213" y="2484438"/>
                        <a:ext cx="2425700" cy="3014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599" name="Object 15"/>
          <p:cNvGraphicFramePr>
            <a:graphicFrameLocks noChangeAspect="1"/>
          </p:cNvGraphicFramePr>
          <p:nvPr/>
        </p:nvGraphicFramePr>
        <p:xfrm>
          <a:off x="836613" y="3114675"/>
          <a:ext cx="3149600" cy="1936750"/>
        </p:xfrm>
        <a:graphic>
          <a:graphicData uri="http://schemas.openxmlformats.org/presentationml/2006/ole">
            <mc:AlternateContent xmlns:mc="http://schemas.openxmlformats.org/markup-compatibility/2006">
              <mc:Choice xmlns:v="urn:schemas-microsoft-com:vml" Requires="v">
                <p:oleObj spid="_x0000_s67709" r:id="rId5" imgW="1283257" imgH="787742" progId="Equation.3">
                  <p:embed/>
                </p:oleObj>
              </mc:Choice>
              <mc:Fallback>
                <p:oleObj r:id="rId5" imgW="1283257" imgH="787742" progId="Equation.3">
                  <p:embed/>
                  <p:pic>
                    <p:nvPicPr>
                      <p:cNvPr id="0" name="Picture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6613" y="3114675"/>
                        <a:ext cx="3149600" cy="193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601" name="Object 17"/>
          <p:cNvGraphicFramePr>
            <a:graphicFrameLocks noChangeAspect="1"/>
          </p:cNvGraphicFramePr>
          <p:nvPr/>
        </p:nvGraphicFramePr>
        <p:xfrm>
          <a:off x="836613" y="5408613"/>
          <a:ext cx="1800225" cy="531812"/>
        </p:xfrm>
        <a:graphic>
          <a:graphicData uri="http://schemas.openxmlformats.org/presentationml/2006/ole">
            <mc:AlternateContent xmlns:mc="http://schemas.openxmlformats.org/markup-compatibility/2006">
              <mc:Choice xmlns:v="urn:schemas-microsoft-com:vml" Requires="v">
                <p:oleObj spid="_x0000_s67710" r:id="rId7" imgW="673392" imgH="203288" progId="Equation.3">
                  <p:embed/>
                </p:oleObj>
              </mc:Choice>
              <mc:Fallback>
                <p:oleObj r:id="rId7" imgW="673392" imgH="203288" progId="Equation.3">
                  <p:embed/>
                  <p:pic>
                    <p:nvPicPr>
                      <p:cNvPr id="0" name="Picture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6613" y="5408613"/>
                        <a:ext cx="1800225" cy="531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603" name="Object 19"/>
          <p:cNvGraphicFramePr>
            <a:graphicFrameLocks noChangeAspect="1"/>
          </p:cNvGraphicFramePr>
          <p:nvPr/>
        </p:nvGraphicFramePr>
        <p:xfrm>
          <a:off x="3041650" y="5364163"/>
          <a:ext cx="2025650" cy="474662"/>
        </p:xfrm>
        <a:graphic>
          <a:graphicData uri="http://schemas.openxmlformats.org/presentationml/2006/ole">
            <mc:AlternateContent xmlns:mc="http://schemas.openxmlformats.org/markup-compatibility/2006">
              <mc:Choice xmlns:v="urn:schemas-microsoft-com:vml" Requires="v">
                <p:oleObj spid="_x0000_s67711" r:id="rId9" imgW="774700" imgH="177800" progId="Equation.3">
                  <p:embed/>
                </p:oleObj>
              </mc:Choice>
              <mc:Fallback>
                <p:oleObj r:id="rId9" imgW="774700" imgH="177800" progId="Equation.3">
                  <p:embed/>
                  <p:pic>
                    <p:nvPicPr>
                      <p:cNvPr id="0" name="Picture 3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1650" y="5364163"/>
                        <a:ext cx="2025650" cy="474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26A22707-4384-4230-9489-07C6907BD44A}" type="slidenum">
              <a:rPr lang="en-US" altLang="zh-CN" sz="1200">
                <a:solidFill>
                  <a:schemeClr val="tx1"/>
                </a:solidFill>
                <a:latin typeface="Garamond" pitchFamily="18" charset="0"/>
              </a:rPr>
              <a:pPr algn="r" eaLnBrk="1" hangingPunct="1">
                <a:spcBef>
                  <a:spcPct val="0"/>
                </a:spcBef>
              </a:pPr>
              <a:t>65</a:t>
            </a:fld>
            <a:endParaRPr lang="en-US" altLang="zh-CN" sz="1200">
              <a:solidFill>
                <a:schemeClr val="tx1"/>
              </a:solidFill>
              <a:latin typeface="Garamond" pitchFamily="18" charset="0"/>
            </a:endParaRPr>
          </a:p>
        </p:txBody>
      </p:sp>
      <p:pic>
        <p:nvPicPr>
          <p:cNvPr id="6861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038" y="2393950"/>
            <a:ext cx="2341562" cy="319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2" name="Text Box 5"/>
          <p:cNvSpPr txBox="1">
            <a:spLocks noChangeArrowheads="1"/>
          </p:cNvSpPr>
          <p:nvPr/>
        </p:nvSpPr>
        <p:spPr bwMode="auto">
          <a:xfrm>
            <a:off x="476250" y="233363"/>
            <a:ext cx="8235950"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30000"/>
              </a:lnSpc>
              <a:buClr>
                <a:srgbClr val="FF0066"/>
              </a:buClr>
              <a:buFont typeface="Wingdings" pitchFamily="2" charset="2"/>
              <a:buNone/>
            </a:pPr>
            <a:r>
              <a:rPr lang="zh-CN" altLang="en-US" dirty="0">
                <a:solidFill>
                  <a:schemeClr val="tx1"/>
                </a:solidFill>
                <a:latin typeface="楷体_GB2312" pitchFamily="1" charset="-122"/>
                <a:ea typeface="楷体_GB2312" pitchFamily="1" charset="-122"/>
              </a:rPr>
              <a:t>    圆锥侧面的</a:t>
            </a:r>
            <a:r>
              <a:rPr lang="zh-CN" altLang="en-US" b="1" dirty="0">
                <a:solidFill>
                  <a:srgbClr val="FF0000"/>
                </a:solidFill>
                <a:latin typeface="方正粗黑宋简体" panose="02000000000000000000" pitchFamily="2" charset="-122"/>
                <a:ea typeface="方正粗黑宋简体" panose="02000000000000000000" pitchFamily="2" charset="-122"/>
              </a:rPr>
              <a:t>离散化</a:t>
            </a:r>
            <a:r>
              <a:rPr lang="zh-CN" altLang="en-US" dirty="0">
                <a:solidFill>
                  <a:schemeClr val="tx1"/>
                </a:solidFill>
                <a:latin typeface="楷体_GB2312" pitchFamily="1" charset="-122"/>
                <a:ea typeface="楷体_GB2312" pitchFamily="1" charset="-122"/>
              </a:rPr>
              <a:t>表示如图</a:t>
            </a:r>
            <a:r>
              <a:rPr lang="en-US" altLang="zh-CN" dirty="0">
                <a:solidFill>
                  <a:schemeClr val="tx1"/>
                </a:solidFill>
                <a:latin typeface="楷体_GB2312" pitchFamily="1" charset="-122"/>
                <a:ea typeface="楷体_GB2312" pitchFamily="1" charset="-122"/>
              </a:rPr>
              <a:t>9-42</a:t>
            </a:r>
            <a:r>
              <a:rPr lang="zh-CN" altLang="en-US" dirty="0">
                <a:solidFill>
                  <a:schemeClr val="tx1"/>
                </a:solidFill>
                <a:latin typeface="楷体_GB2312" pitchFamily="1" charset="-122"/>
                <a:ea typeface="楷体_GB2312" pitchFamily="1" charset="-122"/>
              </a:rPr>
              <a:t>所示，侧面使用三角形网格和四边形网格逼近 。</a:t>
            </a:r>
            <a:endParaRPr lang="en-US" altLang="zh-CN" dirty="0">
              <a:solidFill>
                <a:schemeClr val="tx1"/>
              </a:solidFill>
              <a:latin typeface="楷体_GB2312" pitchFamily="1" charset="-122"/>
              <a:ea typeface="楷体_GB2312" pitchFamily="1" charset="-122"/>
            </a:endParaRPr>
          </a:p>
        </p:txBody>
      </p:sp>
      <p:sp>
        <p:nvSpPr>
          <p:cNvPr id="68613" name="Text Box 6"/>
          <p:cNvSpPr txBox="1">
            <a:spLocks noChangeArrowheads="1"/>
          </p:cNvSpPr>
          <p:nvPr/>
        </p:nvSpPr>
        <p:spPr bwMode="auto">
          <a:xfrm>
            <a:off x="1016000" y="5949950"/>
            <a:ext cx="256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9-42 </a:t>
            </a:r>
            <a:r>
              <a:rPr lang="zh-CN" altLang="en-US" sz="2000">
                <a:solidFill>
                  <a:schemeClr val="tx1"/>
                </a:solidFill>
                <a:latin typeface="楷体_GB2312" pitchFamily="1" charset="-122"/>
                <a:ea typeface="楷体_GB2312" pitchFamily="1" charset="-122"/>
              </a:rPr>
              <a:t>示例圆锥 </a:t>
            </a:r>
          </a:p>
        </p:txBody>
      </p:sp>
      <p:sp>
        <p:nvSpPr>
          <p:cNvPr id="68614" name="Text Box 7"/>
          <p:cNvSpPr txBox="1">
            <a:spLocks noChangeArrowheads="1"/>
          </p:cNvSpPr>
          <p:nvPr/>
        </p:nvSpPr>
        <p:spPr bwMode="auto">
          <a:xfrm>
            <a:off x="431800" y="1314450"/>
            <a:ext cx="7426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Clr>
                <a:srgbClr val="FF0066"/>
              </a:buClr>
              <a:buFont typeface="Wingdings" pitchFamily="2" charset="2"/>
              <a:buNone/>
            </a:pPr>
            <a:r>
              <a:rPr lang="zh-CN" altLang="en-US">
                <a:solidFill>
                  <a:schemeClr val="tx1"/>
                </a:solidFill>
                <a:latin typeface="楷体_GB2312" pitchFamily="1" charset="-122"/>
                <a:ea typeface="楷体_GB2312" pitchFamily="1" charset="-122"/>
              </a:rPr>
              <a:t>圆锥底面使用三角形网格逼近，如图</a:t>
            </a:r>
            <a:r>
              <a:rPr lang="en-US" altLang="zh-CN">
                <a:solidFill>
                  <a:schemeClr val="tx1"/>
                </a:solidFill>
                <a:latin typeface="楷体_GB2312" pitchFamily="1" charset="-122"/>
                <a:ea typeface="楷体_GB2312" pitchFamily="1" charset="-122"/>
              </a:rPr>
              <a:t>9-43</a:t>
            </a:r>
            <a:r>
              <a:rPr lang="zh-CN" altLang="en-US">
                <a:solidFill>
                  <a:schemeClr val="tx1"/>
                </a:solidFill>
                <a:latin typeface="楷体_GB2312" pitchFamily="1" charset="-122"/>
                <a:ea typeface="楷体_GB2312" pitchFamily="1" charset="-122"/>
              </a:rPr>
              <a:t>所示。 </a:t>
            </a:r>
          </a:p>
        </p:txBody>
      </p:sp>
      <p:graphicFrame>
        <p:nvGraphicFramePr>
          <p:cNvPr id="68616" name="Object 10"/>
          <p:cNvGraphicFramePr>
            <a:graphicFrameLocks noChangeAspect="1"/>
          </p:cNvGraphicFramePr>
          <p:nvPr/>
        </p:nvGraphicFramePr>
        <p:xfrm>
          <a:off x="4706938" y="2393950"/>
          <a:ext cx="3240087" cy="3240088"/>
        </p:xfrm>
        <a:graphic>
          <a:graphicData uri="http://schemas.openxmlformats.org/presentationml/2006/ole">
            <mc:AlternateContent xmlns:mc="http://schemas.openxmlformats.org/markup-compatibility/2006">
              <mc:Choice xmlns:v="urn:schemas-microsoft-com:vml" Requires="v">
                <p:oleObj spid="_x0000_s68644" r:id="rId4" imgW="2268737" imgH="2268706" progId="Visio.Drawing.11">
                  <p:embed/>
                </p:oleObj>
              </mc:Choice>
              <mc:Fallback>
                <p:oleObj r:id="rId4" imgW="2268737" imgH="2268706" progId="Visio.Drawing.11">
                  <p:embed/>
                  <p:pic>
                    <p:nvPicPr>
                      <p:cNvPr id="0"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06938" y="2393950"/>
                        <a:ext cx="3240087" cy="3240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17" name="Rectangle 12"/>
          <p:cNvSpPr>
            <a:spLocks noChangeArrowheads="1"/>
          </p:cNvSpPr>
          <p:nvPr/>
        </p:nvSpPr>
        <p:spPr bwMode="auto">
          <a:xfrm>
            <a:off x="4572000" y="5934075"/>
            <a:ext cx="348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9-43 </a:t>
            </a:r>
            <a:r>
              <a:rPr lang="zh-CN" altLang="en-US" sz="2000">
                <a:solidFill>
                  <a:schemeClr val="tx1"/>
                </a:solidFill>
                <a:latin typeface="楷体_GB2312" pitchFamily="1" charset="-122"/>
                <a:ea typeface="楷体_GB2312" pitchFamily="1" charset="-122"/>
              </a:rPr>
              <a:t>圆锥底面的网格划分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5BE30BA8-A90E-4060-AB72-BF8B5734A019}" type="slidenum">
              <a:rPr lang="en-US" altLang="zh-CN" sz="1200">
                <a:solidFill>
                  <a:schemeClr val="tx1"/>
                </a:solidFill>
                <a:latin typeface="Garamond" pitchFamily="18" charset="0"/>
              </a:rPr>
              <a:pPr algn="r" eaLnBrk="1" hangingPunct="1">
                <a:spcBef>
                  <a:spcPct val="0"/>
                </a:spcBef>
              </a:pPr>
              <a:t>66</a:t>
            </a:fld>
            <a:endParaRPr lang="en-US" altLang="zh-CN" sz="1200">
              <a:solidFill>
                <a:schemeClr val="tx1"/>
              </a:solidFill>
              <a:latin typeface="Garamond" pitchFamily="18" charset="0"/>
            </a:endParaRPr>
          </a:p>
        </p:txBody>
      </p:sp>
      <p:sp>
        <p:nvSpPr>
          <p:cNvPr id="69635" name="Text Box 5"/>
          <p:cNvSpPr txBox="1">
            <a:spLocks noChangeArrowheads="1"/>
          </p:cNvSpPr>
          <p:nvPr/>
        </p:nvSpPr>
        <p:spPr bwMode="auto">
          <a:xfrm>
            <a:off x="4481513" y="5949950"/>
            <a:ext cx="4365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9-45  </a:t>
            </a:r>
            <a:r>
              <a:rPr lang="zh-CN" altLang="en-US" sz="2000">
                <a:solidFill>
                  <a:schemeClr val="tx1"/>
                </a:solidFill>
                <a:latin typeface="楷体_GB2312" pitchFamily="1" charset="-122"/>
                <a:ea typeface="楷体_GB2312" pitchFamily="1" charset="-122"/>
              </a:rPr>
              <a:t>圆锥侧面的四边形网格划分</a:t>
            </a:r>
          </a:p>
        </p:txBody>
      </p:sp>
      <p:sp>
        <p:nvSpPr>
          <p:cNvPr id="69636" name="Text Box 7"/>
          <p:cNvSpPr txBox="1">
            <a:spLocks noChangeArrowheads="1"/>
          </p:cNvSpPr>
          <p:nvPr/>
        </p:nvSpPr>
        <p:spPr bwMode="auto">
          <a:xfrm>
            <a:off x="385763" y="279400"/>
            <a:ext cx="8101012"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20000"/>
              </a:lnSpc>
              <a:buClr>
                <a:srgbClr val="FF0066"/>
              </a:buClr>
              <a:buFont typeface="Wingdings" pitchFamily="2" charset="2"/>
              <a:buNone/>
            </a:pPr>
            <a:r>
              <a:rPr lang="zh-CN" altLang="en-US">
                <a:solidFill>
                  <a:schemeClr val="tx1"/>
                </a:solidFill>
                <a:latin typeface="楷体_GB2312" pitchFamily="1" charset="-122"/>
                <a:ea typeface="楷体_GB2312" pitchFamily="1" charset="-122"/>
              </a:rPr>
              <a:t>    假定圆锥的周向网格数</a:t>
            </a:r>
            <a:r>
              <a:rPr lang="en-US" altLang="zh-CN">
                <a:solidFill>
                  <a:schemeClr val="tx1"/>
                </a:solidFill>
                <a:latin typeface="楷体_GB2312" pitchFamily="1" charset="-122"/>
                <a:ea typeface="楷体_GB2312" pitchFamily="1" charset="-122"/>
              </a:rPr>
              <a:t>n</a:t>
            </a:r>
            <a:r>
              <a:rPr lang="en-US" altLang="zh-CN" baseline="-25000">
                <a:solidFill>
                  <a:schemeClr val="tx1"/>
                </a:solidFill>
                <a:latin typeface="楷体_GB2312" pitchFamily="1" charset="-122"/>
                <a:ea typeface="楷体_GB2312" pitchFamily="1" charset="-122"/>
              </a:rPr>
              <a:t>1</a:t>
            </a:r>
            <a:r>
              <a:rPr lang="zh-CN" altLang="en-US">
                <a:solidFill>
                  <a:schemeClr val="tx1"/>
                </a:solidFill>
                <a:latin typeface="楷体_GB2312" pitchFamily="1" charset="-122"/>
                <a:ea typeface="楷体_GB2312" pitchFamily="1" charset="-122"/>
              </a:rPr>
              <a:t>＝</a:t>
            </a:r>
            <a:r>
              <a:rPr lang="en-US" altLang="zh-CN">
                <a:solidFill>
                  <a:schemeClr val="tx1"/>
                </a:solidFill>
                <a:latin typeface="楷体_GB2312" pitchFamily="1" charset="-122"/>
                <a:ea typeface="楷体_GB2312" pitchFamily="1" charset="-122"/>
              </a:rPr>
              <a:t>8</a:t>
            </a:r>
            <a:r>
              <a:rPr lang="zh-CN" altLang="en-US">
                <a:solidFill>
                  <a:schemeClr val="tx1"/>
                </a:solidFill>
                <a:latin typeface="楷体_GB2312" pitchFamily="1" charset="-122"/>
                <a:ea typeface="楷体_GB2312" pitchFamily="1" charset="-122"/>
              </a:rPr>
              <a:t>，纵向网格数</a:t>
            </a:r>
            <a:r>
              <a:rPr lang="en-US" altLang="zh-CN">
                <a:solidFill>
                  <a:schemeClr val="tx1"/>
                </a:solidFill>
                <a:latin typeface="楷体_GB2312" pitchFamily="1" charset="-122"/>
                <a:ea typeface="楷体_GB2312" pitchFamily="1" charset="-122"/>
              </a:rPr>
              <a:t>n</a:t>
            </a:r>
            <a:r>
              <a:rPr lang="en-US" altLang="zh-CN" baseline="-25000">
                <a:solidFill>
                  <a:schemeClr val="tx1"/>
                </a:solidFill>
                <a:latin typeface="楷体_GB2312" pitchFamily="1" charset="-122"/>
                <a:ea typeface="楷体_GB2312" pitchFamily="1" charset="-122"/>
              </a:rPr>
              <a:t>2</a:t>
            </a:r>
            <a:r>
              <a:rPr lang="zh-CN" altLang="en-US">
                <a:solidFill>
                  <a:schemeClr val="tx1"/>
                </a:solidFill>
                <a:latin typeface="楷体_GB2312" pitchFamily="1" charset="-122"/>
                <a:ea typeface="楷体_GB2312" pitchFamily="1" charset="-122"/>
              </a:rPr>
              <a:t>＝</a:t>
            </a:r>
            <a:r>
              <a:rPr lang="en-US" altLang="zh-CN">
                <a:solidFill>
                  <a:schemeClr val="tx1"/>
                </a:solidFill>
                <a:latin typeface="楷体_GB2312" pitchFamily="1" charset="-122"/>
                <a:ea typeface="楷体_GB2312" pitchFamily="1" charset="-122"/>
              </a:rPr>
              <a:t>3</a:t>
            </a:r>
            <a:r>
              <a:rPr lang="zh-CN" altLang="en-US">
                <a:solidFill>
                  <a:schemeClr val="tx1"/>
                </a:solidFill>
                <a:latin typeface="楷体_GB2312" pitchFamily="1" charset="-122"/>
                <a:ea typeface="楷体_GB2312" pitchFamily="1" charset="-122"/>
              </a:rPr>
              <a:t>，网格侧面的顶点总数为：</a:t>
            </a:r>
            <a:r>
              <a:rPr lang="en-US" altLang="zh-CN">
                <a:solidFill>
                  <a:schemeClr val="tx1"/>
                </a:solidFill>
                <a:latin typeface="楷体_GB2312" pitchFamily="1" charset="-122"/>
                <a:ea typeface="楷体_GB2312" pitchFamily="1" charset="-122"/>
              </a:rPr>
              <a:t> n</a:t>
            </a:r>
            <a:r>
              <a:rPr lang="en-US" altLang="zh-CN" baseline="-25000">
                <a:solidFill>
                  <a:schemeClr val="tx1"/>
                </a:solidFill>
                <a:latin typeface="楷体_GB2312" pitchFamily="1" charset="-122"/>
                <a:ea typeface="楷体_GB2312" pitchFamily="1" charset="-122"/>
              </a:rPr>
              <a:t>1</a:t>
            </a:r>
            <a:r>
              <a:rPr lang="en-US" altLang="zh-CN">
                <a:solidFill>
                  <a:schemeClr val="tx1"/>
                </a:solidFill>
                <a:latin typeface="楷体_GB2312" pitchFamily="1" charset="-122"/>
                <a:ea typeface="楷体_GB2312" pitchFamily="1" charset="-122"/>
              </a:rPr>
              <a:t>×n</a:t>
            </a:r>
            <a:r>
              <a:rPr lang="en-US" altLang="zh-CN" baseline="-25000">
                <a:solidFill>
                  <a:schemeClr val="tx1"/>
                </a:solidFill>
                <a:latin typeface="楷体_GB2312" pitchFamily="1" charset="-122"/>
                <a:ea typeface="楷体_GB2312" pitchFamily="1" charset="-122"/>
              </a:rPr>
              <a:t>2</a:t>
            </a:r>
            <a:r>
              <a:rPr lang="zh-CN" altLang="en-US">
                <a:solidFill>
                  <a:schemeClr val="tx1"/>
                </a:solidFill>
                <a:latin typeface="楷体_GB2312" pitchFamily="1" charset="-122"/>
                <a:ea typeface="楷体_GB2312" pitchFamily="1" charset="-122"/>
              </a:rPr>
              <a:t>，加上锥顶和底面的中心顶点，圆锥网格模型的顶点数为：</a:t>
            </a:r>
            <a:r>
              <a:rPr lang="en-US" altLang="zh-CN">
                <a:solidFill>
                  <a:schemeClr val="tx1"/>
                </a:solidFill>
                <a:latin typeface="楷体_GB2312" pitchFamily="1" charset="-122"/>
                <a:ea typeface="楷体_GB2312" pitchFamily="1" charset="-122"/>
              </a:rPr>
              <a:t>n</a:t>
            </a:r>
            <a:r>
              <a:rPr lang="en-US" altLang="zh-CN" baseline="-25000">
                <a:solidFill>
                  <a:schemeClr val="tx1"/>
                </a:solidFill>
                <a:latin typeface="楷体_GB2312" pitchFamily="1" charset="-122"/>
                <a:ea typeface="楷体_GB2312" pitchFamily="1" charset="-122"/>
              </a:rPr>
              <a:t>1</a:t>
            </a:r>
            <a:r>
              <a:rPr lang="en-US" altLang="zh-CN">
                <a:solidFill>
                  <a:schemeClr val="tx1"/>
                </a:solidFill>
                <a:latin typeface="楷体_GB2312" pitchFamily="1" charset="-122"/>
                <a:ea typeface="楷体_GB2312" pitchFamily="1" charset="-122"/>
              </a:rPr>
              <a:t>×n</a:t>
            </a:r>
            <a:r>
              <a:rPr lang="en-US" altLang="zh-CN" baseline="-25000">
                <a:solidFill>
                  <a:schemeClr val="tx1"/>
                </a:solidFill>
                <a:latin typeface="楷体_GB2312" pitchFamily="1" charset="-122"/>
                <a:ea typeface="楷体_GB2312" pitchFamily="1" charset="-122"/>
              </a:rPr>
              <a:t>2</a:t>
            </a:r>
            <a:r>
              <a:rPr lang="zh-CN" altLang="en-US">
                <a:solidFill>
                  <a:schemeClr val="tx1"/>
                </a:solidFill>
                <a:latin typeface="楷体_GB2312" pitchFamily="1" charset="-122"/>
                <a:ea typeface="楷体_GB2312" pitchFamily="1" charset="-122"/>
              </a:rPr>
              <a:t>＋</a:t>
            </a:r>
            <a:r>
              <a:rPr lang="en-US" altLang="zh-CN">
                <a:solidFill>
                  <a:schemeClr val="tx1"/>
                </a:solidFill>
                <a:latin typeface="楷体_GB2312" pitchFamily="1" charset="-122"/>
                <a:ea typeface="楷体_GB2312" pitchFamily="1" charset="-122"/>
              </a:rPr>
              <a:t>2</a:t>
            </a:r>
            <a:r>
              <a:rPr lang="zh-CN" altLang="en-US">
                <a:solidFill>
                  <a:schemeClr val="tx1"/>
                </a:solidFill>
                <a:latin typeface="楷体_GB2312" pitchFamily="1" charset="-122"/>
                <a:ea typeface="楷体_GB2312" pitchFamily="1" charset="-122"/>
              </a:rPr>
              <a:t>＝</a:t>
            </a:r>
            <a:r>
              <a:rPr lang="en-US" altLang="zh-CN">
                <a:solidFill>
                  <a:schemeClr val="tx1"/>
                </a:solidFill>
                <a:latin typeface="楷体_GB2312" pitchFamily="1" charset="-122"/>
                <a:ea typeface="楷体_GB2312" pitchFamily="1" charset="-122"/>
              </a:rPr>
              <a:t>26</a:t>
            </a:r>
            <a:r>
              <a:rPr lang="zh-CN" altLang="en-US">
                <a:solidFill>
                  <a:schemeClr val="tx1"/>
                </a:solidFill>
                <a:latin typeface="楷体_GB2312" pitchFamily="1" charset="-122"/>
                <a:ea typeface="楷体_GB2312" pitchFamily="1" charset="-122"/>
              </a:rPr>
              <a:t>。圆锥底面划分为</a:t>
            </a:r>
            <a:r>
              <a:rPr lang="en-US" altLang="zh-CN">
                <a:solidFill>
                  <a:schemeClr val="tx1"/>
                </a:solidFill>
                <a:latin typeface="楷体_GB2312" pitchFamily="1" charset="-122"/>
                <a:ea typeface="楷体_GB2312" pitchFamily="1" charset="-122"/>
              </a:rPr>
              <a:t>8</a:t>
            </a:r>
            <a:r>
              <a:rPr lang="zh-CN" altLang="en-US">
                <a:solidFill>
                  <a:schemeClr val="tx1"/>
                </a:solidFill>
                <a:latin typeface="楷体_GB2312" pitchFamily="1" charset="-122"/>
                <a:ea typeface="楷体_GB2312" pitchFamily="1" charset="-122"/>
              </a:rPr>
              <a:t>个三角形网格，侧面有</a:t>
            </a:r>
            <a:r>
              <a:rPr lang="en-US" altLang="zh-CN">
                <a:solidFill>
                  <a:schemeClr val="tx1"/>
                </a:solidFill>
                <a:latin typeface="楷体_GB2312" pitchFamily="1" charset="-122"/>
                <a:ea typeface="楷体_GB2312" pitchFamily="1" charset="-122"/>
              </a:rPr>
              <a:t>8</a:t>
            </a:r>
            <a:r>
              <a:rPr lang="zh-CN" altLang="en-US">
                <a:solidFill>
                  <a:schemeClr val="tx1"/>
                </a:solidFill>
                <a:latin typeface="楷体_GB2312" pitchFamily="1" charset="-122"/>
                <a:ea typeface="楷体_GB2312" pitchFamily="1" charset="-122"/>
              </a:rPr>
              <a:t>个三角形网格和</a:t>
            </a:r>
            <a:r>
              <a:rPr lang="en-US" altLang="zh-CN">
                <a:solidFill>
                  <a:schemeClr val="tx1"/>
                </a:solidFill>
                <a:latin typeface="楷体_GB2312" pitchFamily="1" charset="-122"/>
                <a:ea typeface="楷体_GB2312" pitchFamily="1" charset="-122"/>
              </a:rPr>
              <a:t>16</a:t>
            </a:r>
            <a:r>
              <a:rPr lang="zh-CN" altLang="en-US">
                <a:solidFill>
                  <a:schemeClr val="tx1"/>
                </a:solidFill>
                <a:latin typeface="楷体_GB2312" pitchFamily="1" charset="-122"/>
                <a:ea typeface="楷体_GB2312" pitchFamily="1" charset="-122"/>
              </a:rPr>
              <a:t>个四边形网格，圆锥网格模型的面片总数为</a:t>
            </a:r>
            <a:r>
              <a:rPr lang="en-US" altLang="zh-CN">
                <a:solidFill>
                  <a:schemeClr val="tx1"/>
                </a:solidFill>
                <a:latin typeface="楷体_GB2312" pitchFamily="1" charset="-122"/>
                <a:ea typeface="楷体_GB2312" pitchFamily="1" charset="-122"/>
              </a:rPr>
              <a:t>32</a:t>
            </a:r>
            <a:r>
              <a:rPr lang="zh-CN" altLang="en-US">
                <a:solidFill>
                  <a:schemeClr val="tx1"/>
                </a:solidFill>
                <a:latin typeface="楷体_GB2312" pitchFamily="1" charset="-122"/>
                <a:ea typeface="楷体_GB2312" pitchFamily="1" charset="-122"/>
              </a:rPr>
              <a:t>。示例圆锥面的顶点和表面编号如图</a:t>
            </a:r>
            <a:r>
              <a:rPr lang="en-US" altLang="zh-CN">
                <a:solidFill>
                  <a:schemeClr val="tx1"/>
                </a:solidFill>
                <a:latin typeface="楷体_GB2312" pitchFamily="1" charset="-122"/>
                <a:ea typeface="楷体_GB2312" pitchFamily="1" charset="-122"/>
              </a:rPr>
              <a:t>9-43</a:t>
            </a:r>
            <a:r>
              <a:rPr lang="zh-CN" altLang="en-US">
                <a:solidFill>
                  <a:schemeClr val="tx1"/>
                </a:solidFill>
                <a:latin typeface="楷体_GB2312" pitchFamily="1" charset="-122"/>
                <a:ea typeface="楷体_GB2312" pitchFamily="1" charset="-122"/>
              </a:rPr>
              <a:t>～图</a:t>
            </a:r>
            <a:r>
              <a:rPr lang="en-US" altLang="zh-CN">
                <a:solidFill>
                  <a:schemeClr val="tx1"/>
                </a:solidFill>
                <a:latin typeface="楷体_GB2312" pitchFamily="1" charset="-122"/>
                <a:ea typeface="楷体_GB2312" pitchFamily="1" charset="-122"/>
              </a:rPr>
              <a:t>9-45</a:t>
            </a:r>
            <a:r>
              <a:rPr lang="zh-CN" altLang="en-US">
                <a:solidFill>
                  <a:schemeClr val="tx1"/>
                </a:solidFill>
                <a:latin typeface="楷体_GB2312" pitchFamily="1" charset="-122"/>
                <a:ea typeface="楷体_GB2312" pitchFamily="1" charset="-122"/>
              </a:rPr>
              <a:t>所示。</a:t>
            </a:r>
          </a:p>
        </p:txBody>
      </p:sp>
      <p:graphicFrame>
        <p:nvGraphicFramePr>
          <p:cNvPr id="69638" name="Object 8"/>
          <p:cNvGraphicFramePr>
            <a:graphicFrameLocks noChangeAspect="1"/>
          </p:cNvGraphicFramePr>
          <p:nvPr/>
        </p:nvGraphicFramePr>
        <p:xfrm>
          <a:off x="161925" y="3276600"/>
          <a:ext cx="3627438" cy="2266950"/>
        </p:xfrm>
        <a:graphic>
          <a:graphicData uri="http://schemas.openxmlformats.org/presentationml/2006/ole">
            <mc:AlternateContent xmlns:mc="http://schemas.openxmlformats.org/markup-compatibility/2006">
              <mc:Choice xmlns:v="urn:schemas-microsoft-com:vml" Requires="v">
                <p:oleObj spid="_x0000_s69690" r:id="rId3" imgW="3035046" imgH="1900809" progId="Visio.Drawing.11">
                  <p:embed/>
                </p:oleObj>
              </mc:Choice>
              <mc:Fallback>
                <p:oleObj r:id="rId3" imgW="3035046" imgH="1900809" progId="Visio.Drawing.11">
                  <p:embed/>
                  <p:pic>
                    <p:nvPicPr>
                      <p:cNvPr id="0"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 y="3276600"/>
                        <a:ext cx="3627438" cy="2266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640" name="Object 10"/>
          <p:cNvGraphicFramePr>
            <a:graphicFrameLocks noChangeAspect="1"/>
          </p:cNvGraphicFramePr>
          <p:nvPr/>
        </p:nvGraphicFramePr>
        <p:xfrm>
          <a:off x="3851275" y="3040063"/>
          <a:ext cx="5019675" cy="2638425"/>
        </p:xfrm>
        <a:graphic>
          <a:graphicData uri="http://schemas.openxmlformats.org/presentationml/2006/ole">
            <mc:AlternateContent xmlns:mc="http://schemas.openxmlformats.org/markup-compatibility/2006">
              <mc:Choice xmlns:v="urn:schemas-microsoft-com:vml" Requires="v">
                <p:oleObj spid="_x0000_s69691" r:id="rId5" imgW="5014722" imgH="2638806" progId="Visio.Drawing.11">
                  <p:embed/>
                </p:oleObj>
              </mc:Choice>
              <mc:Fallback>
                <p:oleObj r:id="rId5" imgW="5014722" imgH="2638806" progId="Visio.Drawing.11">
                  <p:embed/>
                  <p:pic>
                    <p:nvPicPr>
                      <p:cNvPr id="0" name="Picture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1275" y="3040063"/>
                        <a:ext cx="5019675" cy="2638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9641" name="Rectangle 12"/>
          <p:cNvSpPr>
            <a:spLocks noChangeArrowheads="1"/>
          </p:cNvSpPr>
          <p:nvPr/>
        </p:nvSpPr>
        <p:spPr bwMode="auto">
          <a:xfrm>
            <a:off x="206375" y="5859463"/>
            <a:ext cx="424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9-44 </a:t>
            </a:r>
            <a:r>
              <a:rPr lang="zh-CN" altLang="en-US" sz="2000">
                <a:solidFill>
                  <a:schemeClr val="tx1"/>
                </a:solidFill>
                <a:latin typeface="楷体_GB2312" pitchFamily="1" charset="-122"/>
                <a:ea typeface="楷体_GB2312" pitchFamily="1" charset="-122"/>
              </a:rPr>
              <a:t>圆锥侧面的三角形网格划分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D4E617F2-9CC3-4BFD-B9E3-51C29573EFCC}" type="slidenum">
              <a:rPr lang="en-US" altLang="zh-CN" sz="1200">
                <a:solidFill>
                  <a:schemeClr val="tx1"/>
                </a:solidFill>
                <a:latin typeface="Garamond" pitchFamily="18" charset="0"/>
              </a:rPr>
              <a:pPr algn="r" eaLnBrk="1" hangingPunct="1">
                <a:spcBef>
                  <a:spcPct val="0"/>
                </a:spcBef>
              </a:pPr>
              <a:t>67</a:t>
            </a:fld>
            <a:endParaRPr lang="en-US" altLang="zh-CN" sz="1200">
              <a:solidFill>
                <a:schemeClr val="tx1"/>
              </a:solidFill>
              <a:latin typeface="Garamond" pitchFamily="18" charset="0"/>
            </a:endParaRPr>
          </a:p>
        </p:txBody>
      </p:sp>
      <p:sp>
        <p:nvSpPr>
          <p:cNvPr id="70660" name="Rectangle 61"/>
          <p:cNvSpPr>
            <a:spLocks noChangeArrowheads="1"/>
          </p:cNvSpPr>
          <p:nvPr/>
        </p:nvSpPr>
        <p:spPr bwMode="auto">
          <a:xfrm>
            <a:off x="2727325" y="5903913"/>
            <a:ext cx="424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9-46  </a:t>
            </a:r>
            <a:r>
              <a:rPr lang="zh-CN" altLang="en-US" sz="2000">
                <a:solidFill>
                  <a:schemeClr val="tx1"/>
                </a:solidFill>
                <a:latin typeface="楷体_GB2312" pitchFamily="1" charset="-122"/>
                <a:ea typeface="楷体_GB2312" pitchFamily="1" charset="-122"/>
                <a:hlinkClick r:id="rId2" action="ppaction://hlinkfile"/>
              </a:rPr>
              <a:t>圆锥的网格模型透视效果图</a:t>
            </a:r>
            <a:endParaRPr lang="zh-CN" altLang="en-US" sz="2000">
              <a:solidFill>
                <a:schemeClr val="tx1"/>
              </a:solidFill>
              <a:latin typeface="楷体_GB2312" pitchFamily="1" charset="-122"/>
              <a:ea typeface="楷体_GB2312" pitchFamily="1" charset="-122"/>
            </a:endParaRPr>
          </a:p>
        </p:txBody>
      </p:sp>
      <p:pic>
        <p:nvPicPr>
          <p:cNvPr id="70661" name="Picture 6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188" y="1628775"/>
            <a:ext cx="3870325" cy="279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2" name="Picture 6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51388" y="1628775"/>
            <a:ext cx="3871912"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462F1229-D58C-4446-8992-3FFB4901E7D6}" type="slidenum">
              <a:rPr lang="en-US" altLang="zh-CN" sz="1200">
                <a:solidFill>
                  <a:schemeClr val="tx1"/>
                </a:solidFill>
                <a:latin typeface="Garamond" pitchFamily="18" charset="0"/>
              </a:rPr>
              <a:pPr algn="r" eaLnBrk="1" hangingPunct="1">
                <a:spcBef>
                  <a:spcPct val="0"/>
                </a:spcBef>
              </a:pPr>
              <a:t>68</a:t>
            </a:fld>
            <a:endParaRPr lang="en-US" altLang="zh-CN" sz="1200">
              <a:solidFill>
                <a:schemeClr val="tx1"/>
              </a:solidFill>
              <a:latin typeface="Garamond" pitchFamily="18" charset="0"/>
            </a:endParaRPr>
          </a:p>
        </p:txBody>
      </p:sp>
      <p:sp>
        <p:nvSpPr>
          <p:cNvPr id="71683" name="Rectangle 2"/>
          <p:cNvSpPr>
            <a:spLocks noChangeArrowheads="1"/>
          </p:cNvSpPr>
          <p:nvPr/>
        </p:nvSpPr>
        <p:spPr bwMode="auto">
          <a:xfrm>
            <a:off x="566738" y="414338"/>
            <a:ext cx="2295525"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71684" name="Text Box 3"/>
          <p:cNvSpPr txBox="1">
            <a:spLocks noChangeArrowheads="1"/>
          </p:cNvSpPr>
          <p:nvPr/>
        </p:nvSpPr>
        <p:spPr bwMode="auto">
          <a:xfrm>
            <a:off x="522288" y="323850"/>
            <a:ext cx="2205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en-US" altLang="zh-CN" b="1">
                <a:solidFill>
                  <a:schemeClr val="tx1"/>
                </a:solidFill>
                <a:latin typeface="楷体_GB2312" pitchFamily="1" charset="-122"/>
                <a:ea typeface="楷体_GB2312" pitchFamily="1" charset="-122"/>
              </a:rPr>
              <a:t>〔4〕</a:t>
            </a:r>
            <a:r>
              <a:rPr lang="zh-CN" altLang="en-US" b="1">
                <a:solidFill>
                  <a:schemeClr val="tx1"/>
                </a:solidFill>
                <a:latin typeface="楷体_GB2312" pitchFamily="1" charset="-122"/>
                <a:ea typeface="楷体_GB2312" pitchFamily="1" charset="-122"/>
              </a:rPr>
              <a:t>圆环面</a:t>
            </a:r>
          </a:p>
        </p:txBody>
      </p:sp>
      <p:sp>
        <p:nvSpPr>
          <p:cNvPr id="71685" name="Text Box 4"/>
          <p:cNvSpPr txBox="1">
            <a:spLocks noChangeArrowheads="1"/>
          </p:cNvSpPr>
          <p:nvPr/>
        </p:nvSpPr>
        <p:spPr bwMode="auto">
          <a:xfrm>
            <a:off x="566738" y="863600"/>
            <a:ext cx="81454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dirty="0">
                <a:solidFill>
                  <a:schemeClr val="tx1"/>
                </a:solidFill>
                <a:latin typeface="楷体_GB2312" pitchFamily="1" charset="-122"/>
                <a:ea typeface="楷体_GB2312" pitchFamily="1" charset="-122"/>
              </a:rPr>
              <a:t>    圆环面由一个在</a:t>
            </a:r>
            <a:r>
              <a:rPr lang="fr-FR" altLang="en-US" b="1" dirty="0">
                <a:solidFill>
                  <a:srgbClr val="FF0000"/>
                </a:solidFill>
                <a:latin typeface="方正粗黑宋简体" panose="02000000000000000000" pitchFamily="2" charset="-122"/>
                <a:ea typeface="方正粗黑宋简体" panose="02000000000000000000" pitchFamily="2" charset="-122"/>
              </a:rPr>
              <a:t>xOy</a:t>
            </a:r>
            <a:r>
              <a:rPr lang="zh-CN" altLang="en-US" dirty="0">
                <a:solidFill>
                  <a:schemeClr val="tx1"/>
                </a:solidFill>
                <a:latin typeface="楷体_GB2312" pitchFamily="1" charset="-122"/>
                <a:ea typeface="楷体_GB2312" pitchFamily="1" charset="-122"/>
              </a:rPr>
              <a:t>面内偏置的圆周绕</a:t>
            </a:r>
            <a:r>
              <a:rPr lang="fr-FR" altLang="en-US" dirty="0">
                <a:solidFill>
                  <a:schemeClr val="tx1"/>
                </a:solidFill>
                <a:latin typeface="楷体_GB2312" pitchFamily="1" charset="-122"/>
                <a:ea typeface="楷体_GB2312" pitchFamily="1" charset="-122"/>
              </a:rPr>
              <a:t>y</a:t>
            </a:r>
            <a:r>
              <a:rPr lang="zh-CN" altLang="en-US" dirty="0">
                <a:solidFill>
                  <a:schemeClr val="tx1"/>
                </a:solidFill>
                <a:latin typeface="楷体_GB2312" pitchFamily="1" charset="-122"/>
                <a:ea typeface="楷体_GB2312" pitchFamily="1" charset="-122"/>
              </a:rPr>
              <a:t>轴进行旋转扫掠而成，如图</a:t>
            </a:r>
            <a:r>
              <a:rPr lang="fr-FR" altLang="en-US" dirty="0">
                <a:solidFill>
                  <a:schemeClr val="tx1"/>
                </a:solidFill>
                <a:latin typeface="楷体_GB2312" pitchFamily="1" charset="-122"/>
                <a:ea typeface="楷体_GB2312" pitchFamily="1" charset="-122"/>
              </a:rPr>
              <a:t>9-47</a:t>
            </a:r>
            <a:r>
              <a:rPr lang="zh-CN" altLang="en-US" dirty="0">
                <a:solidFill>
                  <a:schemeClr val="tx1"/>
                </a:solidFill>
                <a:latin typeface="楷体_GB2312" pitchFamily="1" charset="-122"/>
                <a:ea typeface="楷体_GB2312" pitchFamily="1" charset="-122"/>
              </a:rPr>
              <a:t>所示。环体半径为</a:t>
            </a:r>
            <a:r>
              <a:rPr lang="fr-FR" altLang="en-US" dirty="0">
                <a:solidFill>
                  <a:schemeClr val="tx1"/>
                </a:solidFill>
                <a:latin typeface="楷体_GB2312" pitchFamily="1" charset="-122"/>
                <a:ea typeface="楷体_GB2312" pitchFamily="1" charset="-122"/>
              </a:rPr>
              <a:t>r</a:t>
            </a:r>
            <a:r>
              <a:rPr lang="fr-FR" altLang="en-US" baseline="-25000" dirty="0">
                <a:solidFill>
                  <a:schemeClr val="tx1"/>
                </a:solidFill>
                <a:latin typeface="楷体_GB2312" pitchFamily="1" charset="-122"/>
                <a:ea typeface="楷体_GB2312" pitchFamily="1" charset="-122"/>
              </a:rPr>
              <a:t>1</a:t>
            </a:r>
            <a:r>
              <a:rPr lang="zh-CN" altLang="en-US" dirty="0">
                <a:solidFill>
                  <a:schemeClr val="tx1"/>
                </a:solidFill>
                <a:latin typeface="楷体_GB2312" pitchFamily="1" charset="-122"/>
                <a:ea typeface="楷体_GB2312" pitchFamily="1" charset="-122"/>
              </a:rPr>
              <a:t>，截面半径为</a:t>
            </a:r>
            <a:r>
              <a:rPr lang="fr-FR" altLang="en-US" dirty="0">
                <a:solidFill>
                  <a:schemeClr val="tx1"/>
                </a:solidFill>
                <a:latin typeface="楷体_GB2312" pitchFamily="1" charset="-122"/>
                <a:ea typeface="楷体_GB2312" pitchFamily="1" charset="-122"/>
              </a:rPr>
              <a:t>r</a:t>
            </a:r>
            <a:r>
              <a:rPr lang="fr-FR" altLang="en-US" baseline="-25000" dirty="0">
                <a:solidFill>
                  <a:schemeClr val="tx1"/>
                </a:solidFill>
                <a:latin typeface="楷体_GB2312" pitchFamily="1" charset="-122"/>
                <a:ea typeface="楷体_GB2312" pitchFamily="1" charset="-122"/>
              </a:rPr>
              <a:t>2</a:t>
            </a:r>
            <a:r>
              <a:rPr lang="zh-CN" altLang="en-US" dirty="0">
                <a:solidFill>
                  <a:schemeClr val="tx1"/>
                </a:solidFill>
                <a:latin typeface="楷体_GB2312" pitchFamily="1" charset="-122"/>
                <a:ea typeface="楷体_GB2312" pitchFamily="1" charset="-122"/>
              </a:rPr>
              <a:t>。 </a:t>
            </a:r>
          </a:p>
        </p:txBody>
      </p:sp>
      <p:graphicFrame>
        <p:nvGraphicFramePr>
          <p:cNvPr id="71687" name="Object 6"/>
          <p:cNvGraphicFramePr>
            <a:graphicFrameLocks noChangeAspect="1"/>
          </p:cNvGraphicFramePr>
          <p:nvPr/>
        </p:nvGraphicFramePr>
        <p:xfrm>
          <a:off x="1331913" y="1854200"/>
          <a:ext cx="5984875" cy="3306763"/>
        </p:xfrm>
        <a:graphic>
          <a:graphicData uri="http://schemas.openxmlformats.org/presentationml/2006/ole">
            <mc:AlternateContent xmlns:mc="http://schemas.openxmlformats.org/markup-compatibility/2006">
              <mc:Choice xmlns:v="urn:schemas-microsoft-com:vml" Requires="v">
                <p:oleObj spid="_x0000_s71714" r:id="rId3" imgW="5387721" imgH="2988945" progId="Visio.Drawing.11">
                  <p:embed/>
                </p:oleObj>
              </mc:Choice>
              <mc:Fallback>
                <p:oleObj r:id="rId3" imgW="5387721" imgH="2988945" progId="Visio.Drawing.11">
                  <p:embed/>
                  <p:pic>
                    <p:nvPicPr>
                      <p:cNvPr id="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1854200"/>
                        <a:ext cx="5984875" cy="3306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688" name="Text Box 7"/>
          <p:cNvSpPr txBox="1">
            <a:spLocks noChangeArrowheads="1"/>
          </p:cNvSpPr>
          <p:nvPr/>
        </p:nvSpPr>
        <p:spPr bwMode="auto">
          <a:xfrm>
            <a:off x="1692275" y="5499100"/>
            <a:ext cx="5489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9-47  </a:t>
            </a:r>
            <a:r>
              <a:rPr lang="zh-CN" altLang="en-US" sz="2000">
                <a:solidFill>
                  <a:schemeClr val="tx1"/>
                </a:solidFill>
                <a:latin typeface="楷体_GB2312" pitchFamily="1" charset="-122"/>
                <a:ea typeface="楷体_GB2312" pitchFamily="1" charset="-122"/>
              </a:rPr>
              <a:t>实心偏置圆周扫掠成圆环面</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89DFD6B5-EB41-428E-9B74-66335DFE27EA}" type="slidenum">
              <a:rPr lang="en-US" altLang="zh-CN" sz="1200">
                <a:solidFill>
                  <a:schemeClr val="tx1"/>
                </a:solidFill>
                <a:latin typeface="Garamond" pitchFamily="18" charset="0"/>
              </a:rPr>
              <a:pPr algn="r" eaLnBrk="1" hangingPunct="1">
                <a:spcBef>
                  <a:spcPct val="0"/>
                </a:spcBef>
              </a:pPr>
              <a:t>69</a:t>
            </a:fld>
            <a:endParaRPr lang="en-US" altLang="zh-CN" sz="1200">
              <a:solidFill>
                <a:schemeClr val="tx1"/>
              </a:solidFill>
              <a:latin typeface="Garamond" pitchFamily="18" charset="0"/>
            </a:endParaRPr>
          </a:p>
        </p:txBody>
      </p:sp>
      <p:graphicFrame>
        <p:nvGraphicFramePr>
          <p:cNvPr id="72708" name="Object 3"/>
          <p:cNvGraphicFramePr>
            <a:graphicFrameLocks noChangeAspect="1"/>
          </p:cNvGraphicFramePr>
          <p:nvPr/>
        </p:nvGraphicFramePr>
        <p:xfrm>
          <a:off x="1916113" y="2459038"/>
          <a:ext cx="5130800" cy="3490912"/>
        </p:xfrm>
        <a:graphic>
          <a:graphicData uri="http://schemas.openxmlformats.org/presentationml/2006/ole">
            <mc:AlternateContent xmlns:mc="http://schemas.openxmlformats.org/markup-compatibility/2006">
              <mc:Choice xmlns:v="urn:schemas-microsoft-com:vml" Requires="v">
                <p:oleObj spid="_x0000_s72735" r:id="rId3" imgW="5966765" imgH="4074262" progId="Visio.Drawing.11">
                  <p:embed/>
                </p:oleObj>
              </mc:Choice>
              <mc:Fallback>
                <p:oleObj r:id="rId3" imgW="5966765" imgH="4074262" progId="Visio.Drawing.11">
                  <p:embed/>
                  <p:pic>
                    <p:nvPicPr>
                      <p:cNvPr id="0"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6113" y="2459038"/>
                        <a:ext cx="5130800" cy="3490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09" name="Text Box 4"/>
          <p:cNvSpPr txBox="1">
            <a:spLocks noChangeArrowheads="1"/>
          </p:cNvSpPr>
          <p:nvPr/>
        </p:nvSpPr>
        <p:spPr bwMode="auto">
          <a:xfrm>
            <a:off x="476250" y="233363"/>
            <a:ext cx="8235950"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a:solidFill>
                  <a:schemeClr val="tx1"/>
                </a:solidFill>
                <a:latin typeface="楷体_GB2312" pitchFamily="1" charset="-122"/>
                <a:ea typeface="楷体_GB2312" pitchFamily="1" charset="-122"/>
              </a:rPr>
              <a:t>    建立右手坐标系</a:t>
            </a:r>
            <a:r>
              <a:rPr lang="en-US" altLang="zh-CN">
                <a:solidFill>
                  <a:schemeClr val="tx1"/>
                </a:solidFill>
                <a:latin typeface="楷体_GB2312" pitchFamily="1" charset="-122"/>
                <a:ea typeface="楷体_GB2312" pitchFamily="1" charset="-122"/>
              </a:rPr>
              <a:t>Oxyz</a:t>
            </a:r>
            <a:r>
              <a:rPr lang="zh-CN" altLang="en-US">
                <a:solidFill>
                  <a:schemeClr val="tx1"/>
                </a:solidFill>
                <a:latin typeface="楷体_GB2312" pitchFamily="1" charset="-122"/>
                <a:ea typeface="楷体_GB2312" pitchFamily="1" charset="-122"/>
              </a:rPr>
              <a:t>，原点位于圆环中心，</a:t>
            </a:r>
            <a:r>
              <a:rPr lang="en-US" altLang="zh-CN">
                <a:solidFill>
                  <a:schemeClr val="tx1"/>
                </a:solidFill>
                <a:latin typeface="楷体_GB2312" pitchFamily="1" charset="-122"/>
                <a:ea typeface="楷体_GB2312" pitchFamily="1" charset="-122"/>
              </a:rPr>
              <a:t>x</a:t>
            </a:r>
            <a:r>
              <a:rPr lang="zh-CN" altLang="en-US">
                <a:solidFill>
                  <a:schemeClr val="tx1"/>
                </a:solidFill>
                <a:latin typeface="楷体_GB2312" pitchFamily="1" charset="-122"/>
                <a:ea typeface="楷体_GB2312" pitchFamily="1" charset="-122"/>
              </a:rPr>
              <a:t>轴水平向右，</a:t>
            </a:r>
            <a:r>
              <a:rPr lang="en-US" altLang="zh-CN">
                <a:solidFill>
                  <a:schemeClr val="tx1"/>
                </a:solidFill>
                <a:latin typeface="楷体_GB2312" pitchFamily="1" charset="-122"/>
                <a:ea typeface="楷体_GB2312" pitchFamily="1" charset="-122"/>
              </a:rPr>
              <a:t>y</a:t>
            </a:r>
            <a:r>
              <a:rPr lang="zh-CN" altLang="en-US">
                <a:solidFill>
                  <a:schemeClr val="tx1"/>
                </a:solidFill>
                <a:latin typeface="楷体_GB2312" pitchFamily="1" charset="-122"/>
                <a:ea typeface="楷体_GB2312" pitchFamily="1" charset="-122"/>
              </a:rPr>
              <a:t>轴铅直向上，</a:t>
            </a:r>
            <a:r>
              <a:rPr lang="en-US" altLang="zh-CN">
                <a:solidFill>
                  <a:schemeClr val="tx1"/>
                </a:solidFill>
                <a:latin typeface="楷体_GB2312" pitchFamily="1" charset="-122"/>
                <a:ea typeface="楷体_GB2312" pitchFamily="1" charset="-122"/>
              </a:rPr>
              <a:t>z</a:t>
            </a:r>
            <a:r>
              <a:rPr lang="zh-CN" altLang="en-US">
                <a:solidFill>
                  <a:schemeClr val="tx1"/>
                </a:solidFill>
                <a:latin typeface="楷体_GB2312" pitchFamily="1" charset="-122"/>
                <a:ea typeface="楷体_GB2312" pitchFamily="1" charset="-122"/>
              </a:rPr>
              <a:t>轴指向观察者，圆环面的回转中心位于三维坐标系原点</a:t>
            </a:r>
            <a:r>
              <a:rPr lang="en-US" altLang="zh-CN">
                <a:solidFill>
                  <a:schemeClr val="tx1"/>
                </a:solidFill>
                <a:latin typeface="楷体_GB2312" pitchFamily="1" charset="-122"/>
                <a:ea typeface="楷体_GB2312" pitchFamily="1" charset="-122"/>
              </a:rPr>
              <a:t>O</a:t>
            </a:r>
            <a:r>
              <a:rPr lang="zh-CN" altLang="en-US">
                <a:solidFill>
                  <a:schemeClr val="tx1"/>
                </a:solidFill>
                <a:latin typeface="楷体_GB2312" pitchFamily="1" charset="-122"/>
                <a:ea typeface="楷体_GB2312" pitchFamily="1" charset="-122"/>
              </a:rPr>
              <a:t>。沿着环体的中心线建立右手动态参考坐标系</a:t>
            </a:r>
            <a:r>
              <a:rPr lang="en-US" altLang="zh-CN">
                <a:solidFill>
                  <a:schemeClr val="tx1"/>
                </a:solidFill>
                <a:latin typeface="楷体_GB2312" pitchFamily="1" charset="-122"/>
                <a:ea typeface="楷体_GB2312" pitchFamily="1" charset="-122"/>
              </a:rPr>
              <a:t>O</a:t>
            </a:r>
            <a:r>
              <a:rPr lang="en-US" altLang="zh-CN">
                <a:solidFill>
                  <a:schemeClr val="tx1"/>
                </a:solidFill>
                <a:ea typeface="楷体_GB2312" pitchFamily="1" charset="-122"/>
              </a:rPr>
              <a:t>’</a:t>
            </a:r>
            <a:r>
              <a:rPr lang="en-US" altLang="zh-CN">
                <a:solidFill>
                  <a:schemeClr val="tx1"/>
                </a:solidFill>
                <a:latin typeface="楷体_GB2312" pitchFamily="1" charset="-122"/>
                <a:ea typeface="楷体_GB2312" pitchFamily="1" charset="-122"/>
              </a:rPr>
              <a:t>x</a:t>
            </a:r>
            <a:r>
              <a:rPr lang="en-US" altLang="zh-CN">
                <a:solidFill>
                  <a:schemeClr val="tx1"/>
                </a:solidFill>
                <a:ea typeface="楷体_GB2312" pitchFamily="1" charset="-122"/>
              </a:rPr>
              <a:t>’</a:t>
            </a:r>
            <a:r>
              <a:rPr lang="en-US" altLang="zh-CN">
                <a:solidFill>
                  <a:schemeClr val="tx1"/>
                </a:solidFill>
                <a:latin typeface="楷体_GB2312" pitchFamily="1" charset="-122"/>
                <a:ea typeface="楷体_GB2312" pitchFamily="1" charset="-122"/>
              </a:rPr>
              <a:t>y</a:t>
            </a:r>
            <a:r>
              <a:rPr lang="en-US" altLang="zh-CN">
                <a:solidFill>
                  <a:schemeClr val="tx1"/>
                </a:solidFill>
                <a:ea typeface="楷体_GB2312" pitchFamily="1" charset="-122"/>
              </a:rPr>
              <a:t>’</a:t>
            </a:r>
            <a:r>
              <a:rPr lang="en-US" altLang="zh-CN">
                <a:solidFill>
                  <a:schemeClr val="tx1"/>
                </a:solidFill>
                <a:latin typeface="楷体_GB2312" pitchFamily="1" charset="-122"/>
                <a:ea typeface="楷体_GB2312" pitchFamily="1" charset="-122"/>
              </a:rPr>
              <a:t>z</a:t>
            </a:r>
            <a:r>
              <a:rPr lang="en-US" altLang="zh-CN">
                <a:solidFill>
                  <a:schemeClr val="tx1"/>
                </a:solidFill>
                <a:ea typeface="楷体_GB2312" pitchFamily="1" charset="-122"/>
              </a:rPr>
              <a:t>’</a:t>
            </a:r>
            <a:r>
              <a:rPr lang="zh-CN" altLang="en-US">
                <a:solidFill>
                  <a:schemeClr val="tx1"/>
                </a:solidFill>
                <a:latin typeface="楷体_GB2312" pitchFamily="1" charset="-122"/>
                <a:ea typeface="楷体_GB2312" pitchFamily="1" charset="-122"/>
              </a:rPr>
              <a:t>，</a:t>
            </a:r>
            <a:r>
              <a:rPr lang="en-US" altLang="zh-CN">
                <a:solidFill>
                  <a:schemeClr val="tx1"/>
                </a:solidFill>
                <a:latin typeface="楷体_GB2312" pitchFamily="1" charset="-122"/>
                <a:ea typeface="楷体_GB2312" pitchFamily="1" charset="-122"/>
              </a:rPr>
              <a:t>O</a:t>
            </a:r>
            <a:r>
              <a:rPr lang="en-US" altLang="zh-CN">
                <a:solidFill>
                  <a:schemeClr val="tx1"/>
                </a:solidFill>
                <a:ea typeface="楷体_GB2312" pitchFamily="1" charset="-122"/>
              </a:rPr>
              <a:t>’</a:t>
            </a:r>
            <a:r>
              <a:rPr lang="zh-CN" altLang="en-US">
                <a:solidFill>
                  <a:schemeClr val="tx1"/>
                </a:solidFill>
                <a:latin typeface="楷体_GB2312" pitchFamily="1" charset="-122"/>
                <a:ea typeface="楷体_GB2312" pitchFamily="1" charset="-122"/>
              </a:rPr>
              <a:t>点位于环体的中心线上，</a:t>
            </a:r>
            <a:r>
              <a:rPr lang="en-US" altLang="zh-CN">
                <a:solidFill>
                  <a:schemeClr val="tx1"/>
                </a:solidFill>
                <a:latin typeface="楷体_GB2312" pitchFamily="1" charset="-122"/>
                <a:ea typeface="楷体_GB2312" pitchFamily="1" charset="-122"/>
              </a:rPr>
              <a:t>x</a:t>
            </a:r>
            <a:r>
              <a:rPr lang="en-US" altLang="zh-CN">
                <a:solidFill>
                  <a:schemeClr val="tx1"/>
                </a:solidFill>
                <a:ea typeface="楷体_GB2312" pitchFamily="1" charset="-122"/>
              </a:rPr>
              <a:t>’</a:t>
            </a:r>
            <a:r>
              <a:rPr lang="zh-CN" altLang="en-US">
                <a:solidFill>
                  <a:schemeClr val="tx1"/>
                </a:solidFill>
                <a:latin typeface="楷体_GB2312" pitchFamily="1" charset="-122"/>
                <a:ea typeface="楷体_GB2312" pitchFamily="1" charset="-122"/>
              </a:rPr>
              <a:t>轴沿着矢径</a:t>
            </a:r>
            <a:r>
              <a:rPr lang="en-US" altLang="zh-CN">
                <a:solidFill>
                  <a:schemeClr val="tx1"/>
                </a:solidFill>
                <a:latin typeface="楷体_GB2312" pitchFamily="1" charset="-122"/>
                <a:ea typeface="楷体_GB2312" pitchFamily="1" charset="-122"/>
              </a:rPr>
              <a:t>O</a:t>
            </a:r>
            <a:r>
              <a:rPr lang="en-US" altLang="zh-CN">
                <a:solidFill>
                  <a:schemeClr val="tx1"/>
                </a:solidFill>
                <a:ea typeface="楷体_GB2312" pitchFamily="1" charset="-122"/>
              </a:rPr>
              <a:t>’</a:t>
            </a:r>
            <a:r>
              <a:rPr lang="en-US" altLang="zh-CN">
                <a:solidFill>
                  <a:schemeClr val="tx1"/>
                </a:solidFill>
                <a:latin typeface="楷体_GB2312" pitchFamily="1" charset="-122"/>
                <a:ea typeface="楷体_GB2312" pitchFamily="1" charset="-122"/>
              </a:rPr>
              <a:t>O</a:t>
            </a:r>
            <a:r>
              <a:rPr lang="zh-CN" altLang="en-US">
                <a:solidFill>
                  <a:schemeClr val="tx1"/>
                </a:solidFill>
                <a:latin typeface="楷体_GB2312" pitchFamily="1" charset="-122"/>
                <a:ea typeface="楷体_GB2312" pitchFamily="1" charset="-122"/>
              </a:rPr>
              <a:t>的方向向外，</a:t>
            </a:r>
            <a:r>
              <a:rPr lang="en-US" altLang="zh-CN">
                <a:solidFill>
                  <a:schemeClr val="tx1"/>
                </a:solidFill>
                <a:latin typeface="楷体_GB2312" pitchFamily="1" charset="-122"/>
                <a:ea typeface="楷体_GB2312" pitchFamily="1" charset="-122"/>
              </a:rPr>
              <a:t>y</a:t>
            </a:r>
            <a:r>
              <a:rPr lang="en-US" altLang="zh-CN">
                <a:solidFill>
                  <a:schemeClr val="tx1"/>
                </a:solidFill>
                <a:ea typeface="楷体_GB2312" pitchFamily="1" charset="-122"/>
              </a:rPr>
              <a:t>’</a:t>
            </a:r>
            <a:r>
              <a:rPr lang="zh-CN" altLang="en-US">
                <a:solidFill>
                  <a:schemeClr val="tx1"/>
                </a:solidFill>
                <a:latin typeface="楷体_GB2312" pitchFamily="1" charset="-122"/>
                <a:ea typeface="楷体_GB2312" pitchFamily="1" charset="-122"/>
              </a:rPr>
              <a:t>轴与</a:t>
            </a:r>
            <a:r>
              <a:rPr lang="en-US" altLang="zh-CN">
                <a:solidFill>
                  <a:schemeClr val="tx1"/>
                </a:solidFill>
                <a:latin typeface="楷体_GB2312" pitchFamily="1" charset="-122"/>
                <a:ea typeface="楷体_GB2312" pitchFamily="1" charset="-122"/>
              </a:rPr>
              <a:t>y</a:t>
            </a:r>
            <a:r>
              <a:rPr lang="zh-CN" altLang="en-US">
                <a:solidFill>
                  <a:schemeClr val="tx1"/>
                </a:solidFill>
                <a:latin typeface="楷体_GB2312" pitchFamily="1" charset="-122"/>
                <a:ea typeface="楷体_GB2312" pitchFamily="1" charset="-122"/>
              </a:rPr>
              <a:t>轴同向，</a:t>
            </a:r>
            <a:r>
              <a:rPr lang="en-US" altLang="zh-CN">
                <a:solidFill>
                  <a:schemeClr val="tx1"/>
                </a:solidFill>
                <a:latin typeface="楷体_GB2312" pitchFamily="1" charset="-122"/>
                <a:ea typeface="楷体_GB2312" pitchFamily="1" charset="-122"/>
              </a:rPr>
              <a:t>z</a:t>
            </a:r>
            <a:r>
              <a:rPr lang="en-US" altLang="zh-CN">
                <a:solidFill>
                  <a:schemeClr val="tx1"/>
                </a:solidFill>
                <a:ea typeface="楷体_GB2312" pitchFamily="1" charset="-122"/>
              </a:rPr>
              <a:t>’</a:t>
            </a:r>
            <a:r>
              <a:rPr lang="zh-CN" altLang="en-US">
                <a:solidFill>
                  <a:schemeClr val="tx1"/>
                </a:solidFill>
                <a:latin typeface="楷体_GB2312" pitchFamily="1" charset="-122"/>
                <a:ea typeface="楷体_GB2312" pitchFamily="1" charset="-122"/>
              </a:rPr>
              <a:t>轴沿着环体中心线的切线的顺时针方向，如图</a:t>
            </a:r>
            <a:r>
              <a:rPr lang="en-US" altLang="zh-CN">
                <a:solidFill>
                  <a:schemeClr val="tx1"/>
                </a:solidFill>
                <a:latin typeface="楷体_GB2312" pitchFamily="1" charset="-122"/>
                <a:ea typeface="楷体_GB2312" pitchFamily="1" charset="-122"/>
              </a:rPr>
              <a:t>9-48</a:t>
            </a:r>
            <a:r>
              <a:rPr lang="zh-CN" altLang="en-US">
                <a:solidFill>
                  <a:schemeClr val="tx1"/>
                </a:solidFill>
                <a:latin typeface="楷体_GB2312" pitchFamily="1" charset="-122"/>
                <a:ea typeface="楷体_GB2312" pitchFamily="1" charset="-122"/>
              </a:rPr>
              <a:t>所示。</a:t>
            </a:r>
          </a:p>
        </p:txBody>
      </p:sp>
      <p:sp>
        <p:nvSpPr>
          <p:cNvPr id="72710" name="Text Box 5"/>
          <p:cNvSpPr txBox="1">
            <a:spLocks noChangeArrowheads="1"/>
          </p:cNvSpPr>
          <p:nvPr/>
        </p:nvSpPr>
        <p:spPr bwMode="auto">
          <a:xfrm>
            <a:off x="2097088" y="6084888"/>
            <a:ext cx="4995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9-48  </a:t>
            </a:r>
            <a:r>
              <a:rPr lang="zh-CN" altLang="en-US" sz="2000">
                <a:solidFill>
                  <a:schemeClr val="tx1"/>
                </a:solidFill>
                <a:latin typeface="楷体_GB2312" pitchFamily="1" charset="-122"/>
                <a:ea typeface="楷体_GB2312" pitchFamily="1" charset="-122"/>
              </a:rPr>
              <a:t>圆环面的数学模型</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B04CBD34-C5DF-4D9C-A225-71318B57F2AE}" type="slidenum">
              <a:rPr lang="en-US" altLang="zh-CN" sz="1200">
                <a:solidFill>
                  <a:schemeClr val="tx1"/>
                </a:solidFill>
                <a:latin typeface="Garamond" pitchFamily="18" charset="0"/>
              </a:rPr>
              <a:pPr algn="r" eaLnBrk="1" hangingPunct="1">
                <a:spcBef>
                  <a:spcPct val="0"/>
                </a:spcBef>
              </a:pPr>
              <a:t>70</a:t>
            </a:fld>
            <a:endParaRPr lang="en-US" altLang="zh-CN" sz="1200">
              <a:solidFill>
                <a:schemeClr val="tx1"/>
              </a:solidFill>
              <a:latin typeface="Garamond" pitchFamily="18" charset="0"/>
            </a:endParaRPr>
          </a:p>
        </p:txBody>
      </p:sp>
      <p:sp>
        <p:nvSpPr>
          <p:cNvPr id="73731" name="Rectangle 2"/>
          <p:cNvSpPr>
            <a:spLocks noChangeArrowheads="1"/>
          </p:cNvSpPr>
          <p:nvPr/>
        </p:nvSpPr>
        <p:spPr bwMode="auto">
          <a:xfrm>
            <a:off x="800100" y="414338"/>
            <a:ext cx="292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latin typeface="Times New Roman" pitchFamily="18" charset="0"/>
                <a:ea typeface="楷体_GB2312" pitchFamily="1" charset="-122"/>
              </a:rPr>
              <a:t>圆环面的参数方程为</a:t>
            </a:r>
            <a:endParaRPr lang="zh-CN" altLang="en-US">
              <a:solidFill>
                <a:schemeClr val="tx1"/>
              </a:solidFill>
              <a:ea typeface="楷体_GB2312" pitchFamily="1" charset="-122"/>
            </a:endParaRPr>
          </a:p>
        </p:txBody>
      </p:sp>
      <p:graphicFrame>
        <p:nvGraphicFramePr>
          <p:cNvPr id="73732" name="Object 4"/>
          <p:cNvGraphicFramePr>
            <a:graphicFrameLocks noChangeAspect="1"/>
          </p:cNvGraphicFramePr>
          <p:nvPr/>
        </p:nvGraphicFramePr>
        <p:xfrm>
          <a:off x="1106488" y="1089025"/>
          <a:ext cx="5895975" cy="1282700"/>
        </p:xfrm>
        <a:graphic>
          <a:graphicData uri="http://schemas.openxmlformats.org/presentationml/2006/ole">
            <mc:AlternateContent xmlns:mc="http://schemas.openxmlformats.org/markup-compatibility/2006">
              <mc:Choice xmlns:v="urn:schemas-microsoft-com:vml" Requires="v">
                <p:oleObj spid="_x0000_s73787" r:id="rId3" imgW="3289300" imgH="711200" progId="Equation.3">
                  <p:embed/>
                </p:oleObj>
              </mc:Choice>
              <mc:Fallback>
                <p:oleObj r:id="rId3" imgW="3289300" imgH="711200" progId="Equation.3">
                  <p:embed/>
                  <p:pic>
                    <p:nvPicPr>
                      <p:cNvPr id="0"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6488" y="1089025"/>
                        <a:ext cx="5895975" cy="1282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3" name="Text Box 5"/>
          <p:cNvSpPr txBox="1">
            <a:spLocks noChangeArrowheads="1"/>
          </p:cNvSpPr>
          <p:nvPr/>
        </p:nvSpPr>
        <p:spPr bwMode="auto">
          <a:xfrm>
            <a:off x="836613" y="2619375"/>
            <a:ext cx="7877175"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40000"/>
              </a:lnSpc>
            </a:pPr>
            <a:r>
              <a:rPr lang="zh-CN" altLang="en-US">
                <a:solidFill>
                  <a:schemeClr val="tx1"/>
                </a:solidFill>
                <a:latin typeface="楷体_GB2312" pitchFamily="1" charset="-122"/>
                <a:ea typeface="楷体_GB2312" pitchFamily="1" charset="-122"/>
              </a:rPr>
              <a:t>示例圆环面的顶点编号和面表编号如图</a:t>
            </a:r>
            <a:r>
              <a:rPr lang="en-US" altLang="zh-CN">
                <a:solidFill>
                  <a:schemeClr val="tx1"/>
                </a:solidFill>
                <a:latin typeface="楷体_GB2312" pitchFamily="1" charset="-122"/>
                <a:ea typeface="楷体_GB2312" pitchFamily="1" charset="-122"/>
              </a:rPr>
              <a:t>9-50</a:t>
            </a:r>
            <a:r>
              <a:rPr lang="zh-CN" altLang="en-US">
                <a:solidFill>
                  <a:schemeClr val="tx1"/>
                </a:solidFill>
                <a:latin typeface="楷体_GB2312" pitchFamily="1" charset="-122"/>
                <a:ea typeface="楷体_GB2312" pitchFamily="1" charset="-122"/>
              </a:rPr>
              <a:t>所示。</a:t>
            </a:r>
          </a:p>
        </p:txBody>
      </p:sp>
      <p:sp>
        <p:nvSpPr>
          <p:cNvPr id="73735" name="Rectangle 9"/>
          <p:cNvSpPr>
            <a:spLocks noChangeArrowheads="1"/>
          </p:cNvSpPr>
          <p:nvPr/>
        </p:nvSpPr>
        <p:spPr bwMode="auto">
          <a:xfrm>
            <a:off x="7586663" y="1493838"/>
            <a:ext cx="1319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rPr>
              <a:t>（</a:t>
            </a:r>
            <a:r>
              <a:rPr lang="en-US" altLang="zh-CN">
                <a:solidFill>
                  <a:schemeClr val="tx1"/>
                </a:solidFill>
              </a:rPr>
              <a:t>9-5</a:t>
            </a:r>
            <a:r>
              <a:rPr lang="zh-CN" altLang="en-US">
                <a:solidFill>
                  <a:schemeClr val="tx1"/>
                </a:solidFill>
              </a:rPr>
              <a:t>） </a:t>
            </a:r>
          </a:p>
        </p:txBody>
      </p:sp>
      <p:graphicFrame>
        <p:nvGraphicFramePr>
          <p:cNvPr id="73737" name="Object 10"/>
          <p:cNvGraphicFramePr>
            <a:graphicFrameLocks noChangeAspect="1"/>
          </p:cNvGraphicFramePr>
          <p:nvPr/>
        </p:nvGraphicFramePr>
        <p:xfrm>
          <a:off x="792163" y="3249613"/>
          <a:ext cx="3095625" cy="3429000"/>
        </p:xfrm>
        <a:graphic>
          <a:graphicData uri="http://schemas.openxmlformats.org/presentationml/2006/ole">
            <mc:AlternateContent xmlns:mc="http://schemas.openxmlformats.org/markup-compatibility/2006">
              <mc:Choice xmlns:v="urn:schemas-microsoft-com:vml" Requires="v">
                <p:oleObj spid="_x0000_s73788" r:id="rId5" imgW="2971119" imgH="3285529" progId="Visio.Drawing.11">
                  <p:embed/>
                </p:oleObj>
              </mc:Choice>
              <mc:Fallback>
                <p:oleObj r:id="rId5" imgW="2971119" imgH="3285529" progId="Visio.Drawing.11">
                  <p:embed/>
                  <p:pic>
                    <p:nvPicPr>
                      <p:cNvPr id="0" name="Picture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2163" y="3249613"/>
                        <a:ext cx="3095625" cy="342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8" name="Rectangle 12"/>
          <p:cNvSpPr>
            <a:spLocks noChangeArrowheads="1"/>
          </p:cNvSpPr>
          <p:nvPr/>
        </p:nvSpPr>
        <p:spPr bwMode="auto">
          <a:xfrm>
            <a:off x="4392613" y="5678488"/>
            <a:ext cx="399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9-50 </a:t>
            </a:r>
            <a:r>
              <a:rPr lang="zh-CN" altLang="en-US" sz="2000">
                <a:solidFill>
                  <a:schemeClr val="tx1"/>
                </a:solidFill>
                <a:latin typeface="楷体_GB2312" pitchFamily="1" charset="-122"/>
                <a:ea typeface="楷体_GB2312" pitchFamily="1" charset="-122"/>
              </a:rPr>
              <a:t>圆环面的顶点和表面划分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0FD0B2FC-D81A-42F0-95F8-B34B899AFAFE}" type="slidenum">
              <a:rPr lang="en-US" altLang="zh-CN" sz="1200">
                <a:solidFill>
                  <a:schemeClr val="tx1"/>
                </a:solidFill>
                <a:latin typeface="Garamond" pitchFamily="18" charset="0"/>
              </a:rPr>
              <a:pPr algn="r" eaLnBrk="1" hangingPunct="1">
                <a:spcBef>
                  <a:spcPct val="0"/>
                </a:spcBef>
              </a:pPr>
              <a:t>71</a:t>
            </a:fld>
            <a:endParaRPr lang="en-US" altLang="zh-CN" sz="1200">
              <a:solidFill>
                <a:schemeClr val="tx1"/>
              </a:solidFill>
              <a:latin typeface="Garamond" pitchFamily="18" charset="0"/>
            </a:endParaRPr>
          </a:p>
        </p:txBody>
      </p:sp>
      <p:pic>
        <p:nvPicPr>
          <p:cNvPr id="7475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6863" y="1719263"/>
            <a:ext cx="4140200" cy="297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7" name="Rectangle 6"/>
          <p:cNvSpPr>
            <a:spLocks noChangeArrowheads="1"/>
          </p:cNvSpPr>
          <p:nvPr/>
        </p:nvSpPr>
        <p:spPr bwMode="auto">
          <a:xfrm>
            <a:off x="476250" y="5678488"/>
            <a:ext cx="4545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9-50 </a:t>
            </a:r>
            <a:r>
              <a:rPr lang="zh-CN" altLang="en-US" sz="2000">
                <a:solidFill>
                  <a:schemeClr val="tx1"/>
                </a:solidFill>
                <a:latin typeface="楷体_GB2312" pitchFamily="1" charset="-122"/>
                <a:ea typeface="楷体_GB2312" pitchFamily="1" charset="-122"/>
                <a:hlinkClick r:id="rId3" action="ppaction://hlinkfile"/>
              </a:rPr>
              <a:t>圆环面的网格模型透视图</a:t>
            </a:r>
            <a:endParaRPr lang="zh-CN" altLang="en-US" sz="2000">
              <a:solidFill>
                <a:schemeClr val="tx1"/>
              </a:solidFill>
              <a:latin typeface="楷体_GB2312" pitchFamily="1" charset="-122"/>
              <a:ea typeface="楷体_GB2312" pitchFamily="1" charset="-122"/>
            </a:endParaRPr>
          </a:p>
        </p:txBody>
      </p:sp>
      <p:sp>
        <p:nvSpPr>
          <p:cNvPr id="74758" name="Text Box 7"/>
          <p:cNvSpPr txBox="1">
            <a:spLocks noChangeArrowheads="1"/>
          </p:cNvSpPr>
          <p:nvPr/>
        </p:nvSpPr>
        <p:spPr bwMode="auto">
          <a:xfrm>
            <a:off x="657225" y="323850"/>
            <a:ext cx="7877175"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40000"/>
              </a:lnSpc>
            </a:pPr>
            <a:r>
              <a:rPr lang="zh-CN" altLang="en-US">
                <a:solidFill>
                  <a:schemeClr val="tx1"/>
                </a:solidFill>
                <a:latin typeface="楷体_GB2312" pitchFamily="1" charset="-122"/>
                <a:ea typeface="楷体_GB2312" pitchFamily="1" charset="-122"/>
              </a:rPr>
              <a:t>适当加大周向和纵向划分的网格数，圆环面网格模型趋向光滑，透视投影效果如图</a:t>
            </a:r>
            <a:r>
              <a:rPr lang="en-US" altLang="zh-CN">
                <a:solidFill>
                  <a:schemeClr val="tx1"/>
                </a:solidFill>
                <a:latin typeface="楷体_GB2312" pitchFamily="1" charset="-122"/>
                <a:ea typeface="楷体_GB2312" pitchFamily="1" charset="-122"/>
              </a:rPr>
              <a:t>9-51</a:t>
            </a:r>
            <a:r>
              <a:rPr lang="zh-CN" altLang="en-US">
                <a:solidFill>
                  <a:schemeClr val="tx1"/>
                </a:solidFill>
                <a:latin typeface="楷体_GB2312" pitchFamily="1" charset="-122"/>
                <a:ea typeface="楷体_GB2312" pitchFamily="1" charset="-122"/>
              </a:rPr>
              <a:t>所示。</a:t>
            </a:r>
          </a:p>
        </p:txBody>
      </p:sp>
      <p:pic>
        <p:nvPicPr>
          <p:cNvPr id="74759"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06938" y="1673225"/>
            <a:ext cx="4049712"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60" name="Rectangle 9"/>
          <p:cNvSpPr>
            <a:spLocks noChangeArrowheads="1"/>
          </p:cNvSpPr>
          <p:nvPr/>
        </p:nvSpPr>
        <p:spPr bwMode="auto">
          <a:xfrm>
            <a:off x="5246688" y="5678488"/>
            <a:ext cx="3240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9-50 </a:t>
            </a:r>
            <a:r>
              <a:rPr lang="zh-CN" altLang="en-US" sz="2000">
                <a:solidFill>
                  <a:schemeClr val="tx1"/>
                </a:solidFill>
                <a:latin typeface="楷体_GB2312" pitchFamily="1" charset="-122"/>
                <a:ea typeface="楷体_GB2312" pitchFamily="1" charset="-122"/>
                <a:hlinkClick r:id="rId5" action="ppaction://hlinkfile"/>
              </a:rPr>
              <a:t>消隐环</a:t>
            </a:r>
            <a:endParaRPr lang="zh-CN" altLang="en-US" sz="2000">
              <a:solidFill>
                <a:schemeClr val="tx1"/>
              </a:solidFill>
              <a:latin typeface="楷体_GB2312" pitchFamily="1" charset="-122"/>
              <a:ea typeface="楷体_GB2312" pitchFamily="1"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3E7FBA4E-50E9-4FE0-9B54-0F2D841CFE4D}" type="slidenum">
              <a:rPr lang="en-US" altLang="zh-CN" sz="1200">
                <a:solidFill>
                  <a:schemeClr val="tx1"/>
                </a:solidFill>
                <a:latin typeface="Garamond" pitchFamily="18" charset="0"/>
              </a:rPr>
              <a:pPr algn="r" eaLnBrk="1" hangingPunct="1">
                <a:spcBef>
                  <a:spcPct val="0"/>
                </a:spcBef>
              </a:pPr>
              <a:t>72</a:t>
            </a:fld>
            <a:endParaRPr lang="en-US" altLang="zh-CN" sz="1200">
              <a:solidFill>
                <a:schemeClr val="tx1"/>
              </a:solidFill>
              <a:latin typeface="Garamond" pitchFamily="18" charset="0"/>
            </a:endParaRPr>
          </a:p>
        </p:txBody>
      </p:sp>
      <p:sp>
        <p:nvSpPr>
          <p:cNvPr id="75779" name="Rectangle 4"/>
          <p:cNvSpPr>
            <a:spLocks noChangeArrowheads="1"/>
          </p:cNvSpPr>
          <p:nvPr/>
        </p:nvSpPr>
        <p:spPr bwMode="auto">
          <a:xfrm>
            <a:off x="566738" y="188913"/>
            <a:ext cx="38576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sz="3600" b="1">
                <a:solidFill>
                  <a:schemeClr val="tx1"/>
                </a:solidFill>
                <a:latin typeface="楷体_GB2312" pitchFamily="1" charset="-122"/>
                <a:ea typeface="楷体_GB2312" pitchFamily="1" charset="-122"/>
              </a:rPr>
              <a:t>9.2 </a:t>
            </a:r>
            <a:r>
              <a:rPr lang="zh-CN" altLang="en-US" sz="3600" b="1">
                <a:solidFill>
                  <a:schemeClr val="tx1"/>
                </a:solidFill>
                <a:latin typeface="楷体_GB2312" pitchFamily="1" charset="-122"/>
                <a:ea typeface="楷体_GB2312" pitchFamily="1" charset="-122"/>
              </a:rPr>
              <a:t>消隐算法分类</a:t>
            </a:r>
          </a:p>
        </p:txBody>
      </p:sp>
      <p:sp>
        <p:nvSpPr>
          <p:cNvPr id="75780" name="Rectangle 5"/>
          <p:cNvSpPr>
            <a:spLocks noChangeArrowheads="1"/>
          </p:cNvSpPr>
          <p:nvPr/>
        </p:nvSpPr>
        <p:spPr bwMode="auto">
          <a:xfrm>
            <a:off x="522288" y="809556"/>
            <a:ext cx="809942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b="1" dirty="0">
                <a:solidFill>
                  <a:schemeClr val="tx1"/>
                </a:solidFill>
                <a:latin typeface="楷体_GB2312" pitchFamily="1" charset="-122"/>
                <a:ea typeface="楷体_GB2312" pitchFamily="1" charset="-122"/>
              </a:rPr>
              <a:t>根据消隐方法的不同，消隐算法可分为两类</a:t>
            </a:r>
            <a:r>
              <a:rPr lang="zh-CN" altLang="en-US" dirty="0">
                <a:solidFill>
                  <a:schemeClr val="tx1"/>
                </a:solidFill>
                <a:latin typeface="楷体_GB2312" pitchFamily="1" charset="-122"/>
                <a:ea typeface="楷体_GB2312" pitchFamily="1" charset="-122"/>
              </a:rPr>
              <a:t>：</a:t>
            </a:r>
          </a:p>
          <a:p>
            <a:pPr algn="l" eaLnBrk="1" hangingPunct="1"/>
            <a:r>
              <a:rPr lang="zh-CN" altLang="en-US" dirty="0">
                <a:solidFill>
                  <a:schemeClr val="tx1"/>
                </a:solidFill>
                <a:latin typeface="楷体_GB2312" pitchFamily="1" charset="-122"/>
                <a:ea typeface="楷体_GB2312" pitchFamily="1" charset="-122"/>
              </a:rPr>
              <a:t>（</a:t>
            </a:r>
            <a:r>
              <a:rPr lang="fr-FR" altLang="en-US" dirty="0">
                <a:solidFill>
                  <a:schemeClr val="tx1"/>
                </a:solidFill>
                <a:latin typeface="楷体_GB2312" pitchFamily="1" charset="-122"/>
                <a:ea typeface="楷体_GB2312" pitchFamily="1" charset="-122"/>
              </a:rPr>
              <a:t>1</a:t>
            </a:r>
            <a:r>
              <a:rPr lang="zh-CN" altLang="en-US" dirty="0">
                <a:solidFill>
                  <a:schemeClr val="tx1"/>
                </a:solidFill>
                <a:latin typeface="楷体_GB2312" pitchFamily="1" charset="-122"/>
                <a:ea typeface="楷体_GB2312" pitchFamily="1" charset="-122"/>
              </a:rPr>
              <a:t>）</a:t>
            </a:r>
            <a:r>
              <a:rPr lang="zh-CN" altLang="en-US" b="1" dirty="0">
                <a:solidFill>
                  <a:srgbClr val="FF0000"/>
                </a:solidFill>
                <a:latin typeface="方正粗黑宋简体" panose="02000000000000000000" pitchFamily="2" charset="-122"/>
                <a:ea typeface="方正粗黑宋简体" panose="02000000000000000000" pitchFamily="2" charset="-122"/>
              </a:rPr>
              <a:t>隐线算法</a:t>
            </a:r>
            <a:r>
              <a:rPr lang="zh-CN" altLang="en-US" dirty="0">
                <a:solidFill>
                  <a:schemeClr val="tx1"/>
                </a:solidFill>
                <a:latin typeface="楷体_GB2312" pitchFamily="1" charset="-122"/>
                <a:ea typeface="楷体_GB2312" pitchFamily="1" charset="-122"/>
              </a:rPr>
              <a:t>。用于</a:t>
            </a:r>
            <a:r>
              <a:rPr lang="zh-CN" altLang="en-US" b="1" dirty="0">
                <a:solidFill>
                  <a:srgbClr val="3333FF"/>
                </a:solidFill>
                <a:latin typeface="方正粗黑宋简体" panose="02000000000000000000" pitchFamily="2" charset="-122"/>
                <a:ea typeface="方正粗黑宋简体" panose="02000000000000000000" pitchFamily="2" charset="-122"/>
              </a:rPr>
              <a:t>消除物体上不可见的边界线</a:t>
            </a:r>
            <a:r>
              <a:rPr lang="zh-CN" altLang="en-US" dirty="0">
                <a:solidFill>
                  <a:schemeClr val="tx1"/>
                </a:solidFill>
                <a:latin typeface="楷体_GB2312" pitchFamily="1" charset="-122"/>
                <a:ea typeface="楷体_GB2312" pitchFamily="1" charset="-122"/>
              </a:rPr>
              <a:t>。隐线算法主要是</a:t>
            </a:r>
            <a:r>
              <a:rPr lang="zh-CN" altLang="en-US" b="1" dirty="0">
                <a:solidFill>
                  <a:srgbClr val="FF0000"/>
                </a:solidFill>
                <a:latin typeface="方正粗黑宋简体" panose="02000000000000000000" pitchFamily="2" charset="-122"/>
                <a:ea typeface="方正粗黑宋简体" panose="02000000000000000000" pitchFamily="2" charset="-122"/>
              </a:rPr>
              <a:t>针对线框模型</a:t>
            </a:r>
            <a:r>
              <a:rPr lang="zh-CN" altLang="en-US" dirty="0">
                <a:solidFill>
                  <a:schemeClr val="tx1"/>
                </a:solidFill>
                <a:latin typeface="楷体_GB2312" pitchFamily="1" charset="-122"/>
                <a:ea typeface="楷体_GB2312" pitchFamily="1" charset="-122"/>
              </a:rPr>
              <a:t>提出的，它只要求画出物体的各可见棱边，如图</a:t>
            </a:r>
            <a:r>
              <a:rPr lang="fr-FR" altLang="en-US" dirty="0">
                <a:solidFill>
                  <a:schemeClr val="tx1"/>
                </a:solidFill>
                <a:latin typeface="楷体_GB2312" pitchFamily="1" charset="-122"/>
                <a:ea typeface="楷体_GB2312" pitchFamily="1" charset="-122"/>
              </a:rPr>
              <a:t>9-51</a:t>
            </a:r>
            <a:r>
              <a:rPr lang="zh-CN" altLang="en-US" dirty="0">
                <a:solidFill>
                  <a:schemeClr val="tx1"/>
                </a:solidFill>
                <a:latin typeface="楷体_GB2312" pitchFamily="1" charset="-122"/>
                <a:ea typeface="楷体_GB2312" pitchFamily="1" charset="-122"/>
              </a:rPr>
              <a:t>所示。</a:t>
            </a:r>
          </a:p>
        </p:txBody>
      </p:sp>
      <p:sp>
        <p:nvSpPr>
          <p:cNvPr id="75781" name="Rectangle 6"/>
          <p:cNvSpPr>
            <a:spLocks noChangeArrowheads="1"/>
          </p:cNvSpPr>
          <p:nvPr/>
        </p:nvSpPr>
        <p:spPr bwMode="auto">
          <a:xfrm>
            <a:off x="566738" y="2522449"/>
            <a:ext cx="81915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dirty="0">
                <a:solidFill>
                  <a:schemeClr val="tx1"/>
                </a:solidFill>
                <a:latin typeface="楷体_GB2312" pitchFamily="1" charset="-122"/>
                <a:ea typeface="楷体_GB2312" pitchFamily="1" charset="-122"/>
              </a:rPr>
              <a:t>（</a:t>
            </a:r>
            <a:r>
              <a:rPr lang="fr-FR" altLang="en-US" dirty="0">
                <a:solidFill>
                  <a:schemeClr val="tx1"/>
                </a:solidFill>
                <a:latin typeface="楷体_GB2312" pitchFamily="1" charset="-122"/>
                <a:ea typeface="楷体_GB2312" pitchFamily="1" charset="-122"/>
              </a:rPr>
              <a:t>2</a:t>
            </a:r>
            <a:r>
              <a:rPr lang="zh-CN" altLang="en-US" dirty="0">
                <a:solidFill>
                  <a:schemeClr val="tx1"/>
                </a:solidFill>
                <a:latin typeface="楷体_GB2312" pitchFamily="1" charset="-122"/>
                <a:ea typeface="楷体_GB2312" pitchFamily="1" charset="-122"/>
              </a:rPr>
              <a:t>）</a:t>
            </a:r>
            <a:r>
              <a:rPr lang="zh-CN" altLang="en-US" b="1" dirty="0">
                <a:solidFill>
                  <a:srgbClr val="FF0000"/>
                </a:solidFill>
                <a:latin typeface="方正粗黑宋简体" panose="02000000000000000000" pitchFamily="2" charset="-122"/>
                <a:ea typeface="方正粗黑宋简体" panose="02000000000000000000" pitchFamily="2" charset="-122"/>
              </a:rPr>
              <a:t>隐面算法</a:t>
            </a:r>
            <a:r>
              <a:rPr lang="zh-CN" altLang="en-US" dirty="0">
                <a:solidFill>
                  <a:schemeClr val="tx1"/>
                </a:solidFill>
                <a:latin typeface="楷体_GB2312" pitchFamily="1" charset="-122"/>
                <a:ea typeface="楷体_GB2312" pitchFamily="1" charset="-122"/>
              </a:rPr>
              <a:t>。用于消除物体上</a:t>
            </a:r>
            <a:r>
              <a:rPr lang="zh-CN" altLang="en-US" b="1" dirty="0">
                <a:solidFill>
                  <a:srgbClr val="3333FF"/>
                </a:solidFill>
                <a:latin typeface="方正粗黑宋简体" panose="02000000000000000000" pitchFamily="2" charset="-122"/>
                <a:ea typeface="方正粗黑宋简体" panose="02000000000000000000" pitchFamily="2" charset="-122"/>
              </a:rPr>
              <a:t>不可见的表面</a:t>
            </a:r>
            <a:r>
              <a:rPr lang="zh-CN" altLang="en-US" dirty="0">
                <a:solidFill>
                  <a:schemeClr val="tx1"/>
                </a:solidFill>
                <a:latin typeface="楷体_GB2312" pitchFamily="1" charset="-122"/>
                <a:ea typeface="楷体_GB2312" pitchFamily="1" charset="-122"/>
              </a:rPr>
              <a:t>。隐面算法主要是</a:t>
            </a:r>
            <a:r>
              <a:rPr lang="zh-CN" altLang="en-US" b="1" dirty="0">
                <a:solidFill>
                  <a:srgbClr val="FF0000"/>
                </a:solidFill>
                <a:latin typeface="方正粗黑宋简体" panose="02000000000000000000" pitchFamily="2" charset="-122"/>
                <a:ea typeface="方正粗黑宋简体" panose="02000000000000000000" pitchFamily="2" charset="-122"/>
              </a:rPr>
              <a:t>针对表面模型</a:t>
            </a:r>
            <a:r>
              <a:rPr lang="zh-CN" altLang="en-US" dirty="0">
                <a:solidFill>
                  <a:schemeClr val="tx1"/>
                </a:solidFill>
                <a:latin typeface="楷体_GB2312" pitchFamily="1" charset="-122"/>
                <a:ea typeface="楷体_GB2312" pitchFamily="1" charset="-122"/>
              </a:rPr>
              <a:t>提出的，</a:t>
            </a:r>
            <a:r>
              <a:rPr lang="zh-CN" altLang="en-US" b="1" dirty="0">
                <a:solidFill>
                  <a:srgbClr val="3333FF"/>
                </a:solidFill>
                <a:latin typeface="方正粗黑宋简体" panose="02000000000000000000" pitchFamily="2" charset="-122"/>
                <a:ea typeface="方正粗黑宋简体" panose="02000000000000000000" pitchFamily="2" charset="-122"/>
              </a:rPr>
              <a:t>一般不绘制物体的可见棱边，只使用指定颜色填充物体的各可见表面</a:t>
            </a:r>
            <a:r>
              <a:rPr lang="zh-CN" altLang="en-US" dirty="0">
                <a:solidFill>
                  <a:schemeClr val="tx1"/>
                </a:solidFill>
                <a:latin typeface="楷体_GB2312" pitchFamily="1" charset="-122"/>
                <a:ea typeface="楷体_GB2312" pitchFamily="1" charset="-122"/>
              </a:rPr>
              <a:t>，如图</a:t>
            </a:r>
            <a:r>
              <a:rPr lang="fr-FR" altLang="en-US" dirty="0">
                <a:solidFill>
                  <a:schemeClr val="tx1"/>
                </a:solidFill>
                <a:latin typeface="楷体_GB2312" pitchFamily="1" charset="-122"/>
                <a:ea typeface="楷体_GB2312" pitchFamily="1" charset="-122"/>
              </a:rPr>
              <a:t>9-52</a:t>
            </a:r>
            <a:r>
              <a:rPr lang="zh-CN" altLang="en-US" dirty="0">
                <a:solidFill>
                  <a:schemeClr val="tx1"/>
                </a:solidFill>
                <a:latin typeface="楷体_GB2312" pitchFamily="1" charset="-122"/>
                <a:ea typeface="楷体_GB2312" pitchFamily="1" charset="-122"/>
              </a:rPr>
              <a:t>所示。</a:t>
            </a:r>
            <a:r>
              <a:rPr lang="zh-CN" altLang="en-US" b="1" dirty="0">
                <a:solidFill>
                  <a:schemeClr val="tx1"/>
                </a:solidFill>
                <a:latin typeface="楷体_GB2312" pitchFamily="1" charset="-122"/>
                <a:ea typeface="楷体_GB2312" pitchFamily="1" charset="-122"/>
              </a:rPr>
              <a:t> </a:t>
            </a:r>
          </a:p>
        </p:txBody>
      </p:sp>
      <p:graphicFrame>
        <p:nvGraphicFramePr>
          <p:cNvPr id="75782" name="Object 10"/>
          <p:cNvGraphicFramePr>
            <a:graphicFrameLocks noChangeAspect="1"/>
          </p:cNvGraphicFramePr>
          <p:nvPr/>
        </p:nvGraphicFramePr>
        <p:xfrm>
          <a:off x="611188" y="4097338"/>
          <a:ext cx="1487487" cy="1487487"/>
        </p:xfrm>
        <a:graphic>
          <a:graphicData uri="http://schemas.openxmlformats.org/presentationml/2006/ole">
            <mc:AlternateContent xmlns:mc="http://schemas.openxmlformats.org/markup-compatibility/2006">
              <mc:Choice xmlns:v="urn:schemas-microsoft-com:vml" Requires="v">
                <p:oleObj spid="_x0000_s75896" r:id="rId3" imgW="2963570" imgH="2963570" progId="Visio.Drawing.11">
                  <p:embed/>
                </p:oleObj>
              </mc:Choice>
              <mc:Fallback>
                <p:oleObj r:id="rId3" imgW="2963570" imgH="2963570" progId="Visio.Drawing.11">
                  <p:embed/>
                  <p:pic>
                    <p:nvPicPr>
                      <p:cNvPr id="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4097338"/>
                        <a:ext cx="1487487" cy="1487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5783" name="Object 9"/>
          <p:cNvGraphicFramePr>
            <a:graphicFrameLocks noChangeAspect="1"/>
          </p:cNvGraphicFramePr>
          <p:nvPr/>
        </p:nvGraphicFramePr>
        <p:xfrm>
          <a:off x="2816225" y="4051300"/>
          <a:ext cx="1577975" cy="1577975"/>
        </p:xfrm>
        <a:graphic>
          <a:graphicData uri="http://schemas.openxmlformats.org/presentationml/2006/ole">
            <mc:AlternateContent xmlns:mc="http://schemas.openxmlformats.org/markup-compatibility/2006">
              <mc:Choice xmlns:v="urn:schemas-microsoft-com:vml" Requires="v">
                <p:oleObj spid="_x0000_s75897" r:id="rId5" imgW="2951378" imgH="2963570" progId="Visio.Drawing.11">
                  <p:embed/>
                </p:oleObj>
              </mc:Choice>
              <mc:Fallback>
                <p:oleObj r:id="rId5" imgW="2951378" imgH="2963570" progId="Visio.Drawing.11">
                  <p:embed/>
                  <p:pic>
                    <p:nvPicPr>
                      <p:cNvPr id="0" name="Picture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6225" y="4051300"/>
                        <a:ext cx="1577975" cy="157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5784" name="Object 8"/>
          <p:cNvGraphicFramePr>
            <a:graphicFrameLocks noChangeAspect="1"/>
          </p:cNvGraphicFramePr>
          <p:nvPr/>
        </p:nvGraphicFramePr>
        <p:xfrm>
          <a:off x="4572000" y="4051300"/>
          <a:ext cx="1538288" cy="1538288"/>
        </p:xfrm>
        <a:graphic>
          <a:graphicData uri="http://schemas.openxmlformats.org/presentationml/2006/ole">
            <mc:AlternateContent xmlns:mc="http://schemas.openxmlformats.org/markup-compatibility/2006">
              <mc:Choice xmlns:v="urn:schemas-microsoft-com:vml" Requires="v">
                <p:oleObj spid="_x0000_s75898" r:id="rId7" imgW="2963570" imgH="2963570" progId="Visio.Drawing.11">
                  <p:embed/>
                </p:oleObj>
              </mc:Choice>
              <mc:Fallback>
                <p:oleObj r:id="rId7" imgW="2963570" imgH="2963570" progId="Visio.Drawing.11">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4051300"/>
                        <a:ext cx="1538288" cy="1538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5785" name="Object 7"/>
          <p:cNvGraphicFramePr>
            <a:graphicFrameLocks noChangeAspect="1"/>
          </p:cNvGraphicFramePr>
          <p:nvPr/>
        </p:nvGraphicFramePr>
        <p:xfrm>
          <a:off x="6821488" y="3962400"/>
          <a:ext cx="1604962" cy="1619250"/>
        </p:xfrm>
        <a:graphic>
          <a:graphicData uri="http://schemas.openxmlformats.org/presentationml/2006/ole">
            <mc:AlternateContent xmlns:mc="http://schemas.openxmlformats.org/markup-compatibility/2006">
              <mc:Choice xmlns:v="urn:schemas-microsoft-com:vml" Requires="v">
                <p:oleObj spid="_x0000_s75899" r:id="rId8" imgW="2951378" imgH="2963570" progId="Visio.Drawing.11">
                  <p:embed/>
                </p:oleObj>
              </mc:Choice>
              <mc:Fallback>
                <p:oleObj r:id="rId8" imgW="2951378" imgH="2963570" progId="Visio.Drawing.11">
                  <p:embed/>
                  <p:pic>
                    <p:nvPicPr>
                      <p:cNvPr id="0" name="Picture 3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21488" y="3962400"/>
                        <a:ext cx="1604962" cy="1619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5786" name="Line 11"/>
          <p:cNvSpPr>
            <a:spLocks noChangeShapeType="1"/>
          </p:cNvSpPr>
          <p:nvPr/>
        </p:nvSpPr>
        <p:spPr bwMode="auto">
          <a:xfrm>
            <a:off x="2141538" y="4862513"/>
            <a:ext cx="615950" cy="1587"/>
          </a:xfrm>
          <a:prstGeom prst="line">
            <a:avLst/>
          </a:prstGeom>
          <a:noFill/>
          <a:ln w="2857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9" name="Line 18"/>
          <p:cNvSpPr>
            <a:spLocks noChangeShapeType="1"/>
          </p:cNvSpPr>
          <p:nvPr/>
        </p:nvSpPr>
        <p:spPr bwMode="auto">
          <a:xfrm>
            <a:off x="6192838" y="4772025"/>
            <a:ext cx="615950" cy="1588"/>
          </a:xfrm>
          <a:prstGeom prst="line">
            <a:avLst/>
          </a:prstGeom>
          <a:noFill/>
          <a:ln w="2857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90" name="Rectangle 19"/>
          <p:cNvSpPr>
            <a:spLocks noChangeArrowheads="1"/>
          </p:cNvSpPr>
          <p:nvPr/>
        </p:nvSpPr>
        <p:spPr bwMode="auto">
          <a:xfrm>
            <a:off x="1241425" y="6173788"/>
            <a:ext cx="2217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9-51 </a:t>
            </a:r>
            <a:r>
              <a:rPr lang="zh-CN" altLang="en-US" sz="2000">
                <a:solidFill>
                  <a:schemeClr val="tx1"/>
                </a:solidFill>
                <a:latin typeface="楷体_GB2312" pitchFamily="1" charset="-122"/>
                <a:ea typeface="楷体_GB2312" pitchFamily="1" charset="-122"/>
              </a:rPr>
              <a:t>隐线算法</a:t>
            </a:r>
            <a:r>
              <a:rPr lang="zh-CN" altLang="en-US" sz="2000" b="1">
                <a:solidFill>
                  <a:schemeClr val="tx1"/>
                </a:solidFill>
                <a:latin typeface="楷体_GB2312" pitchFamily="1" charset="-122"/>
                <a:ea typeface="楷体_GB2312" pitchFamily="1" charset="-122"/>
              </a:rPr>
              <a:t> </a:t>
            </a:r>
          </a:p>
        </p:txBody>
      </p:sp>
      <p:sp>
        <p:nvSpPr>
          <p:cNvPr id="75791" name="Rectangle 20"/>
          <p:cNvSpPr>
            <a:spLocks noChangeArrowheads="1"/>
          </p:cNvSpPr>
          <p:nvPr/>
        </p:nvSpPr>
        <p:spPr bwMode="auto">
          <a:xfrm>
            <a:off x="5246688" y="6173788"/>
            <a:ext cx="2346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b="1">
                <a:solidFill>
                  <a:schemeClr val="tx1"/>
                </a:solidFill>
                <a:latin typeface="楷体_GB2312" pitchFamily="1" charset="-122"/>
                <a:ea typeface="楷体_GB2312" pitchFamily="1" charset="-122"/>
              </a:rPr>
              <a:t> </a:t>
            </a: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9-52 </a:t>
            </a:r>
            <a:r>
              <a:rPr lang="zh-CN" altLang="en-US" sz="2000">
                <a:solidFill>
                  <a:schemeClr val="tx1"/>
                </a:solidFill>
                <a:latin typeface="楷体_GB2312" pitchFamily="1" charset="-122"/>
                <a:ea typeface="楷体_GB2312" pitchFamily="1" charset="-122"/>
              </a:rPr>
              <a:t>隐面算法</a:t>
            </a:r>
            <a:r>
              <a:rPr lang="zh-CN" altLang="en-US" sz="2000" b="1">
                <a:solidFill>
                  <a:schemeClr val="tx1"/>
                </a:solidFill>
                <a:latin typeface="楷体_GB2312" pitchFamily="1" charset="-122"/>
                <a:ea typeface="楷体_GB2312" pitchFamily="1" charset="-122"/>
              </a:rPr>
              <a:t>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568E9580-6E1B-42AC-B099-E7EFABC97092}" type="slidenum">
              <a:rPr lang="en-US" altLang="zh-CN" sz="1200">
                <a:solidFill>
                  <a:schemeClr val="tx1"/>
                </a:solidFill>
                <a:latin typeface="Garamond" pitchFamily="18" charset="0"/>
              </a:rPr>
              <a:pPr algn="r" eaLnBrk="1" hangingPunct="1">
                <a:spcBef>
                  <a:spcPct val="0"/>
                </a:spcBef>
              </a:pPr>
              <a:t>73</a:t>
            </a:fld>
            <a:endParaRPr lang="en-US" altLang="zh-CN" sz="1200">
              <a:solidFill>
                <a:schemeClr val="tx1"/>
              </a:solidFill>
              <a:latin typeface="Garamond" pitchFamily="18" charset="0"/>
            </a:endParaRPr>
          </a:p>
        </p:txBody>
      </p:sp>
      <p:sp>
        <p:nvSpPr>
          <p:cNvPr id="76803" name="Rectangle 4"/>
          <p:cNvSpPr>
            <a:spLocks noChangeArrowheads="1"/>
          </p:cNvSpPr>
          <p:nvPr/>
        </p:nvSpPr>
        <p:spPr bwMode="auto">
          <a:xfrm>
            <a:off x="701675" y="472609"/>
            <a:ext cx="8191500" cy="544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30000"/>
              </a:lnSpc>
            </a:pPr>
            <a:r>
              <a:rPr lang="zh-CN" altLang="en-US" dirty="0">
                <a:solidFill>
                  <a:schemeClr val="tx1"/>
                </a:solidFill>
                <a:latin typeface="楷体_GB2312" pitchFamily="1" charset="-122"/>
                <a:ea typeface="楷体_GB2312" pitchFamily="1" charset="-122"/>
              </a:rPr>
              <a:t>计算机图形学的创始人</a:t>
            </a:r>
            <a:r>
              <a:rPr lang="fr-FR" altLang="en-US" dirty="0">
                <a:solidFill>
                  <a:schemeClr val="tx1"/>
                </a:solidFill>
                <a:latin typeface="楷体_GB2312" pitchFamily="1" charset="-122"/>
                <a:ea typeface="楷体_GB2312" pitchFamily="1" charset="-122"/>
              </a:rPr>
              <a:t>Sutherland</a:t>
            </a:r>
            <a:r>
              <a:rPr lang="zh-CN" altLang="en-US" b="1" dirty="0">
                <a:solidFill>
                  <a:srgbClr val="3333FF"/>
                </a:solidFill>
                <a:latin typeface="方正粗黑宋简体" panose="02000000000000000000" pitchFamily="2" charset="-122"/>
                <a:ea typeface="方正粗黑宋简体" panose="02000000000000000000" pitchFamily="2" charset="-122"/>
              </a:rPr>
              <a:t>根据消隐空间的不同</a:t>
            </a:r>
            <a:r>
              <a:rPr lang="zh-CN" altLang="en-US" dirty="0">
                <a:solidFill>
                  <a:schemeClr val="tx1"/>
                </a:solidFill>
                <a:latin typeface="楷体_GB2312" pitchFamily="1" charset="-122"/>
                <a:ea typeface="楷体_GB2312" pitchFamily="1" charset="-122"/>
              </a:rPr>
              <a:t>，将消隐算法分为</a:t>
            </a:r>
            <a:r>
              <a:rPr lang="fr-FR" altLang="en-US" dirty="0">
                <a:solidFill>
                  <a:schemeClr val="tx1"/>
                </a:solidFill>
                <a:latin typeface="楷体_GB2312" pitchFamily="1" charset="-122"/>
                <a:ea typeface="楷体_GB2312" pitchFamily="1" charset="-122"/>
              </a:rPr>
              <a:t>3</a:t>
            </a:r>
            <a:r>
              <a:rPr lang="zh-CN" altLang="en-US" dirty="0">
                <a:solidFill>
                  <a:schemeClr val="tx1"/>
                </a:solidFill>
                <a:latin typeface="楷体_GB2312" pitchFamily="1" charset="-122"/>
                <a:ea typeface="楷体_GB2312" pitchFamily="1" charset="-122"/>
              </a:rPr>
              <a:t>类：</a:t>
            </a:r>
          </a:p>
          <a:p>
            <a:pPr algn="l" eaLnBrk="1" hangingPunct="1">
              <a:lnSpc>
                <a:spcPct val="130000"/>
              </a:lnSpc>
            </a:pPr>
            <a:r>
              <a:rPr lang="zh-CN" altLang="en-US" b="1" dirty="0">
                <a:solidFill>
                  <a:schemeClr val="tx1"/>
                </a:solidFill>
                <a:latin typeface="楷体_GB2312" pitchFamily="1" charset="-122"/>
                <a:ea typeface="楷体_GB2312" pitchFamily="1" charset="-122"/>
              </a:rPr>
              <a:t>（</a:t>
            </a:r>
            <a:r>
              <a:rPr lang="fr-FR" altLang="en-US" b="1" dirty="0">
                <a:solidFill>
                  <a:schemeClr val="tx1"/>
                </a:solidFill>
                <a:latin typeface="楷体_GB2312" pitchFamily="1" charset="-122"/>
                <a:ea typeface="楷体_GB2312" pitchFamily="1" charset="-122"/>
              </a:rPr>
              <a:t>1</a:t>
            </a:r>
            <a:r>
              <a:rPr lang="zh-CN" altLang="en-US" b="1" dirty="0">
                <a:solidFill>
                  <a:schemeClr val="tx1"/>
                </a:solidFill>
                <a:latin typeface="楷体_GB2312" pitchFamily="1" charset="-122"/>
                <a:ea typeface="楷体_GB2312" pitchFamily="1" charset="-122"/>
              </a:rPr>
              <a:t>）</a:t>
            </a:r>
            <a:r>
              <a:rPr lang="zh-CN" altLang="en-US" b="1" dirty="0">
                <a:solidFill>
                  <a:srgbClr val="FF0000"/>
                </a:solidFill>
                <a:latin typeface="方正粗黑宋简体" panose="02000000000000000000" pitchFamily="2" charset="-122"/>
                <a:ea typeface="方正粗黑宋简体" panose="02000000000000000000" pitchFamily="2" charset="-122"/>
              </a:rPr>
              <a:t>物体空间法</a:t>
            </a:r>
            <a:r>
              <a:rPr lang="zh-CN" altLang="en-US" b="1" dirty="0">
                <a:solidFill>
                  <a:schemeClr val="tx1"/>
                </a:solidFill>
                <a:latin typeface="楷体_GB2312" pitchFamily="1" charset="-122"/>
                <a:ea typeface="楷体_GB2312" pitchFamily="1" charset="-122"/>
              </a:rPr>
              <a:t>。</a:t>
            </a:r>
            <a:r>
              <a:rPr lang="zh-CN" altLang="en-US" dirty="0">
                <a:solidFill>
                  <a:schemeClr val="tx1"/>
                </a:solidFill>
                <a:latin typeface="楷体_GB2312" pitchFamily="1" charset="-122"/>
                <a:ea typeface="楷体_GB2312" pitchFamily="1" charset="-122"/>
              </a:rPr>
              <a:t>物体空间</a:t>
            </a:r>
            <a:r>
              <a:rPr lang="zh-CN" altLang="en-US" b="1" dirty="0">
                <a:solidFill>
                  <a:srgbClr val="FF0000"/>
                </a:solidFill>
                <a:latin typeface="方正粗黑宋简体" panose="02000000000000000000" pitchFamily="2" charset="-122"/>
                <a:ea typeface="方正粗黑宋简体" panose="02000000000000000000" pitchFamily="2" charset="-122"/>
              </a:rPr>
              <a:t>消隐算法主要在三维观察空间</a:t>
            </a:r>
            <a:r>
              <a:rPr lang="zh-CN" altLang="en-US" dirty="0">
                <a:solidFill>
                  <a:schemeClr val="tx1"/>
                </a:solidFill>
                <a:latin typeface="楷体_GB2312" pitchFamily="1" charset="-122"/>
                <a:ea typeface="楷体_GB2312" pitchFamily="1" charset="-122"/>
              </a:rPr>
              <a:t>中完成。根据模型的几何关系来判断哪些表面可见，哪些表面不可见。</a:t>
            </a:r>
          </a:p>
          <a:p>
            <a:pPr algn="l" eaLnBrk="1" hangingPunct="1">
              <a:lnSpc>
                <a:spcPct val="130000"/>
              </a:lnSpc>
            </a:pPr>
            <a:r>
              <a:rPr lang="zh-CN" altLang="en-US" b="1" dirty="0">
                <a:solidFill>
                  <a:schemeClr val="tx1"/>
                </a:solidFill>
                <a:latin typeface="楷体_GB2312" pitchFamily="1" charset="-122"/>
                <a:ea typeface="楷体_GB2312" pitchFamily="1" charset="-122"/>
              </a:rPr>
              <a:t>（</a:t>
            </a:r>
            <a:r>
              <a:rPr lang="fr-FR" altLang="en-US" b="1" dirty="0">
                <a:solidFill>
                  <a:schemeClr val="tx1"/>
                </a:solidFill>
                <a:latin typeface="楷体_GB2312" pitchFamily="1" charset="-122"/>
                <a:ea typeface="楷体_GB2312" pitchFamily="1" charset="-122"/>
              </a:rPr>
              <a:t>2</a:t>
            </a:r>
            <a:r>
              <a:rPr lang="zh-CN" altLang="en-US" b="1" dirty="0">
                <a:solidFill>
                  <a:schemeClr val="tx1"/>
                </a:solidFill>
                <a:latin typeface="楷体_GB2312" pitchFamily="1" charset="-122"/>
                <a:ea typeface="楷体_GB2312" pitchFamily="1" charset="-122"/>
              </a:rPr>
              <a:t>）</a:t>
            </a:r>
            <a:r>
              <a:rPr lang="zh-CN" altLang="en-US" b="1" dirty="0">
                <a:solidFill>
                  <a:srgbClr val="FF0000"/>
                </a:solidFill>
                <a:latin typeface="方正粗黑宋简体" panose="02000000000000000000" pitchFamily="2" charset="-122"/>
                <a:ea typeface="方正粗黑宋简体" panose="02000000000000000000" pitchFamily="2" charset="-122"/>
              </a:rPr>
              <a:t>图像空间法</a:t>
            </a:r>
            <a:r>
              <a:rPr lang="zh-CN" altLang="en-US" b="1" dirty="0">
                <a:solidFill>
                  <a:schemeClr val="tx1"/>
                </a:solidFill>
                <a:latin typeface="楷体_GB2312" pitchFamily="1" charset="-122"/>
                <a:ea typeface="楷体_GB2312" pitchFamily="1" charset="-122"/>
              </a:rPr>
              <a:t>。</a:t>
            </a:r>
            <a:r>
              <a:rPr lang="zh-CN" altLang="en-US" dirty="0">
                <a:solidFill>
                  <a:schemeClr val="tx1"/>
                </a:solidFill>
                <a:latin typeface="楷体_GB2312" pitchFamily="1" charset="-122"/>
                <a:ea typeface="楷体_GB2312" pitchFamily="1" charset="-122"/>
              </a:rPr>
              <a:t>图像空间</a:t>
            </a:r>
            <a:r>
              <a:rPr lang="zh-CN" altLang="en-US" b="1" dirty="0">
                <a:solidFill>
                  <a:srgbClr val="FF0000"/>
                </a:solidFill>
                <a:latin typeface="方正粗黑宋简体" panose="02000000000000000000" pitchFamily="2" charset="-122"/>
                <a:ea typeface="方正粗黑宋简体" panose="02000000000000000000" pitchFamily="2" charset="-122"/>
              </a:rPr>
              <a:t>消隐算法主要在物体投影后的二维图像空间</a:t>
            </a:r>
            <a:r>
              <a:rPr lang="zh-CN" altLang="en-US" dirty="0">
                <a:solidFill>
                  <a:schemeClr val="tx1"/>
                </a:solidFill>
                <a:latin typeface="楷体_GB2312" pitchFamily="1" charset="-122"/>
                <a:ea typeface="楷体_GB2312" pitchFamily="1" charset="-122"/>
              </a:rPr>
              <a:t>中利用</a:t>
            </a:r>
            <a:r>
              <a:rPr lang="zh-CN" altLang="en-US" b="1" dirty="0">
                <a:solidFill>
                  <a:srgbClr val="3333FF"/>
                </a:solidFill>
                <a:latin typeface="方正粗黑宋简体" panose="02000000000000000000" pitchFamily="2" charset="-122"/>
                <a:ea typeface="方正粗黑宋简体" panose="02000000000000000000" pitchFamily="2" charset="-122"/>
              </a:rPr>
              <a:t>帧缓冲信息</a:t>
            </a:r>
            <a:r>
              <a:rPr lang="zh-CN" altLang="en-US" dirty="0">
                <a:solidFill>
                  <a:schemeClr val="tx1"/>
                </a:solidFill>
                <a:latin typeface="楷体_GB2312" pitchFamily="1" charset="-122"/>
                <a:ea typeface="楷体_GB2312" pitchFamily="1" charset="-122"/>
              </a:rPr>
              <a:t>确定哪些表面遮挡了其它表面。图像空间法受限于显示器的分辨率。</a:t>
            </a:r>
          </a:p>
          <a:p>
            <a:pPr algn="l" eaLnBrk="1" hangingPunct="1">
              <a:lnSpc>
                <a:spcPct val="130000"/>
              </a:lnSpc>
            </a:pPr>
            <a:r>
              <a:rPr lang="zh-CN" altLang="en-US" b="1" dirty="0">
                <a:solidFill>
                  <a:schemeClr val="tx1"/>
                </a:solidFill>
                <a:latin typeface="楷体_GB2312" pitchFamily="1" charset="-122"/>
                <a:ea typeface="楷体_GB2312" pitchFamily="1" charset="-122"/>
              </a:rPr>
              <a:t>（</a:t>
            </a:r>
            <a:r>
              <a:rPr lang="fr-FR" altLang="en-US" b="1" dirty="0">
                <a:solidFill>
                  <a:schemeClr val="tx1"/>
                </a:solidFill>
                <a:latin typeface="楷体_GB2312" pitchFamily="1" charset="-122"/>
                <a:ea typeface="楷体_GB2312" pitchFamily="1" charset="-122"/>
              </a:rPr>
              <a:t>3</a:t>
            </a:r>
            <a:r>
              <a:rPr lang="zh-CN" altLang="en-US" b="1" dirty="0">
                <a:solidFill>
                  <a:schemeClr val="tx1"/>
                </a:solidFill>
                <a:latin typeface="楷体_GB2312" pitchFamily="1" charset="-122"/>
                <a:ea typeface="楷体_GB2312" pitchFamily="1" charset="-122"/>
              </a:rPr>
              <a:t>）</a:t>
            </a:r>
            <a:r>
              <a:rPr lang="zh-CN" altLang="en-US" b="1" dirty="0">
                <a:solidFill>
                  <a:srgbClr val="FF0000"/>
                </a:solidFill>
                <a:latin typeface="方正粗黑宋简体" panose="02000000000000000000" pitchFamily="2" charset="-122"/>
                <a:ea typeface="方正粗黑宋简体" panose="02000000000000000000" pitchFamily="2" charset="-122"/>
              </a:rPr>
              <a:t>物像空间法</a:t>
            </a:r>
            <a:r>
              <a:rPr lang="zh-CN" altLang="en-US" b="1" dirty="0">
                <a:solidFill>
                  <a:schemeClr val="tx1"/>
                </a:solidFill>
                <a:latin typeface="楷体_GB2312" pitchFamily="1" charset="-122"/>
                <a:ea typeface="楷体_GB2312" pitchFamily="1" charset="-122"/>
              </a:rPr>
              <a:t>。</a:t>
            </a:r>
            <a:r>
              <a:rPr lang="zh-CN" altLang="en-US" dirty="0">
                <a:solidFill>
                  <a:schemeClr val="tx1"/>
                </a:solidFill>
                <a:latin typeface="楷体_GB2312" pitchFamily="1" charset="-122"/>
                <a:ea typeface="楷体_GB2312" pitchFamily="1" charset="-122"/>
              </a:rPr>
              <a:t>在描述物体的</a:t>
            </a:r>
            <a:r>
              <a:rPr lang="zh-CN" altLang="en-US" b="1" dirty="0">
                <a:solidFill>
                  <a:srgbClr val="3333FF"/>
                </a:solidFill>
                <a:latin typeface="方正粗黑宋简体" panose="02000000000000000000" pitchFamily="2" charset="-122"/>
                <a:ea typeface="方正粗黑宋简体" panose="02000000000000000000" pitchFamily="2" charset="-122"/>
              </a:rPr>
              <a:t>三维观察空间</a:t>
            </a:r>
            <a:r>
              <a:rPr lang="zh-CN" altLang="en-US" dirty="0">
                <a:solidFill>
                  <a:schemeClr val="tx1"/>
                </a:solidFill>
                <a:latin typeface="楷体_GB2312" pitchFamily="1" charset="-122"/>
                <a:ea typeface="楷体_GB2312" pitchFamily="1" charset="-122"/>
              </a:rPr>
              <a:t>和</a:t>
            </a:r>
            <a:r>
              <a:rPr lang="zh-CN" altLang="en-US" b="1" dirty="0">
                <a:solidFill>
                  <a:srgbClr val="3333FF"/>
                </a:solidFill>
                <a:latin typeface="方正粗黑宋简体" panose="02000000000000000000" pitchFamily="2" charset="-122"/>
                <a:ea typeface="方正粗黑宋简体" panose="02000000000000000000" pitchFamily="2" charset="-122"/>
              </a:rPr>
              <a:t>二维图像空间</a:t>
            </a:r>
            <a:r>
              <a:rPr lang="zh-CN" altLang="en-US" dirty="0">
                <a:solidFill>
                  <a:schemeClr val="tx1"/>
                </a:solidFill>
                <a:latin typeface="楷体_GB2312" pitchFamily="1" charset="-122"/>
                <a:ea typeface="楷体_GB2312" pitchFamily="1" charset="-122"/>
              </a:rPr>
              <a:t>中</a:t>
            </a:r>
            <a:r>
              <a:rPr lang="zh-CN" altLang="en-US" b="1" dirty="0">
                <a:solidFill>
                  <a:srgbClr val="FF0000"/>
                </a:solidFill>
                <a:latin typeface="方正粗黑宋简体" panose="02000000000000000000" pitchFamily="2" charset="-122"/>
                <a:ea typeface="方正粗黑宋简体" panose="02000000000000000000" pitchFamily="2" charset="-122"/>
              </a:rPr>
              <a:t>同时进行消隐</a:t>
            </a:r>
            <a:r>
              <a:rPr lang="zh-CN" altLang="en-US" dirty="0">
                <a:solidFill>
                  <a:schemeClr val="tx1"/>
                </a:solidFill>
                <a:latin typeface="楷体_GB2312" pitchFamily="1" charset="-122"/>
                <a:ea typeface="楷体_GB2312" pitchFamily="1" charset="-122"/>
              </a:rPr>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6D028617-4105-4BFC-9D36-064932D3959E}" type="slidenum">
              <a:rPr lang="en-US" altLang="zh-CN" sz="1200">
                <a:solidFill>
                  <a:schemeClr val="tx1"/>
                </a:solidFill>
                <a:latin typeface="Garamond" pitchFamily="18" charset="0"/>
              </a:rPr>
              <a:pPr algn="r" eaLnBrk="1" hangingPunct="1">
                <a:spcBef>
                  <a:spcPct val="0"/>
                </a:spcBef>
              </a:pPr>
              <a:t>74</a:t>
            </a:fld>
            <a:endParaRPr lang="en-US" altLang="zh-CN" sz="1200">
              <a:solidFill>
                <a:schemeClr val="tx1"/>
              </a:solidFill>
              <a:latin typeface="Garamond" pitchFamily="18" charset="0"/>
            </a:endParaRPr>
          </a:p>
        </p:txBody>
      </p:sp>
      <p:sp>
        <p:nvSpPr>
          <p:cNvPr id="77827" name="Rectangle 4"/>
          <p:cNvSpPr>
            <a:spLocks noChangeArrowheads="1"/>
          </p:cNvSpPr>
          <p:nvPr/>
        </p:nvSpPr>
        <p:spPr bwMode="auto">
          <a:xfrm>
            <a:off x="522288" y="188913"/>
            <a:ext cx="2940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3600" b="1" dirty="0">
                <a:solidFill>
                  <a:schemeClr val="tx1"/>
                </a:solidFill>
                <a:latin typeface="楷体_GB2312" pitchFamily="1" charset="-122"/>
                <a:ea typeface="楷体_GB2312" pitchFamily="1" charset="-122"/>
              </a:rPr>
              <a:t>9.3 </a:t>
            </a:r>
            <a:r>
              <a:rPr lang="zh-CN" altLang="en-US" sz="3600" b="1" dirty="0">
                <a:solidFill>
                  <a:schemeClr val="tx1"/>
                </a:solidFill>
                <a:latin typeface="楷体_GB2312" pitchFamily="1" charset="-122"/>
                <a:ea typeface="楷体_GB2312" pitchFamily="1" charset="-122"/>
              </a:rPr>
              <a:t>隐线算法</a:t>
            </a:r>
          </a:p>
        </p:txBody>
      </p:sp>
      <p:sp>
        <p:nvSpPr>
          <p:cNvPr id="77828" name="Rectangle 5"/>
          <p:cNvSpPr>
            <a:spLocks noChangeArrowheads="1"/>
          </p:cNvSpPr>
          <p:nvPr/>
        </p:nvSpPr>
        <p:spPr bwMode="auto">
          <a:xfrm>
            <a:off x="522288" y="968375"/>
            <a:ext cx="46259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3200" b="1">
                <a:solidFill>
                  <a:schemeClr val="tx1"/>
                </a:solidFill>
                <a:latin typeface="楷体_GB2312" pitchFamily="1" charset="-122"/>
                <a:ea typeface="楷体_GB2312" pitchFamily="1" charset="-122"/>
              </a:rPr>
              <a:t>9.3.1</a:t>
            </a:r>
            <a:r>
              <a:rPr lang="zh-CN" altLang="en-US" sz="3200" b="1">
                <a:solidFill>
                  <a:schemeClr val="tx1"/>
                </a:solidFill>
                <a:latin typeface="楷体_GB2312" pitchFamily="1" charset="-122"/>
                <a:ea typeface="楷体_GB2312" pitchFamily="1" charset="-122"/>
              </a:rPr>
              <a:t>凸多面体消隐算法</a:t>
            </a:r>
            <a:r>
              <a:rPr lang="zh-CN" altLang="en-US" b="1">
                <a:solidFill>
                  <a:schemeClr val="tx1"/>
                </a:solidFill>
                <a:latin typeface="楷体_GB2312" pitchFamily="1" charset="-122"/>
                <a:ea typeface="楷体_GB2312" pitchFamily="1" charset="-122"/>
              </a:rPr>
              <a:t> </a:t>
            </a:r>
          </a:p>
        </p:txBody>
      </p:sp>
      <p:sp>
        <p:nvSpPr>
          <p:cNvPr id="77829" name="Rectangle 8"/>
          <p:cNvSpPr>
            <a:spLocks noChangeArrowheads="1"/>
          </p:cNvSpPr>
          <p:nvPr/>
        </p:nvSpPr>
        <p:spPr bwMode="auto">
          <a:xfrm>
            <a:off x="296863" y="1628775"/>
            <a:ext cx="8847137"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sz="2000" dirty="0">
                <a:solidFill>
                  <a:schemeClr val="tx1"/>
                </a:solidFill>
                <a:latin typeface="楷体_GB2312" pitchFamily="1" charset="-122"/>
                <a:ea typeface="楷体_GB2312" pitchFamily="1" charset="-122"/>
              </a:rPr>
              <a:t>对于凸多面体的任一个面，</a:t>
            </a:r>
            <a:r>
              <a:rPr lang="zh-CN" altLang="en-US" sz="2000" b="1" dirty="0">
                <a:solidFill>
                  <a:srgbClr val="FF0000"/>
                </a:solidFill>
                <a:latin typeface="方正粗黑宋简体" panose="02000000000000000000" pitchFamily="2" charset="-122"/>
                <a:ea typeface="方正粗黑宋简体" panose="02000000000000000000" pitchFamily="2" charset="-122"/>
              </a:rPr>
              <a:t>根据</a:t>
            </a:r>
            <a:r>
              <a:rPr lang="zh-CN" altLang="en-US" b="1" dirty="0">
                <a:solidFill>
                  <a:srgbClr val="3333FF"/>
                </a:solidFill>
                <a:latin typeface="方正粗黑宋简体" panose="02000000000000000000" pitchFamily="2" charset="-122"/>
                <a:ea typeface="方正粗黑宋简体" panose="02000000000000000000" pitchFamily="2" charset="-122"/>
              </a:rPr>
              <a:t>其外法矢量</a:t>
            </a:r>
            <a:r>
              <a:rPr lang="zh-CN" altLang="en-US" sz="2000" b="1" dirty="0">
                <a:solidFill>
                  <a:srgbClr val="FF0000"/>
                </a:solidFill>
                <a:latin typeface="方正粗黑宋简体" panose="02000000000000000000" pitchFamily="2" charset="-122"/>
                <a:ea typeface="方正粗黑宋简体" panose="02000000000000000000" pitchFamily="2" charset="-122"/>
              </a:rPr>
              <a:t>和</a:t>
            </a:r>
            <a:r>
              <a:rPr lang="zh-CN" altLang="en-US" b="1" dirty="0">
                <a:solidFill>
                  <a:srgbClr val="3333FF"/>
                </a:solidFill>
                <a:latin typeface="方正粗黑宋简体" panose="02000000000000000000" pitchFamily="2" charset="-122"/>
                <a:ea typeface="方正粗黑宋简体" panose="02000000000000000000" pitchFamily="2" charset="-122"/>
              </a:rPr>
              <a:t>视矢量</a:t>
            </a:r>
            <a:r>
              <a:rPr lang="zh-CN" altLang="en-US" sz="2000" b="1" dirty="0">
                <a:solidFill>
                  <a:srgbClr val="FF0000"/>
                </a:solidFill>
                <a:latin typeface="方正粗黑宋简体" panose="02000000000000000000" pitchFamily="2" charset="-122"/>
                <a:ea typeface="方正粗黑宋简体" panose="02000000000000000000" pitchFamily="2" charset="-122"/>
              </a:rPr>
              <a:t>的夹角</a:t>
            </a:r>
            <a:r>
              <a:rPr lang="en-US" altLang="zh-CN" sz="2000" b="1" dirty="0">
                <a:solidFill>
                  <a:srgbClr val="FF0000"/>
                </a:solidFill>
                <a:latin typeface="方正粗黑宋简体" panose="02000000000000000000" pitchFamily="2" charset="-122"/>
                <a:ea typeface="方正粗黑宋简体" panose="02000000000000000000" pitchFamily="2" charset="-122"/>
              </a:rPr>
              <a:t>θ</a:t>
            </a:r>
            <a:r>
              <a:rPr lang="zh-CN" altLang="en-US" sz="2000" b="1" dirty="0">
                <a:solidFill>
                  <a:srgbClr val="FF0000"/>
                </a:solidFill>
                <a:latin typeface="方正粗黑宋简体" panose="02000000000000000000" pitchFamily="2" charset="-122"/>
                <a:ea typeface="方正粗黑宋简体" panose="02000000000000000000" pitchFamily="2" charset="-122"/>
              </a:rPr>
              <a:t>来进行可见性检测</a:t>
            </a:r>
            <a:r>
              <a:rPr lang="zh-CN" altLang="en-US" sz="2000" dirty="0" smtClean="0">
                <a:solidFill>
                  <a:schemeClr val="tx1"/>
                </a:solidFill>
                <a:latin typeface="楷体_GB2312" pitchFamily="1" charset="-122"/>
                <a:ea typeface="楷体_GB2312" pitchFamily="1" charset="-122"/>
              </a:rPr>
              <a:t>。</a:t>
            </a:r>
            <a:endParaRPr lang="en-US" altLang="zh-CN" sz="2000" b="1" dirty="0">
              <a:solidFill>
                <a:srgbClr val="FF0000"/>
              </a:solidFill>
              <a:latin typeface="方正粗黑宋简体" panose="02000000000000000000" pitchFamily="2" charset="-122"/>
              <a:ea typeface="方正粗黑宋简体" panose="02000000000000000000" pitchFamily="2" charset="-122"/>
            </a:endParaRPr>
          </a:p>
          <a:p>
            <a:pPr marL="342900" indent="-342900" algn="l" eaLnBrk="1" hangingPunct="1">
              <a:buFont typeface="Wingdings" panose="05000000000000000000" pitchFamily="2" charset="2"/>
              <a:buChar char="n"/>
            </a:pPr>
            <a:r>
              <a:rPr lang="zh-CN" altLang="en-US" sz="2000" dirty="0" smtClean="0">
                <a:solidFill>
                  <a:schemeClr val="tx1"/>
                </a:solidFill>
                <a:latin typeface="楷体_GB2312" pitchFamily="1" charset="-122"/>
                <a:ea typeface="楷体_GB2312" pitchFamily="1" charset="-122"/>
              </a:rPr>
              <a:t>如果</a:t>
            </a:r>
            <a:r>
              <a:rPr lang="zh-CN" altLang="en-US" sz="2000" dirty="0">
                <a:solidFill>
                  <a:schemeClr val="tx1"/>
                </a:solidFill>
                <a:latin typeface="楷体_GB2312" pitchFamily="1" charset="-122"/>
                <a:ea typeface="楷体_GB2312" pitchFamily="1" charset="-122"/>
              </a:rPr>
              <a:t>两个矢量的</a:t>
            </a:r>
            <a:r>
              <a:rPr lang="zh-CN" altLang="en-US" b="1" dirty="0">
                <a:solidFill>
                  <a:srgbClr val="3333FF"/>
                </a:solidFill>
                <a:latin typeface="方正粗黑宋简体" panose="02000000000000000000" pitchFamily="2" charset="-122"/>
                <a:ea typeface="方正粗黑宋简体" panose="02000000000000000000" pitchFamily="2" charset="-122"/>
              </a:rPr>
              <a:t>夹角</a:t>
            </a:r>
            <a:r>
              <a:rPr lang="zh-CN" altLang="en-US" sz="2000" dirty="0" smtClean="0">
                <a:solidFill>
                  <a:schemeClr val="tx1"/>
                </a:solidFill>
                <a:latin typeface="楷体_GB2312" pitchFamily="1" charset="-122"/>
                <a:ea typeface="楷体_GB2312" pitchFamily="1" charset="-122"/>
              </a:rPr>
              <a:t> </a:t>
            </a:r>
            <a:r>
              <a:rPr lang="en-US" altLang="zh-CN" sz="2000" dirty="0" smtClean="0">
                <a:solidFill>
                  <a:schemeClr val="tx1"/>
                </a:solidFill>
                <a:latin typeface="楷体_GB2312" pitchFamily="1" charset="-122"/>
                <a:ea typeface="楷体_GB2312" pitchFamily="1" charset="-122"/>
              </a:rPr>
              <a:t>0</a:t>
            </a:r>
            <a:r>
              <a:rPr lang="en-US" altLang="zh-CN" sz="2000" dirty="0">
                <a:solidFill>
                  <a:schemeClr val="tx1"/>
                </a:solidFill>
                <a:latin typeface="楷体_GB2312" pitchFamily="1" charset="-122"/>
                <a:ea typeface="楷体_GB2312" pitchFamily="1" charset="-122"/>
              </a:rPr>
              <a:t>°≤θ≤90°</a:t>
            </a:r>
            <a:r>
              <a:rPr lang="zh-CN" altLang="en-US" sz="2000" dirty="0">
                <a:solidFill>
                  <a:schemeClr val="tx1"/>
                </a:solidFill>
                <a:latin typeface="楷体_GB2312" pitchFamily="1" charset="-122"/>
                <a:ea typeface="楷体_GB2312" pitchFamily="1" charset="-122"/>
              </a:rPr>
              <a:t>时，表示该表面</a:t>
            </a:r>
            <a:r>
              <a:rPr lang="zh-CN" altLang="en-US" sz="2000" b="1" dirty="0">
                <a:solidFill>
                  <a:srgbClr val="FF0000"/>
                </a:solidFill>
                <a:latin typeface="方正粗黑宋简体" panose="02000000000000000000" pitchFamily="2" charset="-122"/>
                <a:ea typeface="方正粗黑宋简体" panose="02000000000000000000" pitchFamily="2" charset="-122"/>
              </a:rPr>
              <a:t>可见</a:t>
            </a:r>
            <a:r>
              <a:rPr lang="zh-CN" altLang="en-US" sz="2000" dirty="0" smtClean="0">
                <a:solidFill>
                  <a:schemeClr val="tx1"/>
                </a:solidFill>
                <a:latin typeface="楷体_GB2312" pitchFamily="1" charset="-122"/>
                <a:ea typeface="楷体_GB2312" pitchFamily="1" charset="-122"/>
              </a:rPr>
              <a:t>；</a:t>
            </a:r>
            <a:endParaRPr lang="en-US" altLang="zh-CN" sz="2000" dirty="0" smtClean="0">
              <a:solidFill>
                <a:schemeClr val="tx1"/>
              </a:solidFill>
              <a:latin typeface="楷体_GB2312" pitchFamily="1" charset="-122"/>
              <a:ea typeface="楷体_GB2312" pitchFamily="1" charset="-122"/>
            </a:endParaRPr>
          </a:p>
          <a:p>
            <a:pPr marL="342900" indent="-342900" algn="l" eaLnBrk="1" hangingPunct="1">
              <a:buFont typeface="Wingdings" panose="05000000000000000000" pitchFamily="2" charset="2"/>
              <a:buChar char="n"/>
            </a:pPr>
            <a:r>
              <a:rPr lang="zh-CN" altLang="en-US" sz="2000" dirty="0" smtClean="0">
                <a:solidFill>
                  <a:schemeClr val="tx1"/>
                </a:solidFill>
                <a:latin typeface="楷体_GB2312" pitchFamily="1" charset="-122"/>
                <a:ea typeface="楷体_GB2312" pitchFamily="1" charset="-122"/>
              </a:rPr>
              <a:t>如果</a:t>
            </a:r>
            <a:r>
              <a:rPr lang="en-US" altLang="zh-CN" sz="2000" dirty="0">
                <a:solidFill>
                  <a:schemeClr val="tx1"/>
                </a:solidFill>
                <a:latin typeface="楷体_GB2312" pitchFamily="1" charset="-122"/>
                <a:ea typeface="楷体_GB2312" pitchFamily="1" charset="-122"/>
              </a:rPr>
              <a:t>90°</a:t>
            </a:r>
            <a:r>
              <a:rPr lang="zh-CN" altLang="en-US" sz="2000" dirty="0">
                <a:solidFill>
                  <a:schemeClr val="tx1"/>
                </a:solidFill>
                <a:latin typeface="楷体_GB2312" pitchFamily="1" charset="-122"/>
                <a:ea typeface="楷体_GB2312" pitchFamily="1" charset="-122"/>
              </a:rPr>
              <a:t>＜</a:t>
            </a:r>
            <a:r>
              <a:rPr lang="en-US" altLang="zh-CN" sz="2000" dirty="0">
                <a:solidFill>
                  <a:schemeClr val="tx1"/>
                </a:solidFill>
                <a:latin typeface="楷体_GB2312" pitchFamily="1" charset="-122"/>
                <a:ea typeface="楷体_GB2312" pitchFamily="1" charset="-122"/>
              </a:rPr>
              <a:t>θ≤180°</a:t>
            </a:r>
            <a:r>
              <a:rPr lang="zh-CN" altLang="en-US" sz="2000" dirty="0">
                <a:solidFill>
                  <a:schemeClr val="tx1"/>
                </a:solidFill>
                <a:latin typeface="楷体_GB2312" pitchFamily="1" charset="-122"/>
                <a:ea typeface="楷体_GB2312" pitchFamily="1" charset="-122"/>
              </a:rPr>
              <a:t>时，表示该表面</a:t>
            </a:r>
            <a:r>
              <a:rPr lang="zh-CN" altLang="en-US" sz="2000" b="1" dirty="0">
                <a:solidFill>
                  <a:srgbClr val="FF0000"/>
                </a:solidFill>
                <a:latin typeface="方正粗黑宋简体" panose="02000000000000000000" pitchFamily="2" charset="-122"/>
                <a:ea typeface="方正粗黑宋简体" panose="02000000000000000000" pitchFamily="2" charset="-122"/>
              </a:rPr>
              <a:t>不可见</a:t>
            </a:r>
            <a:r>
              <a:rPr lang="zh-CN" altLang="en-US" sz="2000" dirty="0">
                <a:solidFill>
                  <a:schemeClr val="tx1"/>
                </a:solidFill>
                <a:latin typeface="楷体_GB2312" pitchFamily="1" charset="-122"/>
                <a:ea typeface="楷体_GB2312" pitchFamily="1" charset="-122"/>
              </a:rPr>
              <a:t>。</a:t>
            </a:r>
            <a:endParaRPr lang="zh-CN" altLang="en-US" sz="2000" b="1" dirty="0">
              <a:solidFill>
                <a:schemeClr val="tx1"/>
              </a:solidFill>
              <a:latin typeface="楷体_GB2312" pitchFamily="1" charset="-122"/>
              <a:ea typeface="楷体_GB2312" pitchFamily="1" charset="-122"/>
            </a:endParaRPr>
          </a:p>
        </p:txBody>
      </p:sp>
      <p:sp>
        <p:nvSpPr>
          <p:cNvPr id="77831" name="Text Box 11"/>
          <p:cNvSpPr txBox="1">
            <a:spLocks noChangeArrowheads="1"/>
          </p:cNvSpPr>
          <p:nvPr/>
        </p:nvSpPr>
        <p:spPr bwMode="auto">
          <a:xfrm>
            <a:off x="206375" y="5903913"/>
            <a:ext cx="3402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9-53 </a:t>
            </a:r>
            <a:r>
              <a:rPr lang="zh-CN" altLang="en-US" sz="2000">
                <a:solidFill>
                  <a:schemeClr val="tx1"/>
                </a:solidFill>
                <a:latin typeface="楷体_GB2312" pitchFamily="1" charset="-122"/>
                <a:ea typeface="楷体_GB2312" pitchFamily="1" charset="-122"/>
              </a:rPr>
              <a:t>凸多面体消隐原理</a:t>
            </a:r>
          </a:p>
        </p:txBody>
      </p:sp>
      <p:sp>
        <p:nvSpPr>
          <p:cNvPr id="77832" name="Text Box 12"/>
          <p:cNvSpPr txBox="1">
            <a:spLocks noChangeArrowheads="1"/>
          </p:cNvSpPr>
          <p:nvPr/>
        </p:nvSpPr>
        <p:spPr bwMode="auto">
          <a:xfrm>
            <a:off x="476250" y="3968750"/>
            <a:ext cx="30607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dirty="0">
                <a:solidFill>
                  <a:schemeClr val="tx1"/>
                </a:solidFill>
                <a:latin typeface="楷体_GB2312" pitchFamily="1" charset="-122"/>
                <a:ea typeface="楷体_GB2312" pitchFamily="1" charset="-122"/>
              </a:rPr>
              <a:t>以图</a:t>
            </a:r>
            <a:r>
              <a:rPr lang="fr-FR" altLang="en-US" dirty="0">
                <a:solidFill>
                  <a:schemeClr val="tx1"/>
                </a:solidFill>
                <a:latin typeface="楷体_GB2312" pitchFamily="1" charset="-122"/>
                <a:ea typeface="楷体_GB2312" pitchFamily="1" charset="-122"/>
              </a:rPr>
              <a:t>9-53</a:t>
            </a:r>
            <a:r>
              <a:rPr lang="zh-CN" altLang="en-US" dirty="0">
                <a:solidFill>
                  <a:schemeClr val="tx1"/>
                </a:solidFill>
                <a:latin typeface="楷体_GB2312" pitchFamily="1" charset="-122"/>
                <a:ea typeface="楷体_GB2312" pitchFamily="1" charset="-122"/>
              </a:rPr>
              <a:t>所示的立方体为例来进行具体说明。</a:t>
            </a:r>
          </a:p>
        </p:txBody>
      </p:sp>
      <p:graphicFrame>
        <p:nvGraphicFramePr>
          <p:cNvPr id="77834" name="Object 13"/>
          <p:cNvGraphicFramePr>
            <a:graphicFrameLocks noChangeAspect="1"/>
          </p:cNvGraphicFramePr>
          <p:nvPr>
            <p:extLst>
              <p:ext uri="{D42A27DB-BD31-4B8C-83A1-F6EECF244321}">
                <p14:modId xmlns:p14="http://schemas.microsoft.com/office/powerpoint/2010/main" val="704175995"/>
              </p:ext>
            </p:extLst>
          </p:nvPr>
        </p:nvGraphicFramePr>
        <p:xfrm>
          <a:off x="4355976" y="3356992"/>
          <a:ext cx="4905375" cy="3446462"/>
        </p:xfrm>
        <a:graphic>
          <a:graphicData uri="http://schemas.openxmlformats.org/presentationml/2006/ole">
            <mc:AlternateContent xmlns:mc="http://schemas.openxmlformats.org/markup-compatibility/2006">
              <mc:Choice xmlns:v="urn:schemas-microsoft-com:vml" Requires="v">
                <p:oleObj spid="_x0000_s77862" r:id="rId3" imgW="5734830" imgH="4042867" progId="Visio.Drawing.11">
                  <p:embed/>
                </p:oleObj>
              </mc:Choice>
              <mc:Fallback>
                <p:oleObj r:id="rId3" imgW="5734830" imgH="4042867" progId="Visio.Drawing.11">
                  <p:embed/>
                  <p:pic>
                    <p:nvPicPr>
                      <p:cNvPr id="0"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5976" y="3356992"/>
                        <a:ext cx="4905375" cy="3446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ED1E1931-6ED3-40AC-A473-66ABC318884C}" type="slidenum">
              <a:rPr lang="en-US" altLang="zh-CN" sz="1200">
                <a:solidFill>
                  <a:schemeClr val="tx1"/>
                </a:solidFill>
                <a:latin typeface="Garamond" pitchFamily="18" charset="0"/>
              </a:rPr>
              <a:pPr algn="r" eaLnBrk="1" hangingPunct="1">
                <a:spcBef>
                  <a:spcPct val="0"/>
                </a:spcBef>
              </a:pPr>
              <a:t>75</a:t>
            </a:fld>
            <a:endParaRPr lang="en-US" altLang="zh-CN" sz="1200">
              <a:solidFill>
                <a:schemeClr val="tx1"/>
              </a:solidFill>
              <a:latin typeface="Garamond" pitchFamily="18" charset="0"/>
            </a:endParaRPr>
          </a:p>
        </p:txBody>
      </p:sp>
      <p:sp>
        <p:nvSpPr>
          <p:cNvPr id="78851" name="Text Box 4"/>
          <p:cNvSpPr txBox="1">
            <a:spLocks noChangeArrowheads="1"/>
          </p:cNvSpPr>
          <p:nvPr/>
        </p:nvSpPr>
        <p:spPr bwMode="auto">
          <a:xfrm>
            <a:off x="385763" y="188913"/>
            <a:ext cx="8461375"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20000"/>
              </a:lnSpc>
            </a:pPr>
            <a:r>
              <a:rPr lang="zh-CN" altLang="en-US" dirty="0">
                <a:solidFill>
                  <a:schemeClr val="tx1"/>
                </a:solidFill>
                <a:latin typeface="楷体_GB2312" pitchFamily="1" charset="-122"/>
                <a:ea typeface="楷体_GB2312" pitchFamily="1" charset="-122"/>
              </a:rPr>
              <a:t>通过各个表面的三维顶点坐标</a:t>
            </a:r>
            <a:r>
              <a:rPr lang="zh-CN" altLang="en-US" dirty="0" smtClean="0">
                <a:solidFill>
                  <a:schemeClr val="tx1"/>
                </a:solidFill>
                <a:latin typeface="楷体_GB2312" pitchFamily="1" charset="-122"/>
                <a:ea typeface="楷体_GB2312" pitchFamily="1" charset="-122"/>
              </a:rPr>
              <a:t>，计算</a:t>
            </a:r>
            <a:r>
              <a:rPr lang="zh-CN" altLang="en-US" dirty="0">
                <a:solidFill>
                  <a:schemeClr val="tx1"/>
                </a:solidFill>
                <a:latin typeface="楷体_GB2312" pitchFamily="1" charset="-122"/>
                <a:ea typeface="楷体_GB2312" pitchFamily="1" charset="-122"/>
              </a:rPr>
              <a:t>该表面的外法矢量。对于</a:t>
            </a:r>
            <a:r>
              <a:rPr lang="zh-CN" altLang="en-US" dirty="0">
                <a:solidFill>
                  <a:schemeClr val="tx1"/>
                </a:solidFill>
                <a:ea typeface="楷体_GB2312" pitchFamily="1" charset="-122"/>
              </a:rPr>
              <a:t>“</a:t>
            </a:r>
            <a:r>
              <a:rPr lang="zh-CN" altLang="en-US" dirty="0">
                <a:solidFill>
                  <a:schemeClr val="tx1"/>
                </a:solidFill>
                <a:latin typeface="楷体_GB2312" pitchFamily="1" charset="-122"/>
                <a:ea typeface="楷体_GB2312" pitchFamily="1" charset="-122"/>
              </a:rPr>
              <a:t>前面</a:t>
            </a:r>
            <a:r>
              <a:rPr lang="zh-CN" altLang="en-US" dirty="0">
                <a:solidFill>
                  <a:schemeClr val="tx1"/>
                </a:solidFill>
                <a:ea typeface="楷体_GB2312" pitchFamily="1" charset="-122"/>
              </a:rPr>
              <a:t>”</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4</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5</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6</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7</a:t>
            </a:r>
            <a:r>
              <a:rPr lang="zh-CN" altLang="en-US" dirty="0">
                <a:solidFill>
                  <a:schemeClr val="tx1"/>
                </a:solidFill>
                <a:latin typeface="楷体_GB2312" pitchFamily="1" charset="-122"/>
                <a:ea typeface="楷体_GB2312" pitchFamily="1" charset="-122"/>
              </a:rPr>
              <a:t>，取</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4</a:t>
            </a:r>
            <a:r>
              <a:rPr lang="zh-CN" altLang="en-US" dirty="0">
                <a:solidFill>
                  <a:schemeClr val="tx1"/>
                </a:solidFill>
                <a:latin typeface="楷体_GB2312" pitchFamily="1" charset="-122"/>
                <a:ea typeface="楷体_GB2312" pitchFamily="1" charset="-122"/>
              </a:rPr>
              <a:t>点为参考点。</a:t>
            </a:r>
          </a:p>
        </p:txBody>
      </p:sp>
      <p:sp>
        <p:nvSpPr>
          <p:cNvPr id="78852"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graphicFrame>
        <p:nvGraphicFramePr>
          <p:cNvPr id="78854" name="Object 6"/>
          <p:cNvGraphicFramePr>
            <a:graphicFrameLocks noChangeAspect="1"/>
          </p:cNvGraphicFramePr>
          <p:nvPr/>
        </p:nvGraphicFramePr>
        <p:xfrm>
          <a:off x="582613" y="1989138"/>
          <a:ext cx="3568700" cy="592137"/>
        </p:xfrm>
        <a:graphic>
          <a:graphicData uri="http://schemas.openxmlformats.org/presentationml/2006/ole">
            <mc:AlternateContent xmlns:mc="http://schemas.openxmlformats.org/markup-compatibility/2006">
              <mc:Choice xmlns:v="urn:schemas-microsoft-com:vml" Requires="v">
                <p:oleObj spid="_x0000_s79049" r:id="rId3" imgW="1891479" imgH="317362" progId="Equation.3">
                  <p:embed/>
                </p:oleObj>
              </mc:Choice>
              <mc:Fallback>
                <p:oleObj r:id="rId3" imgW="1891479" imgH="317362" progId="Equation.3">
                  <p:embed/>
                  <p:pic>
                    <p:nvPicPr>
                      <p:cNvPr id="0" name="Picture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613" y="1989138"/>
                        <a:ext cx="3568700" cy="592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856" name="Object 8"/>
          <p:cNvGraphicFramePr>
            <a:graphicFrameLocks noChangeAspect="1"/>
          </p:cNvGraphicFramePr>
          <p:nvPr>
            <p:extLst>
              <p:ext uri="{D42A27DB-BD31-4B8C-83A1-F6EECF244321}">
                <p14:modId xmlns:p14="http://schemas.microsoft.com/office/powerpoint/2010/main" val="1262083557"/>
              </p:ext>
            </p:extLst>
          </p:nvPr>
        </p:nvGraphicFramePr>
        <p:xfrm>
          <a:off x="4452144" y="1937266"/>
          <a:ext cx="4075112" cy="671512"/>
        </p:xfrm>
        <a:graphic>
          <a:graphicData uri="http://schemas.openxmlformats.org/presentationml/2006/ole">
            <mc:AlternateContent xmlns:mc="http://schemas.openxmlformats.org/markup-compatibility/2006">
              <mc:Choice xmlns:v="urn:schemas-microsoft-com:vml" Requires="v">
                <p:oleObj spid="_x0000_s79050" r:id="rId5" imgW="1904174" imgH="317362" progId="Equation.3">
                  <p:embed/>
                </p:oleObj>
              </mc:Choice>
              <mc:Fallback>
                <p:oleObj r:id="rId5" imgW="1904174" imgH="317362" progId="Equation.3">
                  <p:embed/>
                  <p:pic>
                    <p:nvPicPr>
                      <p:cNvPr id="0" name="Picture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52144" y="1937266"/>
                        <a:ext cx="4075112" cy="671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857" name="Object 9"/>
          <p:cNvGraphicFramePr>
            <a:graphicFrameLocks noChangeAspect="1"/>
          </p:cNvGraphicFramePr>
          <p:nvPr/>
        </p:nvGraphicFramePr>
        <p:xfrm>
          <a:off x="806450" y="2889250"/>
          <a:ext cx="5683250" cy="506413"/>
        </p:xfrm>
        <a:graphic>
          <a:graphicData uri="http://schemas.openxmlformats.org/presentationml/2006/ole">
            <mc:AlternateContent xmlns:mc="http://schemas.openxmlformats.org/markup-compatibility/2006">
              <mc:Choice xmlns:v="urn:schemas-microsoft-com:vml" Requires="v">
                <p:oleObj spid="_x0000_s79051" r:id="rId7" imgW="2579219" imgH="228699" progId="Equation.3">
                  <p:embed/>
                </p:oleObj>
              </mc:Choice>
              <mc:Fallback>
                <p:oleObj r:id="rId7" imgW="2579219" imgH="228699" progId="Equation.3">
                  <p:embed/>
                  <p:pic>
                    <p:nvPicPr>
                      <p:cNvPr id="0" name="Picture 4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6450" y="2889250"/>
                        <a:ext cx="5683250" cy="506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858" name="Object 10"/>
          <p:cNvGraphicFramePr>
            <a:graphicFrameLocks noChangeAspect="1"/>
          </p:cNvGraphicFramePr>
          <p:nvPr/>
        </p:nvGraphicFramePr>
        <p:xfrm>
          <a:off x="819150" y="3551238"/>
          <a:ext cx="5568950" cy="527050"/>
        </p:xfrm>
        <a:graphic>
          <a:graphicData uri="http://schemas.openxmlformats.org/presentationml/2006/ole">
            <mc:AlternateContent xmlns:mc="http://schemas.openxmlformats.org/markup-compatibility/2006">
              <mc:Choice xmlns:v="urn:schemas-microsoft-com:vml" Requires="v">
                <p:oleObj spid="_x0000_s79052" r:id="rId9" imgW="2540000" imgH="241300" progId="Equation.3">
                  <p:embed/>
                </p:oleObj>
              </mc:Choice>
              <mc:Fallback>
                <p:oleObj r:id="rId9" imgW="2540000" imgH="241300" progId="Equation.3">
                  <p:embed/>
                  <p:pic>
                    <p:nvPicPr>
                      <p:cNvPr id="0" name="Picture 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9150" y="3551238"/>
                        <a:ext cx="5568950"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859" name="Object 11"/>
          <p:cNvGraphicFramePr>
            <a:graphicFrameLocks noChangeAspect="1"/>
          </p:cNvGraphicFramePr>
          <p:nvPr/>
        </p:nvGraphicFramePr>
        <p:xfrm>
          <a:off x="809625" y="4284663"/>
          <a:ext cx="5811838" cy="511175"/>
        </p:xfrm>
        <a:graphic>
          <a:graphicData uri="http://schemas.openxmlformats.org/presentationml/2006/ole">
            <mc:AlternateContent xmlns:mc="http://schemas.openxmlformats.org/markup-compatibility/2006">
              <mc:Choice xmlns:v="urn:schemas-microsoft-com:vml" Requires="v">
                <p:oleObj spid="_x0000_s79053" r:id="rId11" imgW="2591925" imgH="228699" progId="Equation.3">
                  <p:embed/>
                </p:oleObj>
              </mc:Choice>
              <mc:Fallback>
                <p:oleObj r:id="rId11" imgW="2591925" imgH="228699" progId="Equation.3">
                  <p:embed/>
                  <p:pic>
                    <p:nvPicPr>
                      <p:cNvPr id="0" name="Picture 5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9625" y="4284663"/>
                        <a:ext cx="5811838"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860" name="Rectangle 18"/>
          <p:cNvSpPr>
            <a:spLocks noChangeArrowheads="1"/>
          </p:cNvSpPr>
          <p:nvPr/>
        </p:nvSpPr>
        <p:spPr bwMode="auto">
          <a:xfrm>
            <a:off x="589776" y="5182543"/>
            <a:ext cx="37385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dirty="0">
                <a:solidFill>
                  <a:schemeClr val="tx1"/>
                </a:solidFill>
                <a:latin typeface="Times New Roman" pitchFamily="18" charset="0"/>
                <a:ea typeface="楷体_GB2312" pitchFamily="1" charset="-122"/>
              </a:rPr>
              <a:t>前面的</a:t>
            </a:r>
            <a:r>
              <a:rPr lang="zh-CN" altLang="en-US" sz="2000" b="1" dirty="0">
                <a:solidFill>
                  <a:srgbClr val="FF0000"/>
                </a:solidFill>
                <a:latin typeface="方正粗黑宋简体" panose="02000000000000000000" pitchFamily="2" charset="-122"/>
                <a:ea typeface="方正粗黑宋简体" panose="02000000000000000000" pitchFamily="2" charset="-122"/>
              </a:rPr>
              <a:t>外法矢量可以表示为</a:t>
            </a:r>
            <a:r>
              <a:rPr lang="zh-CN" altLang="en-US" dirty="0">
                <a:solidFill>
                  <a:schemeClr val="tx1"/>
                </a:solidFill>
                <a:latin typeface="Times New Roman" pitchFamily="18" charset="0"/>
                <a:ea typeface="楷体_GB2312" pitchFamily="1" charset="-122"/>
              </a:rPr>
              <a:t>：</a:t>
            </a:r>
            <a:endParaRPr lang="zh-CN" altLang="en-US" dirty="0">
              <a:solidFill>
                <a:schemeClr val="tx1"/>
              </a:solidFill>
              <a:ea typeface="楷体_GB2312" pitchFamily="1" charset="-122"/>
            </a:endParaRPr>
          </a:p>
        </p:txBody>
      </p:sp>
      <p:graphicFrame>
        <p:nvGraphicFramePr>
          <p:cNvPr id="78861" name="Object 13"/>
          <p:cNvGraphicFramePr>
            <a:graphicFrameLocks noChangeAspect="1"/>
          </p:cNvGraphicFramePr>
          <p:nvPr>
            <p:extLst>
              <p:ext uri="{D42A27DB-BD31-4B8C-83A1-F6EECF244321}">
                <p14:modId xmlns:p14="http://schemas.microsoft.com/office/powerpoint/2010/main" val="4049135729"/>
              </p:ext>
            </p:extLst>
          </p:nvPr>
        </p:nvGraphicFramePr>
        <p:xfrm>
          <a:off x="4346575" y="5138739"/>
          <a:ext cx="3105745" cy="558946"/>
        </p:xfrm>
        <a:graphic>
          <a:graphicData uri="http://schemas.openxmlformats.org/presentationml/2006/ole">
            <mc:AlternateContent xmlns:mc="http://schemas.openxmlformats.org/markup-compatibility/2006">
              <mc:Choice xmlns:v="urn:schemas-microsoft-com:vml" Requires="v">
                <p:oleObj spid="_x0000_s79054" r:id="rId13" imgW="1320800" imgH="241300" progId="Equation.3">
                  <p:embed/>
                </p:oleObj>
              </mc:Choice>
              <mc:Fallback>
                <p:oleObj r:id="rId13" imgW="1320800" imgH="241300" progId="Equation.3">
                  <p:embed/>
                  <p:pic>
                    <p:nvPicPr>
                      <p:cNvPr id="0" name="Picture 5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46575" y="5138739"/>
                        <a:ext cx="3105745" cy="558946"/>
                      </a:xfrm>
                      <a:prstGeom prst="rect">
                        <a:avLst/>
                      </a:prstGeom>
                      <a:noFill/>
                      <a:extLst/>
                    </p:spPr>
                  </p:pic>
                </p:oleObj>
              </mc:Fallback>
            </mc:AlternateContent>
          </a:graphicData>
        </a:graphic>
      </p:graphicFrame>
      <p:sp>
        <p:nvSpPr>
          <p:cNvPr id="78862" name="Rectangle 19"/>
          <p:cNvSpPr>
            <a:spLocks noChangeArrowheads="1"/>
          </p:cNvSpPr>
          <p:nvPr/>
        </p:nvSpPr>
        <p:spPr bwMode="auto">
          <a:xfrm>
            <a:off x="806450" y="5942013"/>
            <a:ext cx="643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dirty="0">
                <a:solidFill>
                  <a:schemeClr val="tx1"/>
                </a:solidFill>
                <a:latin typeface="楷体_GB2312" pitchFamily="1" charset="-122"/>
                <a:ea typeface="楷体_GB2312" pitchFamily="1" charset="-122"/>
              </a:rPr>
              <a:t>式中， </a:t>
            </a:r>
            <a:r>
              <a:rPr lang="en-US" altLang="zh-CN" dirty="0" err="1">
                <a:solidFill>
                  <a:schemeClr val="tx1"/>
                </a:solidFill>
                <a:latin typeface="楷体_GB2312" pitchFamily="1" charset="-122"/>
                <a:ea typeface="楷体_GB2312" pitchFamily="1" charset="-122"/>
              </a:rPr>
              <a:t>i</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j</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k</a:t>
            </a:r>
            <a:r>
              <a:rPr lang="zh-CN" altLang="en-US" dirty="0">
                <a:solidFill>
                  <a:schemeClr val="tx1"/>
                </a:solidFill>
                <a:latin typeface="楷体_GB2312" pitchFamily="1" charset="-122"/>
                <a:ea typeface="楷体_GB2312" pitchFamily="1" charset="-122"/>
              </a:rPr>
              <a:t>为</a:t>
            </a:r>
            <a:r>
              <a:rPr lang="zh-CN" altLang="en-US" b="1" dirty="0">
                <a:solidFill>
                  <a:srgbClr val="3333FF"/>
                </a:solidFill>
                <a:latin typeface="方正粗黑宋简体" panose="02000000000000000000" pitchFamily="2" charset="-122"/>
                <a:ea typeface="方正粗黑宋简体" panose="02000000000000000000" pitchFamily="2" charset="-122"/>
              </a:rPr>
              <a:t>三维坐标系的标准单位矢量 </a:t>
            </a:r>
          </a:p>
        </p:txBody>
      </p:sp>
      <p:sp>
        <p:nvSpPr>
          <p:cNvPr id="78863" name="Rectangle 20"/>
          <p:cNvSpPr>
            <a:spLocks noChangeArrowheads="1"/>
          </p:cNvSpPr>
          <p:nvPr/>
        </p:nvSpPr>
        <p:spPr bwMode="auto">
          <a:xfrm>
            <a:off x="417918" y="1314450"/>
            <a:ext cx="2345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dirty="0">
                <a:solidFill>
                  <a:schemeClr val="tx1"/>
                </a:solidFill>
                <a:ea typeface="楷体_GB2312" pitchFamily="1" charset="-122"/>
              </a:rPr>
              <a:t>该点的</a:t>
            </a:r>
            <a:r>
              <a:rPr lang="zh-CN" altLang="en-US" b="1" dirty="0">
                <a:solidFill>
                  <a:srgbClr val="3333FF"/>
                </a:solidFill>
                <a:latin typeface="方正粗黑宋简体" panose="02000000000000000000" pitchFamily="2" charset="-122"/>
                <a:ea typeface="方正粗黑宋简体" panose="02000000000000000000" pitchFamily="2" charset="-122"/>
              </a:rPr>
              <a:t>外法矢量</a:t>
            </a:r>
          </a:p>
        </p:txBody>
      </p:sp>
      <p:sp>
        <p:nvSpPr>
          <p:cNvPr id="78864" name="Rectangle 21"/>
          <p:cNvSpPr>
            <a:spLocks noChangeArrowheads="1"/>
          </p:cNvSpPr>
          <p:nvPr/>
        </p:nvSpPr>
        <p:spPr bwMode="auto">
          <a:xfrm>
            <a:off x="7642225" y="5138738"/>
            <a:ext cx="1501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rPr>
              <a:t>（</a:t>
            </a:r>
            <a:r>
              <a:rPr lang="en-US" altLang="zh-CN">
                <a:solidFill>
                  <a:schemeClr val="tx1"/>
                </a:solidFill>
              </a:rPr>
              <a:t>9-6</a:t>
            </a:r>
            <a:r>
              <a:rPr lang="zh-CN" altLang="en-US">
                <a:solidFill>
                  <a:schemeClr val="tx1"/>
                </a:solidFill>
              </a:rPr>
              <a:t>）</a:t>
            </a:r>
          </a:p>
        </p:txBody>
      </p:sp>
      <p:graphicFrame>
        <p:nvGraphicFramePr>
          <p:cNvPr id="78866" name="Object 18"/>
          <p:cNvGraphicFramePr>
            <a:graphicFrameLocks noChangeAspect="1"/>
          </p:cNvGraphicFramePr>
          <p:nvPr>
            <p:extLst>
              <p:ext uri="{D42A27DB-BD31-4B8C-83A1-F6EECF244321}">
                <p14:modId xmlns:p14="http://schemas.microsoft.com/office/powerpoint/2010/main" val="3004533909"/>
              </p:ext>
            </p:extLst>
          </p:nvPr>
        </p:nvGraphicFramePr>
        <p:xfrm>
          <a:off x="3186907" y="1145104"/>
          <a:ext cx="1928812" cy="636587"/>
        </p:xfrm>
        <a:graphic>
          <a:graphicData uri="http://schemas.openxmlformats.org/presentationml/2006/ole">
            <mc:AlternateContent xmlns:mc="http://schemas.openxmlformats.org/markup-compatibility/2006">
              <mc:Choice xmlns:v="urn:schemas-microsoft-com:vml" Requires="v">
                <p:oleObj spid="_x0000_s79055" r:id="rId15" imgW="952087" imgH="317362" progId="Equation.3">
                  <p:embed/>
                </p:oleObj>
              </mc:Choice>
              <mc:Fallback>
                <p:oleObj r:id="rId15" imgW="952087" imgH="317362" progId="Equation.3">
                  <p:embed/>
                  <p:pic>
                    <p:nvPicPr>
                      <p:cNvPr id="0" name="Picture 5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86907" y="1145104"/>
                        <a:ext cx="1928812" cy="636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CEE44D5D-1D9E-4D42-A0BC-A5ABB1C46A36}" type="slidenum">
              <a:rPr lang="en-US" altLang="zh-CN" sz="1200">
                <a:solidFill>
                  <a:schemeClr val="tx1"/>
                </a:solidFill>
                <a:latin typeface="Garamond" pitchFamily="18" charset="0"/>
              </a:rPr>
              <a:pPr algn="r" eaLnBrk="1" hangingPunct="1">
                <a:spcBef>
                  <a:spcPct val="0"/>
                </a:spcBef>
              </a:pPr>
              <a:t>76</a:t>
            </a:fld>
            <a:endParaRPr lang="en-US" altLang="zh-CN" sz="1200">
              <a:solidFill>
                <a:schemeClr val="tx1"/>
              </a:solidFill>
              <a:latin typeface="Garamond" pitchFamily="18" charset="0"/>
            </a:endParaRPr>
          </a:p>
        </p:txBody>
      </p:sp>
      <p:sp>
        <p:nvSpPr>
          <p:cNvPr id="79875" name="Rectangle 4"/>
          <p:cNvSpPr>
            <a:spLocks noChangeArrowheads="1"/>
          </p:cNvSpPr>
          <p:nvPr/>
        </p:nvSpPr>
        <p:spPr bwMode="auto">
          <a:xfrm>
            <a:off x="611188" y="444500"/>
            <a:ext cx="531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dirty="0">
                <a:solidFill>
                  <a:schemeClr val="tx1"/>
                </a:solidFill>
                <a:latin typeface="楷体_GB2312" pitchFamily="1" charset="-122"/>
                <a:ea typeface="楷体_GB2312" pitchFamily="1" charset="-122"/>
              </a:rPr>
              <a:t>给定</a:t>
            </a:r>
            <a:r>
              <a:rPr lang="zh-CN" altLang="en-US" b="1" dirty="0">
                <a:solidFill>
                  <a:srgbClr val="3333FF"/>
                </a:solidFill>
                <a:latin typeface="方正粗黑宋简体" panose="02000000000000000000" pitchFamily="2" charset="-122"/>
                <a:ea typeface="方正粗黑宋简体" panose="02000000000000000000" pitchFamily="2" charset="-122"/>
              </a:rPr>
              <a:t>视点位置</a:t>
            </a:r>
            <a:r>
              <a:rPr lang="zh-CN" altLang="en-US" sz="2000" b="1" dirty="0">
                <a:solidFill>
                  <a:srgbClr val="FF0000"/>
                </a:solidFill>
                <a:latin typeface="方正粗黑宋简体" panose="02000000000000000000" pitchFamily="2" charset="-122"/>
                <a:ea typeface="方正粗黑宋简体" panose="02000000000000000000" pitchFamily="2" charset="-122"/>
              </a:rPr>
              <a:t>球面坐标</a:t>
            </a:r>
            <a:r>
              <a:rPr lang="zh-CN" altLang="en-US" dirty="0">
                <a:solidFill>
                  <a:schemeClr val="tx1"/>
                </a:solidFill>
                <a:latin typeface="楷体_GB2312" pitchFamily="1" charset="-122"/>
                <a:ea typeface="楷体_GB2312" pitchFamily="1" charset="-122"/>
              </a:rPr>
              <a:t>表示为： </a:t>
            </a:r>
          </a:p>
        </p:txBody>
      </p:sp>
      <p:graphicFrame>
        <p:nvGraphicFramePr>
          <p:cNvPr id="79876" name="Object 4"/>
          <p:cNvGraphicFramePr>
            <a:graphicFrameLocks noChangeAspect="1"/>
          </p:cNvGraphicFramePr>
          <p:nvPr/>
        </p:nvGraphicFramePr>
        <p:xfrm>
          <a:off x="1150938" y="998538"/>
          <a:ext cx="1755775" cy="461962"/>
        </p:xfrm>
        <a:graphic>
          <a:graphicData uri="http://schemas.openxmlformats.org/presentationml/2006/ole">
            <mc:AlternateContent xmlns:mc="http://schemas.openxmlformats.org/markup-compatibility/2006">
              <mc:Choice xmlns:v="urn:schemas-microsoft-com:vml" Requires="v">
                <p:oleObj spid="_x0000_s80086" r:id="rId3" imgW="762331" imgH="203288" progId="Equation.3">
                  <p:embed/>
                </p:oleObj>
              </mc:Choice>
              <mc:Fallback>
                <p:oleObj r:id="rId3" imgW="762331" imgH="203288" progId="Equation.3">
                  <p:embed/>
                  <p:pic>
                    <p:nvPicPr>
                      <p:cNvPr id="0" name="Picture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0938" y="998538"/>
                        <a:ext cx="1755775"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9877" name="Object 5"/>
          <p:cNvGraphicFramePr>
            <a:graphicFrameLocks noChangeAspect="1"/>
          </p:cNvGraphicFramePr>
          <p:nvPr/>
        </p:nvGraphicFramePr>
        <p:xfrm>
          <a:off x="3402013" y="954088"/>
          <a:ext cx="1123950" cy="461962"/>
        </p:xfrm>
        <a:graphic>
          <a:graphicData uri="http://schemas.openxmlformats.org/presentationml/2006/ole">
            <mc:AlternateContent xmlns:mc="http://schemas.openxmlformats.org/markup-compatibility/2006">
              <mc:Choice xmlns:v="urn:schemas-microsoft-com:vml" Requires="v">
                <p:oleObj spid="_x0000_s80087" r:id="rId5" imgW="482810" imgH="203288" progId="Equation.3">
                  <p:embed/>
                </p:oleObj>
              </mc:Choice>
              <mc:Fallback>
                <p:oleObj r:id="rId5" imgW="482810" imgH="203288" progId="Equation.3">
                  <p:embed/>
                  <p:pic>
                    <p:nvPicPr>
                      <p:cNvPr id="0" name="Picture 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2013" y="954088"/>
                        <a:ext cx="1123950"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9878" name="Object 6"/>
          <p:cNvGraphicFramePr>
            <a:graphicFrameLocks noChangeAspect="1"/>
          </p:cNvGraphicFramePr>
          <p:nvPr/>
        </p:nvGraphicFramePr>
        <p:xfrm>
          <a:off x="4841875" y="954088"/>
          <a:ext cx="1844675" cy="466725"/>
        </p:xfrm>
        <a:graphic>
          <a:graphicData uri="http://schemas.openxmlformats.org/presentationml/2006/ole">
            <mc:AlternateContent xmlns:mc="http://schemas.openxmlformats.org/markup-compatibility/2006">
              <mc:Choice xmlns:v="urn:schemas-microsoft-com:vml" Requires="v">
                <p:oleObj spid="_x0000_s80088" r:id="rId7" imgW="787400" imgH="203200" progId="Equation.3">
                  <p:embed/>
                </p:oleObj>
              </mc:Choice>
              <mc:Fallback>
                <p:oleObj r:id="rId7" imgW="787400" imgH="203200" progId="Equation.3">
                  <p:embed/>
                  <p:pic>
                    <p:nvPicPr>
                      <p:cNvPr id="0" name="Picture 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41875" y="954088"/>
                        <a:ext cx="1844675"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9879" name="Rectangle 8"/>
          <p:cNvSpPr>
            <a:spLocks noChangeArrowheads="1"/>
          </p:cNvSpPr>
          <p:nvPr/>
        </p:nvSpPr>
        <p:spPr bwMode="auto">
          <a:xfrm>
            <a:off x="657225" y="908050"/>
            <a:ext cx="6746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a:solidFill>
                  <a:schemeClr val="tx1"/>
                </a:solidFill>
                <a:latin typeface="Times New Roman" pitchFamily="18" charset="0"/>
                <a:cs typeface="Times New Roman" pitchFamily="18" charset="0"/>
              </a:rPr>
              <a:t>（</a:t>
            </a:r>
            <a:r>
              <a:rPr lang="zh-CN" altLang="en-US" sz="3200">
                <a:solidFill>
                  <a:schemeClr val="tx1"/>
                </a:solidFill>
                <a:latin typeface="Times New Roman" pitchFamily="18" charset="0"/>
                <a:cs typeface="Times New Roman" pitchFamily="18" charset="0"/>
              </a:rPr>
              <a:t>  </a:t>
            </a:r>
            <a:endParaRPr lang="zh-CN" altLang="en-US" sz="3200">
              <a:solidFill>
                <a:schemeClr val="tx1"/>
              </a:solidFill>
            </a:endParaRPr>
          </a:p>
        </p:txBody>
      </p:sp>
      <p:sp>
        <p:nvSpPr>
          <p:cNvPr id="79880" name="Rectangle 12"/>
          <p:cNvSpPr>
            <a:spLocks noChangeArrowheads="1"/>
          </p:cNvSpPr>
          <p:nvPr/>
        </p:nvSpPr>
        <p:spPr bwMode="auto">
          <a:xfrm>
            <a:off x="6686550" y="90805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a:solidFill>
                  <a:schemeClr val="tx1"/>
                </a:solidFill>
              </a:rPr>
              <a:t>）</a:t>
            </a:r>
          </a:p>
        </p:txBody>
      </p:sp>
      <p:sp>
        <p:nvSpPr>
          <p:cNvPr id="79881" name="Text Box 13"/>
          <p:cNvSpPr txBox="1">
            <a:spLocks noChangeArrowheads="1"/>
          </p:cNvSpPr>
          <p:nvPr/>
        </p:nvSpPr>
        <p:spPr bwMode="auto">
          <a:xfrm>
            <a:off x="4527550" y="8636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a:solidFill>
                  <a:schemeClr val="tx1"/>
                </a:solidFill>
              </a:rPr>
              <a:t>,</a:t>
            </a:r>
          </a:p>
        </p:txBody>
      </p:sp>
      <p:sp>
        <p:nvSpPr>
          <p:cNvPr id="79882" name="Text Box 14"/>
          <p:cNvSpPr txBox="1">
            <a:spLocks noChangeArrowheads="1"/>
          </p:cNvSpPr>
          <p:nvPr/>
        </p:nvSpPr>
        <p:spPr bwMode="auto">
          <a:xfrm>
            <a:off x="2906713" y="954088"/>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a:solidFill>
                  <a:schemeClr val="tx1"/>
                </a:solidFill>
              </a:rPr>
              <a:t>,</a:t>
            </a:r>
          </a:p>
        </p:txBody>
      </p:sp>
      <p:sp>
        <p:nvSpPr>
          <p:cNvPr id="79883" name="Text Box 16"/>
          <p:cNvSpPr txBox="1">
            <a:spLocks noChangeArrowheads="1"/>
          </p:cNvSpPr>
          <p:nvPr/>
        </p:nvSpPr>
        <p:spPr bwMode="auto">
          <a:xfrm>
            <a:off x="611188" y="1628775"/>
            <a:ext cx="2655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dirty="0">
                <a:solidFill>
                  <a:schemeClr val="tx1"/>
                </a:solidFill>
                <a:latin typeface="楷体_GB2312" pitchFamily="1" charset="-122"/>
                <a:ea typeface="楷体_GB2312" pitchFamily="1" charset="-122"/>
              </a:rPr>
              <a:t>其中：</a:t>
            </a:r>
            <a:r>
              <a:rPr lang="en-US" altLang="zh-CN" sz="2000" b="1" dirty="0">
                <a:solidFill>
                  <a:srgbClr val="FF0000"/>
                </a:solidFill>
                <a:latin typeface="方正粗黑宋简体" panose="02000000000000000000" pitchFamily="2" charset="-122"/>
                <a:ea typeface="方正粗黑宋简体" panose="02000000000000000000" pitchFamily="2" charset="-122"/>
              </a:rPr>
              <a:t>R</a:t>
            </a:r>
            <a:r>
              <a:rPr lang="zh-CN" altLang="en-US" sz="2000" b="1" dirty="0">
                <a:solidFill>
                  <a:srgbClr val="FF0000"/>
                </a:solidFill>
                <a:latin typeface="方正粗黑宋简体" panose="02000000000000000000" pitchFamily="2" charset="-122"/>
                <a:ea typeface="方正粗黑宋简体" panose="02000000000000000000" pitchFamily="2" charset="-122"/>
              </a:rPr>
              <a:t>为视径</a:t>
            </a:r>
            <a:r>
              <a:rPr lang="zh-CN" altLang="en-US" dirty="0">
                <a:solidFill>
                  <a:schemeClr val="tx1"/>
                </a:solidFill>
                <a:latin typeface="楷体_GB2312" pitchFamily="1" charset="-122"/>
                <a:ea typeface="楷体_GB2312" pitchFamily="1" charset="-122"/>
              </a:rPr>
              <a:t>，</a:t>
            </a:r>
          </a:p>
        </p:txBody>
      </p:sp>
      <p:graphicFrame>
        <p:nvGraphicFramePr>
          <p:cNvPr id="79884" name="Object 12"/>
          <p:cNvGraphicFramePr>
            <a:graphicFrameLocks noChangeAspect="1"/>
          </p:cNvGraphicFramePr>
          <p:nvPr/>
        </p:nvGraphicFramePr>
        <p:xfrm>
          <a:off x="2997200" y="1628775"/>
          <a:ext cx="1619250" cy="508000"/>
        </p:xfrm>
        <a:graphic>
          <a:graphicData uri="http://schemas.openxmlformats.org/presentationml/2006/ole">
            <mc:AlternateContent xmlns:mc="http://schemas.openxmlformats.org/markup-compatibility/2006">
              <mc:Choice xmlns:v="urn:schemas-microsoft-com:vml" Requires="v">
                <p:oleObj spid="_x0000_s80089" r:id="rId9" imgW="635276" imgH="203288" progId="Equation.3">
                  <p:embed/>
                </p:oleObj>
              </mc:Choice>
              <mc:Fallback>
                <p:oleObj r:id="rId9" imgW="635276" imgH="203288" progId="Equation.3">
                  <p:embed/>
                  <p:pic>
                    <p:nvPicPr>
                      <p:cNvPr id="0" name="Picture 5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97200" y="1628775"/>
                        <a:ext cx="161925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9885" name="Object 13"/>
          <p:cNvGraphicFramePr>
            <a:graphicFrameLocks noChangeAspect="1"/>
          </p:cNvGraphicFramePr>
          <p:nvPr/>
        </p:nvGraphicFramePr>
        <p:xfrm>
          <a:off x="5246688" y="1628775"/>
          <a:ext cx="1530350" cy="400050"/>
        </p:xfrm>
        <a:graphic>
          <a:graphicData uri="http://schemas.openxmlformats.org/presentationml/2006/ole">
            <mc:AlternateContent xmlns:mc="http://schemas.openxmlformats.org/markup-compatibility/2006">
              <mc:Choice xmlns:v="urn:schemas-microsoft-com:vml" Requires="v">
                <p:oleObj spid="_x0000_s80090" r:id="rId11" imgW="698803" imgH="177877" progId="Equation.3">
                  <p:embed/>
                </p:oleObj>
              </mc:Choice>
              <mc:Fallback>
                <p:oleObj r:id="rId11" imgW="698803" imgH="177877" progId="Equation.3">
                  <p:embed/>
                  <p:pic>
                    <p:nvPicPr>
                      <p:cNvPr id="0" name="Picture 5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46688" y="1628775"/>
                        <a:ext cx="1530350" cy="40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9887" name="Rectangle 22"/>
          <p:cNvSpPr>
            <a:spLocks noChangeArrowheads="1"/>
          </p:cNvSpPr>
          <p:nvPr/>
        </p:nvSpPr>
        <p:spPr bwMode="auto">
          <a:xfrm>
            <a:off x="4572000" y="1628775"/>
            <a:ext cx="67627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chorCtr="1"/>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800" b="1"/>
              <a:t> </a:t>
            </a:r>
            <a:r>
              <a:rPr lang="zh-CN" altLang="en-US">
                <a:solidFill>
                  <a:schemeClr val="tx1"/>
                </a:solidFill>
              </a:rPr>
              <a:t>，</a:t>
            </a:r>
            <a:r>
              <a:rPr lang="zh-CN" altLang="en-US" sz="2800" b="1"/>
              <a:t> </a:t>
            </a:r>
          </a:p>
        </p:txBody>
      </p:sp>
      <p:sp>
        <p:nvSpPr>
          <p:cNvPr id="79888" name="Rectangle 23"/>
          <p:cNvSpPr>
            <a:spLocks noChangeArrowheads="1"/>
          </p:cNvSpPr>
          <p:nvPr/>
        </p:nvSpPr>
        <p:spPr bwMode="auto">
          <a:xfrm>
            <a:off x="6958013" y="15843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a:solidFill>
                  <a:schemeClr val="tx1"/>
                </a:solidFill>
              </a:rPr>
              <a:t>。</a:t>
            </a:r>
          </a:p>
        </p:txBody>
      </p:sp>
      <p:sp>
        <p:nvSpPr>
          <p:cNvPr id="79889" name="Text Box 24"/>
          <p:cNvSpPr txBox="1">
            <a:spLocks noChangeArrowheads="1"/>
          </p:cNvSpPr>
          <p:nvPr/>
        </p:nvSpPr>
        <p:spPr bwMode="auto">
          <a:xfrm>
            <a:off x="611188" y="2438400"/>
            <a:ext cx="80105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sz="2000" b="1" dirty="0">
                <a:solidFill>
                  <a:srgbClr val="FF0000"/>
                </a:solidFill>
                <a:latin typeface="方正粗黑宋简体" panose="02000000000000000000" pitchFamily="2" charset="-122"/>
                <a:ea typeface="方正粗黑宋简体" panose="02000000000000000000" pitchFamily="2" charset="-122"/>
              </a:rPr>
              <a:t>视矢量从多边形的参考点</a:t>
            </a:r>
            <a:r>
              <a:rPr lang="en-US" altLang="zh-CN" sz="2000" b="1" dirty="0">
                <a:solidFill>
                  <a:srgbClr val="FF0000"/>
                </a:solidFill>
                <a:latin typeface="方正粗黑宋简体" panose="02000000000000000000" pitchFamily="2" charset="-122"/>
                <a:ea typeface="方正粗黑宋简体" panose="02000000000000000000" pitchFamily="2" charset="-122"/>
              </a:rPr>
              <a:t>V4</a:t>
            </a:r>
            <a:r>
              <a:rPr lang="zh-CN" altLang="en-US" sz="2000" b="1" dirty="0">
                <a:solidFill>
                  <a:srgbClr val="FF0000"/>
                </a:solidFill>
                <a:latin typeface="方正粗黑宋简体" panose="02000000000000000000" pitchFamily="2" charset="-122"/>
                <a:ea typeface="方正粗黑宋简体" panose="02000000000000000000" pitchFamily="2" charset="-122"/>
              </a:rPr>
              <a:t>的指向视点</a:t>
            </a:r>
            <a:r>
              <a:rPr lang="zh-CN" altLang="en-US" dirty="0">
                <a:solidFill>
                  <a:schemeClr val="tx1"/>
                </a:solidFill>
                <a:latin typeface="楷体_GB2312" pitchFamily="1" charset="-122"/>
                <a:ea typeface="楷体_GB2312" pitchFamily="1" charset="-122"/>
              </a:rPr>
              <a:t>，</a:t>
            </a:r>
            <a:r>
              <a:rPr lang="zh-CN" altLang="en-US" b="1" dirty="0">
                <a:solidFill>
                  <a:srgbClr val="3333FF"/>
                </a:solidFill>
                <a:latin typeface="方正粗黑宋简体" panose="02000000000000000000" pitchFamily="2" charset="-122"/>
                <a:ea typeface="方正粗黑宋简体" panose="02000000000000000000" pitchFamily="2" charset="-122"/>
              </a:rPr>
              <a:t>视矢量分量</a:t>
            </a:r>
            <a:r>
              <a:rPr lang="zh-CN" altLang="en-US" dirty="0">
                <a:solidFill>
                  <a:schemeClr val="tx1"/>
                </a:solidFill>
                <a:latin typeface="楷体_GB2312" pitchFamily="1" charset="-122"/>
                <a:ea typeface="楷体_GB2312" pitchFamily="1" charset="-122"/>
              </a:rPr>
              <a:t>的计算公式为：</a:t>
            </a:r>
          </a:p>
        </p:txBody>
      </p:sp>
      <p:graphicFrame>
        <p:nvGraphicFramePr>
          <p:cNvPr id="79891" name="Object 19"/>
          <p:cNvGraphicFramePr>
            <a:graphicFrameLocks noChangeAspect="1"/>
          </p:cNvGraphicFramePr>
          <p:nvPr/>
        </p:nvGraphicFramePr>
        <p:xfrm>
          <a:off x="1062038" y="3429000"/>
          <a:ext cx="7200900" cy="539750"/>
        </p:xfrm>
        <a:graphic>
          <a:graphicData uri="http://schemas.openxmlformats.org/presentationml/2006/ole">
            <mc:AlternateContent xmlns:mc="http://schemas.openxmlformats.org/markup-compatibility/2006">
              <mc:Choice xmlns:v="urn:schemas-microsoft-com:vml" Requires="v">
                <p:oleObj spid="_x0000_s80091" r:id="rId13" imgW="3352800" imgH="215900" progId="Equation.3">
                  <p:embed/>
                </p:oleObj>
              </mc:Choice>
              <mc:Fallback>
                <p:oleObj r:id="rId13" imgW="3352800" imgH="215900" progId="Equation.3">
                  <p:embed/>
                  <p:pic>
                    <p:nvPicPr>
                      <p:cNvPr id="0" name="Picture 5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62038" y="3429000"/>
                        <a:ext cx="7200900"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9892" name="Text Box 27"/>
          <p:cNvSpPr txBox="1">
            <a:spLocks noChangeArrowheads="1"/>
          </p:cNvSpPr>
          <p:nvPr/>
        </p:nvSpPr>
        <p:spPr bwMode="auto">
          <a:xfrm>
            <a:off x="657225" y="4238625"/>
            <a:ext cx="256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sz="2000" b="1" dirty="0">
                <a:solidFill>
                  <a:srgbClr val="FF0000"/>
                </a:solidFill>
                <a:latin typeface="方正粗黑宋简体" panose="02000000000000000000" pitchFamily="2" charset="-122"/>
                <a:ea typeface="方正粗黑宋简体" panose="02000000000000000000" pitchFamily="2" charset="-122"/>
              </a:rPr>
              <a:t>视矢量表示</a:t>
            </a:r>
            <a:r>
              <a:rPr lang="zh-CN" altLang="en-US" dirty="0">
                <a:solidFill>
                  <a:schemeClr val="tx1"/>
                </a:solidFill>
                <a:ea typeface="楷体_GB2312" pitchFamily="1" charset="-122"/>
              </a:rPr>
              <a:t>为：</a:t>
            </a:r>
          </a:p>
        </p:txBody>
      </p:sp>
      <p:sp>
        <p:nvSpPr>
          <p:cNvPr id="79893" name="Text Box 28"/>
          <p:cNvSpPr txBox="1">
            <a:spLocks noChangeArrowheads="1"/>
          </p:cNvSpPr>
          <p:nvPr/>
        </p:nvSpPr>
        <p:spPr bwMode="auto">
          <a:xfrm>
            <a:off x="836613" y="5815013"/>
            <a:ext cx="728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dirty="0">
                <a:solidFill>
                  <a:schemeClr val="tx1"/>
                </a:solidFill>
                <a:latin typeface="楷体_GB2312" pitchFamily="1" charset="-122"/>
                <a:ea typeface="楷体_GB2312" pitchFamily="1" charset="-122"/>
              </a:rPr>
              <a:t>式中， </a:t>
            </a:r>
            <a:r>
              <a:rPr lang="en-US" altLang="zh-CN" dirty="0" err="1">
                <a:solidFill>
                  <a:schemeClr val="tx1"/>
                </a:solidFill>
                <a:latin typeface="楷体_GB2312" pitchFamily="1" charset="-122"/>
                <a:ea typeface="楷体_GB2312" pitchFamily="1" charset="-122"/>
              </a:rPr>
              <a:t>i</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j</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k</a:t>
            </a:r>
            <a:r>
              <a:rPr lang="zh-CN" altLang="en-US" dirty="0">
                <a:solidFill>
                  <a:schemeClr val="tx1"/>
                </a:solidFill>
                <a:latin typeface="楷体_GB2312" pitchFamily="1" charset="-122"/>
                <a:ea typeface="楷体_GB2312" pitchFamily="1" charset="-122"/>
              </a:rPr>
              <a:t>为</a:t>
            </a:r>
            <a:r>
              <a:rPr lang="zh-CN" altLang="en-US" b="1" dirty="0">
                <a:solidFill>
                  <a:srgbClr val="3333FF"/>
                </a:solidFill>
                <a:latin typeface="方正粗黑宋简体" panose="02000000000000000000" pitchFamily="2" charset="-122"/>
                <a:ea typeface="方正粗黑宋简体" panose="02000000000000000000" pitchFamily="2" charset="-122"/>
              </a:rPr>
              <a:t>三维坐标系的标准单位矢量</a:t>
            </a:r>
            <a:r>
              <a:rPr lang="zh-CN" altLang="en-US" dirty="0">
                <a:solidFill>
                  <a:schemeClr val="tx1"/>
                </a:solidFill>
                <a:latin typeface="楷体_GB2312" pitchFamily="1" charset="-122"/>
                <a:ea typeface="楷体_GB2312" pitchFamily="1" charset="-122"/>
              </a:rPr>
              <a:t>。</a:t>
            </a:r>
          </a:p>
        </p:txBody>
      </p:sp>
      <p:sp>
        <p:nvSpPr>
          <p:cNvPr id="79894" name="Rectangle 3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graphicFrame>
        <p:nvGraphicFramePr>
          <p:cNvPr id="79895" name="Object 23"/>
          <p:cNvGraphicFramePr>
            <a:graphicFrameLocks noChangeAspect="1"/>
          </p:cNvGraphicFramePr>
          <p:nvPr/>
        </p:nvGraphicFramePr>
        <p:xfrm>
          <a:off x="2816225" y="4824413"/>
          <a:ext cx="3105150" cy="627062"/>
        </p:xfrm>
        <a:graphic>
          <a:graphicData uri="http://schemas.openxmlformats.org/presentationml/2006/ole">
            <mc:AlternateContent xmlns:mc="http://schemas.openxmlformats.org/markup-compatibility/2006">
              <mc:Choice xmlns:v="urn:schemas-microsoft-com:vml" Requires="v">
                <p:oleObj spid="_x0000_s80092" r:id="rId15" imgW="1181100" imgH="241300" progId="Equation.3">
                  <p:embed/>
                </p:oleObj>
              </mc:Choice>
              <mc:Fallback>
                <p:oleObj r:id="rId15" imgW="1181100" imgH="241300" progId="Equation.3">
                  <p:embed/>
                  <p:pic>
                    <p:nvPicPr>
                      <p:cNvPr id="0" name="Picture 5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16225" y="4824413"/>
                        <a:ext cx="3105150" cy="627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9896" name="Rectangle 31"/>
          <p:cNvSpPr>
            <a:spLocks noChangeArrowheads="1"/>
          </p:cNvSpPr>
          <p:nvPr/>
        </p:nvSpPr>
        <p:spPr bwMode="auto">
          <a:xfrm>
            <a:off x="7092950" y="4824413"/>
            <a:ext cx="1235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rPr>
              <a:t>（</a:t>
            </a:r>
            <a:r>
              <a:rPr lang="en-US" altLang="zh-CN">
                <a:solidFill>
                  <a:schemeClr val="tx1"/>
                </a:solidFill>
              </a:rPr>
              <a:t>9-7</a:t>
            </a:r>
            <a:r>
              <a:rPr lang="zh-CN" altLang="en-US">
                <a:solidFill>
                  <a:schemeClr val="tx1"/>
                </a:solidFill>
              </a:rPr>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3E99A6A4-7E11-4A5A-979B-26D56E88A755}" type="slidenum">
              <a:rPr lang="en-US" altLang="zh-CN" sz="1200">
                <a:solidFill>
                  <a:schemeClr val="tx1"/>
                </a:solidFill>
                <a:latin typeface="Garamond" pitchFamily="18" charset="0"/>
              </a:rPr>
              <a:pPr algn="r" eaLnBrk="1" hangingPunct="1">
                <a:spcBef>
                  <a:spcPct val="0"/>
                </a:spcBef>
              </a:pPr>
              <a:t>77</a:t>
            </a:fld>
            <a:endParaRPr lang="en-US" altLang="zh-CN" sz="1200">
              <a:solidFill>
                <a:schemeClr val="tx1"/>
              </a:solidFill>
              <a:latin typeface="Garamond" pitchFamily="18" charset="0"/>
            </a:endParaRPr>
          </a:p>
        </p:txBody>
      </p:sp>
      <p:sp>
        <p:nvSpPr>
          <p:cNvPr id="80899"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graphicFrame>
        <p:nvGraphicFramePr>
          <p:cNvPr id="80900" name="Object 4"/>
          <p:cNvGraphicFramePr>
            <a:graphicFrameLocks noChangeAspect="1"/>
          </p:cNvGraphicFramePr>
          <p:nvPr/>
        </p:nvGraphicFramePr>
        <p:xfrm>
          <a:off x="1781175" y="1042988"/>
          <a:ext cx="3870325" cy="503237"/>
        </p:xfrm>
        <a:graphic>
          <a:graphicData uri="http://schemas.openxmlformats.org/presentationml/2006/ole">
            <mc:AlternateContent xmlns:mc="http://schemas.openxmlformats.org/markup-compatibility/2006">
              <mc:Choice xmlns:v="urn:schemas-microsoft-com:vml" Requires="v">
                <p:oleObj spid="_x0000_s81023" r:id="rId3" imgW="2083704" imgH="241405" progId="Equation.3">
                  <p:embed/>
                </p:oleObj>
              </mc:Choice>
              <mc:Fallback>
                <p:oleObj r:id="rId3" imgW="2083704" imgH="241405" progId="Equation.3">
                  <p:embed/>
                  <p:pic>
                    <p:nvPicPr>
                      <p:cNvPr id="0" name="Picture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1175" y="1042988"/>
                        <a:ext cx="3870325"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0901"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80902"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80903" name="Rectangle 11"/>
          <p:cNvSpPr>
            <a:spLocks noChangeArrowheads="1"/>
          </p:cNvSpPr>
          <p:nvPr/>
        </p:nvSpPr>
        <p:spPr bwMode="auto">
          <a:xfrm>
            <a:off x="632600" y="368300"/>
            <a:ext cx="4567277"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lnSpc>
                <a:spcPct val="120000"/>
              </a:lnSpc>
            </a:pPr>
            <a:r>
              <a:rPr lang="zh-CN" altLang="en-US" sz="2000" b="1" dirty="0">
                <a:solidFill>
                  <a:srgbClr val="FF0000"/>
                </a:solidFill>
                <a:latin typeface="方正粗黑宋简体" panose="02000000000000000000" pitchFamily="2" charset="-122"/>
                <a:ea typeface="方正粗黑宋简体" panose="02000000000000000000" pitchFamily="2" charset="-122"/>
              </a:rPr>
              <a:t>表面外法矢量和视矢量的</a:t>
            </a:r>
            <a:r>
              <a:rPr lang="zh-CN" altLang="en-US" b="1" dirty="0">
                <a:solidFill>
                  <a:srgbClr val="3333FF"/>
                </a:solidFill>
                <a:latin typeface="方正粗黑宋简体" panose="02000000000000000000" pitchFamily="2" charset="-122"/>
                <a:ea typeface="方正粗黑宋简体" panose="02000000000000000000" pitchFamily="2" charset="-122"/>
              </a:rPr>
              <a:t>数量积</a:t>
            </a:r>
            <a:r>
              <a:rPr lang="zh-CN" altLang="en-US" dirty="0">
                <a:solidFill>
                  <a:schemeClr val="tx1"/>
                </a:solidFill>
                <a:ea typeface="楷体_GB2312" pitchFamily="1" charset="-122"/>
              </a:rPr>
              <a:t>为：</a:t>
            </a:r>
          </a:p>
        </p:txBody>
      </p:sp>
      <p:sp>
        <p:nvSpPr>
          <p:cNvPr id="80904" name="Rectangle 12"/>
          <p:cNvSpPr>
            <a:spLocks noChangeArrowheads="1"/>
          </p:cNvSpPr>
          <p:nvPr/>
        </p:nvSpPr>
        <p:spPr bwMode="auto">
          <a:xfrm>
            <a:off x="668210" y="1584325"/>
            <a:ext cx="5410455" cy="494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lnSpc>
                <a:spcPct val="120000"/>
              </a:lnSpc>
            </a:pPr>
            <a:r>
              <a:rPr lang="zh-CN" altLang="en-US" dirty="0">
                <a:solidFill>
                  <a:schemeClr val="tx1"/>
                </a:solidFill>
                <a:latin typeface="楷体_GB2312" pitchFamily="1" charset="-122"/>
                <a:ea typeface="楷体_GB2312" pitchFamily="1" charset="-122"/>
              </a:rPr>
              <a:t>将</a:t>
            </a:r>
            <a:r>
              <a:rPr lang="zh-CN" altLang="en-US" sz="2000" b="1" dirty="0">
                <a:solidFill>
                  <a:srgbClr val="FF0000"/>
                </a:solidFill>
                <a:latin typeface="方正粗黑宋简体" panose="02000000000000000000" pitchFamily="2" charset="-122"/>
                <a:ea typeface="方正粗黑宋简体" panose="02000000000000000000" pitchFamily="2" charset="-122"/>
              </a:rPr>
              <a:t>外法矢量</a:t>
            </a:r>
            <a:r>
              <a:rPr lang="en-US" altLang="zh-CN" sz="2000" b="1" dirty="0">
                <a:solidFill>
                  <a:srgbClr val="FF0000"/>
                </a:solidFill>
                <a:latin typeface="方正粗黑宋简体" panose="02000000000000000000" pitchFamily="2" charset="-122"/>
                <a:ea typeface="方正粗黑宋简体" panose="02000000000000000000" pitchFamily="2" charset="-122"/>
              </a:rPr>
              <a:t>N</a:t>
            </a:r>
            <a:r>
              <a:rPr lang="zh-CN" altLang="en-US" sz="2000" b="1" dirty="0">
                <a:solidFill>
                  <a:srgbClr val="FF0000"/>
                </a:solidFill>
                <a:latin typeface="方正粗黑宋简体" panose="02000000000000000000" pitchFamily="2" charset="-122"/>
                <a:ea typeface="方正粗黑宋简体" panose="02000000000000000000" pitchFamily="2" charset="-122"/>
              </a:rPr>
              <a:t>和视矢量</a:t>
            </a:r>
            <a:r>
              <a:rPr lang="en-US" altLang="zh-CN" sz="2000" b="1" dirty="0">
                <a:solidFill>
                  <a:srgbClr val="FF0000"/>
                </a:solidFill>
                <a:latin typeface="方正粗黑宋简体" panose="02000000000000000000" pitchFamily="2" charset="-122"/>
                <a:ea typeface="方正粗黑宋简体" panose="02000000000000000000" pitchFamily="2" charset="-122"/>
              </a:rPr>
              <a:t>S</a:t>
            </a:r>
            <a:r>
              <a:rPr lang="zh-CN" altLang="en-US" sz="2000" b="1" dirty="0">
                <a:solidFill>
                  <a:srgbClr val="FF0000"/>
                </a:solidFill>
                <a:latin typeface="方正粗黑宋简体" panose="02000000000000000000" pitchFamily="2" charset="-122"/>
                <a:ea typeface="方正粗黑宋简体" panose="02000000000000000000" pitchFamily="2" charset="-122"/>
              </a:rPr>
              <a:t>单位化为</a:t>
            </a:r>
            <a:r>
              <a:rPr lang="en-US" altLang="zh-CN" sz="2000" b="1" dirty="0">
                <a:solidFill>
                  <a:srgbClr val="FF0000"/>
                </a:solidFill>
                <a:latin typeface="方正粗黑宋简体" panose="02000000000000000000" pitchFamily="2" charset="-122"/>
                <a:ea typeface="方正粗黑宋简体" panose="02000000000000000000" pitchFamily="2" charset="-122"/>
              </a:rPr>
              <a:t>n</a:t>
            </a:r>
            <a:r>
              <a:rPr lang="zh-CN" altLang="en-US" sz="2000" b="1" dirty="0">
                <a:solidFill>
                  <a:srgbClr val="FF0000"/>
                </a:solidFill>
                <a:latin typeface="方正粗黑宋简体" panose="02000000000000000000" pitchFamily="2" charset="-122"/>
                <a:ea typeface="方正粗黑宋简体" panose="02000000000000000000" pitchFamily="2" charset="-122"/>
              </a:rPr>
              <a:t>和</a:t>
            </a:r>
            <a:r>
              <a:rPr lang="en-US" altLang="zh-CN" sz="2000" b="1" dirty="0">
                <a:solidFill>
                  <a:srgbClr val="FF0000"/>
                </a:solidFill>
                <a:latin typeface="方正粗黑宋简体" panose="02000000000000000000" pitchFamily="2" charset="-122"/>
                <a:ea typeface="方正粗黑宋简体" panose="02000000000000000000" pitchFamily="2" charset="-122"/>
              </a:rPr>
              <a:t>s</a:t>
            </a:r>
            <a:r>
              <a:rPr lang="zh-CN" altLang="en-US" dirty="0">
                <a:solidFill>
                  <a:schemeClr val="tx1"/>
                </a:solidFill>
                <a:latin typeface="楷体_GB2312" pitchFamily="1" charset="-122"/>
                <a:ea typeface="楷体_GB2312" pitchFamily="1" charset="-122"/>
              </a:rPr>
              <a:t>，则有</a:t>
            </a:r>
          </a:p>
        </p:txBody>
      </p:sp>
      <p:graphicFrame>
        <p:nvGraphicFramePr>
          <p:cNvPr id="80905" name="Object 9"/>
          <p:cNvGraphicFramePr>
            <a:graphicFrameLocks noChangeAspect="1"/>
          </p:cNvGraphicFramePr>
          <p:nvPr/>
        </p:nvGraphicFramePr>
        <p:xfrm>
          <a:off x="1736725" y="2259013"/>
          <a:ext cx="5445125" cy="568325"/>
        </p:xfrm>
        <a:graphic>
          <a:graphicData uri="http://schemas.openxmlformats.org/presentationml/2006/ole">
            <mc:AlternateContent xmlns:mc="http://schemas.openxmlformats.org/markup-compatibility/2006">
              <mc:Choice xmlns:v="urn:schemas-microsoft-com:vml" Requires="v">
                <p:oleObj spid="_x0000_s81024" r:id="rId5" imgW="2286993" imgH="241405" progId="Equation.3">
                  <p:embed/>
                </p:oleObj>
              </mc:Choice>
              <mc:Fallback>
                <p:oleObj r:id="rId5" imgW="2286993" imgH="241405" progId="Equation.3">
                  <p:embed/>
                  <p:pic>
                    <p:nvPicPr>
                      <p:cNvPr id="0" name="Picture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36725" y="2259013"/>
                        <a:ext cx="5445125" cy="568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0906" name="Rectangle 15"/>
          <p:cNvSpPr>
            <a:spLocks noChangeArrowheads="1"/>
          </p:cNvSpPr>
          <p:nvPr/>
        </p:nvSpPr>
        <p:spPr bwMode="auto">
          <a:xfrm>
            <a:off x="431800" y="2843213"/>
            <a:ext cx="814546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50000"/>
              </a:lnSpc>
            </a:pPr>
            <a:r>
              <a:rPr lang="zh-CN" altLang="en-US" dirty="0">
                <a:solidFill>
                  <a:schemeClr val="tx1"/>
                </a:solidFill>
                <a:latin typeface="楷体_GB2312" pitchFamily="1" charset="-122"/>
                <a:ea typeface="楷体_GB2312" pitchFamily="1" charset="-122"/>
              </a:rPr>
              <a:t>可见</a:t>
            </a:r>
            <a:r>
              <a:rPr lang="en-US" altLang="zh-CN" sz="2000" b="1" dirty="0" err="1">
                <a:solidFill>
                  <a:srgbClr val="FF0000"/>
                </a:solidFill>
                <a:latin typeface="方正粗黑宋简体" panose="02000000000000000000" pitchFamily="2" charset="-122"/>
                <a:ea typeface="方正粗黑宋简体" panose="02000000000000000000" pitchFamily="2" charset="-122"/>
              </a:rPr>
              <a:t>cosθ</a:t>
            </a:r>
            <a:r>
              <a:rPr lang="zh-CN" altLang="en-US" dirty="0">
                <a:solidFill>
                  <a:schemeClr val="tx1"/>
                </a:solidFill>
                <a:latin typeface="楷体_GB2312" pitchFamily="1" charset="-122"/>
                <a:ea typeface="楷体_GB2312" pitchFamily="1" charset="-122"/>
              </a:rPr>
              <a:t>的</a:t>
            </a:r>
            <a:r>
              <a:rPr lang="zh-CN" altLang="en-US" b="1" dirty="0">
                <a:solidFill>
                  <a:srgbClr val="3333FF"/>
                </a:solidFill>
                <a:latin typeface="方正粗黑宋简体" panose="02000000000000000000" pitchFamily="2" charset="-122"/>
                <a:ea typeface="方正粗黑宋简体" panose="02000000000000000000" pitchFamily="2" charset="-122"/>
              </a:rPr>
              <a:t>正负</a:t>
            </a:r>
            <a:r>
              <a:rPr lang="zh-CN" altLang="en-US" dirty="0">
                <a:solidFill>
                  <a:schemeClr val="tx1"/>
                </a:solidFill>
                <a:latin typeface="楷体_GB2312" pitchFamily="1" charset="-122"/>
                <a:ea typeface="楷体_GB2312" pitchFamily="1" charset="-122"/>
              </a:rPr>
              <a:t>取决于表面的单位外法矢量和单位视矢量的数量积：</a:t>
            </a:r>
          </a:p>
        </p:txBody>
      </p:sp>
      <p:graphicFrame>
        <p:nvGraphicFramePr>
          <p:cNvPr id="80908" name="Object 12"/>
          <p:cNvGraphicFramePr>
            <a:graphicFrameLocks noChangeAspect="1"/>
          </p:cNvGraphicFramePr>
          <p:nvPr/>
        </p:nvGraphicFramePr>
        <p:xfrm>
          <a:off x="2141538" y="3519488"/>
          <a:ext cx="3375025" cy="566737"/>
        </p:xfrm>
        <a:graphic>
          <a:graphicData uri="http://schemas.openxmlformats.org/presentationml/2006/ole">
            <mc:AlternateContent xmlns:mc="http://schemas.openxmlformats.org/markup-compatibility/2006">
              <mc:Choice xmlns:v="urn:schemas-microsoft-com:vml" Requires="v">
                <p:oleObj spid="_x0000_s81025" r:id="rId7" imgW="1423018" imgH="241405" progId="Equation.3">
                  <p:embed/>
                </p:oleObj>
              </mc:Choice>
              <mc:Fallback>
                <p:oleObj r:id="rId7" imgW="1423018" imgH="241405" progId="Equation.3">
                  <p:embed/>
                  <p:pic>
                    <p:nvPicPr>
                      <p:cNvPr id="0" name="Picture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41538" y="3519488"/>
                        <a:ext cx="3375025" cy="566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0909" name="Rectangle 18"/>
          <p:cNvSpPr>
            <a:spLocks noChangeArrowheads="1"/>
          </p:cNvSpPr>
          <p:nvPr/>
        </p:nvSpPr>
        <p:spPr bwMode="auto">
          <a:xfrm>
            <a:off x="7497763" y="2349500"/>
            <a:ext cx="1319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rPr>
              <a:t>（</a:t>
            </a:r>
            <a:r>
              <a:rPr lang="en-US" altLang="zh-CN">
                <a:solidFill>
                  <a:schemeClr val="tx1"/>
                </a:solidFill>
              </a:rPr>
              <a:t>9-8</a:t>
            </a:r>
            <a:r>
              <a:rPr lang="zh-CN" altLang="en-US">
                <a:solidFill>
                  <a:schemeClr val="tx1"/>
                </a:solidFill>
              </a:rPr>
              <a:t>） </a:t>
            </a:r>
          </a:p>
        </p:txBody>
      </p:sp>
      <p:sp>
        <p:nvSpPr>
          <p:cNvPr id="80910" name="Rectangle 19"/>
          <p:cNvSpPr>
            <a:spLocks noChangeArrowheads="1"/>
          </p:cNvSpPr>
          <p:nvPr/>
        </p:nvSpPr>
        <p:spPr bwMode="auto">
          <a:xfrm>
            <a:off x="560388" y="4329113"/>
            <a:ext cx="506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a:solidFill>
                  <a:schemeClr val="tx1"/>
                </a:solidFill>
                <a:ea typeface="楷体_GB2312" pitchFamily="1" charset="-122"/>
              </a:rPr>
              <a:t>凸多面体表面可见性检测条件如下：</a:t>
            </a:r>
          </a:p>
        </p:txBody>
      </p:sp>
      <p:sp>
        <p:nvSpPr>
          <p:cNvPr id="80911" name="Rectangle 20"/>
          <p:cNvSpPr>
            <a:spLocks noChangeArrowheads="1"/>
          </p:cNvSpPr>
          <p:nvPr/>
        </p:nvSpPr>
        <p:spPr bwMode="auto">
          <a:xfrm>
            <a:off x="422923" y="5047606"/>
            <a:ext cx="36086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marL="342900" indent="-342900" eaLnBrk="1" hangingPunct="1">
              <a:spcBef>
                <a:spcPct val="0"/>
              </a:spcBef>
              <a:buFont typeface="Wingdings" panose="05000000000000000000" pitchFamily="2" charset="2"/>
              <a:buChar char="n"/>
            </a:pPr>
            <a:r>
              <a:rPr lang="zh-CN" altLang="en-US" dirty="0">
                <a:solidFill>
                  <a:schemeClr val="tx1"/>
                </a:solidFill>
                <a:latin typeface="楷体_GB2312" pitchFamily="1" charset="-122"/>
                <a:ea typeface="楷体_GB2312" pitchFamily="1" charset="-122"/>
              </a:rPr>
              <a:t>当</a:t>
            </a:r>
            <a:r>
              <a:rPr lang="en-US" altLang="zh-CN" dirty="0">
                <a:solidFill>
                  <a:schemeClr val="tx1"/>
                </a:solidFill>
                <a:latin typeface="楷体_GB2312" pitchFamily="1" charset="-122"/>
                <a:ea typeface="楷体_GB2312" pitchFamily="1" charset="-122"/>
              </a:rPr>
              <a:t>0°≤θ</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90°</a:t>
            </a:r>
            <a:r>
              <a:rPr lang="zh-CN" altLang="en-US" dirty="0">
                <a:solidFill>
                  <a:schemeClr val="tx1"/>
                </a:solidFill>
                <a:latin typeface="楷体_GB2312" pitchFamily="1" charset="-122"/>
                <a:ea typeface="楷体_GB2312" pitchFamily="1" charset="-122"/>
              </a:rPr>
              <a:t>时， </a:t>
            </a:r>
          </a:p>
        </p:txBody>
      </p:sp>
      <p:graphicFrame>
        <p:nvGraphicFramePr>
          <p:cNvPr id="80913" name="Object 17"/>
          <p:cNvGraphicFramePr>
            <a:graphicFrameLocks noChangeAspect="1"/>
          </p:cNvGraphicFramePr>
          <p:nvPr/>
        </p:nvGraphicFramePr>
        <p:xfrm>
          <a:off x="3581400" y="5003800"/>
          <a:ext cx="3509963" cy="498475"/>
        </p:xfrm>
        <a:graphic>
          <a:graphicData uri="http://schemas.openxmlformats.org/presentationml/2006/ole">
            <mc:AlternateContent xmlns:mc="http://schemas.openxmlformats.org/markup-compatibility/2006">
              <mc:Choice xmlns:v="urn:schemas-microsoft-com:vml" Requires="v">
                <p:oleObj spid="_x0000_s81026" r:id="rId9" imgW="1677128" imgH="241405" progId="Equation.3">
                  <p:embed/>
                </p:oleObj>
              </mc:Choice>
              <mc:Fallback>
                <p:oleObj r:id="rId9" imgW="1677128" imgH="241405" progId="Equation.3">
                  <p:embed/>
                  <p:pic>
                    <p:nvPicPr>
                      <p:cNvPr id="0" name="Picture 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81400" y="5003800"/>
                        <a:ext cx="3509963"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0914" name="Rectangle 23"/>
          <p:cNvSpPr>
            <a:spLocks noChangeArrowheads="1"/>
          </p:cNvSpPr>
          <p:nvPr/>
        </p:nvSpPr>
        <p:spPr bwMode="auto">
          <a:xfrm>
            <a:off x="746125" y="5768975"/>
            <a:ext cx="490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b="1" dirty="0">
                <a:solidFill>
                  <a:srgbClr val="FF0000"/>
                </a:solidFill>
                <a:latin typeface="方正粗黑宋简体" panose="02000000000000000000" pitchFamily="2" charset="-122"/>
                <a:ea typeface="方正粗黑宋简体" panose="02000000000000000000" pitchFamily="2" charset="-122"/>
              </a:rPr>
              <a:t>表面</a:t>
            </a:r>
            <a:r>
              <a:rPr lang="zh-CN" altLang="en-US" b="1" dirty="0">
                <a:solidFill>
                  <a:srgbClr val="3333FF"/>
                </a:solidFill>
                <a:latin typeface="方正粗黑宋简体" panose="02000000000000000000" pitchFamily="2" charset="-122"/>
                <a:ea typeface="方正粗黑宋简体" panose="02000000000000000000" pitchFamily="2" charset="-122"/>
              </a:rPr>
              <a:t>可见</a:t>
            </a:r>
            <a:r>
              <a:rPr lang="zh-CN" altLang="en-US" dirty="0">
                <a:solidFill>
                  <a:schemeClr val="tx1"/>
                </a:solidFill>
                <a:latin typeface="楷体_GB2312" pitchFamily="1" charset="-122"/>
                <a:ea typeface="楷体_GB2312" pitchFamily="1" charset="-122"/>
              </a:rPr>
              <a:t>，画出表面多边形边界。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4"/>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F9B870AE-1803-4B98-8E51-E84353E125BE}" type="slidenum">
              <a:rPr lang="en-US" altLang="zh-CN" sz="1200">
                <a:solidFill>
                  <a:schemeClr val="tx1"/>
                </a:solidFill>
                <a:latin typeface="Garamond" pitchFamily="18" charset="0"/>
              </a:rPr>
              <a:pPr algn="r" eaLnBrk="1" hangingPunct="1">
                <a:spcBef>
                  <a:spcPct val="0"/>
                </a:spcBef>
              </a:pPr>
              <a:t>78</a:t>
            </a:fld>
            <a:endParaRPr lang="en-US" altLang="zh-CN" sz="1200">
              <a:solidFill>
                <a:schemeClr val="tx1"/>
              </a:solidFill>
              <a:latin typeface="Garamond" pitchFamily="18" charset="0"/>
            </a:endParaRPr>
          </a:p>
        </p:txBody>
      </p:sp>
      <p:sp>
        <p:nvSpPr>
          <p:cNvPr id="81923"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81924"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81925"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81926" name="Rectangle 14"/>
          <p:cNvSpPr>
            <a:spLocks noChangeArrowheads="1"/>
          </p:cNvSpPr>
          <p:nvPr/>
        </p:nvSpPr>
        <p:spPr bwMode="auto">
          <a:xfrm>
            <a:off x="427388" y="591493"/>
            <a:ext cx="26853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marL="342900" indent="-342900" eaLnBrk="1" hangingPunct="1">
              <a:spcBef>
                <a:spcPct val="0"/>
              </a:spcBef>
              <a:buFont typeface="Wingdings" panose="05000000000000000000" pitchFamily="2" charset="2"/>
              <a:buChar char="n"/>
            </a:pPr>
            <a:r>
              <a:rPr lang="zh-CN" altLang="en-US" dirty="0">
                <a:solidFill>
                  <a:schemeClr val="tx1"/>
                </a:solidFill>
                <a:latin typeface="楷体_GB2312" pitchFamily="1" charset="-122"/>
                <a:ea typeface="楷体_GB2312" pitchFamily="1" charset="-122"/>
              </a:rPr>
              <a:t>当</a:t>
            </a:r>
            <a:r>
              <a:rPr lang="en-US" altLang="zh-CN" dirty="0">
                <a:solidFill>
                  <a:schemeClr val="tx1"/>
                </a:solidFill>
                <a:latin typeface="楷体_GB2312" pitchFamily="1" charset="-122"/>
                <a:ea typeface="楷体_GB2312" pitchFamily="1" charset="-122"/>
              </a:rPr>
              <a:t>θ=90°</a:t>
            </a:r>
            <a:r>
              <a:rPr lang="zh-CN" altLang="en-US" dirty="0">
                <a:solidFill>
                  <a:schemeClr val="tx1"/>
                </a:solidFill>
                <a:latin typeface="楷体_GB2312" pitchFamily="1" charset="-122"/>
                <a:ea typeface="楷体_GB2312" pitchFamily="1" charset="-122"/>
              </a:rPr>
              <a:t>时， </a:t>
            </a:r>
          </a:p>
        </p:txBody>
      </p:sp>
      <p:graphicFrame>
        <p:nvGraphicFramePr>
          <p:cNvPr id="81928" name="Object 8"/>
          <p:cNvGraphicFramePr>
            <a:graphicFrameLocks noChangeAspect="1"/>
          </p:cNvGraphicFramePr>
          <p:nvPr/>
        </p:nvGraphicFramePr>
        <p:xfrm>
          <a:off x="2771775" y="638175"/>
          <a:ext cx="3509963" cy="498475"/>
        </p:xfrm>
        <a:graphic>
          <a:graphicData uri="http://schemas.openxmlformats.org/presentationml/2006/ole">
            <mc:AlternateContent xmlns:mc="http://schemas.openxmlformats.org/markup-compatibility/2006">
              <mc:Choice xmlns:v="urn:schemas-microsoft-com:vml" Requires="v">
                <p:oleObj spid="_x0000_s82050" r:id="rId3" imgW="1677128" imgH="241405" progId="Equation.3">
                  <p:embed/>
                </p:oleObj>
              </mc:Choice>
              <mc:Fallback>
                <p:oleObj r:id="rId3" imgW="1677128" imgH="241405" progId="Equation.3">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638175"/>
                        <a:ext cx="3509963"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29" name="Rectangle 17"/>
          <p:cNvSpPr>
            <a:spLocks noChangeArrowheads="1"/>
          </p:cNvSpPr>
          <p:nvPr/>
        </p:nvSpPr>
        <p:spPr bwMode="auto">
          <a:xfrm>
            <a:off x="566738" y="1354564"/>
            <a:ext cx="792003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dirty="0">
                <a:solidFill>
                  <a:schemeClr val="tx1"/>
                </a:solidFill>
                <a:latin typeface="楷体_GB2312" pitchFamily="1" charset="-122"/>
                <a:ea typeface="楷体_GB2312" pitchFamily="1" charset="-122"/>
              </a:rPr>
              <a:t>表面外法矢量与视矢量垂直，</a:t>
            </a:r>
            <a:r>
              <a:rPr lang="zh-CN" altLang="en-US" sz="2000" b="1" dirty="0">
                <a:solidFill>
                  <a:srgbClr val="FF0000"/>
                </a:solidFill>
                <a:latin typeface="方正粗黑宋简体" panose="02000000000000000000" pitchFamily="2" charset="-122"/>
                <a:ea typeface="方正粗黑宋简体" panose="02000000000000000000" pitchFamily="2" charset="-122"/>
              </a:rPr>
              <a:t>表面多边形退化为</a:t>
            </a:r>
            <a:r>
              <a:rPr lang="zh-CN" altLang="en-US" b="1" dirty="0">
                <a:solidFill>
                  <a:srgbClr val="3333FF"/>
                </a:solidFill>
                <a:latin typeface="方正粗黑宋简体" panose="02000000000000000000" pitchFamily="2" charset="-122"/>
                <a:ea typeface="方正粗黑宋简体" panose="02000000000000000000" pitchFamily="2" charset="-122"/>
              </a:rPr>
              <a:t>一条直线</a:t>
            </a:r>
            <a:r>
              <a:rPr lang="zh-CN" altLang="en-US" dirty="0">
                <a:solidFill>
                  <a:schemeClr val="tx1"/>
                </a:solidFill>
                <a:latin typeface="楷体_GB2312" pitchFamily="1" charset="-122"/>
                <a:ea typeface="楷体_GB2312" pitchFamily="1" charset="-122"/>
              </a:rPr>
              <a:t>，绘制结果为一段直线； </a:t>
            </a:r>
          </a:p>
        </p:txBody>
      </p:sp>
      <p:sp>
        <p:nvSpPr>
          <p:cNvPr id="81930" name="Rectangle 18"/>
          <p:cNvSpPr>
            <a:spLocks noChangeArrowheads="1"/>
          </p:cNvSpPr>
          <p:nvPr/>
        </p:nvSpPr>
        <p:spPr bwMode="auto">
          <a:xfrm>
            <a:off x="427388" y="2670473"/>
            <a:ext cx="39164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marL="342900" indent="-342900" eaLnBrk="1" hangingPunct="1">
              <a:spcBef>
                <a:spcPct val="0"/>
              </a:spcBef>
              <a:buFont typeface="Wingdings" panose="05000000000000000000" pitchFamily="2" charset="2"/>
              <a:buChar char="n"/>
            </a:pPr>
            <a:r>
              <a:rPr lang="zh-CN" altLang="en-US" dirty="0">
                <a:solidFill>
                  <a:schemeClr val="tx1"/>
                </a:solidFill>
                <a:latin typeface="楷体_GB2312" pitchFamily="1" charset="-122"/>
                <a:ea typeface="楷体_GB2312" pitchFamily="1" charset="-122"/>
              </a:rPr>
              <a:t>当</a:t>
            </a:r>
            <a:r>
              <a:rPr lang="en-US" altLang="zh-CN" dirty="0">
                <a:solidFill>
                  <a:schemeClr val="tx1"/>
                </a:solidFill>
                <a:latin typeface="楷体_GB2312" pitchFamily="1" charset="-122"/>
                <a:ea typeface="楷体_GB2312" pitchFamily="1" charset="-122"/>
              </a:rPr>
              <a:t>90°</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θ≤180°</a:t>
            </a:r>
            <a:r>
              <a:rPr lang="zh-CN" altLang="en-US" dirty="0">
                <a:solidFill>
                  <a:schemeClr val="tx1"/>
                </a:solidFill>
                <a:latin typeface="楷体_GB2312" pitchFamily="1" charset="-122"/>
                <a:ea typeface="楷体_GB2312" pitchFamily="1" charset="-122"/>
              </a:rPr>
              <a:t>时， </a:t>
            </a:r>
          </a:p>
        </p:txBody>
      </p:sp>
      <p:graphicFrame>
        <p:nvGraphicFramePr>
          <p:cNvPr id="81932" name="Object 12"/>
          <p:cNvGraphicFramePr>
            <a:graphicFrameLocks noChangeAspect="1"/>
          </p:cNvGraphicFramePr>
          <p:nvPr/>
        </p:nvGraphicFramePr>
        <p:xfrm>
          <a:off x="4257675" y="2663825"/>
          <a:ext cx="3286125" cy="468313"/>
        </p:xfrm>
        <a:graphic>
          <a:graphicData uri="http://schemas.openxmlformats.org/presentationml/2006/ole">
            <mc:AlternateContent xmlns:mc="http://schemas.openxmlformats.org/markup-compatibility/2006">
              <mc:Choice xmlns:v="urn:schemas-microsoft-com:vml" Requires="v">
                <p:oleObj spid="_x0000_s82051" r:id="rId5" imgW="1677128" imgH="241405" progId="Equation.3">
                  <p:embed/>
                </p:oleObj>
              </mc:Choice>
              <mc:Fallback>
                <p:oleObj r:id="rId5" imgW="1677128" imgH="241405" progId="Equation.3">
                  <p:embed/>
                  <p:pic>
                    <p:nvPicPr>
                      <p:cNvPr id="0" name="Picture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57675" y="2663825"/>
                        <a:ext cx="3286125"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33" name="Rectangle 21"/>
          <p:cNvSpPr>
            <a:spLocks noChangeArrowheads="1"/>
          </p:cNvSpPr>
          <p:nvPr/>
        </p:nvSpPr>
        <p:spPr bwMode="auto">
          <a:xfrm>
            <a:off x="908070" y="3426768"/>
            <a:ext cx="6200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b="1" dirty="0">
                <a:solidFill>
                  <a:srgbClr val="FF0000"/>
                </a:solidFill>
                <a:latin typeface="方正粗黑宋简体" panose="02000000000000000000" pitchFamily="2" charset="-122"/>
                <a:ea typeface="方正粗黑宋简体" panose="02000000000000000000" pitchFamily="2" charset="-122"/>
              </a:rPr>
              <a:t>凸多面体表面</a:t>
            </a:r>
            <a:r>
              <a:rPr lang="zh-CN" altLang="en-US" b="1" dirty="0">
                <a:solidFill>
                  <a:srgbClr val="3333FF"/>
                </a:solidFill>
                <a:latin typeface="方正粗黑宋简体" panose="02000000000000000000" pitchFamily="2" charset="-122"/>
                <a:ea typeface="方正粗黑宋简体" panose="02000000000000000000" pitchFamily="2" charset="-122"/>
              </a:rPr>
              <a:t>不可见</a:t>
            </a:r>
            <a:r>
              <a:rPr lang="zh-CN" altLang="en-US" dirty="0">
                <a:solidFill>
                  <a:schemeClr val="tx1"/>
                </a:solidFill>
                <a:latin typeface="楷体_GB2312" pitchFamily="1" charset="-122"/>
                <a:ea typeface="楷体_GB2312" pitchFamily="1" charset="-122"/>
              </a:rPr>
              <a:t>，不绘制该多边形边界。 </a:t>
            </a:r>
          </a:p>
        </p:txBody>
      </p:sp>
      <p:sp>
        <p:nvSpPr>
          <p:cNvPr id="81934" name="Rectangle 22"/>
          <p:cNvSpPr>
            <a:spLocks noChangeArrowheads="1"/>
          </p:cNvSpPr>
          <p:nvPr/>
        </p:nvSpPr>
        <p:spPr bwMode="auto">
          <a:xfrm>
            <a:off x="792163" y="4284663"/>
            <a:ext cx="2165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latin typeface="楷体_GB2312" pitchFamily="1" charset="-122"/>
                <a:ea typeface="楷体_GB2312" pitchFamily="1" charset="-122"/>
              </a:rPr>
              <a:t>因此，可以将 </a:t>
            </a:r>
          </a:p>
        </p:txBody>
      </p:sp>
      <p:graphicFrame>
        <p:nvGraphicFramePr>
          <p:cNvPr id="81936" name="Object 16"/>
          <p:cNvGraphicFramePr>
            <a:graphicFrameLocks noChangeAspect="1"/>
          </p:cNvGraphicFramePr>
          <p:nvPr>
            <p:extLst>
              <p:ext uri="{D42A27DB-BD31-4B8C-83A1-F6EECF244321}">
                <p14:modId xmlns:p14="http://schemas.microsoft.com/office/powerpoint/2010/main" val="3425604847"/>
              </p:ext>
            </p:extLst>
          </p:nvPr>
        </p:nvGraphicFramePr>
        <p:xfrm>
          <a:off x="3112739" y="4310989"/>
          <a:ext cx="1035050" cy="371475"/>
        </p:xfrm>
        <a:graphic>
          <a:graphicData uri="http://schemas.openxmlformats.org/presentationml/2006/ole">
            <mc:AlternateContent xmlns:mc="http://schemas.openxmlformats.org/markup-compatibility/2006">
              <mc:Choice xmlns:v="urn:schemas-microsoft-com:vml" Requires="v">
                <p:oleObj spid="_x0000_s82052" r:id="rId7" imgW="508221" imgH="177877" progId="Equation.3">
                  <p:embed/>
                </p:oleObj>
              </mc:Choice>
              <mc:Fallback>
                <p:oleObj r:id="rId7" imgW="508221" imgH="177877" progId="Equation.3">
                  <p:embed/>
                  <p:pic>
                    <p:nvPicPr>
                      <p:cNvPr id="0" name="Picture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12739" y="4310989"/>
                        <a:ext cx="10350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37" name="Rectangle 25"/>
          <p:cNvSpPr>
            <a:spLocks noChangeArrowheads="1"/>
          </p:cNvSpPr>
          <p:nvPr/>
        </p:nvSpPr>
        <p:spPr bwMode="auto">
          <a:xfrm>
            <a:off x="4122738" y="4238625"/>
            <a:ext cx="399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latin typeface="楷体_GB2312" pitchFamily="1" charset="-122"/>
                <a:ea typeface="楷体_GB2312" pitchFamily="1" charset="-122"/>
              </a:rPr>
              <a:t>作为绘制表面的基本条件。 </a:t>
            </a:r>
          </a:p>
        </p:txBody>
      </p:sp>
      <p:sp>
        <p:nvSpPr>
          <p:cNvPr id="81938" name="Rectangle 26"/>
          <p:cNvSpPr>
            <a:spLocks noChangeArrowheads="1"/>
          </p:cNvSpPr>
          <p:nvPr/>
        </p:nvSpPr>
        <p:spPr bwMode="auto">
          <a:xfrm>
            <a:off x="611188" y="4914900"/>
            <a:ext cx="323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a:solidFill>
                  <a:schemeClr val="tx1"/>
                </a:solidFill>
                <a:ea typeface="楷体_GB2312" pitchFamily="1" charset="-122"/>
              </a:rPr>
              <a:t>对于立方体而言，使用</a:t>
            </a:r>
          </a:p>
        </p:txBody>
      </p:sp>
      <p:graphicFrame>
        <p:nvGraphicFramePr>
          <p:cNvPr id="81939" name="Object 19"/>
          <p:cNvGraphicFramePr>
            <a:graphicFrameLocks noChangeAspect="1"/>
          </p:cNvGraphicFramePr>
          <p:nvPr>
            <p:extLst>
              <p:ext uri="{D42A27DB-BD31-4B8C-83A1-F6EECF244321}">
                <p14:modId xmlns:p14="http://schemas.microsoft.com/office/powerpoint/2010/main" val="2131323430"/>
              </p:ext>
            </p:extLst>
          </p:nvPr>
        </p:nvGraphicFramePr>
        <p:xfrm>
          <a:off x="3941763" y="4935303"/>
          <a:ext cx="1035050" cy="371475"/>
        </p:xfrm>
        <a:graphic>
          <a:graphicData uri="http://schemas.openxmlformats.org/presentationml/2006/ole">
            <mc:AlternateContent xmlns:mc="http://schemas.openxmlformats.org/markup-compatibility/2006">
              <mc:Choice xmlns:v="urn:schemas-microsoft-com:vml" Requires="v">
                <p:oleObj spid="_x0000_s82053" r:id="rId9" imgW="508221" imgH="177877" progId="Equation.3">
                  <p:embed/>
                </p:oleObj>
              </mc:Choice>
              <mc:Fallback>
                <p:oleObj r:id="rId9" imgW="508221" imgH="177877" progId="Equation.3">
                  <p:embed/>
                  <p:pic>
                    <p:nvPicPr>
                      <p:cNvPr id="0" name="Picture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41763" y="4935303"/>
                        <a:ext cx="10350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40" name="Rectangle 28"/>
          <p:cNvSpPr>
            <a:spLocks noChangeArrowheads="1"/>
          </p:cNvSpPr>
          <p:nvPr/>
        </p:nvSpPr>
        <p:spPr bwMode="auto">
          <a:xfrm>
            <a:off x="566738" y="5539214"/>
            <a:ext cx="85772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dirty="0">
                <a:solidFill>
                  <a:schemeClr val="tx1"/>
                </a:solidFill>
                <a:latin typeface="楷体_GB2312" pitchFamily="1" charset="-122"/>
                <a:ea typeface="楷体_GB2312" pitchFamily="1" charset="-122"/>
              </a:rPr>
              <a:t>只绘制朝向视点的</a:t>
            </a:r>
            <a:r>
              <a:rPr lang="en-US" altLang="zh-CN" dirty="0">
                <a:solidFill>
                  <a:schemeClr val="tx1"/>
                </a:solidFill>
                <a:latin typeface="楷体_GB2312" pitchFamily="1" charset="-122"/>
                <a:ea typeface="楷体_GB2312" pitchFamily="1" charset="-122"/>
              </a:rPr>
              <a:t>3</a:t>
            </a:r>
            <a:r>
              <a:rPr lang="zh-CN" altLang="en-US" dirty="0">
                <a:solidFill>
                  <a:schemeClr val="tx1"/>
                </a:solidFill>
                <a:latin typeface="楷体_GB2312" pitchFamily="1" charset="-122"/>
                <a:ea typeface="楷体_GB2312" pitchFamily="1" charset="-122"/>
              </a:rPr>
              <a:t>个可见表面。因此本算法也被称为</a:t>
            </a:r>
            <a:r>
              <a:rPr lang="zh-CN" altLang="en-US" sz="2000" b="1" dirty="0">
                <a:solidFill>
                  <a:srgbClr val="FF0000"/>
                </a:solidFill>
                <a:latin typeface="方正粗黑宋简体" panose="02000000000000000000" pitchFamily="2" charset="-122"/>
                <a:ea typeface="方正粗黑宋简体" panose="02000000000000000000" pitchFamily="2" charset="-122"/>
              </a:rPr>
              <a:t>背面剔除（</a:t>
            </a:r>
            <a:r>
              <a:rPr lang="en-US" altLang="zh-CN" sz="2000" b="1" dirty="0">
                <a:solidFill>
                  <a:srgbClr val="FF0000"/>
                </a:solidFill>
                <a:latin typeface="方正粗黑宋简体" panose="02000000000000000000" pitchFamily="2" charset="-122"/>
                <a:ea typeface="方正粗黑宋简体" panose="02000000000000000000" pitchFamily="2" charset="-122"/>
              </a:rPr>
              <a:t>back culling</a:t>
            </a:r>
            <a:r>
              <a:rPr lang="zh-CN" altLang="en-US" sz="2000" b="1" dirty="0">
                <a:solidFill>
                  <a:srgbClr val="FF0000"/>
                </a:solidFill>
                <a:latin typeface="方正粗黑宋简体" panose="02000000000000000000" pitchFamily="2" charset="-122"/>
                <a:ea typeface="方正粗黑宋简体" panose="02000000000000000000" pitchFamily="2" charset="-122"/>
              </a:rPr>
              <a:t>）算法</a:t>
            </a:r>
            <a:r>
              <a:rPr lang="zh-CN" altLang="en-US" dirty="0">
                <a:solidFill>
                  <a:schemeClr val="tx1"/>
                </a:solidFill>
                <a:latin typeface="楷体_GB2312" pitchFamily="1" charset="-122"/>
                <a:ea typeface="楷体_GB2312" pitchFamily="1" charset="-122"/>
              </a:rPr>
              <a:t>。 </a:t>
            </a:r>
          </a:p>
        </p:txBody>
      </p:sp>
      <p:sp>
        <p:nvSpPr>
          <p:cNvPr id="81941" name="Rectangle 29"/>
          <p:cNvSpPr>
            <a:spLocks noChangeArrowheads="1"/>
          </p:cNvSpPr>
          <p:nvPr/>
        </p:nvSpPr>
        <p:spPr bwMode="auto">
          <a:xfrm>
            <a:off x="4976813" y="4914900"/>
            <a:ext cx="414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dirty="0">
                <a:solidFill>
                  <a:schemeClr val="tx1"/>
                </a:solidFill>
                <a:latin typeface="楷体_GB2312" pitchFamily="1" charset="-122"/>
                <a:ea typeface="楷体_GB2312" pitchFamily="1" charset="-122"/>
              </a:rPr>
              <a:t>剔除了背向视点的不可见表面</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E98AE40E-8140-410D-91B7-ADB893B70261}" type="slidenum">
              <a:rPr lang="en-US" altLang="zh-CN" sz="1200">
                <a:solidFill>
                  <a:schemeClr val="tx1"/>
                </a:solidFill>
                <a:latin typeface="Garamond" pitchFamily="18" charset="0"/>
              </a:rPr>
              <a:pPr algn="r" eaLnBrk="1" hangingPunct="1">
                <a:spcBef>
                  <a:spcPct val="0"/>
                </a:spcBef>
              </a:pPr>
              <a:t>79</a:t>
            </a:fld>
            <a:endParaRPr lang="en-US" altLang="zh-CN" sz="1200">
              <a:solidFill>
                <a:schemeClr val="tx1"/>
              </a:solidFill>
              <a:latin typeface="Garamond" pitchFamily="18" charset="0"/>
            </a:endParaRPr>
          </a:p>
        </p:txBody>
      </p:sp>
      <p:sp>
        <p:nvSpPr>
          <p:cNvPr id="82948" name="Text Box 8"/>
          <p:cNvSpPr txBox="1">
            <a:spLocks noChangeArrowheads="1"/>
          </p:cNvSpPr>
          <p:nvPr/>
        </p:nvSpPr>
        <p:spPr bwMode="auto">
          <a:xfrm>
            <a:off x="431800" y="368300"/>
            <a:ext cx="8189913"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30000"/>
              </a:lnSpc>
            </a:pPr>
            <a:r>
              <a:rPr lang="zh-CN" altLang="en-US" sz="2000" b="1" dirty="0">
                <a:solidFill>
                  <a:srgbClr val="FF0000"/>
                </a:solidFill>
                <a:latin typeface="方正粗黑宋简体" panose="02000000000000000000" pitchFamily="2" charset="-122"/>
                <a:ea typeface="方正粗黑宋简体" panose="02000000000000000000" pitchFamily="2" charset="-122"/>
              </a:rPr>
              <a:t>立方体消隐前的透视变换图</a:t>
            </a:r>
            <a:r>
              <a:rPr lang="zh-CN" altLang="en-US" dirty="0">
                <a:solidFill>
                  <a:schemeClr val="tx1"/>
                </a:solidFill>
                <a:latin typeface="楷体_GB2312" pitchFamily="1" charset="-122"/>
                <a:ea typeface="楷体_GB2312" pitchFamily="1" charset="-122"/>
              </a:rPr>
              <a:t>如图</a:t>
            </a:r>
            <a:r>
              <a:rPr lang="en-US" altLang="zh-CN" dirty="0">
                <a:solidFill>
                  <a:schemeClr val="tx1"/>
                </a:solidFill>
                <a:latin typeface="楷体_GB2312" pitchFamily="1" charset="-122"/>
                <a:ea typeface="楷体_GB2312" pitchFamily="1" charset="-122"/>
              </a:rPr>
              <a:t>9-54</a:t>
            </a:r>
            <a:r>
              <a:rPr lang="zh-CN" altLang="en-US" dirty="0">
                <a:solidFill>
                  <a:schemeClr val="tx1"/>
                </a:solidFill>
                <a:latin typeface="楷体_GB2312" pitchFamily="1" charset="-122"/>
                <a:ea typeface="楷体_GB2312" pitchFamily="1" charset="-122"/>
              </a:rPr>
              <a:t>所示，画出了全部</a:t>
            </a:r>
            <a:r>
              <a:rPr lang="en-US" altLang="zh-CN" dirty="0">
                <a:solidFill>
                  <a:schemeClr val="tx1"/>
                </a:solidFill>
                <a:latin typeface="楷体_GB2312" pitchFamily="1" charset="-122"/>
                <a:ea typeface="楷体_GB2312" pitchFamily="1" charset="-122"/>
              </a:rPr>
              <a:t>6</a:t>
            </a:r>
            <a:r>
              <a:rPr lang="zh-CN" altLang="en-US" dirty="0">
                <a:solidFill>
                  <a:schemeClr val="tx1"/>
                </a:solidFill>
                <a:latin typeface="楷体_GB2312" pitchFamily="1" charset="-122"/>
                <a:ea typeface="楷体_GB2312" pitchFamily="1" charset="-122"/>
              </a:rPr>
              <a:t>个表面的线框；</a:t>
            </a:r>
            <a:r>
              <a:rPr lang="zh-CN" altLang="en-US" sz="2000" b="1" dirty="0">
                <a:solidFill>
                  <a:srgbClr val="FF0000"/>
                </a:solidFill>
                <a:latin typeface="方正粗黑宋简体" panose="02000000000000000000" pitchFamily="2" charset="-122"/>
                <a:ea typeface="方正粗黑宋简体" panose="02000000000000000000" pitchFamily="2" charset="-122"/>
              </a:rPr>
              <a:t>消隐后的透视变换</a:t>
            </a:r>
            <a:r>
              <a:rPr lang="zh-CN" altLang="en-US" dirty="0">
                <a:solidFill>
                  <a:schemeClr val="tx1"/>
                </a:solidFill>
                <a:latin typeface="楷体_GB2312" pitchFamily="1" charset="-122"/>
                <a:ea typeface="楷体_GB2312" pitchFamily="1" charset="-122"/>
              </a:rPr>
              <a:t>图如图</a:t>
            </a:r>
            <a:r>
              <a:rPr lang="en-US" altLang="zh-CN" dirty="0">
                <a:solidFill>
                  <a:schemeClr val="tx1"/>
                </a:solidFill>
                <a:latin typeface="楷体_GB2312" pitchFamily="1" charset="-122"/>
                <a:ea typeface="楷体_GB2312" pitchFamily="1" charset="-122"/>
              </a:rPr>
              <a:t>9-55</a:t>
            </a:r>
            <a:r>
              <a:rPr lang="zh-CN" altLang="en-US" dirty="0">
                <a:solidFill>
                  <a:schemeClr val="tx1"/>
                </a:solidFill>
                <a:latin typeface="楷体_GB2312" pitchFamily="1" charset="-122"/>
                <a:ea typeface="楷体_GB2312" pitchFamily="1" charset="-122"/>
              </a:rPr>
              <a:t>所示，只画出可见的表面棱边。  </a:t>
            </a:r>
          </a:p>
        </p:txBody>
      </p:sp>
      <p:pic>
        <p:nvPicPr>
          <p:cNvPr id="82949"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7100" y="2303463"/>
            <a:ext cx="3554413"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0" name="Rectangle 10"/>
          <p:cNvSpPr>
            <a:spLocks noChangeArrowheads="1"/>
          </p:cNvSpPr>
          <p:nvPr/>
        </p:nvSpPr>
        <p:spPr bwMode="auto">
          <a:xfrm>
            <a:off x="566738" y="5529263"/>
            <a:ext cx="399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9-54 </a:t>
            </a:r>
            <a:r>
              <a:rPr lang="zh-CN" altLang="en-US" sz="2000">
                <a:solidFill>
                  <a:schemeClr val="tx1"/>
                </a:solidFill>
                <a:latin typeface="楷体_GB2312" pitchFamily="1" charset="-122"/>
                <a:ea typeface="楷体_GB2312" pitchFamily="1" charset="-122"/>
                <a:hlinkClick r:id="rId3" action="ppaction://hlinkfile"/>
              </a:rPr>
              <a:t>消隐前的立方体透视投影 </a:t>
            </a:r>
            <a:endParaRPr lang="zh-CN" altLang="en-US" sz="2000">
              <a:solidFill>
                <a:schemeClr val="tx1"/>
              </a:solidFill>
              <a:latin typeface="楷体_GB2312" pitchFamily="1" charset="-122"/>
              <a:ea typeface="楷体_GB2312" pitchFamily="1" charset="-122"/>
            </a:endParaRPr>
          </a:p>
        </p:txBody>
      </p:sp>
      <p:pic>
        <p:nvPicPr>
          <p:cNvPr id="82951" name="Picture 1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6813" y="2214563"/>
            <a:ext cx="3556000"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2" name="Text Box 12"/>
          <p:cNvSpPr txBox="1">
            <a:spLocks noChangeArrowheads="1"/>
          </p:cNvSpPr>
          <p:nvPr/>
        </p:nvSpPr>
        <p:spPr bwMode="auto">
          <a:xfrm>
            <a:off x="4689475" y="5499100"/>
            <a:ext cx="4454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9-55 </a:t>
            </a:r>
            <a:r>
              <a:rPr lang="zh-CN" altLang="en-US" sz="2000">
                <a:solidFill>
                  <a:schemeClr val="tx1"/>
                </a:solidFill>
                <a:latin typeface="楷体_GB2312" pitchFamily="1" charset="-122"/>
                <a:ea typeface="楷体_GB2312" pitchFamily="1" charset="-122"/>
                <a:hlinkClick r:id="rId5" action="ppaction://hlinkfile"/>
              </a:rPr>
              <a:t>消隐后的立方体透视投影 </a:t>
            </a:r>
            <a:endParaRPr lang="zh-CN" altLang="en-US" sz="2000">
              <a:solidFill>
                <a:schemeClr val="tx1"/>
              </a:solidFill>
              <a:latin typeface="楷体_GB2312" pitchFamily="1" charset="-122"/>
              <a:ea typeface="楷体_GB2312" pitchFamily="1"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383E6C30-99BB-44E9-8C61-491783D9285D}" type="slidenum">
              <a:rPr lang="en-US" altLang="zh-CN" sz="1200">
                <a:solidFill>
                  <a:schemeClr val="tx1"/>
                </a:solidFill>
                <a:latin typeface="Garamond" pitchFamily="18" charset="0"/>
              </a:rPr>
              <a:pPr algn="r" eaLnBrk="1" hangingPunct="1">
                <a:spcBef>
                  <a:spcPct val="0"/>
                </a:spcBef>
              </a:pPr>
              <a:t>80</a:t>
            </a:fld>
            <a:endParaRPr lang="en-US" altLang="zh-CN" sz="1200">
              <a:solidFill>
                <a:schemeClr val="tx1"/>
              </a:solidFill>
              <a:latin typeface="Garamond" pitchFamily="18" charset="0"/>
            </a:endParaRPr>
          </a:p>
        </p:txBody>
      </p:sp>
      <p:pic>
        <p:nvPicPr>
          <p:cNvPr id="83971"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7713" y="261938"/>
            <a:ext cx="3509962"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2"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7300" y="279400"/>
            <a:ext cx="3600450"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3"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6613" y="3376613"/>
            <a:ext cx="3375025"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4"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57788" y="3354388"/>
            <a:ext cx="3419475"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5" name="Rectangle 8"/>
          <p:cNvSpPr>
            <a:spLocks noChangeArrowheads="1"/>
          </p:cNvSpPr>
          <p:nvPr/>
        </p:nvSpPr>
        <p:spPr bwMode="auto">
          <a:xfrm>
            <a:off x="0" y="-584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83976" name="Rectangle 9"/>
          <p:cNvSpPr>
            <a:spLocks noChangeArrowheads="1"/>
          </p:cNvSpPr>
          <p:nvPr/>
        </p:nvSpPr>
        <p:spPr bwMode="auto">
          <a:xfrm>
            <a:off x="4464050" y="1062038"/>
            <a:ext cx="215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1000">
                <a:solidFill>
                  <a:schemeClr val="tx1"/>
                </a:solidFill>
                <a:latin typeface="Times New Roman" pitchFamily="18" charset="0"/>
                <a:cs typeface="Times New Roman" pitchFamily="18" charset="0"/>
              </a:rPr>
              <a:t> </a:t>
            </a:r>
            <a:endParaRPr lang="zh-CN" altLang="en-US">
              <a:solidFill>
                <a:schemeClr val="tx1"/>
              </a:solidFill>
            </a:endParaRPr>
          </a:p>
        </p:txBody>
      </p:sp>
      <p:sp>
        <p:nvSpPr>
          <p:cNvPr id="83977" name="Rectangle 10"/>
          <p:cNvSpPr>
            <a:spLocks noChangeArrowheads="1"/>
          </p:cNvSpPr>
          <p:nvPr/>
        </p:nvSpPr>
        <p:spPr bwMode="auto">
          <a:xfrm>
            <a:off x="881063" y="2889250"/>
            <a:ext cx="3222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9-57 </a:t>
            </a:r>
            <a:r>
              <a:rPr lang="zh-CN" altLang="en-US" sz="2000">
                <a:solidFill>
                  <a:schemeClr val="tx1"/>
                </a:solidFill>
                <a:latin typeface="楷体_GB2312" pitchFamily="1" charset="-122"/>
                <a:ea typeface="楷体_GB2312" pitchFamily="1" charset="-122"/>
                <a:hlinkClick r:id="rId6" action="ppaction://hlinkfile"/>
              </a:rPr>
              <a:t>立方体虚线消隐</a:t>
            </a:r>
            <a:endParaRPr lang="zh-CN" altLang="en-US" sz="2000">
              <a:solidFill>
                <a:schemeClr val="tx1"/>
              </a:solidFill>
              <a:latin typeface="楷体_GB2312" pitchFamily="1" charset="-122"/>
              <a:ea typeface="楷体_GB2312" pitchFamily="1" charset="-122"/>
            </a:endParaRPr>
          </a:p>
        </p:txBody>
      </p:sp>
      <p:sp>
        <p:nvSpPr>
          <p:cNvPr id="83978" name="Rectangle 13"/>
          <p:cNvSpPr>
            <a:spLocks noChangeArrowheads="1"/>
          </p:cNvSpPr>
          <p:nvPr/>
        </p:nvSpPr>
        <p:spPr bwMode="auto">
          <a:xfrm>
            <a:off x="5021263" y="2889250"/>
            <a:ext cx="36814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9-58 </a:t>
            </a:r>
            <a:r>
              <a:rPr lang="zh-CN" altLang="en-US" sz="2000">
                <a:solidFill>
                  <a:schemeClr val="tx1"/>
                </a:solidFill>
                <a:latin typeface="楷体_GB2312" pitchFamily="1" charset="-122"/>
                <a:ea typeface="楷体_GB2312" pitchFamily="1" charset="-122"/>
                <a:hlinkClick r:id="rId7" action="ppaction://hlinkfile"/>
              </a:rPr>
              <a:t>正八面体虚线消隐</a:t>
            </a:r>
            <a:endParaRPr lang="zh-CN" altLang="en-US" sz="2000">
              <a:solidFill>
                <a:schemeClr val="tx1"/>
              </a:solidFill>
              <a:latin typeface="楷体_GB2312" pitchFamily="1" charset="-122"/>
              <a:ea typeface="楷体_GB2312" pitchFamily="1" charset="-122"/>
            </a:endParaRPr>
          </a:p>
        </p:txBody>
      </p:sp>
      <p:sp>
        <p:nvSpPr>
          <p:cNvPr id="83979" name="Text Box 14"/>
          <p:cNvSpPr txBox="1">
            <a:spLocks noChangeArrowheads="1"/>
          </p:cNvSpPr>
          <p:nvPr/>
        </p:nvSpPr>
        <p:spPr bwMode="auto">
          <a:xfrm>
            <a:off x="250825" y="6156325"/>
            <a:ext cx="4365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9-59 </a:t>
            </a:r>
            <a:r>
              <a:rPr lang="zh-CN" altLang="en-US" sz="2000">
                <a:solidFill>
                  <a:schemeClr val="tx1"/>
                </a:solidFill>
                <a:latin typeface="楷体_GB2312" pitchFamily="1" charset="-122"/>
                <a:ea typeface="楷体_GB2312" pitchFamily="1" charset="-122"/>
                <a:hlinkClick r:id="rId8" action="ppaction://hlinkfile"/>
              </a:rPr>
              <a:t>正十二面体虚线消隐 </a:t>
            </a:r>
            <a:endParaRPr lang="zh-CN" altLang="en-US" sz="2000">
              <a:solidFill>
                <a:schemeClr val="tx1"/>
              </a:solidFill>
              <a:latin typeface="楷体_GB2312" pitchFamily="1" charset="-122"/>
              <a:ea typeface="楷体_GB2312" pitchFamily="1" charset="-122"/>
            </a:endParaRPr>
          </a:p>
        </p:txBody>
      </p:sp>
      <p:sp>
        <p:nvSpPr>
          <p:cNvPr id="83980" name="Text Box 15"/>
          <p:cNvSpPr txBox="1">
            <a:spLocks noChangeArrowheads="1"/>
          </p:cNvSpPr>
          <p:nvPr/>
        </p:nvSpPr>
        <p:spPr bwMode="auto">
          <a:xfrm>
            <a:off x="4238625" y="6129338"/>
            <a:ext cx="4905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9-60 </a:t>
            </a:r>
            <a:r>
              <a:rPr lang="zh-CN" altLang="en-US" sz="2000">
                <a:solidFill>
                  <a:schemeClr val="tx1"/>
                </a:solidFill>
                <a:latin typeface="楷体_GB2312" pitchFamily="1" charset="-122"/>
                <a:ea typeface="楷体_GB2312" pitchFamily="1" charset="-122"/>
                <a:hlinkClick r:id="rId9" action="ppaction://hlinkfile"/>
              </a:rPr>
              <a:t>正二十面体虚线消隐 </a:t>
            </a:r>
            <a:endParaRPr lang="zh-CN" altLang="en-US" sz="2000">
              <a:solidFill>
                <a:schemeClr val="tx1"/>
              </a:solidFill>
              <a:latin typeface="楷体_GB2312" pitchFamily="1" charset="-122"/>
              <a:ea typeface="楷体_GB2312" pitchFamily="1"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D38B7F80-0B4E-4A6A-9C29-479C5A4CB5C2}" type="slidenum">
              <a:rPr lang="en-US" altLang="zh-CN" sz="1200">
                <a:solidFill>
                  <a:schemeClr val="tx1"/>
                </a:solidFill>
                <a:latin typeface="Garamond" pitchFamily="18" charset="0"/>
              </a:rPr>
              <a:pPr algn="r" eaLnBrk="1" hangingPunct="1">
                <a:spcBef>
                  <a:spcPct val="0"/>
                </a:spcBef>
              </a:pPr>
              <a:t>81</a:t>
            </a:fld>
            <a:endParaRPr lang="en-US" altLang="zh-CN" sz="1200">
              <a:solidFill>
                <a:schemeClr val="tx1"/>
              </a:solidFill>
              <a:latin typeface="Garamond" pitchFamily="18" charset="0"/>
            </a:endParaRPr>
          </a:p>
        </p:txBody>
      </p:sp>
      <p:sp>
        <p:nvSpPr>
          <p:cNvPr id="84995" name="Rectangle 2"/>
          <p:cNvSpPr>
            <a:spLocks noChangeArrowheads="1"/>
          </p:cNvSpPr>
          <p:nvPr/>
        </p:nvSpPr>
        <p:spPr bwMode="auto">
          <a:xfrm>
            <a:off x="385763" y="249238"/>
            <a:ext cx="42687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3200" b="1">
                <a:solidFill>
                  <a:schemeClr val="tx1"/>
                </a:solidFill>
                <a:latin typeface="楷体_GB2312" pitchFamily="1" charset="-122"/>
                <a:ea typeface="楷体_GB2312" pitchFamily="1" charset="-122"/>
              </a:rPr>
              <a:t>9.3.2 </a:t>
            </a:r>
            <a:r>
              <a:rPr lang="zh-CN" altLang="en-US" sz="3200" b="1">
                <a:solidFill>
                  <a:schemeClr val="tx1"/>
                </a:solidFill>
                <a:latin typeface="楷体_GB2312" pitchFamily="1" charset="-122"/>
                <a:ea typeface="楷体_GB2312" pitchFamily="1" charset="-122"/>
              </a:rPr>
              <a:t>曲面体消隐算法</a:t>
            </a:r>
          </a:p>
        </p:txBody>
      </p:sp>
      <p:sp>
        <p:nvSpPr>
          <p:cNvPr id="84996" name="Text Box 3"/>
          <p:cNvSpPr txBox="1">
            <a:spLocks noChangeArrowheads="1"/>
          </p:cNvSpPr>
          <p:nvPr/>
        </p:nvSpPr>
        <p:spPr bwMode="auto">
          <a:xfrm>
            <a:off x="250825" y="1223963"/>
            <a:ext cx="8461375" cy="2049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20000"/>
              </a:lnSpc>
              <a:buClr>
                <a:srgbClr val="FF0066"/>
              </a:buClr>
              <a:buFont typeface="Wingdings" pitchFamily="2" charset="2"/>
              <a:buNone/>
            </a:pPr>
            <a:r>
              <a:rPr lang="zh-CN" altLang="en-US" dirty="0">
                <a:solidFill>
                  <a:schemeClr val="tx1"/>
                </a:solidFill>
                <a:ea typeface="楷体_GB2312" pitchFamily="1" charset="-122"/>
              </a:rPr>
              <a:t>      </a:t>
            </a:r>
            <a:r>
              <a:rPr lang="zh-CN" altLang="en-US" b="1" dirty="0">
                <a:solidFill>
                  <a:srgbClr val="3333FF"/>
                </a:solidFill>
                <a:latin typeface="方正粗黑宋简体" panose="02000000000000000000" pitchFamily="2" charset="-122"/>
                <a:ea typeface="方正粗黑宋简体" panose="02000000000000000000" pitchFamily="2" charset="-122"/>
              </a:rPr>
              <a:t>曲面</a:t>
            </a:r>
            <a:r>
              <a:rPr lang="zh-CN" altLang="en-US" dirty="0">
                <a:solidFill>
                  <a:schemeClr val="tx1"/>
                </a:solidFill>
                <a:ea typeface="楷体_GB2312" pitchFamily="1" charset="-122"/>
              </a:rPr>
              <a:t>体可以采用</a:t>
            </a:r>
            <a:r>
              <a:rPr lang="zh-CN" altLang="en-US" sz="2000" b="1" dirty="0">
                <a:solidFill>
                  <a:srgbClr val="FF0000"/>
                </a:solidFill>
                <a:latin typeface="方正粗黑宋简体" panose="02000000000000000000" pitchFamily="2" charset="-122"/>
                <a:ea typeface="方正粗黑宋简体" panose="02000000000000000000" pitchFamily="2" charset="-122"/>
              </a:rPr>
              <a:t>有限单元法</a:t>
            </a:r>
            <a:r>
              <a:rPr lang="zh-CN" altLang="en-US" dirty="0">
                <a:solidFill>
                  <a:schemeClr val="tx1"/>
                </a:solidFill>
                <a:ea typeface="楷体_GB2312" pitchFamily="1" charset="-122"/>
              </a:rPr>
              <a:t>划分为</a:t>
            </a:r>
            <a:r>
              <a:rPr lang="zh-CN" altLang="en-US" sz="2000" b="1" dirty="0">
                <a:solidFill>
                  <a:srgbClr val="3333FF"/>
                </a:solidFill>
                <a:latin typeface="方正粗黑宋简体" panose="02000000000000000000" pitchFamily="2" charset="-122"/>
                <a:ea typeface="方正粗黑宋简体" panose="02000000000000000000" pitchFamily="2" charset="-122"/>
              </a:rPr>
              <a:t>若干个小曲面区域</a:t>
            </a:r>
            <a:r>
              <a:rPr lang="zh-CN" altLang="en-US" dirty="0">
                <a:solidFill>
                  <a:schemeClr val="tx1"/>
                </a:solidFill>
                <a:ea typeface="楷体_GB2312" pitchFamily="1" charset="-122"/>
              </a:rPr>
              <a:t>。常采用</a:t>
            </a:r>
            <a:r>
              <a:rPr lang="zh-CN" altLang="en-US" sz="2000" b="1" dirty="0">
                <a:solidFill>
                  <a:srgbClr val="3333FF"/>
                </a:solidFill>
                <a:latin typeface="方正粗黑宋简体" panose="02000000000000000000" pitchFamily="2" charset="-122"/>
                <a:ea typeface="方正粗黑宋简体" panose="02000000000000000000" pitchFamily="2" charset="-122"/>
              </a:rPr>
              <a:t>四边形平面片或三角形平面片</a:t>
            </a:r>
            <a:r>
              <a:rPr lang="zh-CN" altLang="en-US" dirty="0">
                <a:solidFill>
                  <a:schemeClr val="tx1"/>
                </a:solidFill>
                <a:ea typeface="楷体_GB2312" pitchFamily="1" charset="-122"/>
              </a:rPr>
              <a:t>来逼近曲面体。</a:t>
            </a:r>
          </a:p>
          <a:p>
            <a:pPr algn="l" eaLnBrk="1" hangingPunct="1">
              <a:lnSpc>
                <a:spcPct val="120000"/>
              </a:lnSpc>
              <a:buClr>
                <a:srgbClr val="FF0066"/>
              </a:buClr>
              <a:buFont typeface="Wingdings" pitchFamily="2" charset="2"/>
              <a:buNone/>
            </a:pPr>
            <a:r>
              <a:rPr lang="zh-CN" altLang="en-US" dirty="0">
                <a:solidFill>
                  <a:schemeClr val="tx1"/>
                </a:solidFill>
                <a:ea typeface="楷体_GB2312" pitchFamily="1" charset="-122"/>
              </a:rPr>
              <a:t>      消隐主要是</a:t>
            </a:r>
            <a:r>
              <a:rPr lang="zh-CN" altLang="en-US" sz="2000" b="1" dirty="0">
                <a:solidFill>
                  <a:srgbClr val="3333FF"/>
                </a:solidFill>
                <a:latin typeface="方正粗黑宋简体" panose="02000000000000000000" pitchFamily="2" charset="-122"/>
                <a:ea typeface="方正粗黑宋简体" panose="02000000000000000000" pitchFamily="2" charset="-122"/>
              </a:rPr>
              <a:t>确定各四边形平面片或三角形平面片的可见性</a:t>
            </a:r>
            <a:r>
              <a:rPr lang="zh-CN" altLang="en-US" dirty="0">
                <a:solidFill>
                  <a:schemeClr val="tx1"/>
                </a:solidFill>
                <a:ea typeface="楷体_GB2312" pitchFamily="1" charset="-122"/>
              </a:rPr>
              <a:t>，与凸多面体消隐类似，即用</a:t>
            </a:r>
            <a:r>
              <a:rPr lang="zh-CN" altLang="en-US" sz="2000" b="1" dirty="0">
                <a:solidFill>
                  <a:srgbClr val="FF0000"/>
                </a:solidFill>
                <a:latin typeface="方正粗黑宋简体" panose="02000000000000000000" pitchFamily="2" charset="-122"/>
                <a:ea typeface="方正粗黑宋简体" panose="02000000000000000000" pitchFamily="2" charset="-122"/>
              </a:rPr>
              <a:t>外法矢量和视矢量的数量积来进行可见性检测。</a:t>
            </a:r>
          </a:p>
        </p:txBody>
      </p:sp>
      <p:sp>
        <p:nvSpPr>
          <p:cNvPr id="84998" name="Text Box 8"/>
          <p:cNvSpPr txBox="1">
            <a:spLocks noChangeArrowheads="1"/>
          </p:cNvSpPr>
          <p:nvPr/>
        </p:nvSpPr>
        <p:spPr bwMode="auto">
          <a:xfrm>
            <a:off x="431800" y="4014788"/>
            <a:ext cx="8416925" cy="2012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30000"/>
              </a:lnSpc>
              <a:buClr>
                <a:srgbClr val="FF0066"/>
              </a:buClr>
              <a:buFont typeface="Wingdings" pitchFamily="2" charset="2"/>
              <a:buNone/>
            </a:pPr>
            <a:r>
              <a:rPr lang="zh-CN" altLang="en-US" sz="2000" b="1" dirty="0">
                <a:solidFill>
                  <a:srgbClr val="FF0000"/>
                </a:solidFill>
                <a:latin typeface="方正粗黑宋简体" panose="02000000000000000000" pitchFamily="2" charset="-122"/>
                <a:ea typeface="方正粗黑宋简体" panose="02000000000000000000" pitchFamily="2" charset="-122"/>
              </a:rPr>
              <a:t>球面</a:t>
            </a:r>
            <a:r>
              <a:rPr lang="zh-CN" altLang="en-US" dirty="0">
                <a:solidFill>
                  <a:schemeClr val="tx1"/>
                </a:solidFill>
                <a:latin typeface="楷体_GB2312" pitchFamily="1" charset="-122"/>
                <a:ea typeface="楷体_GB2312" pitchFamily="1" charset="-122"/>
              </a:rPr>
              <a:t>可用</a:t>
            </a:r>
            <a:r>
              <a:rPr lang="zh-CN" altLang="en-US" sz="2000" b="1" dirty="0">
                <a:solidFill>
                  <a:srgbClr val="FF0000"/>
                </a:solidFill>
                <a:latin typeface="方正粗黑宋简体" panose="02000000000000000000" pitchFamily="2" charset="-122"/>
                <a:ea typeface="方正粗黑宋简体" panose="02000000000000000000" pitchFamily="2" charset="-122"/>
                <a:sym typeface="Symbol" pitchFamily="18" charset="2"/>
              </a:rPr>
              <a:t></a:t>
            </a:r>
            <a:r>
              <a:rPr lang="zh-CN" altLang="en-US" sz="2000" b="1" dirty="0">
                <a:solidFill>
                  <a:srgbClr val="FF0000"/>
                </a:solidFill>
                <a:latin typeface="方正粗黑宋简体" panose="02000000000000000000" pitchFamily="2" charset="-122"/>
                <a:ea typeface="方正粗黑宋简体" panose="02000000000000000000" pitchFamily="2" charset="-122"/>
              </a:rPr>
              <a:t>参数簇和</a:t>
            </a:r>
            <a:r>
              <a:rPr lang="zh-CN" altLang="en-US" sz="2000" b="1" dirty="0">
                <a:solidFill>
                  <a:srgbClr val="FF0000"/>
                </a:solidFill>
                <a:latin typeface="方正粗黑宋简体" panose="02000000000000000000" pitchFamily="2" charset="-122"/>
                <a:ea typeface="方正粗黑宋简体" panose="02000000000000000000" pitchFamily="2" charset="-122"/>
                <a:sym typeface="Symbol" pitchFamily="18" charset="2"/>
              </a:rPr>
              <a:t></a:t>
            </a:r>
            <a:r>
              <a:rPr lang="zh-CN" altLang="en-US" sz="2000" b="1" dirty="0">
                <a:solidFill>
                  <a:srgbClr val="FF0000"/>
                </a:solidFill>
                <a:latin typeface="方正粗黑宋简体" panose="02000000000000000000" pitchFamily="2" charset="-122"/>
                <a:ea typeface="方正粗黑宋简体" panose="02000000000000000000" pitchFamily="2" charset="-122"/>
              </a:rPr>
              <a:t>参数曲线簇</a:t>
            </a:r>
            <a:r>
              <a:rPr lang="zh-CN" altLang="en-US" dirty="0">
                <a:solidFill>
                  <a:schemeClr val="tx1"/>
                </a:solidFill>
                <a:latin typeface="楷体_GB2312" pitchFamily="1" charset="-122"/>
                <a:ea typeface="楷体_GB2312" pitchFamily="1" charset="-122"/>
              </a:rPr>
              <a:t>所构成的</a:t>
            </a:r>
            <a:r>
              <a:rPr lang="zh-CN" altLang="en-US" sz="2000" b="1" dirty="0">
                <a:solidFill>
                  <a:srgbClr val="FF0000"/>
                </a:solidFill>
                <a:latin typeface="方正粗黑宋简体" panose="02000000000000000000" pitchFamily="2" charset="-122"/>
                <a:ea typeface="方正粗黑宋简体" panose="02000000000000000000" pitchFamily="2" charset="-122"/>
              </a:rPr>
              <a:t>四边形经纬网格</a:t>
            </a:r>
            <a:r>
              <a:rPr lang="zh-CN" altLang="en-US" dirty="0">
                <a:solidFill>
                  <a:schemeClr val="tx1"/>
                </a:solidFill>
                <a:latin typeface="楷体_GB2312" pitchFamily="1" charset="-122"/>
                <a:ea typeface="楷体_GB2312" pitchFamily="1" charset="-122"/>
              </a:rPr>
              <a:t>来表示，如图</a:t>
            </a:r>
            <a:r>
              <a:rPr lang="en-US" altLang="zh-CN" dirty="0">
                <a:solidFill>
                  <a:schemeClr val="tx1"/>
                </a:solidFill>
                <a:latin typeface="楷体_GB2312" pitchFamily="1" charset="-122"/>
                <a:ea typeface="楷体_GB2312" pitchFamily="1" charset="-122"/>
              </a:rPr>
              <a:t>9-61</a:t>
            </a:r>
            <a:r>
              <a:rPr lang="zh-CN" altLang="en-US" dirty="0">
                <a:solidFill>
                  <a:schemeClr val="tx1"/>
                </a:solidFill>
                <a:latin typeface="楷体_GB2312" pitchFamily="1" charset="-122"/>
                <a:ea typeface="楷体_GB2312" pitchFamily="1" charset="-122"/>
              </a:rPr>
              <a:t>所示。设相邻的两条</a:t>
            </a:r>
            <a:r>
              <a:rPr lang="zh-CN" altLang="en-US" sz="2000" b="1" dirty="0">
                <a:solidFill>
                  <a:srgbClr val="FF0000"/>
                </a:solidFill>
                <a:latin typeface="方正粗黑宋简体" panose="02000000000000000000" pitchFamily="2" charset="-122"/>
                <a:ea typeface="方正粗黑宋简体" panose="02000000000000000000" pitchFamily="2" charset="-122"/>
              </a:rPr>
              <a:t>纬线</a:t>
            </a:r>
            <a:r>
              <a:rPr lang="zh-CN" altLang="en-US" dirty="0">
                <a:solidFill>
                  <a:schemeClr val="tx1"/>
                </a:solidFill>
                <a:latin typeface="楷体_GB2312" pitchFamily="1" charset="-122"/>
                <a:ea typeface="楷体_GB2312" pitchFamily="1" charset="-122"/>
              </a:rPr>
              <a:t>分别为</a:t>
            </a:r>
            <a:r>
              <a:rPr lang="zh-CN" altLang="en-US"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rPr>
              <a:t>、 </a:t>
            </a:r>
            <a:r>
              <a:rPr lang="zh-CN" altLang="en-US"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rPr>
              <a:t>1</a:t>
            </a:r>
            <a:r>
              <a:rPr lang="zh-CN" altLang="en-US" dirty="0">
                <a:solidFill>
                  <a:schemeClr val="tx1"/>
                </a:solidFill>
                <a:latin typeface="楷体_GB2312" pitchFamily="1" charset="-122"/>
                <a:ea typeface="楷体_GB2312" pitchFamily="1" charset="-122"/>
              </a:rPr>
              <a:t>，相邻的两条</a:t>
            </a:r>
            <a:r>
              <a:rPr lang="zh-CN" altLang="en-US" sz="2000" b="1" dirty="0">
                <a:solidFill>
                  <a:srgbClr val="FF0000"/>
                </a:solidFill>
                <a:latin typeface="方正粗黑宋简体" panose="02000000000000000000" pitchFamily="2" charset="-122"/>
                <a:ea typeface="方正粗黑宋简体" panose="02000000000000000000" pitchFamily="2" charset="-122"/>
              </a:rPr>
              <a:t>经线</a:t>
            </a:r>
            <a:r>
              <a:rPr lang="zh-CN" altLang="en-US" dirty="0">
                <a:solidFill>
                  <a:schemeClr val="tx1"/>
                </a:solidFill>
                <a:latin typeface="楷体_GB2312" pitchFamily="1" charset="-122"/>
                <a:ea typeface="楷体_GB2312" pitchFamily="1" charset="-122"/>
              </a:rPr>
              <a:t>分别为</a:t>
            </a:r>
            <a:r>
              <a:rPr lang="zh-CN" altLang="en-US"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rPr>
              <a:t>、 </a:t>
            </a:r>
            <a:r>
              <a:rPr lang="zh-CN" altLang="en-US"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rPr>
              <a:t>1</a:t>
            </a:r>
            <a:r>
              <a:rPr lang="zh-CN" altLang="en-US" dirty="0">
                <a:solidFill>
                  <a:schemeClr val="tx1"/>
                </a:solidFill>
                <a:latin typeface="楷体_GB2312" pitchFamily="1" charset="-122"/>
                <a:ea typeface="楷体_GB2312" pitchFamily="1" charset="-122"/>
              </a:rPr>
              <a:t>，则</a:t>
            </a:r>
            <a:r>
              <a:rPr lang="zh-CN" altLang="en-US" sz="2000" b="1" dirty="0">
                <a:solidFill>
                  <a:srgbClr val="FF0000"/>
                </a:solidFill>
                <a:latin typeface="方正粗黑宋简体" panose="02000000000000000000" pitchFamily="2" charset="-122"/>
                <a:ea typeface="方正粗黑宋简体" panose="02000000000000000000" pitchFamily="2" charset="-122"/>
              </a:rPr>
              <a:t>四边形平面片</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0</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1</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2</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3</a:t>
            </a:r>
            <a:r>
              <a:rPr lang="zh-CN" altLang="en-US" dirty="0">
                <a:solidFill>
                  <a:schemeClr val="tx1"/>
                </a:solidFill>
                <a:latin typeface="楷体_GB2312" pitchFamily="1" charset="-122"/>
                <a:ea typeface="楷体_GB2312" pitchFamily="1" charset="-122"/>
              </a:rPr>
              <a:t>各点的坐标为：</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0</a:t>
            </a:r>
            <a:r>
              <a:rPr lang="en-US" altLang="zh-CN"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rPr>
              <a:t>0</a:t>
            </a:r>
            <a:r>
              <a:rPr lang="en-US" altLang="zh-CN"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rPr>
              <a:t>0</a:t>
            </a:r>
            <a:r>
              <a:rPr lang="en-US" altLang="zh-CN" dirty="0">
                <a:solidFill>
                  <a:schemeClr val="tx1"/>
                </a:solidFill>
                <a:latin typeface="楷体_GB2312" pitchFamily="1" charset="-122"/>
                <a:ea typeface="楷体_GB2312" pitchFamily="1" charset="-122"/>
              </a:rPr>
              <a:t>)</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1</a:t>
            </a:r>
            <a:r>
              <a:rPr lang="en-US" altLang="zh-CN"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rPr>
              <a:t>1</a:t>
            </a:r>
            <a:r>
              <a:rPr lang="en-US" altLang="zh-CN"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rPr>
              <a:t>0</a:t>
            </a:r>
            <a:r>
              <a:rPr lang="en-US" altLang="zh-CN" dirty="0">
                <a:solidFill>
                  <a:schemeClr val="tx1"/>
                </a:solidFill>
                <a:latin typeface="楷体_GB2312" pitchFamily="1" charset="-122"/>
                <a:ea typeface="楷体_GB2312" pitchFamily="1" charset="-122"/>
              </a:rPr>
              <a:t>)</a:t>
            </a:r>
            <a:r>
              <a:rPr lang="zh-CN" altLang="en-US" dirty="0">
                <a:solidFill>
                  <a:schemeClr val="tx1"/>
                </a:solidFill>
                <a:latin typeface="楷体_GB2312" pitchFamily="1" charset="-122"/>
                <a:ea typeface="楷体_GB2312" pitchFamily="1" charset="-122"/>
              </a:rPr>
              <a:t>、 </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2</a:t>
            </a:r>
            <a:r>
              <a:rPr lang="en-US" altLang="zh-CN"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rPr>
              <a:t>1</a:t>
            </a:r>
            <a:r>
              <a:rPr lang="en-US" altLang="zh-CN"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rPr>
              <a:t>1</a:t>
            </a:r>
            <a:r>
              <a:rPr lang="en-US" altLang="zh-CN" dirty="0">
                <a:solidFill>
                  <a:schemeClr val="tx1"/>
                </a:solidFill>
                <a:latin typeface="楷体_GB2312" pitchFamily="1" charset="-122"/>
                <a:ea typeface="楷体_GB2312" pitchFamily="1" charset="-122"/>
              </a:rPr>
              <a:t>)</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3</a:t>
            </a:r>
            <a:r>
              <a:rPr lang="en-US" altLang="zh-CN"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rPr>
              <a:t>， </a:t>
            </a:r>
            <a:r>
              <a:rPr lang="zh-CN" altLang="en-US"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rPr>
              <a:t>1</a:t>
            </a:r>
            <a:r>
              <a:rPr lang="en-US" altLang="zh-CN" dirty="0">
                <a:solidFill>
                  <a:schemeClr val="tx1"/>
                </a:solidFill>
                <a:latin typeface="楷体_GB2312" pitchFamily="1" charset="-122"/>
                <a:ea typeface="楷体_GB2312" pitchFamily="1" charset="-122"/>
              </a:rPr>
              <a:t>)</a:t>
            </a:r>
            <a:r>
              <a:rPr lang="zh-CN" altLang="en-US" dirty="0">
                <a:solidFill>
                  <a:schemeClr val="tx1"/>
                </a:solidFill>
                <a:latin typeface="楷体_GB2312" pitchFamily="1" charset="-122"/>
                <a:ea typeface="楷体_GB2312" pitchFamily="1" charset="-122"/>
              </a:rPr>
              <a:t>。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C37A2FE3-9ED5-4C2E-83E0-4AB502B9C2C8}" type="slidenum">
              <a:rPr lang="en-US" altLang="zh-CN" sz="1200">
                <a:solidFill>
                  <a:schemeClr val="tx1"/>
                </a:solidFill>
                <a:latin typeface="Garamond" pitchFamily="18" charset="0"/>
              </a:rPr>
              <a:pPr algn="r" eaLnBrk="1" hangingPunct="1">
                <a:spcBef>
                  <a:spcPct val="0"/>
                </a:spcBef>
              </a:pPr>
              <a:t>82</a:t>
            </a:fld>
            <a:endParaRPr lang="en-US" altLang="zh-CN" sz="1200">
              <a:solidFill>
                <a:schemeClr val="tx1"/>
              </a:solidFill>
              <a:latin typeface="Garamond" pitchFamily="18" charset="0"/>
            </a:endParaRPr>
          </a:p>
        </p:txBody>
      </p:sp>
      <p:sp>
        <p:nvSpPr>
          <p:cNvPr id="86019" name="Text Box 7"/>
          <p:cNvSpPr txBox="1">
            <a:spLocks noChangeArrowheads="1"/>
          </p:cNvSpPr>
          <p:nvPr/>
        </p:nvSpPr>
        <p:spPr bwMode="auto">
          <a:xfrm>
            <a:off x="476250" y="3608388"/>
            <a:ext cx="8010525"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40000"/>
              </a:lnSpc>
              <a:buClr>
                <a:srgbClr val="FF0066"/>
              </a:buClr>
              <a:buFont typeface="Wingdings" pitchFamily="2" charset="2"/>
              <a:buNone/>
            </a:pPr>
            <a:r>
              <a:rPr lang="zh-CN" altLang="en-US" dirty="0">
                <a:solidFill>
                  <a:schemeClr val="tx1"/>
                </a:solidFill>
                <a:latin typeface="楷体_GB2312" pitchFamily="1" charset="-122"/>
                <a:ea typeface="楷体_GB2312" pitchFamily="1" charset="-122"/>
              </a:rPr>
              <a:t>以</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1</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rPr>
              <a:t>和</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2</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rPr>
              <a:t>为</a:t>
            </a:r>
            <a:r>
              <a:rPr lang="zh-CN" altLang="en-US" b="1" dirty="0">
                <a:solidFill>
                  <a:srgbClr val="FF0000"/>
                </a:solidFill>
                <a:latin typeface="黑体" pitchFamily="49" charset="-122"/>
                <a:ea typeface="黑体" pitchFamily="49" charset="-122"/>
              </a:rPr>
              <a:t>边矢量</a:t>
            </a:r>
            <a:r>
              <a:rPr lang="zh-CN" altLang="en-US" dirty="0">
                <a:solidFill>
                  <a:schemeClr val="tx1"/>
                </a:solidFill>
                <a:latin typeface="楷体_GB2312" pitchFamily="1" charset="-122"/>
                <a:ea typeface="楷体_GB2312" pitchFamily="1" charset="-122"/>
              </a:rPr>
              <a:t>，计算</a:t>
            </a:r>
            <a:r>
              <a:rPr lang="zh-CN" altLang="en-US" sz="2000" b="1" dirty="0">
                <a:solidFill>
                  <a:srgbClr val="FF0000"/>
                </a:solidFill>
                <a:latin typeface="方正粗黑宋简体" panose="02000000000000000000" pitchFamily="2" charset="-122"/>
                <a:ea typeface="方正粗黑宋简体" panose="02000000000000000000" pitchFamily="2" charset="-122"/>
              </a:rPr>
              <a:t>四边形平面片</a:t>
            </a:r>
            <a:r>
              <a:rPr lang="zh-CN" altLang="en-US" dirty="0">
                <a:solidFill>
                  <a:schemeClr val="tx1"/>
                </a:solidFill>
                <a:latin typeface="楷体_GB2312" pitchFamily="1" charset="-122"/>
                <a:ea typeface="楷体_GB2312" pitchFamily="1" charset="-122"/>
              </a:rPr>
              <a:t>的</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0</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1</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2</a:t>
            </a:r>
            <a:r>
              <a:rPr lang="en-US" altLang="zh-CN" dirty="0">
                <a:solidFill>
                  <a:schemeClr val="tx1"/>
                </a:solidFill>
                <a:latin typeface="楷体_GB2312" pitchFamily="1" charset="-122"/>
                <a:ea typeface="楷体_GB2312" pitchFamily="1" charset="-122"/>
              </a:rPr>
              <a:t>V</a:t>
            </a:r>
            <a:r>
              <a:rPr lang="en-US" altLang="zh-CN" baseline="-25000" dirty="0">
                <a:solidFill>
                  <a:schemeClr val="tx1"/>
                </a:solidFill>
                <a:latin typeface="楷体_GB2312" pitchFamily="1" charset="-122"/>
                <a:ea typeface="楷体_GB2312" pitchFamily="1" charset="-122"/>
              </a:rPr>
              <a:t>3</a:t>
            </a:r>
            <a:r>
              <a:rPr lang="zh-CN" altLang="en-US" sz="2000" b="1" dirty="0">
                <a:solidFill>
                  <a:srgbClr val="FF0000"/>
                </a:solidFill>
                <a:latin typeface="方正粗黑宋简体" panose="02000000000000000000" pitchFamily="2" charset="-122"/>
                <a:ea typeface="方正粗黑宋简体" panose="02000000000000000000" pitchFamily="2" charset="-122"/>
              </a:rPr>
              <a:t>外法矢量</a:t>
            </a:r>
            <a:r>
              <a:rPr lang="zh-CN" altLang="en-US" dirty="0">
                <a:solidFill>
                  <a:schemeClr val="tx1"/>
                </a:solidFill>
                <a:latin typeface="楷体_GB2312" pitchFamily="1" charset="-122"/>
                <a:ea typeface="楷体_GB2312" pitchFamily="1" charset="-122"/>
              </a:rPr>
              <a:t>为：</a:t>
            </a:r>
          </a:p>
        </p:txBody>
      </p:sp>
      <p:sp>
        <p:nvSpPr>
          <p:cNvPr id="86020"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graphicFrame>
        <p:nvGraphicFramePr>
          <p:cNvPr id="86021" name="Object 5"/>
          <p:cNvGraphicFramePr>
            <a:graphicFrameLocks noChangeAspect="1"/>
          </p:cNvGraphicFramePr>
          <p:nvPr/>
        </p:nvGraphicFramePr>
        <p:xfrm>
          <a:off x="1644650" y="4194175"/>
          <a:ext cx="1622425" cy="542925"/>
        </p:xfrm>
        <a:graphic>
          <a:graphicData uri="http://schemas.openxmlformats.org/presentationml/2006/ole">
            <mc:AlternateContent xmlns:mc="http://schemas.openxmlformats.org/markup-compatibility/2006">
              <mc:Choice xmlns:v="urn:schemas-microsoft-com:vml" Requires="v">
                <p:oleObj spid="_x0000_s86167" r:id="rId3" imgW="939392" imgH="317362" progId="Equation.3">
                  <p:embed/>
                </p:oleObj>
              </mc:Choice>
              <mc:Fallback>
                <p:oleObj r:id="rId3" imgW="939392" imgH="317362" progId="Equation.3">
                  <p:embed/>
                  <p:pic>
                    <p:nvPicPr>
                      <p:cNvPr id="0" name="Picture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4650" y="4194175"/>
                        <a:ext cx="1622425"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22" name="Object 10"/>
          <p:cNvGraphicFramePr>
            <a:graphicFrameLocks noChangeAspect="1"/>
          </p:cNvGraphicFramePr>
          <p:nvPr/>
        </p:nvGraphicFramePr>
        <p:xfrm>
          <a:off x="2501900" y="188913"/>
          <a:ext cx="2790825" cy="2659062"/>
        </p:xfrm>
        <a:graphic>
          <a:graphicData uri="http://schemas.openxmlformats.org/presentationml/2006/ole">
            <mc:AlternateContent xmlns:mc="http://schemas.openxmlformats.org/markup-compatibility/2006">
              <mc:Choice xmlns:v="urn:schemas-microsoft-com:vml" Requires="v">
                <p:oleObj spid="_x0000_s86168" r:id="rId5" imgW="3064724" imgH="2926945" progId="Visio.Drawing.11">
                  <p:embed/>
                </p:oleObj>
              </mc:Choice>
              <mc:Fallback>
                <p:oleObj r:id="rId5" imgW="3064724" imgH="2926945" progId="Visio.Drawing.11">
                  <p:embed/>
                  <p:pic>
                    <p:nvPicPr>
                      <p:cNvPr id="0" name="Picture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1900" y="188913"/>
                        <a:ext cx="2790825" cy="2659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023" name="Text Box 11"/>
          <p:cNvSpPr txBox="1">
            <a:spLocks noChangeArrowheads="1"/>
          </p:cNvSpPr>
          <p:nvPr/>
        </p:nvSpPr>
        <p:spPr bwMode="auto">
          <a:xfrm>
            <a:off x="2457450" y="3024188"/>
            <a:ext cx="3600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9-60 </a:t>
            </a:r>
            <a:r>
              <a:rPr lang="zh-CN" altLang="en-US" sz="2000">
                <a:solidFill>
                  <a:schemeClr val="tx1"/>
                </a:solidFill>
                <a:latin typeface="楷体_GB2312" pitchFamily="1" charset="-122"/>
                <a:ea typeface="楷体_GB2312" pitchFamily="1" charset="-122"/>
              </a:rPr>
              <a:t>球的经纬网格 </a:t>
            </a:r>
          </a:p>
        </p:txBody>
      </p:sp>
      <p:sp>
        <p:nvSpPr>
          <p:cNvPr id="86024" name="Rectangle 12"/>
          <p:cNvSpPr>
            <a:spLocks noChangeArrowheads="1"/>
          </p:cNvSpPr>
          <p:nvPr/>
        </p:nvSpPr>
        <p:spPr bwMode="auto">
          <a:xfrm>
            <a:off x="7181850" y="4329113"/>
            <a:ext cx="1501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rPr>
              <a:t>（</a:t>
            </a:r>
            <a:r>
              <a:rPr lang="en-US" altLang="zh-CN">
                <a:solidFill>
                  <a:schemeClr val="tx1"/>
                </a:solidFill>
              </a:rPr>
              <a:t>9-9</a:t>
            </a:r>
            <a:r>
              <a:rPr lang="zh-CN" altLang="en-US">
                <a:solidFill>
                  <a:schemeClr val="tx1"/>
                </a:solidFill>
              </a:rPr>
              <a:t>）</a:t>
            </a:r>
          </a:p>
        </p:txBody>
      </p:sp>
      <p:sp>
        <p:nvSpPr>
          <p:cNvPr id="86025" name="Rectangle 13"/>
          <p:cNvSpPr>
            <a:spLocks noChangeArrowheads="1"/>
          </p:cNvSpPr>
          <p:nvPr/>
        </p:nvSpPr>
        <p:spPr bwMode="auto">
          <a:xfrm>
            <a:off x="805221" y="5003800"/>
            <a:ext cx="39966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dirty="0">
                <a:solidFill>
                  <a:schemeClr val="tx1"/>
                </a:solidFill>
                <a:ea typeface="楷体_GB2312" pitchFamily="1" charset="-122"/>
              </a:rPr>
              <a:t>给定</a:t>
            </a:r>
            <a:r>
              <a:rPr lang="zh-CN" altLang="en-US" sz="2000" b="1" dirty="0">
                <a:solidFill>
                  <a:srgbClr val="FF0000"/>
                </a:solidFill>
                <a:latin typeface="方正粗黑宋简体" panose="02000000000000000000" pitchFamily="2" charset="-122"/>
                <a:ea typeface="方正粗黑宋简体" panose="02000000000000000000" pitchFamily="2" charset="-122"/>
              </a:rPr>
              <a:t>视点位置球面坐标表示</a:t>
            </a:r>
            <a:r>
              <a:rPr lang="zh-CN" altLang="en-US" dirty="0">
                <a:solidFill>
                  <a:schemeClr val="tx1"/>
                </a:solidFill>
                <a:ea typeface="楷体_GB2312" pitchFamily="1" charset="-122"/>
              </a:rPr>
              <a:t>为：</a:t>
            </a:r>
          </a:p>
        </p:txBody>
      </p:sp>
      <p:sp>
        <p:nvSpPr>
          <p:cNvPr id="86026" name="Rectangle 14"/>
          <p:cNvSpPr>
            <a:spLocks noChangeArrowheads="1"/>
          </p:cNvSpPr>
          <p:nvPr/>
        </p:nvSpPr>
        <p:spPr bwMode="auto">
          <a:xfrm>
            <a:off x="4616450" y="5049838"/>
            <a:ext cx="49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dirty="0">
                <a:solidFill>
                  <a:schemeClr val="tx1"/>
                </a:solidFill>
              </a:rPr>
              <a:t>（</a:t>
            </a:r>
          </a:p>
        </p:txBody>
      </p:sp>
      <p:graphicFrame>
        <p:nvGraphicFramePr>
          <p:cNvPr id="86028" name="Object 12"/>
          <p:cNvGraphicFramePr>
            <a:graphicFrameLocks noChangeAspect="1"/>
          </p:cNvGraphicFramePr>
          <p:nvPr/>
        </p:nvGraphicFramePr>
        <p:xfrm>
          <a:off x="5067300" y="5138738"/>
          <a:ext cx="1125538" cy="295275"/>
        </p:xfrm>
        <a:graphic>
          <a:graphicData uri="http://schemas.openxmlformats.org/presentationml/2006/ole">
            <mc:AlternateContent xmlns:mc="http://schemas.openxmlformats.org/markup-compatibility/2006">
              <mc:Choice xmlns:v="urn:schemas-microsoft-com:vml" Requires="v">
                <p:oleObj spid="_x0000_s86169" r:id="rId7" imgW="762331" imgH="203288" progId="Equation.3">
                  <p:embed/>
                </p:oleObj>
              </mc:Choice>
              <mc:Fallback>
                <p:oleObj r:id="rId7" imgW="762331" imgH="203288" progId="Equation.3">
                  <p:embed/>
                  <p:pic>
                    <p:nvPicPr>
                      <p:cNvPr id="0" name="Picture 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67300" y="5138738"/>
                        <a:ext cx="1125538" cy="295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029" name="Rectangle 17"/>
          <p:cNvSpPr>
            <a:spLocks noChangeArrowheads="1"/>
          </p:cNvSpPr>
          <p:nvPr/>
        </p:nvSpPr>
        <p:spPr bwMode="auto">
          <a:xfrm>
            <a:off x="6237288" y="5003800"/>
            <a:ext cx="268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a:solidFill>
                  <a:schemeClr val="tx1"/>
                </a:solidFill>
              </a:rPr>
              <a:t>,</a:t>
            </a:r>
          </a:p>
        </p:txBody>
      </p:sp>
      <p:graphicFrame>
        <p:nvGraphicFramePr>
          <p:cNvPr id="86031" name="Object 15"/>
          <p:cNvGraphicFramePr>
            <a:graphicFrameLocks noChangeAspect="1"/>
          </p:cNvGraphicFramePr>
          <p:nvPr/>
        </p:nvGraphicFramePr>
        <p:xfrm>
          <a:off x="6507163" y="5138738"/>
          <a:ext cx="1077912" cy="282575"/>
        </p:xfrm>
        <a:graphic>
          <a:graphicData uri="http://schemas.openxmlformats.org/presentationml/2006/ole">
            <mc:AlternateContent xmlns:mc="http://schemas.openxmlformats.org/markup-compatibility/2006">
              <mc:Choice xmlns:v="urn:schemas-microsoft-com:vml" Requires="v">
                <p:oleObj spid="_x0000_s86170" r:id="rId9" imgW="762331" imgH="203288" progId="Equation.3">
                  <p:embed/>
                </p:oleObj>
              </mc:Choice>
              <mc:Fallback>
                <p:oleObj r:id="rId9" imgW="762331" imgH="203288" progId="Equation.3">
                  <p:embed/>
                  <p:pic>
                    <p:nvPicPr>
                      <p:cNvPr id="0" name="Picture 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07163" y="5138738"/>
                        <a:ext cx="1077912" cy="282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032" name="Rectangle 20"/>
          <p:cNvSpPr>
            <a:spLocks noChangeArrowheads="1"/>
          </p:cNvSpPr>
          <p:nvPr/>
        </p:nvSpPr>
        <p:spPr bwMode="auto">
          <a:xfrm>
            <a:off x="7542213" y="4959350"/>
            <a:ext cx="268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a:solidFill>
                  <a:schemeClr val="tx1"/>
                </a:solidFill>
              </a:rPr>
              <a:t>,</a:t>
            </a:r>
          </a:p>
        </p:txBody>
      </p:sp>
      <p:graphicFrame>
        <p:nvGraphicFramePr>
          <p:cNvPr id="86034" name="Object 18"/>
          <p:cNvGraphicFramePr>
            <a:graphicFrameLocks noChangeAspect="1"/>
          </p:cNvGraphicFramePr>
          <p:nvPr/>
        </p:nvGraphicFramePr>
        <p:xfrm>
          <a:off x="7858125" y="5138738"/>
          <a:ext cx="1079500" cy="273050"/>
        </p:xfrm>
        <a:graphic>
          <a:graphicData uri="http://schemas.openxmlformats.org/presentationml/2006/ole">
            <mc:AlternateContent xmlns:mc="http://schemas.openxmlformats.org/markup-compatibility/2006">
              <mc:Choice xmlns:v="urn:schemas-microsoft-com:vml" Requires="v">
                <p:oleObj spid="_x0000_s86171" r:id="rId10" imgW="787400" imgH="203200" progId="Equation.3">
                  <p:embed/>
                </p:oleObj>
              </mc:Choice>
              <mc:Fallback>
                <p:oleObj r:id="rId10" imgW="787400" imgH="203200" progId="Equation.3">
                  <p:embed/>
                  <p:pic>
                    <p:nvPicPr>
                      <p:cNvPr id="0" name="Picture 4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58125" y="5138738"/>
                        <a:ext cx="1079500" cy="273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035" name="Rectangle 23"/>
          <p:cNvSpPr>
            <a:spLocks noChangeArrowheads="1"/>
          </p:cNvSpPr>
          <p:nvPr/>
        </p:nvSpPr>
        <p:spPr bwMode="auto">
          <a:xfrm>
            <a:off x="8858250" y="5003800"/>
            <a:ext cx="28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a:solidFill>
                  <a:schemeClr val="tx1"/>
                </a:solidFill>
              </a:rPr>
              <a:t>)</a:t>
            </a:r>
          </a:p>
        </p:txBody>
      </p:sp>
      <p:sp>
        <p:nvSpPr>
          <p:cNvPr id="86036" name="Rectangle 24"/>
          <p:cNvSpPr>
            <a:spLocks noChangeArrowheads="1"/>
          </p:cNvSpPr>
          <p:nvPr/>
        </p:nvSpPr>
        <p:spPr bwMode="auto">
          <a:xfrm>
            <a:off x="476250" y="5589588"/>
            <a:ext cx="81010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a:solidFill>
                  <a:schemeClr val="tx1"/>
                </a:solidFill>
                <a:latin typeface="楷体_GB2312" pitchFamily="1" charset="-122"/>
                <a:ea typeface="楷体_GB2312" pitchFamily="1" charset="-122"/>
              </a:rPr>
              <a:t>对于四边形平面片</a:t>
            </a:r>
            <a:r>
              <a:rPr lang="en-US" altLang="zh-CN">
                <a:solidFill>
                  <a:schemeClr val="tx1"/>
                </a:solidFill>
                <a:latin typeface="楷体_GB2312" pitchFamily="1" charset="-122"/>
                <a:ea typeface="楷体_GB2312" pitchFamily="1" charset="-122"/>
              </a:rPr>
              <a:t>V</a:t>
            </a:r>
            <a:r>
              <a:rPr lang="en-US" altLang="zh-CN" baseline="-25000">
                <a:solidFill>
                  <a:schemeClr val="tx1"/>
                </a:solidFill>
                <a:latin typeface="楷体_GB2312" pitchFamily="1" charset="-122"/>
                <a:ea typeface="楷体_GB2312" pitchFamily="1" charset="-122"/>
              </a:rPr>
              <a:t>0</a:t>
            </a:r>
            <a:r>
              <a:rPr lang="en-US" altLang="zh-CN">
                <a:solidFill>
                  <a:schemeClr val="tx1"/>
                </a:solidFill>
                <a:latin typeface="楷体_GB2312" pitchFamily="1" charset="-122"/>
                <a:ea typeface="楷体_GB2312" pitchFamily="1" charset="-122"/>
              </a:rPr>
              <a:t>V</a:t>
            </a:r>
            <a:r>
              <a:rPr lang="en-US" altLang="zh-CN" baseline="-25000">
                <a:solidFill>
                  <a:schemeClr val="tx1"/>
                </a:solidFill>
                <a:latin typeface="楷体_GB2312" pitchFamily="1" charset="-122"/>
                <a:ea typeface="楷体_GB2312" pitchFamily="1" charset="-122"/>
              </a:rPr>
              <a:t>1</a:t>
            </a:r>
            <a:r>
              <a:rPr lang="en-US" altLang="zh-CN">
                <a:solidFill>
                  <a:schemeClr val="tx1"/>
                </a:solidFill>
                <a:latin typeface="楷体_GB2312" pitchFamily="1" charset="-122"/>
                <a:ea typeface="楷体_GB2312" pitchFamily="1" charset="-122"/>
              </a:rPr>
              <a:t>V</a:t>
            </a:r>
            <a:r>
              <a:rPr lang="en-US" altLang="zh-CN" baseline="-25000">
                <a:solidFill>
                  <a:schemeClr val="tx1"/>
                </a:solidFill>
                <a:latin typeface="楷体_GB2312" pitchFamily="1" charset="-122"/>
                <a:ea typeface="楷体_GB2312" pitchFamily="1" charset="-122"/>
              </a:rPr>
              <a:t>2</a:t>
            </a:r>
            <a:r>
              <a:rPr lang="en-US" altLang="zh-CN">
                <a:solidFill>
                  <a:schemeClr val="tx1"/>
                </a:solidFill>
                <a:latin typeface="楷体_GB2312" pitchFamily="1" charset="-122"/>
                <a:ea typeface="楷体_GB2312" pitchFamily="1" charset="-122"/>
              </a:rPr>
              <a:t>V</a:t>
            </a:r>
            <a:r>
              <a:rPr lang="en-US" altLang="zh-CN" baseline="-25000">
                <a:solidFill>
                  <a:schemeClr val="tx1"/>
                </a:solidFill>
                <a:latin typeface="楷体_GB2312" pitchFamily="1" charset="-122"/>
                <a:ea typeface="楷体_GB2312" pitchFamily="1" charset="-122"/>
              </a:rPr>
              <a:t>3</a:t>
            </a:r>
            <a:r>
              <a:rPr lang="zh-CN" altLang="en-US">
                <a:solidFill>
                  <a:schemeClr val="tx1"/>
                </a:solidFill>
                <a:latin typeface="楷体_GB2312" pitchFamily="1" charset="-122"/>
                <a:ea typeface="楷体_GB2312" pitchFamily="1" charset="-122"/>
              </a:rPr>
              <a:t>的参考点</a:t>
            </a:r>
            <a:r>
              <a:rPr lang="en-US" altLang="zh-CN">
                <a:solidFill>
                  <a:schemeClr val="tx1"/>
                </a:solidFill>
                <a:latin typeface="楷体_GB2312" pitchFamily="1" charset="-122"/>
                <a:ea typeface="楷体_GB2312" pitchFamily="1" charset="-122"/>
              </a:rPr>
              <a:t>V</a:t>
            </a:r>
            <a:r>
              <a:rPr lang="en-US" altLang="zh-CN" baseline="-25000">
                <a:solidFill>
                  <a:schemeClr val="tx1"/>
                </a:solidFill>
                <a:latin typeface="楷体_GB2312" pitchFamily="1" charset="-122"/>
                <a:ea typeface="楷体_GB2312" pitchFamily="1" charset="-122"/>
              </a:rPr>
              <a:t>0</a:t>
            </a:r>
            <a:r>
              <a:rPr lang="zh-CN" altLang="en-US">
                <a:solidFill>
                  <a:schemeClr val="tx1"/>
                </a:solidFill>
                <a:latin typeface="楷体_GB2312" pitchFamily="1" charset="-122"/>
                <a:ea typeface="楷体_GB2312" pitchFamily="1" charset="-122"/>
              </a:rPr>
              <a:t>（</a:t>
            </a:r>
            <a:r>
              <a:rPr lang="zh-CN" altLang="en-US">
                <a:solidFill>
                  <a:schemeClr val="tx1"/>
                </a:solidFill>
                <a:latin typeface="楷体_GB2312" pitchFamily="1" charset="-122"/>
                <a:ea typeface="楷体_GB2312" pitchFamily="1" charset="-122"/>
                <a:sym typeface="Symbol" pitchFamily="18" charset="2"/>
              </a:rPr>
              <a:t></a:t>
            </a:r>
            <a:r>
              <a:rPr lang="en-US" altLang="zh-CN" baseline="-25000">
                <a:solidFill>
                  <a:schemeClr val="tx1"/>
                </a:solidFill>
                <a:latin typeface="楷体_GB2312" pitchFamily="1" charset="-122"/>
                <a:ea typeface="楷体_GB2312" pitchFamily="1" charset="-122"/>
              </a:rPr>
              <a:t>0</a:t>
            </a:r>
            <a:r>
              <a:rPr lang="zh-CN" altLang="en-US">
                <a:solidFill>
                  <a:schemeClr val="tx1"/>
                </a:solidFill>
                <a:latin typeface="楷体_GB2312" pitchFamily="1" charset="-122"/>
                <a:ea typeface="楷体_GB2312" pitchFamily="1" charset="-122"/>
                <a:sym typeface="Symbol" pitchFamily="18" charset="2"/>
              </a:rPr>
              <a:t>，</a:t>
            </a:r>
            <a:r>
              <a:rPr lang="en-US" altLang="zh-CN" baseline="-25000">
                <a:solidFill>
                  <a:schemeClr val="tx1"/>
                </a:solidFill>
                <a:latin typeface="楷体_GB2312" pitchFamily="1" charset="-122"/>
                <a:ea typeface="楷体_GB2312" pitchFamily="1" charset="-122"/>
              </a:rPr>
              <a:t>0</a:t>
            </a:r>
            <a:r>
              <a:rPr lang="zh-CN" altLang="en-US">
                <a:solidFill>
                  <a:schemeClr val="tx1"/>
                </a:solidFill>
                <a:latin typeface="楷体_GB2312" pitchFamily="1" charset="-122"/>
                <a:ea typeface="楷体_GB2312" pitchFamily="1" charset="-122"/>
                <a:sym typeface="Symbol" pitchFamily="18" charset="2"/>
              </a:rPr>
              <a:t>），视矢量分量的计算公式为</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49EB2497-D579-4550-A3E5-D2936EEC9B1F}" type="slidenum">
              <a:rPr lang="en-US" altLang="zh-CN" sz="1200">
                <a:solidFill>
                  <a:schemeClr val="tx1"/>
                </a:solidFill>
                <a:latin typeface="Garamond" pitchFamily="18" charset="0"/>
              </a:rPr>
              <a:pPr algn="r" eaLnBrk="1" hangingPunct="1">
                <a:spcBef>
                  <a:spcPct val="0"/>
                </a:spcBef>
              </a:pPr>
              <a:t>83</a:t>
            </a:fld>
            <a:endParaRPr lang="en-US" altLang="zh-CN" sz="1200">
              <a:solidFill>
                <a:schemeClr val="tx1"/>
              </a:solidFill>
              <a:latin typeface="Garamond" pitchFamily="18" charset="0"/>
            </a:endParaRPr>
          </a:p>
        </p:txBody>
      </p:sp>
      <p:sp>
        <p:nvSpPr>
          <p:cNvPr id="87043"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87044"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87045"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87046" name="Rectangle 1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87047" name="Rectangle 1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87048" name="Rectangle 1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87049" name="Rectangle 1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87050" name="Rectangle 2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sp>
        <p:nvSpPr>
          <p:cNvPr id="87051" name="Rectangle 2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graphicFrame>
        <p:nvGraphicFramePr>
          <p:cNvPr id="87052" name="Object 12"/>
          <p:cNvGraphicFramePr>
            <a:graphicFrameLocks noChangeAspect="1"/>
          </p:cNvGraphicFramePr>
          <p:nvPr/>
        </p:nvGraphicFramePr>
        <p:xfrm>
          <a:off x="1376363" y="593725"/>
          <a:ext cx="4725987" cy="496888"/>
        </p:xfrm>
        <a:graphic>
          <a:graphicData uri="http://schemas.openxmlformats.org/presentationml/2006/ole">
            <mc:AlternateContent xmlns:mc="http://schemas.openxmlformats.org/markup-compatibility/2006">
              <mc:Choice xmlns:v="urn:schemas-microsoft-com:vml" Requires="v">
                <p:oleObj spid="_x0000_s87165" r:id="rId3" imgW="2172643" imgH="228699" progId="Equation.3">
                  <p:embed/>
                </p:oleObj>
              </mc:Choice>
              <mc:Fallback>
                <p:oleObj r:id="rId3" imgW="2172643" imgH="228699" progId="Equation.3">
                  <p:embed/>
                  <p:pic>
                    <p:nvPicPr>
                      <p:cNvPr id="0"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6363" y="593725"/>
                        <a:ext cx="4725987"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7053" name="Object 13"/>
          <p:cNvGraphicFramePr>
            <a:graphicFrameLocks noChangeAspect="1"/>
          </p:cNvGraphicFramePr>
          <p:nvPr/>
        </p:nvGraphicFramePr>
        <p:xfrm>
          <a:off x="1376363" y="1268413"/>
          <a:ext cx="3060700" cy="515937"/>
        </p:xfrm>
        <a:graphic>
          <a:graphicData uri="http://schemas.openxmlformats.org/presentationml/2006/ole">
            <mc:AlternateContent xmlns:mc="http://schemas.openxmlformats.org/markup-compatibility/2006">
              <mc:Choice xmlns:v="urn:schemas-microsoft-com:vml" Requires="v">
                <p:oleObj spid="_x0000_s87166" r:id="rId5" imgW="1409700" imgH="241300" progId="Equation.3">
                  <p:embed/>
                </p:oleObj>
              </mc:Choice>
              <mc:Fallback>
                <p:oleObj r:id="rId5" imgW="1409700" imgH="241300" progId="Equation.3">
                  <p:embed/>
                  <p:pic>
                    <p:nvPicPr>
                      <p:cNvPr id="0" name="Picture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6363" y="1268413"/>
                        <a:ext cx="3060700" cy="515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7054" name="Object 14"/>
          <p:cNvGraphicFramePr>
            <a:graphicFrameLocks noChangeAspect="1"/>
          </p:cNvGraphicFramePr>
          <p:nvPr/>
        </p:nvGraphicFramePr>
        <p:xfrm>
          <a:off x="1331913" y="2079625"/>
          <a:ext cx="4635500" cy="508000"/>
        </p:xfrm>
        <a:graphic>
          <a:graphicData uri="http://schemas.openxmlformats.org/presentationml/2006/ole">
            <mc:AlternateContent xmlns:mc="http://schemas.openxmlformats.org/markup-compatibility/2006">
              <mc:Choice xmlns:v="urn:schemas-microsoft-com:vml" Requires="v">
                <p:oleObj spid="_x0000_s87167" r:id="rId7" imgW="2083704" imgH="228699" progId="Equation.3">
                  <p:embed/>
                </p:oleObj>
              </mc:Choice>
              <mc:Fallback>
                <p:oleObj r:id="rId7" imgW="2083704" imgH="228699" progId="Equation.3">
                  <p:embed/>
                  <p:pic>
                    <p:nvPicPr>
                      <p:cNvPr id="0" name="Picture 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913" y="2079625"/>
                        <a:ext cx="46355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7057" name="Rectangle 29"/>
          <p:cNvSpPr>
            <a:spLocks noChangeArrowheads="1"/>
          </p:cNvSpPr>
          <p:nvPr/>
        </p:nvSpPr>
        <p:spPr bwMode="auto">
          <a:xfrm>
            <a:off x="427038" y="2831515"/>
            <a:ext cx="8285162"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dirty="0">
                <a:solidFill>
                  <a:schemeClr val="tx1"/>
                </a:solidFill>
                <a:latin typeface="楷体_GB2312" pitchFamily="1" charset="-122"/>
                <a:ea typeface="楷体_GB2312" pitchFamily="1" charset="-122"/>
              </a:rPr>
              <a:t>式中，</a:t>
            </a:r>
            <a:r>
              <a:rPr lang="en-US" altLang="zh-CN" dirty="0" smtClean="0">
                <a:solidFill>
                  <a:schemeClr val="tx1"/>
                </a:solidFill>
                <a:latin typeface="楷体_GB2312" pitchFamily="1" charset="-122"/>
                <a:ea typeface="楷体_GB2312" pitchFamily="1" charset="-122"/>
              </a:rPr>
              <a:t>R</a:t>
            </a:r>
            <a:r>
              <a:rPr lang="en-US" altLang="zh-CN" sz="2000" b="1" dirty="0">
                <a:solidFill>
                  <a:srgbClr val="FF0000"/>
                </a:solidFill>
                <a:latin typeface="方正粗黑宋简体" panose="02000000000000000000" pitchFamily="2" charset="-122"/>
                <a:ea typeface="方正粗黑宋简体" panose="02000000000000000000" pitchFamily="2" charset="-122"/>
              </a:rPr>
              <a:t> </a:t>
            </a:r>
            <a:r>
              <a:rPr lang="zh-CN" altLang="en-US" dirty="0" smtClean="0">
                <a:solidFill>
                  <a:schemeClr val="tx1"/>
                </a:solidFill>
                <a:latin typeface="楷体_GB2312" pitchFamily="1" charset="-122"/>
                <a:ea typeface="楷体_GB2312" pitchFamily="1" charset="-122"/>
              </a:rPr>
              <a:t>为</a:t>
            </a:r>
            <a:r>
              <a:rPr lang="zh-CN" altLang="en-US" dirty="0">
                <a:solidFill>
                  <a:schemeClr val="tx1"/>
                </a:solidFill>
                <a:latin typeface="楷体_GB2312" pitchFamily="1" charset="-122"/>
                <a:ea typeface="楷体_GB2312" pitchFamily="1" charset="-122"/>
              </a:rPr>
              <a:t>视点的矢径，</a:t>
            </a:r>
            <a:r>
              <a:rPr lang="zh-CN" altLang="en-US" dirty="0">
                <a:solidFill>
                  <a:schemeClr val="tx1"/>
                </a:solidFill>
                <a:latin typeface="楷体_GB2312" pitchFamily="1" charset="-122"/>
                <a:ea typeface="楷体_GB2312" pitchFamily="1" charset="-122"/>
                <a:sym typeface="Symbol" pitchFamily="18" charset="2"/>
              </a:rPr>
              <a:t></a:t>
            </a:r>
            <a:r>
              <a:rPr lang="zh-CN" altLang="en-US" dirty="0">
                <a:solidFill>
                  <a:schemeClr val="tx1"/>
                </a:solidFill>
                <a:latin typeface="楷体_GB2312" pitchFamily="1" charset="-122"/>
                <a:ea typeface="楷体_GB2312" pitchFamily="1" charset="-122"/>
              </a:rPr>
              <a:t>和</a:t>
            </a:r>
            <a:r>
              <a:rPr lang="zh-CN" altLang="en-US" dirty="0">
                <a:solidFill>
                  <a:schemeClr val="tx1"/>
                </a:solidFill>
                <a:latin typeface="楷体_GB2312" pitchFamily="1" charset="-122"/>
                <a:ea typeface="楷体_GB2312" pitchFamily="1" charset="-122"/>
                <a:sym typeface="Symbol" pitchFamily="18" charset="2"/>
              </a:rPr>
              <a:t></a:t>
            </a:r>
            <a:r>
              <a:rPr lang="zh-CN" altLang="en-US" dirty="0">
                <a:solidFill>
                  <a:schemeClr val="tx1"/>
                </a:solidFill>
                <a:latin typeface="楷体_GB2312" pitchFamily="1" charset="-122"/>
                <a:ea typeface="楷体_GB2312" pitchFamily="1" charset="-122"/>
              </a:rPr>
              <a:t>为视点的位置角。</a:t>
            </a:r>
            <a:r>
              <a:rPr lang="en-US" altLang="zh-CN" dirty="0">
                <a:solidFill>
                  <a:schemeClr val="tx1"/>
                </a:solidFill>
                <a:latin typeface="楷体_GB2312" pitchFamily="1" charset="-122"/>
                <a:ea typeface="楷体_GB2312" pitchFamily="1" charset="-122"/>
                <a:sym typeface="Symbol" pitchFamily="18" charset="2"/>
              </a:rPr>
              <a:t>r</a:t>
            </a:r>
            <a:r>
              <a:rPr lang="zh-CN" altLang="en-US" dirty="0">
                <a:solidFill>
                  <a:schemeClr val="tx1"/>
                </a:solidFill>
                <a:latin typeface="楷体_GB2312" pitchFamily="1" charset="-122"/>
                <a:ea typeface="楷体_GB2312" pitchFamily="1" charset="-122"/>
                <a:sym typeface="Symbol" pitchFamily="18" charset="2"/>
              </a:rPr>
              <a:t>为球面的半径，</a:t>
            </a:r>
            <a:r>
              <a:rPr lang="en-US" altLang="zh-CN" baseline="-25000"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sym typeface="Symbol" pitchFamily="18" charset="2"/>
              </a:rPr>
              <a:t>和</a:t>
            </a:r>
            <a:r>
              <a:rPr lang="en-US" altLang="zh-CN" baseline="-25000"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sym typeface="Symbol" pitchFamily="18" charset="2"/>
              </a:rPr>
              <a:t>为球面上一点</a:t>
            </a:r>
            <a:r>
              <a:rPr lang="en-US" altLang="zh-CN" dirty="0">
                <a:solidFill>
                  <a:schemeClr val="tx1"/>
                </a:solidFill>
                <a:latin typeface="楷体_GB2312" pitchFamily="1" charset="-122"/>
                <a:ea typeface="楷体_GB2312" pitchFamily="1" charset="-122"/>
                <a:sym typeface="Symbol" pitchFamily="18" charset="2"/>
              </a:rPr>
              <a:t>V</a:t>
            </a:r>
            <a:r>
              <a:rPr lang="en-US" altLang="zh-CN" baseline="-25000" dirty="0">
                <a:solidFill>
                  <a:schemeClr val="tx1"/>
                </a:solidFill>
                <a:latin typeface="楷体_GB2312" pitchFamily="1" charset="-122"/>
                <a:ea typeface="楷体_GB2312" pitchFamily="1" charset="-122"/>
                <a:sym typeface="Symbol" pitchFamily="18" charset="2"/>
              </a:rPr>
              <a:t>0</a:t>
            </a:r>
            <a:r>
              <a:rPr lang="zh-CN" altLang="en-US" dirty="0">
                <a:solidFill>
                  <a:schemeClr val="tx1"/>
                </a:solidFill>
                <a:latin typeface="楷体_GB2312" pitchFamily="1" charset="-122"/>
                <a:ea typeface="楷体_GB2312" pitchFamily="1" charset="-122"/>
                <a:sym typeface="Symbol" pitchFamily="18" charset="2"/>
              </a:rPr>
              <a:t>的位置角。</a:t>
            </a:r>
          </a:p>
          <a:p>
            <a:pPr algn="l" eaLnBrk="1" hangingPunct="1"/>
            <a:r>
              <a:rPr lang="zh-CN" altLang="en-US" sz="2000" b="1" dirty="0">
                <a:solidFill>
                  <a:srgbClr val="FF0000"/>
                </a:solidFill>
                <a:latin typeface="方正粗黑宋简体" panose="02000000000000000000" pitchFamily="2" charset="-122"/>
                <a:ea typeface="方正粗黑宋简体" panose="02000000000000000000" pitchFamily="2" charset="-122"/>
                <a:sym typeface="Symbol" pitchFamily="18" charset="2"/>
              </a:rPr>
              <a:t>四边形平面片</a:t>
            </a:r>
            <a:r>
              <a:rPr lang="en-US" altLang="zh-CN" dirty="0">
                <a:solidFill>
                  <a:schemeClr val="tx1"/>
                </a:solidFill>
                <a:latin typeface="楷体_GB2312" pitchFamily="1" charset="-122"/>
                <a:ea typeface="楷体_GB2312" pitchFamily="1" charset="-122"/>
                <a:sym typeface="Symbol" pitchFamily="18" charset="2"/>
              </a:rPr>
              <a:t>V</a:t>
            </a:r>
            <a:r>
              <a:rPr lang="en-US" altLang="zh-CN" baseline="-25000" dirty="0">
                <a:solidFill>
                  <a:schemeClr val="tx1"/>
                </a:solidFill>
                <a:latin typeface="楷体_GB2312" pitchFamily="1" charset="-122"/>
                <a:ea typeface="楷体_GB2312" pitchFamily="1" charset="-122"/>
                <a:sym typeface="Symbol" pitchFamily="18" charset="2"/>
              </a:rPr>
              <a:t>0</a:t>
            </a:r>
            <a:r>
              <a:rPr lang="en-US" altLang="zh-CN" dirty="0">
                <a:solidFill>
                  <a:schemeClr val="tx1"/>
                </a:solidFill>
                <a:latin typeface="楷体_GB2312" pitchFamily="1" charset="-122"/>
                <a:ea typeface="楷体_GB2312" pitchFamily="1" charset="-122"/>
                <a:sym typeface="Symbol" pitchFamily="18" charset="2"/>
              </a:rPr>
              <a:t>V</a:t>
            </a:r>
            <a:r>
              <a:rPr lang="en-US" altLang="zh-CN" baseline="-25000" dirty="0">
                <a:solidFill>
                  <a:schemeClr val="tx1"/>
                </a:solidFill>
                <a:latin typeface="楷体_GB2312" pitchFamily="1" charset="-122"/>
                <a:ea typeface="楷体_GB2312" pitchFamily="1" charset="-122"/>
                <a:sym typeface="Symbol" pitchFamily="18" charset="2"/>
              </a:rPr>
              <a:t>1</a:t>
            </a:r>
            <a:r>
              <a:rPr lang="en-US" altLang="zh-CN" dirty="0">
                <a:solidFill>
                  <a:schemeClr val="tx1"/>
                </a:solidFill>
                <a:latin typeface="楷体_GB2312" pitchFamily="1" charset="-122"/>
                <a:ea typeface="楷体_GB2312" pitchFamily="1" charset="-122"/>
                <a:sym typeface="Symbol" pitchFamily="18" charset="2"/>
              </a:rPr>
              <a:t>V</a:t>
            </a:r>
            <a:r>
              <a:rPr lang="en-US" altLang="zh-CN" baseline="-25000" dirty="0">
                <a:solidFill>
                  <a:schemeClr val="tx1"/>
                </a:solidFill>
                <a:latin typeface="楷体_GB2312" pitchFamily="1" charset="-122"/>
                <a:ea typeface="楷体_GB2312" pitchFamily="1" charset="-122"/>
                <a:sym typeface="Symbol" pitchFamily="18" charset="2"/>
              </a:rPr>
              <a:t>2</a:t>
            </a:r>
            <a:r>
              <a:rPr lang="en-US" altLang="zh-CN" dirty="0">
                <a:solidFill>
                  <a:schemeClr val="tx1"/>
                </a:solidFill>
                <a:latin typeface="楷体_GB2312" pitchFamily="1" charset="-122"/>
                <a:ea typeface="楷体_GB2312" pitchFamily="1" charset="-122"/>
                <a:sym typeface="Symbol" pitchFamily="18" charset="2"/>
              </a:rPr>
              <a:t>V</a:t>
            </a:r>
            <a:r>
              <a:rPr lang="en-US" altLang="zh-CN" baseline="-25000" dirty="0">
                <a:solidFill>
                  <a:schemeClr val="tx1"/>
                </a:solidFill>
                <a:latin typeface="楷体_GB2312" pitchFamily="1" charset="-122"/>
                <a:ea typeface="楷体_GB2312" pitchFamily="1" charset="-122"/>
                <a:sym typeface="Symbol" pitchFamily="18" charset="2"/>
              </a:rPr>
              <a:t>3</a:t>
            </a:r>
            <a:r>
              <a:rPr lang="zh-CN" altLang="en-US" dirty="0">
                <a:solidFill>
                  <a:schemeClr val="tx1"/>
                </a:solidFill>
                <a:latin typeface="楷体_GB2312" pitchFamily="1" charset="-122"/>
                <a:ea typeface="楷体_GB2312" pitchFamily="1" charset="-122"/>
                <a:sym typeface="Symbol" pitchFamily="18" charset="2"/>
              </a:rPr>
              <a:t>的</a:t>
            </a:r>
            <a:r>
              <a:rPr lang="zh-CN" altLang="en-US" sz="2000" b="1" dirty="0">
                <a:solidFill>
                  <a:srgbClr val="FF0000"/>
                </a:solidFill>
                <a:latin typeface="方正粗黑宋简体" panose="02000000000000000000" pitchFamily="2" charset="-122"/>
                <a:ea typeface="方正粗黑宋简体" panose="02000000000000000000" pitchFamily="2" charset="-122"/>
                <a:sym typeface="Symbol" pitchFamily="18" charset="2"/>
              </a:rPr>
              <a:t>参考点</a:t>
            </a:r>
            <a:r>
              <a:rPr lang="en-US" altLang="zh-CN" dirty="0">
                <a:solidFill>
                  <a:schemeClr val="tx1"/>
                </a:solidFill>
                <a:latin typeface="楷体_GB2312" pitchFamily="1" charset="-122"/>
                <a:ea typeface="楷体_GB2312" pitchFamily="1" charset="-122"/>
                <a:sym typeface="Symbol" pitchFamily="18" charset="2"/>
              </a:rPr>
              <a:t>V</a:t>
            </a:r>
            <a:r>
              <a:rPr lang="en-US" altLang="zh-CN" baseline="-25000" dirty="0">
                <a:solidFill>
                  <a:schemeClr val="tx1"/>
                </a:solidFill>
                <a:latin typeface="楷体_GB2312" pitchFamily="1" charset="-122"/>
                <a:ea typeface="楷体_GB2312" pitchFamily="1" charset="-122"/>
                <a:sym typeface="Symbol" pitchFamily="18" charset="2"/>
              </a:rPr>
              <a:t>0</a:t>
            </a:r>
            <a:r>
              <a:rPr lang="zh-CN" altLang="en-US"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rPr>
              <a:t>0</a:t>
            </a:r>
            <a:r>
              <a:rPr lang="zh-CN" altLang="en-US" dirty="0">
                <a:solidFill>
                  <a:schemeClr val="tx1"/>
                </a:solidFill>
                <a:latin typeface="楷体_GB2312" pitchFamily="1" charset="-122"/>
                <a:ea typeface="楷体_GB2312" pitchFamily="1" charset="-122"/>
                <a:sym typeface="Symbol" pitchFamily="18" charset="2"/>
              </a:rPr>
              <a:t>）的</a:t>
            </a:r>
            <a:r>
              <a:rPr lang="zh-CN" altLang="en-US" sz="2000" b="1" dirty="0">
                <a:solidFill>
                  <a:srgbClr val="FF0000"/>
                </a:solidFill>
                <a:latin typeface="方正粗黑宋简体" panose="02000000000000000000" pitchFamily="2" charset="-122"/>
                <a:ea typeface="方正粗黑宋简体" panose="02000000000000000000" pitchFamily="2" charset="-122"/>
                <a:sym typeface="Symbol" pitchFamily="18" charset="2"/>
              </a:rPr>
              <a:t>法矢量</a:t>
            </a:r>
            <a:r>
              <a:rPr lang="en-US" altLang="zh-CN" sz="2000" b="1" dirty="0">
                <a:solidFill>
                  <a:srgbClr val="FF0000"/>
                </a:solidFill>
                <a:latin typeface="方正粗黑宋简体" panose="02000000000000000000" pitchFamily="2" charset="-122"/>
                <a:ea typeface="方正粗黑宋简体" panose="02000000000000000000" pitchFamily="2" charset="-122"/>
                <a:sym typeface="Symbol" pitchFamily="18" charset="2"/>
              </a:rPr>
              <a:t>N</a:t>
            </a:r>
            <a:r>
              <a:rPr lang="zh-CN" altLang="en-US" dirty="0">
                <a:solidFill>
                  <a:schemeClr val="tx1"/>
                </a:solidFill>
                <a:latin typeface="楷体_GB2312" pitchFamily="1" charset="-122"/>
                <a:ea typeface="楷体_GB2312" pitchFamily="1" charset="-122"/>
                <a:sym typeface="Symbol" pitchFamily="18" charset="2"/>
              </a:rPr>
              <a:t>的计算方法与凸多面体类似。球面上</a:t>
            </a:r>
            <a:r>
              <a:rPr lang="en-US" altLang="zh-CN" dirty="0">
                <a:solidFill>
                  <a:schemeClr val="tx1"/>
                </a:solidFill>
                <a:latin typeface="楷体_GB2312" pitchFamily="1" charset="-122"/>
                <a:ea typeface="楷体_GB2312" pitchFamily="1" charset="-122"/>
                <a:sym typeface="Symbol" pitchFamily="18" charset="2"/>
              </a:rPr>
              <a:t>V</a:t>
            </a:r>
            <a:r>
              <a:rPr lang="en-US" altLang="zh-CN" baseline="-25000" dirty="0">
                <a:solidFill>
                  <a:schemeClr val="tx1"/>
                </a:solidFill>
                <a:latin typeface="楷体_GB2312" pitchFamily="1" charset="-122"/>
                <a:ea typeface="楷体_GB2312" pitchFamily="1" charset="-122"/>
                <a:sym typeface="Symbol" pitchFamily="18" charset="2"/>
              </a:rPr>
              <a:t>0</a:t>
            </a:r>
            <a:r>
              <a:rPr lang="zh-CN" altLang="en-US"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sym typeface="Symbol" pitchFamily="18" charset="2"/>
              </a:rPr>
              <a:t>0</a:t>
            </a:r>
            <a:r>
              <a:rPr lang="zh-CN" altLang="en-US" dirty="0">
                <a:solidFill>
                  <a:schemeClr val="tx1"/>
                </a:solidFill>
                <a:latin typeface="楷体_GB2312" pitchFamily="1" charset="-122"/>
                <a:ea typeface="楷体_GB2312" pitchFamily="1" charset="-122"/>
                <a:sym typeface="Symbol" pitchFamily="18" charset="2"/>
              </a:rPr>
              <a:t>，</a:t>
            </a:r>
            <a:r>
              <a:rPr lang="en-US" altLang="zh-CN" baseline="-25000" dirty="0">
                <a:solidFill>
                  <a:schemeClr val="tx1"/>
                </a:solidFill>
                <a:latin typeface="楷体_GB2312" pitchFamily="1" charset="-122"/>
                <a:ea typeface="楷体_GB2312" pitchFamily="1" charset="-122"/>
                <a:sym typeface="Symbol" pitchFamily="18" charset="2"/>
              </a:rPr>
              <a:t>0</a:t>
            </a:r>
            <a:r>
              <a:rPr lang="zh-CN" altLang="en-US" dirty="0">
                <a:solidFill>
                  <a:schemeClr val="tx1"/>
                </a:solidFill>
                <a:latin typeface="楷体_GB2312" pitchFamily="1" charset="-122"/>
                <a:ea typeface="楷体_GB2312" pitchFamily="1" charset="-122"/>
                <a:sym typeface="Symbol" pitchFamily="18" charset="2"/>
              </a:rPr>
              <a:t>）点的</a:t>
            </a:r>
            <a:r>
              <a:rPr lang="zh-CN" altLang="en-US" b="1" dirty="0">
                <a:solidFill>
                  <a:srgbClr val="3333FF"/>
                </a:solidFill>
                <a:latin typeface="方正粗黑宋简体" panose="02000000000000000000" pitchFamily="2" charset="-122"/>
                <a:ea typeface="方正粗黑宋简体" panose="02000000000000000000" pitchFamily="2" charset="-122"/>
                <a:sym typeface="Symbol" pitchFamily="18" charset="2"/>
              </a:rPr>
              <a:t>平均外法矢量</a:t>
            </a:r>
            <a:r>
              <a:rPr lang="zh-CN" altLang="en-US" sz="2000" b="1" dirty="0">
                <a:solidFill>
                  <a:srgbClr val="FF0000"/>
                </a:solidFill>
                <a:latin typeface="方正粗黑宋简体" panose="02000000000000000000" pitchFamily="2" charset="-122"/>
                <a:ea typeface="方正粗黑宋简体" panose="02000000000000000000" pitchFamily="2" charset="-122"/>
                <a:sym typeface="Symbol" pitchFamily="18" charset="2"/>
              </a:rPr>
              <a:t>可以使用该点的位置矢量</a:t>
            </a:r>
            <a:r>
              <a:rPr lang="zh-CN" altLang="en-US" dirty="0">
                <a:solidFill>
                  <a:schemeClr val="tx1"/>
                </a:solidFill>
                <a:latin typeface="楷体_GB2312" pitchFamily="1" charset="-122"/>
                <a:ea typeface="楷体_GB2312" pitchFamily="1" charset="-122"/>
                <a:sym typeface="Symbol" pitchFamily="18" charset="2"/>
              </a:rPr>
              <a:t>代替。</a:t>
            </a:r>
          </a:p>
        </p:txBody>
      </p:sp>
      <p:sp>
        <p:nvSpPr>
          <p:cNvPr id="87058" name="Rectangle 30"/>
          <p:cNvSpPr>
            <a:spLocks noChangeArrowheads="1"/>
          </p:cNvSpPr>
          <p:nvPr/>
        </p:nvSpPr>
        <p:spPr bwMode="auto">
          <a:xfrm>
            <a:off x="431800" y="5002213"/>
            <a:ext cx="84153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a:solidFill>
                  <a:schemeClr val="tx1"/>
                </a:solidFill>
                <a:latin typeface="楷体_GB2312" pitchFamily="1" charset="-122"/>
                <a:ea typeface="楷体_GB2312" pitchFamily="1" charset="-122"/>
              </a:rPr>
              <a:t>将法矢量</a:t>
            </a:r>
            <a:r>
              <a:rPr lang="en-US" altLang="zh-CN">
                <a:solidFill>
                  <a:schemeClr val="tx1"/>
                </a:solidFill>
                <a:latin typeface="楷体_GB2312" pitchFamily="1" charset="-122"/>
                <a:ea typeface="楷体_GB2312" pitchFamily="1" charset="-122"/>
              </a:rPr>
              <a:t>N</a:t>
            </a:r>
            <a:r>
              <a:rPr lang="zh-CN" altLang="en-US">
                <a:solidFill>
                  <a:schemeClr val="tx1"/>
                </a:solidFill>
                <a:latin typeface="楷体_GB2312" pitchFamily="1" charset="-122"/>
                <a:ea typeface="楷体_GB2312" pitchFamily="1" charset="-122"/>
              </a:rPr>
              <a:t>规范化为单位矢量</a:t>
            </a:r>
            <a:r>
              <a:rPr lang="en-US" altLang="zh-CN">
                <a:solidFill>
                  <a:schemeClr val="tx1"/>
                </a:solidFill>
                <a:latin typeface="楷体_GB2312" pitchFamily="1" charset="-122"/>
                <a:ea typeface="楷体_GB2312" pitchFamily="1" charset="-122"/>
              </a:rPr>
              <a:t>n</a:t>
            </a:r>
            <a:r>
              <a:rPr lang="zh-CN" altLang="en-US">
                <a:solidFill>
                  <a:schemeClr val="tx1"/>
                </a:solidFill>
                <a:latin typeface="楷体_GB2312" pitchFamily="1" charset="-122"/>
                <a:ea typeface="楷体_GB2312" pitchFamily="1" charset="-122"/>
              </a:rPr>
              <a:t>，视矢量</a:t>
            </a:r>
            <a:r>
              <a:rPr lang="en-US" altLang="zh-CN">
                <a:solidFill>
                  <a:schemeClr val="tx1"/>
                </a:solidFill>
                <a:latin typeface="楷体_GB2312" pitchFamily="1" charset="-122"/>
                <a:ea typeface="楷体_GB2312" pitchFamily="1" charset="-122"/>
              </a:rPr>
              <a:t>S</a:t>
            </a:r>
            <a:r>
              <a:rPr lang="zh-CN" altLang="en-US">
                <a:solidFill>
                  <a:schemeClr val="tx1"/>
                </a:solidFill>
                <a:latin typeface="楷体_GB2312" pitchFamily="1" charset="-122"/>
                <a:ea typeface="楷体_GB2312" pitchFamily="1" charset="-122"/>
              </a:rPr>
              <a:t>规范化为单位矢量</a:t>
            </a:r>
            <a:r>
              <a:rPr lang="en-US" altLang="zh-CN">
                <a:solidFill>
                  <a:schemeClr val="tx1"/>
                </a:solidFill>
                <a:latin typeface="楷体_GB2312" pitchFamily="1" charset="-122"/>
                <a:ea typeface="楷体_GB2312" pitchFamily="1" charset="-122"/>
              </a:rPr>
              <a:t>s</a:t>
            </a:r>
            <a:r>
              <a:rPr lang="zh-CN" altLang="en-US">
                <a:solidFill>
                  <a:schemeClr val="tx1"/>
                </a:solidFill>
                <a:latin typeface="楷体_GB2312" pitchFamily="1" charset="-122"/>
                <a:ea typeface="楷体_GB2312" pitchFamily="1" charset="-122"/>
              </a:rPr>
              <a:t>，有</a:t>
            </a:r>
          </a:p>
        </p:txBody>
      </p:sp>
      <p:graphicFrame>
        <p:nvGraphicFramePr>
          <p:cNvPr id="87060" name="Object 20"/>
          <p:cNvGraphicFramePr>
            <a:graphicFrameLocks noChangeAspect="1"/>
          </p:cNvGraphicFramePr>
          <p:nvPr/>
        </p:nvGraphicFramePr>
        <p:xfrm>
          <a:off x="1962150" y="5949950"/>
          <a:ext cx="3509963" cy="458788"/>
        </p:xfrm>
        <a:graphic>
          <a:graphicData uri="http://schemas.openxmlformats.org/presentationml/2006/ole">
            <mc:AlternateContent xmlns:mc="http://schemas.openxmlformats.org/markup-compatibility/2006">
              <mc:Choice xmlns:v="urn:schemas-microsoft-com:vml" Requires="v">
                <p:oleObj spid="_x0000_s87168" r:id="rId9" imgW="1816889" imgH="241405" progId="Equation.3">
                  <p:embed/>
                </p:oleObj>
              </mc:Choice>
              <mc:Fallback>
                <p:oleObj r:id="rId9" imgW="1816889" imgH="241405" progId="Equation.3">
                  <p:embed/>
                  <p:pic>
                    <p:nvPicPr>
                      <p:cNvPr id="0" name="Picture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62150" y="5949950"/>
                        <a:ext cx="3509963"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C4FF8C2E-FDD7-4243-9EF5-907DB1FD1342}" type="slidenum">
              <a:rPr lang="en-US" altLang="zh-CN" sz="1200">
                <a:solidFill>
                  <a:schemeClr val="tx1"/>
                </a:solidFill>
                <a:latin typeface="Garamond" pitchFamily="18" charset="0"/>
              </a:rPr>
              <a:pPr algn="r" eaLnBrk="1" hangingPunct="1">
                <a:spcBef>
                  <a:spcPct val="0"/>
                </a:spcBef>
              </a:pPr>
              <a:t>84</a:t>
            </a:fld>
            <a:endParaRPr lang="en-US" altLang="zh-CN" sz="1200">
              <a:solidFill>
                <a:schemeClr val="tx1"/>
              </a:solidFill>
              <a:latin typeface="Garamond" pitchFamily="18" charset="0"/>
            </a:endParaRPr>
          </a:p>
        </p:txBody>
      </p:sp>
      <p:sp>
        <p:nvSpPr>
          <p:cNvPr id="88067" name="Text Box 4"/>
          <p:cNvSpPr txBox="1">
            <a:spLocks noChangeArrowheads="1"/>
          </p:cNvSpPr>
          <p:nvPr/>
        </p:nvSpPr>
        <p:spPr bwMode="auto">
          <a:xfrm>
            <a:off x="431800" y="323850"/>
            <a:ext cx="8415338"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Clr>
                <a:srgbClr val="FF0066"/>
              </a:buClr>
              <a:buFont typeface="Wingdings" pitchFamily="2" charset="2"/>
              <a:buNone/>
            </a:pPr>
            <a:r>
              <a:rPr lang="zh-CN" altLang="en-US">
                <a:solidFill>
                  <a:schemeClr val="tx1"/>
                </a:solidFill>
                <a:latin typeface="楷体_GB2312" pitchFamily="1" charset="-122"/>
                <a:ea typeface="楷体_GB2312" pitchFamily="1" charset="-122"/>
              </a:rPr>
              <a:t>球面网格四边形平面片可见性检测条件为：</a:t>
            </a:r>
          </a:p>
          <a:p>
            <a:pPr algn="l" eaLnBrk="1" hangingPunct="1">
              <a:buClr>
                <a:srgbClr val="FF0066"/>
              </a:buClr>
              <a:buFont typeface="Wingdings" pitchFamily="2" charset="2"/>
              <a:buNone/>
            </a:pPr>
            <a:r>
              <a:rPr lang="zh-CN" altLang="en-US">
                <a:solidFill>
                  <a:schemeClr val="tx1"/>
                </a:solidFill>
                <a:latin typeface="楷体_GB2312" pitchFamily="1" charset="-122"/>
                <a:ea typeface="楷体_GB2312" pitchFamily="1" charset="-122"/>
              </a:rPr>
              <a:t>          当         绘制该面片。</a:t>
            </a:r>
          </a:p>
        </p:txBody>
      </p:sp>
      <p:sp>
        <p:nvSpPr>
          <p:cNvPr id="88068"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graphicFrame>
        <p:nvGraphicFramePr>
          <p:cNvPr id="88069" name="Object 5"/>
          <p:cNvGraphicFramePr>
            <a:graphicFrameLocks noChangeAspect="1"/>
          </p:cNvGraphicFramePr>
          <p:nvPr/>
        </p:nvGraphicFramePr>
        <p:xfrm>
          <a:off x="2546350" y="954088"/>
          <a:ext cx="915988" cy="336550"/>
        </p:xfrm>
        <a:graphic>
          <a:graphicData uri="http://schemas.openxmlformats.org/presentationml/2006/ole">
            <mc:AlternateContent xmlns:mc="http://schemas.openxmlformats.org/markup-compatibility/2006">
              <mc:Choice xmlns:v="urn:schemas-microsoft-com:vml" Requires="v">
                <p:oleObj spid="_x0000_s88100" r:id="rId3" imgW="494870" imgH="177646" progId="Equation.3">
                  <p:embed/>
                </p:oleObj>
              </mc:Choice>
              <mc:Fallback>
                <p:oleObj r:id="rId3" imgW="494870" imgH="177646" progId="Equation.3">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6350" y="954088"/>
                        <a:ext cx="915988" cy="336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8070" name="Text Box 7"/>
          <p:cNvSpPr txBox="1">
            <a:spLocks noChangeArrowheads="1"/>
          </p:cNvSpPr>
          <p:nvPr/>
        </p:nvSpPr>
        <p:spPr bwMode="auto">
          <a:xfrm>
            <a:off x="476250" y="1403350"/>
            <a:ext cx="80549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Clr>
                <a:srgbClr val="FF0066"/>
              </a:buClr>
              <a:buFont typeface="Wingdings" pitchFamily="2" charset="2"/>
              <a:buNone/>
            </a:pPr>
            <a:r>
              <a:rPr lang="zh-CN" altLang="en-US">
                <a:solidFill>
                  <a:schemeClr val="tx1"/>
                </a:solidFill>
                <a:latin typeface="楷体_GB2312" pitchFamily="1" charset="-122"/>
                <a:ea typeface="楷体_GB2312" pitchFamily="1" charset="-122"/>
              </a:rPr>
              <a:t>球面线框模型消隐前的透视变换图如图</a:t>
            </a:r>
            <a:r>
              <a:rPr lang="en-US" altLang="zh-CN">
                <a:solidFill>
                  <a:schemeClr val="tx1"/>
                </a:solidFill>
                <a:latin typeface="楷体_GB2312" pitchFamily="1" charset="-122"/>
                <a:ea typeface="楷体_GB2312" pitchFamily="1" charset="-122"/>
              </a:rPr>
              <a:t>9-62</a:t>
            </a:r>
            <a:r>
              <a:rPr lang="zh-CN" altLang="en-US">
                <a:solidFill>
                  <a:schemeClr val="tx1"/>
                </a:solidFill>
                <a:latin typeface="楷体_GB2312" pitchFamily="1" charset="-122"/>
                <a:ea typeface="楷体_GB2312" pitchFamily="1" charset="-122"/>
              </a:rPr>
              <a:t>所示，北极点和南极点同时绘制出来，无法确认北极点面向读者还是南极点面向读者 。</a:t>
            </a:r>
          </a:p>
        </p:txBody>
      </p:sp>
      <p:pic>
        <p:nvPicPr>
          <p:cNvPr id="88071" name="Picture 8"/>
          <p:cNvPicPr>
            <a:picLocks noChangeAspect="1" noChangeArrowheads="1"/>
          </p:cNvPicPr>
          <p:nvPr/>
        </p:nvPicPr>
        <p:blipFill>
          <a:blip r:embed="rId5">
            <a:extLst>
              <a:ext uri="{28A0092B-C50C-407E-A947-70E740481C1C}">
                <a14:useLocalDpi xmlns:a14="http://schemas.microsoft.com/office/drawing/2010/main" val="0"/>
              </a:ext>
            </a:extLst>
          </a:blip>
          <a:srcRect l="24147" t="18684" r="23627" b="9567"/>
          <a:stretch>
            <a:fillRect/>
          </a:stretch>
        </p:blipFill>
        <p:spPr bwMode="auto">
          <a:xfrm>
            <a:off x="1285875" y="2509838"/>
            <a:ext cx="2611438"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2" name="Text Box 9"/>
          <p:cNvSpPr txBox="1">
            <a:spLocks noChangeArrowheads="1"/>
          </p:cNvSpPr>
          <p:nvPr/>
        </p:nvSpPr>
        <p:spPr bwMode="auto">
          <a:xfrm>
            <a:off x="385763" y="5049838"/>
            <a:ext cx="4591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9-62 </a:t>
            </a:r>
            <a:r>
              <a:rPr lang="zh-CN" altLang="en-US" sz="2000">
                <a:solidFill>
                  <a:schemeClr val="tx1"/>
                </a:solidFill>
                <a:latin typeface="楷体_GB2312" pitchFamily="1" charset="-122"/>
                <a:ea typeface="楷体_GB2312" pitchFamily="1" charset="-122"/>
                <a:hlinkClick r:id="rId6" action="ppaction://hlinkfile"/>
              </a:rPr>
              <a:t>消隐前的球面透视投影 </a:t>
            </a:r>
            <a:endParaRPr lang="zh-CN" altLang="en-US" sz="2000">
              <a:solidFill>
                <a:schemeClr val="tx1"/>
              </a:solidFill>
              <a:latin typeface="楷体_GB2312" pitchFamily="1" charset="-122"/>
              <a:ea typeface="楷体_GB2312" pitchFamily="1" charset="-122"/>
            </a:endParaRPr>
          </a:p>
        </p:txBody>
      </p:sp>
      <p:pic>
        <p:nvPicPr>
          <p:cNvPr id="88073" name="Picture 10"/>
          <p:cNvPicPr>
            <a:picLocks noChangeAspect="1" noChangeArrowheads="1"/>
          </p:cNvPicPr>
          <p:nvPr/>
        </p:nvPicPr>
        <p:blipFill>
          <a:blip r:embed="rId7">
            <a:extLst>
              <a:ext uri="{28A0092B-C50C-407E-A947-70E740481C1C}">
                <a14:useLocalDpi xmlns:a14="http://schemas.microsoft.com/office/drawing/2010/main" val="0"/>
              </a:ext>
            </a:extLst>
          </a:blip>
          <a:srcRect l="22316" t="18025" r="22055" b="7518"/>
          <a:stretch>
            <a:fillRect/>
          </a:stretch>
        </p:blipFill>
        <p:spPr bwMode="auto">
          <a:xfrm>
            <a:off x="5157788" y="2393950"/>
            <a:ext cx="2835275"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4" name="Text Box 11"/>
          <p:cNvSpPr txBox="1">
            <a:spLocks noChangeArrowheads="1"/>
          </p:cNvSpPr>
          <p:nvPr/>
        </p:nvSpPr>
        <p:spPr bwMode="auto">
          <a:xfrm>
            <a:off x="4662488" y="4997450"/>
            <a:ext cx="434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rgbClr val="000000"/>
                </a:solidFill>
                <a:latin typeface="楷体_GB2312" pitchFamily="1" charset="-122"/>
                <a:ea typeface="楷体_GB2312" pitchFamily="1" charset="-122"/>
              </a:rPr>
              <a:t>图</a:t>
            </a:r>
            <a:r>
              <a:rPr lang="en-US" altLang="zh-CN" sz="2000">
                <a:solidFill>
                  <a:srgbClr val="000000"/>
                </a:solidFill>
                <a:latin typeface="楷体_GB2312" pitchFamily="1" charset="-122"/>
                <a:ea typeface="楷体_GB2312" pitchFamily="1" charset="-122"/>
              </a:rPr>
              <a:t>9-63 </a:t>
            </a:r>
            <a:r>
              <a:rPr lang="zh-CN" altLang="en-US" sz="2000">
                <a:solidFill>
                  <a:srgbClr val="000000"/>
                </a:solidFill>
                <a:latin typeface="楷体_GB2312" pitchFamily="1" charset="-122"/>
                <a:ea typeface="楷体_GB2312" pitchFamily="1" charset="-122"/>
                <a:hlinkClick r:id="rId8" action="ppaction://hlinkfile"/>
              </a:rPr>
              <a:t>消隐后的球面透视投影</a:t>
            </a:r>
            <a:endParaRPr lang="zh-CN" altLang="en-US" sz="2000">
              <a:solidFill>
                <a:srgbClr val="000000"/>
              </a:solidFill>
              <a:latin typeface="楷体_GB2312" pitchFamily="1" charset="-122"/>
              <a:ea typeface="楷体_GB2312" pitchFamily="1" charset="-122"/>
            </a:endParaRPr>
          </a:p>
        </p:txBody>
      </p:sp>
      <p:sp>
        <p:nvSpPr>
          <p:cNvPr id="88075" name="Text Box 12"/>
          <p:cNvSpPr txBox="1">
            <a:spLocks noChangeArrowheads="1"/>
          </p:cNvSpPr>
          <p:nvPr/>
        </p:nvSpPr>
        <p:spPr bwMode="auto">
          <a:xfrm>
            <a:off x="612775" y="5724525"/>
            <a:ext cx="80549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Clr>
                <a:srgbClr val="FF0066"/>
              </a:buClr>
              <a:buFont typeface="Wingdings" pitchFamily="2" charset="2"/>
              <a:buNone/>
            </a:pPr>
            <a:r>
              <a:rPr lang="zh-CN" altLang="en-US">
                <a:solidFill>
                  <a:schemeClr val="tx1"/>
                </a:solidFill>
                <a:latin typeface="楷体_GB2312" pitchFamily="1" charset="-122"/>
                <a:ea typeface="楷体_GB2312" pitchFamily="1" charset="-122"/>
              </a:rPr>
              <a:t>使用背面剔除算法后，可以看出图</a:t>
            </a:r>
            <a:r>
              <a:rPr lang="en-US" altLang="zh-CN">
                <a:solidFill>
                  <a:schemeClr val="tx1"/>
                </a:solidFill>
                <a:latin typeface="楷体_GB2312" pitchFamily="1" charset="-122"/>
                <a:ea typeface="楷体_GB2312" pitchFamily="1" charset="-122"/>
              </a:rPr>
              <a:t>9-62</a:t>
            </a:r>
            <a:r>
              <a:rPr lang="zh-CN" altLang="en-US">
                <a:solidFill>
                  <a:schemeClr val="tx1"/>
                </a:solidFill>
                <a:latin typeface="楷体_GB2312" pitchFamily="1" charset="-122"/>
                <a:ea typeface="楷体_GB2312" pitchFamily="1" charset="-122"/>
              </a:rPr>
              <a:t>中球面的北极点面向读者，如图</a:t>
            </a:r>
            <a:r>
              <a:rPr lang="en-US" altLang="zh-CN">
                <a:solidFill>
                  <a:schemeClr val="tx1"/>
                </a:solidFill>
                <a:latin typeface="楷体_GB2312" pitchFamily="1" charset="-122"/>
                <a:ea typeface="楷体_GB2312" pitchFamily="1" charset="-122"/>
              </a:rPr>
              <a:t>9-63</a:t>
            </a:r>
            <a:r>
              <a:rPr lang="zh-CN" altLang="en-US">
                <a:solidFill>
                  <a:schemeClr val="tx1"/>
                </a:solidFill>
                <a:latin typeface="楷体_GB2312" pitchFamily="1" charset="-122"/>
                <a:ea typeface="楷体_GB2312" pitchFamily="1" charset="-122"/>
              </a:rPr>
              <a:t>所示。</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01488D95-2E08-4580-A44F-D4CE4BF6FC9A}" type="slidenum">
              <a:rPr lang="en-US" altLang="zh-CN" sz="1200">
                <a:solidFill>
                  <a:schemeClr val="tx1"/>
                </a:solidFill>
                <a:latin typeface="Garamond" pitchFamily="18" charset="0"/>
              </a:rPr>
              <a:pPr algn="r" eaLnBrk="1" hangingPunct="1">
                <a:spcBef>
                  <a:spcPct val="0"/>
                </a:spcBef>
              </a:pPr>
              <a:t>85</a:t>
            </a:fld>
            <a:endParaRPr lang="en-US" altLang="zh-CN" sz="1200">
              <a:solidFill>
                <a:schemeClr val="tx1"/>
              </a:solidFill>
              <a:latin typeface="Garamond" pitchFamily="18" charset="0"/>
            </a:endParaRPr>
          </a:p>
        </p:txBody>
      </p:sp>
      <p:sp>
        <p:nvSpPr>
          <p:cNvPr id="89091" name="Text Box 4"/>
          <p:cNvSpPr txBox="1">
            <a:spLocks noChangeArrowheads="1"/>
          </p:cNvSpPr>
          <p:nvPr/>
        </p:nvSpPr>
        <p:spPr bwMode="auto">
          <a:xfrm>
            <a:off x="522288" y="144463"/>
            <a:ext cx="30607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sz="3600" b="1">
                <a:solidFill>
                  <a:schemeClr val="tx1"/>
                </a:solidFill>
                <a:latin typeface="楷体_GB2312" pitchFamily="1" charset="-122"/>
                <a:ea typeface="楷体_GB2312" pitchFamily="1" charset="-122"/>
              </a:rPr>
              <a:t>9.4 </a:t>
            </a:r>
            <a:r>
              <a:rPr lang="zh-CN" altLang="en-US" sz="3600" b="1">
                <a:solidFill>
                  <a:schemeClr val="tx1"/>
                </a:solidFill>
                <a:latin typeface="楷体_GB2312" pitchFamily="1" charset="-122"/>
                <a:ea typeface="楷体_GB2312" pitchFamily="1" charset="-122"/>
              </a:rPr>
              <a:t>隐面算法</a:t>
            </a:r>
          </a:p>
        </p:txBody>
      </p:sp>
      <p:sp>
        <p:nvSpPr>
          <p:cNvPr id="89092" name="Text Box 5"/>
          <p:cNvSpPr txBox="1">
            <a:spLocks noChangeArrowheads="1"/>
          </p:cNvSpPr>
          <p:nvPr/>
        </p:nvSpPr>
        <p:spPr bwMode="auto">
          <a:xfrm>
            <a:off x="566738" y="873125"/>
            <a:ext cx="8281987" cy="190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10000"/>
              </a:lnSpc>
              <a:buClr>
                <a:srgbClr val="660033"/>
              </a:buClr>
              <a:buFont typeface="Wingdings" pitchFamily="2" charset="2"/>
              <a:buNone/>
            </a:pPr>
            <a:r>
              <a:rPr lang="zh-CN" altLang="en-US" dirty="0">
                <a:solidFill>
                  <a:schemeClr val="tx1"/>
                </a:solidFill>
                <a:latin typeface="楷体_GB2312" pitchFamily="1" charset="-122"/>
                <a:ea typeface="楷体_GB2312" pitchFamily="1" charset="-122"/>
              </a:rPr>
              <a:t>    从</a:t>
            </a:r>
            <a:r>
              <a:rPr lang="zh-CN" altLang="en-US" sz="2000" b="1" dirty="0">
                <a:solidFill>
                  <a:srgbClr val="FF0000"/>
                </a:solidFill>
                <a:latin typeface="方正粗黑宋简体" panose="02000000000000000000" pitchFamily="2" charset="-122"/>
                <a:ea typeface="方正粗黑宋简体" panose="02000000000000000000" pitchFamily="2" charset="-122"/>
              </a:rPr>
              <a:t>视点的角度</a:t>
            </a:r>
            <a:r>
              <a:rPr lang="zh-CN" altLang="en-US" dirty="0">
                <a:solidFill>
                  <a:schemeClr val="tx1"/>
                </a:solidFill>
                <a:latin typeface="楷体_GB2312" pitchFamily="1" charset="-122"/>
                <a:ea typeface="楷体_GB2312" pitchFamily="1" charset="-122"/>
              </a:rPr>
              <a:t>观察物体的表面，离</a:t>
            </a:r>
            <a:r>
              <a:rPr lang="zh-CN" altLang="en-US" b="1" dirty="0">
                <a:solidFill>
                  <a:srgbClr val="3333FF"/>
                </a:solidFill>
                <a:latin typeface="方正粗黑宋简体" panose="02000000000000000000" pitchFamily="2" charset="-122"/>
                <a:ea typeface="方正粗黑宋简体" panose="02000000000000000000" pitchFamily="2" charset="-122"/>
              </a:rPr>
              <a:t>视点近</a:t>
            </a:r>
            <a:r>
              <a:rPr lang="zh-CN" altLang="en-US" dirty="0">
                <a:solidFill>
                  <a:schemeClr val="tx1"/>
                </a:solidFill>
                <a:latin typeface="楷体_GB2312" pitchFamily="1" charset="-122"/>
                <a:ea typeface="楷体_GB2312" pitchFamily="1" charset="-122"/>
              </a:rPr>
              <a:t>的表面的投影遮挡了离视点远的表面的投影，</a:t>
            </a:r>
            <a:r>
              <a:rPr lang="zh-CN" altLang="en-US" sz="2000" b="1" dirty="0">
                <a:solidFill>
                  <a:srgbClr val="FF0000"/>
                </a:solidFill>
                <a:latin typeface="方正粗黑宋简体" panose="02000000000000000000" pitchFamily="2" charset="-122"/>
                <a:ea typeface="方正粗黑宋简体" panose="02000000000000000000" pitchFamily="2" charset="-122"/>
              </a:rPr>
              <a:t>屏幕上的绘制结果为所有</a:t>
            </a:r>
            <a:r>
              <a:rPr lang="zh-CN" altLang="en-US" b="1" dirty="0">
                <a:solidFill>
                  <a:srgbClr val="3333FF"/>
                </a:solidFill>
                <a:latin typeface="方正粗黑宋简体" panose="02000000000000000000" pitchFamily="2" charset="-122"/>
                <a:ea typeface="方正粗黑宋简体" panose="02000000000000000000" pitchFamily="2" charset="-122"/>
              </a:rPr>
              <a:t>可见表面</a:t>
            </a:r>
            <a:r>
              <a:rPr lang="zh-CN" altLang="en-US" sz="2000" b="1" dirty="0">
                <a:solidFill>
                  <a:srgbClr val="FF0000"/>
                </a:solidFill>
                <a:latin typeface="方正粗黑宋简体" panose="02000000000000000000" pitchFamily="2" charset="-122"/>
                <a:ea typeface="方正粗黑宋简体" panose="02000000000000000000" pitchFamily="2" charset="-122"/>
              </a:rPr>
              <a:t>最终投影的集合</a:t>
            </a:r>
            <a:r>
              <a:rPr lang="zh-CN" altLang="en-US" dirty="0">
                <a:solidFill>
                  <a:schemeClr val="tx1"/>
                </a:solidFill>
                <a:latin typeface="楷体_GB2312" pitchFamily="1" charset="-122"/>
                <a:ea typeface="楷体_GB2312" pitchFamily="1" charset="-122"/>
              </a:rPr>
              <a:t>。</a:t>
            </a:r>
          </a:p>
          <a:p>
            <a:pPr algn="l" eaLnBrk="1" hangingPunct="1">
              <a:lnSpc>
                <a:spcPct val="110000"/>
              </a:lnSpc>
              <a:buClr>
                <a:srgbClr val="660033"/>
              </a:buClr>
              <a:buFont typeface="Wingdings" pitchFamily="2" charset="2"/>
              <a:buNone/>
            </a:pPr>
            <a:r>
              <a:rPr lang="zh-CN" altLang="en-US" dirty="0">
                <a:solidFill>
                  <a:schemeClr val="tx1"/>
                </a:solidFill>
                <a:latin typeface="楷体_GB2312" pitchFamily="1" charset="-122"/>
                <a:ea typeface="楷体_GB2312" pitchFamily="1" charset="-122"/>
              </a:rPr>
              <a:t>常用的消隐有两种：</a:t>
            </a:r>
            <a:r>
              <a:rPr lang="zh-CN" altLang="en-US" sz="2000" b="1" dirty="0">
                <a:solidFill>
                  <a:srgbClr val="3333FF"/>
                </a:solidFill>
                <a:latin typeface="方正粗黑宋简体" panose="02000000000000000000" pitchFamily="2" charset="-122"/>
                <a:ea typeface="方正粗黑宋简体" panose="02000000000000000000" pitchFamily="2" charset="-122"/>
              </a:rPr>
              <a:t>深度缓冲器算法</a:t>
            </a:r>
            <a:r>
              <a:rPr lang="zh-CN" altLang="en-US" dirty="0">
                <a:solidFill>
                  <a:schemeClr val="tx1"/>
                </a:solidFill>
                <a:latin typeface="楷体_GB2312" pitchFamily="1" charset="-122"/>
                <a:ea typeface="楷体_GB2312" pitchFamily="1" charset="-122"/>
              </a:rPr>
              <a:t>和</a:t>
            </a:r>
            <a:r>
              <a:rPr lang="zh-CN" altLang="en-US" sz="2000" b="1" dirty="0">
                <a:solidFill>
                  <a:srgbClr val="3333FF"/>
                </a:solidFill>
                <a:latin typeface="方正粗黑宋简体" panose="02000000000000000000" pitchFamily="2" charset="-122"/>
                <a:ea typeface="方正粗黑宋简体" panose="02000000000000000000" pitchFamily="2" charset="-122"/>
              </a:rPr>
              <a:t>深度排序算法</a:t>
            </a:r>
            <a:r>
              <a:rPr lang="zh-CN" altLang="en-US" dirty="0">
                <a:solidFill>
                  <a:schemeClr val="tx1"/>
                </a:solidFill>
                <a:latin typeface="楷体_GB2312" pitchFamily="1" charset="-122"/>
                <a:ea typeface="楷体_GB2312" pitchFamily="1" charset="-122"/>
              </a:rPr>
              <a:t>。 </a:t>
            </a:r>
          </a:p>
        </p:txBody>
      </p:sp>
      <p:sp>
        <p:nvSpPr>
          <p:cNvPr id="89093" name="Rectangle 7"/>
          <p:cNvSpPr>
            <a:spLocks noChangeArrowheads="1"/>
          </p:cNvSpPr>
          <p:nvPr/>
        </p:nvSpPr>
        <p:spPr bwMode="auto">
          <a:xfrm>
            <a:off x="431800" y="3033713"/>
            <a:ext cx="43529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3200" b="1">
                <a:solidFill>
                  <a:schemeClr val="tx1"/>
                </a:solidFill>
                <a:latin typeface="楷体_GB2312" pitchFamily="1" charset="-122"/>
                <a:ea typeface="楷体_GB2312" pitchFamily="1" charset="-122"/>
              </a:rPr>
              <a:t>9.4.1 </a:t>
            </a:r>
            <a:r>
              <a:rPr lang="zh-CN" altLang="en-US" sz="3200" b="1">
                <a:solidFill>
                  <a:schemeClr val="tx1"/>
                </a:solidFill>
                <a:latin typeface="楷体_GB2312" pitchFamily="1" charset="-122"/>
                <a:ea typeface="楷体_GB2312" pitchFamily="1" charset="-122"/>
              </a:rPr>
              <a:t>深度缓冲器算法</a:t>
            </a:r>
            <a:r>
              <a:rPr lang="zh-CN" altLang="en-US"/>
              <a:t> </a:t>
            </a:r>
          </a:p>
        </p:txBody>
      </p:sp>
      <p:sp>
        <p:nvSpPr>
          <p:cNvPr id="89094" name="Rectangle 8"/>
          <p:cNvSpPr>
            <a:spLocks noChangeArrowheads="1"/>
          </p:cNvSpPr>
          <p:nvPr/>
        </p:nvSpPr>
        <p:spPr bwMode="auto">
          <a:xfrm>
            <a:off x="566738" y="3933825"/>
            <a:ext cx="1985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b="1">
                <a:solidFill>
                  <a:schemeClr val="tx1"/>
                </a:solidFill>
                <a:latin typeface="楷体_GB2312" pitchFamily="1" charset="-122"/>
                <a:ea typeface="楷体_GB2312" pitchFamily="1" charset="-122"/>
              </a:rPr>
              <a:t>1.</a:t>
            </a:r>
            <a:r>
              <a:rPr lang="zh-CN" altLang="en-US" b="1">
                <a:solidFill>
                  <a:schemeClr val="tx1"/>
                </a:solidFill>
                <a:latin typeface="楷体_GB2312" pitchFamily="1" charset="-122"/>
                <a:ea typeface="楷体_GB2312" pitchFamily="1" charset="-122"/>
              </a:rPr>
              <a:t>算法原理</a:t>
            </a:r>
          </a:p>
        </p:txBody>
      </p:sp>
      <p:sp>
        <p:nvSpPr>
          <p:cNvPr id="89095" name="Rectangle 9"/>
          <p:cNvSpPr>
            <a:spLocks noChangeArrowheads="1"/>
          </p:cNvSpPr>
          <p:nvPr/>
        </p:nvSpPr>
        <p:spPr bwMode="auto">
          <a:xfrm>
            <a:off x="431800" y="4507379"/>
            <a:ext cx="643572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dirty="0">
                <a:solidFill>
                  <a:schemeClr val="tx1"/>
                </a:solidFill>
                <a:latin typeface="楷体_GB2312" pitchFamily="1" charset="-122"/>
                <a:ea typeface="楷体_GB2312" pitchFamily="1" charset="-122"/>
              </a:rPr>
              <a:t>    深度缓冲器算法于</a:t>
            </a:r>
            <a:r>
              <a:rPr lang="en-US" altLang="zh-CN" dirty="0">
                <a:solidFill>
                  <a:schemeClr val="tx1"/>
                </a:solidFill>
                <a:latin typeface="楷体_GB2312" pitchFamily="1" charset="-122"/>
                <a:ea typeface="楷体_GB2312" pitchFamily="1" charset="-122"/>
              </a:rPr>
              <a:t>1974</a:t>
            </a:r>
            <a:r>
              <a:rPr lang="zh-CN" altLang="en-US" dirty="0">
                <a:solidFill>
                  <a:schemeClr val="tx1"/>
                </a:solidFill>
                <a:latin typeface="楷体_GB2312" pitchFamily="1" charset="-122"/>
                <a:ea typeface="楷体_GB2312" pitchFamily="1" charset="-122"/>
              </a:rPr>
              <a:t>年由</a:t>
            </a:r>
            <a:r>
              <a:rPr lang="en-US" altLang="zh-CN" dirty="0" err="1">
                <a:solidFill>
                  <a:schemeClr val="tx1"/>
                </a:solidFill>
                <a:latin typeface="楷体_GB2312" pitchFamily="1" charset="-122"/>
                <a:ea typeface="楷体_GB2312" pitchFamily="1" charset="-122"/>
              </a:rPr>
              <a:t>Catmull</a:t>
            </a:r>
            <a:r>
              <a:rPr lang="zh-CN" altLang="en-US" dirty="0">
                <a:solidFill>
                  <a:schemeClr val="tx1"/>
                </a:solidFill>
                <a:latin typeface="楷体_GB2312" pitchFamily="1" charset="-122"/>
                <a:ea typeface="楷体_GB2312" pitchFamily="1" charset="-122"/>
              </a:rPr>
              <a:t>提出，属于</a:t>
            </a:r>
            <a:r>
              <a:rPr lang="zh-CN" altLang="en-US" sz="2000" b="1" dirty="0">
                <a:solidFill>
                  <a:srgbClr val="3333FF"/>
                </a:solidFill>
                <a:latin typeface="方正粗黑宋简体" panose="02000000000000000000" pitchFamily="2" charset="-122"/>
                <a:ea typeface="方正粗黑宋简体" panose="02000000000000000000" pitchFamily="2" charset="-122"/>
              </a:rPr>
              <a:t>图像空间消隐算法</a:t>
            </a:r>
            <a:r>
              <a:rPr lang="zh-CN" altLang="en-US" dirty="0">
                <a:solidFill>
                  <a:schemeClr val="tx1"/>
                </a:solidFill>
                <a:latin typeface="楷体_GB2312" pitchFamily="1" charset="-122"/>
                <a:ea typeface="楷体_GB2312" pitchFamily="1" charset="-122"/>
              </a:rPr>
              <a:t>。</a:t>
            </a:r>
            <a:r>
              <a:rPr lang="zh-CN" altLang="en-US" sz="2000" b="1" dirty="0">
                <a:solidFill>
                  <a:srgbClr val="3333FF"/>
                </a:solidFill>
                <a:latin typeface="方正粗黑宋简体" panose="02000000000000000000" pitchFamily="2" charset="-122"/>
                <a:ea typeface="方正粗黑宋简体" panose="02000000000000000000" pitchFamily="2" charset="-122"/>
              </a:rPr>
              <a:t>在物空间内不对物体表面的可见性进行检测</a:t>
            </a:r>
            <a:r>
              <a:rPr lang="zh-CN" altLang="en-US" dirty="0">
                <a:solidFill>
                  <a:schemeClr val="tx1"/>
                </a:solidFill>
                <a:latin typeface="楷体_GB2312" pitchFamily="1" charset="-122"/>
                <a:ea typeface="楷体_GB2312" pitchFamily="1" charset="-122"/>
              </a:rPr>
              <a:t>，</a:t>
            </a:r>
            <a:r>
              <a:rPr lang="zh-CN" altLang="en-US" sz="2000" b="1" dirty="0">
                <a:solidFill>
                  <a:srgbClr val="FF0000"/>
                </a:solidFill>
                <a:latin typeface="方正粗黑宋简体" panose="02000000000000000000" pitchFamily="2" charset="-122"/>
                <a:ea typeface="方正粗黑宋简体" panose="02000000000000000000" pitchFamily="2" charset="-122"/>
              </a:rPr>
              <a:t>在像空间中根据每个像素的</a:t>
            </a:r>
            <a:r>
              <a:rPr lang="zh-CN" altLang="en-US" b="1" dirty="0">
                <a:solidFill>
                  <a:srgbClr val="3333FF"/>
                </a:solidFill>
                <a:latin typeface="方正粗黑宋简体" panose="02000000000000000000" pitchFamily="2" charset="-122"/>
                <a:ea typeface="方正粗黑宋简体" panose="02000000000000000000" pitchFamily="2" charset="-122"/>
              </a:rPr>
              <a:t>深度值</a:t>
            </a:r>
            <a:r>
              <a:rPr lang="zh-CN" altLang="en-US" sz="2000" b="1" dirty="0">
                <a:solidFill>
                  <a:srgbClr val="FF0000"/>
                </a:solidFill>
                <a:latin typeface="方正粗黑宋简体" panose="02000000000000000000" pitchFamily="2" charset="-122"/>
                <a:ea typeface="方正粗黑宋简体" panose="02000000000000000000" pitchFamily="2" charset="-122"/>
              </a:rPr>
              <a:t>确定最终绘制的物体表面上各个像素的颜色</a:t>
            </a:r>
            <a:r>
              <a:rPr lang="zh-CN" altLang="en-US" dirty="0">
                <a:solidFill>
                  <a:schemeClr val="tx1"/>
                </a:solidFill>
                <a:latin typeface="楷体_GB2312" pitchFamily="1" charset="-122"/>
                <a:ea typeface="楷体_GB2312" pitchFamily="1" charset="-122"/>
              </a:rPr>
              <a:t>。也称为</a:t>
            </a:r>
            <a:r>
              <a:rPr lang="en-US" altLang="zh-CN" sz="2000" b="1" dirty="0">
                <a:solidFill>
                  <a:srgbClr val="3333FF"/>
                </a:solidFill>
                <a:latin typeface="方正粗黑宋简体" panose="02000000000000000000" pitchFamily="2" charset="-122"/>
                <a:ea typeface="方正粗黑宋简体" panose="02000000000000000000" pitchFamily="2" charset="-122"/>
              </a:rPr>
              <a:t>Z-Buffer</a:t>
            </a:r>
            <a:r>
              <a:rPr lang="zh-CN" altLang="en-US" dirty="0">
                <a:solidFill>
                  <a:schemeClr val="tx1"/>
                </a:solidFill>
                <a:latin typeface="楷体_GB2312" pitchFamily="1" charset="-122"/>
                <a:ea typeface="楷体_GB2312" pitchFamily="1" charset="-122"/>
              </a:rPr>
              <a:t>算法。</a:t>
            </a:r>
          </a:p>
        </p:txBody>
      </p:sp>
      <p:pic>
        <p:nvPicPr>
          <p:cNvPr id="89096" name="Picture 10" descr="catmu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2463" y="3798888"/>
            <a:ext cx="1893887" cy="238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7" name="Rectangle 11"/>
          <p:cNvSpPr>
            <a:spLocks noChangeArrowheads="1"/>
          </p:cNvSpPr>
          <p:nvPr/>
        </p:nvSpPr>
        <p:spPr bwMode="auto">
          <a:xfrm>
            <a:off x="6742113" y="6318250"/>
            <a:ext cx="2401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en-US" altLang="zh-CN" sz="2000">
                <a:solidFill>
                  <a:schemeClr val="tx1"/>
                </a:solidFill>
              </a:rPr>
              <a:t>Edwin Earl Catmull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4"/>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28D0473D-74B9-4BA2-9489-9D2E97AA9C7C}" type="slidenum">
              <a:rPr lang="en-US" altLang="zh-CN" sz="1200">
                <a:solidFill>
                  <a:schemeClr val="tx1"/>
                </a:solidFill>
                <a:latin typeface="Garamond" pitchFamily="18" charset="0"/>
              </a:rPr>
              <a:pPr algn="r" eaLnBrk="1" hangingPunct="1">
                <a:spcBef>
                  <a:spcPct val="0"/>
                </a:spcBef>
              </a:pPr>
              <a:t>86</a:t>
            </a:fld>
            <a:endParaRPr lang="en-US" altLang="zh-CN" sz="1200">
              <a:solidFill>
                <a:schemeClr val="tx1"/>
              </a:solidFill>
              <a:latin typeface="Garamond" pitchFamily="18" charset="0"/>
            </a:endParaRPr>
          </a:p>
        </p:txBody>
      </p:sp>
      <p:sp>
        <p:nvSpPr>
          <p:cNvPr id="90115" name="Text Box 8"/>
          <p:cNvSpPr txBox="1">
            <a:spLocks noChangeArrowheads="1"/>
          </p:cNvSpPr>
          <p:nvPr/>
        </p:nvSpPr>
        <p:spPr bwMode="auto">
          <a:xfrm>
            <a:off x="611188" y="4149725"/>
            <a:ext cx="8101012"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90000"/>
              </a:lnSpc>
              <a:buClr>
                <a:schemeClr val="tx1"/>
              </a:buClr>
              <a:buFont typeface="Wingdings" pitchFamily="2" charset="2"/>
              <a:buNone/>
            </a:pPr>
            <a:r>
              <a:rPr lang="en-US" altLang="zh-CN" dirty="0">
                <a:solidFill>
                  <a:schemeClr val="tx1"/>
                </a:solidFill>
                <a:latin typeface="楷体_GB2312" pitchFamily="1" charset="-122"/>
                <a:ea typeface="楷体_GB2312" pitchFamily="1" charset="-122"/>
              </a:rPr>
              <a:t>Z-Buffer</a:t>
            </a:r>
            <a:r>
              <a:rPr lang="zh-CN" altLang="en-US" dirty="0">
                <a:solidFill>
                  <a:schemeClr val="tx1"/>
                </a:solidFill>
                <a:latin typeface="楷体_GB2312" pitchFamily="1" charset="-122"/>
                <a:ea typeface="楷体_GB2312" pitchFamily="1" charset="-122"/>
              </a:rPr>
              <a:t>算法建立</a:t>
            </a:r>
            <a:r>
              <a:rPr lang="zh-CN" altLang="en-US" sz="2000" b="1" dirty="0">
                <a:solidFill>
                  <a:srgbClr val="FF0000"/>
                </a:solidFill>
                <a:latin typeface="方正粗黑宋简体" panose="02000000000000000000" pitchFamily="2" charset="-122"/>
                <a:ea typeface="方正粗黑宋简体" panose="02000000000000000000" pitchFamily="2" charset="-122"/>
              </a:rPr>
              <a:t>两个缓冲器</a:t>
            </a:r>
            <a:r>
              <a:rPr lang="zh-CN" altLang="en-US" dirty="0">
                <a:solidFill>
                  <a:schemeClr val="tx1"/>
                </a:solidFill>
                <a:latin typeface="楷体_GB2312" pitchFamily="1" charset="-122"/>
                <a:ea typeface="楷体_GB2312" pitchFamily="1" charset="-122"/>
              </a:rPr>
              <a:t>：</a:t>
            </a:r>
          </a:p>
          <a:p>
            <a:pPr marL="342900" indent="-342900" algn="l" eaLnBrk="1" hangingPunct="1">
              <a:lnSpc>
                <a:spcPct val="90000"/>
              </a:lnSpc>
              <a:buFont typeface="Wingdings" panose="05000000000000000000" pitchFamily="2" charset="2"/>
              <a:buChar char="n"/>
            </a:pPr>
            <a:r>
              <a:rPr lang="zh-CN" altLang="en-US" sz="2000" b="1" dirty="0" smtClean="0">
                <a:solidFill>
                  <a:srgbClr val="3333FF"/>
                </a:solidFill>
                <a:latin typeface="方正粗黑宋简体" panose="02000000000000000000" pitchFamily="2" charset="-122"/>
                <a:ea typeface="方正粗黑宋简体" panose="02000000000000000000" pitchFamily="2" charset="-122"/>
              </a:rPr>
              <a:t>深度</a:t>
            </a:r>
            <a:r>
              <a:rPr lang="zh-CN" altLang="en-US" sz="2000" b="1" dirty="0">
                <a:solidFill>
                  <a:srgbClr val="3333FF"/>
                </a:solidFill>
                <a:latin typeface="方正粗黑宋简体" panose="02000000000000000000" pitchFamily="2" charset="-122"/>
                <a:ea typeface="方正粗黑宋简体" panose="02000000000000000000" pitchFamily="2" charset="-122"/>
              </a:rPr>
              <a:t>缓冲器</a:t>
            </a:r>
            <a:r>
              <a:rPr lang="zh-CN" altLang="en-US" dirty="0">
                <a:solidFill>
                  <a:schemeClr val="tx1"/>
                </a:solidFill>
                <a:latin typeface="楷体_GB2312" pitchFamily="1" charset="-122"/>
                <a:ea typeface="楷体_GB2312" pitchFamily="1" charset="-122"/>
              </a:rPr>
              <a:t>，用以存储图像空间中</a:t>
            </a:r>
            <a:r>
              <a:rPr lang="zh-CN" altLang="en-US" sz="2000" b="1" dirty="0">
                <a:solidFill>
                  <a:srgbClr val="FF0000"/>
                </a:solidFill>
                <a:latin typeface="方正粗黑宋简体" panose="02000000000000000000" pitchFamily="2" charset="-122"/>
                <a:ea typeface="方正粗黑宋简体" panose="02000000000000000000" pitchFamily="2" charset="-122"/>
              </a:rPr>
              <a:t>每一像素相应的深度值</a:t>
            </a:r>
            <a:r>
              <a:rPr lang="zh-CN" altLang="en-US" dirty="0">
                <a:solidFill>
                  <a:schemeClr val="tx1"/>
                </a:solidFill>
                <a:latin typeface="楷体_GB2312" pitchFamily="1" charset="-122"/>
                <a:ea typeface="楷体_GB2312" pitchFamily="1" charset="-122"/>
              </a:rPr>
              <a:t>，初始化为最大深度值（</a:t>
            </a:r>
            <a:r>
              <a:rPr lang="en-US" altLang="zh-CN" dirty="0" err="1">
                <a:solidFill>
                  <a:schemeClr val="tx1"/>
                </a:solidFill>
                <a:latin typeface="楷体_GB2312" pitchFamily="1" charset="-122"/>
                <a:ea typeface="楷体_GB2312" pitchFamily="1" charset="-122"/>
              </a:rPr>
              <a:t>z</a:t>
            </a:r>
            <a:r>
              <a:rPr lang="en-US" altLang="zh-CN" baseline="-25000" dirty="0" err="1">
                <a:solidFill>
                  <a:schemeClr val="tx1"/>
                </a:solidFill>
                <a:latin typeface="楷体_GB2312" pitchFamily="1" charset="-122"/>
                <a:ea typeface="楷体_GB2312" pitchFamily="1" charset="-122"/>
              </a:rPr>
              <a:t>s</a:t>
            </a:r>
            <a:r>
              <a:rPr lang="zh-CN" altLang="en-US" dirty="0">
                <a:solidFill>
                  <a:schemeClr val="tx1"/>
                </a:solidFill>
                <a:latin typeface="楷体_GB2312" pitchFamily="1" charset="-122"/>
                <a:ea typeface="楷体_GB2312" pitchFamily="1" charset="-122"/>
              </a:rPr>
              <a:t>坐标）。</a:t>
            </a:r>
          </a:p>
          <a:p>
            <a:pPr marL="342900" indent="-342900" algn="l" eaLnBrk="1" hangingPunct="1">
              <a:lnSpc>
                <a:spcPct val="90000"/>
              </a:lnSpc>
              <a:buFont typeface="Wingdings" panose="05000000000000000000" pitchFamily="2" charset="2"/>
              <a:buChar char="n"/>
            </a:pPr>
            <a:r>
              <a:rPr lang="zh-CN" altLang="en-US" sz="2000" b="1" dirty="0" smtClean="0">
                <a:solidFill>
                  <a:srgbClr val="3333FF"/>
                </a:solidFill>
                <a:latin typeface="方正粗黑宋简体" panose="02000000000000000000" pitchFamily="2" charset="-122"/>
                <a:ea typeface="方正粗黑宋简体" panose="02000000000000000000" pitchFamily="2" charset="-122"/>
              </a:rPr>
              <a:t>帧</a:t>
            </a:r>
            <a:r>
              <a:rPr lang="zh-CN" altLang="en-US" sz="2000" b="1" dirty="0">
                <a:solidFill>
                  <a:srgbClr val="3333FF"/>
                </a:solidFill>
                <a:latin typeface="方正粗黑宋简体" panose="02000000000000000000" pitchFamily="2" charset="-122"/>
                <a:ea typeface="方正粗黑宋简体" panose="02000000000000000000" pitchFamily="2" charset="-122"/>
              </a:rPr>
              <a:t>缓冲器</a:t>
            </a:r>
            <a:r>
              <a:rPr lang="zh-CN" altLang="en-US" dirty="0">
                <a:solidFill>
                  <a:schemeClr val="tx1"/>
                </a:solidFill>
                <a:latin typeface="楷体_GB2312" pitchFamily="1" charset="-122"/>
                <a:ea typeface="楷体_GB2312" pitchFamily="1" charset="-122"/>
              </a:rPr>
              <a:t>，用以存储图像空间中的</a:t>
            </a:r>
            <a:r>
              <a:rPr lang="zh-CN" altLang="en-US" sz="2000" b="1" dirty="0">
                <a:solidFill>
                  <a:srgbClr val="FF0000"/>
                </a:solidFill>
                <a:latin typeface="方正粗黑宋简体" panose="02000000000000000000" pitchFamily="2" charset="-122"/>
                <a:ea typeface="方正粗黑宋简体" panose="02000000000000000000" pitchFamily="2" charset="-122"/>
              </a:rPr>
              <a:t>每个像素的颜色</a:t>
            </a:r>
            <a:r>
              <a:rPr lang="zh-CN" altLang="en-US" dirty="0">
                <a:solidFill>
                  <a:schemeClr val="tx1"/>
                </a:solidFill>
                <a:latin typeface="楷体_GB2312" pitchFamily="1" charset="-122"/>
                <a:ea typeface="楷体_GB2312" pitchFamily="1" charset="-122"/>
              </a:rPr>
              <a:t>，</a:t>
            </a:r>
            <a:r>
              <a:rPr lang="zh-CN" altLang="en-US" sz="2000" b="1" dirty="0">
                <a:solidFill>
                  <a:srgbClr val="3333FF"/>
                </a:solidFill>
                <a:latin typeface="方正粗黑宋简体" panose="02000000000000000000" pitchFamily="2" charset="-122"/>
                <a:ea typeface="方正粗黑宋简体" panose="02000000000000000000" pitchFamily="2" charset="-122"/>
              </a:rPr>
              <a:t>初始化为屏幕的背景色</a:t>
            </a:r>
            <a:r>
              <a:rPr lang="zh-CN" altLang="en-US" dirty="0">
                <a:solidFill>
                  <a:schemeClr val="tx1"/>
                </a:solidFill>
                <a:latin typeface="楷体_GB2312" pitchFamily="1" charset="-122"/>
                <a:ea typeface="楷体_GB2312" pitchFamily="1" charset="-122"/>
              </a:rPr>
              <a:t>。</a:t>
            </a:r>
            <a:r>
              <a:rPr lang="zh-CN" altLang="en-US" b="1" dirty="0"/>
              <a:t> </a:t>
            </a:r>
          </a:p>
        </p:txBody>
      </p:sp>
      <p:graphicFrame>
        <p:nvGraphicFramePr>
          <p:cNvPr id="90117" name="Object 16"/>
          <p:cNvGraphicFramePr>
            <a:graphicFrameLocks noGrp="1" noChangeAspect="1"/>
          </p:cNvGraphicFramePr>
          <p:nvPr>
            <p:ph idx="4294967295"/>
          </p:nvPr>
        </p:nvGraphicFramePr>
        <p:xfrm>
          <a:off x="2592388" y="414338"/>
          <a:ext cx="3779837" cy="3660775"/>
        </p:xfrm>
        <a:graphic>
          <a:graphicData uri="http://schemas.openxmlformats.org/presentationml/2006/ole">
            <mc:AlternateContent xmlns:mc="http://schemas.openxmlformats.org/markup-compatibility/2006">
              <mc:Choice xmlns:v="urn:schemas-microsoft-com:vml" Requires="v">
                <p:oleObj spid="_x0000_s90143" r:id="rId3" imgW="4573578" imgH="4429856" progId="Visio.Drawing.11">
                  <p:embed/>
                </p:oleObj>
              </mc:Choice>
              <mc:Fallback>
                <p:oleObj r:id="rId3" imgW="4573578" imgH="4429856" progId="Visio.Drawing.11">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2388" y="414338"/>
                        <a:ext cx="3779837" cy="3660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C39A9B44-9EC7-44D5-B443-E276613C05DA}" type="slidenum">
              <a:rPr lang="en-US" altLang="zh-CN" sz="1200">
                <a:solidFill>
                  <a:schemeClr val="tx1"/>
                </a:solidFill>
                <a:latin typeface="Garamond" pitchFamily="18" charset="0"/>
              </a:rPr>
              <a:pPr algn="r" eaLnBrk="1" hangingPunct="1">
                <a:spcBef>
                  <a:spcPct val="0"/>
                </a:spcBef>
              </a:pPr>
              <a:t>87</a:t>
            </a:fld>
            <a:endParaRPr lang="en-US" altLang="zh-CN" sz="1200">
              <a:solidFill>
                <a:schemeClr val="tx1"/>
              </a:solidFill>
              <a:latin typeface="Garamond" pitchFamily="18" charset="0"/>
            </a:endParaRPr>
          </a:p>
        </p:txBody>
      </p:sp>
      <p:sp>
        <p:nvSpPr>
          <p:cNvPr id="91139" name="Text Box 4"/>
          <p:cNvSpPr txBox="1">
            <a:spLocks noChangeArrowheads="1"/>
          </p:cNvSpPr>
          <p:nvPr/>
        </p:nvSpPr>
        <p:spPr bwMode="auto">
          <a:xfrm>
            <a:off x="566738" y="323850"/>
            <a:ext cx="1979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en-US" altLang="zh-CN" b="1">
                <a:solidFill>
                  <a:schemeClr val="tx1"/>
                </a:solidFill>
                <a:latin typeface="楷体_GB2312" pitchFamily="1" charset="-122"/>
                <a:ea typeface="楷体_GB2312" pitchFamily="1" charset="-122"/>
              </a:rPr>
              <a:t>2.</a:t>
            </a:r>
            <a:r>
              <a:rPr lang="zh-CN" altLang="en-US" b="1">
                <a:solidFill>
                  <a:schemeClr val="tx1"/>
                </a:solidFill>
                <a:latin typeface="楷体_GB2312" pitchFamily="1" charset="-122"/>
                <a:ea typeface="楷体_GB2312" pitchFamily="1" charset="-122"/>
              </a:rPr>
              <a:t>算法描述</a:t>
            </a:r>
          </a:p>
        </p:txBody>
      </p:sp>
      <mc:AlternateContent xmlns:mc="http://schemas.openxmlformats.org/markup-compatibility/2006">
        <mc:Choice xmlns:a14="http://schemas.microsoft.com/office/drawing/2010/main" Requires="a14">
          <p:sp>
            <p:nvSpPr>
              <p:cNvPr id="91140" name="Text Box 5"/>
              <p:cNvSpPr txBox="1">
                <a:spLocks noChangeArrowheads="1"/>
              </p:cNvSpPr>
              <p:nvPr/>
            </p:nvSpPr>
            <p:spPr bwMode="auto">
              <a:xfrm>
                <a:off x="251520" y="1042988"/>
                <a:ext cx="8712968" cy="527593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457200" indent="-4572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30000"/>
                  </a:lnSpc>
                  <a:buClr>
                    <a:schemeClr val="tx1"/>
                  </a:buClr>
                  <a:buFont typeface="Wingdings" pitchFamily="2" charset="2"/>
                  <a:buAutoNum type="circleNumDbPlain"/>
                </a:pPr>
                <a:r>
                  <a:rPr lang="zh-CN" altLang="en-US" dirty="0" smtClean="0">
                    <a:solidFill>
                      <a:schemeClr val="tx1"/>
                    </a:solidFill>
                    <a:latin typeface="楷体_GB2312" pitchFamily="1" charset="-122"/>
                    <a:ea typeface="楷体_GB2312" pitchFamily="1" charset="-122"/>
                  </a:rPr>
                  <a:t>帧缓冲器初始值置为</a:t>
                </a:r>
                <a:r>
                  <a:rPr lang="zh-CN" altLang="en-US" b="1" dirty="0">
                    <a:solidFill>
                      <a:srgbClr val="FF0000"/>
                    </a:solidFill>
                    <a:latin typeface="方正粗黑宋简体" panose="02000000000000000000" pitchFamily="2" charset="-122"/>
                    <a:ea typeface="方正粗黑宋简体" panose="02000000000000000000" pitchFamily="2" charset="-122"/>
                  </a:rPr>
                  <a:t>背景色</a:t>
                </a:r>
                <a:r>
                  <a:rPr lang="zh-CN" altLang="en-US" dirty="0">
                    <a:solidFill>
                      <a:schemeClr val="tx1"/>
                    </a:solidFill>
                    <a:latin typeface="楷体_GB2312" pitchFamily="1" charset="-122"/>
                    <a:ea typeface="楷体_GB2312" pitchFamily="1" charset="-122"/>
                  </a:rPr>
                  <a:t>。</a:t>
                </a:r>
              </a:p>
              <a:p>
                <a:pPr algn="l" eaLnBrk="1" hangingPunct="1">
                  <a:lnSpc>
                    <a:spcPct val="130000"/>
                  </a:lnSpc>
                  <a:buClr>
                    <a:schemeClr val="tx1"/>
                  </a:buClr>
                  <a:buFont typeface="Wingdings" pitchFamily="2" charset="2"/>
                  <a:buAutoNum type="circleNumDbPlain"/>
                </a:pPr>
                <a:r>
                  <a:rPr lang="zh-CN" altLang="en-US" dirty="0">
                    <a:solidFill>
                      <a:schemeClr val="tx1"/>
                    </a:solidFill>
                    <a:latin typeface="楷体_GB2312" pitchFamily="1" charset="-122"/>
                    <a:ea typeface="楷体_GB2312" pitchFamily="1" charset="-122"/>
                  </a:rPr>
                  <a:t>确定深度缓冲器的</a:t>
                </a:r>
                <a:r>
                  <a:rPr lang="zh-CN" altLang="en-US" b="1" dirty="0">
                    <a:solidFill>
                      <a:srgbClr val="FF0000"/>
                    </a:solidFill>
                    <a:latin typeface="方正粗黑宋简体" panose="02000000000000000000" pitchFamily="2" charset="-122"/>
                    <a:ea typeface="方正粗黑宋简体" panose="02000000000000000000" pitchFamily="2" charset="-122"/>
                  </a:rPr>
                  <a:t>宽度、高度和初始深度</a:t>
                </a:r>
                <a:r>
                  <a:rPr lang="zh-CN" altLang="en-US" dirty="0">
                    <a:solidFill>
                      <a:schemeClr val="tx1"/>
                    </a:solidFill>
                    <a:latin typeface="楷体_GB2312" pitchFamily="1" charset="-122"/>
                    <a:ea typeface="楷体_GB2312" pitchFamily="1" charset="-122"/>
                  </a:rPr>
                  <a:t>。一般将初始深度置为</a:t>
                </a:r>
                <a:r>
                  <a:rPr lang="zh-CN" altLang="en-US" b="1" dirty="0">
                    <a:solidFill>
                      <a:srgbClr val="FF0000"/>
                    </a:solidFill>
                    <a:latin typeface="方正粗黑宋简体" panose="02000000000000000000" pitchFamily="2" charset="-122"/>
                    <a:ea typeface="方正粗黑宋简体" panose="02000000000000000000" pitchFamily="2" charset="-122"/>
                  </a:rPr>
                  <a:t>最大深度值</a:t>
                </a:r>
                <a:r>
                  <a:rPr lang="zh-CN" altLang="en-US" dirty="0">
                    <a:solidFill>
                      <a:schemeClr val="tx1"/>
                    </a:solidFill>
                    <a:latin typeface="楷体_GB2312" pitchFamily="1" charset="-122"/>
                    <a:ea typeface="楷体_GB2312" pitchFamily="1" charset="-122"/>
                  </a:rPr>
                  <a:t>。</a:t>
                </a:r>
              </a:p>
              <a:p>
                <a:pPr algn="l" eaLnBrk="1" hangingPunct="1">
                  <a:lnSpc>
                    <a:spcPct val="130000"/>
                  </a:lnSpc>
                  <a:buClr>
                    <a:schemeClr val="tx1"/>
                  </a:buClr>
                  <a:buFont typeface="Wingdings" pitchFamily="2" charset="2"/>
                  <a:buAutoNum type="circleNumDbPlain"/>
                </a:pPr>
                <a:r>
                  <a:rPr lang="zh-CN" altLang="en-US" dirty="0">
                    <a:solidFill>
                      <a:schemeClr val="tx1"/>
                    </a:solidFill>
                    <a:latin typeface="楷体_GB2312" pitchFamily="1" charset="-122"/>
                    <a:ea typeface="楷体_GB2312" pitchFamily="1" charset="-122"/>
                  </a:rPr>
                  <a:t>对于多边形表面中的</a:t>
                </a:r>
                <a:r>
                  <a:rPr lang="zh-CN" altLang="en-US" b="1" dirty="0">
                    <a:solidFill>
                      <a:srgbClr val="FF0000"/>
                    </a:solidFill>
                    <a:latin typeface="方正粗黑宋简体" panose="02000000000000000000" pitchFamily="2" charset="-122"/>
                    <a:ea typeface="方正粗黑宋简体" panose="02000000000000000000" pitchFamily="2" charset="-122"/>
                  </a:rPr>
                  <a:t>每一</a:t>
                </a:r>
                <a:r>
                  <a:rPr lang="zh-CN" altLang="en-US" b="1" dirty="0" smtClean="0">
                    <a:solidFill>
                      <a:srgbClr val="FF0000"/>
                    </a:solidFill>
                    <a:latin typeface="方正粗黑宋简体" panose="02000000000000000000" pitchFamily="2" charset="-122"/>
                    <a:ea typeface="方正粗黑宋简体" panose="02000000000000000000" pitchFamily="2" charset="-122"/>
                  </a:rPr>
                  <a:t>像素 </a:t>
                </a:r>
                <a14:m>
                  <m:oMath xmlns:m="http://schemas.openxmlformats.org/officeDocument/2006/math">
                    <m:d>
                      <m:dPr>
                        <m:ctrlPr>
                          <a:rPr lang="en-US" altLang="zh-CN"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𝒙</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e>
                    </m:d>
                  </m:oMath>
                </a14:m>
                <a:r>
                  <a:rPr lang="zh-CN" altLang="en-US" dirty="0">
                    <a:solidFill>
                      <a:schemeClr val="tx1"/>
                    </a:solidFill>
                    <a:latin typeface="楷体_GB2312" pitchFamily="1" charset="-122"/>
                    <a:ea typeface="楷体_GB2312" pitchFamily="1" charset="-122"/>
                  </a:rPr>
                  <a:t>，计算</a:t>
                </a:r>
                <a:r>
                  <a:rPr lang="zh-CN" altLang="en-US" b="1" dirty="0">
                    <a:solidFill>
                      <a:srgbClr val="FF0000"/>
                    </a:solidFill>
                    <a:latin typeface="方正粗黑宋简体" panose="02000000000000000000" pitchFamily="2" charset="-122"/>
                    <a:ea typeface="方正粗黑宋简体" panose="02000000000000000000" pitchFamily="2" charset="-122"/>
                  </a:rPr>
                  <a:t>其深度</a:t>
                </a:r>
                <a:r>
                  <a:rPr lang="zh-CN" altLang="en-US" b="1" dirty="0" smtClean="0">
                    <a:solidFill>
                      <a:srgbClr val="FF0000"/>
                    </a:solidFill>
                    <a:latin typeface="方正粗黑宋简体" panose="02000000000000000000" pitchFamily="2" charset="-122"/>
                    <a:ea typeface="方正粗黑宋简体" panose="02000000000000000000" pitchFamily="2" charset="-122"/>
                  </a:rPr>
                  <a:t>值</a:t>
                </a:r>
                <a14:m>
                  <m:oMath xmlns:m="http://schemas.openxmlformats.org/officeDocument/2006/math">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𝒛</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d>
                      <m:dPr>
                        <m:ctrlPr>
                          <a:rPr lang="en-US" altLang="zh-CN" b="1" i="1" smtClean="0">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smtClean="0">
                                <a:solidFill>
                                  <a:srgbClr val="FF0000"/>
                                </a:solidFill>
                                <a:latin typeface="Cambria Math" panose="02040503050406030204" pitchFamily="18" charset="0"/>
                                <a:ea typeface="方正粗黑宋简体" panose="02000000000000000000" pitchFamily="2" charset="-122"/>
                              </a:rPr>
                              <m:t>𝒙</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r>
                          <a:rPr lang="en-US" altLang="zh-CN" b="1" i="1" smtClean="0">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smtClean="0">
                                <a:solidFill>
                                  <a:srgbClr val="FF0000"/>
                                </a:solidFill>
                                <a:latin typeface="Cambria Math" panose="02040503050406030204" pitchFamily="18" charset="0"/>
                                <a:ea typeface="方正粗黑宋简体" panose="02000000000000000000" pitchFamily="2" charset="-122"/>
                              </a:rPr>
                              <m:t>𝒚</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e>
                    </m:d>
                  </m:oMath>
                </a14:m>
                <a:r>
                  <a:rPr lang="zh-CN" altLang="en-US" dirty="0" smtClean="0">
                    <a:solidFill>
                      <a:schemeClr val="tx1"/>
                    </a:solidFill>
                    <a:latin typeface="楷体_GB2312" pitchFamily="1" charset="-122"/>
                    <a:ea typeface="楷体_GB2312" pitchFamily="1" charset="-122"/>
                  </a:rPr>
                  <a:t>。</a:t>
                </a:r>
                <a:endParaRPr lang="zh-CN" altLang="en-US" dirty="0">
                  <a:solidFill>
                    <a:schemeClr val="tx1"/>
                  </a:solidFill>
                  <a:latin typeface="楷体_GB2312" pitchFamily="1" charset="-122"/>
                  <a:ea typeface="楷体_GB2312" pitchFamily="1" charset="-122"/>
                </a:endParaRPr>
              </a:p>
              <a:p>
                <a:pPr algn="l" eaLnBrk="1" hangingPunct="1">
                  <a:lnSpc>
                    <a:spcPct val="130000"/>
                  </a:lnSpc>
                  <a:buClr>
                    <a:schemeClr val="tx1"/>
                  </a:buClr>
                  <a:buFont typeface="Wingdings" pitchFamily="2" charset="2"/>
                  <a:buAutoNum type="circleNumDbPlain"/>
                </a:pPr>
                <a:r>
                  <a:rPr lang="zh-CN" altLang="en-US" dirty="0" smtClean="0">
                    <a:solidFill>
                      <a:schemeClr val="tx1"/>
                    </a:solidFill>
                    <a:latin typeface="楷体_GB2312" pitchFamily="1" charset="-122"/>
                    <a:ea typeface="楷体_GB2312" pitchFamily="1" charset="-122"/>
                  </a:rPr>
                  <a:t>将 </a:t>
                </a:r>
                <a14:m>
                  <m:oMath xmlns:m="http://schemas.openxmlformats.org/officeDocument/2006/math">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𝒛</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d>
                      <m:dPr>
                        <m:ctrlPr>
                          <a:rPr lang="en-US" altLang="zh-CN"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𝒙</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e>
                    </m:d>
                  </m:oMath>
                </a14:m>
                <a:r>
                  <a:rPr lang="zh-CN" altLang="en-US" dirty="0" smtClean="0">
                    <a:solidFill>
                      <a:schemeClr val="tx1"/>
                    </a:solidFill>
                    <a:latin typeface="楷体_GB2312" pitchFamily="1" charset="-122"/>
                    <a:ea typeface="楷体_GB2312" pitchFamily="1" charset="-122"/>
                  </a:rPr>
                  <a:t> 与</a:t>
                </a:r>
                <a:r>
                  <a:rPr lang="zh-CN" altLang="en-US" dirty="0">
                    <a:solidFill>
                      <a:schemeClr val="tx1"/>
                    </a:solidFill>
                    <a:latin typeface="楷体_GB2312" pitchFamily="1" charset="-122"/>
                    <a:ea typeface="楷体_GB2312" pitchFamily="1" charset="-122"/>
                  </a:rPr>
                  <a:t>存储</a:t>
                </a:r>
                <a:r>
                  <a:rPr lang="zh-CN" altLang="en-US" dirty="0" smtClean="0">
                    <a:solidFill>
                      <a:schemeClr val="tx1"/>
                    </a:solidFill>
                    <a:latin typeface="楷体_GB2312" pitchFamily="1" charset="-122"/>
                    <a:ea typeface="楷体_GB2312" pitchFamily="1" charset="-122"/>
                  </a:rPr>
                  <a:t>在 </a:t>
                </a:r>
                <a14:m>
                  <m:oMath xmlns:m="http://schemas.openxmlformats.org/officeDocument/2006/math">
                    <m:r>
                      <a:rPr lang="en-US" altLang="zh-CN" b="1" i="1">
                        <a:solidFill>
                          <a:srgbClr val="FF0000"/>
                        </a:solidFill>
                        <a:latin typeface="Cambria Math" panose="02040503050406030204" pitchFamily="18" charset="0"/>
                        <a:ea typeface="方正粗黑宋简体" panose="02000000000000000000" pitchFamily="2" charset="-122"/>
                      </a:rPr>
                      <m:t>𝒛</m:t>
                    </m:r>
                  </m:oMath>
                </a14:m>
                <a:r>
                  <a:rPr lang="zh-CN" altLang="en-US" dirty="0" smtClean="0">
                    <a:solidFill>
                      <a:schemeClr val="tx1"/>
                    </a:solidFill>
                    <a:latin typeface="楷体_GB2312" pitchFamily="1" charset="-122"/>
                    <a:ea typeface="楷体_GB2312" pitchFamily="1" charset="-122"/>
                  </a:rPr>
                  <a:t> 缓冲器</a:t>
                </a:r>
                <a:r>
                  <a:rPr lang="zh-CN" altLang="en-US" dirty="0">
                    <a:solidFill>
                      <a:schemeClr val="tx1"/>
                    </a:solidFill>
                    <a:latin typeface="楷体_GB2312" pitchFamily="1" charset="-122"/>
                    <a:ea typeface="楷体_GB2312" pitchFamily="1" charset="-122"/>
                  </a:rPr>
                  <a:t>中该位置的</a:t>
                </a:r>
                <a:r>
                  <a:rPr lang="zh-CN" altLang="en-US" dirty="0" smtClean="0">
                    <a:solidFill>
                      <a:schemeClr val="tx1"/>
                    </a:solidFill>
                    <a:latin typeface="楷体_GB2312" pitchFamily="1" charset="-122"/>
                    <a:ea typeface="楷体_GB2312" pitchFamily="1" charset="-122"/>
                  </a:rPr>
                  <a:t>深度 </a:t>
                </a:r>
                <a14:m>
                  <m:oMath xmlns:m="http://schemas.openxmlformats.org/officeDocument/2006/math">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𝒛</m:t>
                        </m:r>
                      </m:e>
                      <m:sub>
                        <m:r>
                          <a:rPr lang="en-US" altLang="zh-CN" b="1" i="1" smtClean="0">
                            <a:solidFill>
                              <a:srgbClr val="FF0000"/>
                            </a:solidFill>
                            <a:latin typeface="Cambria Math" panose="02040503050406030204" pitchFamily="18" charset="0"/>
                            <a:ea typeface="方正粗黑宋简体" panose="02000000000000000000" pitchFamily="2" charset="-122"/>
                          </a:rPr>
                          <m:t>𝒃𝒖𝒇𝒇𝒆𝒓</m:t>
                        </m:r>
                      </m:sub>
                    </m:sSub>
                    <m:d>
                      <m:dPr>
                        <m:ctrlPr>
                          <a:rPr lang="en-US" altLang="zh-CN"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𝒙</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e>
                    </m:d>
                  </m:oMath>
                </a14:m>
                <a:r>
                  <a:rPr lang="en-US" altLang="zh-CN" dirty="0" smtClean="0">
                    <a:solidFill>
                      <a:schemeClr val="tx1"/>
                    </a:solidFill>
                    <a:latin typeface="楷体_GB2312" pitchFamily="1" charset="-122"/>
                    <a:ea typeface="楷体_GB2312" pitchFamily="1" charset="-122"/>
                  </a:rPr>
                  <a:t> </a:t>
                </a:r>
                <a:r>
                  <a:rPr lang="zh-CN" altLang="en-US" dirty="0" smtClean="0">
                    <a:solidFill>
                      <a:schemeClr val="tx1"/>
                    </a:solidFill>
                    <a:latin typeface="楷体_GB2312" pitchFamily="1" charset="-122"/>
                    <a:ea typeface="楷体_GB2312" pitchFamily="1" charset="-122"/>
                  </a:rPr>
                  <a:t>比较</a:t>
                </a:r>
                <a:r>
                  <a:rPr lang="zh-CN" altLang="en-US" dirty="0">
                    <a:solidFill>
                      <a:schemeClr val="tx1"/>
                    </a:solidFill>
                    <a:latin typeface="楷体_GB2312" pitchFamily="1" charset="-122"/>
                    <a:ea typeface="楷体_GB2312" pitchFamily="1" charset="-122"/>
                  </a:rPr>
                  <a:t>。</a:t>
                </a:r>
              </a:p>
              <a:p>
                <a:pPr algn="l" eaLnBrk="1" hangingPunct="1">
                  <a:lnSpc>
                    <a:spcPct val="130000"/>
                  </a:lnSpc>
                  <a:buClr>
                    <a:schemeClr val="tx1"/>
                  </a:buClr>
                  <a:buFont typeface="Wingdings" pitchFamily="2" charset="2"/>
                  <a:buAutoNum type="circleNumDbPlain"/>
                </a:pPr>
                <a:r>
                  <a:rPr lang="zh-CN" altLang="en-US" dirty="0">
                    <a:solidFill>
                      <a:schemeClr val="tx1"/>
                    </a:solidFill>
                    <a:latin typeface="楷体_GB2312" pitchFamily="1" charset="-122"/>
                    <a:ea typeface="楷体_GB2312" pitchFamily="1" charset="-122"/>
                  </a:rPr>
                  <a:t>如果</a:t>
                </a:r>
                <a14:m>
                  <m:oMath xmlns:m="http://schemas.openxmlformats.org/officeDocument/2006/math">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𝒛</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d>
                      <m:dPr>
                        <m:ctrlPr>
                          <a:rPr lang="en-US" altLang="zh-CN"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𝒙</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e>
                    </m:d>
                    <m:r>
                      <a:rPr lang="en-US" altLang="zh-CN" b="1" i="1" smtClean="0">
                        <a:solidFill>
                          <a:srgbClr val="FF0000"/>
                        </a:solidFill>
                        <a:latin typeface="Cambria Math" panose="02040503050406030204" pitchFamily="18" charset="0"/>
                        <a:ea typeface="Cambria Math" panose="02040503050406030204" pitchFamily="18" charset="0"/>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𝒛</m:t>
                        </m:r>
                      </m:e>
                      <m:sub>
                        <m:r>
                          <a:rPr lang="en-US" altLang="zh-CN" b="1" i="1">
                            <a:solidFill>
                              <a:srgbClr val="FF0000"/>
                            </a:solidFill>
                            <a:latin typeface="Cambria Math" panose="02040503050406030204" pitchFamily="18" charset="0"/>
                            <a:ea typeface="方正粗黑宋简体" panose="02000000000000000000" pitchFamily="2" charset="-122"/>
                          </a:rPr>
                          <m:t>𝒃𝒖𝒇𝒇𝒆𝒓</m:t>
                        </m:r>
                      </m:sub>
                    </m:sSub>
                    <m:d>
                      <m:dPr>
                        <m:ctrlPr>
                          <a:rPr lang="en-US" altLang="zh-CN"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𝒙</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e>
                    </m:d>
                  </m:oMath>
                </a14:m>
                <a:r>
                  <a:rPr lang="zh-CN" altLang="en-US" dirty="0" smtClean="0">
                    <a:solidFill>
                      <a:schemeClr val="tx1"/>
                    </a:solidFill>
                    <a:latin typeface="楷体_GB2312" pitchFamily="1" charset="-122"/>
                    <a:ea typeface="楷体_GB2312" pitchFamily="1" charset="-122"/>
                  </a:rPr>
                  <a:t>，</a:t>
                </a:r>
                <a:r>
                  <a:rPr lang="zh-CN" altLang="en-US" dirty="0">
                    <a:solidFill>
                      <a:schemeClr val="tx1"/>
                    </a:solidFill>
                    <a:latin typeface="楷体_GB2312" pitchFamily="1" charset="-122"/>
                    <a:ea typeface="楷体_GB2312" pitchFamily="1" charset="-122"/>
                  </a:rPr>
                  <a:t>则将此像素的颜色写入帧缓冲器，且</a:t>
                </a:r>
                <a:r>
                  <a:rPr lang="zh-CN" altLang="en-US" dirty="0" smtClean="0">
                    <a:solidFill>
                      <a:schemeClr val="tx1"/>
                    </a:solidFill>
                    <a:latin typeface="楷体_GB2312" pitchFamily="1" charset="-122"/>
                    <a:ea typeface="楷体_GB2312" pitchFamily="1" charset="-122"/>
                  </a:rPr>
                  <a:t>用 </a:t>
                </a:r>
                <a14:m>
                  <m:oMath xmlns:m="http://schemas.openxmlformats.org/officeDocument/2006/math">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𝒛</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d>
                      <m:dPr>
                        <m:ctrlPr>
                          <a:rPr lang="en-US" altLang="zh-CN"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𝒙</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e>
                    </m:d>
                  </m:oMath>
                </a14:m>
                <a:r>
                  <a:rPr lang="zh-CN" altLang="en-US" dirty="0" smtClean="0">
                    <a:solidFill>
                      <a:schemeClr val="tx1"/>
                    </a:solidFill>
                    <a:latin typeface="楷体_GB2312" pitchFamily="1" charset="-122"/>
                    <a:ea typeface="楷体_GB2312" pitchFamily="1" charset="-122"/>
                  </a:rPr>
                  <a:t> 重置 </a:t>
                </a:r>
                <a14:m>
                  <m:oMath xmlns:m="http://schemas.openxmlformats.org/officeDocument/2006/math">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𝒛</m:t>
                        </m:r>
                      </m:e>
                      <m:sub>
                        <m:r>
                          <a:rPr lang="en-US" altLang="zh-CN" b="1" i="1">
                            <a:solidFill>
                              <a:srgbClr val="FF0000"/>
                            </a:solidFill>
                            <a:latin typeface="Cambria Math" panose="02040503050406030204" pitchFamily="18" charset="0"/>
                            <a:ea typeface="方正粗黑宋简体" panose="02000000000000000000" pitchFamily="2" charset="-122"/>
                          </a:rPr>
                          <m:t>𝒃𝒖𝒇𝒇𝒆𝒓</m:t>
                        </m:r>
                      </m:sub>
                    </m:sSub>
                    <m:d>
                      <m:dPr>
                        <m:ctrlPr>
                          <a:rPr lang="en-US" altLang="zh-CN"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𝒙</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e>
                    </m:d>
                  </m:oMath>
                </a14:m>
                <a:r>
                  <a:rPr lang="zh-CN" altLang="en-US" dirty="0">
                    <a:solidFill>
                      <a:schemeClr val="tx1"/>
                    </a:solidFill>
                    <a:latin typeface="楷体_GB2312" pitchFamily="1" charset="-122"/>
                    <a:ea typeface="楷体_GB2312" pitchFamily="1" charset="-122"/>
                  </a:rPr>
                  <a:t>。</a:t>
                </a:r>
              </a:p>
            </p:txBody>
          </p:sp>
        </mc:Choice>
        <mc:Fallback>
          <p:sp>
            <p:nvSpPr>
              <p:cNvPr id="91140" name="Text Box 5"/>
              <p:cNvSpPr txBox="1">
                <a:spLocks noRot="1" noChangeAspect="1" noMove="1" noResize="1" noEditPoints="1" noAdjustHandles="1" noChangeArrowheads="1" noChangeShapeType="1" noTextEdit="1"/>
              </p:cNvSpPr>
              <p:nvPr/>
            </p:nvSpPr>
            <p:spPr bwMode="auto">
              <a:xfrm>
                <a:off x="251520" y="1042988"/>
                <a:ext cx="8712968" cy="5275931"/>
              </a:xfrm>
              <a:prstGeom prst="rect">
                <a:avLst/>
              </a:prstGeom>
              <a:blipFill>
                <a:blip r:embed="rId2"/>
                <a:stretch>
                  <a:fillRect l="-699" t="-115" b="-5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1535E8CC-A152-4FA7-A603-D4994BBC44E1}" type="slidenum">
              <a:rPr lang="en-US" altLang="zh-CN" sz="1200">
                <a:solidFill>
                  <a:schemeClr val="tx1"/>
                </a:solidFill>
                <a:latin typeface="Garamond" pitchFamily="18" charset="0"/>
              </a:rPr>
              <a:pPr algn="r" eaLnBrk="1" hangingPunct="1">
                <a:spcBef>
                  <a:spcPct val="0"/>
                </a:spcBef>
              </a:pPr>
              <a:t>88</a:t>
            </a:fld>
            <a:endParaRPr lang="en-US" altLang="zh-CN" sz="1200">
              <a:solidFill>
                <a:schemeClr val="tx1"/>
              </a:solidFill>
              <a:latin typeface="Garamond" pitchFamily="18" charset="0"/>
            </a:endParaRPr>
          </a:p>
        </p:txBody>
      </p:sp>
      <p:sp>
        <p:nvSpPr>
          <p:cNvPr id="92163" name="Text Box 4"/>
          <p:cNvSpPr txBox="1">
            <a:spLocks noChangeArrowheads="1"/>
          </p:cNvSpPr>
          <p:nvPr/>
        </p:nvSpPr>
        <p:spPr bwMode="auto">
          <a:xfrm>
            <a:off x="476250" y="323850"/>
            <a:ext cx="207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en-US" altLang="zh-CN" b="1">
                <a:solidFill>
                  <a:schemeClr val="tx1"/>
                </a:solidFill>
                <a:latin typeface="楷体_GB2312" pitchFamily="1" charset="-122"/>
                <a:ea typeface="楷体_GB2312" pitchFamily="1" charset="-122"/>
              </a:rPr>
              <a:t>3.</a:t>
            </a:r>
            <a:r>
              <a:rPr lang="zh-CN" altLang="en-US" b="1">
                <a:solidFill>
                  <a:schemeClr val="tx1"/>
                </a:solidFill>
                <a:latin typeface="楷体_GB2312" pitchFamily="1" charset="-122"/>
                <a:ea typeface="楷体_GB2312" pitchFamily="1" charset="-122"/>
              </a:rPr>
              <a:t>计算深度</a:t>
            </a:r>
          </a:p>
        </p:txBody>
      </p:sp>
      <p:sp>
        <p:nvSpPr>
          <p:cNvPr id="92164" name="Text Box 5"/>
          <p:cNvSpPr txBox="1">
            <a:spLocks noChangeArrowheads="1"/>
          </p:cNvSpPr>
          <p:nvPr/>
        </p:nvSpPr>
        <p:spPr bwMode="auto">
          <a:xfrm>
            <a:off x="522288" y="863600"/>
            <a:ext cx="8189912"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20000"/>
              </a:lnSpc>
            </a:pPr>
            <a:r>
              <a:rPr lang="zh-CN" altLang="en-US" dirty="0">
                <a:latin typeface="楷体_GB2312" pitchFamily="1" charset="-122"/>
                <a:ea typeface="楷体_GB2312" pitchFamily="1" charset="-122"/>
              </a:rPr>
              <a:t>    </a:t>
            </a:r>
            <a:r>
              <a:rPr lang="zh-CN" altLang="en-US" dirty="0">
                <a:solidFill>
                  <a:schemeClr val="tx1"/>
                </a:solidFill>
                <a:latin typeface="楷体_GB2312" pitchFamily="1" charset="-122"/>
                <a:ea typeface="楷体_GB2312" pitchFamily="1" charset="-122"/>
              </a:rPr>
              <a:t>若多边形的</a:t>
            </a:r>
            <a:r>
              <a:rPr lang="zh-CN" altLang="en-US" sz="2000" b="1" dirty="0">
                <a:solidFill>
                  <a:srgbClr val="FF0000"/>
                </a:solidFill>
                <a:latin typeface="方正粗黑宋简体" panose="02000000000000000000" pitchFamily="2" charset="-122"/>
                <a:ea typeface="方正粗黑宋简体" panose="02000000000000000000" pitchFamily="2" charset="-122"/>
              </a:rPr>
              <a:t>平面方程</a:t>
            </a:r>
            <a:r>
              <a:rPr lang="zh-CN" altLang="en-US" dirty="0">
                <a:solidFill>
                  <a:schemeClr val="tx1"/>
                </a:solidFill>
                <a:latin typeface="楷体_GB2312" pitchFamily="1" charset="-122"/>
                <a:ea typeface="楷体_GB2312" pitchFamily="1" charset="-122"/>
              </a:rPr>
              <a:t>已知，一般采用</a:t>
            </a:r>
            <a:r>
              <a:rPr lang="zh-CN" altLang="en-US" sz="2000" b="1" dirty="0">
                <a:solidFill>
                  <a:srgbClr val="FF0000"/>
                </a:solidFill>
                <a:latin typeface="方正粗黑宋简体" panose="02000000000000000000" pitchFamily="2" charset="-122"/>
                <a:ea typeface="方正粗黑宋简体" panose="02000000000000000000" pitchFamily="2" charset="-122"/>
              </a:rPr>
              <a:t>增量法计算扫描线上每一像素点的深度值</a:t>
            </a:r>
            <a:r>
              <a:rPr lang="zh-CN" altLang="en-US" dirty="0">
                <a:solidFill>
                  <a:schemeClr val="tx1"/>
                </a:solidFill>
                <a:latin typeface="楷体_GB2312" pitchFamily="1" charset="-122"/>
                <a:ea typeface="楷体_GB2312" pitchFamily="1" charset="-122"/>
              </a:rPr>
              <a:t>。当立方体旋转到图</a:t>
            </a:r>
            <a:r>
              <a:rPr lang="en-US" altLang="zh-CN" dirty="0">
                <a:solidFill>
                  <a:schemeClr val="tx1"/>
                </a:solidFill>
                <a:latin typeface="楷体_GB2312" pitchFamily="1" charset="-122"/>
                <a:ea typeface="楷体_GB2312" pitchFamily="1" charset="-122"/>
              </a:rPr>
              <a:t>9-65</a:t>
            </a:r>
            <a:r>
              <a:rPr lang="zh-CN" altLang="en-US" dirty="0">
                <a:solidFill>
                  <a:schemeClr val="tx1"/>
                </a:solidFill>
                <a:latin typeface="楷体_GB2312" pitchFamily="1" charset="-122"/>
                <a:ea typeface="楷体_GB2312" pitchFamily="1" charset="-122"/>
              </a:rPr>
              <a:t>所示的位置时，六个</a:t>
            </a:r>
            <a:r>
              <a:rPr lang="zh-CN" altLang="en-US" sz="2000" b="1" dirty="0">
                <a:solidFill>
                  <a:srgbClr val="FF0000"/>
                </a:solidFill>
                <a:latin typeface="方正粗黑宋简体" panose="02000000000000000000" pitchFamily="2" charset="-122"/>
                <a:ea typeface="方正粗黑宋简体" panose="02000000000000000000" pitchFamily="2" charset="-122"/>
              </a:rPr>
              <a:t>表面都不与投影面</a:t>
            </a:r>
            <a:r>
              <a:rPr lang="en-US" altLang="zh-CN" sz="2000" b="1" dirty="0" err="1">
                <a:solidFill>
                  <a:srgbClr val="FF0000"/>
                </a:solidFill>
                <a:latin typeface="方正粗黑宋简体" panose="02000000000000000000" pitchFamily="2" charset="-122"/>
                <a:ea typeface="方正粗黑宋简体" panose="02000000000000000000" pitchFamily="2" charset="-122"/>
              </a:rPr>
              <a:t>xOy</a:t>
            </a:r>
            <a:r>
              <a:rPr lang="zh-CN" altLang="en-US" sz="2000" b="1" dirty="0">
                <a:solidFill>
                  <a:srgbClr val="FF0000"/>
                </a:solidFill>
                <a:latin typeface="方正粗黑宋简体" panose="02000000000000000000" pitchFamily="2" charset="-122"/>
                <a:ea typeface="方正粗黑宋简体" panose="02000000000000000000" pitchFamily="2" charset="-122"/>
              </a:rPr>
              <a:t>面平行</a:t>
            </a:r>
            <a:r>
              <a:rPr lang="zh-CN" altLang="en-US" dirty="0">
                <a:solidFill>
                  <a:schemeClr val="tx1"/>
                </a:solidFill>
                <a:latin typeface="楷体_GB2312" pitchFamily="1" charset="-122"/>
                <a:ea typeface="楷体_GB2312" pitchFamily="1" charset="-122"/>
              </a:rPr>
              <a:t>，这时</a:t>
            </a:r>
            <a:r>
              <a:rPr lang="zh-CN" altLang="en-US" sz="2000" b="1" dirty="0">
                <a:solidFill>
                  <a:srgbClr val="3333FF"/>
                </a:solidFill>
                <a:latin typeface="方正粗黑宋简体" panose="02000000000000000000" pitchFamily="2" charset="-122"/>
                <a:ea typeface="方正粗黑宋简体" panose="02000000000000000000" pitchFamily="2" charset="-122"/>
              </a:rPr>
              <a:t>需要根据每个表面的平面方程计算多边形内各个像素点的深度值</a:t>
            </a:r>
            <a:r>
              <a:rPr lang="zh-CN" altLang="en-US" dirty="0">
                <a:solidFill>
                  <a:schemeClr val="tx1"/>
                </a:solidFill>
                <a:latin typeface="楷体_GB2312" pitchFamily="1" charset="-122"/>
                <a:ea typeface="楷体_GB2312" pitchFamily="1" charset="-122"/>
              </a:rPr>
              <a:t>。</a:t>
            </a:r>
          </a:p>
        </p:txBody>
      </p:sp>
      <p:graphicFrame>
        <p:nvGraphicFramePr>
          <p:cNvPr id="92166" name="Object 6"/>
          <p:cNvGraphicFramePr>
            <a:graphicFrameLocks noChangeAspect="1"/>
          </p:cNvGraphicFramePr>
          <p:nvPr/>
        </p:nvGraphicFramePr>
        <p:xfrm>
          <a:off x="836613" y="2619375"/>
          <a:ext cx="3779837" cy="3033713"/>
        </p:xfrm>
        <a:graphic>
          <a:graphicData uri="http://schemas.openxmlformats.org/presentationml/2006/ole">
            <mc:AlternateContent xmlns:mc="http://schemas.openxmlformats.org/markup-compatibility/2006">
              <mc:Choice xmlns:v="urn:schemas-microsoft-com:vml" Requires="v">
                <p:oleObj spid="_x0000_s92222" r:id="rId3" imgW="5508788" imgH="4428787" progId="Visio.Drawing.11">
                  <p:embed/>
                </p:oleObj>
              </mc:Choice>
              <mc:Fallback>
                <p:oleObj r:id="rId3" imgW="5508788" imgH="4428787" progId="Visio.Drawing.11">
                  <p:embed/>
                  <p:pic>
                    <p:nvPicPr>
                      <p:cNvPr id="0" name="Picture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613" y="2619375"/>
                        <a:ext cx="3779837" cy="3033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68" name="Object 8"/>
          <p:cNvGraphicFramePr>
            <a:graphicFrameLocks noChangeAspect="1"/>
          </p:cNvGraphicFramePr>
          <p:nvPr/>
        </p:nvGraphicFramePr>
        <p:xfrm>
          <a:off x="4841875" y="2754313"/>
          <a:ext cx="3690938" cy="2887662"/>
        </p:xfrm>
        <a:graphic>
          <a:graphicData uri="http://schemas.openxmlformats.org/presentationml/2006/ole">
            <mc:AlternateContent xmlns:mc="http://schemas.openxmlformats.org/markup-compatibility/2006">
              <mc:Choice xmlns:v="urn:schemas-microsoft-com:vml" Requires="v">
                <p:oleObj spid="_x0000_s92223" r:id="rId5" imgW="4420949" imgH="3466830" progId="Visio.Drawing.11">
                  <p:embed/>
                </p:oleObj>
              </mc:Choice>
              <mc:Fallback>
                <p:oleObj r:id="rId5" imgW="4420949" imgH="3466830" progId="Visio.Drawing.11">
                  <p:embed/>
                  <p:pic>
                    <p:nvPicPr>
                      <p:cNvPr id="0"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41875" y="2754313"/>
                        <a:ext cx="3690938" cy="2887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69" name="Rectangle 10"/>
          <p:cNvSpPr>
            <a:spLocks noChangeArrowheads="1"/>
          </p:cNvSpPr>
          <p:nvPr/>
        </p:nvSpPr>
        <p:spPr bwMode="auto">
          <a:xfrm>
            <a:off x="431800" y="4643438"/>
            <a:ext cx="611188"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sz="2000" b="1">
                <a:solidFill>
                  <a:schemeClr val="tx2"/>
                </a:solidFill>
              </a:rPr>
              <a:t>视线方向 </a:t>
            </a:r>
          </a:p>
        </p:txBody>
      </p:sp>
      <p:sp>
        <p:nvSpPr>
          <p:cNvPr id="92170" name="Rectangle 11"/>
          <p:cNvSpPr>
            <a:spLocks noChangeArrowheads="1"/>
          </p:cNvSpPr>
          <p:nvPr/>
        </p:nvSpPr>
        <p:spPr bwMode="auto">
          <a:xfrm>
            <a:off x="1331913" y="5903913"/>
            <a:ext cx="2597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rgbClr val="000000"/>
                </a:solidFill>
                <a:latin typeface="楷体_GB2312" pitchFamily="1" charset="-122"/>
                <a:ea typeface="楷体_GB2312" pitchFamily="1" charset="-122"/>
              </a:rPr>
              <a:t>图</a:t>
            </a:r>
            <a:r>
              <a:rPr lang="en-US" altLang="zh-CN" sz="2000">
                <a:solidFill>
                  <a:srgbClr val="000000"/>
                </a:solidFill>
                <a:latin typeface="楷体_GB2312" pitchFamily="1" charset="-122"/>
                <a:ea typeface="楷体_GB2312" pitchFamily="1" charset="-122"/>
              </a:rPr>
              <a:t>9-65 </a:t>
            </a:r>
            <a:r>
              <a:rPr lang="zh-CN" altLang="en-US" sz="2000">
                <a:solidFill>
                  <a:srgbClr val="000000"/>
                </a:solidFill>
                <a:latin typeface="楷体_GB2312" pitchFamily="1" charset="-122"/>
                <a:ea typeface="楷体_GB2312" pitchFamily="1" charset="-122"/>
              </a:rPr>
              <a:t>旋转立方体  </a:t>
            </a:r>
          </a:p>
        </p:txBody>
      </p:sp>
      <p:sp>
        <p:nvSpPr>
          <p:cNvPr id="92171" name="Rectangle 12"/>
          <p:cNvSpPr>
            <a:spLocks noChangeArrowheads="1"/>
          </p:cNvSpPr>
          <p:nvPr/>
        </p:nvSpPr>
        <p:spPr bwMode="auto">
          <a:xfrm>
            <a:off x="4841875" y="5889625"/>
            <a:ext cx="374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rgbClr val="000000"/>
                </a:solidFill>
                <a:latin typeface="楷体_GB2312" pitchFamily="1" charset="-122"/>
                <a:ea typeface="楷体_GB2312" pitchFamily="1" charset="-122"/>
              </a:rPr>
              <a:t>图</a:t>
            </a:r>
            <a:r>
              <a:rPr lang="en-US" altLang="zh-CN" sz="2000">
                <a:solidFill>
                  <a:srgbClr val="000000"/>
                </a:solidFill>
                <a:latin typeface="楷体_GB2312" pitchFamily="1" charset="-122"/>
                <a:ea typeface="楷体_GB2312" pitchFamily="1" charset="-122"/>
              </a:rPr>
              <a:t>9-66 </a:t>
            </a:r>
            <a:r>
              <a:rPr lang="zh-CN" altLang="en-US" sz="2000">
                <a:solidFill>
                  <a:srgbClr val="000000"/>
                </a:solidFill>
                <a:latin typeface="楷体_GB2312" pitchFamily="1" charset="-122"/>
                <a:ea typeface="楷体_GB2312" pitchFamily="1" charset="-122"/>
              </a:rPr>
              <a:t>旋转立方体的任一表面 </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9176F4FD-FD25-47C3-AFB7-5031E46B8490}" type="slidenum">
              <a:rPr lang="en-US" altLang="zh-CN" sz="1200">
                <a:solidFill>
                  <a:schemeClr val="tx1"/>
                </a:solidFill>
                <a:latin typeface="Garamond" pitchFamily="18" charset="0"/>
              </a:rPr>
              <a:pPr algn="r" eaLnBrk="1" hangingPunct="1">
                <a:spcBef>
                  <a:spcPct val="0"/>
                </a:spcBef>
              </a:pPr>
              <a:t>89</a:t>
            </a:fld>
            <a:endParaRPr lang="en-US" altLang="zh-CN" sz="1200">
              <a:solidFill>
                <a:schemeClr val="tx1"/>
              </a:solidFill>
              <a:latin typeface="Garamond" pitchFamily="18" charset="0"/>
            </a:endParaRPr>
          </a:p>
        </p:txBody>
      </p:sp>
      <p:sp>
        <p:nvSpPr>
          <p:cNvPr id="93187" name="Rectangle 4"/>
          <p:cNvSpPr>
            <a:spLocks noChangeArrowheads="1"/>
          </p:cNvSpPr>
          <p:nvPr/>
        </p:nvSpPr>
        <p:spPr bwMode="auto">
          <a:xfrm>
            <a:off x="893071" y="366068"/>
            <a:ext cx="73324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buFont typeface="Arial" pitchFamily="34" charset="0"/>
              <a:buAutoNum type="circleNumDbPlain"/>
            </a:pPr>
            <a:r>
              <a:rPr lang="zh-CN" altLang="en-US" dirty="0">
                <a:solidFill>
                  <a:schemeClr val="tx1"/>
                </a:solidFill>
                <a:latin typeface="楷体_GB2312" pitchFamily="1" charset="-122"/>
                <a:ea typeface="楷体_GB2312" pitchFamily="1" charset="-122"/>
              </a:rPr>
              <a:t>图</a:t>
            </a:r>
            <a:r>
              <a:rPr lang="en-US" altLang="zh-CN" dirty="0">
                <a:solidFill>
                  <a:schemeClr val="tx1"/>
                </a:solidFill>
                <a:latin typeface="楷体_GB2312" pitchFamily="1" charset="-122"/>
                <a:ea typeface="楷体_GB2312" pitchFamily="1" charset="-122"/>
              </a:rPr>
              <a:t>9-66</a:t>
            </a:r>
            <a:r>
              <a:rPr lang="zh-CN" altLang="en-US" dirty="0">
                <a:solidFill>
                  <a:schemeClr val="tx1"/>
                </a:solidFill>
                <a:latin typeface="楷体_GB2312" pitchFamily="1" charset="-122"/>
                <a:ea typeface="楷体_GB2312" pitchFamily="1" charset="-122"/>
              </a:rPr>
              <a:t>所示的一个</a:t>
            </a:r>
            <a:r>
              <a:rPr lang="zh-CN" altLang="en-US" sz="2000" b="1" dirty="0">
                <a:solidFill>
                  <a:srgbClr val="FF0000"/>
                </a:solidFill>
                <a:latin typeface="方正粗黑宋简体" panose="02000000000000000000" pitchFamily="2" charset="-122"/>
                <a:ea typeface="方正粗黑宋简体" panose="02000000000000000000" pitchFamily="2" charset="-122"/>
              </a:rPr>
              <a:t>立方体表面</a:t>
            </a:r>
            <a:r>
              <a:rPr lang="zh-CN" altLang="en-US" dirty="0">
                <a:solidFill>
                  <a:schemeClr val="tx1"/>
                </a:solidFill>
                <a:latin typeface="楷体_GB2312" pitchFamily="1" charset="-122"/>
                <a:ea typeface="楷体_GB2312" pitchFamily="1" charset="-122"/>
              </a:rPr>
              <a:t>，其</a:t>
            </a:r>
            <a:r>
              <a:rPr lang="zh-CN" altLang="en-US" sz="2000" b="1" dirty="0">
                <a:solidFill>
                  <a:srgbClr val="FF0000"/>
                </a:solidFill>
                <a:latin typeface="方正粗黑宋简体" panose="02000000000000000000" pitchFamily="2" charset="-122"/>
                <a:ea typeface="方正粗黑宋简体" panose="02000000000000000000" pitchFamily="2" charset="-122"/>
              </a:rPr>
              <a:t>平面一般方程</a:t>
            </a:r>
            <a:r>
              <a:rPr lang="zh-CN" altLang="en-US" dirty="0">
                <a:solidFill>
                  <a:schemeClr val="tx1"/>
                </a:solidFill>
                <a:latin typeface="楷体_GB2312" pitchFamily="1" charset="-122"/>
                <a:ea typeface="楷体_GB2312" pitchFamily="1" charset="-122"/>
              </a:rPr>
              <a:t>为： </a:t>
            </a:r>
          </a:p>
        </p:txBody>
      </p:sp>
      <p:graphicFrame>
        <p:nvGraphicFramePr>
          <p:cNvPr id="93189" name="Object 5"/>
          <p:cNvGraphicFramePr>
            <a:graphicFrameLocks noChangeAspect="1"/>
          </p:cNvGraphicFramePr>
          <p:nvPr/>
        </p:nvGraphicFramePr>
        <p:xfrm>
          <a:off x="2141538" y="908050"/>
          <a:ext cx="3735387" cy="555625"/>
        </p:xfrm>
        <a:graphic>
          <a:graphicData uri="http://schemas.openxmlformats.org/presentationml/2006/ole">
            <mc:AlternateContent xmlns:mc="http://schemas.openxmlformats.org/markup-compatibility/2006">
              <mc:Choice xmlns:v="urn:schemas-microsoft-com:vml" Requires="v">
                <p:oleObj spid="_x0000_s93300" r:id="rId3" imgW="1346785" imgH="203288" progId="Equation.3">
                  <p:embed/>
                </p:oleObj>
              </mc:Choice>
              <mc:Fallback>
                <p:oleObj r:id="rId3" imgW="1346785" imgH="203288" progId="Equation.3">
                  <p:embed/>
                  <p:pic>
                    <p:nvPicPr>
                      <p:cNvPr id="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1538" y="908050"/>
                        <a:ext cx="3735387"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190" name="Text Box 7"/>
          <p:cNvSpPr txBox="1">
            <a:spLocks noChangeArrowheads="1"/>
          </p:cNvSpPr>
          <p:nvPr/>
        </p:nvSpPr>
        <p:spPr bwMode="auto">
          <a:xfrm>
            <a:off x="746125" y="1584325"/>
            <a:ext cx="6929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dirty="0">
                <a:solidFill>
                  <a:schemeClr val="tx1"/>
                </a:solidFill>
              </a:rPr>
              <a:t>系数</a:t>
            </a:r>
            <a:r>
              <a:rPr lang="en-US" altLang="zh-CN" sz="2000" b="1" dirty="0">
                <a:solidFill>
                  <a:srgbClr val="FF0000"/>
                </a:solidFill>
                <a:latin typeface="方正粗黑宋简体" panose="02000000000000000000" pitchFamily="2" charset="-122"/>
                <a:ea typeface="方正粗黑宋简体" panose="02000000000000000000" pitchFamily="2" charset="-122"/>
              </a:rPr>
              <a:t>A</a:t>
            </a:r>
            <a:r>
              <a:rPr lang="zh-CN" altLang="en-US" sz="2000" b="1" dirty="0">
                <a:solidFill>
                  <a:srgbClr val="FF0000"/>
                </a:solidFill>
                <a:latin typeface="方正粗黑宋简体" panose="02000000000000000000" pitchFamily="2" charset="-122"/>
                <a:ea typeface="方正粗黑宋简体" panose="02000000000000000000" pitchFamily="2" charset="-122"/>
              </a:rPr>
              <a:t>，</a:t>
            </a:r>
            <a:r>
              <a:rPr lang="en-US" altLang="zh-CN" sz="2000" b="1" dirty="0">
                <a:solidFill>
                  <a:srgbClr val="FF0000"/>
                </a:solidFill>
                <a:latin typeface="方正粗黑宋简体" panose="02000000000000000000" pitchFamily="2" charset="-122"/>
                <a:ea typeface="方正粗黑宋简体" panose="02000000000000000000" pitchFamily="2" charset="-122"/>
              </a:rPr>
              <a:t>B</a:t>
            </a:r>
            <a:r>
              <a:rPr lang="zh-CN" altLang="en-US" sz="2000" b="1" dirty="0">
                <a:solidFill>
                  <a:srgbClr val="FF0000"/>
                </a:solidFill>
                <a:latin typeface="方正粗黑宋简体" panose="02000000000000000000" pitchFamily="2" charset="-122"/>
                <a:ea typeface="方正粗黑宋简体" panose="02000000000000000000" pitchFamily="2" charset="-122"/>
              </a:rPr>
              <a:t>，</a:t>
            </a:r>
            <a:r>
              <a:rPr lang="en-US" altLang="zh-CN" sz="2000" b="1" dirty="0">
                <a:solidFill>
                  <a:srgbClr val="FF0000"/>
                </a:solidFill>
                <a:latin typeface="方正粗黑宋简体" panose="02000000000000000000" pitchFamily="2" charset="-122"/>
                <a:ea typeface="方正粗黑宋简体" panose="02000000000000000000" pitchFamily="2" charset="-122"/>
              </a:rPr>
              <a:t>C</a:t>
            </a:r>
            <a:r>
              <a:rPr lang="zh-CN" altLang="en-US" dirty="0">
                <a:solidFill>
                  <a:schemeClr val="tx1"/>
                </a:solidFill>
              </a:rPr>
              <a:t>是该平面的一个</a:t>
            </a:r>
            <a:r>
              <a:rPr lang="zh-CN" altLang="en-US" sz="2000" b="1" dirty="0">
                <a:solidFill>
                  <a:srgbClr val="FF0000"/>
                </a:solidFill>
                <a:latin typeface="方正粗黑宋简体" panose="02000000000000000000" pitchFamily="2" charset="-122"/>
                <a:ea typeface="方正粗黑宋简体" panose="02000000000000000000" pitchFamily="2" charset="-122"/>
              </a:rPr>
              <a:t>法矢量</a:t>
            </a:r>
            <a:r>
              <a:rPr lang="en-US" altLang="zh-CN" sz="2000" b="1" dirty="0">
                <a:solidFill>
                  <a:srgbClr val="FF0000"/>
                </a:solidFill>
                <a:latin typeface="方正粗黑宋简体" panose="02000000000000000000" pitchFamily="2" charset="-122"/>
                <a:ea typeface="方正粗黑宋简体" panose="02000000000000000000" pitchFamily="2" charset="-122"/>
              </a:rPr>
              <a:t>N</a:t>
            </a:r>
            <a:r>
              <a:rPr lang="zh-CN" altLang="en-US" dirty="0">
                <a:solidFill>
                  <a:schemeClr val="tx1"/>
                </a:solidFill>
              </a:rPr>
              <a:t>的坐标，即 </a:t>
            </a:r>
          </a:p>
        </p:txBody>
      </p:sp>
      <p:graphicFrame>
        <p:nvGraphicFramePr>
          <p:cNvPr id="93192" name="Object 8"/>
          <p:cNvGraphicFramePr>
            <a:graphicFrameLocks noChangeAspect="1"/>
          </p:cNvGraphicFramePr>
          <p:nvPr>
            <p:extLst>
              <p:ext uri="{D42A27DB-BD31-4B8C-83A1-F6EECF244321}">
                <p14:modId xmlns:p14="http://schemas.microsoft.com/office/powerpoint/2010/main" val="120147859"/>
              </p:ext>
            </p:extLst>
          </p:nvPr>
        </p:nvGraphicFramePr>
        <p:xfrm>
          <a:off x="3131840" y="2174379"/>
          <a:ext cx="2359025" cy="615950"/>
        </p:xfrm>
        <a:graphic>
          <a:graphicData uri="http://schemas.openxmlformats.org/presentationml/2006/ole">
            <mc:AlternateContent xmlns:mc="http://schemas.openxmlformats.org/markup-compatibility/2006">
              <mc:Choice xmlns:v="urn:schemas-microsoft-com:vml" Requires="v">
                <p:oleObj spid="_x0000_s93301" r:id="rId5" imgW="837473" imgH="215713" progId="Equation.3">
                  <p:embed/>
                </p:oleObj>
              </mc:Choice>
              <mc:Fallback>
                <p:oleObj r:id="rId5" imgW="837473" imgH="215713" progId="Equation.3">
                  <p:embed/>
                  <p:pic>
                    <p:nvPicPr>
                      <p:cNvPr id="0" name="Picture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1840" y="2174379"/>
                        <a:ext cx="2359025" cy="615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193" name="Text Box 11"/>
          <p:cNvSpPr txBox="1">
            <a:spLocks noChangeArrowheads="1"/>
          </p:cNvSpPr>
          <p:nvPr/>
        </p:nvSpPr>
        <p:spPr bwMode="auto">
          <a:xfrm>
            <a:off x="701675" y="2979738"/>
            <a:ext cx="8101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Font typeface="Arial" pitchFamily="34" charset="0"/>
              <a:buAutoNum type="circleNumDbPlain" startAt="2"/>
            </a:pPr>
            <a:r>
              <a:rPr lang="zh-CN" altLang="en-US" dirty="0">
                <a:solidFill>
                  <a:schemeClr val="tx1"/>
                </a:solidFill>
                <a:latin typeface="楷体_GB2312" pitchFamily="1" charset="-122"/>
                <a:ea typeface="楷体_GB2312" pitchFamily="1" charset="-122"/>
              </a:rPr>
              <a:t>根据表面顶点的坐标可以计算出</a:t>
            </a:r>
            <a:r>
              <a:rPr lang="zh-CN" altLang="en-US" sz="2000" b="1" dirty="0">
                <a:solidFill>
                  <a:srgbClr val="FF0000"/>
                </a:solidFill>
                <a:latin typeface="方正粗黑宋简体" panose="02000000000000000000" pitchFamily="2" charset="-122"/>
                <a:ea typeface="方正粗黑宋简体" panose="02000000000000000000" pitchFamily="2" charset="-122"/>
              </a:rPr>
              <a:t>两个边矢量 </a:t>
            </a:r>
          </a:p>
        </p:txBody>
      </p:sp>
      <p:graphicFrame>
        <p:nvGraphicFramePr>
          <p:cNvPr id="93195" name="Object 11"/>
          <p:cNvGraphicFramePr>
            <a:graphicFrameLocks noChangeAspect="1"/>
          </p:cNvGraphicFramePr>
          <p:nvPr>
            <p:extLst>
              <p:ext uri="{D42A27DB-BD31-4B8C-83A1-F6EECF244321}">
                <p14:modId xmlns:p14="http://schemas.microsoft.com/office/powerpoint/2010/main" val="4270344694"/>
              </p:ext>
            </p:extLst>
          </p:nvPr>
        </p:nvGraphicFramePr>
        <p:xfrm>
          <a:off x="1787524" y="3508388"/>
          <a:ext cx="5543550" cy="831850"/>
        </p:xfrm>
        <a:graphic>
          <a:graphicData uri="http://schemas.openxmlformats.org/presentationml/2006/ole">
            <mc:AlternateContent xmlns:mc="http://schemas.openxmlformats.org/markup-compatibility/2006">
              <mc:Choice xmlns:v="urn:schemas-microsoft-com:vml" Requires="v">
                <p:oleObj spid="_x0000_s93302" name="公式" r:id="rId7" imgW="2171520" imgH="330120" progId="Equation.3">
                  <p:embed/>
                </p:oleObj>
              </mc:Choice>
              <mc:Fallback>
                <p:oleObj name="公式" r:id="rId7" imgW="2171520" imgH="330120" progId="Equation.3">
                  <p:embed/>
                  <p:pic>
                    <p:nvPicPr>
                      <p:cNvPr id="0" name="Picture 34"/>
                      <p:cNvPicPr>
                        <a:picLocks noChangeAspect="1" noChangeArrowheads="1"/>
                      </p:cNvPicPr>
                      <p:nvPr/>
                    </p:nvPicPr>
                    <p:blipFill>
                      <a:blip r:embed="rId8"/>
                      <a:srcRect/>
                      <a:stretch>
                        <a:fillRect/>
                      </a:stretch>
                    </p:blipFill>
                    <p:spPr bwMode="auto">
                      <a:xfrm>
                        <a:off x="1787524" y="3508388"/>
                        <a:ext cx="5543550" cy="831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97" name="Object 13"/>
          <p:cNvGraphicFramePr>
            <a:graphicFrameLocks noChangeAspect="1"/>
          </p:cNvGraphicFramePr>
          <p:nvPr>
            <p:extLst>
              <p:ext uri="{D42A27DB-BD31-4B8C-83A1-F6EECF244321}">
                <p14:modId xmlns:p14="http://schemas.microsoft.com/office/powerpoint/2010/main" val="3803546644"/>
              </p:ext>
            </p:extLst>
          </p:nvPr>
        </p:nvGraphicFramePr>
        <p:xfrm>
          <a:off x="1900733" y="4296797"/>
          <a:ext cx="4821238" cy="798513"/>
        </p:xfrm>
        <a:graphic>
          <a:graphicData uri="http://schemas.openxmlformats.org/presentationml/2006/ole">
            <mc:AlternateContent xmlns:mc="http://schemas.openxmlformats.org/markup-compatibility/2006">
              <mc:Choice xmlns:v="urn:schemas-microsoft-com:vml" Requires="v">
                <p:oleObj spid="_x0000_s93303" r:id="rId9" imgW="1891479" imgH="317362" progId="Equation.3">
                  <p:embed/>
                </p:oleObj>
              </mc:Choice>
              <mc:Fallback>
                <p:oleObj r:id="rId9" imgW="1891479" imgH="317362" progId="Equation.3">
                  <p:embed/>
                  <p:pic>
                    <p:nvPicPr>
                      <p:cNvPr id="0" name="Picture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0733" y="4296797"/>
                        <a:ext cx="4821238"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198" name="Text Box 16"/>
          <p:cNvSpPr txBox="1">
            <a:spLocks noChangeArrowheads="1"/>
          </p:cNvSpPr>
          <p:nvPr/>
        </p:nvSpPr>
        <p:spPr bwMode="auto">
          <a:xfrm>
            <a:off x="746125" y="5138738"/>
            <a:ext cx="78311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Font typeface="Arial" pitchFamily="34" charset="0"/>
              <a:buAutoNum type="circleNumDbPlain" startAt="3"/>
            </a:pPr>
            <a:r>
              <a:rPr lang="zh-CN" altLang="en-US" dirty="0">
                <a:solidFill>
                  <a:schemeClr val="tx1"/>
                </a:solidFill>
                <a:latin typeface="楷体_GB2312" pitchFamily="1" charset="-122"/>
                <a:ea typeface="楷体_GB2312" pitchFamily="1" charset="-122"/>
              </a:rPr>
              <a:t>根据</a:t>
            </a:r>
            <a:r>
              <a:rPr lang="zh-CN" altLang="en-US" sz="2000" b="1" dirty="0">
                <a:solidFill>
                  <a:srgbClr val="FF0000"/>
                </a:solidFill>
                <a:latin typeface="方正粗黑宋简体" panose="02000000000000000000" pitchFamily="2" charset="-122"/>
                <a:ea typeface="方正粗黑宋简体" panose="02000000000000000000" pitchFamily="2" charset="-122"/>
              </a:rPr>
              <a:t>两个边矢量的叉积</a:t>
            </a:r>
            <a:r>
              <a:rPr lang="zh-CN" altLang="en-US" dirty="0">
                <a:solidFill>
                  <a:schemeClr val="tx1"/>
                </a:solidFill>
                <a:latin typeface="楷体_GB2312" pitchFamily="1" charset="-122"/>
                <a:ea typeface="楷体_GB2312" pitchFamily="1" charset="-122"/>
              </a:rPr>
              <a:t>，可求得</a:t>
            </a:r>
            <a:r>
              <a:rPr lang="zh-CN" altLang="en-US" sz="2000" b="1" dirty="0">
                <a:solidFill>
                  <a:srgbClr val="FF0000"/>
                </a:solidFill>
                <a:latin typeface="方正粗黑宋简体" panose="02000000000000000000" pitchFamily="2" charset="-122"/>
                <a:ea typeface="方正粗黑宋简体" panose="02000000000000000000" pitchFamily="2" charset="-122"/>
              </a:rPr>
              <a:t>表面的法矢量</a:t>
            </a:r>
            <a:r>
              <a:rPr lang="en-US" altLang="zh-CN" sz="2000" b="1" dirty="0">
                <a:solidFill>
                  <a:srgbClr val="FF0000"/>
                </a:solidFill>
                <a:latin typeface="方正粗黑宋简体" panose="02000000000000000000" pitchFamily="2" charset="-122"/>
                <a:ea typeface="方正粗黑宋简体" panose="02000000000000000000" pitchFamily="2" charset="-122"/>
              </a:rPr>
              <a:t>N</a:t>
            </a:r>
            <a:r>
              <a:rPr lang="zh-CN" altLang="en-US" dirty="0">
                <a:solidFill>
                  <a:schemeClr val="tx1"/>
                </a:solidFill>
                <a:latin typeface="楷体_GB2312" pitchFamily="1" charset="-122"/>
                <a:ea typeface="楷体_GB2312" pitchFamily="1" charset="-122"/>
              </a:rPr>
              <a:t>，得到系数</a:t>
            </a:r>
            <a:r>
              <a:rPr lang="en-US" altLang="zh-CN" dirty="0">
                <a:solidFill>
                  <a:schemeClr val="tx1"/>
                </a:solidFill>
                <a:latin typeface="楷体_GB2312" pitchFamily="1" charset="-122"/>
                <a:ea typeface="楷体_GB2312" pitchFamily="1" charset="-122"/>
              </a:rPr>
              <a:t>A</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B</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C</a:t>
            </a:r>
            <a:endParaRPr lang="zh-CN" altLang="en-US" dirty="0">
              <a:solidFill>
                <a:schemeClr val="tx1"/>
              </a:solidFill>
              <a:latin typeface="楷体_GB2312" pitchFamily="1" charset="-122"/>
              <a:ea typeface="楷体_GB2312" pitchFamily="1" charset="-122"/>
            </a:endParaRPr>
          </a:p>
        </p:txBody>
      </p:sp>
      <p:sp>
        <p:nvSpPr>
          <p:cNvPr id="93199" name="Text Box 17"/>
          <p:cNvSpPr txBox="1">
            <a:spLocks noChangeArrowheads="1"/>
          </p:cNvSpPr>
          <p:nvPr/>
        </p:nvSpPr>
        <p:spPr bwMode="auto">
          <a:xfrm>
            <a:off x="7137400" y="954088"/>
            <a:ext cx="1665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b="1"/>
              <a:t>（</a:t>
            </a:r>
            <a:r>
              <a:rPr lang="en-US" altLang="zh-CN">
                <a:solidFill>
                  <a:schemeClr val="tx1"/>
                </a:solidFill>
              </a:rPr>
              <a:t>9-10</a:t>
            </a:r>
            <a:r>
              <a:rPr lang="zh-CN" altLang="en-US" b="1"/>
              <a: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B85F34E3-EB2B-4FB8-90DA-59DDA807658F}" type="slidenum">
              <a:rPr lang="en-US" altLang="zh-CN" sz="1200">
                <a:solidFill>
                  <a:schemeClr val="tx1"/>
                </a:solidFill>
                <a:latin typeface="Garamond" pitchFamily="18" charset="0"/>
              </a:rPr>
              <a:pPr algn="r" eaLnBrk="1" hangingPunct="1">
                <a:spcBef>
                  <a:spcPct val="0"/>
                </a:spcBef>
              </a:pPr>
              <a:t>90</a:t>
            </a:fld>
            <a:endParaRPr lang="en-US" altLang="zh-CN" sz="1200">
              <a:solidFill>
                <a:schemeClr val="tx1"/>
              </a:solidFill>
              <a:latin typeface="Garamond" pitchFamily="18" charset="0"/>
            </a:endParaRPr>
          </a:p>
        </p:txBody>
      </p:sp>
      <p:graphicFrame>
        <p:nvGraphicFramePr>
          <p:cNvPr id="94211" name="Object 3"/>
          <p:cNvGraphicFramePr>
            <a:graphicFrameLocks noChangeAspect="1"/>
          </p:cNvGraphicFramePr>
          <p:nvPr/>
        </p:nvGraphicFramePr>
        <p:xfrm>
          <a:off x="1601788" y="368300"/>
          <a:ext cx="5811837" cy="673100"/>
        </p:xfrm>
        <a:graphic>
          <a:graphicData uri="http://schemas.openxmlformats.org/presentationml/2006/ole">
            <mc:AlternateContent xmlns:mc="http://schemas.openxmlformats.org/markup-compatibility/2006">
              <mc:Choice xmlns:v="urn:schemas-microsoft-com:vml" Requires="v">
                <p:oleObj spid="_x0000_s94351" r:id="rId3" imgW="2617336" imgH="228699" progId="Equation.3">
                  <p:embed/>
                </p:oleObj>
              </mc:Choice>
              <mc:Fallback>
                <p:oleObj r:id="rId3" imgW="2617336" imgH="228699" progId="Equation.3">
                  <p:embed/>
                  <p:pic>
                    <p:nvPicPr>
                      <p:cNvPr id="0"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1788" y="368300"/>
                        <a:ext cx="5811837"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2" name="Object 4"/>
          <p:cNvGraphicFramePr>
            <a:graphicFrameLocks noChangeAspect="1"/>
          </p:cNvGraphicFramePr>
          <p:nvPr/>
        </p:nvGraphicFramePr>
        <p:xfrm>
          <a:off x="1557338" y="1133475"/>
          <a:ext cx="6078537" cy="650875"/>
        </p:xfrm>
        <a:graphic>
          <a:graphicData uri="http://schemas.openxmlformats.org/presentationml/2006/ole">
            <mc:AlternateContent xmlns:mc="http://schemas.openxmlformats.org/markup-compatibility/2006">
              <mc:Choice xmlns:v="urn:schemas-microsoft-com:vml" Requires="v">
                <p:oleObj spid="_x0000_s94352" r:id="rId5" imgW="2730500" imgH="228600" progId="Equation.3">
                  <p:embed/>
                </p:oleObj>
              </mc:Choice>
              <mc:Fallback>
                <p:oleObj r:id="rId5" imgW="2730500" imgH="228600" progId="Equation.3">
                  <p:embed/>
                  <p:pic>
                    <p:nvPicPr>
                      <p:cNvPr id="0" name="Picture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57338" y="1133475"/>
                        <a:ext cx="6078537"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3" name="Object 5"/>
          <p:cNvGraphicFramePr>
            <a:graphicFrameLocks noChangeAspect="1"/>
          </p:cNvGraphicFramePr>
          <p:nvPr/>
        </p:nvGraphicFramePr>
        <p:xfrm>
          <a:off x="1511300" y="1874838"/>
          <a:ext cx="6165850" cy="630237"/>
        </p:xfrm>
        <a:graphic>
          <a:graphicData uri="http://schemas.openxmlformats.org/presentationml/2006/ole">
            <mc:AlternateContent xmlns:mc="http://schemas.openxmlformats.org/markup-compatibility/2006">
              <mc:Choice xmlns:v="urn:schemas-microsoft-com:vml" Requires="v">
                <p:oleObj spid="_x0000_s94353" r:id="rId7" imgW="2794000" imgH="228600" progId="Equation.3">
                  <p:embed/>
                </p:oleObj>
              </mc:Choice>
              <mc:Fallback>
                <p:oleObj r:id="rId7" imgW="2794000" imgH="228600" progId="Equation.3">
                  <p:embed/>
                  <p:pic>
                    <p:nvPicPr>
                      <p:cNvPr id="0" name="Picture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1300" y="1874838"/>
                        <a:ext cx="6165850" cy="630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94215" name="Text Box 10"/>
              <p:cNvSpPr txBox="1">
                <a:spLocks noChangeArrowheads="1"/>
              </p:cNvSpPr>
              <p:nvPr/>
            </p:nvSpPr>
            <p:spPr bwMode="auto">
              <a:xfrm>
                <a:off x="431800" y="2663825"/>
                <a:ext cx="7785100"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marL="457200" indent="-4572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Font typeface="Arial" pitchFamily="34" charset="0"/>
                  <a:buAutoNum type="circleNumDbPlain" startAt="4"/>
                </a:pPr>
                <a:r>
                  <a:rPr lang="zh-CN" altLang="en-US" dirty="0" smtClean="0">
                    <a:solidFill>
                      <a:schemeClr val="tx1"/>
                    </a:solidFill>
                    <a:latin typeface="楷体_GB2312" pitchFamily="1" charset="-122"/>
                    <a:ea typeface="楷体_GB2312" pitchFamily="1" charset="-122"/>
                  </a:rPr>
                  <a:t>将</a:t>
                </a:r>
                <a:r>
                  <a:rPr lang="en-US" altLang="zh-CN" dirty="0">
                    <a:solidFill>
                      <a:schemeClr val="tx1"/>
                    </a:solidFill>
                    <a:latin typeface="楷体_GB2312" pitchFamily="1" charset="-122"/>
                    <a:ea typeface="楷体_GB2312" pitchFamily="1" charset="-122"/>
                  </a:rPr>
                  <a:t>A</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B</a:t>
                </a:r>
                <a:r>
                  <a:rPr lang="zh-CN" altLang="en-US" dirty="0">
                    <a:solidFill>
                      <a:schemeClr val="tx1"/>
                    </a:solidFill>
                    <a:latin typeface="楷体_GB2312" pitchFamily="1" charset="-122"/>
                    <a:ea typeface="楷体_GB2312" pitchFamily="1" charset="-122"/>
                  </a:rPr>
                  <a:t>、</a:t>
                </a:r>
                <a:r>
                  <a:rPr lang="en-US" altLang="zh-CN" dirty="0">
                    <a:solidFill>
                      <a:schemeClr val="tx1"/>
                    </a:solidFill>
                    <a:latin typeface="楷体_GB2312" pitchFamily="1" charset="-122"/>
                    <a:ea typeface="楷体_GB2312" pitchFamily="1" charset="-122"/>
                  </a:rPr>
                  <a:t>C</a:t>
                </a:r>
                <a:r>
                  <a:rPr lang="zh-CN" altLang="en-US" dirty="0">
                    <a:solidFill>
                      <a:schemeClr val="tx1"/>
                    </a:solidFill>
                    <a:latin typeface="楷体_GB2312" pitchFamily="1" charset="-122"/>
                    <a:ea typeface="楷体_GB2312" pitchFamily="1" charset="-122"/>
                  </a:rPr>
                  <a:t>和</a:t>
                </a:r>
                <a:r>
                  <a:rPr lang="zh-CN" altLang="en-US" dirty="0" smtClean="0">
                    <a:solidFill>
                      <a:schemeClr val="tx1"/>
                    </a:solidFill>
                    <a:latin typeface="楷体_GB2312" pitchFamily="1" charset="-122"/>
                    <a:ea typeface="楷体_GB2312" pitchFamily="1" charset="-122"/>
                  </a:rPr>
                  <a:t>点 </a:t>
                </a:r>
                <a14:m>
                  <m:oMath xmlns:m="http://schemas.openxmlformats.org/officeDocument/2006/math">
                    <m:d>
                      <m:dPr>
                        <m:ctrlPr>
                          <a:rPr lang="en-US" altLang="zh-CN"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𝒙</m:t>
                            </m:r>
                          </m:e>
                          <m:sub>
                            <m:r>
                              <a:rPr lang="en-US" altLang="zh-CN" b="1" i="1" smtClean="0">
                                <a:solidFill>
                                  <a:srgbClr val="FF0000"/>
                                </a:solidFill>
                                <a:latin typeface="Cambria Math" panose="02040503050406030204" pitchFamily="18" charset="0"/>
                                <a:ea typeface="方正粗黑宋简体" panose="02000000000000000000" pitchFamily="2" charset="-122"/>
                              </a:rPr>
                              <m:t>𝟎</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smtClean="0">
                                <a:solidFill>
                                  <a:srgbClr val="FF0000"/>
                                </a:solidFill>
                                <a:latin typeface="Cambria Math" panose="02040503050406030204" pitchFamily="18" charset="0"/>
                                <a:ea typeface="方正粗黑宋简体" panose="02000000000000000000" pitchFamily="2" charset="-122"/>
                              </a:rPr>
                              <m:t>𝟎</m:t>
                            </m:r>
                          </m:sub>
                        </m:sSub>
                        <m:r>
                          <a:rPr lang="en-US" altLang="zh-CN" b="1" i="1" smtClean="0">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𝒛</m:t>
                            </m:r>
                          </m:e>
                          <m:sub>
                            <m:r>
                              <a:rPr lang="en-US" altLang="zh-CN" b="1" i="1" smtClean="0">
                                <a:solidFill>
                                  <a:srgbClr val="FF0000"/>
                                </a:solidFill>
                                <a:latin typeface="Cambria Math" panose="02040503050406030204" pitchFamily="18" charset="0"/>
                                <a:ea typeface="方正粗黑宋简体" panose="02000000000000000000" pitchFamily="2" charset="-122"/>
                              </a:rPr>
                              <m:t>𝟎</m:t>
                            </m:r>
                          </m:sub>
                        </m:sSub>
                      </m:e>
                    </m:d>
                  </m:oMath>
                </a14:m>
                <a:r>
                  <a:rPr lang="en-US" altLang="zh-CN" dirty="0" smtClean="0">
                    <a:solidFill>
                      <a:schemeClr val="tx1"/>
                    </a:solidFill>
                    <a:latin typeface="楷体_GB2312" pitchFamily="1" charset="-122"/>
                    <a:ea typeface="楷体_GB2312" pitchFamily="1" charset="-122"/>
                  </a:rPr>
                  <a:t> </a:t>
                </a:r>
                <a:r>
                  <a:rPr lang="zh-CN" altLang="en-US" dirty="0" smtClean="0">
                    <a:solidFill>
                      <a:schemeClr val="tx1"/>
                    </a:solidFill>
                    <a:latin typeface="楷体_GB2312" pitchFamily="1" charset="-122"/>
                    <a:ea typeface="楷体_GB2312" pitchFamily="1" charset="-122"/>
                  </a:rPr>
                  <a:t>代入</a:t>
                </a:r>
                <a:r>
                  <a:rPr lang="zh-CN" altLang="en-US" dirty="0">
                    <a:solidFill>
                      <a:schemeClr val="tx1"/>
                    </a:solidFill>
                    <a:latin typeface="楷体_GB2312" pitchFamily="1" charset="-122"/>
                    <a:ea typeface="楷体_GB2312" pitchFamily="1" charset="-122"/>
                  </a:rPr>
                  <a:t>方程（</a:t>
                </a:r>
                <a:r>
                  <a:rPr lang="en-US" altLang="zh-CN" dirty="0">
                    <a:solidFill>
                      <a:schemeClr val="tx1"/>
                    </a:solidFill>
                    <a:latin typeface="楷体_GB2312" pitchFamily="1" charset="-122"/>
                    <a:ea typeface="楷体_GB2312" pitchFamily="1" charset="-122"/>
                  </a:rPr>
                  <a:t>9-10</a:t>
                </a:r>
                <a:r>
                  <a:rPr lang="zh-CN" altLang="en-US" dirty="0">
                    <a:solidFill>
                      <a:schemeClr val="tx1"/>
                    </a:solidFill>
                    <a:latin typeface="楷体_GB2312" pitchFamily="1" charset="-122"/>
                    <a:ea typeface="楷体_GB2312" pitchFamily="1" charset="-122"/>
                  </a:rPr>
                  <a:t>），得</a:t>
                </a:r>
              </a:p>
            </p:txBody>
          </p:sp>
        </mc:Choice>
        <mc:Fallback xmlns="">
          <p:sp>
            <p:nvSpPr>
              <p:cNvPr id="94215" name="Text Box 10"/>
              <p:cNvSpPr txBox="1">
                <a:spLocks noRot="1" noChangeAspect="1" noMove="1" noResize="1" noEditPoints="1" noAdjustHandles="1" noChangeArrowheads="1" noChangeShapeType="1" noTextEdit="1"/>
              </p:cNvSpPr>
              <p:nvPr/>
            </p:nvSpPr>
            <p:spPr bwMode="auto">
              <a:xfrm>
                <a:off x="431800" y="2663825"/>
                <a:ext cx="7785100" cy="461665"/>
              </a:xfrm>
              <a:prstGeom prst="rect">
                <a:avLst/>
              </a:prstGeom>
              <a:blipFill>
                <a:blip r:embed="rId9"/>
                <a:stretch>
                  <a:fillRect l="-861" t="-14474" b="-2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94217" name="Object 9"/>
          <p:cNvGraphicFramePr>
            <a:graphicFrameLocks noChangeAspect="1"/>
          </p:cNvGraphicFramePr>
          <p:nvPr/>
        </p:nvGraphicFramePr>
        <p:xfrm>
          <a:off x="2411413" y="3294063"/>
          <a:ext cx="3735387" cy="609600"/>
        </p:xfrm>
        <a:graphic>
          <a:graphicData uri="http://schemas.openxmlformats.org/presentationml/2006/ole">
            <mc:AlternateContent xmlns:mc="http://schemas.openxmlformats.org/markup-compatibility/2006">
              <mc:Choice xmlns:v="urn:schemas-microsoft-com:vml" Requires="v">
                <p:oleObj spid="_x0000_s94354" r:id="rId10" imgW="1397607" imgH="228699" progId="Equation.3">
                  <p:embed/>
                </p:oleObj>
              </mc:Choice>
              <mc:Fallback>
                <p:oleObj r:id="rId10" imgW="1397607" imgH="228699" progId="Equation.3">
                  <p:embed/>
                  <p:pic>
                    <p:nvPicPr>
                      <p:cNvPr id="0" name="Picture 3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11413" y="3294063"/>
                        <a:ext cx="3735387"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94218" name="Text Box 13"/>
              <p:cNvSpPr txBox="1">
                <a:spLocks noChangeArrowheads="1"/>
              </p:cNvSpPr>
              <p:nvPr/>
            </p:nvSpPr>
            <p:spPr bwMode="auto">
              <a:xfrm>
                <a:off x="476250" y="4014788"/>
                <a:ext cx="7875588" cy="4572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marL="457200" indent="-4572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Font typeface="Arial" pitchFamily="34" charset="0"/>
                  <a:buAutoNum type="circleNumDbPlain" startAt="5"/>
                </a:pPr>
                <a:r>
                  <a:rPr lang="zh-CN" altLang="en-US" dirty="0" smtClean="0">
                    <a:solidFill>
                      <a:schemeClr val="tx1"/>
                    </a:solidFill>
                    <a:latin typeface="楷体_GB2312" pitchFamily="1" charset="-122"/>
                    <a:ea typeface="楷体_GB2312" pitchFamily="1" charset="-122"/>
                  </a:rPr>
                  <a:t>从方程（</a:t>
                </a:r>
                <a:r>
                  <a:rPr lang="en-US" altLang="zh-CN" dirty="0">
                    <a:solidFill>
                      <a:schemeClr val="tx1"/>
                    </a:solidFill>
                    <a:latin typeface="楷体_GB2312" pitchFamily="1" charset="-122"/>
                    <a:ea typeface="楷体_GB2312" pitchFamily="1" charset="-122"/>
                  </a:rPr>
                  <a:t>9-10</a:t>
                </a:r>
                <a:r>
                  <a:rPr lang="zh-CN" altLang="en-US" dirty="0">
                    <a:solidFill>
                      <a:schemeClr val="tx1"/>
                    </a:solidFill>
                    <a:latin typeface="楷体_GB2312" pitchFamily="1" charset="-122"/>
                    <a:ea typeface="楷体_GB2312" pitchFamily="1" charset="-122"/>
                  </a:rPr>
                  <a:t>）得到</a:t>
                </a:r>
                <a:r>
                  <a:rPr lang="zh-CN" altLang="en-US" sz="2000" b="1" dirty="0">
                    <a:solidFill>
                      <a:srgbClr val="FF0000"/>
                    </a:solidFill>
                    <a:latin typeface="方正粗黑宋简体" panose="02000000000000000000" pitchFamily="2" charset="-122"/>
                    <a:ea typeface="方正粗黑宋简体" panose="02000000000000000000" pitchFamily="2" charset="-122"/>
                  </a:rPr>
                  <a:t>当前像素点</a:t>
                </a:r>
                <a14:m>
                  <m:oMath xmlns:m="http://schemas.openxmlformats.org/officeDocument/2006/math">
                    <m:r>
                      <a:rPr lang="en-US" altLang="zh-CN" sz="2000" b="1" i="0" smtClean="0">
                        <a:solidFill>
                          <a:srgbClr val="FF0000"/>
                        </a:solidFill>
                        <a:latin typeface="Cambria Math" panose="02040503050406030204" pitchFamily="18" charset="0"/>
                        <a:ea typeface="方正粗黑宋简体" panose="02000000000000000000" pitchFamily="2" charset="-122"/>
                      </a:rPr>
                      <m:t> </m:t>
                    </m:r>
                    <m:d>
                      <m:dPr>
                        <m:ctrlPr>
                          <a:rPr lang="en-US" altLang="zh-CN" sz="2000" b="1" i="1">
                            <a:solidFill>
                              <a:srgbClr val="FF0000"/>
                            </a:solidFill>
                            <a:latin typeface="Cambria Math" panose="02040503050406030204" pitchFamily="18" charset="0"/>
                            <a:ea typeface="方正粗黑宋简体" panose="02000000000000000000" pitchFamily="2" charset="-122"/>
                          </a:rPr>
                        </m:ctrlPr>
                      </m:dPr>
                      <m:e>
                        <m:r>
                          <a:rPr lang="en-US" altLang="zh-CN" sz="2000" b="1" i="1" smtClean="0">
                            <a:solidFill>
                              <a:srgbClr val="FF0000"/>
                            </a:solidFill>
                            <a:latin typeface="Cambria Math" panose="02040503050406030204" pitchFamily="18" charset="0"/>
                            <a:ea typeface="方正粗黑宋简体" panose="02000000000000000000" pitchFamily="2" charset="-122"/>
                          </a:rPr>
                          <m:t>𝒙</m:t>
                        </m:r>
                        <m:r>
                          <a:rPr lang="en-US" altLang="zh-CN" sz="2000" b="1" i="1">
                            <a:solidFill>
                              <a:srgbClr val="FF0000"/>
                            </a:solidFill>
                            <a:latin typeface="Cambria Math" panose="02040503050406030204" pitchFamily="18" charset="0"/>
                            <a:ea typeface="方正粗黑宋简体" panose="02000000000000000000" pitchFamily="2" charset="-122"/>
                          </a:rPr>
                          <m:t>,</m:t>
                        </m:r>
                        <m:r>
                          <a:rPr lang="en-US" altLang="zh-CN" sz="2000" b="1" i="1" smtClean="0">
                            <a:solidFill>
                              <a:srgbClr val="FF0000"/>
                            </a:solidFill>
                            <a:latin typeface="Cambria Math" panose="02040503050406030204" pitchFamily="18" charset="0"/>
                            <a:ea typeface="方正粗黑宋简体" panose="02000000000000000000" pitchFamily="2" charset="-122"/>
                          </a:rPr>
                          <m:t>𝒚</m:t>
                        </m:r>
                      </m:e>
                    </m:d>
                    <m:r>
                      <a:rPr lang="en-US" altLang="zh-CN" sz="2000" b="1" i="1" smtClean="0">
                        <a:solidFill>
                          <a:srgbClr val="FF0000"/>
                        </a:solidFill>
                        <a:latin typeface="Cambria Math" panose="02040503050406030204" pitchFamily="18" charset="0"/>
                        <a:ea typeface="方正粗黑宋简体" panose="02000000000000000000" pitchFamily="2" charset="-122"/>
                      </a:rPr>
                      <m:t> </m:t>
                    </m:r>
                  </m:oMath>
                </a14:m>
                <a:r>
                  <a:rPr lang="zh-CN" altLang="en-US" sz="2000" b="1" dirty="0">
                    <a:solidFill>
                      <a:srgbClr val="FF0000"/>
                    </a:solidFill>
                    <a:latin typeface="方正粗黑宋简体" panose="02000000000000000000" pitchFamily="2" charset="-122"/>
                    <a:ea typeface="方正粗黑宋简体" panose="02000000000000000000" pitchFamily="2" charset="-122"/>
                  </a:rPr>
                  <a:t>处的深度值</a:t>
                </a:r>
              </a:p>
            </p:txBody>
          </p:sp>
        </mc:Choice>
        <mc:Fallback xmlns="">
          <p:sp>
            <p:nvSpPr>
              <p:cNvPr id="94218" name="Text Box 13"/>
              <p:cNvSpPr txBox="1">
                <a:spLocks noRot="1" noChangeAspect="1" noMove="1" noResize="1" noEditPoints="1" noAdjustHandles="1" noChangeArrowheads="1" noChangeShapeType="1" noTextEdit="1"/>
              </p:cNvSpPr>
              <p:nvPr/>
            </p:nvSpPr>
            <p:spPr bwMode="auto">
              <a:xfrm>
                <a:off x="476250" y="4014788"/>
                <a:ext cx="7875588" cy="457200"/>
              </a:xfrm>
              <a:prstGeom prst="rect">
                <a:avLst/>
              </a:prstGeom>
              <a:blipFill>
                <a:blip r:embed="rId12"/>
                <a:stretch>
                  <a:fillRect l="-774" t="-14667" b="-26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94220" name="Object 12"/>
          <p:cNvGraphicFramePr>
            <a:graphicFrameLocks noChangeAspect="1"/>
          </p:cNvGraphicFramePr>
          <p:nvPr/>
        </p:nvGraphicFramePr>
        <p:xfrm>
          <a:off x="2276475" y="4783138"/>
          <a:ext cx="4230688" cy="1031875"/>
        </p:xfrm>
        <a:graphic>
          <a:graphicData uri="http://schemas.openxmlformats.org/presentationml/2006/ole">
            <mc:AlternateContent xmlns:mc="http://schemas.openxmlformats.org/markup-compatibility/2006">
              <mc:Choice xmlns:v="urn:schemas-microsoft-com:vml" Requires="v">
                <p:oleObj spid="_x0000_s94355" r:id="rId13" imgW="1600895" imgH="393871" progId="Equation.3">
                  <p:embed/>
                </p:oleObj>
              </mc:Choice>
              <mc:Fallback>
                <p:oleObj r:id="rId13" imgW="1600895" imgH="393871" progId="Equation.3">
                  <p:embed/>
                  <p:pic>
                    <p:nvPicPr>
                      <p:cNvPr id="0" name="Picture 3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76475" y="4783138"/>
                        <a:ext cx="4230688" cy="1031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4E32EEA3-D8E6-4547-A1ED-D8FCE490C333}" type="slidenum">
              <a:rPr lang="en-US" altLang="zh-CN" sz="1200">
                <a:solidFill>
                  <a:schemeClr val="tx1"/>
                </a:solidFill>
                <a:latin typeface="Garamond" pitchFamily="18" charset="0"/>
              </a:rPr>
              <a:pPr algn="r" eaLnBrk="1" hangingPunct="1">
                <a:spcBef>
                  <a:spcPct val="0"/>
                </a:spcBef>
              </a:pPr>
              <a:t>91</a:t>
            </a:fld>
            <a:endParaRPr lang="en-US" altLang="zh-CN" sz="1200">
              <a:solidFill>
                <a:schemeClr val="tx1"/>
              </a:solidFill>
              <a:latin typeface="Garamond" pitchFamily="18" charset="0"/>
            </a:endParaRPr>
          </a:p>
        </p:txBody>
      </p:sp>
      <mc:AlternateContent xmlns:mc="http://schemas.openxmlformats.org/markup-compatibility/2006" xmlns:a14="http://schemas.microsoft.com/office/drawing/2010/main">
        <mc:Choice Requires="a14">
          <p:sp>
            <p:nvSpPr>
              <p:cNvPr id="95235" name="Text Box 4"/>
              <p:cNvSpPr txBox="1">
                <a:spLocks noChangeArrowheads="1"/>
              </p:cNvSpPr>
              <p:nvPr/>
            </p:nvSpPr>
            <p:spPr bwMode="auto">
              <a:xfrm>
                <a:off x="341313" y="414338"/>
                <a:ext cx="8505825" cy="201285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marL="457200" indent="-4572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30000"/>
                  </a:lnSpc>
                  <a:buFont typeface="Arial" pitchFamily="34" charset="0"/>
                  <a:buAutoNum type="circleNumDbPlain" startAt="6"/>
                </a:pPr>
                <a:r>
                  <a:rPr lang="zh-CN" altLang="en-US" dirty="0" smtClean="0">
                    <a:solidFill>
                      <a:schemeClr val="tx1"/>
                    </a:solidFill>
                    <a:latin typeface="楷体_GB2312" pitchFamily="1" charset="-122"/>
                    <a:ea typeface="楷体_GB2312" pitchFamily="1" charset="-122"/>
                  </a:rPr>
                  <a:t>已知</a:t>
                </a:r>
                <a:r>
                  <a:rPr lang="zh-CN" altLang="en-US" sz="2000" b="1" dirty="0" smtClean="0">
                    <a:solidFill>
                      <a:srgbClr val="FF0000"/>
                    </a:solidFill>
                    <a:latin typeface="方正粗黑宋简体" panose="02000000000000000000" pitchFamily="2" charset="-122"/>
                    <a:ea typeface="方正粗黑宋简体" panose="02000000000000000000" pitchFamily="2" charset="-122"/>
                  </a:rPr>
                  <a:t>扫描线 </a:t>
                </a:r>
                <a14:m>
                  <m:oMath xmlns:m="http://schemas.openxmlformats.org/officeDocument/2006/math">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a:solidFill>
                              <a:srgbClr val="FF0000"/>
                            </a:solidFill>
                            <a:latin typeface="Cambria Math" panose="02040503050406030204" pitchFamily="18" charset="0"/>
                            <a:ea typeface="方正粗黑宋简体" panose="02000000000000000000" pitchFamily="2" charset="-122"/>
                          </a:rPr>
                          <m:t>𝒊</m:t>
                        </m:r>
                      </m:sub>
                    </m:sSub>
                  </m:oMath>
                </a14:m>
                <a:r>
                  <a:rPr lang="zh-CN" altLang="en-US" dirty="0" smtClean="0">
                    <a:solidFill>
                      <a:schemeClr val="tx1"/>
                    </a:solidFill>
                    <a:latin typeface="楷体_GB2312" pitchFamily="1" charset="-122"/>
                    <a:ea typeface="楷体_GB2312" pitchFamily="1" charset="-122"/>
                  </a:rPr>
                  <a:t> 与</a:t>
                </a:r>
                <a:r>
                  <a:rPr lang="zh-CN" altLang="en-US" dirty="0">
                    <a:solidFill>
                      <a:schemeClr val="tx1"/>
                    </a:solidFill>
                    <a:latin typeface="楷体_GB2312" pitchFamily="1" charset="-122"/>
                    <a:ea typeface="楷体_GB2312" pitchFamily="1" charset="-122"/>
                  </a:rPr>
                  <a:t>多边形相交的</a:t>
                </a:r>
                <a:r>
                  <a:rPr lang="zh-CN" altLang="en-US" sz="2000" b="1" dirty="0">
                    <a:solidFill>
                      <a:srgbClr val="FF0000"/>
                    </a:solidFill>
                    <a:latin typeface="方正粗黑宋简体" panose="02000000000000000000" pitchFamily="2" charset="-122"/>
                    <a:ea typeface="方正粗黑宋简体" panose="02000000000000000000" pitchFamily="2" charset="-122"/>
                  </a:rPr>
                  <a:t>左边界的</a:t>
                </a:r>
                <a:r>
                  <a:rPr lang="zh-CN" altLang="en-US" sz="2000" b="1" dirty="0" smtClean="0">
                    <a:solidFill>
                      <a:srgbClr val="FF0000"/>
                    </a:solidFill>
                    <a:latin typeface="方正粗黑宋简体" panose="02000000000000000000" pitchFamily="2" charset="-122"/>
                    <a:ea typeface="方正粗黑宋简体" panose="02000000000000000000" pitchFamily="2" charset="-122"/>
                  </a:rPr>
                  <a:t>像素 </a:t>
                </a:r>
                <a14:m>
                  <m:oMath xmlns:m="http://schemas.openxmlformats.org/officeDocument/2006/math">
                    <m:d>
                      <m:dPr>
                        <m:ctrlPr>
                          <a:rPr lang="en-US" altLang="zh-CN"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𝒙</m:t>
                            </m:r>
                          </m:e>
                          <m:sub>
                            <m:r>
                              <a:rPr lang="en-US" altLang="zh-CN" b="1" i="1" smtClean="0">
                                <a:solidFill>
                                  <a:srgbClr val="FF0000"/>
                                </a:solidFill>
                                <a:latin typeface="Cambria Math" panose="02040503050406030204" pitchFamily="18" charset="0"/>
                                <a:ea typeface="方正粗黑宋简体" panose="02000000000000000000" pitchFamily="2" charset="-122"/>
                              </a:rPr>
                              <m:t>𝒊</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smtClean="0">
                                <a:solidFill>
                                  <a:srgbClr val="FF0000"/>
                                </a:solidFill>
                                <a:latin typeface="Cambria Math" panose="02040503050406030204" pitchFamily="18" charset="0"/>
                                <a:ea typeface="方正粗黑宋简体" panose="02000000000000000000" pitchFamily="2" charset="-122"/>
                              </a:rPr>
                              <m:t>𝒊</m:t>
                            </m:r>
                          </m:sub>
                        </m:sSub>
                        <m:r>
                          <a:rPr lang="en-US" altLang="zh-CN" b="1" i="1" smtClean="0">
                            <a:solidFill>
                              <a:srgbClr val="FF0000"/>
                            </a:solidFill>
                            <a:latin typeface="Cambria Math" panose="02040503050406030204" pitchFamily="18" charset="0"/>
                            <a:ea typeface="方正粗黑宋简体" panose="02000000000000000000" pitchFamily="2" charset="-122"/>
                          </a:rPr>
                          <m:t> </m:t>
                        </m:r>
                      </m:e>
                    </m:d>
                  </m:oMath>
                </a14:m>
                <a:r>
                  <a:rPr lang="zh-CN" altLang="en-US" dirty="0" smtClean="0">
                    <a:solidFill>
                      <a:schemeClr val="tx1"/>
                    </a:solidFill>
                    <a:latin typeface="楷体_GB2312" pitchFamily="1" charset="-122"/>
                    <a:ea typeface="楷体_GB2312" pitchFamily="1" charset="-122"/>
                  </a:rPr>
                  <a:t>的</a:t>
                </a:r>
                <a:r>
                  <a:rPr lang="zh-CN" altLang="en-US" dirty="0">
                    <a:solidFill>
                      <a:schemeClr val="tx1"/>
                    </a:solidFill>
                    <a:latin typeface="楷体_GB2312" pitchFamily="1" charset="-122"/>
                    <a:ea typeface="楷体_GB2312" pitchFamily="1" charset="-122"/>
                  </a:rPr>
                  <a:t>深度值</a:t>
                </a:r>
                <a:r>
                  <a:rPr lang="zh-CN" altLang="en-US" dirty="0" smtClean="0">
                    <a:solidFill>
                      <a:schemeClr val="tx1"/>
                    </a:solidFill>
                    <a:latin typeface="楷体_GB2312" pitchFamily="1" charset="-122"/>
                    <a:ea typeface="楷体_GB2312" pitchFamily="1" charset="-122"/>
                  </a:rPr>
                  <a:t>为 </a:t>
                </a:r>
                <a14:m>
                  <m:oMath xmlns:m="http://schemas.openxmlformats.org/officeDocument/2006/math">
                    <m:r>
                      <a:rPr lang="en-US" altLang="zh-CN" b="1" i="1">
                        <a:solidFill>
                          <a:srgbClr val="FF0000"/>
                        </a:solidFill>
                        <a:latin typeface="Cambria Math" panose="02040503050406030204" pitchFamily="18" charset="0"/>
                        <a:ea typeface="方正粗黑宋简体" panose="02000000000000000000" pitchFamily="2" charset="-122"/>
                      </a:rPr>
                      <m:t>𝒛</m:t>
                    </m:r>
                    <m:d>
                      <m:dPr>
                        <m:ctrlPr>
                          <a:rPr lang="en-US" altLang="zh-CN"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𝒙</m:t>
                            </m:r>
                          </m:e>
                          <m:sub>
                            <m:r>
                              <a:rPr lang="en-US" altLang="zh-CN" b="1" i="1">
                                <a:solidFill>
                                  <a:srgbClr val="FF0000"/>
                                </a:solidFill>
                                <a:latin typeface="Cambria Math" panose="02040503050406030204" pitchFamily="18" charset="0"/>
                                <a:ea typeface="方正粗黑宋简体" panose="02000000000000000000" pitchFamily="2" charset="-122"/>
                              </a:rPr>
                              <m:t>𝒊</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a:solidFill>
                                  <a:srgbClr val="FF0000"/>
                                </a:solidFill>
                                <a:latin typeface="Cambria Math" panose="02040503050406030204" pitchFamily="18" charset="0"/>
                                <a:ea typeface="方正粗黑宋简体" panose="02000000000000000000" pitchFamily="2" charset="-122"/>
                              </a:rPr>
                              <m:t>𝒊</m:t>
                            </m:r>
                          </m:sub>
                        </m:sSub>
                        <m:r>
                          <a:rPr lang="en-US" altLang="zh-CN" b="1" i="1">
                            <a:solidFill>
                              <a:srgbClr val="FF0000"/>
                            </a:solidFill>
                            <a:latin typeface="Cambria Math" panose="02040503050406030204" pitchFamily="18" charset="0"/>
                            <a:ea typeface="方正粗黑宋简体" panose="02000000000000000000" pitchFamily="2" charset="-122"/>
                          </a:rPr>
                          <m:t> </m:t>
                        </m:r>
                      </m:e>
                    </m:d>
                  </m:oMath>
                </a14:m>
                <a:r>
                  <a:rPr lang="zh-CN" altLang="en-US" dirty="0">
                    <a:solidFill>
                      <a:schemeClr val="tx1"/>
                    </a:solidFill>
                    <a:latin typeface="楷体_GB2312" pitchFamily="1" charset="-122"/>
                    <a:ea typeface="楷体_GB2312" pitchFamily="1" charset="-122"/>
                  </a:rPr>
                  <a:t>，其相邻点</a:t>
                </a:r>
                <a14:m>
                  <m:oMath xmlns:m="http://schemas.openxmlformats.org/officeDocument/2006/math">
                    <m:d>
                      <m:dPr>
                        <m:ctrlPr>
                          <a:rPr lang="en-US" altLang="zh-CN"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𝒙</m:t>
                            </m:r>
                          </m:e>
                          <m:sub>
                            <m:r>
                              <a:rPr lang="en-US" altLang="zh-CN" b="1" i="1">
                                <a:solidFill>
                                  <a:srgbClr val="FF0000"/>
                                </a:solidFill>
                                <a:latin typeface="Cambria Math" panose="02040503050406030204" pitchFamily="18" charset="0"/>
                                <a:ea typeface="方正粗黑宋简体" panose="02000000000000000000" pitchFamily="2" charset="-122"/>
                              </a:rPr>
                              <m:t>𝒊</m:t>
                            </m:r>
                            <m:r>
                              <a:rPr lang="en-US" altLang="zh-CN" b="1" i="1" smtClean="0">
                                <a:solidFill>
                                  <a:srgbClr val="FF0000"/>
                                </a:solidFill>
                                <a:latin typeface="Cambria Math" panose="02040503050406030204" pitchFamily="18" charset="0"/>
                                <a:ea typeface="方正粗黑宋简体" panose="02000000000000000000" pitchFamily="2" charset="-122"/>
                              </a:rPr>
                              <m:t>+</m:t>
                            </m:r>
                            <m:r>
                              <a:rPr lang="en-US" altLang="zh-CN" b="1" i="1" smtClean="0">
                                <a:solidFill>
                                  <a:srgbClr val="FF0000"/>
                                </a:solidFill>
                                <a:latin typeface="Cambria Math" panose="02040503050406030204" pitchFamily="18" charset="0"/>
                                <a:ea typeface="方正粗黑宋简体" panose="02000000000000000000" pitchFamily="2" charset="-122"/>
                              </a:rPr>
                              <m:t>𝟏</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a:solidFill>
                                  <a:srgbClr val="FF0000"/>
                                </a:solidFill>
                                <a:latin typeface="Cambria Math" panose="02040503050406030204" pitchFamily="18" charset="0"/>
                                <a:ea typeface="方正粗黑宋简体" panose="02000000000000000000" pitchFamily="2" charset="-122"/>
                              </a:rPr>
                              <m:t>𝒊</m:t>
                            </m:r>
                          </m:sub>
                        </m:sSub>
                        <m:r>
                          <a:rPr lang="en-US" altLang="zh-CN" b="1" i="1">
                            <a:solidFill>
                              <a:srgbClr val="FF0000"/>
                            </a:solidFill>
                            <a:latin typeface="Cambria Math" panose="02040503050406030204" pitchFamily="18" charset="0"/>
                            <a:ea typeface="方正粗黑宋简体" panose="02000000000000000000" pitchFamily="2" charset="-122"/>
                          </a:rPr>
                          <m:t> </m:t>
                        </m:r>
                      </m:e>
                    </m:d>
                  </m:oMath>
                </a14:m>
                <a:r>
                  <a:rPr lang="zh-CN" altLang="en-US" dirty="0">
                    <a:solidFill>
                      <a:schemeClr val="tx1"/>
                    </a:solidFill>
                    <a:latin typeface="楷体_GB2312" pitchFamily="1" charset="-122"/>
                    <a:ea typeface="楷体_GB2312" pitchFamily="1" charset="-122"/>
                  </a:rPr>
                  <a:t>处的深度值</a:t>
                </a:r>
                <a:r>
                  <a:rPr lang="zh-CN" altLang="en-US" dirty="0" smtClean="0">
                    <a:solidFill>
                      <a:schemeClr val="tx1"/>
                    </a:solidFill>
                    <a:latin typeface="楷体_GB2312" pitchFamily="1" charset="-122"/>
                    <a:ea typeface="楷体_GB2312" pitchFamily="1" charset="-122"/>
                  </a:rPr>
                  <a:t>为 </a:t>
                </a:r>
                <a14:m>
                  <m:oMath xmlns:m="http://schemas.openxmlformats.org/officeDocument/2006/math">
                    <m:r>
                      <a:rPr lang="en-US" altLang="zh-CN" b="1" i="1">
                        <a:solidFill>
                          <a:srgbClr val="FF0000"/>
                        </a:solidFill>
                        <a:latin typeface="Cambria Math" panose="02040503050406030204" pitchFamily="18" charset="0"/>
                        <a:ea typeface="方正粗黑宋简体" panose="02000000000000000000" pitchFamily="2" charset="-122"/>
                      </a:rPr>
                      <m:t>𝒛</m:t>
                    </m:r>
                    <m:d>
                      <m:dPr>
                        <m:ctrlPr>
                          <a:rPr lang="en-US" altLang="zh-CN"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𝒙</m:t>
                            </m:r>
                          </m:e>
                          <m:sub>
                            <m:r>
                              <a:rPr lang="en-US" altLang="zh-CN" b="1" i="1">
                                <a:solidFill>
                                  <a:srgbClr val="FF0000"/>
                                </a:solidFill>
                                <a:latin typeface="Cambria Math" panose="02040503050406030204" pitchFamily="18" charset="0"/>
                                <a:ea typeface="方正粗黑宋简体" panose="02000000000000000000" pitchFamily="2" charset="-122"/>
                              </a:rPr>
                              <m:t>𝒊</m:t>
                            </m:r>
                            <m:r>
                              <a:rPr lang="en-US" altLang="zh-CN" b="1" i="1" smtClean="0">
                                <a:solidFill>
                                  <a:srgbClr val="FF0000"/>
                                </a:solidFill>
                                <a:latin typeface="Cambria Math" panose="02040503050406030204" pitchFamily="18" charset="0"/>
                                <a:ea typeface="方正粗黑宋简体" panose="02000000000000000000" pitchFamily="2" charset="-122"/>
                              </a:rPr>
                              <m:t>+</m:t>
                            </m:r>
                            <m:r>
                              <a:rPr lang="en-US" altLang="zh-CN" b="1" i="1" smtClean="0">
                                <a:solidFill>
                                  <a:srgbClr val="FF0000"/>
                                </a:solidFill>
                                <a:latin typeface="Cambria Math" panose="02040503050406030204" pitchFamily="18" charset="0"/>
                                <a:ea typeface="方正粗黑宋简体" panose="02000000000000000000" pitchFamily="2" charset="-122"/>
                              </a:rPr>
                              <m:t>𝟏</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a:solidFill>
                                  <a:srgbClr val="FF0000"/>
                                </a:solidFill>
                                <a:latin typeface="Cambria Math" panose="02040503050406030204" pitchFamily="18" charset="0"/>
                                <a:ea typeface="方正粗黑宋简体" panose="02000000000000000000" pitchFamily="2" charset="-122"/>
                              </a:rPr>
                              <m:t>𝒊</m:t>
                            </m:r>
                          </m:sub>
                        </m:sSub>
                        <m:r>
                          <a:rPr lang="en-US" altLang="zh-CN" b="1" i="1">
                            <a:solidFill>
                              <a:srgbClr val="FF0000"/>
                            </a:solidFill>
                            <a:latin typeface="Cambria Math" panose="02040503050406030204" pitchFamily="18" charset="0"/>
                            <a:ea typeface="方正粗黑宋简体" panose="02000000000000000000" pitchFamily="2" charset="-122"/>
                          </a:rPr>
                          <m:t> </m:t>
                        </m:r>
                      </m:e>
                    </m:d>
                  </m:oMath>
                </a14:m>
                <a:r>
                  <a:rPr lang="zh-CN" altLang="en-US" dirty="0" smtClean="0">
                    <a:solidFill>
                      <a:schemeClr val="tx1"/>
                    </a:solidFill>
                    <a:latin typeface="楷体_GB2312" pitchFamily="1" charset="-122"/>
                    <a:ea typeface="楷体_GB2312" pitchFamily="1" charset="-122"/>
                  </a:rPr>
                  <a:t>。</a:t>
                </a:r>
                <a:r>
                  <a:rPr lang="zh-CN" altLang="en-US" dirty="0">
                    <a:solidFill>
                      <a:schemeClr val="tx1"/>
                    </a:solidFill>
                    <a:latin typeface="楷体_GB2312" pitchFamily="1" charset="-122"/>
                    <a:ea typeface="楷体_GB2312" pitchFamily="1" charset="-122"/>
                  </a:rPr>
                  <a:t>由此可以计算出</a:t>
                </a:r>
                <a:r>
                  <a:rPr lang="zh-CN" altLang="en-US" sz="2000" b="1" dirty="0">
                    <a:solidFill>
                      <a:srgbClr val="FF0000"/>
                    </a:solidFill>
                    <a:latin typeface="方正粗黑宋简体" panose="02000000000000000000" pitchFamily="2" charset="-122"/>
                    <a:ea typeface="方正粗黑宋简体" panose="02000000000000000000" pitchFamily="2" charset="-122"/>
                  </a:rPr>
                  <a:t>该扫描线上的所有后续像素点的深度值</a:t>
                </a:r>
                <a:r>
                  <a:rPr lang="zh-CN" altLang="en-US" dirty="0">
                    <a:solidFill>
                      <a:schemeClr val="tx1"/>
                    </a:solidFill>
                    <a:latin typeface="楷体_GB2312" pitchFamily="1" charset="-122"/>
                    <a:ea typeface="楷体_GB2312" pitchFamily="1" charset="-122"/>
                  </a:rPr>
                  <a:t>。同一扫描线上的</a:t>
                </a:r>
                <a:r>
                  <a:rPr lang="zh-CN" altLang="en-US" sz="2000" b="1" dirty="0">
                    <a:solidFill>
                      <a:srgbClr val="FF0000"/>
                    </a:solidFill>
                    <a:latin typeface="方正粗黑宋简体" panose="02000000000000000000" pitchFamily="2" charset="-122"/>
                    <a:ea typeface="方正粗黑宋简体" panose="02000000000000000000" pitchFamily="2" charset="-122"/>
                  </a:rPr>
                  <a:t>深度增量可由一步加法完成</a:t>
                </a:r>
                <a:r>
                  <a:rPr lang="zh-CN" altLang="en-US" dirty="0">
                    <a:solidFill>
                      <a:schemeClr val="tx1"/>
                    </a:solidFill>
                    <a:latin typeface="楷体_GB2312" pitchFamily="1" charset="-122"/>
                    <a:ea typeface="楷体_GB2312" pitchFamily="1" charset="-122"/>
                  </a:rPr>
                  <a:t>。  </a:t>
                </a:r>
              </a:p>
            </p:txBody>
          </p:sp>
        </mc:Choice>
        <mc:Fallback xmlns="">
          <p:sp>
            <p:nvSpPr>
              <p:cNvPr id="95235" name="Text Box 4"/>
              <p:cNvSpPr txBox="1">
                <a:spLocks noRot="1" noChangeAspect="1" noMove="1" noResize="1" noEditPoints="1" noAdjustHandles="1" noChangeArrowheads="1" noChangeShapeType="1" noTextEdit="1"/>
              </p:cNvSpPr>
              <p:nvPr/>
            </p:nvSpPr>
            <p:spPr bwMode="auto">
              <a:xfrm>
                <a:off x="341313" y="414338"/>
                <a:ext cx="8505825" cy="2012859"/>
              </a:xfrm>
              <a:prstGeom prst="rect">
                <a:avLst/>
              </a:prstGeom>
              <a:blipFill>
                <a:blip r:embed="rId3"/>
                <a:stretch>
                  <a:fillRect l="-789" t="-303" r="-4659" b="-272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95237" name="Object 5"/>
          <p:cNvGraphicFramePr>
            <a:graphicFrameLocks noChangeAspect="1"/>
          </p:cNvGraphicFramePr>
          <p:nvPr/>
        </p:nvGraphicFramePr>
        <p:xfrm>
          <a:off x="1331913" y="2530475"/>
          <a:ext cx="6794500" cy="889000"/>
        </p:xfrm>
        <a:graphic>
          <a:graphicData uri="http://schemas.openxmlformats.org/presentationml/2006/ole">
            <mc:AlternateContent xmlns:mc="http://schemas.openxmlformats.org/markup-compatibility/2006">
              <mc:Choice xmlns:v="urn:schemas-microsoft-com:vml" Requires="v">
                <p:oleObj spid="_x0000_s95323" r:id="rId4" imgW="3136900" imgH="406400" progId="Equation.3">
                  <p:embed/>
                </p:oleObj>
              </mc:Choice>
              <mc:Fallback>
                <p:oleObj r:id="rId4" imgW="3136900" imgH="406400" progId="Equation.3">
                  <p:embed/>
                  <p:pic>
                    <p:nvPicPr>
                      <p:cNvPr id="0" name="Picture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2530475"/>
                        <a:ext cx="67945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5238" name="Text Box 7"/>
          <p:cNvSpPr txBox="1">
            <a:spLocks noChangeArrowheads="1"/>
          </p:cNvSpPr>
          <p:nvPr/>
        </p:nvSpPr>
        <p:spPr bwMode="auto">
          <a:xfrm>
            <a:off x="927100" y="3654425"/>
            <a:ext cx="4184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zh-CN" altLang="en-US" dirty="0">
                <a:solidFill>
                  <a:schemeClr val="tx1"/>
                </a:solidFill>
                <a:latin typeface="楷体_GB2312" pitchFamily="1" charset="-122"/>
                <a:ea typeface="楷体_GB2312" pitchFamily="1" charset="-122"/>
              </a:rPr>
              <a:t>式中，    为</a:t>
            </a:r>
            <a:r>
              <a:rPr lang="zh-CN" altLang="en-US" sz="2000" b="1" dirty="0">
                <a:solidFill>
                  <a:srgbClr val="3333FF"/>
                </a:solidFill>
                <a:latin typeface="方正粗黑宋简体" panose="02000000000000000000" pitchFamily="2" charset="-122"/>
                <a:ea typeface="方正粗黑宋简体" panose="02000000000000000000" pitchFamily="2" charset="-122"/>
              </a:rPr>
              <a:t>深度步长</a:t>
            </a:r>
            <a:r>
              <a:rPr lang="zh-CN" altLang="en-US" dirty="0">
                <a:solidFill>
                  <a:schemeClr val="tx1"/>
                </a:solidFill>
                <a:latin typeface="楷体_GB2312" pitchFamily="1" charset="-122"/>
                <a:ea typeface="楷体_GB2312" pitchFamily="1" charset="-122"/>
              </a:rPr>
              <a:t>。</a:t>
            </a:r>
          </a:p>
        </p:txBody>
      </p:sp>
      <p:sp>
        <p:nvSpPr>
          <p:cNvPr id="95239"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endParaRPr lang="zh-CN" altLang="en-US"/>
          </a:p>
        </p:txBody>
      </p:sp>
      <p:graphicFrame>
        <p:nvGraphicFramePr>
          <p:cNvPr id="95240" name="Object 8"/>
          <p:cNvGraphicFramePr>
            <a:graphicFrameLocks noChangeAspect="1"/>
          </p:cNvGraphicFramePr>
          <p:nvPr/>
        </p:nvGraphicFramePr>
        <p:xfrm>
          <a:off x="1871663" y="3519488"/>
          <a:ext cx="611187" cy="809625"/>
        </p:xfrm>
        <a:graphic>
          <a:graphicData uri="http://schemas.openxmlformats.org/presentationml/2006/ole">
            <mc:AlternateContent xmlns:mc="http://schemas.openxmlformats.org/markup-compatibility/2006">
              <mc:Choice xmlns:v="urn:schemas-microsoft-com:vml" Requires="v">
                <p:oleObj spid="_x0000_s95324" r:id="rId6" imgW="292227" imgH="393871" progId="Equation.3">
                  <p:embed/>
                </p:oleObj>
              </mc:Choice>
              <mc:Fallback>
                <p:oleObj r:id="rId6" imgW="292227" imgH="393871" progId="Equation.3">
                  <p:embed/>
                  <p:pic>
                    <p:nvPicPr>
                      <p:cNvPr id="0" name="Picture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71663" y="3519488"/>
                        <a:ext cx="611187"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95241" name="Text Box 10"/>
              <p:cNvSpPr txBox="1">
                <a:spLocks noChangeArrowheads="1"/>
              </p:cNvSpPr>
              <p:nvPr/>
            </p:nvSpPr>
            <p:spPr bwMode="auto">
              <a:xfrm>
                <a:off x="565150" y="4373563"/>
                <a:ext cx="8372475"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marL="457200" indent="-4572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Font typeface="Arial" pitchFamily="34" charset="0"/>
                  <a:buAutoNum type="circleNumDbPlain" startAt="7"/>
                </a:pPr>
                <a:r>
                  <a:rPr lang="zh-CN" altLang="en-US" sz="2000" b="1" dirty="0" smtClean="0">
                    <a:solidFill>
                      <a:srgbClr val="3333FF"/>
                    </a:solidFill>
                    <a:latin typeface="方正粗黑宋简体" panose="02000000000000000000" pitchFamily="2" charset="-122"/>
                    <a:ea typeface="方正粗黑宋简体" panose="02000000000000000000" pitchFamily="2" charset="-122"/>
                  </a:rPr>
                  <a:t>下一条扫描线 </a:t>
                </a:r>
                <a14:m>
                  <m:oMath xmlns:m="http://schemas.openxmlformats.org/officeDocument/2006/math">
                    <m:r>
                      <a:rPr lang="en-US" altLang="zh-CN" sz="2000" b="1" i="1">
                        <a:solidFill>
                          <a:srgbClr val="FF0000"/>
                        </a:solidFill>
                        <a:latin typeface="Cambria Math" panose="02040503050406030204" pitchFamily="18" charset="0"/>
                        <a:ea typeface="方正粗黑宋简体" panose="02000000000000000000" pitchFamily="2" charset="-122"/>
                      </a:rPr>
                      <m:t>𝒚</m:t>
                    </m:r>
                    <m:r>
                      <a:rPr lang="en-US" altLang="zh-CN" sz="2000" b="1" i="1" smtClean="0">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a:solidFill>
                              <a:srgbClr val="FF0000"/>
                            </a:solidFill>
                            <a:latin typeface="Cambria Math" panose="02040503050406030204" pitchFamily="18" charset="0"/>
                            <a:ea typeface="方正粗黑宋简体" panose="02000000000000000000" pitchFamily="2" charset="-122"/>
                          </a:rPr>
                          <m:t>𝒊</m:t>
                        </m:r>
                        <m:r>
                          <a:rPr lang="en-US" altLang="zh-CN" b="1" i="1" smtClean="0">
                            <a:solidFill>
                              <a:srgbClr val="FF0000"/>
                            </a:solidFill>
                            <a:latin typeface="Cambria Math" panose="02040503050406030204" pitchFamily="18" charset="0"/>
                            <a:ea typeface="方正粗黑宋简体" panose="02000000000000000000" pitchFamily="2" charset="-122"/>
                          </a:rPr>
                          <m:t>+</m:t>
                        </m:r>
                        <m:r>
                          <a:rPr lang="en-US" altLang="zh-CN" b="1" i="1" smtClean="0">
                            <a:solidFill>
                              <a:srgbClr val="FF0000"/>
                            </a:solidFill>
                            <a:latin typeface="Cambria Math" panose="02040503050406030204" pitchFamily="18" charset="0"/>
                            <a:ea typeface="方正粗黑宋简体" panose="02000000000000000000" pitchFamily="2" charset="-122"/>
                          </a:rPr>
                          <m:t>𝟏</m:t>
                        </m:r>
                      </m:sub>
                    </m:sSub>
                  </m:oMath>
                </a14:m>
                <a:r>
                  <a:rPr lang="zh-CN" altLang="en-US" dirty="0" smtClean="0">
                    <a:solidFill>
                      <a:schemeClr val="tx1"/>
                    </a:solidFill>
                    <a:latin typeface="楷体_GB2312" pitchFamily="1" charset="-122"/>
                    <a:ea typeface="楷体_GB2312" pitchFamily="1" charset="-122"/>
                  </a:rPr>
                  <a:t>，</a:t>
                </a:r>
                <a:r>
                  <a:rPr lang="zh-CN" altLang="en-US" dirty="0">
                    <a:solidFill>
                      <a:schemeClr val="tx1"/>
                    </a:solidFill>
                    <a:latin typeface="楷体_GB2312" pitchFamily="1" charset="-122"/>
                    <a:ea typeface="楷体_GB2312" pitchFamily="1" charset="-122"/>
                  </a:rPr>
                  <a:t>其最左边的像素点坐标</a:t>
                </a:r>
                <a:r>
                  <a:rPr lang="zh-CN" altLang="en-US" dirty="0" smtClean="0">
                    <a:solidFill>
                      <a:schemeClr val="tx1"/>
                    </a:solidFill>
                    <a:latin typeface="楷体_GB2312" pitchFamily="1" charset="-122"/>
                    <a:ea typeface="楷体_GB2312" pitchFamily="1" charset="-122"/>
                  </a:rPr>
                  <a:t>的 </a:t>
                </a:r>
                <a14:m>
                  <m:oMath xmlns:m="http://schemas.openxmlformats.org/officeDocument/2006/math">
                    <m:r>
                      <a:rPr lang="en-US" altLang="zh-CN" b="1" i="1" smtClean="0">
                        <a:solidFill>
                          <a:srgbClr val="FF0000"/>
                        </a:solidFill>
                        <a:latin typeface="Cambria Math" panose="02040503050406030204" pitchFamily="18" charset="0"/>
                        <a:ea typeface="方正粗黑宋简体" panose="02000000000000000000" pitchFamily="2" charset="-122"/>
                      </a:rPr>
                      <m:t>𝒙</m:t>
                    </m:r>
                  </m:oMath>
                </a14:m>
                <a:r>
                  <a:rPr lang="zh-CN" altLang="en-US" dirty="0" smtClean="0">
                    <a:solidFill>
                      <a:schemeClr val="tx1"/>
                    </a:solidFill>
                    <a:latin typeface="楷体_GB2312" pitchFamily="1" charset="-122"/>
                    <a:ea typeface="楷体_GB2312" pitchFamily="1" charset="-122"/>
                  </a:rPr>
                  <a:t> </a:t>
                </a:r>
                <a:r>
                  <a:rPr lang="zh-CN" altLang="en-US" dirty="0">
                    <a:solidFill>
                      <a:schemeClr val="tx1"/>
                    </a:solidFill>
                    <a:latin typeface="楷体_GB2312" pitchFamily="1" charset="-122"/>
                    <a:ea typeface="楷体_GB2312" pitchFamily="1" charset="-122"/>
                  </a:rPr>
                  <a:t>值为 </a:t>
                </a:r>
              </a:p>
            </p:txBody>
          </p:sp>
        </mc:Choice>
        <mc:Fallback xmlns="">
          <p:sp>
            <p:nvSpPr>
              <p:cNvPr id="95241" name="Text Box 10"/>
              <p:cNvSpPr txBox="1">
                <a:spLocks noRot="1" noChangeAspect="1" noMove="1" noResize="1" noEditPoints="1" noAdjustHandles="1" noChangeArrowheads="1" noChangeShapeType="1" noTextEdit="1"/>
              </p:cNvSpPr>
              <p:nvPr/>
            </p:nvSpPr>
            <p:spPr bwMode="auto">
              <a:xfrm>
                <a:off x="565150" y="4373563"/>
                <a:ext cx="8372475" cy="461665"/>
              </a:xfrm>
              <a:prstGeom prst="rect">
                <a:avLst/>
              </a:prstGeom>
              <a:blipFill>
                <a:blip r:embed="rId8"/>
                <a:stretch>
                  <a:fillRect l="-801" t="-14474" b="-2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95243" name="Object 11"/>
          <p:cNvGraphicFramePr>
            <a:graphicFrameLocks noChangeAspect="1"/>
          </p:cNvGraphicFramePr>
          <p:nvPr/>
        </p:nvGraphicFramePr>
        <p:xfrm>
          <a:off x="3086100" y="4733925"/>
          <a:ext cx="3060700" cy="1004888"/>
        </p:xfrm>
        <a:graphic>
          <a:graphicData uri="http://schemas.openxmlformats.org/presentationml/2006/ole">
            <mc:AlternateContent xmlns:mc="http://schemas.openxmlformats.org/markup-compatibility/2006">
              <mc:Choice xmlns:v="urn:schemas-microsoft-com:vml" Requires="v">
                <p:oleObj spid="_x0000_s95325" r:id="rId9" imgW="1194318" imgH="393871" progId="Equation.3">
                  <p:embed/>
                </p:oleObj>
              </mc:Choice>
              <mc:Fallback>
                <p:oleObj r:id="rId9" imgW="1194318" imgH="393871" progId="Equation.3">
                  <p:embed/>
                  <p:pic>
                    <p:nvPicPr>
                      <p:cNvPr id="0" name="Picture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86100" y="4733925"/>
                        <a:ext cx="3060700" cy="1004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95244" name="Text Box 13"/>
              <p:cNvSpPr txBox="1">
                <a:spLocks noChangeArrowheads="1"/>
              </p:cNvSpPr>
              <p:nvPr/>
            </p:nvSpPr>
            <p:spPr bwMode="auto">
              <a:xfrm>
                <a:off x="746125" y="5634038"/>
                <a:ext cx="3556000"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dirty="0" smtClean="0">
                    <a:solidFill>
                      <a:schemeClr val="tx1"/>
                    </a:solidFill>
                    <a:latin typeface="楷体_GB2312" pitchFamily="1" charset="-122"/>
                    <a:ea typeface="楷体_GB2312" pitchFamily="1" charset="-122"/>
                  </a:rPr>
                  <a:t>式中</a:t>
                </a:r>
                <a:r>
                  <a:rPr lang="en-US" altLang="zh-CN" dirty="0">
                    <a:solidFill>
                      <a:schemeClr val="tx1"/>
                    </a:solidFill>
                    <a:latin typeface="楷体_GB2312" pitchFamily="1" charset="-122"/>
                    <a:ea typeface="楷体_GB2312" pitchFamily="1" charset="-122"/>
                  </a:rPr>
                  <a:t>,</a:t>
                </a:r>
                <a:r>
                  <a:rPr lang="en-US" altLang="zh-CN" b="1" dirty="0">
                    <a:solidFill>
                      <a:srgbClr val="FF0000"/>
                    </a:solidFill>
                    <a:ea typeface="方正粗黑宋简体" panose="02000000000000000000" pitchFamily="2" charset="-122"/>
                  </a:rPr>
                  <a:t> </a:t>
                </a:r>
                <a14:m>
                  <m:oMath xmlns:m="http://schemas.openxmlformats.org/officeDocument/2006/math">
                    <m:r>
                      <a:rPr lang="en-US" altLang="zh-CN" b="1" i="1" smtClean="0">
                        <a:solidFill>
                          <a:srgbClr val="FF0000"/>
                        </a:solidFill>
                        <a:latin typeface="Cambria Math" panose="02040503050406030204" pitchFamily="18" charset="0"/>
                        <a:ea typeface="方正粗黑宋简体" panose="02000000000000000000" pitchFamily="2" charset="-122"/>
                      </a:rPr>
                      <m:t>𝒌</m:t>
                    </m:r>
                  </m:oMath>
                </a14:m>
                <a:r>
                  <a:rPr lang="zh-CN" altLang="en-US" dirty="0" smtClean="0">
                    <a:solidFill>
                      <a:schemeClr val="tx1"/>
                    </a:solidFill>
                    <a:latin typeface="楷体_GB2312" pitchFamily="1" charset="-122"/>
                    <a:ea typeface="楷体_GB2312" pitchFamily="1" charset="-122"/>
                  </a:rPr>
                  <a:t> </a:t>
                </a:r>
                <a:r>
                  <a:rPr lang="zh-CN" altLang="en-US" sz="2000" b="1" dirty="0">
                    <a:solidFill>
                      <a:srgbClr val="FF0000"/>
                    </a:solidFill>
                    <a:latin typeface="方正粗黑宋简体" panose="02000000000000000000" pitchFamily="2" charset="-122"/>
                    <a:ea typeface="方正粗黑宋简体" panose="02000000000000000000" pitchFamily="2" charset="-122"/>
                  </a:rPr>
                  <a:t>为有效边的斜率 </a:t>
                </a:r>
              </a:p>
            </p:txBody>
          </p:sp>
        </mc:Choice>
        <mc:Fallback xmlns="">
          <p:sp>
            <p:nvSpPr>
              <p:cNvPr id="95244" name="Text Box 13"/>
              <p:cNvSpPr txBox="1">
                <a:spLocks noRot="1" noChangeAspect="1" noMove="1" noResize="1" noEditPoints="1" noAdjustHandles="1" noChangeArrowheads="1" noChangeShapeType="1" noTextEdit="1"/>
              </p:cNvSpPr>
              <p:nvPr/>
            </p:nvSpPr>
            <p:spPr bwMode="auto">
              <a:xfrm>
                <a:off x="746125" y="5634038"/>
                <a:ext cx="3556000" cy="461665"/>
              </a:xfrm>
              <a:prstGeom prst="rect">
                <a:avLst/>
              </a:prstGeom>
              <a:blipFill>
                <a:blip r:embed="rId11"/>
                <a:stretch>
                  <a:fillRect t="-14474" b="-2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2FF827FE-8D3B-43DD-B056-4A39F78BAA4D}" type="slidenum">
              <a:rPr lang="en-US" altLang="zh-CN" sz="1200">
                <a:solidFill>
                  <a:schemeClr val="tx1"/>
                </a:solidFill>
                <a:latin typeface="Garamond" pitchFamily="18" charset="0"/>
              </a:rPr>
              <a:pPr algn="r" eaLnBrk="1" hangingPunct="1">
                <a:spcBef>
                  <a:spcPct val="0"/>
                </a:spcBef>
              </a:pPr>
              <a:t>92</a:t>
            </a:fld>
            <a:endParaRPr lang="en-US" altLang="zh-CN" sz="1200">
              <a:solidFill>
                <a:schemeClr val="tx1"/>
              </a:solidFill>
              <a:latin typeface="Garamond" pitchFamily="18" charset="0"/>
            </a:endParaRPr>
          </a:p>
        </p:txBody>
      </p:sp>
      <p:sp>
        <p:nvSpPr>
          <p:cNvPr id="96259" name="Text Box 4"/>
          <p:cNvSpPr txBox="1">
            <a:spLocks noChangeArrowheads="1"/>
          </p:cNvSpPr>
          <p:nvPr/>
        </p:nvSpPr>
        <p:spPr bwMode="auto">
          <a:xfrm>
            <a:off x="385763" y="458788"/>
            <a:ext cx="85074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buFont typeface="Arial" pitchFamily="34" charset="0"/>
              <a:buBlip>
                <a:blip r:embed="rId2"/>
              </a:buBlip>
            </a:pPr>
            <a:r>
              <a:rPr lang="zh-CN" altLang="en-US" sz="2000" dirty="0">
                <a:solidFill>
                  <a:schemeClr val="tx1"/>
                </a:solidFill>
                <a:latin typeface="楷体_GB2312" pitchFamily="1" charset="-122"/>
                <a:ea typeface="楷体_GB2312" pitchFamily="1" charset="-122"/>
              </a:rPr>
              <a:t>用</a:t>
            </a:r>
            <a:r>
              <a:rPr lang="zh-CN" altLang="en-US" sz="2000" dirty="0" smtClean="0">
                <a:solidFill>
                  <a:schemeClr val="tx1"/>
                </a:solidFill>
                <a:latin typeface="楷体_GB2312" pitchFamily="1" charset="-122"/>
                <a:ea typeface="楷体_GB2312" pitchFamily="1" charset="-122"/>
              </a:rPr>
              <a:t>深度 </a:t>
            </a:r>
            <a:r>
              <a:rPr lang="en-US" altLang="zh-CN" sz="2000" dirty="0" smtClean="0">
                <a:solidFill>
                  <a:schemeClr val="tx1"/>
                </a:solidFill>
                <a:latin typeface="楷体_GB2312" pitchFamily="1" charset="-122"/>
                <a:ea typeface="楷体_GB2312" pitchFamily="1" charset="-122"/>
              </a:rPr>
              <a:t>d </a:t>
            </a:r>
            <a:r>
              <a:rPr lang="zh-CN" altLang="en-US" sz="2000" dirty="0" smtClean="0">
                <a:solidFill>
                  <a:schemeClr val="tx1"/>
                </a:solidFill>
                <a:latin typeface="楷体_GB2312" pitchFamily="1" charset="-122"/>
                <a:ea typeface="楷体_GB2312" pitchFamily="1" charset="-122"/>
              </a:rPr>
              <a:t>初始化</a:t>
            </a:r>
            <a:r>
              <a:rPr lang="zh-CN" altLang="en-US" sz="2000" dirty="0">
                <a:solidFill>
                  <a:schemeClr val="tx1"/>
                </a:solidFill>
                <a:latin typeface="楷体_GB2312" pitchFamily="1" charset="-122"/>
                <a:ea typeface="楷体_GB2312" pitchFamily="1" charset="-122"/>
              </a:rPr>
              <a:t>宽度</a:t>
            </a:r>
            <a:r>
              <a:rPr lang="zh-CN" altLang="en-US" sz="2000" dirty="0" smtClean="0">
                <a:solidFill>
                  <a:schemeClr val="tx1"/>
                </a:solidFill>
                <a:latin typeface="楷体_GB2312" pitchFamily="1" charset="-122"/>
                <a:ea typeface="楷体_GB2312" pitchFamily="1" charset="-122"/>
              </a:rPr>
              <a:t>为</a:t>
            </a:r>
            <a:r>
              <a:rPr lang="zh-CN" altLang="en-US" sz="2000" b="1" dirty="0">
                <a:solidFill>
                  <a:srgbClr val="FF0000"/>
                </a:solidFill>
                <a:latin typeface="方正粗黑宋简体" panose="02000000000000000000" pitchFamily="2" charset="-122"/>
                <a:ea typeface="方正粗黑宋简体" panose="02000000000000000000" pitchFamily="2" charset="-122"/>
              </a:rPr>
              <a:t> </a:t>
            </a:r>
            <a:r>
              <a:rPr lang="en-US" altLang="zh-CN" sz="2000" dirty="0" smtClean="0">
                <a:solidFill>
                  <a:schemeClr val="tx1"/>
                </a:solidFill>
                <a:latin typeface="楷体_GB2312" pitchFamily="1" charset="-122"/>
                <a:ea typeface="楷体_GB2312" pitchFamily="1" charset="-122"/>
              </a:rPr>
              <a:t>w</a:t>
            </a:r>
            <a:r>
              <a:rPr lang="zh-CN" altLang="en-US" sz="2000" dirty="0">
                <a:solidFill>
                  <a:schemeClr val="tx1"/>
                </a:solidFill>
                <a:latin typeface="楷体_GB2312" pitchFamily="1" charset="-122"/>
                <a:ea typeface="楷体_GB2312" pitchFamily="1" charset="-122"/>
              </a:rPr>
              <a:t>、高度</a:t>
            </a:r>
            <a:r>
              <a:rPr lang="zh-CN" altLang="en-US" sz="2000" dirty="0" smtClean="0">
                <a:solidFill>
                  <a:schemeClr val="tx1"/>
                </a:solidFill>
                <a:latin typeface="楷体_GB2312" pitchFamily="1" charset="-122"/>
                <a:ea typeface="楷体_GB2312" pitchFamily="1" charset="-122"/>
              </a:rPr>
              <a:t>为 </a:t>
            </a:r>
            <a:r>
              <a:rPr lang="en-US" altLang="zh-CN" sz="2000" dirty="0" smtClean="0">
                <a:solidFill>
                  <a:schemeClr val="tx1"/>
                </a:solidFill>
                <a:latin typeface="楷体_GB2312" pitchFamily="1" charset="-122"/>
                <a:ea typeface="楷体_GB2312" pitchFamily="1" charset="-122"/>
              </a:rPr>
              <a:t>h </a:t>
            </a:r>
            <a:r>
              <a:rPr lang="zh-CN" altLang="en-US" sz="2000" dirty="0" smtClean="0">
                <a:solidFill>
                  <a:schemeClr val="tx1"/>
                </a:solidFill>
                <a:latin typeface="楷体_GB2312" pitchFamily="1" charset="-122"/>
                <a:ea typeface="楷体_GB2312" pitchFamily="1" charset="-122"/>
              </a:rPr>
              <a:t>的</a:t>
            </a:r>
            <a:r>
              <a:rPr lang="zh-CN" altLang="en-US" sz="2000" dirty="0">
                <a:solidFill>
                  <a:schemeClr val="tx1"/>
                </a:solidFill>
                <a:latin typeface="楷体_GB2312" pitchFamily="1" charset="-122"/>
                <a:ea typeface="楷体_GB2312" pitchFamily="1" charset="-122"/>
              </a:rPr>
              <a:t>深度缓冲器的代码如下。</a:t>
            </a:r>
          </a:p>
        </p:txBody>
      </p:sp>
      <p:sp>
        <p:nvSpPr>
          <p:cNvPr id="96260" name="Text Box 5"/>
          <p:cNvSpPr txBox="1">
            <a:spLocks noChangeArrowheads="1"/>
          </p:cNvSpPr>
          <p:nvPr/>
        </p:nvSpPr>
        <p:spPr bwMode="auto">
          <a:xfrm>
            <a:off x="431800" y="954088"/>
            <a:ext cx="7785100" cy="4555093"/>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r>
              <a:rPr lang="en-US" altLang="zh-CN" sz="2000" dirty="0">
                <a:solidFill>
                  <a:srgbClr val="000000"/>
                </a:solidFill>
              </a:rPr>
              <a:t>void </a:t>
            </a:r>
            <a:r>
              <a:rPr lang="en-US" altLang="zh-CN" sz="2000" dirty="0" err="1">
                <a:solidFill>
                  <a:srgbClr val="000000"/>
                </a:solidFill>
              </a:rPr>
              <a:t>CZBuffer</a:t>
            </a:r>
            <a:r>
              <a:rPr lang="en-US" altLang="zh-CN" sz="2000" dirty="0">
                <a:solidFill>
                  <a:srgbClr val="000000"/>
                </a:solidFill>
              </a:rPr>
              <a:t>::</a:t>
            </a:r>
            <a:r>
              <a:rPr lang="en-US" altLang="zh-CN" sz="2000" dirty="0" err="1">
                <a:solidFill>
                  <a:srgbClr val="000000"/>
                </a:solidFill>
              </a:rPr>
              <a:t>InitDeepBuffer</a:t>
            </a:r>
            <a:r>
              <a:rPr lang="en-US" altLang="zh-CN" sz="2000" dirty="0">
                <a:solidFill>
                  <a:srgbClr val="000000"/>
                </a:solidFill>
              </a:rPr>
              <a:t>(</a:t>
            </a:r>
            <a:r>
              <a:rPr lang="en-US" altLang="zh-CN" sz="2000" dirty="0" err="1">
                <a:solidFill>
                  <a:srgbClr val="000000"/>
                </a:solidFill>
              </a:rPr>
              <a:t>int</a:t>
            </a:r>
            <a:r>
              <a:rPr lang="en-US" altLang="zh-CN" sz="2000" dirty="0">
                <a:solidFill>
                  <a:srgbClr val="000000"/>
                </a:solidFill>
              </a:rPr>
              <a:t> </a:t>
            </a:r>
            <a:r>
              <a:rPr lang="en-US" altLang="zh-CN" sz="2000" dirty="0" err="1">
                <a:solidFill>
                  <a:srgbClr val="000000"/>
                </a:solidFill>
              </a:rPr>
              <a:t>w,int</a:t>
            </a:r>
            <a:r>
              <a:rPr lang="en-US" altLang="zh-CN" sz="2000" dirty="0">
                <a:solidFill>
                  <a:srgbClr val="000000"/>
                </a:solidFill>
              </a:rPr>
              <a:t> </a:t>
            </a:r>
            <a:r>
              <a:rPr lang="en-US" altLang="zh-CN" sz="2000" dirty="0" err="1">
                <a:solidFill>
                  <a:srgbClr val="000000"/>
                </a:solidFill>
              </a:rPr>
              <a:t>h,double</a:t>
            </a:r>
            <a:r>
              <a:rPr lang="en-US" altLang="zh-CN" sz="2000" dirty="0">
                <a:solidFill>
                  <a:srgbClr val="000000"/>
                </a:solidFill>
              </a:rPr>
              <a:t> d)</a:t>
            </a:r>
          </a:p>
          <a:p>
            <a:pPr algn="l" eaLnBrk="1" hangingPunct="1"/>
            <a:r>
              <a:rPr lang="en-US" altLang="zh-CN" sz="2000" dirty="0">
                <a:solidFill>
                  <a:srgbClr val="000000"/>
                </a:solidFill>
              </a:rPr>
              <a:t>                                                           //</a:t>
            </a:r>
            <a:r>
              <a:rPr lang="zh-CN" altLang="en-US" sz="2000" dirty="0">
                <a:solidFill>
                  <a:srgbClr val="000000"/>
                </a:solidFill>
              </a:rPr>
              <a:t>初始化深度缓冲器</a:t>
            </a:r>
          </a:p>
          <a:p>
            <a:pPr algn="l" eaLnBrk="1" hangingPunct="1"/>
            <a:r>
              <a:rPr lang="en-US" altLang="zh-CN" sz="2000" dirty="0">
                <a:solidFill>
                  <a:srgbClr val="000000"/>
                </a:solidFill>
              </a:rPr>
              <a:t>{</a:t>
            </a:r>
          </a:p>
          <a:p>
            <a:pPr algn="l" eaLnBrk="1" hangingPunct="1"/>
            <a:r>
              <a:rPr lang="en-US" altLang="zh-CN" sz="2000" dirty="0"/>
              <a:t>          </a:t>
            </a:r>
            <a:r>
              <a:rPr lang="en-US" altLang="zh-CN" sz="2000" dirty="0" err="1">
                <a:solidFill>
                  <a:srgbClr val="000000"/>
                </a:solidFill>
              </a:rPr>
              <a:t>zBuffer</a:t>
            </a:r>
            <a:r>
              <a:rPr lang="en-US" altLang="zh-CN" sz="2000" dirty="0">
                <a:solidFill>
                  <a:srgbClr val="000000"/>
                </a:solidFill>
              </a:rPr>
              <a:t>=new double *[ w];</a:t>
            </a:r>
          </a:p>
          <a:p>
            <a:pPr algn="l" eaLnBrk="1" hangingPunct="1"/>
            <a:r>
              <a:rPr lang="en-US" altLang="zh-CN" sz="2000" dirty="0">
                <a:solidFill>
                  <a:srgbClr val="000000"/>
                </a:solidFill>
              </a:rPr>
              <a:t>	for(</a:t>
            </a:r>
            <a:r>
              <a:rPr lang="en-US" altLang="zh-CN" sz="2000" dirty="0" err="1">
                <a:solidFill>
                  <a:srgbClr val="000000"/>
                </a:solidFill>
              </a:rPr>
              <a:t>int</a:t>
            </a:r>
            <a:r>
              <a:rPr lang="en-US" altLang="zh-CN" sz="2000" dirty="0">
                <a:solidFill>
                  <a:srgbClr val="000000"/>
                </a:solidFill>
              </a:rPr>
              <a:t> </a:t>
            </a:r>
            <a:r>
              <a:rPr lang="en-US" altLang="zh-CN" sz="2000" dirty="0" err="1">
                <a:solidFill>
                  <a:srgbClr val="000000"/>
                </a:solidFill>
              </a:rPr>
              <a:t>i</a:t>
            </a:r>
            <a:r>
              <a:rPr lang="en-US" altLang="zh-CN" sz="2000" dirty="0">
                <a:solidFill>
                  <a:srgbClr val="000000"/>
                </a:solidFill>
              </a:rPr>
              <a:t>=0;i&lt;</a:t>
            </a:r>
            <a:r>
              <a:rPr lang="en-US" altLang="zh-CN" sz="2000" dirty="0" err="1">
                <a:solidFill>
                  <a:srgbClr val="000000"/>
                </a:solidFill>
              </a:rPr>
              <a:t>w;i</a:t>
            </a:r>
            <a:r>
              <a:rPr lang="en-US" altLang="zh-CN" sz="2000" dirty="0">
                <a:solidFill>
                  <a:srgbClr val="000000"/>
                </a:solidFill>
              </a:rPr>
              <a:t>++)</a:t>
            </a:r>
          </a:p>
          <a:p>
            <a:pPr algn="l" eaLnBrk="1" hangingPunct="1"/>
            <a:r>
              <a:rPr lang="en-US" altLang="zh-CN" sz="2000" dirty="0">
                <a:solidFill>
                  <a:srgbClr val="000000"/>
                </a:solidFill>
              </a:rPr>
              <a:t>		</a:t>
            </a:r>
            <a:r>
              <a:rPr lang="en-US" altLang="zh-CN" sz="2000" dirty="0" err="1">
                <a:solidFill>
                  <a:srgbClr val="000000"/>
                </a:solidFill>
              </a:rPr>
              <a:t>zBuffer</a:t>
            </a:r>
            <a:r>
              <a:rPr lang="en-US" altLang="zh-CN" sz="2000" dirty="0">
                <a:solidFill>
                  <a:srgbClr val="000000"/>
                </a:solidFill>
              </a:rPr>
              <a:t>[</a:t>
            </a:r>
            <a:r>
              <a:rPr lang="en-US" altLang="zh-CN" sz="2000" dirty="0" err="1">
                <a:solidFill>
                  <a:srgbClr val="000000"/>
                </a:solidFill>
              </a:rPr>
              <a:t>i</a:t>
            </a:r>
            <a:r>
              <a:rPr lang="en-US" altLang="zh-CN" sz="2000" dirty="0">
                <a:solidFill>
                  <a:srgbClr val="000000"/>
                </a:solidFill>
              </a:rPr>
              <a:t>]=new double[h];</a:t>
            </a:r>
          </a:p>
          <a:p>
            <a:pPr algn="l" eaLnBrk="1" hangingPunct="1"/>
            <a:r>
              <a:rPr lang="en-US" altLang="zh-CN" sz="2000" dirty="0">
                <a:solidFill>
                  <a:srgbClr val="000000"/>
                </a:solidFill>
              </a:rPr>
              <a:t>	</a:t>
            </a:r>
            <a:r>
              <a:rPr lang="en-US" altLang="zh-CN" sz="2000" dirty="0" smtClean="0">
                <a:solidFill>
                  <a:srgbClr val="000000"/>
                </a:solidFill>
              </a:rPr>
              <a:t>for(</a:t>
            </a:r>
            <a:r>
              <a:rPr lang="en-US" altLang="zh-CN" sz="2000" dirty="0" err="1" smtClean="0">
                <a:solidFill>
                  <a:srgbClr val="000000"/>
                </a:solidFill>
              </a:rPr>
              <a:t>int</a:t>
            </a:r>
            <a:r>
              <a:rPr lang="en-US" altLang="zh-CN" sz="2000" dirty="0" smtClean="0">
                <a:solidFill>
                  <a:srgbClr val="000000"/>
                </a:solidFill>
              </a:rPr>
              <a:t> </a:t>
            </a:r>
            <a:r>
              <a:rPr lang="en-US" altLang="zh-CN" sz="2000" dirty="0" err="1" smtClean="0">
                <a:solidFill>
                  <a:srgbClr val="000000"/>
                </a:solidFill>
              </a:rPr>
              <a:t>i</a:t>
            </a:r>
            <a:r>
              <a:rPr lang="en-US" altLang="zh-CN" sz="2000" dirty="0" smtClean="0">
                <a:solidFill>
                  <a:srgbClr val="000000"/>
                </a:solidFill>
              </a:rPr>
              <a:t>=0;i</a:t>
            </a:r>
            <a:r>
              <a:rPr lang="en-US" altLang="zh-CN" sz="2000" dirty="0">
                <a:solidFill>
                  <a:srgbClr val="000000"/>
                </a:solidFill>
              </a:rPr>
              <a:t>&lt; </a:t>
            </a:r>
            <a:r>
              <a:rPr lang="en-US" altLang="zh-CN" sz="2000" dirty="0" err="1">
                <a:solidFill>
                  <a:srgbClr val="000000"/>
                </a:solidFill>
              </a:rPr>
              <a:t>w;i</a:t>
            </a:r>
            <a:r>
              <a:rPr lang="en-US" altLang="zh-CN" sz="2000" dirty="0">
                <a:solidFill>
                  <a:srgbClr val="000000"/>
                </a:solidFill>
              </a:rPr>
              <a:t>++)</a:t>
            </a:r>
          </a:p>
          <a:p>
            <a:pPr algn="l" eaLnBrk="1" hangingPunct="1"/>
            <a:r>
              <a:rPr lang="en-US" altLang="zh-CN" sz="2000" dirty="0">
                <a:solidFill>
                  <a:srgbClr val="000000"/>
                </a:solidFill>
              </a:rPr>
              <a:t>		for(</a:t>
            </a:r>
            <a:r>
              <a:rPr lang="en-US" altLang="zh-CN" sz="2000" dirty="0" err="1">
                <a:solidFill>
                  <a:srgbClr val="000000"/>
                </a:solidFill>
              </a:rPr>
              <a:t>int</a:t>
            </a:r>
            <a:r>
              <a:rPr lang="en-US" altLang="zh-CN" sz="2000" dirty="0">
                <a:solidFill>
                  <a:srgbClr val="000000"/>
                </a:solidFill>
              </a:rPr>
              <a:t> j=0;j&lt; </a:t>
            </a:r>
            <a:r>
              <a:rPr lang="en-US" altLang="zh-CN" sz="2000" dirty="0" err="1">
                <a:solidFill>
                  <a:srgbClr val="000000"/>
                </a:solidFill>
              </a:rPr>
              <a:t>h;j</a:t>
            </a:r>
            <a:r>
              <a:rPr lang="en-US" altLang="zh-CN" sz="2000" dirty="0">
                <a:solidFill>
                  <a:srgbClr val="000000"/>
                </a:solidFill>
              </a:rPr>
              <a:t>++)</a:t>
            </a:r>
          </a:p>
          <a:p>
            <a:pPr algn="l" eaLnBrk="1" hangingPunct="1"/>
            <a:r>
              <a:rPr lang="en-US" altLang="zh-CN" sz="2000" dirty="0">
                <a:solidFill>
                  <a:srgbClr val="000000"/>
                </a:solidFill>
              </a:rPr>
              <a:t>			</a:t>
            </a:r>
            <a:r>
              <a:rPr lang="en-US" altLang="zh-CN" sz="2000" dirty="0" err="1">
                <a:solidFill>
                  <a:srgbClr val="000000"/>
                </a:solidFill>
              </a:rPr>
              <a:t>zBuffer</a:t>
            </a:r>
            <a:r>
              <a:rPr lang="en-US" altLang="zh-CN" sz="2000" dirty="0">
                <a:solidFill>
                  <a:srgbClr val="000000"/>
                </a:solidFill>
              </a:rPr>
              <a:t>[</a:t>
            </a:r>
            <a:r>
              <a:rPr lang="en-US" altLang="zh-CN" sz="2000" dirty="0" err="1">
                <a:solidFill>
                  <a:srgbClr val="000000"/>
                </a:solidFill>
              </a:rPr>
              <a:t>i</a:t>
            </a:r>
            <a:r>
              <a:rPr lang="en-US" altLang="zh-CN" sz="2000" dirty="0">
                <a:solidFill>
                  <a:srgbClr val="000000"/>
                </a:solidFill>
              </a:rPr>
              <a:t>][j]=double(d);</a:t>
            </a:r>
            <a:r>
              <a:rPr lang="en-US" altLang="zh-CN" sz="2000" dirty="0"/>
              <a:t> </a:t>
            </a:r>
          </a:p>
          <a:p>
            <a:pPr algn="l" eaLnBrk="1" hangingPunct="1"/>
            <a:r>
              <a:rPr lang="en-US" altLang="zh-CN" sz="2000" dirty="0">
                <a:solidFill>
                  <a:srgbClr val="000000"/>
                </a:solidFill>
              </a:rPr>
              <a:t>}</a:t>
            </a:r>
            <a:endParaRPr lang="zh-CN" altLang="en-US" sz="2000" dirty="0">
              <a:solidFill>
                <a:srgbClr val="000000"/>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0EE8BE4B-BFBB-4928-BCBD-F735348E9BF5}" type="slidenum">
              <a:rPr lang="en-US" altLang="zh-CN" sz="1200">
                <a:solidFill>
                  <a:schemeClr val="tx1"/>
                </a:solidFill>
                <a:latin typeface="Garamond" pitchFamily="18" charset="0"/>
              </a:rPr>
              <a:pPr algn="r" eaLnBrk="1" hangingPunct="1">
                <a:spcBef>
                  <a:spcPct val="0"/>
                </a:spcBef>
              </a:pPr>
              <a:t>93</a:t>
            </a:fld>
            <a:endParaRPr lang="en-US" altLang="zh-CN" sz="1200">
              <a:solidFill>
                <a:schemeClr val="tx1"/>
              </a:solidFill>
              <a:latin typeface="Garamond" pitchFamily="18" charset="0"/>
            </a:endParaRPr>
          </a:p>
        </p:txBody>
      </p:sp>
      <mc:AlternateContent xmlns:mc="http://schemas.openxmlformats.org/markup-compatibility/2006" xmlns:a14="http://schemas.microsoft.com/office/drawing/2010/main">
        <mc:Choice Requires="a14">
          <p:sp>
            <p:nvSpPr>
              <p:cNvPr id="97283" name="Text Box 4"/>
              <p:cNvSpPr txBox="1">
                <a:spLocks noChangeArrowheads="1"/>
              </p:cNvSpPr>
              <p:nvPr/>
            </p:nvSpPr>
            <p:spPr bwMode="auto">
              <a:xfrm>
                <a:off x="206375" y="368300"/>
                <a:ext cx="8667750" cy="15934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30000"/>
                  </a:lnSpc>
                  <a:buBlip>
                    <a:blip r:embed="rId3"/>
                  </a:buBlip>
                </a:pPr>
                <a:r>
                  <a:rPr lang="zh-CN" altLang="en-US" dirty="0" smtClean="0">
                    <a:solidFill>
                      <a:schemeClr val="tx1"/>
                    </a:solidFill>
                    <a:latin typeface="楷体_GB2312" pitchFamily="1" charset="-122"/>
                    <a:ea typeface="楷体_GB2312" pitchFamily="1" charset="-122"/>
                  </a:rPr>
                  <a:t> 一般将物体的</a:t>
                </a:r>
                <a:r>
                  <a:rPr lang="zh-CN" altLang="en-US" sz="2000" b="1" dirty="0">
                    <a:solidFill>
                      <a:srgbClr val="FF0000"/>
                    </a:solidFill>
                    <a:latin typeface="方正粗黑宋简体" panose="02000000000000000000" pitchFamily="2" charset="-122"/>
                    <a:ea typeface="方正粗黑宋简体" panose="02000000000000000000" pitchFamily="2" charset="-122"/>
                  </a:rPr>
                  <a:t>回转中心</a:t>
                </a:r>
                <a:r>
                  <a:rPr lang="zh-CN" altLang="en-US" dirty="0">
                    <a:solidFill>
                      <a:schemeClr val="tx1"/>
                    </a:solidFill>
                    <a:latin typeface="楷体_GB2312" pitchFamily="1" charset="-122"/>
                    <a:ea typeface="楷体_GB2312" pitchFamily="1" charset="-122"/>
                  </a:rPr>
                  <a:t>放置在自定义的</a:t>
                </a:r>
                <a:r>
                  <a:rPr lang="zh-CN" altLang="en-US" sz="2000" b="1" dirty="0">
                    <a:solidFill>
                      <a:srgbClr val="FF0000"/>
                    </a:solidFill>
                    <a:latin typeface="方正粗黑宋简体" panose="02000000000000000000" pitchFamily="2" charset="-122"/>
                    <a:ea typeface="方正粗黑宋简体" panose="02000000000000000000" pitchFamily="2" charset="-122"/>
                  </a:rPr>
                  <a:t>屏幕坐标系原点</a:t>
                </a:r>
                <a:r>
                  <a:rPr lang="zh-CN" altLang="en-US" dirty="0">
                    <a:solidFill>
                      <a:schemeClr val="tx1"/>
                    </a:solidFill>
                    <a:latin typeface="楷体_GB2312" pitchFamily="1" charset="-122"/>
                    <a:ea typeface="楷体_GB2312" pitchFamily="1" charset="-122"/>
                  </a:rPr>
                  <a:t>，也即位于</a:t>
                </a:r>
                <a:r>
                  <a:rPr lang="zh-CN" altLang="en-US" sz="2000" b="1" dirty="0">
                    <a:solidFill>
                      <a:srgbClr val="FF0000"/>
                    </a:solidFill>
                    <a:latin typeface="方正粗黑宋简体" panose="02000000000000000000" pitchFamily="2" charset="-122"/>
                    <a:ea typeface="方正粗黑宋简体" panose="02000000000000000000" pitchFamily="2" charset="-122"/>
                  </a:rPr>
                  <a:t>屏幕中心</a:t>
                </a:r>
                <a:r>
                  <a:rPr lang="zh-CN" altLang="en-US" dirty="0">
                    <a:solidFill>
                      <a:schemeClr val="tx1"/>
                    </a:solidFill>
                    <a:latin typeface="楷体_GB2312" pitchFamily="1" charset="-122"/>
                    <a:ea typeface="楷体_GB2312" pitchFamily="1" charset="-122"/>
                  </a:rPr>
                  <a:t>。为了避免</a:t>
                </a:r>
                <a:r>
                  <a:rPr lang="zh-CN" altLang="en-US" sz="2000" b="1" dirty="0">
                    <a:solidFill>
                      <a:srgbClr val="FF0000"/>
                    </a:solidFill>
                    <a:latin typeface="方正粗黑宋简体" panose="02000000000000000000" pitchFamily="2" charset="-122"/>
                    <a:ea typeface="方正粗黑宋简体" panose="02000000000000000000" pitchFamily="2" charset="-122"/>
                  </a:rPr>
                  <a:t>深度缓冲区</a:t>
                </a:r>
                <a:r>
                  <a:rPr lang="zh-CN" altLang="en-US" sz="2000" b="1" dirty="0" smtClean="0">
                    <a:solidFill>
                      <a:srgbClr val="FF0000"/>
                    </a:solidFill>
                    <a:latin typeface="方正粗黑宋简体" panose="02000000000000000000" pitchFamily="2" charset="-122"/>
                    <a:ea typeface="方正粗黑宋简体" panose="02000000000000000000" pitchFamily="2" charset="-122"/>
                  </a:rPr>
                  <a:t>数组 </a:t>
                </a:r>
                <a14:m>
                  <m:oMath xmlns:m="http://schemas.openxmlformats.org/officeDocument/2006/math">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𝒛</m:t>
                        </m:r>
                      </m:e>
                      <m:sub>
                        <m:r>
                          <a:rPr lang="en-US" altLang="zh-CN" b="1" i="1">
                            <a:solidFill>
                              <a:srgbClr val="FF0000"/>
                            </a:solidFill>
                            <a:latin typeface="Cambria Math" panose="02040503050406030204" pitchFamily="18" charset="0"/>
                            <a:ea typeface="方正粗黑宋简体" panose="02000000000000000000" pitchFamily="2" charset="-122"/>
                          </a:rPr>
                          <m:t>𝒃𝒖𝒇𝒇𝒆𝒓</m:t>
                        </m:r>
                      </m:sub>
                    </m:sSub>
                  </m:oMath>
                </a14:m>
                <a:r>
                  <a:rPr lang="zh-CN" altLang="en-US" dirty="0">
                    <a:solidFill>
                      <a:schemeClr val="tx1"/>
                    </a:solidFill>
                    <a:latin typeface="楷体_GB2312" pitchFamily="1" charset="-122"/>
                    <a:ea typeface="楷体_GB2312" pitchFamily="1" charset="-122"/>
                  </a:rPr>
                  <a:t>下标的索引号为负值，</a:t>
                </a:r>
                <a:r>
                  <a:rPr lang="zh-CN" altLang="en-US" sz="2000" b="1" dirty="0">
                    <a:solidFill>
                      <a:srgbClr val="FF0000"/>
                    </a:solidFill>
                    <a:latin typeface="方正粗黑宋简体" panose="02000000000000000000" pitchFamily="2" charset="-122"/>
                    <a:ea typeface="方正粗黑宋简体" panose="02000000000000000000" pitchFamily="2" charset="-122"/>
                  </a:rPr>
                  <a:t>二维深度缓冲区数组</a:t>
                </a:r>
                <a:r>
                  <a:rPr lang="zh-CN" altLang="en-US" dirty="0" smtClean="0">
                    <a:solidFill>
                      <a:schemeClr val="tx1"/>
                    </a:solidFill>
                    <a:latin typeface="楷体_GB2312" pitchFamily="1" charset="-122"/>
                    <a:ea typeface="楷体_GB2312" pitchFamily="1" charset="-122"/>
                  </a:rPr>
                  <a:t>采用 </a:t>
                </a:r>
                <a14:m>
                  <m:oMath xmlns:m="http://schemas.openxmlformats.org/officeDocument/2006/math">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𝒛</m:t>
                        </m:r>
                      </m:e>
                      <m:sub>
                        <m:r>
                          <a:rPr lang="en-US" altLang="zh-CN" b="1" i="1">
                            <a:solidFill>
                              <a:srgbClr val="FF0000"/>
                            </a:solidFill>
                            <a:latin typeface="Cambria Math" panose="02040503050406030204" pitchFamily="18" charset="0"/>
                            <a:ea typeface="方正粗黑宋简体" panose="02000000000000000000" pitchFamily="2" charset="-122"/>
                          </a:rPr>
                          <m:t>𝒃𝒖𝒇𝒇𝒆𝒓</m:t>
                        </m:r>
                      </m:sub>
                    </m:sSub>
                    <m:d>
                      <m:dPr>
                        <m:begChr m:val="["/>
                        <m:endChr m:val="]"/>
                        <m:ctrlPr>
                          <a:rPr lang="en-US" altLang="zh-CN" b="1" i="1" smtClean="0">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smtClean="0">
                                <a:solidFill>
                                  <a:srgbClr val="FF0000"/>
                                </a:solidFill>
                                <a:latin typeface="Cambria Math" panose="02040503050406030204" pitchFamily="18" charset="0"/>
                                <a:ea typeface="方正粗黑宋简体" panose="02000000000000000000" pitchFamily="2" charset="-122"/>
                              </a:rPr>
                            </m:ctrlPr>
                          </m:sSubPr>
                          <m:e>
                            <m:r>
                              <a:rPr lang="en-US" altLang="zh-CN" b="1" i="1" smtClean="0">
                                <a:solidFill>
                                  <a:srgbClr val="FF0000"/>
                                </a:solidFill>
                                <a:latin typeface="Cambria Math" panose="02040503050406030204" pitchFamily="18" charset="0"/>
                                <a:ea typeface="方正粗黑宋简体" panose="02000000000000000000" pitchFamily="2" charset="-122"/>
                              </a:rPr>
                              <m:t>𝒙</m:t>
                            </m:r>
                          </m:e>
                          <m:sub>
                            <m:r>
                              <a:rPr lang="en-US" altLang="zh-CN" b="1" i="1" smtClean="0">
                                <a:solidFill>
                                  <a:srgbClr val="FF0000"/>
                                </a:solidFill>
                                <a:latin typeface="Cambria Math" panose="02040503050406030204" pitchFamily="18" charset="0"/>
                                <a:ea typeface="方正粗黑宋简体" panose="02000000000000000000" pitchFamily="2" charset="-122"/>
                              </a:rPr>
                              <m:t>𝒔</m:t>
                            </m:r>
                          </m:sub>
                        </m:sSub>
                        <m:r>
                          <a:rPr lang="en-US" altLang="zh-CN" b="1" i="1" smtClean="0">
                            <a:solidFill>
                              <a:srgbClr val="FF0000"/>
                            </a:solidFill>
                            <a:latin typeface="Cambria Math" panose="02040503050406030204" pitchFamily="18" charset="0"/>
                            <a:ea typeface="方正粗黑宋简体" panose="02000000000000000000" pitchFamily="2" charset="-122"/>
                          </a:rPr>
                          <m:t>+</m:t>
                        </m:r>
                        <m:r>
                          <a:rPr lang="en-US" altLang="zh-CN" b="1" i="1" smtClean="0">
                            <a:solidFill>
                              <a:srgbClr val="FF0000"/>
                            </a:solidFill>
                            <a:latin typeface="Cambria Math" panose="02040503050406030204" pitchFamily="18" charset="0"/>
                            <a:ea typeface="方正粗黑宋简体" panose="02000000000000000000" pitchFamily="2" charset="-122"/>
                          </a:rPr>
                          <m:t>𝒘</m:t>
                        </m:r>
                        <m:r>
                          <a:rPr lang="en-US" altLang="zh-CN" b="1" i="1" smtClean="0">
                            <a:solidFill>
                              <a:srgbClr val="FF0000"/>
                            </a:solidFill>
                            <a:latin typeface="Cambria Math" panose="02040503050406030204" pitchFamily="18" charset="0"/>
                            <a:ea typeface="方正粗黑宋简体" panose="02000000000000000000" pitchFamily="2" charset="-122"/>
                          </a:rPr>
                          <m:t>/</m:t>
                        </m:r>
                        <m:r>
                          <a:rPr lang="en-US" altLang="zh-CN" b="1" i="1" smtClean="0">
                            <a:solidFill>
                              <a:srgbClr val="FF0000"/>
                            </a:solidFill>
                            <a:latin typeface="Cambria Math" panose="02040503050406030204" pitchFamily="18" charset="0"/>
                            <a:ea typeface="方正粗黑宋简体" panose="02000000000000000000" pitchFamily="2" charset="-122"/>
                          </a:rPr>
                          <m:t>𝟐</m:t>
                        </m:r>
                      </m:e>
                    </m:d>
                    <m:d>
                      <m:dPr>
                        <m:begChr m:val="["/>
                        <m:endChr m:val="]"/>
                        <m:ctrlPr>
                          <a:rPr lang="en-US" altLang="zh-CN"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smtClean="0">
                                <a:solidFill>
                                  <a:srgbClr val="FF0000"/>
                                </a:solidFill>
                                <a:latin typeface="Cambria Math" panose="02040503050406030204" pitchFamily="18" charset="0"/>
                                <a:ea typeface="方正粗黑宋简体" panose="02000000000000000000" pitchFamily="2" charset="-122"/>
                              </a:rPr>
                              <m:t>𝒚</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r>
                          <a:rPr lang="en-US" altLang="zh-CN" b="1" i="1">
                            <a:solidFill>
                              <a:srgbClr val="FF0000"/>
                            </a:solidFill>
                            <a:latin typeface="Cambria Math" panose="02040503050406030204" pitchFamily="18" charset="0"/>
                            <a:ea typeface="方正粗黑宋简体" panose="02000000000000000000" pitchFamily="2" charset="-122"/>
                          </a:rPr>
                          <m:t>+</m:t>
                        </m:r>
                        <m:r>
                          <a:rPr lang="en-US" altLang="zh-CN" b="1" i="1" smtClean="0">
                            <a:solidFill>
                              <a:srgbClr val="FF0000"/>
                            </a:solidFill>
                            <a:latin typeface="Cambria Math" panose="02040503050406030204" pitchFamily="18" charset="0"/>
                            <a:ea typeface="方正粗黑宋简体" panose="02000000000000000000" pitchFamily="2" charset="-122"/>
                          </a:rPr>
                          <m:t>𝒉</m:t>
                        </m:r>
                        <m:r>
                          <a:rPr lang="en-US" altLang="zh-CN" b="1" i="1">
                            <a:solidFill>
                              <a:srgbClr val="FF0000"/>
                            </a:solidFill>
                            <a:latin typeface="Cambria Math" panose="02040503050406030204" pitchFamily="18" charset="0"/>
                            <a:ea typeface="方正粗黑宋简体" panose="02000000000000000000" pitchFamily="2" charset="-122"/>
                          </a:rPr>
                          <m:t>/</m:t>
                        </m:r>
                        <m:r>
                          <a:rPr lang="en-US" altLang="zh-CN" b="1" i="1">
                            <a:solidFill>
                              <a:srgbClr val="FF0000"/>
                            </a:solidFill>
                            <a:latin typeface="Cambria Math" panose="02040503050406030204" pitchFamily="18" charset="0"/>
                            <a:ea typeface="方正粗黑宋简体" panose="02000000000000000000" pitchFamily="2" charset="-122"/>
                          </a:rPr>
                          <m:t>𝟐</m:t>
                        </m:r>
                      </m:e>
                    </m:d>
                  </m:oMath>
                </a14:m>
                <a:r>
                  <a:rPr lang="zh-CN" altLang="en-US" dirty="0" smtClean="0">
                    <a:solidFill>
                      <a:schemeClr val="tx1"/>
                    </a:solidFill>
                    <a:latin typeface="楷体_GB2312" pitchFamily="1" charset="-122"/>
                    <a:ea typeface="楷体_GB2312" pitchFamily="1" charset="-122"/>
                  </a:rPr>
                  <a:t> 进行</a:t>
                </a:r>
                <a:r>
                  <a:rPr lang="zh-CN" altLang="en-US" dirty="0">
                    <a:solidFill>
                      <a:schemeClr val="tx1"/>
                    </a:solidFill>
                    <a:latin typeface="楷体_GB2312" pitchFamily="1" charset="-122"/>
                    <a:ea typeface="楷体_GB2312" pitchFamily="1" charset="-122"/>
                  </a:rPr>
                  <a:t>匹配。 </a:t>
                </a:r>
              </a:p>
            </p:txBody>
          </p:sp>
        </mc:Choice>
        <mc:Fallback xmlns="">
          <p:sp>
            <p:nvSpPr>
              <p:cNvPr id="97283" name="Text Box 4"/>
              <p:cNvSpPr txBox="1">
                <a:spLocks noRot="1" noChangeAspect="1" noMove="1" noResize="1" noEditPoints="1" noAdjustHandles="1" noChangeArrowheads="1" noChangeShapeType="1" noTextEdit="1"/>
              </p:cNvSpPr>
              <p:nvPr/>
            </p:nvSpPr>
            <p:spPr bwMode="auto">
              <a:xfrm>
                <a:off x="206375" y="368300"/>
                <a:ext cx="8667750" cy="1593450"/>
              </a:xfrm>
              <a:prstGeom prst="rect">
                <a:avLst/>
              </a:prstGeom>
              <a:blipFill>
                <a:blip r:embed="rId4"/>
                <a:stretch>
                  <a:fillRect l="-1125" t="-382" r="-4571" b="-419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97285" name="Rectangle 8"/>
          <p:cNvSpPr>
            <a:spLocks noChangeArrowheads="1"/>
          </p:cNvSpPr>
          <p:nvPr/>
        </p:nvSpPr>
        <p:spPr bwMode="auto">
          <a:xfrm>
            <a:off x="4433888" y="3868738"/>
            <a:ext cx="279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1000">
                <a:solidFill>
                  <a:schemeClr val="tx1"/>
                </a:solidFill>
                <a:latin typeface="Times New Roman" pitchFamily="18" charset="0"/>
                <a:cs typeface="Times New Roman" pitchFamily="18" charset="0"/>
              </a:rPr>
              <a:t>   </a:t>
            </a:r>
            <a:endParaRPr lang="zh-CN" altLang="en-US">
              <a:solidFill>
                <a:schemeClr val="tx1"/>
              </a:solidFill>
            </a:endParaRPr>
          </a:p>
        </p:txBody>
      </p:sp>
      <p:sp>
        <p:nvSpPr>
          <p:cNvPr id="97286" name="Rectangle 9"/>
          <p:cNvSpPr>
            <a:spLocks noChangeArrowheads="1"/>
          </p:cNvSpPr>
          <p:nvPr/>
        </p:nvSpPr>
        <p:spPr bwMode="auto">
          <a:xfrm>
            <a:off x="2546350" y="5815013"/>
            <a:ext cx="424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9-67 </a:t>
            </a:r>
            <a:r>
              <a:rPr lang="zh-CN" altLang="en-US" sz="2000">
                <a:solidFill>
                  <a:schemeClr val="tx1"/>
                </a:solidFill>
                <a:latin typeface="楷体_GB2312" pitchFamily="1" charset="-122"/>
                <a:ea typeface="楷体_GB2312" pitchFamily="1" charset="-122"/>
              </a:rPr>
              <a:t>匹配深度缓冲器数组的下标 </a:t>
            </a:r>
          </a:p>
        </p:txBody>
      </p:sp>
      <p:graphicFrame>
        <p:nvGraphicFramePr>
          <p:cNvPr id="97288" name="Object 12"/>
          <p:cNvGraphicFramePr>
            <a:graphicFrameLocks noChangeAspect="1"/>
          </p:cNvGraphicFramePr>
          <p:nvPr/>
        </p:nvGraphicFramePr>
        <p:xfrm>
          <a:off x="2006600" y="2259013"/>
          <a:ext cx="5986463" cy="3230562"/>
        </p:xfrm>
        <a:graphic>
          <a:graphicData uri="http://schemas.openxmlformats.org/presentationml/2006/ole">
            <mc:AlternateContent xmlns:mc="http://schemas.openxmlformats.org/markup-compatibility/2006">
              <mc:Choice xmlns:v="urn:schemas-microsoft-com:vml" Requires="v">
                <p:oleObj spid="_x0000_s97316" r:id="rId5" imgW="6321193" imgH="3407736" progId="Visio.Drawing.11">
                  <p:embed/>
                </p:oleObj>
              </mc:Choice>
              <mc:Fallback>
                <p:oleObj r:id="rId5" imgW="6321193" imgH="3407736" progId="Visio.Drawing.11">
                  <p:embed/>
                  <p:pic>
                    <p:nvPicPr>
                      <p:cNvPr id="0"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6600" y="2259013"/>
                        <a:ext cx="5986463" cy="3230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C4E6E936-BF68-4C8F-86BE-33D5E00DEBB3}" type="slidenum">
              <a:rPr lang="en-US" altLang="zh-CN" sz="1200">
                <a:solidFill>
                  <a:schemeClr val="tx1"/>
                </a:solidFill>
                <a:latin typeface="Garamond" pitchFamily="18" charset="0"/>
              </a:rPr>
              <a:pPr algn="r" eaLnBrk="1" hangingPunct="1">
                <a:spcBef>
                  <a:spcPct val="0"/>
                </a:spcBef>
              </a:pPr>
              <a:t>94</a:t>
            </a:fld>
            <a:endParaRPr lang="en-US" altLang="zh-CN" sz="1200">
              <a:solidFill>
                <a:schemeClr val="tx1"/>
              </a:solidFill>
              <a:latin typeface="Garamond" pitchFamily="18" charset="0"/>
            </a:endParaRPr>
          </a:p>
        </p:txBody>
      </p:sp>
      <p:sp>
        <p:nvSpPr>
          <p:cNvPr id="98307" name="Text Box 4"/>
          <p:cNvSpPr txBox="1">
            <a:spLocks noChangeArrowheads="1"/>
          </p:cNvSpPr>
          <p:nvPr/>
        </p:nvSpPr>
        <p:spPr bwMode="auto">
          <a:xfrm>
            <a:off x="476250" y="368300"/>
            <a:ext cx="8281988"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20000"/>
              </a:lnSpc>
              <a:buFont typeface="Arial" pitchFamily="34" charset="0"/>
              <a:buBlip>
                <a:blip r:embed="rId3"/>
              </a:buBlip>
            </a:pPr>
            <a:r>
              <a:rPr lang="zh-CN" altLang="en-US" dirty="0">
                <a:solidFill>
                  <a:schemeClr val="tx1"/>
                </a:solidFill>
                <a:latin typeface="楷体_GB2312" pitchFamily="1" charset="-122"/>
                <a:ea typeface="楷体_GB2312" pitchFamily="1" charset="-122"/>
              </a:rPr>
              <a:t>真实感场景中一般绘制的是</a:t>
            </a:r>
            <a:r>
              <a:rPr lang="zh-CN" altLang="en-US" sz="2000" b="1" dirty="0">
                <a:solidFill>
                  <a:srgbClr val="FF0000"/>
                </a:solidFill>
                <a:latin typeface="方正粗黑宋简体" panose="02000000000000000000" pitchFamily="2" charset="-122"/>
                <a:ea typeface="方正粗黑宋简体" panose="02000000000000000000" pitchFamily="2" charset="-122"/>
              </a:rPr>
              <a:t>物体的透视投影</a:t>
            </a:r>
            <a:r>
              <a:rPr lang="zh-CN" altLang="en-US" dirty="0">
                <a:solidFill>
                  <a:schemeClr val="tx1"/>
                </a:solidFill>
                <a:latin typeface="楷体_GB2312" pitchFamily="1" charset="-122"/>
                <a:ea typeface="楷体_GB2312" pitchFamily="1" charset="-122"/>
              </a:rPr>
              <a:t>，在第</a:t>
            </a:r>
            <a:r>
              <a:rPr lang="en-US" altLang="zh-CN" dirty="0">
                <a:solidFill>
                  <a:schemeClr val="tx1"/>
                </a:solidFill>
                <a:latin typeface="楷体_GB2312" pitchFamily="1" charset="-122"/>
                <a:ea typeface="楷体_GB2312" pitchFamily="1" charset="-122"/>
              </a:rPr>
              <a:t>6</a:t>
            </a:r>
            <a:r>
              <a:rPr lang="zh-CN" altLang="en-US" dirty="0">
                <a:solidFill>
                  <a:schemeClr val="tx1"/>
                </a:solidFill>
                <a:latin typeface="楷体_GB2312" pitchFamily="1" charset="-122"/>
                <a:ea typeface="楷体_GB2312" pitchFamily="1" charset="-122"/>
              </a:rPr>
              <a:t>章中公式（</a:t>
            </a:r>
            <a:r>
              <a:rPr lang="en-US" altLang="zh-CN" dirty="0">
                <a:solidFill>
                  <a:schemeClr val="tx1"/>
                </a:solidFill>
                <a:latin typeface="楷体_GB2312" pitchFamily="1" charset="-122"/>
                <a:ea typeface="楷体_GB2312" pitchFamily="1" charset="-122"/>
              </a:rPr>
              <a:t>6-55</a:t>
            </a:r>
            <a:r>
              <a:rPr lang="zh-CN" altLang="en-US" dirty="0">
                <a:solidFill>
                  <a:schemeClr val="tx1"/>
                </a:solidFill>
                <a:latin typeface="楷体_GB2312" pitchFamily="1" charset="-122"/>
                <a:ea typeface="楷体_GB2312" pitchFamily="1" charset="-122"/>
              </a:rPr>
              <a:t>）仅计算了屏幕坐标系的二维坐标。使用深度缓冲器算法绘制物体的透视图时，需要</a:t>
            </a:r>
            <a:r>
              <a:rPr lang="zh-CN" altLang="en-US" sz="2000" b="1" dirty="0">
                <a:solidFill>
                  <a:srgbClr val="FF0000"/>
                </a:solidFill>
                <a:latin typeface="方正粗黑宋简体" panose="02000000000000000000" pitchFamily="2" charset="-122"/>
                <a:ea typeface="方正粗黑宋简体" panose="02000000000000000000" pitchFamily="2" charset="-122"/>
              </a:rPr>
              <a:t>在透视变换后保留物体的深度值</a:t>
            </a:r>
            <a:r>
              <a:rPr lang="zh-CN" altLang="en-US" dirty="0">
                <a:solidFill>
                  <a:schemeClr val="tx1"/>
                </a:solidFill>
                <a:latin typeface="楷体_GB2312" pitchFamily="1" charset="-122"/>
                <a:ea typeface="楷体_GB2312" pitchFamily="1" charset="-122"/>
              </a:rPr>
              <a:t>。设</a:t>
            </a:r>
            <a:r>
              <a:rPr lang="zh-CN" altLang="en-US" sz="2000" b="1" dirty="0">
                <a:solidFill>
                  <a:srgbClr val="FF0000"/>
                </a:solidFill>
                <a:latin typeface="方正粗黑宋简体" panose="02000000000000000000" pitchFamily="2" charset="-122"/>
                <a:ea typeface="方正粗黑宋简体" panose="02000000000000000000" pitchFamily="2" charset="-122"/>
              </a:rPr>
              <a:t>视域四棱台的近剪切面</a:t>
            </a:r>
            <a:r>
              <a:rPr lang="zh-CN" altLang="en-US" sz="2000" b="1" dirty="0" smtClean="0">
                <a:solidFill>
                  <a:srgbClr val="FF0000"/>
                </a:solidFill>
                <a:latin typeface="方正粗黑宋简体" panose="02000000000000000000" pitchFamily="2" charset="-122"/>
                <a:ea typeface="方正粗黑宋简体" panose="02000000000000000000" pitchFamily="2" charset="-122"/>
              </a:rPr>
              <a:t>为</a:t>
            </a:r>
            <a:r>
              <a:rPr lang="zh-CN" altLang="en-US" sz="2000" b="1" dirty="0">
                <a:solidFill>
                  <a:srgbClr val="FF0000"/>
                </a:solidFill>
                <a:latin typeface="方正粗黑宋简体" panose="02000000000000000000" pitchFamily="2" charset="-122"/>
                <a:ea typeface="方正粗黑宋简体" panose="02000000000000000000" pitchFamily="2" charset="-122"/>
              </a:rPr>
              <a:t> </a:t>
            </a:r>
            <a:r>
              <a:rPr lang="en-US" altLang="zh-CN" sz="2000" b="1" dirty="0" smtClean="0">
                <a:solidFill>
                  <a:srgbClr val="FF0000"/>
                </a:solidFill>
                <a:latin typeface="方正粗黑宋简体" panose="02000000000000000000" pitchFamily="2" charset="-122"/>
                <a:ea typeface="方正粗黑宋简体" panose="02000000000000000000" pitchFamily="2" charset="-122"/>
              </a:rPr>
              <a:t>Near</a:t>
            </a:r>
            <a:r>
              <a:rPr lang="zh-CN" altLang="en-US" dirty="0">
                <a:solidFill>
                  <a:schemeClr val="tx1"/>
                </a:solidFill>
                <a:latin typeface="楷体_GB2312" pitchFamily="1" charset="-122"/>
                <a:ea typeface="楷体_GB2312" pitchFamily="1" charset="-122"/>
              </a:rPr>
              <a:t>，</a:t>
            </a:r>
            <a:r>
              <a:rPr lang="zh-CN" altLang="en-US" sz="2000" b="1" dirty="0">
                <a:solidFill>
                  <a:srgbClr val="FF0000"/>
                </a:solidFill>
                <a:latin typeface="方正粗黑宋简体" panose="02000000000000000000" pitchFamily="2" charset="-122"/>
                <a:ea typeface="方正粗黑宋简体" panose="02000000000000000000" pitchFamily="2" charset="-122"/>
              </a:rPr>
              <a:t>远剪切面</a:t>
            </a:r>
            <a:r>
              <a:rPr lang="zh-CN" altLang="en-US" sz="2000" b="1" dirty="0" smtClean="0">
                <a:solidFill>
                  <a:srgbClr val="FF0000"/>
                </a:solidFill>
                <a:latin typeface="方正粗黑宋简体" panose="02000000000000000000" pitchFamily="2" charset="-122"/>
                <a:ea typeface="方正粗黑宋简体" panose="02000000000000000000" pitchFamily="2" charset="-122"/>
              </a:rPr>
              <a:t>为 </a:t>
            </a:r>
            <a:r>
              <a:rPr lang="en-US" altLang="zh-CN" sz="2000" b="1" dirty="0" smtClean="0">
                <a:solidFill>
                  <a:srgbClr val="FF0000"/>
                </a:solidFill>
                <a:latin typeface="方正粗黑宋简体" panose="02000000000000000000" pitchFamily="2" charset="-122"/>
                <a:ea typeface="方正粗黑宋简体" panose="02000000000000000000" pitchFamily="2" charset="-122"/>
              </a:rPr>
              <a:t>Far</a:t>
            </a:r>
            <a:endParaRPr lang="zh-CN" altLang="en-US" sz="2000" b="1" dirty="0">
              <a:solidFill>
                <a:srgbClr val="FF0000"/>
              </a:solidFill>
              <a:latin typeface="方正粗黑宋简体" panose="02000000000000000000" pitchFamily="2" charset="-122"/>
              <a:ea typeface="方正粗黑宋简体" panose="02000000000000000000" pitchFamily="2" charset="-122"/>
            </a:endParaRPr>
          </a:p>
        </p:txBody>
      </p:sp>
      <p:graphicFrame>
        <p:nvGraphicFramePr>
          <p:cNvPr id="98309" name="Object 5"/>
          <p:cNvGraphicFramePr>
            <a:graphicFrameLocks noChangeAspect="1"/>
          </p:cNvGraphicFramePr>
          <p:nvPr>
            <p:extLst>
              <p:ext uri="{D42A27DB-BD31-4B8C-83A1-F6EECF244321}">
                <p14:modId xmlns:p14="http://schemas.microsoft.com/office/powerpoint/2010/main" val="237684731"/>
              </p:ext>
            </p:extLst>
          </p:nvPr>
        </p:nvGraphicFramePr>
        <p:xfrm>
          <a:off x="2501900" y="2259013"/>
          <a:ext cx="3078212" cy="2585183"/>
        </p:xfrm>
        <a:graphic>
          <a:graphicData uri="http://schemas.openxmlformats.org/presentationml/2006/ole">
            <mc:AlternateContent xmlns:mc="http://schemas.openxmlformats.org/markup-compatibility/2006">
              <mc:Choice xmlns:v="urn:schemas-microsoft-com:vml" Requires="v">
                <p:oleObj spid="_x0000_s98337" r:id="rId4" imgW="1486545" imgH="1245140" progId="Equation.3">
                  <p:embed/>
                </p:oleObj>
              </mc:Choice>
              <mc:Fallback>
                <p:oleObj r:id="rId4" imgW="1486545" imgH="1245140" progId="Equation.3">
                  <p:embed/>
                  <p:pic>
                    <p:nvPicPr>
                      <p:cNvPr id="0"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1900" y="2259013"/>
                        <a:ext cx="3078212" cy="2585183"/>
                      </a:xfrm>
                      <a:prstGeom prst="rect">
                        <a:avLst/>
                      </a:prstGeom>
                      <a:noFill/>
                      <a:extLst/>
                    </p:spPr>
                  </p:pic>
                </p:oleObj>
              </mc:Fallback>
            </mc:AlternateContent>
          </a:graphicData>
        </a:graphic>
      </p:graphicFrame>
      <mc:AlternateContent xmlns:mc="http://schemas.openxmlformats.org/markup-compatibility/2006" xmlns:a14="http://schemas.microsoft.com/office/drawing/2010/main">
        <mc:Choice Requires="a14">
          <p:sp>
            <p:nvSpPr>
              <p:cNvPr id="98310" name="Text Box 7"/>
              <p:cNvSpPr txBox="1">
                <a:spLocks noChangeArrowheads="1"/>
              </p:cNvSpPr>
              <p:nvPr/>
            </p:nvSpPr>
            <p:spPr bwMode="auto">
              <a:xfrm>
                <a:off x="723900" y="5085184"/>
                <a:ext cx="7786688" cy="9787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20000"/>
                  </a:lnSpc>
                </a:pPr>
                <a:r>
                  <a:rPr lang="zh-CN" altLang="en-US" dirty="0" smtClean="0">
                    <a:solidFill>
                      <a:schemeClr val="tx1"/>
                    </a:solidFill>
                    <a:latin typeface="楷体_GB2312" pitchFamily="1" charset="-122"/>
                    <a:ea typeface="楷体_GB2312" pitchFamily="1" charset="-122"/>
                  </a:rPr>
                  <a:t>式中</a:t>
                </a:r>
                <a14:m>
                  <m:oMath xmlns:m="http://schemas.openxmlformats.org/officeDocument/2006/math">
                    <m:d>
                      <m:dPr>
                        <m:ctrlPr>
                          <a:rPr lang="en-US" altLang="zh-CN"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𝒙</m:t>
                            </m:r>
                          </m:e>
                          <m:sub>
                            <m:r>
                              <a:rPr lang="en-US" altLang="zh-CN" b="1" i="1" smtClean="0">
                                <a:solidFill>
                                  <a:srgbClr val="FF0000"/>
                                </a:solidFill>
                                <a:latin typeface="Cambria Math" panose="02040503050406030204" pitchFamily="18" charset="0"/>
                                <a:ea typeface="方正粗黑宋简体" panose="02000000000000000000" pitchFamily="2" charset="-122"/>
                              </a:rPr>
                              <m:t>𝒗</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smtClean="0">
                                <a:solidFill>
                                  <a:srgbClr val="FF0000"/>
                                </a:solidFill>
                                <a:latin typeface="Cambria Math" panose="02040503050406030204" pitchFamily="18" charset="0"/>
                                <a:ea typeface="方正粗黑宋简体" panose="02000000000000000000" pitchFamily="2" charset="-122"/>
                              </a:rPr>
                              <m:t>𝒗</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𝒛</m:t>
                            </m:r>
                          </m:e>
                          <m:sub>
                            <m:r>
                              <a:rPr lang="en-US" altLang="zh-CN" b="1" i="1" smtClean="0">
                                <a:solidFill>
                                  <a:srgbClr val="FF0000"/>
                                </a:solidFill>
                                <a:latin typeface="Cambria Math" panose="02040503050406030204" pitchFamily="18" charset="0"/>
                                <a:ea typeface="方正粗黑宋简体" panose="02000000000000000000" pitchFamily="2" charset="-122"/>
                              </a:rPr>
                              <m:t>𝒗</m:t>
                            </m:r>
                          </m:sub>
                        </m:sSub>
                      </m:e>
                    </m:d>
                  </m:oMath>
                </a14:m>
                <a:r>
                  <a:rPr lang="en-US" altLang="zh-CN" dirty="0" smtClean="0">
                    <a:solidFill>
                      <a:schemeClr val="tx1"/>
                    </a:solidFill>
                    <a:latin typeface="楷体_GB2312" pitchFamily="1" charset="-122"/>
                    <a:ea typeface="楷体_GB2312" pitchFamily="1" charset="-122"/>
                  </a:rPr>
                  <a:t> </a:t>
                </a:r>
                <a:r>
                  <a:rPr lang="zh-CN" altLang="en-US" dirty="0" smtClean="0">
                    <a:solidFill>
                      <a:schemeClr val="tx1"/>
                    </a:solidFill>
                    <a:latin typeface="楷体_GB2312" pitchFamily="1" charset="-122"/>
                    <a:ea typeface="楷体_GB2312" pitchFamily="1" charset="-122"/>
                  </a:rPr>
                  <a:t>为</a:t>
                </a:r>
                <a:r>
                  <a:rPr lang="zh-CN" altLang="en-US" dirty="0">
                    <a:solidFill>
                      <a:schemeClr val="tx1"/>
                    </a:solidFill>
                    <a:latin typeface="楷体_GB2312" pitchFamily="1" charset="-122"/>
                    <a:ea typeface="楷体_GB2312" pitchFamily="1" charset="-122"/>
                  </a:rPr>
                  <a:t>观察坐标系中的坐标，</a:t>
                </a:r>
                <a14:m>
                  <m:oMath xmlns:m="http://schemas.openxmlformats.org/officeDocument/2006/math">
                    <m:d>
                      <m:dPr>
                        <m:ctrlPr>
                          <a:rPr lang="en-US" altLang="zh-CN"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𝒙</m:t>
                            </m:r>
                          </m:e>
                          <m:sub>
                            <m:r>
                              <a:rPr lang="en-US" altLang="zh-CN" b="1" i="1" smtClean="0">
                                <a:solidFill>
                                  <a:srgbClr val="FF0000"/>
                                </a:solidFill>
                                <a:latin typeface="Cambria Math" panose="02040503050406030204" pitchFamily="18" charset="0"/>
                                <a:ea typeface="方正粗黑宋简体" panose="02000000000000000000" pitchFamily="2" charset="-122"/>
                              </a:rPr>
                              <m:t>𝒔</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𝒚</m:t>
                            </m:r>
                          </m:e>
                          <m:sub>
                            <m:r>
                              <a:rPr lang="en-US" altLang="zh-CN" b="1" i="1" smtClean="0">
                                <a:solidFill>
                                  <a:srgbClr val="FF0000"/>
                                </a:solidFill>
                                <a:latin typeface="Cambria Math" panose="02040503050406030204" pitchFamily="18" charset="0"/>
                                <a:ea typeface="方正粗黑宋简体" panose="02000000000000000000" pitchFamily="2" charset="-122"/>
                              </a:rPr>
                              <m:t>𝒔</m:t>
                            </m:r>
                          </m:sub>
                        </m:sSub>
                        <m:r>
                          <a:rPr lang="en-US" altLang="zh-CN" b="1" i="1">
                            <a:solidFill>
                              <a:srgbClr val="FF0000"/>
                            </a:solidFill>
                            <a:latin typeface="Cambria Math" panose="02040503050406030204" pitchFamily="18" charset="0"/>
                            <a:ea typeface="方正粗黑宋简体" panose="02000000000000000000" pitchFamily="2" charset="-122"/>
                          </a:rPr>
                          <m:t>,</m:t>
                        </m:r>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𝒛</m:t>
                            </m:r>
                          </m:e>
                          <m:sub>
                            <m:r>
                              <a:rPr lang="en-US" altLang="zh-CN" b="1" i="1" smtClean="0">
                                <a:solidFill>
                                  <a:srgbClr val="FF0000"/>
                                </a:solidFill>
                                <a:latin typeface="Cambria Math" panose="02040503050406030204" pitchFamily="18" charset="0"/>
                                <a:ea typeface="方正粗黑宋简体" panose="02000000000000000000" pitchFamily="2" charset="-122"/>
                              </a:rPr>
                              <m:t>𝒔</m:t>
                            </m:r>
                          </m:sub>
                        </m:sSub>
                      </m:e>
                    </m:d>
                    <m:r>
                      <a:rPr lang="en-US" altLang="zh-CN" b="1" i="1" smtClean="0">
                        <a:solidFill>
                          <a:srgbClr val="FF0000"/>
                        </a:solidFill>
                        <a:latin typeface="Cambria Math" panose="02040503050406030204" pitchFamily="18" charset="0"/>
                        <a:ea typeface="方正粗黑宋简体" panose="02000000000000000000" pitchFamily="2" charset="-122"/>
                      </a:rPr>
                      <m:t> </m:t>
                    </m:r>
                  </m:oMath>
                </a14:m>
                <a:r>
                  <a:rPr lang="zh-CN" altLang="en-US" dirty="0" smtClean="0">
                    <a:solidFill>
                      <a:schemeClr val="tx1"/>
                    </a:solidFill>
                    <a:latin typeface="楷体_GB2312" pitchFamily="1" charset="-122"/>
                    <a:ea typeface="楷体_GB2312" pitchFamily="1" charset="-122"/>
                  </a:rPr>
                  <a:t>为</a:t>
                </a:r>
                <a:r>
                  <a:rPr lang="zh-CN" altLang="en-US" dirty="0">
                    <a:solidFill>
                      <a:schemeClr val="tx1"/>
                    </a:solidFill>
                    <a:latin typeface="楷体_GB2312" pitchFamily="1" charset="-122"/>
                    <a:ea typeface="楷体_GB2312" pitchFamily="1" charset="-122"/>
                  </a:rPr>
                  <a:t>屏幕坐标系中的坐标。 </a:t>
                </a:r>
                <a14:m>
                  <m:oMath xmlns:m="http://schemas.openxmlformats.org/officeDocument/2006/math">
                    <m:sSub>
                      <m:sSubPr>
                        <m:ctrlPr>
                          <a:rPr lang="en-US" altLang="zh-CN" b="1" i="1">
                            <a:solidFill>
                              <a:srgbClr val="FF0000"/>
                            </a:solidFill>
                            <a:latin typeface="Cambria Math" panose="02040503050406030204" pitchFamily="18" charset="0"/>
                            <a:ea typeface="方正粗黑宋简体" panose="02000000000000000000" pitchFamily="2" charset="-122"/>
                          </a:rPr>
                        </m:ctrlPr>
                      </m:sSubPr>
                      <m:e>
                        <m:r>
                          <a:rPr lang="en-US" altLang="zh-CN" b="1" i="1">
                            <a:solidFill>
                              <a:srgbClr val="FF0000"/>
                            </a:solidFill>
                            <a:latin typeface="Cambria Math" panose="02040503050406030204" pitchFamily="18" charset="0"/>
                            <a:ea typeface="方正粗黑宋简体" panose="02000000000000000000" pitchFamily="2" charset="-122"/>
                          </a:rPr>
                          <m:t>𝒛</m:t>
                        </m:r>
                      </m:e>
                      <m:sub>
                        <m:r>
                          <a:rPr lang="en-US" altLang="zh-CN" b="1" i="1">
                            <a:solidFill>
                              <a:srgbClr val="FF0000"/>
                            </a:solidFill>
                            <a:latin typeface="Cambria Math" panose="02040503050406030204" pitchFamily="18" charset="0"/>
                            <a:ea typeface="方正粗黑宋简体" panose="02000000000000000000" pitchFamily="2" charset="-122"/>
                          </a:rPr>
                          <m:t>𝒔</m:t>
                        </m:r>
                      </m:sub>
                    </m:sSub>
                  </m:oMath>
                </a14:m>
                <a:r>
                  <a:rPr lang="zh-CN" altLang="en-US" b="1" dirty="0" smtClean="0">
                    <a:solidFill>
                      <a:srgbClr val="FF0000"/>
                    </a:solidFill>
                    <a:latin typeface="黑体" pitchFamily="49" charset="-122"/>
                    <a:ea typeface="黑体" pitchFamily="49" charset="-122"/>
                  </a:rPr>
                  <a:t> </a:t>
                </a:r>
                <a:r>
                  <a:rPr lang="zh-CN" altLang="en-US" sz="2000" b="1" dirty="0">
                    <a:solidFill>
                      <a:srgbClr val="FF0000"/>
                    </a:solidFill>
                    <a:latin typeface="方正粗黑宋简体" panose="02000000000000000000" pitchFamily="2" charset="-122"/>
                    <a:ea typeface="方正粗黑宋简体" panose="02000000000000000000" pitchFamily="2" charset="-122"/>
                  </a:rPr>
                  <a:t>为伪深度</a:t>
                </a:r>
                <a:r>
                  <a:rPr lang="zh-CN" altLang="en-US" dirty="0" smtClean="0">
                    <a:solidFill>
                      <a:schemeClr val="tx1"/>
                    </a:solidFill>
                    <a:latin typeface="楷体_GB2312" pitchFamily="1" charset="-122"/>
                    <a:ea typeface="楷体_GB2312" pitchFamily="1" charset="-122"/>
                  </a:rPr>
                  <a:t>。</a:t>
                </a:r>
                <a:endParaRPr lang="zh-CN" altLang="en-US" dirty="0">
                  <a:solidFill>
                    <a:schemeClr val="tx1"/>
                  </a:solidFill>
                  <a:latin typeface="楷体_GB2312" pitchFamily="1" charset="-122"/>
                  <a:ea typeface="楷体_GB2312" pitchFamily="1" charset="-122"/>
                </a:endParaRPr>
              </a:p>
            </p:txBody>
          </p:sp>
        </mc:Choice>
        <mc:Fallback xmlns="">
          <p:sp>
            <p:nvSpPr>
              <p:cNvPr id="98310" name="Text Box 7"/>
              <p:cNvSpPr txBox="1">
                <a:spLocks noRot="1" noChangeAspect="1" noMove="1" noResize="1" noEditPoints="1" noAdjustHandles="1" noChangeArrowheads="1" noChangeShapeType="1" noTextEdit="1"/>
              </p:cNvSpPr>
              <p:nvPr/>
            </p:nvSpPr>
            <p:spPr bwMode="auto">
              <a:xfrm>
                <a:off x="723900" y="5085184"/>
                <a:ext cx="7786688" cy="978729"/>
              </a:xfrm>
              <a:prstGeom prst="rect">
                <a:avLst/>
              </a:prstGeom>
              <a:blipFill>
                <a:blip r:embed="rId6"/>
                <a:stretch>
                  <a:fillRect l="-1253" t="-3727" r="-1018" b="-68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599FEE8F-C6AF-4F17-80B9-607FE2FAF9D4}" type="slidenum">
              <a:rPr lang="en-US" altLang="zh-CN" sz="1200">
                <a:solidFill>
                  <a:schemeClr val="tx1"/>
                </a:solidFill>
                <a:latin typeface="Garamond" pitchFamily="18" charset="0"/>
              </a:rPr>
              <a:pPr algn="r" eaLnBrk="1" hangingPunct="1">
                <a:spcBef>
                  <a:spcPct val="0"/>
                </a:spcBef>
              </a:pPr>
              <a:t>95</a:t>
            </a:fld>
            <a:endParaRPr lang="en-US" altLang="zh-CN" sz="1200">
              <a:solidFill>
                <a:schemeClr val="tx1"/>
              </a:solidFill>
              <a:latin typeface="Garamond" pitchFamily="18" charset="0"/>
            </a:endParaRPr>
          </a:p>
        </p:txBody>
      </p:sp>
      <mc:AlternateContent xmlns:mc="http://schemas.openxmlformats.org/markup-compatibility/2006" xmlns:a14="http://schemas.microsoft.com/office/drawing/2010/main">
        <mc:Choice Requires="a14">
          <p:sp>
            <p:nvSpPr>
              <p:cNvPr id="99331" name="Text Box 4"/>
              <p:cNvSpPr txBox="1">
                <a:spLocks noChangeArrowheads="1"/>
              </p:cNvSpPr>
              <p:nvPr/>
            </p:nvSpPr>
            <p:spPr bwMode="auto">
              <a:xfrm>
                <a:off x="522288" y="323850"/>
                <a:ext cx="8189912" cy="186512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20000"/>
                  </a:lnSpc>
                  <a:buBlip>
                    <a:blip r:embed="rId3"/>
                  </a:buBlip>
                </a:pPr>
                <a:r>
                  <a:rPr lang="zh-CN" altLang="en-US" dirty="0" smtClean="0">
                    <a:solidFill>
                      <a:schemeClr val="tx1"/>
                    </a:solidFill>
                    <a:latin typeface="楷体_GB2312" pitchFamily="1" charset="-122"/>
                    <a:ea typeface="楷体_GB2312" pitchFamily="1" charset="-122"/>
                  </a:rPr>
                  <a:t>图</a:t>
                </a:r>
                <a:r>
                  <a:rPr lang="en-US" altLang="zh-CN" dirty="0">
                    <a:solidFill>
                      <a:schemeClr val="tx1"/>
                    </a:solidFill>
                    <a:latin typeface="楷体_GB2312" pitchFamily="1" charset="-122"/>
                    <a:ea typeface="楷体_GB2312" pitchFamily="1" charset="-122"/>
                  </a:rPr>
                  <a:t>9-68</a:t>
                </a:r>
                <a:r>
                  <a:rPr lang="zh-CN" altLang="en-US" dirty="0">
                    <a:solidFill>
                      <a:schemeClr val="tx1"/>
                    </a:solidFill>
                    <a:latin typeface="楷体_GB2312" pitchFamily="1" charset="-122"/>
                    <a:ea typeface="楷体_GB2312" pitchFamily="1" charset="-122"/>
                  </a:rPr>
                  <a:t>中，观察坐标系中</a:t>
                </a:r>
                <a:r>
                  <a:rPr lang="zh-CN" altLang="en-US" sz="2000" b="1" dirty="0">
                    <a:solidFill>
                      <a:srgbClr val="FF0000"/>
                    </a:solidFill>
                    <a:latin typeface="方正粗黑宋简体" panose="02000000000000000000" pitchFamily="2" charset="-122"/>
                    <a:ea typeface="方正粗黑宋简体" panose="02000000000000000000" pitchFamily="2" charset="-122"/>
                  </a:rPr>
                  <a:t>从视点出发的视线会聚于视点</a:t>
                </a:r>
                <a:r>
                  <a:rPr lang="zh-CN" altLang="en-US" dirty="0">
                    <a:solidFill>
                      <a:schemeClr val="tx1"/>
                    </a:solidFill>
                    <a:latin typeface="楷体_GB2312" pitchFamily="1" charset="-122"/>
                    <a:ea typeface="楷体_GB2312" pitchFamily="1" charset="-122"/>
                  </a:rPr>
                  <a:t>。屏幕坐标系中，</a:t>
                </a:r>
                <a:r>
                  <a:rPr lang="zh-CN" altLang="en-US" sz="2000" b="1" dirty="0">
                    <a:solidFill>
                      <a:srgbClr val="FF0000"/>
                    </a:solidFill>
                    <a:latin typeface="方正粗黑宋简体" panose="02000000000000000000" pitchFamily="2" charset="-122"/>
                    <a:ea typeface="方正粗黑宋简体" panose="02000000000000000000" pitchFamily="2" charset="-122"/>
                  </a:rPr>
                  <a:t>视线被映射为平行线</a:t>
                </a:r>
                <a:r>
                  <a:rPr lang="zh-CN" altLang="en-US" dirty="0">
                    <a:solidFill>
                      <a:schemeClr val="tx1"/>
                    </a:solidFill>
                    <a:latin typeface="楷体_GB2312" pitchFamily="1" charset="-122"/>
                    <a:ea typeface="楷体_GB2312" pitchFamily="1" charset="-122"/>
                  </a:rPr>
                  <a:t>。因而，</a:t>
                </a:r>
                <a:r>
                  <a:rPr lang="zh-CN" altLang="en-US" sz="2000" b="1" dirty="0">
                    <a:solidFill>
                      <a:srgbClr val="3333FF"/>
                    </a:solidFill>
                    <a:latin typeface="方正粗黑宋简体" panose="02000000000000000000" pitchFamily="2" charset="-122"/>
                    <a:ea typeface="方正粗黑宋简体" panose="02000000000000000000" pitchFamily="2" charset="-122"/>
                  </a:rPr>
                  <a:t>只有在屏幕坐标系中具有相同</a:t>
                </a:r>
                <a14:m>
                  <m:oMath xmlns:m="http://schemas.openxmlformats.org/officeDocument/2006/math">
                    <m:d>
                      <m:dPr>
                        <m:ctrlPr>
                          <a:rPr lang="en-US" altLang="zh-CN" sz="2000" b="1" i="1">
                            <a:solidFill>
                              <a:srgbClr val="FF0000"/>
                            </a:solidFill>
                            <a:latin typeface="Cambria Math" panose="02040503050406030204" pitchFamily="18" charset="0"/>
                            <a:ea typeface="方正粗黑宋简体" panose="02000000000000000000" pitchFamily="2" charset="-122"/>
                          </a:rPr>
                        </m:ctrlPr>
                      </m:dPr>
                      <m:e>
                        <m:sSub>
                          <m:sSubPr>
                            <m:ctrlPr>
                              <a:rPr lang="en-US" altLang="zh-CN" sz="2000" b="1" i="1">
                                <a:solidFill>
                                  <a:srgbClr val="FF0000"/>
                                </a:solidFill>
                                <a:latin typeface="Cambria Math" panose="02040503050406030204" pitchFamily="18" charset="0"/>
                                <a:ea typeface="方正粗黑宋简体" panose="02000000000000000000" pitchFamily="2" charset="-122"/>
                              </a:rPr>
                            </m:ctrlPr>
                          </m:sSubPr>
                          <m:e>
                            <m:r>
                              <a:rPr lang="en-US" altLang="zh-CN" sz="2000" b="1" i="1">
                                <a:solidFill>
                                  <a:srgbClr val="FF0000"/>
                                </a:solidFill>
                                <a:latin typeface="Cambria Math" panose="02040503050406030204" pitchFamily="18" charset="0"/>
                                <a:ea typeface="方正粗黑宋简体" panose="02000000000000000000" pitchFamily="2" charset="-122"/>
                              </a:rPr>
                              <m:t>𝒙</m:t>
                            </m:r>
                          </m:e>
                          <m:sub>
                            <m:r>
                              <a:rPr lang="en-US" altLang="zh-CN" sz="2000" b="1" i="1" smtClean="0">
                                <a:solidFill>
                                  <a:srgbClr val="FF0000"/>
                                </a:solidFill>
                                <a:latin typeface="Cambria Math" panose="02040503050406030204" pitchFamily="18" charset="0"/>
                                <a:ea typeface="方正粗黑宋简体" panose="02000000000000000000" pitchFamily="2" charset="-122"/>
                              </a:rPr>
                              <m:t>𝒔</m:t>
                            </m:r>
                          </m:sub>
                        </m:sSub>
                        <m:r>
                          <a:rPr lang="en-US" altLang="zh-CN" sz="2000" b="1" i="1">
                            <a:solidFill>
                              <a:srgbClr val="FF0000"/>
                            </a:solidFill>
                            <a:latin typeface="Cambria Math" panose="02040503050406030204" pitchFamily="18" charset="0"/>
                            <a:ea typeface="方正粗黑宋简体" panose="02000000000000000000" pitchFamily="2" charset="-122"/>
                          </a:rPr>
                          <m:t>,</m:t>
                        </m:r>
                        <m:sSub>
                          <m:sSubPr>
                            <m:ctrlPr>
                              <a:rPr lang="en-US" altLang="zh-CN" sz="2000" b="1" i="1">
                                <a:solidFill>
                                  <a:srgbClr val="FF0000"/>
                                </a:solidFill>
                                <a:latin typeface="Cambria Math" panose="02040503050406030204" pitchFamily="18" charset="0"/>
                                <a:ea typeface="方正粗黑宋简体" panose="02000000000000000000" pitchFamily="2" charset="-122"/>
                              </a:rPr>
                            </m:ctrlPr>
                          </m:sSubPr>
                          <m:e>
                            <m:r>
                              <a:rPr lang="en-US" altLang="zh-CN" sz="2000" b="1" i="1">
                                <a:solidFill>
                                  <a:srgbClr val="FF0000"/>
                                </a:solidFill>
                                <a:latin typeface="Cambria Math" panose="02040503050406030204" pitchFamily="18" charset="0"/>
                                <a:ea typeface="方正粗黑宋简体" panose="02000000000000000000" pitchFamily="2" charset="-122"/>
                              </a:rPr>
                              <m:t>𝒚</m:t>
                            </m:r>
                          </m:e>
                          <m:sub>
                            <m:r>
                              <a:rPr lang="en-US" altLang="zh-CN" sz="2000" b="1" i="1" smtClean="0">
                                <a:solidFill>
                                  <a:srgbClr val="FF0000"/>
                                </a:solidFill>
                                <a:latin typeface="Cambria Math" panose="02040503050406030204" pitchFamily="18" charset="0"/>
                                <a:ea typeface="方正粗黑宋简体" panose="02000000000000000000" pitchFamily="2" charset="-122"/>
                              </a:rPr>
                              <m:t>𝒔</m:t>
                            </m:r>
                          </m:sub>
                        </m:sSub>
                        <m:r>
                          <a:rPr lang="en-US" altLang="zh-CN" sz="2000" b="1" i="1" smtClean="0">
                            <a:solidFill>
                              <a:srgbClr val="FF0000"/>
                            </a:solidFill>
                            <a:latin typeface="Cambria Math" panose="02040503050406030204" pitchFamily="18" charset="0"/>
                            <a:ea typeface="方正粗黑宋简体" panose="02000000000000000000" pitchFamily="2" charset="-122"/>
                          </a:rPr>
                          <m:t> </m:t>
                        </m:r>
                      </m:e>
                    </m:d>
                  </m:oMath>
                </a14:m>
                <a:r>
                  <a:rPr lang="zh-CN" altLang="en-US" sz="2000" b="1" dirty="0" smtClean="0">
                    <a:solidFill>
                      <a:srgbClr val="3333FF"/>
                    </a:solidFill>
                    <a:latin typeface="方正粗黑宋简体" panose="02000000000000000000" pitchFamily="2" charset="-122"/>
                    <a:ea typeface="方正粗黑宋简体" panose="02000000000000000000" pitchFamily="2" charset="-122"/>
                  </a:rPr>
                  <a:t>的</a:t>
                </a:r>
                <a:r>
                  <a:rPr lang="zh-CN" altLang="en-US" sz="2000" b="1" dirty="0">
                    <a:solidFill>
                      <a:srgbClr val="3333FF"/>
                    </a:solidFill>
                    <a:latin typeface="方正粗黑宋简体" panose="02000000000000000000" pitchFamily="2" charset="-122"/>
                    <a:ea typeface="方正粗黑宋简体" panose="02000000000000000000" pitchFamily="2" charset="-122"/>
                  </a:rPr>
                  <a:t>点才可能发生遮挡</a:t>
                </a:r>
                <a:r>
                  <a:rPr lang="zh-CN" altLang="en-US" dirty="0">
                    <a:solidFill>
                      <a:schemeClr val="tx1"/>
                    </a:solidFill>
                    <a:latin typeface="楷体_GB2312" pitchFamily="1" charset="-122"/>
                    <a:ea typeface="楷体_GB2312" pitchFamily="1" charset="-122"/>
                  </a:rPr>
                  <a:t>，</a:t>
                </a:r>
                <a:r>
                  <a:rPr lang="zh-CN" altLang="en-US" sz="2000" b="1" dirty="0">
                    <a:solidFill>
                      <a:srgbClr val="FF0000"/>
                    </a:solidFill>
                    <a:latin typeface="方正粗黑宋简体" panose="02000000000000000000" pitchFamily="2" charset="-122"/>
                    <a:ea typeface="方正粗黑宋简体" panose="02000000000000000000" pitchFamily="2" charset="-122"/>
                  </a:rPr>
                  <a:t>判别一个点是否位于另一个点的前面则可简化</a:t>
                </a:r>
                <a:r>
                  <a:rPr lang="zh-CN" altLang="en-US" sz="2000" b="1" dirty="0" smtClean="0">
                    <a:solidFill>
                      <a:srgbClr val="FF0000"/>
                    </a:solidFill>
                    <a:latin typeface="方正粗黑宋简体" panose="02000000000000000000" pitchFamily="2" charset="-122"/>
                    <a:ea typeface="方正粗黑宋简体" panose="02000000000000000000" pitchFamily="2" charset="-122"/>
                  </a:rPr>
                  <a:t>为 </a:t>
                </a:r>
                <a14:m>
                  <m:oMath xmlns:m="http://schemas.openxmlformats.org/officeDocument/2006/math">
                    <m:sSub>
                      <m:sSubPr>
                        <m:ctrlPr>
                          <a:rPr lang="en-US" altLang="zh-CN" sz="2000" b="1" i="1">
                            <a:solidFill>
                              <a:srgbClr val="FF0000"/>
                            </a:solidFill>
                            <a:latin typeface="Cambria Math" panose="02040503050406030204" pitchFamily="18" charset="0"/>
                            <a:ea typeface="方正粗黑宋简体" panose="02000000000000000000" pitchFamily="2" charset="-122"/>
                          </a:rPr>
                        </m:ctrlPr>
                      </m:sSubPr>
                      <m:e>
                        <m:r>
                          <a:rPr lang="en-US" altLang="zh-CN" sz="2000" b="1" i="1" smtClean="0">
                            <a:solidFill>
                              <a:srgbClr val="FF0000"/>
                            </a:solidFill>
                            <a:latin typeface="Cambria Math" panose="02040503050406030204" pitchFamily="18" charset="0"/>
                            <a:ea typeface="方正粗黑宋简体" panose="02000000000000000000" pitchFamily="2" charset="-122"/>
                          </a:rPr>
                          <m:t>𝒛</m:t>
                        </m:r>
                      </m:e>
                      <m:sub>
                        <m:r>
                          <a:rPr lang="en-US" altLang="zh-CN" sz="2000" b="1" i="1">
                            <a:solidFill>
                              <a:srgbClr val="FF0000"/>
                            </a:solidFill>
                            <a:latin typeface="Cambria Math" panose="02040503050406030204" pitchFamily="18" charset="0"/>
                            <a:ea typeface="方正粗黑宋简体" panose="02000000000000000000" pitchFamily="2" charset="-122"/>
                          </a:rPr>
                          <m:t>𝒔</m:t>
                        </m:r>
                      </m:sub>
                    </m:sSub>
                  </m:oMath>
                </a14:m>
                <a:r>
                  <a:rPr lang="en-US" altLang="zh-CN" sz="2000" b="1" dirty="0" smtClean="0">
                    <a:solidFill>
                      <a:srgbClr val="FF0000"/>
                    </a:solidFill>
                    <a:latin typeface="方正粗黑宋简体" panose="02000000000000000000" pitchFamily="2" charset="-122"/>
                    <a:ea typeface="方正粗黑宋简体" panose="02000000000000000000" pitchFamily="2" charset="-122"/>
                  </a:rPr>
                  <a:t> </a:t>
                </a:r>
                <a:r>
                  <a:rPr lang="zh-CN" altLang="en-US" sz="2000" b="1" dirty="0" smtClean="0">
                    <a:solidFill>
                      <a:srgbClr val="FF0000"/>
                    </a:solidFill>
                    <a:latin typeface="方正粗黑宋简体" panose="02000000000000000000" pitchFamily="2" charset="-122"/>
                    <a:ea typeface="方正粗黑宋简体" panose="02000000000000000000" pitchFamily="2" charset="-122"/>
                  </a:rPr>
                  <a:t>值</a:t>
                </a:r>
                <a:r>
                  <a:rPr lang="zh-CN" altLang="en-US" sz="2000" b="1" dirty="0">
                    <a:solidFill>
                      <a:srgbClr val="FF0000"/>
                    </a:solidFill>
                    <a:latin typeface="方正粗黑宋简体" panose="02000000000000000000" pitchFamily="2" charset="-122"/>
                    <a:ea typeface="方正粗黑宋简体" panose="02000000000000000000" pitchFamily="2" charset="-122"/>
                  </a:rPr>
                  <a:t>的比较</a:t>
                </a:r>
                <a:r>
                  <a:rPr lang="zh-CN" altLang="en-US" dirty="0">
                    <a:solidFill>
                      <a:schemeClr val="tx1"/>
                    </a:solidFill>
                    <a:latin typeface="楷体_GB2312" pitchFamily="1" charset="-122"/>
                    <a:ea typeface="楷体_GB2312" pitchFamily="1" charset="-122"/>
                  </a:rPr>
                  <a:t>。</a:t>
                </a:r>
              </a:p>
            </p:txBody>
          </p:sp>
        </mc:Choice>
        <mc:Fallback xmlns="">
          <p:sp>
            <p:nvSpPr>
              <p:cNvPr id="99331" name="Text Box 4"/>
              <p:cNvSpPr txBox="1">
                <a:spLocks noRot="1" noChangeAspect="1" noMove="1" noResize="1" noEditPoints="1" noAdjustHandles="1" noChangeArrowheads="1" noChangeShapeType="1" noTextEdit="1"/>
              </p:cNvSpPr>
              <p:nvPr/>
            </p:nvSpPr>
            <p:spPr bwMode="auto">
              <a:xfrm>
                <a:off x="522288" y="323850"/>
                <a:ext cx="8189912" cy="1865126"/>
              </a:xfrm>
              <a:prstGeom prst="rect">
                <a:avLst/>
              </a:prstGeom>
              <a:blipFill>
                <a:blip r:embed="rId4"/>
                <a:stretch>
                  <a:fillRect l="-1191" t="-1961" b="-326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99332" name="Object 6"/>
          <p:cNvGraphicFramePr>
            <a:graphicFrameLocks noChangeAspect="1"/>
          </p:cNvGraphicFramePr>
          <p:nvPr/>
        </p:nvGraphicFramePr>
        <p:xfrm>
          <a:off x="117475" y="2506663"/>
          <a:ext cx="4410075" cy="2047875"/>
        </p:xfrm>
        <a:graphic>
          <a:graphicData uri="http://schemas.openxmlformats.org/presentationml/2006/ole">
            <mc:AlternateContent xmlns:mc="http://schemas.openxmlformats.org/markup-compatibility/2006">
              <mc:Choice xmlns:v="urn:schemas-microsoft-com:vml" Requires="v">
                <p:oleObj spid="_x0000_s99389" r:id="rId5" imgW="5387717" imgH="2507823" progId="Visio.Drawing.11">
                  <p:embed/>
                </p:oleObj>
              </mc:Choice>
              <mc:Fallback>
                <p:oleObj r:id="rId5" imgW="5387717" imgH="2507823" progId="Visio.Drawing.11">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475" y="2506663"/>
                        <a:ext cx="4410075" cy="204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33" name="Object 5"/>
          <p:cNvGraphicFramePr>
            <a:graphicFrameLocks noChangeAspect="1"/>
          </p:cNvGraphicFramePr>
          <p:nvPr/>
        </p:nvGraphicFramePr>
        <p:xfrm>
          <a:off x="4616450" y="2528888"/>
          <a:ext cx="4257675" cy="1979612"/>
        </p:xfrm>
        <a:graphic>
          <a:graphicData uri="http://schemas.openxmlformats.org/presentationml/2006/ole">
            <mc:AlternateContent xmlns:mc="http://schemas.openxmlformats.org/markup-compatibility/2006">
              <mc:Choice xmlns:v="urn:schemas-microsoft-com:vml" Requires="v">
                <p:oleObj spid="_x0000_s99390" r:id="rId7" imgW="5387721" imgH="2507742" progId="Visio.Drawing.11">
                  <p:embed/>
                </p:oleObj>
              </mc:Choice>
              <mc:Fallback>
                <p:oleObj r:id="rId7" imgW="5387721" imgH="2507742" progId="Visio.Drawing.11">
                  <p:embed/>
                  <p:pic>
                    <p:nvPicPr>
                      <p:cNvPr id="0" name="Picture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16450" y="2528888"/>
                        <a:ext cx="4257675" cy="1979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336" name="Rectangle 9"/>
          <p:cNvSpPr>
            <a:spLocks noChangeArrowheads="1"/>
          </p:cNvSpPr>
          <p:nvPr/>
        </p:nvSpPr>
        <p:spPr bwMode="auto">
          <a:xfrm>
            <a:off x="1422400" y="5138738"/>
            <a:ext cx="641985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67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a:t>
            </a:r>
            <a:r>
              <a:rPr lang="en-US" altLang="zh-CN" sz="2000">
                <a:solidFill>
                  <a:schemeClr val="tx1"/>
                </a:solidFill>
                <a:latin typeface="楷体_GB2312" pitchFamily="1" charset="-122"/>
                <a:ea typeface="楷体_GB2312" pitchFamily="1" charset="-122"/>
              </a:rPr>
              <a:t>a</a:t>
            </a:r>
            <a:r>
              <a:rPr lang="zh-CN" altLang="en-US" sz="2000">
                <a:solidFill>
                  <a:schemeClr val="tx1"/>
                </a:solidFill>
                <a:latin typeface="楷体_GB2312" pitchFamily="1" charset="-122"/>
                <a:ea typeface="楷体_GB2312" pitchFamily="1" charset="-122"/>
              </a:rPr>
              <a:t>）观察坐标系                 （</a:t>
            </a:r>
            <a:r>
              <a:rPr lang="en-US" altLang="zh-CN" sz="2000">
                <a:solidFill>
                  <a:schemeClr val="tx1"/>
                </a:solidFill>
                <a:latin typeface="楷体_GB2312" pitchFamily="1" charset="-122"/>
                <a:ea typeface="楷体_GB2312" pitchFamily="1" charset="-122"/>
              </a:rPr>
              <a:t>b</a:t>
            </a:r>
            <a:r>
              <a:rPr lang="zh-CN" altLang="en-US" sz="2000">
                <a:solidFill>
                  <a:schemeClr val="tx1"/>
                </a:solidFill>
                <a:latin typeface="楷体_GB2312" pitchFamily="1" charset="-122"/>
                <a:ea typeface="楷体_GB2312" pitchFamily="1" charset="-122"/>
              </a:rPr>
              <a:t>）屏幕坐标系</a:t>
            </a:r>
          </a:p>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9-68 </a:t>
            </a:r>
            <a:r>
              <a:rPr lang="zh-CN" altLang="en-US" sz="2000">
                <a:solidFill>
                  <a:schemeClr val="tx1"/>
                </a:solidFill>
                <a:latin typeface="楷体_GB2312" pitchFamily="1" charset="-122"/>
                <a:ea typeface="楷体_GB2312" pitchFamily="1" charset="-122"/>
              </a:rPr>
              <a:t>立方体视线的变换</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9130DD2C-1761-402A-AECB-65E085AC753D}" type="slidenum">
              <a:rPr lang="en-US" altLang="zh-CN" sz="1200">
                <a:solidFill>
                  <a:schemeClr val="tx1"/>
                </a:solidFill>
                <a:latin typeface="Garamond" pitchFamily="18" charset="0"/>
              </a:rPr>
              <a:pPr algn="r" eaLnBrk="1" hangingPunct="1">
                <a:spcBef>
                  <a:spcPct val="0"/>
                </a:spcBef>
              </a:pPr>
              <a:t>96</a:t>
            </a:fld>
            <a:endParaRPr lang="en-US" altLang="zh-CN" sz="1200">
              <a:solidFill>
                <a:schemeClr val="tx1"/>
              </a:solidFill>
              <a:latin typeface="Garamond" pitchFamily="18" charset="0"/>
            </a:endParaRPr>
          </a:p>
        </p:txBody>
      </p:sp>
      <p:sp>
        <p:nvSpPr>
          <p:cNvPr id="100355" name="Text Box 4"/>
          <p:cNvSpPr txBox="1">
            <a:spLocks noChangeArrowheads="1"/>
          </p:cNvSpPr>
          <p:nvPr/>
        </p:nvSpPr>
        <p:spPr bwMode="auto">
          <a:xfrm>
            <a:off x="476250" y="233363"/>
            <a:ext cx="8281988"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20000"/>
              </a:lnSpc>
              <a:buFont typeface="Arial" pitchFamily="34" charset="0"/>
              <a:buBlip>
                <a:blip r:embed="rId2"/>
              </a:buBlip>
            </a:pPr>
            <a:r>
              <a:rPr lang="zh-CN" altLang="en-US" dirty="0">
                <a:solidFill>
                  <a:schemeClr val="tx1"/>
                </a:solidFill>
                <a:latin typeface="楷体_GB2312" pitchFamily="1" charset="-122"/>
                <a:ea typeface="楷体_GB2312" pitchFamily="1" charset="-122"/>
              </a:rPr>
              <a:t>图</a:t>
            </a:r>
            <a:r>
              <a:rPr lang="en-US" altLang="zh-CN" dirty="0">
                <a:solidFill>
                  <a:schemeClr val="tx1"/>
                </a:solidFill>
                <a:latin typeface="楷体_GB2312" pitchFamily="1" charset="-122"/>
                <a:ea typeface="楷体_GB2312" pitchFamily="1" charset="-122"/>
              </a:rPr>
              <a:t>9-69</a:t>
            </a:r>
            <a:r>
              <a:rPr lang="zh-CN" altLang="en-US" dirty="0">
                <a:solidFill>
                  <a:schemeClr val="tx1"/>
                </a:solidFill>
                <a:latin typeface="楷体_GB2312" pitchFamily="1" charset="-122"/>
                <a:ea typeface="楷体_GB2312" pitchFamily="1" charset="-122"/>
              </a:rPr>
              <a:t>中，</a:t>
            </a:r>
            <a:r>
              <a:rPr lang="zh-CN" altLang="en-US" sz="2000" b="1" dirty="0">
                <a:solidFill>
                  <a:srgbClr val="FF0000"/>
                </a:solidFill>
                <a:latin typeface="方正粗黑宋简体" panose="02000000000000000000" pitchFamily="2" charset="-122"/>
                <a:ea typeface="方正粗黑宋简体" panose="02000000000000000000" pitchFamily="2" charset="-122"/>
              </a:rPr>
              <a:t>红、绿、蓝三角形的深度相互交叉</a:t>
            </a:r>
            <a:r>
              <a:rPr lang="zh-CN" altLang="en-US" dirty="0">
                <a:solidFill>
                  <a:schemeClr val="tx1"/>
                </a:solidFill>
                <a:latin typeface="楷体_GB2312" pitchFamily="1" charset="-122"/>
                <a:ea typeface="楷体_GB2312" pitchFamily="1" charset="-122"/>
              </a:rPr>
              <a:t>，无法区分前后顺序。使用</a:t>
            </a:r>
            <a:r>
              <a:rPr lang="en-US" altLang="zh-CN" dirty="0">
                <a:solidFill>
                  <a:schemeClr val="tx1"/>
                </a:solidFill>
                <a:latin typeface="楷体_GB2312" pitchFamily="1" charset="-122"/>
                <a:ea typeface="楷体_GB2312" pitchFamily="1" charset="-122"/>
              </a:rPr>
              <a:t>z-buffer</a:t>
            </a:r>
            <a:r>
              <a:rPr lang="zh-CN" altLang="en-US" dirty="0">
                <a:solidFill>
                  <a:schemeClr val="tx1"/>
                </a:solidFill>
                <a:latin typeface="楷体_GB2312" pitchFamily="1" charset="-122"/>
                <a:ea typeface="楷体_GB2312" pitchFamily="1" charset="-122"/>
              </a:rPr>
              <a:t>算法根据三角形上每一点的深度值填充颜色，则可以很方便地消隐 。</a:t>
            </a:r>
          </a:p>
        </p:txBody>
      </p:sp>
      <p:pic>
        <p:nvPicPr>
          <p:cNvPr id="10035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7088" y="1763713"/>
            <a:ext cx="517525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9" name="Rectangle 14"/>
          <p:cNvSpPr>
            <a:spLocks noChangeArrowheads="1"/>
          </p:cNvSpPr>
          <p:nvPr/>
        </p:nvSpPr>
        <p:spPr bwMode="auto">
          <a:xfrm>
            <a:off x="2997200" y="5768975"/>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a:solidFill>
                  <a:schemeClr val="tx1"/>
                </a:solidFill>
                <a:latin typeface="楷体_GB2312" pitchFamily="1" charset="-122"/>
                <a:ea typeface="楷体_GB2312" pitchFamily="1" charset="-122"/>
              </a:rPr>
              <a:t>图</a:t>
            </a:r>
            <a:r>
              <a:rPr lang="en-US" altLang="zh-CN">
                <a:solidFill>
                  <a:schemeClr val="tx1"/>
                </a:solidFill>
                <a:latin typeface="楷体_GB2312" pitchFamily="1" charset="-122"/>
                <a:ea typeface="楷体_GB2312" pitchFamily="1" charset="-122"/>
              </a:rPr>
              <a:t>9-69 </a:t>
            </a:r>
            <a:r>
              <a:rPr lang="zh-CN" altLang="en-US">
                <a:solidFill>
                  <a:schemeClr val="tx1"/>
                </a:solidFill>
                <a:latin typeface="楷体_GB2312" pitchFamily="1" charset="-122"/>
                <a:ea typeface="楷体_GB2312" pitchFamily="1" charset="-122"/>
              </a:rPr>
              <a:t>交叉三角形消隐</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18354398-CF99-42FB-A8CA-F5A804214E43}" type="slidenum">
              <a:rPr lang="en-US" altLang="zh-CN" sz="1200">
                <a:solidFill>
                  <a:schemeClr val="tx1"/>
                </a:solidFill>
                <a:latin typeface="Garamond" pitchFamily="18" charset="0"/>
              </a:rPr>
              <a:pPr algn="r" eaLnBrk="1" hangingPunct="1">
                <a:spcBef>
                  <a:spcPct val="0"/>
                </a:spcBef>
              </a:pPr>
              <a:t>97</a:t>
            </a:fld>
            <a:endParaRPr lang="en-US" altLang="zh-CN" sz="1200">
              <a:solidFill>
                <a:schemeClr val="tx1"/>
              </a:solidFill>
              <a:latin typeface="Garamond" pitchFamily="18" charset="0"/>
            </a:endParaRPr>
          </a:p>
        </p:txBody>
      </p:sp>
      <p:sp>
        <p:nvSpPr>
          <p:cNvPr id="101379" name="Text Box 4"/>
          <p:cNvSpPr txBox="1">
            <a:spLocks noChangeArrowheads="1"/>
          </p:cNvSpPr>
          <p:nvPr/>
        </p:nvSpPr>
        <p:spPr bwMode="auto">
          <a:xfrm>
            <a:off x="611188" y="233363"/>
            <a:ext cx="8191500" cy="2751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20000"/>
              </a:lnSpc>
              <a:buFont typeface="Arial" pitchFamily="34" charset="0"/>
              <a:buBlip>
                <a:blip r:embed="rId2"/>
              </a:buBlip>
            </a:pPr>
            <a:r>
              <a:rPr lang="zh-CN" altLang="en-US" dirty="0">
                <a:solidFill>
                  <a:schemeClr val="tx1"/>
                </a:solidFill>
                <a:latin typeface="楷体_GB2312" pitchFamily="1" charset="-122"/>
                <a:ea typeface="楷体_GB2312" pitchFamily="1" charset="-122"/>
              </a:rPr>
              <a:t>一些特殊的</a:t>
            </a:r>
            <a:r>
              <a:rPr lang="zh-CN" altLang="en-US" sz="2000" b="1" dirty="0">
                <a:solidFill>
                  <a:srgbClr val="FF0000"/>
                </a:solidFill>
                <a:latin typeface="方正粗黑宋简体" panose="02000000000000000000" pitchFamily="2" charset="-122"/>
                <a:ea typeface="方正粗黑宋简体" panose="02000000000000000000" pitchFamily="2" charset="-122"/>
              </a:rPr>
              <a:t>凹多面体</a:t>
            </a:r>
            <a:r>
              <a:rPr lang="zh-CN" altLang="en-US" dirty="0">
                <a:solidFill>
                  <a:schemeClr val="tx1"/>
                </a:solidFill>
                <a:latin typeface="楷体_GB2312" pitchFamily="1" charset="-122"/>
                <a:ea typeface="楷体_GB2312" pitchFamily="1" charset="-122"/>
              </a:rPr>
              <a:t>如圆环，绘制线框模型时，使用背面剔除算法并不能完全消除隐藏线。当环面垂直于于投影面时，消隐结果存在错误，如图</a:t>
            </a:r>
            <a:r>
              <a:rPr lang="en-US" altLang="zh-CN" dirty="0">
                <a:solidFill>
                  <a:schemeClr val="tx1"/>
                </a:solidFill>
                <a:latin typeface="楷体_GB2312" pitchFamily="1" charset="-122"/>
                <a:ea typeface="楷体_GB2312" pitchFamily="1" charset="-122"/>
              </a:rPr>
              <a:t>9-70</a:t>
            </a:r>
            <a:r>
              <a:rPr lang="zh-CN" altLang="en-US" dirty="0">
                <a:solidFill>
                  <a:schemeClr val="tx1"/>
                </a:solidFill>
                <a:latin typeface="楷体_GB2312" pitchFamily="1" charset="-122"/>
                <a:ea typeface="楷体_GB2312" pitchFamily="1" charset="-122"/>
              </a:rPr>
              <a:t>所示。原因是保留了内环面的前面和外环面的前面。圆环线框模型的消隐需要使用专门针对凹多边形设计的算法实现。但如</a:t>
            </a:r>
            <a:r>
              <a:rPr lang="zh-CN" altLang="en-US" sz="2000" b="1" dirty="0">
                <a:solidFill>
                  <a:srgbClr val="FF0000"/>
                </a:solidFill>
                <a:latin typeface="方正粗黑宋简体" panose="02000000000000000000" pitchFamily="2" charset="-122"/>
                <a:ea typeface="方正粗黑宋简体" panose="02000000000000000000" pitchFamily="2" charset="-122"/>
              </a:rPr>
              <a:t>使用</a:t>
            </a:r>
            <a:r>
              <a:rPr lang="en-US" altLang="zh-CN" sz="2000" b="1" dirty="0">
                <a:solidFill>
                  <a:srgbClr val="FF0000"/>
                </a:solidFill>
                <a:latin typeface="方正粗黑宋简体" panose="02000000000000000000" pitchFamily="2" charset="-122"/>
                <a:ea typeface="方正粗黑宋简体" panose="02000000000000000000" pitchFamily="2" charset="-122"/>
              </a:rPr>
              <a:t>z-buffer</a:t>
            </a:r>
            <a:r>
              <a:rPr lang="zh-CN" altLang="en-US" sz="2000" b="1" dirty="0">
                <a:solidFill>
                  <a:srgbClr val="FF0000"/>
                </a:solidFill>
                <a:latin typeface="方正粗黑宋简体" panose="02000000000000000000" pitchFamily="2" charset="-122"/>
                <a:ea typeface="方正粗黑宋简体" panose="02000000000000000000" pitchFamily="2" charset="-122"/>
              </a:rPr>
              <a:t>算法绘制圆环的表面模型，则可以得到正确结果</a:t>
            </a:r>
            <a:r>
              <a:rPr lang="zh-CN" altLang="en-US" dirty="0">
                <a:solidFill>
                  <a:schemeClr val="tx1"/>
                </a:solidFill>
                <a:latin typeface="楷体_GB2312" pitchFamily="1" charset="-122"/>
                <a:ea typeface="楷体_GB2312" pitchFamily="1" charset="-122"/>
              </a:rPr>
              <a:t>，如图</a:t>
            </a:r>
            <a:r>
              <a:rPr lang="en-US" altLang="zh-CN" dirty="0">
                <a:solidFill>
                  <a:schemeClr val="tx1"/>
                </a:solidFill>
                <a:latin typeface="楷体_GB2312" pitchFamily="1" charset="-122"/>
                <a:ea typeface="楷体_GB2312" pitchFamily="1" charset="-122"/>
              </a:rPr>
              <a:t>9-71</a:t>
            </a:r>
            <a:r>
              <a:rPr lang="zh-CN" altLang="en-US" dirty="0">
                <a:solidFill>
                  <a:schemeClr val="tx1"/>
                </a:solidFill>
                <a:latin typeface="楷体_GB2312" pitchFamily="1" charset="-122"/>
                <a:ea typeface="楷体_GB2312" pitchFamily="1" charset="-122"/>
              </a:rPr>
              <a:t>所示，</a:t>
            </a:r>
          </a:p>
        </p:txBody>
      </p:sp>
      <p:pic>
        <p:nvPicPr>
          <p:cNvPr id="101380"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5763" y="3162300"/>
            <a:ext cx="4006850" cy="292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1"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52975" y="3159125"/>
            <a:ext cx="4049713"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83" name="Rectangle 8"/>
          <p:cNvSpPr>
            <a:spLocks noChangeArrowheads="1"/>
          </p:cNvSpPr>
          <p:nvPr/>
        </p:nvSpPr>
        <p:spPr bwMode="auto">
          <a:xfrm>
            <a:off x="4464050" y="3179763"/>
            <a:ext cx="215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1000">
                <a:solidFill>
                  <a:schemeClr val="tx1"/>
                </a:solidFill>
                <a:latin typeface="Times New Roman" pitchFamily="18" charset="0"/>
                <a:cs typeface="Times New Roman" pitchFamily="18" charset="0"/>
              </a:rPr>
              <a:t> </a:t>
            </a:r>
            <a:endParaRPr lang="zh-CN" altLang="en-US">
              <a:solidFill>
                <a:schemeClr val="tx1"/>
              </a:solidFill>
            </a:endParaRPr>
          </a:p>
        </p:txBody>
      </p:sp>
      <p:sp>
        <p:nvSpPr>
          <p:cNvPr id="101384" name="Rectangle 9"/>
          <p:cNvSpPr>
            <a:spLocks noChangeArrowheads="1"/>
          </p:cNvSpPr>
          <p:nvPr/>
        </p:nvSpPr>
        <p:spPr bwMode="auto">
          <a:xfrm>
            <a:off x="522288" y="6308725"/>
            <a:ext cx="3554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9-70 </a:t>
            </a:r>
            <a:r>
              <a:rPr lang="zh-CN" altLang="en-US" sz="2000">
                <a:solidFill>
                  <a:schemeClr val="tx1"/>
                </a:solidFill>
                <a:latin typeface="楷体_GB2312" pitchFamily="1" charset="-122"/>
                <a:ea typeface="楷体_GB2312" pitchFamily="1" charset="-122"/>
                <a:hlinkClick r:id="rId5" action="ppaction://hlinkfile"/>
              </a:rPr>
              <a:t>圆环线框模型消隐</a:t>
            </a:r>
            <a:endParaRPr lang="zh-CN" altLang="en-US" sz="2000">
              <a:solidFill>
                <a:schemeClr val="tx1"/>
              </a:solidFill>
              <a:latin typeface="楷体_GB2312" pitchFamily="1" charset="-122"/>
              <a:ea typeface="楷体_GB2312" pitchFamily="1" charset="-122"/>
            </a:endParaRPr>
          </a:p>
        </p:txBody>
      </p:sp>
      <p:sp>
        <p:nvSpPr>
          <p:cNvPr id="101385" name="Rectangle 10"/>
          <p:cNvSpPr>
            <a:spLocks noChangeArrowheads="1"/>
          </p:cNvSpPr>
          <p:nvPr/>
        </p:nvSpPr>
        <p:spPr bwMode="auto">
          <a:xfrm>
            <a:off x="5067300" y="6264275"/>
            <a:ext cx="3556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9-71 </a:t>
            </a:r>
            <a:r>
              <a:rPr lang="zh-CN" altLang="en-US" sz="2000">
                <a:solidFill>
                  <a:schemeClr val="tx1"/>
                </a:solidFill>
                <a:latin typeface="楷体_GB2312" pitchFamily="1" charset="-122"/>
                <a:ea typeface="楷体_GB2312" pitchFamily="1" charset="-122"/>
                <a:hlinkClick r:id="rId6" action="ppaction://hlinkfile"/>
              </a:rPr>
              <a:t>圆环表面模型消隐</a:t>
            </a:r>
            <a:endParaRPr lang="zh-CN" altLang="en-US" sz="2000">
              <a:solidFill>
                <a:schemeClr val="tx1"/>
              </a:solidFill>
              <a:latin typeface="楷体_GB2312" pitchFamily="1" charset="-122"/>
              <a:ea typeface="楷体_GB2312" pitchFamily="1" charset="-122"/>
            </a:endParaRPr>
          </a:p>
        </p:txBody>
      </p:sp>
      <p:sp>
        <p:nvSpPr>
          <p:cNvPr id="101386" name="Rectangle 11"/>
          <p:cNvSpPr>
            <a:spLocks noChangeArrowheads="1"/>
          </p:cNvSpPr>
          <p:nvPr/>
        </p:nvSpPr>
        <p:spPr bwMode="auto">
          <a:xfrm>
            <a:off x="4076700" y="6264275"/>
            <a:ext cx="1439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hlinkClick r:id="rId7" action="ppaction://hlinkfile"/>
              </a:rPr>
              <a:t>消隐</a:t>
            </a:r>
            <a:endParaRPr lang="zh-CN" altLang="en-US" sz="2000">
              <a:solidFill>
                <a:schemeClr val="tx1"/>
              </a:solidFill>
              <a:latin typeface="楷体_GB2312" pitchFamily="1" charset="-122"/>
              <a:ea typeface="楷体_GB2312" pitchFamily="1"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51B7A650-3BAA-4C9A-A7A5-74DFC304C27E}" type="slidenum">
              <a:rPr lang="en-US" altLang="zh-CN" sz="1200">
                <a:solidFill>
                  <a:schemeClr val="tx1"/>
                </a:solidFill>
                <a:latin typeface="Garamond" pitchFamily="18" charset="0"/>
              </a:rPr>
              <a:pPr algn="r" eaLnBrk="1" hangingPunct="1">
                <a:spcBef>
                  <a:spcPct val="0"/>
                </a:spcBef>
              </a:pPr>
              <a:t>98</a:t>
            </a:fld>
            <a:endParaRPr lang="en-US" altLang="zh-CN" sz="1200">
              <a:solidFill>
                <a:schemeClr val="tx1"/>
              </a:solidFill>
              <a:latin typeface="Garamond" pitchFamily="18" charset="0"/>
            </a:endParaRPr>
          </a:p>
        </p:txBody>
      </p:sp>
      <p:sp>
        <p:nvSpPr>
          <p:cNvPr id="102403" name="Text Box 4"/>
          <p:cNvSpPr txBox="1">
            <a:spLocks noChangeArrowheads="1"/>
          </p:cNvSpPr>
          <p:nvPr/>
        </p:nvSpPr>
        <p:spPr bwMode="auto">
          <a:xfrm>
            <a:off x="792163" y="233363"/>
            <a:ext cx="45005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sz="3200" b="1">
                <a:solidFill>
                  <a:schemeClr val="tx1"/>
                </a:solidFill>
                <a:latin typeface="楷体_GB2312" pitchFamily="1" charset="-122"/>
                <a:ea typeface="楷体_GB2312" pitchFamily="1" charset="-122"/>
              </a:rPr>
              <a:t>9.4.2 </a:t>
            </a:r>
            <a:r>
              <a:rPr lang="zh-CN" altLang="en-US" sz="3200" b="1">
                <a:solidFill>
                  <a:schemeClr val="tx1"/>
                </a:solidFill>
                <a:latin typeface="楷体_GB2312" pitchFamily="1" charset="-122"/>
                <a:ea typeface="楷体_GB2312" pitchFamily="1" charset="-122"/>
              </a:rPr>
              <a:t>深度排序算法</a:t>
            </a:r>
            <a:r>
              <a:rPr lang="zh-CN" altLang="en-US" sz="3200" b="1">
                <a:solidFill>
                  <a:schemeClr val="tx1"/>
                </a:solidFill>
              </a:rPr>
              <a:t> </a:t>
            </a:r>
          </a:p>
        </p:txBody>
      </p:sp>
      <p:sp>
        <p:nvSpPr>
          <p:cNvPr id="102404" name="Text Box 5"/>
          <p:cNvSpPr txBox="1">
            <a:spLocks noChangeArrowheads="1"/>
          </p:cNvSpPr>
          <p:nvPr/>
        </p:nvSpPr>
        <p:spPr bwMode="auto">
          <a:xfrm>
            <a:off x="611188" y="998538"/>
            <a:ext cx="7966075"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30000"/>
              </a:lnSpc>
            </a:pPr>
            <a:r>
              <a:rPr lang="zh-CN" altLang="en-US" dirty="0">
                <a:solidFill>
                  <a:schemeClr val="tx1"/>
                </a:solidFill>
                <a:latin typeface="楷体_GB2312" pitchFamily="1" charset="-122"/>
                <a:ea typeface="楷体_GB2312" pitchFamily="1" charset="-122"/>
              </a:rPr>
              <a:t>    深度排序算法是同时运用</a:t>
            </a:r>
            <a:r>
              <a:rPr lang="zh-CN" altLang="en-US" sz="2000" b="1" dirty="0">
                <a:solidFill>
                  <a:srgbClr val="FF0000"/>
                </a:solidFill>
                <a:latin typeface="方正粗黑宋简体" panose="02000000000000000000" pitchFamily="2" charset="-122"/>
                <a:ea typeface="方正粗黑宋简体" panose="02000000000000000000" pitchFamily="2" charset="-122"/>
              </a:rPr>
              <a:t>物体空间和图像空间</a:t>
            </a:r>
            <a:r>
              <a:rPr lang="zh-CN" altLang="en-US" dirty="0">
                <a:solidFill>
                  <a:schemeClr val="tx1"/>
                </a:solidFill>
                <a:latin typeface="楷体_GB2312" pitchFamily="1" charset="-122"/>
                <a:ea typeface="楷体_GB2312" pitchFamily="1" charset="-122"/>
              </a:rPr>
              <a:t>的消隐算法。</a:t>
            </a:r>
            <a:r>
              <a:rPr lang="zh-CN" altLang="en-US" sz="2000" b="1" dirty="0">
                <a:solidFill>
                  <a:srgbClr val="FF0000"/>
                </a:solidFill>
                <a:latin typeface="方正粗黑宋简体" panose="02000000000000000000" pitchFamily="2" charset="-122"/>
                <a:ea typeface="方正粗黑宋简体" panose="02000000000000000000" pitchFamily="2" charset="-122"/>
              </a:rPr>
              <a:t>在物体空间中将表面按</a:t>
            </a:r>
            <a:r>
              <a:rPr lang="zh-CN" altLang="en-US" sz="2000" b="1" dirty="0">
                <a:solidFill>
                  <a:srgbClr val="FF0000"/>
                </a:solidFill>
                <a:latin typeface="方正粗黑宋简体" panose="02000000000000000000" pitchFamily="2" charset="-122"/>
                <a:ea typeface="方正粗黑宋简体" panose="02000000000000000000" pitchFamily="2" charset="-122"/>
              </a:rPr>
              <a:t>深度优先级排序</a:t>
            </a:r>
            <a:r>
              <a:rPr lang="zh-CN" altLang="en-US" dirty="0">
                <a:solidFill>
                  <a:schemeClr val="tx1"/>
                </a:solidFill>
                <a:latin typeface="楷体_GB2312" pitchFamily="1" charset="-122"/>
                <a:ea typeface="楷体_GB2312" pitchFamily="1" charset="-122"/>
              </a:rPr>
              <a:t>，然后在</a:t>
            </a:r>
            <a:r>
              <a:rPr lang="zh-CN" altLang="en-US" sz="2000" b="1" dirty="0">
                <a:solidFill>
                  <a:srgbClr val="FF0000"/>
                </a:solidFill>
                <a:latin typeface="方正粗黑宋简体" panose="02000000000000000000" pitchFamily="2" charset="-122"/>
                <a:ea typeface="方正粗黑宋简体" panose="02000000000000000000" pitchFamily="2" charset="-122"/>
              </a:rPr>
              <a:t>图像空间中，由深度最大的表面开始</a:t>
            </a:r>
            <a:r>
              <a:rPr lang="zh-CN" altLang="en-US" dirty="0">
                <a:solidFill>
                  <a:schemeClr val="tx1"/>
                </a:solidFill>
                <a:latin typeface="楷体_GB2312" pitchFamily="1" charset="-122"/>
                <a:ea typeface="楷体_GB2312" pitchFamily="1" charset="-122"/>
              </a:rPr>
              <a:t>，依次</a:t>
            </a:r>
            <a:r>
              <a:rPr lang="zh-CN" altLang="en-US" sz="2000" b="1" dirty="0">
                <a:solidFill>
                  <a:srgbClr val="FF0000"/>
                </a:solidFill>
                <a:latin typeface="方正粗黑宋简体" panose="02000000000000000000" pitchFamily="2" charset="-122"/>
                <a:ea typeface="方正粗黑宋简体" panose="02000000000000000000" pitchFamily="2" charset="-122"/>
              </a:rPr>
              <a:t>绘制各个表面</a:t>
            </a:r>
            <a:r>
              <a:rPr lang="zh-CN" altLang="en-US" dirty="0">
                <a:solidFill>
                  <a:schemeClr val="tx1"/>
                </a:solidFill>
                <a:latin typeface="楷体_GB2312" pitchFamily="1" charset="-122"/>
                <a:ea typeface="楷体_GB2312" pitchFamily="1" charset="-122"/>
              </a:rPr>
              <a:t>。这种消隐算法通常被称为</a:t>
            </a:r>
            <a:r>
              <a:rPr lang="zh-CN" altLang="en-US" sz="2000" b="1" dirty="0">
                <a:solidFill>
                  <a:srgbClr val="3333FF"/>
                </a:solidFill>
                <a:latin typeface="方正粗黑宋简体" panose="02000000000000000000" pitchFamily="2" charset="-122"/>
                <a:ea typeface="方正粗黑宋简体" panose="02000000000000000000" pitchFamily="2" charset="-122"/>
              </a:rPr>
              <a:t>画家算法</a:t>
            </a:r>
            <a:r>
              <a:rPr lang="zh-CN" altLang="en-US" dirty="0">
                <a:solidFill>
                  <a:schemeClr val="tx1"/>
                </a:solidFill>
                <a:latin typeface="楷体_GB2312" pitchFamily="1" charset="-122"/>
                <a:ea typeface="楷体_GB2312" pitchFamily="1" charset="-122"/>
              </a:rPr>
              <a:t>。</a:t>
            </a:r>
          </a:p>
          <a:p>
            <a:pPr algn="l" eaLnBrk="1" hangingPunct="1">
              <a:lnSpc>
                <a:spcPct val="130000"/>
              </a:lnSpc>
            </a:pPr>
            <a:r>
              <a:rPr lang="zh-CN" altLang="en-US" dirty="0">
                <a:solidFill>
                  <a:schemeClr val="tx1"/>
                </a:solidFill>
                <a:latin typeface="楷体_GB2312" pitchFamily="1" charset="-122"/>
                <a:ea typeface="楷体_GB2312" pitchFamily="1" charset="-122"/>
              </a:rPr>
              <a:t>    深度排序算法的原理是：先把</a:t>
            </a:r>
            <a:r>
              <a:rPr lang="zh-CN" altLang="en-US" sz="2000" b="1" dirty="0">
                <a:solidFill>
                  <a:srgbClr val="3333FF"/>
                </a:solidFill>
                <a:latin typeface="方正粗黑宋简体" panose="02000000000000000000" pitchFamily="2" charset="-122"/>
                <a:ea typeface="方正粗黑宋简体" panose="02000000000000000000" pitchFamily="2" charset="-122"/>
              </a:rPr>
              <a:t>屏幕</a:t>
            </a:r>
            <a:r>
              <a:rPr lang="zh-CN" altLang="en-US" sz="2000" b="1" dirty="0">
                <a:solidFill>
                  <a:srgbClr val="FF0000"/>
                </a:solidFill>
                <a:latin typeface="方正粗黑宋简体" panose="02000000000000000000" pitchFamily="2" charset="-122"/>
                <a:ea typeface="方正粗黑宋简体" panose="02000000000000000000" pitchFamily="2" charset="-122"/>
              </a:rPr>
              <a:t>置成背景色</a:t>
            </a:r>
            <a:r>
              <a:rPr lang="zh-CN" altLang="en-US" dirty="0">
                <a:solidFill>
                  <a:schemeClr val="tx1"/>
                </a:solidFill>
                <a:latin typeface="楷体_GB2312" pitchFamily="1" charset="-122"/>
                <a:ea typeface="楷体_GB2312" pitchFamily="1" charset="-122"/>
              </a:rPr>
              <a:t>，再把物体的各个面按其离视点的</a:t>
            </a:r>
            <a:r>
              <a:rPr lang="zh-CN" altLang="en-US" sz="2000" b="1" dirty="0">
                <a:solidFill>
                  <a:srgbClr val="FF0000"/>
                </a:solidFill>
                <a:latin typeface="方正粗黑宋简体" panose="02000000000000000000" pitchFamily="2" charset="-122"/>
                <a:ea typeface="方正粗黑宋简体" panose="02000000000000000000" pitchFamily="2" charset="-122"/>
              </a:rPr>
              <a:t>远近排序形成</a:t>
            </a:r>
            <a:r>
              <a:rPr lang="zh-CN" altLang="en-US" sz="2000" b="1" dirty="0">
                <a:solidFill>
                  <a:srgbClr val="3333FF"/>
                </a:solidFill>
                <a:latin typeface="方正粗黑宋简体" panose="02000000000000000000" pitchFamily="2" charset="-122"/>
                <a:ea typeface="方正粗黑宋简体" panose="02000000000000000000" pitchFamily="2" charset="-122"/>
              </a:rPr>
              <a:t>深度优先级表</a:t>
            </a:r>
            <a:r>
              <a:rPr lang="zh-CN" altLang="en-US" dirty="0">
                <a:solidFill>
                  <a:schemeClr val="tx1"/>
                </a:solidFill>
                <a:latin typeface="楷体_GB2312" pitchFamily="1" charset="-122"/>
                <a:ea typeface="楷体_GB2312" pitchFamily="1" charset="-122"/>
              </a:rPr>
              <a:t>，</a:t>
            </a:r>
            <a:r>
              <a:rPr lang="zh-CN" altLang="en-US" sz="2000" b="1" dirty="0">
                <a:solidFill>
                  <a:srgbClr val="FF0000"/>
                </a:solidFill>
                <a:latin typeface="方正粗黑宋简体" panose="02000000000000000000" pitchFamily="2" charset="-122"/>
                <a:ea typeface="方正粗黑宋简体" panose="02000000000000000000" pitchFamily="2" charset="-122"/>
              </a:rPr>
              <a:t>离视点远者位于表头</a:t>
            </a:r>
            <a:r>
              <a:rPr lang="zh-CN" altLang="en-US" dirty="0">
                <a:solidFill>
                  <a:schemeClr val="tx1"/>
                </a:solidFill>
                <a:latin typeface="楷体_GB2312" pitchFamily="1" charset="-122"/>
                <a:ea typeface="楷体_GB2312" pitchFamily="1" charset="-122"/>
              </a:rPr>
              <a:t>，</a:t>
            </a:r>
            <a:r>
              <a:rPr lang="zh-CN" altLang="en-US" sz="2000" b="1" dirty="0">
                <a:solidFill>
                  <a:srgbClr val="FF0000"/>
                </a:solidFill>
                <a:latin typeface="方正粗黑宋简体" panose="02000000000000000000" pitchFamily="2" charset="-122"/>
                <a:ea typeface="方正粗黑宋简体" panose="02000000000000000000" pitchFamily="2" charset="-122"/>
              </a:rPr>
              <a:t>离视点近者位于表尾</a:t>
            </a:r>
            <a:r>
              <a:rPr lang="zh-CN" altLang="en-US" dirty="0">
                <a:solidFill>
                  <a:schemeClr val="tx1"/>
                </a:solidFill>
                <a:latin typeface="楷体_GB2312" pitchFamily="1" charset="-122"/>
                <a:ea typeface="楷体_GB2312" pitchFamily="1" charset="-122"/>
              </a:rPr>
              <a:t>。然后按照</a:t>
            </a:r>
            <a:r>
              <a:rPr lang="zh-CN" altLang="en-US" sz="2000" b="1" dirty="0">
                <a:solidFill>
                  <a:srgbClr val="FF0000"/>
                </a:solidFill>
                <a:latin typeface="方正粗黑宋简体" panose="02000000000000000000" pitchFamily="2" charset="-122"/>
                <a:ea typeface="方正粗黑宋简体" panose="02000000000000000000" pitchFamily="2" charset="-122"/>
              </a:rPr>
              <a:t>从表头到表尾的顺序绘制各个表面</a:t>
            </a:r>
            <a:r>
              <a:rPr lang="zh-CN" altLang="en-US" dirty="0">
                <a:solidFill>
                  <a:schemeClr val="tx1"/>
                </a:solidFill>
                <a:latin typeface="楷体_GB2312" pitchFamily="1" charset="-122"/>
                <a:ea typeface="楷体_GB2312" pitchFamily="1" charset="-122"/>
              </a:rPr>
              <a:t>，</a:t>
            </a:r>
            <a:r>
              <a:rPr lang="zh-CN" altLang="en-US" sz="2000" b="1" dirty="0">
                <a:solidFill>
                  <a:srgbClr val="3333FF"/>
                </a:solidFill>
                <a:latin typeface="方正粗黑宋简体" panose="02000000000000000000" pitchFamily="2" charset="-122"/>
                <a:ea typeface="方正粗黑宋简体" panose="02000000000000000000" pitchFamily="2" charset="-122"/>
              </a:rPr>
              <a:t>后画的表面颜色取代先画的表面颜色，相当于</a:t>
            </a:r>
            <a:r>
              <a:rPr lang="zh-CN" altLang="en-US" sz="2000" b="1" dirty="0">
                <a:solidFill>
                  <a:srgbClr val="FF0000"/>
                </a:solidFill>
                <a:latin typeface="方正粗黑宋简体" panose="02000000000000000000" pitchFamily="2" charset="-122"/>
                <a:ea typeface="方正粗黑宋简体" panose="02000000000000000000" pitchFamily="2" charset="-122"/>
              </a:rPr>
              <a:t>消除</a:t>
            </a:r>
            <a:r>
              <a:rPr lang="zh-CN" altLang="en-US" sz="2000" b="1" dirty="0">
                <a:solidFill>
                  <a:srgbClr val="3333FF"/>
                </a:solidFill>
                <a:latin typeface="方正粗黑宋简体" panose="02000000000000000000" pitchFamily="2" charset="-122"/>
                <a:ea typeface="方正粗黑宋简体" panose="02000000000000000000" pitchFamily="2" charset="-122"/>
              </a:rPr>
              <a:t>了隐藏面</a:t>
            </a:r>
            <a:r>
              <a:rPr lang="zh-CN" altLang="en-US" dirty="0">
                <a:solidFill>
                  <a:schemeClr val="tx1"/>
                </a:solidFill>
                <a:latin typeface="楷体_GB2312" pitchFamily="1" charset="-122"/>
                <a:ea typeface="楷体_GB2312" pitchFamily="1" charset="-122"/>
              </a:rPr>
              <a:t>。 </a:t>
            </a:r>
          </a:p>
          <a:p>
            <a:pPr algn="l" eaLnBrk="1" hangingPunct="1">
              <a:lnSpc>
                <a:spcPct val="130000"/>
              </a:lnSpc>
            </a:pPr>
            <a:r>
              <a:rPr lang="zh-CN" altLang="en-US" dirty="0">
                <a:solidFill>
                  <a:schemeClr val="tx1"/>
                </a:solidFill>
                <a:latin typeface="楷体_GB2312" pitchFamily="1" charset="-122"/>
                <a:ea typeface="楷体_GB2312" pitchFamily="1" charset="-122"/>
              </a:rPr>
              <a:t>    在算法上需要构造</a:t>
            </a:r>
            <a:r>
              <a:rPr lang="zh-CN" altLang="en-US" sz="2000" b="1" dirty="0">
                <a:solidFill>
                  <a:srgbClr val="FF0000"/>
                </a:solidFill>
                <a:latin typeface="方正粗黑宋简体" panose="02000000000000000000" pitchFamily="2" charset="-122"/>
                <a:ea typeface="方正粗黑宋简体" panose="02000000000000000000" pitchFamily="2" charset="-122"/>
              </a:rPr>
              <a:t>顶点表</a:t>
            </a:r>
            <a:r>
              <a:rPr lang="zh-CN" altLang="en-US" dirty="0">
                <a:solidFill>
                  <a:schemeClr val="tx1"/>
                </a:solidFill>
                <a:latin typeface="楷体_GB2312" pitchFamily="1" charset="-122"/>
                <a:ea typeface="楷体_GB2312" pitchFamily="1" charset="-122"/>
              </a:rPr>
              <a:t>、</a:t>
            </a:r>
            <a:r>
              <a:rPr lang="zh-CN" altLang="en-US" sz="2000" b="1" dirty="0">
                <a:solidFill>
                  <a:srgbClr val="FF0000"/>
                </a:solidFill>
                <a:latin typeface="方正粗黑宋简体" panose="02000000000000000000" pitchFamily="2" charset="-122"/>
                <a:ea typeface="方正粗黑宋简体" panose="02000000000000000000" pitchFamily="2" charset="-122"/>
              </a:rPr>
              <a:t>面表</a:t>
            </a:r>
            <a:r>
              <a:rPr lang="zh-CN" altLang="en-US" dirty="0">
                <a:solidFill>
                  <a:schemeClr val="tx1"/>
                </a:solidFill>
                <a:latin typeface="楷体_GB2312" pitchFamily="1" charset="-122"/>
                <a:ea typeface="楷体_GB2312" pitchFamily="1" charset="-122"/>
              </a:rPr>
              <a:t>来实现。  </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6A160B94-DED0-4069-A91F-D76F3BEFB064}" type="slidenum">
              <a:rPr lang="en-US" altLang="zh-CN" sz="1200">
                <a:solidFill>
                  <a:schemeClr val="tx1"/>
                </a:solidFill>
                <a:latin typeface="Garamond" pitchFamily="18" charset="0"/>
              </a:rPr>
              <a:pPr algn="r" eaLnBrk="1" hangingPunct="1">
                <a:spcBef>
                  <a:spcPct val="0"/>
                </a:spcBef>
              </a:pPr>
              <a:t>99</a:t>
            </a:fld>
            <a:endParaRPr lang="en-US" altLang="zh-CN" sz="1200">
              <a:solidFill>
                <a:schemeClr val="tx1"/>
              </a:solidFill>
              <a:latin typeface="Garamond" pitchFamily="18" charset="0"/>
            </a:endParaRPr>
          </a:p>
        </p:txBody>
      </p:sp>
      <p:sp>
        <p:nvSpPr>
          <p:cNvPr id="103427" name="Text Box 4"/>
          <p:cNvSpPr txBox="1">
            <a:spLocks noChangeArrowheads="1"/>
          </p:cNvSpPr>
          <p:nvPr/>
        </p:nvSpPr>
        <p:spPr bwMode="auto">
          <a:xfrm>
            <a:off x="431800" y="323850"/>
            <a:ext cx="8326438" cy="529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30000"/>
              </a:lnSpc>
            </a:pPr>
            <a:r>
              <a:rPr lang="zh-CN" altLang="en-US" dirty="0">
                <a:solidFill>
                  <a:schemeClr val="tx1"/>
                </a:solidFill>
                <a:latin typeface="楷体_GB2312" pitchFamily="1" charset="-122"/>
                <a:ea typeface="楷体_GB2312" pitchFamily="1" charset="-122"/>
              </a:rPr>
              <a:t>   深度优先级排序算法的</a:t>
            </a:r>
            <a:r>
              <a:rPr lang="zh-CN" altLang="en-US" sz="2000" b="1" dirty="0">
                <a:solidFill>
                  <a:srgbClr val="FF0000"/>
                </a:solidFill>
                <a:latin typeface="方正粗黑宋简体" panose="02000000000000000000" pitchFamily="2" charset="-122"/>
                <a:ea typeface="方正粗黑宋简体" panose="02000000000000000000" pitchFamily="2" charset="-122"/>
              </a:rPr>
              <a:t>难点在于确定</a:t>
            </a:r>
            <a:r>
              <a:rPr lang="zh-CN" altLang="en-US" sz="2000" b="1" dirty="0">
                <a:solidFill>
                  <a:srgbClr val="FF0000"/>
                </a:solidFill>
                <a:latin typeface="方正粗黑宋简体" panose="02000000000000000000" pitchFamily="2" charset="-122"/>
                <a:ea typeface="方正粗黑宋简体" panose="02000000000000000000" pitchFamily="2" charset="-122"/>
              </a:rPr>
              <a:t>物体的</a:t>
            </a:r>
            <a:r>
              <a:rPr lang="zh-CN" altLang="en-US" sz="2000" b="1" dirty="0">
                <a:solidFill>
                  <a:srgbClr val="3333FF"/>
                </a:solidFill>
                <a:latin typeface="方正粗黑宋简体" panose="02000000000000000000" pitchFamily="2" charset="-122"/>
                <a:ea typeface="方正粗黑宋简体" panose="02000000000000000000" pitchFamily="2" charset="-122"/>
              </a:rPr>
              <a:t>深度优先级</a:t>
            </a:r>
            <a:r>
              <a:rPr lang="zh-CN" altLang="en-US" dirty="0">
                <a:solidFill>
                  <a:schemeClr val="tx1"/>
                </a:solidFill>
                <a:latin typeface="楷体_GB2312" pitchFamily="1" charset="-122"/>
                <a:ea typeface="楷体_GB2312" pitchFamily="1" charset="-122"/>
              </a:rPr>
              <a:t>。</a:t>
            </a:r>
          </a:p>
          <a:p>
            <a:pPr algn="l" eaLnBrk="1" hangingPunct="1">
              <a:lnSpc>
                <a:spcPct val="130000"/>
              </a:lnSpc>
              <a:buFont typeface="Arial" pitchFamily="34" charset="0"/>
              <a:buAutoNum type="circleNumDbPlain"/>
            </a:pPr>
            <a:r>
              <a:rPr lang="zh-CN" altLang="en-US" dirty="0">
                <a:solidFill>
                  <a:schemeClr val="tx1"/>
                </a:solidFill>
                <a:latin typeface="楷体_GB2312" pitchFamily="1" charset="-122"/>
                <a:ea typeface="楷体_GB2312" pitchFamily="1" charset="-122"/>
              </a:rPr>
              <a:t>对于图</a:t>
            </a:r>
            <a:r>
              <a:rPr lang="en-US" altLang="zh-CN" dirty="0">
                <a:solidFill>
                  <a:schemeClr val="tx1"/>
                </a:solidFill>
                <a:latin typeface="楷体_GB2312" pitchFamily="1" charset="-122"/>
                <a:ea typeface="楷体_GB2312" pitchFamily="1" charset="-122"/>
              </a:rPr>
              <a:t>9-72</a:t>
            </a:r>
            <a:r>
              <a:rPr lang="zh-CN" altLang="en-US" dirty="0">
                <a:solidFill>
                  <a:schemeClr val="tx1"/>
                </a:solidFill>
                <a:latin typeface="楷体_GB2312" pitchFamily="1" charset="-122"/>
                <a:ea typeface="楷体_GB2312" pitchFamily="1" charset="-122"/>
              </a:rPr>
              <a:t>所示的</a:t>
            </a:r>
            <a:r>
              <a:rPr lang="en-US" altLang="zh-CN" sz="2000" b="1" dirty="0">
                <a:solidFill>
                  <a:srgbClr val="FF0000"/>
                </a:solidFill>
                <a:latin typeface="方正粗黑宋简体" panose="02000000000000000000" pitchFamily="2" charset="-122"/>
                <a:ea typeface="方正粗黑宋简体" panose="02000000000000000000" pitchFamily="2" charset="-122"/>
              </a:rPr>
              <a:t>4</a:t>
            </a:r>
            <a:r>
              <a:rPr lang="zh-CN" altLang="en-US" sz="2000" b="1" dirty="0">
                <a:solidFill>
                  <a:srgbClr val="FF0000"/>
                </a:solidFill>
                <a:latin typeface="方正粗黑宋简体" panose="02000000000000000000" pitchFamily="2" charset="-122"/>
                <a:ea typeface="方正粗黑宋简体" panose="02000000000000000000" pitchFamily="2" charset="-122"/>
              </a:rPr>
              <a:t>个条相互叠压</a:t>
            </a:r>
            <a:r>
              <a:rPr lang="zh-CN" altLang="en-US" dirty="0">
                <a:solidFill>
                  <a:schemeClr val="tx1"/>
                </a:solidFill>
                <a:latin typeface="楷体_GB2312" pitchFamily="1" charset="-122"/>
                <a:ea typeface="楷体_GB2312" pitchFamily="1" charset="-122"/>
              </a:rPr>
              <a:t>（称为</a:t>
            </a:r>
            <a:r>
              <a:rPr lang="zh-CN" altLang="en-US" sz="2000" b="1" dirty="0">
                <a:solidFill>
                  <a:srgbClr val="FF0000"/>
                </a:solidFill>
                <a:latin typeface="方正粗黑宋简体" panose="02000000000000000000" pitchFamily="2" charset="-122"/>
                <a:ea typeface="方正粗黑宋简体" panose="02000000000000000000" pitchFamily="2" charset="-122"/>
              </a:rPr>
              <a:t>叠压条</a:t>
            </a:r>
            <a:r>
              <a:rPr lang="zh-CN" altLang="en-US" dirty="0">
                <a:solidFill>
                  <a:schemeClr val="tx1"/>
                </a:solidFill>
                <a:latin typeface="楷体_GB2312" pitchFamily="1" charset="-122"/>
                <a:ea typeface="楷体_GB2312" pitchFamily="1" charset="-122"/>
              </a:rPr>
              <a:t>），每个条有一个独立的深度，而且</a:t>
            </a:r>
            <a:r>
              <a:rPr lang="en-US" altLang="zh-CN" dirty="0">
                <a:solidFill>
                  <a:schemeClr val="tx1"/>
                </a:solidFill>
                <a:latin typeface="楷体_GB2312" pitchFamily="1" charset="-122"/>
                <a:ea typeface="楷体_GB2312" pitchFamily="1" charset="-122"/>
              </a:rPr>
              <a:t>4</a:t>
            </a:r>
            <a:r>
              <a:rPr lang="zh-CN" altLang="en-US" dirty="0">
                <a:solidFill>
                  <a:schemeClr val="tx1"/>
                </a:solidFill>
                <a:latin typeface="楷体_GB2312" pitchFamily="1" charset="-122"/>
                <a:ea typeface="楷体_GB2312" pitchFamily="1" charset="-122"/>
              </a:rPr>
              <a:t>个条的深度彼此不同，则可以直接</a:t>
            </a:r>
            <a:r>
              <a:rPr lang="zh-CN" altLang="en-US" sz="2000" b="1" dirty="0">
                <a:solidFill>
                  <a:srgbClr val="FF0000"/>
                </a:solidFill>
                <a:latin typeface="方正粗黑宋简体" panose="02000000000000000000" pitchFamily="2" charset="-122"/>
                <a:ea typeface="方正粗黑宋简体" panose="02000000000000000000" pitchFamily="2" charset="-122"/>
              </a:rPr>
              <a:t>建立一个确定的深度优先级表</a:t>
            </a:r>
            <a:r>
              <a:rPr lang="zh-CN" altLang="en-US" dirty="0">
                <a:solidFill>
                  <a:schemeClr val="tx1"/>
                </a:solidFill>
                <a:latin typeface="楷体_GB2312" pitchFamily="1" charset="-122"/>
                <a:ea typeface="楷体_GB2312" pitchFamily="1" charset="-122"/>
              </a:rPr>
              <a:t>。</a:t>
            </a:r>
          </a:p>
          <a:p>
            <a:pPr algn="l" eaLnBrk="1" hangingPunct="1">
              <a:lnSpc>
                <a:spcPct val="130000"/>
              </a:lnSpc>
              <a:buFont typeface="Arial" pitchFamily="34" charset="0"/>
              <a:buAutoNum type="circleNumDbPlain"/>
            </a:pPr>
            <a:r>
              <a:rPr lang="zh-CN" altLang="en-US" dirty="0">
                <a:solidFill>
                  <a:schemeClr val="tx1"/>
                </a:solidFill>
                <a:latin typeface="楷体_GB2312" pitchFamily="1" charset="-122"/>
                <a:ea typeface="楷体_GB2312" pitchFamily="1" charset="-122"/>
              </a:rPr>
              <a:t>对于图</a:t>
            </a:r>
            <a:r>
              <a:rPr lang="en-US" altLang="zh-CN" dirty="0">
                <a:solidFill>
                  <a:schemeClr val="tx1"/>
                </a:solidFill>
                <a:latin typeface="楷体_GB2312" pitchFamily="1" charset="-122"/>
                <a:ea typeface="楷体_GB2312" pitchFamily="1" charset="-122"/>
              </a:rPr>
              <a:t>9-73</a:t>
            </a:r>
            <a:r>
              <a:rPr lang="zh-CN" altLang="en-US" dirty="0">
                <a:solidFill>
                  <a:schemeClr val="tx1"/>
                </a:solidFill>
                <a:latin typeface="楷体_GB2312" pitchFamily="1" charset="-122"/>
                <a:ea typeface="楷体_GB2312" pitchFamily="1" charset="-122"/>
              </a:rPr>
              <a:t>的</a:t>
            </a:r>
            <a:r>
              <a:rPr lang="en-US" altLang="zh-CN" dirty="0">
                <a:solidFill>
                  <a:schemeClr val="tx1"/>
                </a:solidFill>
                <a:latin typeface="楷体_GB2312" pitchFamily="1" charset="-122"/>
                <a:ea typeface="楷体_GB2312" pitchFamily="1" charset="-122"/>
              </a:rPr>
              <a:t>4</a:t>
            </a:r>
            <a:r>
              <a:rPr lang="zh-CN" altLang="en-US" dirty="0">
                <a:solidFill>
                  <a:schemeClr val="tx1"/>
                </a:solidFill>
                <a:latin typeface="楷体_GB2312" pitchFamily="1" charset="-122"/>
                <a:ea typeface="楷体_GB2312" pitchFamily="1" charset="-122"/>
              </a:rPr>
              <a:t>个条相互交叉（称为</a:t>
            </a:r>
            <a:r>
              <a:rPr lang="zh-CN" altLang="en-US" sz="2000" b="1" dirty="0">
                <a:solidFill>
                  <a:srgbClr val="FF0000"/>
                </a:solidFill>
                <a:latin typeface="方正粗黑宋简体" panose="02000000000000000000" pitchFamily="2" charset="-122"/>
                <a:ea typeface="方正粗黑宋简体" panose="02000000000000000000" pitchFamily="2" charset="-122"/>
              </a:rPr>
              <a:t>交叉条</a:t>
            </a:r>
            <a:r>
              <a:rPr lang="zh-CN" altLang="en-US" dirty="0">
                <a:solidFill>
                  <a:schemeClr val="tx1"/>
                </a:solidFill>
                <a:latin typeface="楷体_GB2312" pitchFamily="1" charset="-122"/>
                <a:ea typeface="楷体_GB2312" pitchFamily="1" charset="-122"/>
              </a:rPr>
              <a:t>），每个条至少有两个深度，不能简单地建立深度优先级表。</a:t>
            </a:r>
          </a:p>
          <a:p>
            <a:pPr algn="l" eaLnBrk="1" hangingPunct="1">
              <a:lnSpc>
                <a:spcPct val="120000"/>
              </a:lnSpc>
            </a:pPr>
            <a:r>
              <a:rPr lang="zh-CN" altLang="en-US" dirty="0">
                <a:solidFill>
                  <a:schemeClr val="tx1"/>
                </a:solidFill>
                <a:latin typeface="楷体_GB2312" pitchFamily="1" charset="-122"/>
                <a:ea typeface="楷体_GB2312" pitchFamily="1" charset="-122"/>
              </a:rPr>
              <a:t>    解决方法是沿着</a:t>
            </a:r>
            <a:r>
              <a:rPr lang="zh-CN" altLang="en-US" sz="2000" b="1" dirty="0">
                <a:solidFill>
                  <a:srgbClr val="FF0000"/>
                </a:solidFill>
                <a:latin typeface="方正粗黑宋简体" panose="02000000000000000000" pitchFamily="2" charset="-122"/>
                <a:ea typeface="方正粗黑宋简体" panose="02000000000000000000" pitchFamily="2" charset="-122"/>
              </a:rPr>
              <a:t>图中虚线循环地分割每个条</a:t>
            </a:r>
            <a:r>
              <a:rPr lang="zh-CN" altLang="en-US" dirty="0">
                <a:solidFill>
                  <a:schemeClr val="tx1"/>
                </a:solidFill>
                <a:latin typeface="楷体_GB2312" pitchFamily="1" charset="-122"/>
                <a:ea typeface="楷体_GB2312" pitchFamily="1" charset="-122"/>
              </a:rPr>
              <a:t>，直至最终可建立确定的深度优先级表，另一种解决方法是使用</a:t>
            </a:r>
            <a:r>
              <a:rPr lang="zh-CN" altLang="en-US" sz="2000" b="1" dirty="0">
                <a:solidFill>
                  <a:srgbClr val="FF0000"/>
                </a:solidFill>
                <a:latin typeface="方正粗黑宋简体" panose="02000000000000000000" pitchFamily="2" charset="-122"/>
                <a:ea typeface="方正粗黑宋简体" panose="02000000000000000000" pitchFamily="2" charset="-122"/>
              </a:rPr>
              <a:t>深度缓冲器算法直接绘制交叉条</a:t>
            </a:r>
            <a:r>
              <a:rPr lang="zh-CN" altLang="en-US" dirty="0">
                <a:solidFill>
                  <a:schemeClr val="tx1"/>
                </a:solidFill>
                <a:latin typeface="楷体_GB2312" pitchFamily="1" charset="-122"/>
                <a:ea typeface="楷体_GB2312" pitchFamily="1" charset="-122"/>
              </a:rPr>
              <a:t>。使用深度排序算法绘制的叠压条如图</a:t>
            </a:r>
            <a:r>
              <a:rPr lang="en-US" altLang="zh-CN" dirty="0">
                <a:solidFill>
                  <a:schemeClr val="tx1"/>
                </a:solidFill>
                <a:latin typeface="楷体_GB2312" pitchFamily="1" charset="-122"/>
                <a:ea typeface="楷体_GB2312" pitchFamily="1" charset="-122"/>
              </a:rPr>
              <a:t>9-74</a:t>
            </a:r>
            <a:r>
              <a:rPr lang="zh-CN" altLang="en-US" dirty="0">
                <a:solidFill>
                  <a:schemeClr val="tx1"/>
                </a:solidFill>
                <a:latin typeface="楷体_GB2312" pitchFamily="1" charset="-122"/>
                <a:ea typeface="楷体_GB2312" pitchFamily="1" charset="-122"/>
              </a:rPr>
              <a:t>所示。使用深度缓冲算法绘制的交叉条如图</a:t>
            </a:r>
            <a:r>
              <a:rPr lang="en-US" altLang="zh-CN" dirty="0">
                <a:solidFill>
                  <a:schemeClr val="tx1"/>
                </a:solidFill>
                <a:latin typeface="楷体_GB2312" pitchFamily="1" charset="-122"/>
                <a:ea typeface="楷体_GB2312" pitchFamily="1" charset="-122"/>
              </a:rPr>
              <a:t>9-75</a:t>
            </a:r>
            <a:r>
              <a:rPr lang="zh-CN" altLang="en-US" dirty="0">
                <a:solidFill>
                  <a:schemeClr val="tx1"/>
                </a:solidFill>
                <a:latin typeface="楷体_GB2312" pitchFamily="1" charset="-122"/>
                <a:ea typeface="楷体_GB2312" pitchFamily="1" charset="-122"/>
              </a:rPr>
              <a:t>所示。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580BFB7B-1D00-4CC9-9CC2-A395E5637EA6}" type="slidenum">
              <a:rPr lang="en-US" altLang="zh-CN" sz="1200">
                <a:solidFill>
                  <a:schemeClr val="tx1"/>
                </a:solidFill>
                <a:latin typeface="Garamond" pitchFamily="18" charset="0"/>
              </a:rPr>
              <a:pPr algn="r" eaLnBrk="1" hangingPunct="1">
                <a:spcBef>
                  <a:spcPct val="0"/>
                </a:spcBef>
              </a:pPr>
              <a:t>100</a:t>
            </a:fld>
            <a:endParaRPr lang="en-US" altLang="zh-CN" sz="1200">
              <a:solidFill>
                <a:schemeClr val="tx1"/>
              </a:solidFill>
              <a:latin typeface="Garamond" pitchFamily="18" charset="0"/>
            </a:endParaRPr>
          </a:p>
        </p:txBody>
      </p:sp>
      <p:graphicFrame>
        <p:nvGraphicFramePr>
          <p:cNvPr id="104451" name="Object 7"/>
          <p:cNvGraphicFramePr>
            <a:graphicFrameLocks noChangeAspect="1"/>
          </p:cNvGraphicFramePr>
          <p:nvPr/>
        </p:nvGraphicFramePr>
        <p:xfrm>
          <a:off x="1466850" y="458788"/>
          <a:ext cx="2206625" cy="2206625"/>
        </p:xfrm>
        <a:graphic>
          <a:graphicData uri="http://schemas.openxmlformats.org/presentationml/2006/ole">
            <mc:AlternateContent xmlns:mc="http://schemas.openxmlformats.org/markup-compatibility/2006">
              <mc:Choice xmlns:v="urn:schemas-microsoft-com:vml" Requires="v">
                <p:oleObj spid="_x0000_s104510" r:id="rId3" imgW="4366870" imgH="4366870" progId="Visio.Drawing.11">
                  <p:embed/>
                </p:oleObj>
              </mc:Choice>
              <mc:Fallback>
                <p:oleObj r:id="rId3" imgW="4366870" imgH="4366870" progId="Visio.Drawing.11">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6850" y="458788"/>
                        <a:ext cx="2206625" cy="220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452" name="Object 6"/>
          <p:cNvGraphicFramePr>
            <a:graphicFrameLocks noChangeAspect="1"/>
          </p:cNvGraphicFramePr>
          <p:nvPr/>
        </p:nvGraphicFramePr>
        <p:xfrm>
          <a:off x="5021263" y="414338"/>
          <a:ext cx="2160587" cy="2160587"/>
        </p:xfrm>
        <a:graphic>
          <a:graphicData uri="http://schemas.openxmlformats.org/presentationml/2006/ole">
            <mc:AlternateContent xmlns:mc="http://schemas.openxmlformats.org/markup-compatibility/2006">
              <mc:Choice xmlns:v="urn:schemas-microsoft-com:vml" Requires="v">
                <p:oleObj spid="_x0000_s104511" r:id="rId5" imgW="4366870" imgH="4366870" progId="Visio.Drawing.11">
                  <p:embed/>
                </p:oleObj>
              </mc:Choice>
              <mc:Fallback>
                <p:oleObj r:id="rId5" imgW="4366870" imgH="4366870" progId="Visio.Drawing.11">
                  <p:embed/>
                  <p:pic>
                    <p:nvPicPr>
                      <p:cNvPr id="0" name="Picture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1263" y="414338"/>
                        <a:ext cx="2160587" cy="2160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4453" name="Picture 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6125" y="3203575"/>
            <a:ext cx="351155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4" name="Picture 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06938" y="3159125"/>
            <a:ext cx="3509962" cy="254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6" name="Rectangle 9"/>
          <p:cNvSpPr>
            <a:spLocks noChangeArrowheads="1"/>
          </p:cNvSpPr>
          <p:nvPr/>
        </p:nvSpPr>
        <p:spPr bwMode="auto">
          <a:xfrm>
            <a:off x="6462713" y="1214438"/>
            <a:ext cx="438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1000">
                <a:solidFill>
                  <a:schemeClr val="tx1"/>
                </a:solidFill>
                <a:latin typeface="Times New Roman" pitchFamily="18" charset="0"/>
                <a:cs typeface="Times New Roman" pitchFamily="18" charset="0"/>
              </a:rPr>
              <a:t>        </a:t>
            </a:r>
            <a:endParaRPr lang="zh-CN" altLang="en-US">
              <a:solidFill>
                <a:schemeClr val="tx1"/>
              </a:solidFill>
            </a:endParaRPr>
          </a:p>
        </p:txBody>
      </p:sp>
      <p:sp>
        <p:nvSpPr>
          <p:cNvPr id="104457" name="Rectangle 10"/>
          <p:cNvSpPr>
            <a:spLocks noChangeArrowheads="1"/>
          </p:cNvSpPr>
          <p:nvPr/>
        </p:nvSpPr>
        <p:spPr bwMode="auto">
          <a:xfrm>
            <a:off x="1062038" y="2708275"/>
            <a:ext cx="7246937"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1"/>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9-72 </a:t>
            </a:r>
            <a:r>
              <a:rPr lang="zh-CN" altLang="en-US" sz="2000">
                <a:solidFill>
                  <a:schemeClr val="tx1"/>
                </a:solidFill>
                <a:latin typeface="楷体_GB2312" pitchFamily="1" charset="-122"/>
                <a:ea typeface="楷体_GB2312" pitchFamily="1" charset="-122"/>
              </a:rPr>
              <a:t>叠压条线框模型         图</a:t>
            </a:r>
            <a:r>
              <a:rPr lang="en-US" altLang="zh-CN" sz="2000">
                <a:solidFill>
                  <a:schemeClr val="tx1"/>
                </a:solidFill>
                <a:latin typeface="楷体_GB2312" pitchFamily="1" charset="-122"/>
                <a:ea typeface="楷体_GB2312" pitchFamily="1" charset="-122"/>
              </a:rPr>
              <a:t>9-73 </a:t>
            </a:r>
            <a:r>
              <a:rPr lang="zh-CN" altLang="en-US" sz="2000">
                <a:solidFill>
                  <a:schemeClr val="tx1"/>
                </a:solidFill>
                <a:latin typeface="楷体_GB2312" pitchFamily="1" charset="-122"/>
                <a:ea typeface="楷体_GB2312" pitchFamily="1" charset="-122"/>
              </a:rPr>
              <a:t>交叉条线框模型</a:t>
            </a:r>
          </a:p>
        </p:txBody>
      </p:sp>
      <p:sp>
        <p:nvSpPr>
          <p:cNvPr id="104458" name="Rectangle 11"/>
          <p:cNvSpPr>
            <a:spLocks noChangeArrowheads="1"/>
          </p:cNvSpPr>
          <p:nvPr/>
        </p:nvSpPr>
        <p:spPr bwMode="auto">
          <a:xfrm>
            <a:off x="2109788" y="5227638"/>
            <a:ext cx="215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1000">
                <a:solidFill>
                  <a:schemeClr val="tx1"/>
                </a:solidFill>
                <a:latin typeface="Times New Roman" pitchFamily="18" charset="0"/>
                <a:cs typeface="Times New Roman" pitchFamily="18" charset="0"/>
              </a:rPr>
              <a:t> </a:t>
            </a:r>
            <a:endParaRPr lang="zh-CN" altLang="en-US">
              <a:solidFill>
                <a:schemeClr val="tx1"/>
              </a:solidFill>
            </a:endParaRPr>
          </a:p>
        </p:txBody>
      </p:sp>
      <p:sp>
        <p:nvSpPr>
          <p:cNvPr id="104460" name="Text Box 13"/>
          <p:cNvSpPr txBox="1">
            <a:spLocks noChangeArrowheads="1"/>
          </p:cNvSpPr>
          <p:nvPr/>
        </p:nvSpPr>
        <p:spPr bwMode="auto">
          <a:xfrm>
            <a:off x="701675" y="6038850"/>
            <a:ext cx="35099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hlinkClick r:id="rId9" action="ppaction://hlinkfile"/>
              </a:rPr>
              <a:t>图</a:t>
            </a:r>
            <a:r>
              <a:rPr lang="en-US" altLang="zh-CN" sz="2000">
                <a:solidFill>
                  <a:schemeClr val="tx1"/>
                </a:solidFill>
                <a:latin typeface="楷体_GB2312" pitchFamily="1" charset="-122"/>
                <a:ea typeface="楷体_GB2312" pitchFamily="1" charset="-122"/>
                <a:hlinkClick r:id="rId9" action="ppaction://hlinkfile"/>
              </a:rPr>
              <a:t>9-74 </a:t>
            </a:r>
            <a:r>
              <a:rPr lang="zh-CN" altLang="en-US" sz="2000">
                <a:solidFill>
                  <a:schemeClr val="tx1"/>
                </a:solidFill>
                <a:latin typeface="楷体_GB2312" pitchFamily="1" charset="-122"/>
                <a:ea typeface="楷体_GB2312" pitchFamily="1" charset="-122"/>
                <a:hlinkClick r:id="rId9" action="ppaction://hlinkfile"/>
              </a:rPr>
              <a:t>叠压条表面模型 </a:t>
            </a:r>
            <a:endParaRPr lang="zh-CN" altLang="en-US" sz="2000">
              <a:solidFill>
                <a:schemeClr val="tx1"/>
              </a:solidFill>
              <a:latin typeface="楷体_GB2312" pitchFamily="1" charset="-122"/>
              <a:ea typeface="楷体_GB2312" pitchFamily="1" charset="-122"/>
            </a:endParaRPr>
          </a:p>
        </p:txBody>
      </p:sp>
      <p:sp>
        <p:nvSpPr>
          <p:cNvPr id="104461" name="Text Box 14"/>
          <p:cNvSpPr txBox="1">
            <a:spLocks noChangeArrowheads="1"/>
          </p:cNvSpPr>
          <p:nvPr/>
        </p:nvSpPr>
        <p:spPr bwMode="auto">
          <a:xfrm>
            <a:off x="4706938" y="5994400"/>
            <a:ext cx="3421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hlinkClick r:id="rId9" action="ppaction://hlinkfile"/>
              </a:rPr>
              <a:t>图</a:t>
            </a:r>
            <a:r>
              <a:rPr lang="en-US" altLang="zh-CN" sz="2000">
                <a:solidFill>
                  <a:schemeClr val="tx1"/>
                </a:solidFill>
                <a:latin typeface="楷体_GB2312" pitchFamily="1" charset="-122"/>
                <a:ea typeface="楷体_GB2312" pitchFamily="1" charset="-122"/>
                <a:hlinkClick r:id="rId9" action="ppaction://hlinkfile"/>
              </a:rPr>
              <a:t>9-75 </a:t>
            </a:r>
            <a:r>
              <a:rPr lang="zh-CN" altLang="en-US" sz="2000">
                <a:solidFill>
                  <a:schemeClr val="tx1"/>
                </a:solidFill>
                <a:latin typeface="楷体_GB2312" pitchFamily="1" charset="-122"/>
                <a:ea typeface="楷体_GB2312" pitchFamily="1" charset="-122"/>
                <a:hlinkClick r:id="rId9" action="ppaction://hlinkfile"/>
              </a:rPr>
              <a:t>交叉条表面模型 </a:t>
            </a:r>
            <a:endParaRPr lang="zh-CN" altLang="en-US" sz="2000">
              <a:solidFill>
                <a:schemeClr val="tx1"/>
              </a:solidFill>
              <a:latin typeface="楷体_GB2312" pitchFamily="1" charset="-122"/>
              <a:ea typeface="楷体_GB2312" pitchFamily="1"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5"/>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6F6F43A2-7997-4E1D-A3DF-73BCBCFCC9AA}" type="slidenum">
              <a:rPr lang="en-US" altLang="zh-CN" sz="1200">
                <a:solidFill>
                  <a:schemeClr val="tx1"/>
                </a:solidFill>
                <a:latin typeface="Garamond" pitchFamily="18" charset="0"/>
              </a:rPr>
              <a:pPr algn="r" eaLnBrk="1" hangingPunct="1">
                <a:spcBef>
                  <a:spcPct val="0"/>
                </a:spcBef>
              </a:pPr>
              <a:t>101</a:t>
            </a:fld>
            <a:endParaRPr lang="en-US" altLang="zh-CN" sz="1200">
              <a:solidFill>
                <a:schemeClr val="tx1"/>
              </a:solidFill>
              <a:latin typeface="Garamond" pitchFamily="18" charset="0"/>
            </a:endParaRPr>
          </a:p>
        </p:txBody>
      </p:sp>
      <p:sp>
        <p:nvSpPr>
          <p:cNvPr id="105475" name="Text Box 4"/>
          <p:cNvSpPr txBox="1">
            <a:spLocks noChangeArrowheads="1"/>
          </p:cNvSpPr>
          <p:nvPr/>
        </p:nvSpPr>
        <p:spPr bwMode="auto">
          <a:xfrm>
            <a:off x="2906713" y="233363"/>
            <a:ext cx="33750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en-US" altLang="zh-CN" sz="3600" b="1">
                <a:solidFill>
                  <a:schemeClr val="tx1"/>
                </a:solidFill>
                <a:latin typeface="楷体_GB2312" pitchFamily="1" charset="-122"/>
                <a:ea typeface="楷体_GB2312" pitchFamily="1" charset="-122"/>
              </a:rPr>
              <a:t>9.5 </a:t>
            </a:r>
            <a:r>
              <a:rPr lang="zh-CN" altLang="en-US" sz="3600" b="1">
                <a:solidFill>
                  <a:schemeClr val="tx1"/>
                </a:solidFill>
                <a:latin typeface="楷体_GB2312" pitchFamily="1" charset="-122"/>
                <a:ea typeface="楷体_GB2312" pitchFamily="1" charset="-122"/>
              </a:rPr>
              <a:t>本章小结</a:t>
            </a:r>
            <a:r>
              <a:rPr lang="zh-CN" altLang="en-US" sz="3200" b="1">
                <a:solidFill>
                  <a:schemeClr val="tx1"/>
                </a:solidFill>
                <a:latin typeface="楷体_GB2312" pitchFamily="1" charset="-122"/>
                <a:ea typeface="楷体_GB2312" pitchFamily="1" charset="-122"/>
              </a:rPr>
              <a:t> </a:t>
            </a:r>
          </a:p>
        </p:txBody>
      </p:sp>
      <p:sp>
        <p:nvSpPr>
          <p:cNvPr id="105476" name="Text Box 5"/>
          <p:cNvSpPr txBox="1">
            <a:spLocks noChangeArrowheads="1"/>
          </p:cNvSpPr>
          <p:nvPr/>
        </p:nvSpPr>
        <p:spPr bwMode="auto">
          <a:xfrm>
            <a:off x="476250" y="819150"/>
            <a:ext cx="8326438" cy="545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lnSpc>
                <a:spcPct val="110000"/>
              </a:lnSpc>
              <a:buFont typeface="Arial" pitchFamily="34" charset="0"/>
              <a:buAutoNum type="arabicPeriod"/>
            </a:pPr>
            <a:r>
              <a:rPr lang="zh-CN" altLang="en-US">
                <a:solidFill>
                  <a:schemeClr val="tx1"/>
                </a:solidFill>
                <a:latin typeface="楷体_GB2312" pitchFamily="1" charset="-122"/>
                <a:ea typeface="楷体_GB2312" pitchFamily="1" charset="-122"/>
              </a:rPr>
              <a:t>本章主要讲述多面体和光滑物体的数学模型建立方法。根据顶点表和面表绘制物体的三维模型。</a:t>
            </a:r>
          </a:p>
          <a:p>
            <a:pPr algn="l" eaLnBrk="1" hangingPunct="1">
              <a:lnSpc>
                <a:spcPct val="110000"/>
              </a:lnSpc>
              <a:buFont typeface="Arial" pitchFamily="34" charset="0"/>
              <a:buAutoNum type="arabicPeriod"/>
            </a:pPr>
            <a:r>
              <a:rPr lang="zh-CN" altLang="en-US">
                <a:solidFill>
                  <a:schemeClr val="tx1"/>
                </a:solidFill>
                <a:latin typeface="楷体_GB2312" pitchFamily="1" charset="-122"/>
                <a:ea typeface="楷体_GB2312" pitchFamily="1" charset="-122"/>
              </a:rPr>
              <a:t>三维图形的消隐算法分为隐线算法和隐面算法。</a:t>
            </a:r>
          </a:p>
          <a:p>
            <a:pPr algn="l" eaLnBrk="1" hangingPunct="1">
              <a:lnSpc>
                <a:spcPct val="110000"/>
              </a:lnSpc>
              <a:buFont typeface="Arial" pitchFamily="34" charset="0"/>
              <a:buBlip>
                <a:blip r:embed="rId2"/>
              </a:buBlip>
            </a:pPr>
            <a:r>
              <a:rPr lang="zh-CN" altLang="en-US">
                <a:solidFill>
                  <a:schemeClr val="tx1"/>
                </a:solidFill>
                <a:latin typeface="楷体_GB2312" pitchFamily="1" charset="-122"/>
                <a:ea typeface="楷体_GB2312" pitchFamily="1" charset="-122"/>
              </a:rPr>
              <a:t>隐线算法主要针对线框模型进行，只根据表面法矢量和视矢量的夹角就可以进行背面剔除。凸多面体隐线算法也是一种隐面算法，是通过判断表面免的可见性后才绘制面的边界，只不过该方法可用于绘制线框模型，才称为隐线算法。</a:t>
            </a:r>
          </a:p>
          <a:p>
            <a:pPr algn="l" eaLnBrk="1" hangingPunct="1">
              <a:lnSpc>
                <a:spcPct val="110000"/>
              </a:lnSpc>
              <a:buFont typeface="Arial" pitchFamily="34" charset="0"/>
              <a:buBlip>
                <a:blip r:embed="rId2"/>
              </a:buBlip>
            </a:pPr>
            <a:r>
              <a:rPr lang="zh-CN" altLang="en-US">
                <a:solidFill>
                  <a:schemeClr val="tx1"/>
                </a:solidFill>
                <a:latin typeface="楷体_GB2312" pitchFamily="1" charset="-122"/>
                <a:ea typeface="楷体_GB2312" pitchFamily="1" charset="-122"/>
              </a:rPr>
              <a:t>隐面算法中重点讲解了</a:t>
            </a:r>
            <a:r>
              <a:rPr lang="en-US" altLang="zh-CN">
                <a:solidFill>
                  <a:schemeClr val="tx1"/>
                </a:solidFill>
                <a:latin typeface="楷体_GB2312" pitchFamily="1" charset="-122"/>
                <a:ea typeface="楷体_GB2312" pitchFamily="1" charset="-122"/>
              </a:rPr>
              <a:t>z-buffer</a:t>
            </a:r>
            <a:r>
              <a:rPr lang="zh-CN" altLang="en-US">
                <a:solidFill>
                  <a:schemeClr val="tx1"/>
                </a:solidFill>
                <a:latin typeface="楷体_GB2312" pitchFamily="1" charset="-122"/>
                <a:ea typeface="楷体_GB2312" pitchFamily="1" charset="-122"/>
              </a:rPr>
              <a:t>算法，该算法是计算机图形学中最主要的消隐算法。一般先对物体的多边形表面进行背面剔除预处理，然后才对可见表面使用基于有效边表算法的</a:t>
            </a:r>
            <a:r>
              <a:rPr lang="en-US" altLang="zh-CN">
                <a:solidFill>
                  <a:schemeClr val="tx1"/>
                </a:solidFill>
                <a:latin typeface="楷体_GB2312" pitchFamily="1" charset="-122"/>
                <a:ea typeface="楷体_GB2312" pitchFamily="1" charset="-122"/>
              </a:rPr>
              <a:t>z-buffer</a:t>
            </a:r>
            <a:r>
              <a:rPr lang="zh-CN" altLang="en-US">
                <a:solidFill>
                  <a:schemeClr val="tx1"/>
                </a:solidFill>
                <a:latin typeface="楷体_GB2312" pitchFamily="1" charset="-122"/>
                <a:ea typeface="楷体_GB2312" pitchFamily="1" charset="-122"/>
              </a:rPr>
              <a:t>算法，从像素级角度对物体消隐。</a:t>
            </a:r>
            <a:endParaRPr lang="en-US" altLang="zh-CN">
              <a:solidFill>
                <a:schemeClr val="tx1"/>
              </a:solidFill>
              <a:latin typeface="楷体_GB2312" pitchFamily="1" charset="-122"/>
              <a:ea typeface="楷体_GB2312" pitchFamily="1"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BD285BFE-4AA5-420F-9038-FA86AF3C3B51}" type="slidenum">
              <a:rPr lang="en-US" altLang="zh-CN" sz="1200">
                <a:solidFill>
                  <a:schemeClr val="tx1"/>
                </a:solidFill>
                <a:latin typeface="Garamond" pitchFamily="18" charset="0"/>
              </a:rPr>
              <a:pPr algn="r" eaLnBrk="1" hangingPunct="1">
                <a:spcBef>
                  <a:spcPct val="0"/>
                </a:spcBef>
              </a:pPr>
              <a:t>102</a:t>
            </a:fld>
            <a:endParaRPr lang="en-US" altLang="zh-CN" sz="1200">
              <a:solidFill>
                <a:schemeClr val="tx1"/>
              </a:solidFill>
              <a:latin typeface="Garamond" pitchFamily="18" charset="0"/>
            </a:endParaRPr>
          </a:p>
        </p:txBody>
      </p:sp>
      <p:sp>
        <p:nvSpPr>
          <p:cNvPr id="106499" name="Rectangle 5"/>
          <p:cNvSpPr>
            <a:spLocks noChangeArrowheads="1"/>
          </p:cNvSpPr>
          <p:nvPr/>
        </p:nvSpPr>
        <p:spPr bwMode="auto">
          <a:xfrm>
            <a:off x="3308350" y="211138"/>
            <a:ext cx="15621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3600" b="1">
                <a:solidFill>
                  <a:schemeClr val="tx1"/>
                </a:solidFill>
                <a:latin typeface="楷体_GB2312" pitchFamily="1" charset="-122"/>
                <a:ea typeface="楷体_GB2312" pitchFamily="1" charset="-122"/>
              </a:rPr>
              <a:t>习题 </a:t>
            </a:r>
            <a:r>
              <a:rPr lang="en-US" altLang="zh-CN" sz="3600" b="1">
                <a:solidFill>
                  <a:schemeClr val="tx1"/>
                </a:solidFill>
                <a:latin typeface="楷体_GB2312" pitchFamily="1" charset="-122"/>
                <a:ea typeface="楷体_GB2312" pitchFamily="1" charset="-122"/>
              </a:rPr>
              <a:t>9</a:t>
            </a:r>
            <a:endParaRPr lang="zh-CN" altLang="en-US" sz="3600" b="1">
              <a:solidFill>
                <a:schemeClr val="tx1"/>
              </a:solidFill>
              <a:latin typeface="楷体_GB2312" pitchFamily="1" charset="-122"/>
              <a:ea typeface="楷体_GB2312" pitchFamily="1" charset="-122"/>
            </a:endParaRPr>
          </a:p>
        </p:txBody>
      </p:sp>
      <p:sp>
        <p:nvSpPr>
          <p:cNvPr id="106500" name="Rectangle 6"/>
          <p:cNvSpPr>
            <a:spLocks noChangeArrowheads="1"/>
          </p:cNvSpPr>
          <p:nvPr/>
        </p:nvSpPr>
        <p:spPr bwMode="auto">
          <a:xfrm>
            <a:off x="341313" y="1042988"/>
            <a:ext cx="84169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250825" algn="l"/>
              </a:tabLst>
              <a:defRPr sz="2400">
                <a:solidFill>
                  <a:srgbClr val="0000CC"/>
                </a:solidFill>
                <a:latin typeface="Arial" pitchFamily="34" charset="0"/>
                <a:ea typeface="宋体" pitchFamily="2" charset="-122"/>
              </a:defRPr>
            </a:lvl1pPr>
            <a:lvl2pPr marL="742950" indent="-285750" eaLnBrk="0" hangingPunct="0">
              <a:tabLst>
                <a:tab pos="250825" algn="l"/>
              </a:tabLst>
              <a:defRPr sz="2400">
                <a:solidFill>
                  <a:srgbClr val="0000CC"/>
                </a:solidFill>
                <a:latin typeface="Arial" pitchFamily="34" charset="0"/>
                <a:ea typeface="宋体" pitchFamily="2" charset="-122"/>
              </a:defRPr>
            </a:lvl2pPr>
            <a:lvl3pPr marL="1143000" indent="-228600" eaLnBrk="0" hangingPunct="0">
              <a:tabLst>
                <a:tab pos="250825" algn="l"/>
              </a:tabLst>
              <a:defRPr sz="2400">
                <a:solidFill>
                  <a:srgbClr val="0000CC"/>
                </a:solidFill>
                <a:latin typeface="Arial" pitchFamily="34" charset="0"/>
                <a:ea typeface="宋体" pitchFamily="2" charset="-122"/>
              </a:defRPr>
            </a:lvl3pPr>
            <a:lvl4pPr marL="1600200" indent="-228600" eaLnBrk="0" hangingPunct="0">
              <a:tabLst>
                <a:tab pos="250825" algn="l"/>
              </a:tabLst>
              <a:defRPr sz="2400">
                <a:solidFill>
                  <a:srgbClr val="0000CC"/>
                </a:solidFill>
                <a:latin typeface="Arial" pitchFamily="34" charset="0"/>
                <a:ea typeface="宋体" pitchFamily="2" charset="-122"/>
              </a:defRPr>
            </a:lvl4pPr>
            <a:lvl5pPr marL="2057400" indent="-228600" eaLnBrk="0" hangingPunct="0">
              <a:tabLst>
                <a:tab pos="250825" algn="l"/>
              </a:tabLst>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9pPr>
          </a:lstStyle>
          <a:p>
            <a:pPr algn="l" eaLnBrk="1" hangingPunct="1">
              <a:spcBef>
                <a:spcPct val="0"/>
              </a:spcBef>
              <a:buFont typeface="Arial" pitchFamily="34" charset="0"/>
              <a:buAutoNum type="arabicPeriod"/>
            </a:pPr>
            <a:r>
              <a:rPr lang="zh-CN" altLang="en-US">
                <a:solidFill>
                  <a:schemeClr val="tx1"/>
                </a:solidFill>
                <a:latin typeface="楷体_GB2312" pitchFamily="1" charset="-122"/>
                <a:ea typeface="楷体_GB2312" pitchFamily="1" charset="-122"/>
              </a:rPr>
              <a:t>图</a:t>
            </a:r>
            <a:r>
              <a:rPr lang="en-US" altLang="zh-CN">
                <a:solidFill>
                  <a:schemeClr val="tx1"/>
                </a:solidFill>
                <a:latin typeface="楷体_GB2312" pitchFamily="1" charset="-122"/>
                <a:ea typeface="楷体_GB2312" pitchFamily="1" charset="-122"/>
              </a:rPr>
              <a:t>9-76</a:t>
            </a:r>
            <a:r>
              <a:rPr lang="zh-CN" altLang="en-US">
                <a:solidFill>
                  <a:schemeClr val="tx1"/>
                </a:solidFill>
                <a:latin typeface="楷体_GB2312" pitchFamily="1" charset="-122"/>
                <a:ea typeface="楷体_GB2312" pitchFamily="1" charset="-122"/>
              </a:rPr>
              <a:t>所示为正四面体，使用</a:t>
            </a:r>
            <a:r>
              <a:rPr lang="en-US" altLang="zh-CN">
                <a:solidFill>
                  <a:schemeClr val="tx1"/>
                </a:solidFill>
                <a:latin typeface="楷体_GB2312" pitchFamily="1" charset="-122"/>
                <a:ea typeface="楷体_GB2312" pitchFamily="1" charset="-122"/>
              </a:rPr>
              <a:t>MFC</a:t>
            </a:r>
            <a:r>
              <a:rPr lang="zh-CN" altLang="en-US">
                <a:solidFill>
                  <a:schemeClr val="tx1"/>
                </a:solidFill>
                <a:latin typeface="楷体_GB2312" pitchFamily="1" charset="-122"/>
                <a:ea typeface="楷体_GB2312" pitchFamily="1" charset="-122"/>
              </a:rPr>
              <a:t>编程实现正四面体的透视投影动态隐线算法。这里的</a:t>
            </a:r>
            <a:r>
              <a:rPr lang="en-US" altLang="zh-CN">
                <a:solidFill>
                  <a:schemeClr val="tx1"/>
                </a:solidFill>
                <a:ea typeface="楷体_GB2312" pitchFamily="1" charset="-122"/>
              </a:rPr>
              <a:t>”</a:t>
            </a:r>
            <a:r>
              <a:rPr lang="zh-CN" altLang="en-US">
                <a:solidFill>
                  <a:schemeClr val="tx1"/>
                </a:solidFill>
                <a:latin typeface="楷体_GB2312" pitchFamily="1" charset="-122"/>
                <a:ea typeface="楷体_GB2312" pitchFamily="1" charset="-122"/>
              </a:rPr>
              <a:t>动态</a:t>
            </a:r>
            <a:r>
              <a:rPr lang="en-US" altLang="zh-CN">
                <a:solidFill>
                  <a:schemeClr val="tx1"/>
                </a:solidFill>
                <a:ea typeface="楷体_GB2312" pitchFamily="1" charset="-122"/>
              </a:rPr>
              <a:t>”</a:t>
            </a:r>
            <a:r>
              <a:rPr lang="zh-CN" altLang="en-US">
                <a:solidFill>
                  <a:schemeClr val="tx1"/>
                </a:solidFill>
                <a:latin typeface="楷体_GB2312" pitchFamily="1" charset="-122"/>
                <a:ea typeface="楷体_GB2312" pitchFamily="1" charset="-122"/>
              </a:rPr>
              <a:t>是指使用键盘方向键或动画按钮可以对正四面体进行任意角度的旋转。</a:t>
            </a:r>
          </a:p>
        </p:txBody>
      </p:sp>
      <p:pic>
        <p:nvPicPr>
          <p:cNvPr id="106501"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36838" y="2619375"/>
            <a:ext cx="3870325" cy="280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2" name="Rectangle 9"/>
          <p:cNvSpPr>
            <a:spLocks noChangeArrowheads="1"/>
          </p:cNvSpPr>
          <p:nvPr/>
        </p:nvSpPr>
        <p:spPr bwMode="auto">
          <a:xfrm>
            <a:off x="2862263" y="5859463"/>
            <a:ext cx="3613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9-76 </a:t>
            </a:r>
            <a:r>
              <a:rPr lang="zh-CN" altLang="en-US" sz="2000">
                <a:solidFill>
                  <a:schemeClr val="tx1"/>
                </a:solidFill>
                <a:latin typeface="楷体_GB2312" pitchFamily="1" charset="-122"/>
                <a:ea typeface="楷体_GB2312" pitchFamily="1" charset="-122"/>
              </a:rPr>
              <a:t>正四面体消隐线框模型</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026FF78E-3AB0-4BAF-B980-D4A1AE8E3A05}" type="slidenum">
              <a:rPr lang="en-US" altLang="zh-CN" sz="1200">
                <a:solidFill>
                  <a:schemeClr val="tx1"/>
                </a:solidFill>
                <a:latin typeface="Garamond" pitchFamily="18" charset="0"/>
              </a:rPr>
              <a:pPr algn="r" eaLnBrk="1" hangingPunct="1">
                <a:spcBef>
                  <a:spcPct val="0"/>
                </a:spcBef>
              </a:pPr>
              <a:t>103</a:t>
            </a:fld>
            <a:endParaRPr lang="en-US" altLang="zh-CN" sz="1200">
              <a:solidFill>
                <a:schemeClr val="tx1"/>
              </a:solidFill>
              <a:latin typeface="Garamond" pitchFamily="18" charset="0"/>
            </a:endParaRPr>
          </a:p>
        </p:txBody>
      </p:sp>
      <p:sp>
        <p:nvSpPr>
          <p:cNvPr id="107523" name="Rectangle 3"/>
          <p:cNvSpPr>
            <a:spLocks noChangeArrowheads="1"/>
          </p:cNvSpPr>
          <p:nvPr/>
        </p:nvSpPr>
        <p:spPr bwMode="auto">
          <a:xfrm>
            <a:off x="250825" y="550863"/>
            <a:ext cx="84169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250825" algn="l"/>
              </a:tabLst>
              <a:defRPr sz="2400">
                <a:solidFill>
                  <a:srgbClr val="0000CC"/>
                </a:solidFill>
                <a:latin typeface="Arial" pitchFamily="34" charset="0"/>
                <a:ea typeface="宋体" pitchFamily="2" charset="-122"/>
              </a:defRPr>
            </a:lvl1pPr>
            <a:lvl2pPr marL="742950" indent="-285750" eaLnBrk="0" hangingPunct="0">
              <a:tabLst>
                <a:tab pos="250825" algn="l"/>
              </a:tabLst>
              <a:defRPr sz="2400">
                <a:solidFill>
                  <a:srgbClr val="0000CC"/>
                </a:solidFill>
                <a:latin typeface="Arial" pitchFamily="34" charset="0"/>
                <a:ea typeface="宋体" pitchFamily="2" charset="-122"/>
              </a:defRPr>
            </a:lvl2pPr>
            <a:lvl3pPr marL="1143000" indent="-228600" eaLnBrk="0" hangingPunct="0">
              <a:tabLst>
                <a:tab pos="250825" algn="l"/>
              </a:tabLst>
              <a:defRPr sz="2400">
                <a:solidFill>
                  <a:srgbClr val="0000CC"/>
                </a:solidFill>
                <a:latin typeface="Arial" pitchFamily="34" charset="0"/>
                <a:ea typeface="宋体" pitchFamily="2" charset="-122"/>
              </a:defRPr>
            </a:lvl3pPr>
            <a:lvl4pPr marL="1600200" indent="-228600" eaLnBrk="0" hangingPunct="0">
              <a:tabLst>
                <a:tab pos="250825" algn="l"/>
              </a:tabLst>
              <a:defRPr sz="2400">
                <a:solidFill>
                  <a:srgbClr val="0000CC"/>
                </a:solidFill>
                <a:latin typeface="Arial" pitchFamily="34" charset="0"/>
                <a:ea typeface="宋体" pitchFamily="2" charset="-122"/>
              </a:defRPr>
            </a:lvl4pPr>
            <a:lvl5pPr marL="2057400" indent="-228600" eaLnBrk="0" hangingPunct="0">
              <a:tabLst>
                <a:tab pos="250825" algn="l"/>
              </a:tabLst>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楷体_GB2312" pitchFamily="1" charset="-122"/>
                <a:ea typeface="楷体_GB2312" pitchFamily="1" charset="-122"/>
              </a:rPr>
              <a:t>2.</a:t>
            </a:r>
            <a:r>
              <a:rPr lang="zh-CN" altLang="en-US">
                <a:solidFill>
                  <a:schemeClr val="tx1"/>
                </a:solidFill>
                <a:latin typeface="楷体_GB2312" pitchFamily="1" charset="-122"/>
                <a:ea typeface="楷体_GB2312" pitchFamily="1" charset="-122"/>
              </a:rPr>
              <a:t>图</a:t>
            </a:r>
            <a:r>
              <a:rPr lang="en-US" altLang="zh-CN">
                <a:solidFill>
                  <a:schemeClr val="tx1"/>
                </a:solidFill>
                <a:latin typeface="楷体_GB2312" pitchFamily="1" charset="-122"/>
                <a:ea typeface="楷体_GB2312" pitchFamily="1" charset="-122"/>
              </a:rPr>
              <a:t>9-77</a:t>
            </a:r>
            <a:r>
              <a:rPr lang="zh-CN" altLang="en-US">
                <a:solidFill>
                  <a:schemeClr val="tx1"/>
                </a:solidFill>
                <a:latin typeface="楷体_GB2312" pitchFamily="1" charset="-122"/>
                <a:ea typeface="楷体_GB2312" pitchFamily="1" charset="-122"/>
              </a:rPr>
              <a:t>所示为正三棱柱线框模型，使用</a:t>
            </a:r>
            <a:r>
              <a:rPr lang="en-US" altLang="zh-CN">
                <a:solidFill>
                  <a:schemeClr val="tx1"/>
                </a:solidFill>
                <a:latin typeface="楷体_GB2312" pitchFamily="1" charset="-122"/>
                <a:ea typeface="楷体_GB2312" pitchFamily="1" charset="-122"/>
              </a:rPr>
              <a:t>MFC</a:t>
            </a:r>
            <a:r>
              <a:rPr lang="zh-CN" altLang="en-US">
                <a:solidFill>
                  <a:schemeClr val="tx1"/>
                </a:solidFill>
                <a:latin typeface="楷体_GB2312" pitchFamily="1" charset="-122"/>
                <a:ea typeface="楷体_GB2312" pitchFamily="1" charset="-122"/>
              </a:rPr>
              <a:t>编程实现正三棱柱的透视投影动态隐线算法。</a:t>
            </a:r>
          </a:p>
        </p:txBody>
      </p:sp>
      <p:sp>
        <p:nvSpPr>
          <p:cNvPr id="107524" name="Rectangle 5"/>
          <p:cNvSpPr>
            <a:spLocks noChangeArrowheads="1"/>
          </p:cNvSpPr>
          <p:nvPr/>
        </p:nvSpPr>
        <p:spPr bwMode="auto">
          <a:xfrm>
            <a:off x="2636838" y="5859463"/>
            <a:ext cx="3613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9-77 </a:t>
            </a:r>
            <a:r>
              <a:rPr lang="zh-CN" altLang="en-US" sz="2000">
                <a:solidFill>
                  <a:schemeClr val="tx1"/>
                </a:solidFill>
                <a:latin typeface="楷体_GB2312" pitchFamily="1" charset="-122"/>
                <a:ea typeface="楷体_GB2312" pitchFamily="1" charset="-122"/>
              </a:rPr>
              <a:t>正三棱柱消隐线框模型</a:t>
            </a:r>
          </a:p>
        </p:txBody>
      </p:sp>
      <p:pic>
        <p:nvPicPr>
          <p:cNvPr id="10752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6600" y="1493838"/>
            <a:ext cx="4951413" cy="360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6BAD54BE-8D8C-48E0-AB10-CD70E5D9E73B}" type="slidenum">
              <a:rPr lang="en-US" altLang="zh-CN" sz="1200">
                <a:solidFill>
                  <a:schemeClr val="tx1"/>
                </a:solidFill>
                <a:latin typeface="Garamond" pitchFamily="18" charset="0"/>
              </a:rPr>
              <a:pPr algn="r" eaLnBrk="1" hangingPunct="1">
                <a:spcBef>
                  <a:spcPct val="0"/>
                </a:spcBef>
              </a:pPr>
              <a:t>104</a:t>
            </a:fld>
            <a:endParaRPr lang="en-US" altLang="zh-CN" sz="1200">
              <a:solidFill>
                <a:schemeClr val="tx1"/>
              </a:solidFill>
              <a:latin typeface="Garamond" pitchFamily="18" charset="0"/>
            </a:endParaRPr>
          </a:p>
        </p:txBody>
      </p:sp>
      <p:sp>
        <p:nvSpPr>
          <p:cNvPr id="108547" name="Rectangle 2"/>
          <p:cNvSpPr>
            <a:spLocks noChangeArrowheads="1"/>
          </p:cNvSpPr>
          <p:nvPr/>
        </p:nvSpPr>
        <p:spPr bwMode="auto">
          <a:xfrm>
            <a:off x="250825" y="368300"/>
            <a:ext cx="84169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250825" algn="l"/>
              </a:tabLst>
              <a:defRPr sz="2400">
                <a:solidFill>
                  <a:srgbClr val="0000CC"/>
                </a:solidFill>
                <a:latin typeface="Arial" pitchFamily="34" charset="0"/>
                <a:ea typeface="宋体" pitchFamily="2" charset="-122"/>
              </a:defRPr>
            </a:lvl1pPr>
            <a:lvl2pPr marL="742950" indent="-285750" eaLnBrk="0" hangingPunct="0">
              <a:tabLst>
                <a:tab pos="250825" algn="l"/>
              </a:tabLst>
              <a:defRPr sz="2400">
                <a:solidFill>
                  <a:srgbClr val="0000CC"/>
                </a:solidFill>
                <a:latin typeface="Arial" pitchFamily="34" charset="0"/>
                <a:ea typeface="宋体" pitchFamily="2" charset="-122"/>
              </a:defRPr>
            </a:lvl2pPr>
            <a:lvl3pPr marL="1143000" indent="-228600" eaLnBrk="0" hangingPunct="0">
              <a:tabLst>
                <a:tab pos="250825" algn="l"/>
              </a:tabLst>
              <a:defRPr sz="2400">
                <a:solidFill>
                  <a:srgbClr val="0000CC"/>
                </a:solidFill>
                <a:latin typeface="Arial" pitchFamily="34" charset="0"/>
                <a:ea typeface="宋体" pitchFamily="2" charset="-122"/>
              </a:defRPr>
            </a:lvl3pPr>
            <a:lvl4pPr marL="1600200" indent="-228600" eaLnBrk="0" hangingPunct="0">
              <a:tabLst>
                <a:tab pos="250825" algn="l"/>
              </a:tabLst>
              <a:defRPr sz="2400">
                <a:solidFill>
                  <a:srgbClr val="0000CC"/>
                </a:solidFill>
                <a:latin typeface="Arial" pitchFamily="34" charset="0"/>
                <a:ea typeface="宋体" pitchFamily="2" charset="-122"/>
              </a:defRPr>
            </a:lvl4pPr>
            <a:lvl5pPr marL="2057400" indent="-228600" eaLnBrk="0" hangingPunct="0">
              <a:tabLst>
                <a:tab pos="250825" algn="l"/>
              </a:tabLst>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楷体_GB2312" pitchFamily="1" charset="-122"/>
                <a:ea typeface="楷体_GB2312" pitchFamily="1" charset="-122"/>
              </a:rPr>
              <a:t>3.</a:t>
            </a:r>
            <a:r>
              <a:rPr lang="zh-CN" altLang="en-US">
                <a:solidFill>
                  <a:schemeClr val="tx1"/>
                </a:solidFill>
                <a:latin typeface="楷体_GB2312" pitchFamily="1" charset="-122"/>
                <a:ea typeface="楷体_GB2312" pitchFamily="1" charset="-122"/>
              </a:rPr>
              <a:t>立方体的表面</a:t>
            </a:r>
            <a:r>
              <a:rPr lang="en-US" altLang="zh-CN">
                <a:solidFill>
                  <a:schemeClr val="tx1"/>
                </a:solidFill>
                <a:latin typeface="楷体_GB2312" pitchFamily="1" charset="-122"/>
                <a:ea typeface="楷体_GB2312" pitchFamily="1" charset="-122"/>
              </a:rPr>
              <a:t>F</a:t>
            </a:r>
            <a:r>
              <a:rPr lang="en-US" altLang="zh-CN" baseline="-25000">
                <a:solidFill>
                  <a:schemeClr val="tx1"/>
                </a:solidFill>
                <a:latin typeface="楷体_GB2312" pitchFamily="1" charset="-122"/>
                <a:ea typeface="楷体_GB2312" pitchFamily="1" charset="-122"/>
              </a:rPr>
              <a:t>0</a:t>
            </a:r>
            <a:r>
              <a:rPr lang="zh-CN" altLang="en-US">
                <a:solidFill>
                  <a:schemeClr val="tx1"/>
                </a:solidFill>
                <a:latin typeface="楷体_GB2312" pitchFamily="1" charset="-122"/>
                <a:ea typeface="楷体_GB2312" pitchFamily="1" charset="-122"/>
              </a:rPr>
              <a:t>可以通过四个顶点</a:t>
            </a:r>
            <a:r>
              <a:rPr lang="en-US" altLang="zh-CN">
                <a:solidFill>
                  <a:schemeClr val="tx1"/>
                </a:solidFill>
                <a:latin typeface="楷体_GB2312" pitchFamily="1" charset="-122"/>
                <a:ea typeface="楷体_GB2312" pitchFamily="1" charset="-122"/>
              </a:rPr>
              <a:t>V</a:t>
            </a:r>
            <a:r>
              <a:rPr lang="en-US" altLang="zh-CN" baseline="-25000">
                <a:solidFill>
                  <a:schemeClr val="tx1"/>
                </a:solidFill>
                <a:latin typeface="楷体_GB2312" pitchFamily="1" charset="-122"/>
                <a:ea typeface="楷体_GB2312" pitchFamily="1" charset="-122"/>
              </a:rPr>
              <a:t>0</a:t>
            </a:r>
            <a:r>
              <a:rPr lang="en-US" altLang="zh-CN">
                <a:solidFill>
                  <a:schemeClr val="tx1"/>
                </a:solidFill>
                <a:latin typeface="楷体_GB2312" pitchFamily="1" charset="-122"/>
                <a:ea typeface="楷体_GB2312" pitchFamily="1" charset="-122"/>
              </a:rPr>
              <a:t>V</a:t>
            </a:r>
            <a:r>
              <a:rPr lang="en-US" altLang="zh-CN" baseline="-25000">
                <a:solidFill>
                  <a:schemeClr val="tx1"/>
                </a:solidFill>
                <a:latin typeface="楷体_GB2312" pitchFamily="1" charset="-122"/>
                <a:ea typeface="楷体_GB2312" pitchFamily="1" charset="-122"/>
              </a:rPr>
              <a:t>1</a:t>
            </a:r>
            <a:r>
              <a:rPr lang="en-US" altLang="zh-CN">
                <a:solidFill>
                  <a:schemeClr val="tx1"/>
                </a:solidFill>
                <a:latin typeface="楷体_GB2312" pitchFamily="1" charset="-122"/>
                <a:ea typeface="楷体_GB2312" pitchFamily="1" charset="-122"/>
              </a:rPr>
              <a:t>V</a:t>
            </a:r>
            <a:r>
              <a:rPr lang="en-US" altLang="zh-CN" baseline="-25000">
                <a:solidFill>
                  <a:schemeClr val="tx1"/>
                </a:solidFill>
                <a:latin typeface="楷体_GB2312" pitchFamily="1" charset="-122"/>
                <a:ea typeface="楷体_GB2312" pitchFamily="1" charset="-122"/>
              </a:rPr>
              <a:t>2</a:t>
            </a:r>
            <a:r>
              <a:rPr lang="en-US" altLang="zh-CN">
                <a:solidFill>
                  <a:schemeClr val="tx1"/>
                </a:solidFill>
                <a:latin typeface="楷体_GB2312" pitchFamily="1" charset="-122"/>
                <a:ea typeface="楷体_GB2312" pitchFamily="1" charset="-122"/>
              </a:rPr>
              <a:t>V</a:t>
            </a:r>
            <a:r>
              <a:rPr lang="en-US" altLang="zh-CN" baseline="-25000">
                <a:solidFill>
                  <a:schemeClr val="tx1"/>
                </a:solidFill>
                <a:latin typeface="楷体_GB2312" pitchFamily="1" charset="-122"/>
                <a:ea typeface="楷体_GB2312" pitchFamily="1" charset="-122"/>
              </a:rPr>
              <a:t>3</a:t>
            </a:r>
            <a:r>
              <a:rPr lang="zh-CN" altLang="en-US">
                <a:solidFill>
                  <a:schemeClr val="tx1"/>
                </a:solidFill>
                <a:latin typeface="楷体_GB2312" pitchFamily="1" charset="-122"/>
                <a:ea typeface="楷体_GB2312" pitchFamily="1" charset="-122"/>
              </a:rPr>
              <a:t>来定义，也可以通过四条边</a:t>
            </a:r>
            <a:r>
              <a:rPr lang="en-US" altLang="zh-CN">
                <a:solidFill>
                  <a:schemeClr val="tx1"/>
                </a:solidFill>
                <a:latin typeface="楷体_GB2312" pitchFamily="1" charset="-122"/>
                <a:ea typeface="楷体_GB2312" pitchFamily="1" charset="-122"/>
              </a:rPr>
              <a:t>E</a:t>
            </a:r>
            <a:r>
              <a:rPr lang="en-US" altLang="zh-CN" baseline="-25000">
                <a:solidFill>
                  <a:schemeClr val="tx1"/>
                </a:solidFill>
                <a:latin typeface="楷体_GB2312" pitchFamily="1" charset="-122"/>
                <a:ea typeface="楷体_GB2312" pitchFamily="1" charset="-122"/>
              </a:rPr>
              <a:t>0</a:t>
            </a:r>
            <a:r>
              <a:rPr lang="en-US" altLang="zh-CN">
                <a:solidFill>
                  <a:schemeClr val="tx1"/>
                </a:solidFill>
                <a:latin typeface="楷体_GB2312" pitchFamily="1" charset="-122"/>
                <a:ea typeface="楷体_GB2312" pitchFamily="1" charset="-122"/>
              </a:rPr>
              <a:t>E</a:t>
            </a:r>
            <a:r>
              <a:rPr lang="en-US" altLang="zh-CN" baseline="-25000">
                <a:solidFill>
                  <a:schemeClr val="tx1"/>
                </a:solidFill>
                <a:latin typeface="楷体_GB2312" pitchFamily="1" charset="-122"/>
                <a:ea typeface="楷体_GB2312" pitchFamily="1" charset="-122"/>
              </a:rPr>
              <a:t>1</a:t>
            </a:r>
            <a:r>
              <a:rPr lang="en-US" altLang="zh-CN">
                <a:solidFill>
                  <a:schemeClr val="tx1"/>
                </a:solidFill>
                <a:latin typeface="楷体_GB2312" pitchFamily="1" charset="-122"/>
                <a:ea typeface="楷体_GB2312" pitchFamily="1" charset="-122"/>
              </a:rPr>
              <a:t>E</a:t>
            </a:r>
            <a:r>
              <a:rPr lang="en-US" altLang="zh-CN" baseline="-25000">
                <a:solidFill>
                  <a:schemeClr val="tx1"/>
                </a:solidFill>
                <a:latin typeface="楷体_GB2312" pitchFamily="1" charset="-122"/>
                <a:ea typeface="楷体_GB2312" pitchFamily="1" charset="-122"/>
              </a:rPr>
              <a:t>2</a:t>
            </a:r>
            <a:r>
              <a:rPr lang="en-US" altLang="zh-CN">
                <a:solidFill>
                  <a:schemeClr val="tx1"/>
                </a:solidFill>
                <a:latin typeface="楷体_GB2312" pitchFamily="1" charset="-122"/>
                <a:ea typeface="楷体_GB2312" pitchFamily="1" charset="-122"/>
              </a:rPr>
              <a:t>E</a:t>
            </a:r>
            <a:r>
              <a:rPr lang="en-US" altLang="zh-CN" baseline="-25000">
                <a:solidFill>
                  <a:schemeClr val="tx1"/>
                </a:solidFill>
                <a:latin typeface="楷体_GB2312" pitchFamily="1" charset="-122"/>
                <a:ea typeface="楷体_GB2312" pitchFamily="1" charset="-122"/>
              </a:rPr>
              <a:t>3</a:t>
            </a:r>
            <a:r>
              <a:rPr lang="zh-CN" altLang="en-US">
                <a:solidFill>
                  <a:schemeClr val="tx1"/>
                </a:solidFill>
                <a:latin typeface="楷体_GB2312" pitchFamily="1" charset="-122"/>
                <a:ea typeface="楷体_GB2312" pitchFamily="1" charset="-122"/>
              </a:rPr>
              <a:t>来定义，如图</a:t>
            </a:r>
            <a:r>
              <a:rPr lang="en-US" altLang="zh-CN">
                <a:solidFill>
                  <a:schemeClr val="tx1"/>
                </a:solidFill>
                <a:latin typeface="楷体_GB2312" pitchFamily="1" charset="-122"/>
                <a:ea typeface="楷体_GB2312" pitchFamily="1" charset="-122"/>
              </a:rPr>
              <a:t>9-78</a:t>
            </a:r>
            <a:r>
              <a:rPr lang="zh-CN" altLang="en-US">
                <a:solidFill>
                  <a:schemeClr val="tx1"/>
                </a:solidFill>
                <a:latin typeface="楷体_GB2312" pitchFamily="1" charset="-122"/>
                <a:ea typeface="楷体_GB2312" pitchFamily="1" charset="-122"/>
              </a:rPr>
              <a:t>所示。请编程绘制消隐线为虚线的立方体线框模型透视投影，效果如图</a:t>
            </a:r>
            <a:r>
              <a:rPr lang="en-US" altLang="zh-CN">
                <a:solidFill>
                  <a:schemeClr val="tx1"/>
                </a:solidFill>
                <a:latin typeface="楷体_GB2312" pitchFamily="1" charset="-122"/>
                <a:ea typeface="楷体_GB2312" pitchFamily="1" charset="-122"/>
              </a:rPr>
              <a:t>9-79</a:t>
            </a:r>
            <a:r>
              <a:rPr lang="zh-CN" altLang="en-US">
                <a:solidFill>
                  <a:schemeClr val="tx1"/>
                </a:solidFill>
                <a:latin typeface="楷体_GB2312" pitchFamily="1" charset="-122"/>
                <a:ea typeface="楷体_GB2312" pitchFamily="1" charset="-122"/>
              </a:rPr>
              <a:t>所示。</a:t>
            </a:r>
          </a:p>
        </p:txBody>
      </p:sp>
      <p:sp>
        <p:nvSpPr>
          <p:cNvPr id="108548" name="Rectangle 3"/>
          <p:cNvSpPr>
            <a:spLocks noChangeArrowheads="1"/>
          </p:cNvSpPr>
          <p:nvPr/>
        </p:nvSpPr>
        <p:spPr bwMode="auto">
          <a:xfrm>
            <a:off x="1106488" y="6129338"/>
            <a:ext cx="7380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9-78 </a:t>
            </a:r>
            <a:r>
              <a:rPr lang="zh-CN" altLang="en-US" sz="2000">
                <a:solidFill>
                  <a:schemeClr val="tx1"/>
                </a:solidFill>
                <a:latin typeface="楷体_GB2312" pitchFamily="1" charset="-122"/>
                <a:ea typeface="楷体_GB2312" pitchFamily="1" charset="-122"/>
              </a:rPr>
              <a:t>立方体表面的定义   图</a:t>
            </a:r>
            <a:r>
              <a:rPr lang="en-US" altLang="zh-CN" sz="2000">
                <a:solidFill>
                  <a:schemeClr val="tx1"/>
                </a:solidFill>
                <a:latin typeface="楷体_GB2312" pitchFamily="1" charset="-122"/>
                <a:ea typeface="楷体_GB2312" pitchFamily="1" charset="-122"/>
              </a:rPr>
              <a:t>9-79 </a:t>
            </a:r>
            <a:r>
              <a:rPr lang="zh-CN" altLang="en-US" sz="2000">
                <a:solidFill>
                  <a:schemeClr val="tx1"/>
                </a:solidFill>
                <a:latin typeface="楷体_GB2312" pitchFamily="1" charset="-122"/>
                <a:ea typeface="楷体_GB2312" pitchFamily="1" charset="-122"/>
              </a:rPr>
              <a:t>立方体虚线消隐线框模型</a:t>
            </a:r>
            <a:r>
              <a:rPr lang="zh-CN" altLang="en-US"/>
              <a:t> </a:t>
            </a:r>
            <a:r>
              <a:rPr lang="zh-CN" altLang="en-US" sz="2000">
                <a:solidFill>
                  <a:schemeClr val="tx1"/>
                </a:solidFill>
                <a:latin typeface="楷体_GB2312" pitchFamily="1" charset="-122"/>
                <a:ea typeface="楷体_GB2312" pitchFamily="1" charset="-122"/>
              </a:rPr>
              <a:t> </a:t>
            </a:r>
          </a:p>
        </p:txBody>
      </p:sp>
      <p:graphicFrame>
        <p:nvGraphicFramePr>
          <p:cNvPr id="108550" name="Object 5"/>
          <p:cNvGraphicFramePr>
            <a:graphicFrameLocks noChangeAspect="1"/>
          </p:cNvGraphicFramePr>
          <p:nvPr/>
        </p:nvGraphicFramePr>
        <p:xfrm>
          <a:off x="1150938" y="3159125"/>
          <a:ext cx="2695575" cy="2776538"/>
        </p:xfrm>
        <a:graphic>
          <a:graphicData uri="http://schemas.openxmlformats.org/presentationml/2006/ole">
            <mc:AlternateContent xmlns:mc="http://schemas.openxmlformats.org/markup-compatibility/2006">
              <mc:Choice xmlns:v="urn:schemas-microsoft-com:vml" Requires="v">
                <p:oleObj spid="_x0000_s108577" r:id="rId3" imgW="2819019" imgH="2926842" progId="Visio.Drawing.11">
                  <p:embed/>
                </p:oleObj>
              </mc:Choice>
              <mc:Fallback>
                <p:oleObj r:id="rId3" imgW="2819019" imgH="2926842" progId="Visio.Drawing.11">
                  <p:embed/>
                  <p:pic>
                    <p:nvPicPr>
                      <p:cNvPr id="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0938" y="3159125"/>
                        <a:ext cx="2695575" cy="277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8551"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27550" y="3203575"/>
            <a:ext cx="3735388" cy="269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52" name="Rectangle 8"/>
          <p:cNvSpPr>
            <a:spLocks noChangeArrowheads="1"/>
          </p:cNvSpPr>
          <p:nvPr/>
        </p:nvSpPr>
        <p:spPr bwMode="auto">
          <a:xfrm>
            <a:off x="522288" y="1719263"/>
            <a:ext cx="81915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a:solidFill>
                  <a:srgbClr val="3333FF"/>
                </a:solidFill>
                <a:ea typeface="楷体_GB2312" pitchFamily="1" charset="-122"/>
              </a:rPr>
              <a:t>说明：如果仅使用顶点表和面表的双表结构绘制立方体线框模型，每条边被绘制两次。只有借助于边表，使用三表结构才能完成本题。</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FBE1252C-89BF-47A6-B5B1-170BF63D3B5F}" type="slidenum">
              <a:rPr lang="en-US" altLang="zh-CN" sz="1200">
                <a:solidFill>
                  <a:schemeClr val="tx1"/>
                </a:solidFill>
                <a:latin typeface="Garamond" pitchFamily="18" charset="0"/>
              </a:rPr>
              <a:pPr algn="r" eaLnBrk="1" hangingPunct="1">
                <a:spcBef>
                  <a:spcPct val="0"/>
                </a:spcBef>
              </a:pPr>
              <a:t>105</a:t>
            </a:fld>
            <a:endParaRPr lang="en-US" altLang="zh-CN" sz="1200">
              <a:solidFill>
                <a:schemeClr val="tx1"/>
              </a:solidFill>
              <a:latin typeface="Garamond" pitchFamily="18" charset="0"/>
            </a:endParaRPr>
          </a:p>
        </p:txBody>
      </p:sp>
      <p:sp>
        <p:nvSpPr>
          <p:cNvPr id="109571" name="Rectangle 2"/>
          <p:cNvSpPr>
            <a:spLocks noChangeArrowheads="1"/>
          </p:cNvSpPr>
          <p:nvPr/>
        </p:nvSpPr>
        <p:spPr bwMode="auto">
          <a:xfrm>
            <a:off x="250825" y="185738"/>
            <a:ext cx="841692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250825" algn="l"/>
              </a:tabLst>
              <a:defRPr sz="2400">
                <a:solidFill>
                  <a:srgbClr val="0000CC"/>
                </a:solidFill>
                <a:latin typeface="Arial" pitchFamily="34" charset="0"/>
                <a:ea typeface="宋体" pitchFamily="2" charset="-122"/>
              </a:defRPr>
            </a:lvl1pPr>
            <a:lvl2pPr marL="742950" indent="-285750" eaLnBrk="0" hangingPunct="0">
              <a:tabLst>
                <a:tab pos="250825" algn="l"/>
              </a:tabLst>
              <a:defRPr sz="2400">
                <a:solidFill>
                  <a:srgbClr val="0000CC"/>
                </a:solidFill>
                <a:latin typeface="Arial" pitchFamily="34" charset="0"/>
                <a:ea typeface="宋体" pitchFamily="2" charset="-122"/>
              </a:defRPr>
            </a:lvl2pPr>
            <a:lvl3pPr marL="1143000" indent="-228600" eaLnBrk="0" hangingPunct="0">
              <a:tabLst>
                <a:tab pos="250825" algn="l"/>
              </a:tabLst>
              <a:defRPr sz="2400">
                <a:solidFill>
                  <a:srgbClr val="0000CC"/>
                </a:solidFill>
                <a:latin typeface="Arial" pitchFamily="34" charset="0"/>
                <a:ea typeface="宋体" pitchFamily="2" charset="-122"/>
              </a:defRPr>
            </a:lvl3pPr>
            <a:lvl4pPr marL="1600200" indent="-228600" eaLnBrk="0" hangingPunct="0">
              <a:tabLst>
                <a:tab pos="250825" algn="l"/>
              </a:tabLst>
              <a:defRPr sz="2400">
                <a:solidFill>
                  <a:srgbClr val="0000CC"/>
                </a:solidFill>
                <a:latin typeface="Arial" pitchFamily="34" charset="0"/>
                <a:ea typeface="宋体" pitchFamily="2" charset="-122"/>
              </a:defRPr>
            </a:lvl4pPr>
            <a:lvl5pPr marL="2057400" indent="-228600" eaLnBrk="0" hangingPunct="0">
              <a:tabLst>
                <a:tab pos="250825" algn="l"/>
              </a:tabLst>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楷体_GB2312" pitchFamily="1" charset="-122"/>
                <a:ea typeface="楷体_GB2312" pitchFamily="1" charset="-122"/>
              </a:rPr>
              <a:t>4.</a:t>
            </a:r>
            <a:r>
              <a:rPr lang="zh-CN" altLang="en-US">
                <a:solidFill>
                  <a:schemeClr val="tx1"/>
                </a:solidFill>
                <a:latin typeface="楷体_GB2312" pitchFamily="1" charset="-122"/>
                <a:ea typeface="楷体_GB2312" pitchFamily="1" charset="-122"/>
              </a:rPr>
              <a:t>如果一个平面在三维坐标系的三个坐标轴上的截距都相等，在第一卦限内的图形如图</a:t>
            </a:r>
            <a:r>
              <a:rPr lang="en-US" altLang="zh-CN">
                <a:solidFill>
                  <a:schemeClr val="tx1"/>
                </a:solidFill>
                <a:latin typeface="楷体_GB2312" pitchFamily="1" charset="-122"/>
                <a:ea typeface="楷体_GB2312" pitchFamily="1" charset="-122"/>
              </a:rPr>
              <a:t>9-80</a:t>
            </a:r>
            <a:r>
              <a:rPr lang="zh-CN" altLang="en-US">
                <a:solidFill>
                  <a:schemeClr val="tx1"/>
                </a:solidFill>
                <a:latin typeface="楷体_GB2312" pitchFamily="1" charset="-122"/>
                <a:ea typeface="楷体_GB2312" pitchFamily="1" charset="-122"/>
              </a:rPr>
              <a:t>所示。在八个卦限内的图形可以组成正八面体，如图</a:t>
            </a:r>
            <a:r>
              <a:rPr lang="en-US" altLang="zh-CN">
                <a:solidFill>
                  <a:schemeClr val="tx1"/>
                </a:solidFill>
                <a:latin typeface="楷体_GB2312" pitchFamily="1" charset="-122"/>
                <a:ea typeface="楷体_GB2312" pitchFamily="1" charset="-122"/>
              </a:rPr>
              <a:t>9-81</a:t>
            </a:r>
            <a:r>
              <a:rPr lang="zh-CN" altLang="en-US">
                <a:solidFill>
                  <a:schemeClr val="tx1"/>
                </a:solidFill>
                <a:latin typeface="楷体_GB2312" pitchFamily="1" charset="-122"/>
                <a:ea typeface="楷体_GB2312" pitchFamily="1" charset="-122"/>
              </a:rPr>
              <a:t>所示，请使用</a:t>
            </a:r>
            <a:r>
              <a:rPr lang="en-US" altLang="zh-CN">
                <a:solidFill>
                  <a:schemeClr val="tx1"/>
                </a:solidFill>
                <a:latin typeface="楷体_GB2312" pitchFamily="1" charset="-122"/>
                <a:ea typeface="楷体_GB2312" pitchFamily="1" charset="-122"/>
              </a:rPr>
              <a:t>MFC</a:t>
            </a:r>
            <a:r>
              <a:rPr lang="zh-CN" altLang="en-US">
                <a:solidFill>
                  <a:schemeClr val="tx1"/>
                </a:solidFill>
                <a:latin typeface="楷体_GB2312" pitchFamily="1" charset="-122"/>
                <a:ea typeface="楷体_GB2312" pitchFamily="1" charset="-122"/>
              </a:rPr>
              <a:t>编程实现正八面体的动态隐线算法。</a:t>
            </a:r>
          </a:p>
        </p:txBody>
      </p:sp>
      <p:sp>
        <p:nvSpPr>
          <p:cNvPr id="109572" name="Rectangle 3"/>
          <p:cNvSpPr>
            <a:spLocks noChangeArrowheads="1"/>
          </p:cNvSpPr>
          <p:nvPr/>
        </p:nvSpPr>
        <p:spPr bwMode="auto">
          <a:xfrm>
            <a:off x="1376363" y="5589588"/>
            <a:ext cx="7200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9-80  </a:t>
            </a:r>
            <a:r>
              <a:rPr lang="zh-CN" altLang="en-US" sz="2000">
                <a:solidFill>
                  <a:schemeClr val="tx1"/>
                </a:solidFill>
                <a:latin typeface="楷体_GB2312" pitchFamily="1" charset="-122"/>
                <a:ea typeface="楷体_GB2312" pitchFamily="1" charset="-122"/>
              </a:rPr>
              <a:t>平面的截距          图</a:t>
            </a:r>
            <a:r>
              <a:rPr lang="en-US" altLang="zh-CN" sz="2000">
                <a:solidFill>
                  <a:schemeClr val="tx1"/>
                </a:solidFill>
                <a:latin typeface="楷体_GB2312" pitchFamily="1" charset="-122"/>
                <a:ea typeface="楷体_GB2312" pitchFamily="1" charset="-122"/>
              </a:rPr>
              <a:t>9-81 </a:t>
            </a:r>
            <a:r>
              <a:rPr lang="zh-CN" altLang="en-US" sz="2000">
                <a:solidFill>
                  <a:schemeClr val="tx1"/>
                </a:solidFill>
                <a:latin typeface="楷体_GB2312" pitchFamily="1" charset="-122"/>
                <a:ea typeface="楷体_GB2312" pitchFamily="1" charset="-122"/>
              </a:rPr>
              <a:t>正八面体消隐线框模型</a:t>
            </a:r>
          </a:p>
        </p:txBody>
      </p:sp>
      <p:graphicFrame>
        <p:nvGraphicFramePr>
          <p:cNvPr id="109575" name="Object 8"/>
          <p:cNvGraphicFramePr>
            <a:graphicFrameLocks noChangeAspect="1"/>
          </p:cNvGraphicFramePr>
          <p:nvPr/>
        </p:nvGraphicFramePr>
        <p:xfrm>
          <a:off x="1106488" y="2079625"/>
          <a:ext cx="2970212" cy="2855913"/>
        </p:xfrm>
        <a:graphic>
          <a:graphicData uri="http://schemas.openxmlformats.org/presentationml/2006/ole">
            <mc:AlternateContent xmlns:mc="http://schemas.openxmlformats.org/markup-compatibility/2006">
              <mc:Choice xmlns:v="urn:schemas-microsoft-com:vml" Requires="v">
                <p:oleObj spid="_x0000_s109601" r:id="rId3" imgW="4798847" imgH="4632798" progId="Visio.Drawing.11">
                  <p:embed/>
                </p:oleObj>
              </mc:Choice>
              <mc:Fallback>
                <p:oleObj r:id="rId3" imgW="4798847" imgH="4632798" progId="Visio.Drawing.11">
                  <p:embed/>
                  <p:pic>
                    <p:nvPicPr>
                      <p:cNvPr id="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6488" y="2079625"/>
                        <a:ext cx="2970212" cy="2855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9576" name="Picture 1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62488" y="1989138"/>
            <a:ext cx="3646487" cy="265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F4231F5F-FAEC-4787-87AB-A67AA73955D7}" type="slidenum">
              <a:rPr lang="en-US" altLang="zh-CN" sz="1200">
                <a:solidFill>
                  <a:schemeClr val="tx1"/>
                </a:solidFill>
                <a:latin typeface="Garamond" pitchFamily="18" charset="0"/>
              </a:rPr>
              <a:pPr algn="r" eaLnBrk="1" hangingPunct="1">
                <a:spcBef>
                  <a:spcPct val="0"/>
                </a:spcBef>
              </a:pPr>
              <a:t>106</a:t>
            </a:fld>
            <a:endParaRPr lang="en-US" altLang="zh-CN" sz="1200">
              <a:solidFill>
                <a:schemeClr val="tx1"/>
              </a:solidFill>
              <a:latin typeface="Garamond" pitchFamily="18" charset="0"/>
            </a:endParaRPr>
          </a:p>
        </p:txBody>
      </p:sp>
      <p:sp>
        <p:nvSpPr>
          <p:cNvPr id="110595" name="Rectangle 2"/>
          <p:cNvSpPr>
            <a:spLocks noChangeArrowheads="1"/>
          </p:cNvSpPr>
          <p:nvPr/>
        </p:nvSpPr>
        <p:spPr bwMode="auto">
          <a:xfrm>
            <a:off x="250825" y="368300"/>
            <a:ext cx="86868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250825" algn="l"/>
              </a:tabLst>
              <a:defRPr sz="2400">
                <a:solidFill>
                  <a:srgbClr val="0000CC"/>
                </a:solidFill>
                <a:latin typeface="Arial" pitchFamily="34" charset="0"/>
                <a:ea typeface="宋体" pitchFamily="2" charset="-122"/>
              </a:defRPr>
            </a:lvl1pPr>
            <a:lvl2pPr marL="742950" indent="-285750" eaLnBrk="0" hangingPunct="0">
              <a:tabLst>
                <a:tab pos="250825" algn="l"/>
              </a:tabLst>
              <a:defRPr sz="2400">
                <a:solidFill>
                  <a:srgbClr val="0000CC"/>
                </a:solidFill>
                <a:latin typeface="Arial" pitchFamily="34" charset="0"/>
                <a:ea typeface="宋体" pitchFamily="2" charset="-122"/>
              </a:defRPr>
            </a:lvl2pPr>
            <a:lvl3pPr marL="1143000" indent="-228600" eaLnBrk="0" hangingPunct="0">
              <a:tabLst>
                <a:tab pos="250825" algn="l"/>
              </a:tabLst>
              <a:defRPr sz="2400">
                <a:solidFill>
                  <a:srgbClr val="0000CC"/>
                </a:solidFill>
                <a:latin typeface="Arial" pitchFamily="34" charset="0"/>
                <a:ea typeface="宋体" pitchFamily="2" charset="-122"/>
              </a:defRPr>
            </a:lvl3pPr>
            <a:lvl4pPr marL="1600200" indent="-228600" eaLnBrk="0" hangingPunct="0">
              <a:tabLst>
                <a:tab pos="250825" algn="l"/>
              </a:tabLst>
              <a:defRPr sz="2400">
                <a:solidFill>
                  <a:srgbClr val="0000CC"/>
                </a:solidFill>
                <a:latin typeface="Arial" pitchFamily="34" charset="0"/>
                <a:ea typeface="宋体" pitchFamily="2" charset="-122"/>
              </a:defRPr>
            </a:lvl4pPr>
            <a:lvl5pPr marL="2057400" indent="-228600" eaLnBrk="0" hangingPunct="0">
              <a:tabLst>
                <a:tab pos="250825" algn="l"/>
              </a:tabLst>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9pPr>
          </a:lstStyle>
          <a:p>
            <a:pPr algn="l" eaLnBrk="1" hangingPunct="1">
              <a:spcBef>
                <a:spcPct val="0"/>
              </a:spcBef>
            </a:pPr>
            <a:r>
              <a:rPr lang="en-US" altLang="zh-CN">
                <a:solidFill>
                  <a:schemeClr val="tx1"/>
                </a:solidFill>
                <a:latin typeface="楷体_GB2312" pitchFamily="1" charset="-122"/>
                <a:ea typeface="楷体_GB2312" pitchFamily="1" charset="-122"/>
              </a:rPr>
              <a:t>5.</a:t>
            </a:r>
            <a:r>
              <a:rPr lang="zh-CN" altLang="en-US">
                <a:solidFill>
                  <a:schemeClr val="tx1"/>
                </a:solidFill>
                <a:latin typeface="楷体_GB2312" pitchFamily="1" charset="-122"/>
                <a:ea typeface="楷体_GB2312" pitchFamily="1" charset="-122"/>
              </a:rPr>
              <a:t>房屋的三视图如图</a:t>
            </a:r>
            <a:r>
              <a:rPr lang="en-US" altLang="zh-CN">
                <a:solidFill>
                  <a:schemeClr val="tx1"/>
                </a:solidFill>
                <a:latin typeface="楷体_GB2312" pitchFamily="1" charset="-122"/>
                <a:ea typeface="楷体_GB2312" pitchFamily="1" charset="-122"/>
              </a:rPr>
              <a:t>9-82</a:t>
            </a:r>
            <a:r>
              <a:rPr lang="zh-CN" altLang="en-US">
                <a:solidFill>
                  <a:schemeClr val="tx1"/>
                </a:solidFill>
                <a:latin typeface="楷体_GB2312" pitchFamily="1" charset="-122"/>
                <a:ea typeface="楷体_GB2312" pitchFamily="1" charset="-122"/>
              </a:rPr>
              <a:t>所示，请以图中的黑点所代表的回转中心为原点建立三维右手坐标系，并使用</a:t>
            </a:r>
            <a:r>
              <a:rPr lang="en-US" altLang="zh-CN">
                <a:solidFill>
                  <a:schemeClr val="tx1"/>
                </a:solidFill>
                <a:latin typeface="楷体_GB2312" pitchFamily="1" charset="-122"/>
                <a:ea typeface="楷体_GB2312" pitchFamily="1" charset="-122"/>
              </a:rPr>
              <a:t>MFC</a:t>
            </a:r>
            <a:r>
              <a:rPr lang="zh-CN" altLang="en-US">
                <a:solidFill>
                  <a:schemeClr val="tx1"/>
                </a:solidFill>
                <a:latin typeface="楷体_GB2312" pitchFamily="1" charset="-122"/>
                <a:ea typeface="楷体_GB2312" pitchFamily="1" charset="-122"/>
              </a:rPr>
              <a:t>实现动态隐线算法，绘制如图</a:t>
            </a:r>
            <a:r>
              <a:rPr lang="en-US" altLang="zh-CN">
                <a:solidFill>
                  <a:schemeClr val="tx1"/>
                </a:solidFill>
                <a:latin typeface="楷体_GB2312" pitchFamily="1" charset="-122"/>
                <a:ea typeface="楷体_GB2312" pitchFamily="1" charset="-122"/>
              </a:rPr>
              <a:t>9-83</a:t>
            </a:r>
            <a:r>
              <a:rPr lang="zh-CN" altLang="en-US">
                <a:solidFill>
                  <a:schemeClr val="tx1"/>
                </a:solidFill>
                <a:latin typeface="楷体_GB2312" pitchFamily="1" charset="-122"/>
                <a:ea typeface="楷体_GB2312" pitchFamily="1" charset="-122"/>
              </a:rPr>
              <a:t>所示的房屋动态消隐线框模型透视图。</a:t>
            </a:r>
          </a:p>
        </p:txBody>
      </p:sp>
      <p:sp>
        <p:nvSpPr>
          <p:cNvPr id="110596" name="Rectangle 3"/>
          <p:cNvSpPr>
            <a:spLocks noChangeArrowheads="1"/>
          </p:cNvSpPr>
          <p:nvPr/>
        </p:nvSpPr>
        <p:spPr bwMode="auto">
          <a:xfrm>
            <a:off x="1376363" y="5589588"/>
            <a:ext cx="7200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9-82  </a:t>
            </a:r>
            <a:r>
              <a:rPr lang="zh-CN" altLang="en-US" sz="2000">
                <a:solidFill>
                  <a:schemeClr val="tx1"/>
                </a:solidFill>
                <a:latin typeface="楷体_GB2312" pitchFamily="1" charset="-122"/>
                <a:ea typeface="楷体_GB2312" pitchFamily="1" charset="-122"/>
              </a:rPr>
              <a:t>房屋三视图          图</a:t>
            </a:r>
            <a:r>
              <a:rPr lang="en-US" altLang="zh-CN" sz="2000">
                <a:solidFill>
                  <a:schemeClr val="tx1"/>
                </a:solidFill>
                <a:latin typeface="楷体_GB2312" pitchFamily="1" charset="-122"/>
                <a:ea typeface="楷体_GB2312" pitchFamily="1" charset="-122"/>
              </a:rPr>
              <a:t>9-83   </a:t>
            </a:r>
            <a:r>
              <a:rPr lang="zh-CN" altLang="en-US" sz="2000">
                <a:solidFill>
                  <a:schemeClr val="tx1"/>
                </a:solidFill>
                <a:latin typeface="楷体_GB2312" pitchFamily="1" charset="-122"/>
                <a:ea typeface="楷体_GB2312" pitchFamily="1" charset="-122"/>
              </a:rPr>
              <a:t>房屋消隐线框模型</a:t>
            </a:r>
          </a:p>
        </p:txBody>
      </p:sp>
      <p:graphicFrame>
        <p:nvGraphicFramePr>
          <p:cNvPr id="110600" name="Object 8"/>
          <p:cNvGraphicFramePr>
            <a:graphicFrameLocks noChangeAspect="1"/>
          </p:cNvGraphicFramePr>
          <p:nvPr/>
        </p:nvGraphicFramePr>
        <p:xfrm>
          <a:off x="1062038" y="2349500"/>
          <a:ext cx="3016250" cy="2547938"/>
        </p:xfrm>
        <a:graphic>
          <a:graphicData uri="http://schemas.openxmlformats.org/presentationml/2006/ole">
            <mc:AlternateContent xmlns:mc="http://schemas.openxmlformats.org/markup-compatibility/2006">
              <mc:Choice xmlns:v="urn:schemas-microsoft-com:vml" Requires="v">
                <p:oleObj spid="_x0000_s110626" r:id="rId3" imgW="6886902" imgH="5806834" progId="Visio.Drawing.11">
                  <p:embed/>
                </p:oleObj>
              </mc:Choice>
              <mc:Fallback>
                <p:oleObj r:id="rId3" imgW="6886902" imgH="5806834" progId="Visio.Drawing.11">
                  <p:embed/>
                  <p:pic>
                    <p:nvPicPr>
                      <p:cNvPr id="0"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2038" y="2349500"/>
                        <a:ext cx="3016250" cy="2547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0601" name="Picture 1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97425" y="2214563"/>
            <a:ext cx="3465513"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211F865D-73DB-4DFD-B095-30512F43192A}" type="slidenum">
              <a:rPr lang="en-US" altLang="zh-CN" sz="1200">
                <a:solidFill>
                  <a:schemeClr val="tx1"/>
                </a:solidFill>
                <a:latin typeface="Garamond" pitchFamily="18" charset="0"/>
              </a:rPr>
              <a:pPr algn="r" eaLnBrk="1" hangingPunct="1">
                <a:spcBef>
                  <a:spcPct val="0"/>
                </a:spcBef>
              </a:pPr>
              <a:t>107</a:t>
            </a:fld>
            <a:endParaRPr lang="en-US" altLang="zh-CN" sz="1200">
              <a:solidFill>
                <a:schemeClr val="tx1"/>
              </a:solidFill>
              <a:latin typeface="Garamond" pitchFamily="18" charset="0"/>
            </a:endParaRPr>
          </a:p>
        </p:txBody>
      </p:sp>
      <p:sp>
        <p:nvSpPr>
          <p:cNvPr id="111619" name="Rectangle 2"/>
          <p:cNvSpPr>
            <a:spLocks noChangeArrowheads="1"/>
          </p:cNvSpPr>
          <p:nvPr/>
        </p:nvSpPr>
        <p:spPr bwMode="auto">
          <a:xfrm>
            <a:off x="250825" y="669925"/>
            <a:ext cx="8686800"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250825" algn="l"/>
              </a:tabLst>
              <a:defRPr sz="2400">
                <a:solidFill>
                  <a:srgbClr val="0000CC"/>
                </a:solidFill>
                <a:latin typeface="Arial" pitchFamily="34" charset="0"/>
                <a:ea typeface="宋体" pitchFamily="2" charset="-122"/>
              </a:defRPr>
            </a:lvl1pPr>
            <a:lvl2pPr marL="742950" indent="-285750" eaLnBrk="0" hangingPunct="0">
              <a:tabLst>
                <a:tab pos="250825" algn="l"/>
              </a:tabLst>
              <a:defRPr sz="2400">
                <a:solidFill>
                  <a:srgbClr val="0000CC"/>
                </a:solidFill>
                <a:latin typeface="Arial" pitchFamily="34" charset="0"/>
                <a:ea typeface="宋体" pitchFamily="2" charset="-122"/>
              </a:defRPr>
            </a:lvl2pPr>
            <a:lvl3pPr marL="1143000" indent="-228600" eaLnBrk="0" hangingPunct="0">
              <a:tabLst>
                <a:tab pos="250825" algn="l"/>
              </a:tabLst>
              <a:defRPr sz="2400">
                <a:solidFill>
                  <a:srgbClr val="0000CC"/>
                </a:solidFill>
                <a:latin typeface="Arial" pitchFamily="34" charset="0"/>
                <a:ea typeface="宋体" pitchFamily="2" charset="-122"/>
              </a:defRPr>
            </a:lvl3pPr>
            <a:lvl4pPr marL="1600200" indent="-228600" eaLnBrk="0" hangingPunct="0">
              <a:tabLst>
                <a:tab pos="250825" algn="l"/>
              </a:tabLst>
              <a:defRPr sz="2400">
                <a:solidFill>
                  <a:srgbClr val="0000CC"/>
                </a:solidFill>
                <a:latin typeface="Arial" pitchFamily="34" charset="0"/>
                <a:ea typeface="宋体" pitchFamily="2" charset="-122"/>
              </a:defRPr>
            </a:lvl4pPr>
            <a:lvl5pPr marL="2057400" indent="-228600" eaLnBrk="0" hangingPunct="0">
              <a:tabLst>
                <a:tab pos="250825" algn="l"/>
              </a:tabLst>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9pPr>
          </a:lstStyle>
          <a:p>
            <a:pPr algn="l" eaLnBrk="1" hangingPunct="1">
              <a:lnSpc>
                <a:spcPct val="140000"/>
              </a:lnSpc>
              <a:spcBef>
                <a:spcPct val="0"/>
              </a:spcBef>
            </a:pPr>
            <a:r>
              <a:rPr lang="en-US" altLang="zh-CN">
                <a:solidFill>
                  <a:schemeClr val="tx1"/>
                </a:solidFill>
                <a:latin typeface="楷体_GB2312" pitchFamily="1" charset="-122"/>
                <a:ea typeface="楷体_GB2312" pitchFamily="1" charset="-122"/>
              </a:rPr>
              <a:t>6.</a:t>
            </a:r>
            <a:r>
              <a:rPr lang="zh-CN" altLang="en-US">
                <a:solidFill>
                  <a:schemeClr val="tx1"/>
                </a:solidFill>
                <a:latin typeface="楷体_GB2312" pitchFamily="1" charset="-122"/>
                <a:ea typeface="楷体_GB2312" pitchFamily="1" charset="-122"/>
              </a:rPr>
              <a:t>立方体的画家算法也可以这样来实现。立方体共有</a:t>
            </a:r>
            <a:r>
              <a:rPr lang="en-US" altLang="zh-CN">
                <a:solidFill>
                  <a:schemeClr val="tx1"/>
                </a:solidFill>
                <a:latin typeface="楷体_GB2312" pitchFamily="1" charset="-122"/>
                <a:ea typeface="楷体_GB2312" pitchFamily="1" charset="-122"/>
              </a:rPr>
              <a:t>6</a:t>
            </a:r>
            <a:r>
              <a:rPr lang="zh-CN" altLang="en-US">
                <a:solidFill>
                  <a:schemeClr val="tx1"/>
                </a:solidFill>
                <a:latin typeface="楷体_GB2312" pitchFamily="1" charset="-122"/>
                <a:ea typeface="楷体_GB2312" pitchFamily="1" charset="-122"/>
              </a:rPr>
              <a:t>个面和</a:t>
            </a:r>
            <a:r>
              <a:rPr lang="en-US" altLang="zh-CN">
                <a:solidFill>
                  <a:schemeClr val="tx1"/>
                </a:solidFill>
                <a:latin typeface="楷体_GB2312" pitchFamily="1" charset="-122"/>
                <a:ea typeface="楷体_GB2312" pitchFamily="1" charset="-122"/>
              </a:rPr>
              <a:t>8</a:t>
            </a:r>
            <a:r>
              <a:rPr lang="zh-CN" altLang="en-US">
                <a:solidFill>
                  <a:schemeClr val="tx1"/>
                </a:solidFill>
                <a:latin typeface="楷体_GB2312" pitchFamily="1" charset="-122"/>
                <a:ea typeface="楷体_GB2312" pitchFamily="1" charset="-122"/>
              </a:rPr>
              <a:t>个顶点，每</a:t>
            </a:r>
            <a:r>
              <a:rPr lang="en-US" altLang="zh-CN">
                <a:solidFill>
                  <a:schemeClr val="tx1"/>
                </a:solidFill>
                <a:latin typeface="楷体_GB2312" pitchFamily="1" charset="-122"/>
                <a:ea typeface="楷体_GB2312" pitchFamily="1" charset="-122"/>
              </a:rPr>
              <a:t>3</a:t>
            </a:r>
            <a:r>
              <a:rPr lang="zh-CN" altLang="en-US">
                <a:solidFill>
                  <a:schemeClr val="tx1"/>
                </a:solidFill>
                <a:latin typeface="楷体_GB2312" pitchFamily="1" charset="-122"/>
                <a:ea typeface="楷体_GB2312" pitchFamily="1" charset="-122"/>
              </a:rPr>
              <a:t>个面共用一个顶点，分别确定每个顶点的周围的</a:t>
            </a:r>
            <a:r>
              <a:rPr lang="en-US" altLang="zh-CN">
                <a:solidFill>
                  <a:schemeClr val="tx1"/>
                </a:solidFill>
                <a:latin typeface="楷体_GB2312" pitchFamily="1" charset="-122"/>
                <a:ea typeface="楷体_GB2312" pitchFamily="1" charset="-122"/>
              </a:rPr>
              <a:t>3</a:t>
            </a:r>
            <a:r>
              <a:rPr lang="zh-CN" altLang="en-US">
                <a:solidFill>
                  <a:schemeClr val="tx1"/>
                </a:solidFill>
                <a:latin typeface="楷体_GB2312" pitchFamily="1" charset="-122"/>
                <a:ea typeface="楷体_GB2312" pitchFamily="1" charset="-122"/>
              </a:rPr>
              <a:t>个面，有</a:t>
            </a:r>
            <a:r>
              <a:rPr lang="en-US" altLang="zh-CN">
                <a:solidFill>
                  <a:schemeClr val="tx1"/>
                </a:solidFill>
                <a:latin typeface="楷体_GB2312" pitchFamily="1" charset="-122"/>
                <a:ea typeface="楷体_GB2312" pitchFamily="1" charset="-122"/>
              </a:rPr>
              <a:t>8</a:t>
            </a:r>
            <a:r>
              <a:rPr lang="zh-CN" altLang="en-US">
                <a:solidFill>
                  <a:schemeClr val="tx1"/>
                </a:solidFill>
                <a:latin typeface="楷体_GB2312" pitchFamily="1" charset="-122"/>
                <a:ea typeface="楷体_GB2312" pitchFamily="1" charset="-122"/>
              </a:rPr>
              <a:t>种情况。在立方体旋转的任一角度，计算立方体离视点最近的顶点最远的顶点的</a:t>
            </a:r>
            <a:r>
              <a:rPr lang="en-US" altLang="zh-CN">
                <a:solidFill>
                  <a:schemeClr val="tx1"/>
                </a:solidFill>
                <a:latin typeface="楷体_GB2312" pitchFamily="1" charset="-122"/>
                <a:ea typeface="楷体_GB2312" pitchFamily="1" charset="-122"/>
              </a:rPr>
              <a:t>z</a:t>
            </a:r>
            <a:r>
              <a:rPr lang="zh-CN" altLang="en-US">
                <a:solidFill>
                  <a:schemeClr val="tx1"/>
                </a:solidFill>
                <a:latin typeface="楷体_GB2312" pitchFamily="1" charset="-122"/>
                <a:ea typeface="楷体_GB2312" pitchFamily="1" charset="-122"/>
              </a:rPr>
              <a:t>坐标值。先绘制</a:t>
            </a:r>
            <a:r>
              <a:rPr lang="en-US" altLang="zh-CN">
                <a:solidFill>
                  <a:schemeClr val="tx1"/>
                </a:solidFill>
                <a:latin typeface="楷体_GB2312" pitchFamily="1" charset="-122"/>
                <a:ea typeface="楷体_GB2312" pitchFamily="1" charset="-122"/>
              </a:rPr>
              <a:t>z</a:t>
            </a:r>
            <a:r>
              <a:rPr lang="zh-CN" altLang="en-US">
                <a:solidFill>
                  <a:schemeClr val="tx1"/>
                </a:solidFill>
                <a:latin typeface="楷体_GB2312" pitchFamily="1" charset="-122"/>
                <a:ea typeface="楷体_GB2312" pitchFamily="1" charset="-122"/>
              </a:rPr>
              <a:t>值大（离视点远）的顶点所对应的</a:t>
            </a:r>
            <a:r>
              <a:rPr lang="en-US" altLang="zh-CN">
                <a:solidFill>
                  <a:schemeClr val="tx1"/>
                </a:solidFill>
                <a:latin typeface="楷体_GB2312" pitchFamily="1" charset="-122"/>
                <a:ea typeface="楷体_GB2312" pitchFamily="1" charset="-122"/>
              </a:rPr>
              <a:t>3</a:t>
            </a:r>
            <a:r>
              <a:rPr lang="zh-CN" altLang="en-US">
                <a:solidFill>
                  <a:schemeClr val="tx1"/>
                </a:solidFill>
                <a:latin typeface="楷体_GB2312" pitchFamily="1" charset="-122"/>
                <a:ea typeface="楷体_GB2312" pitchFamily="1" charset="-122"/>
              </a:rPr>
              <a:t>个面，后绘制</a:t>
            </a:r>
            <a:r>
              <a:rPr lang="en-US" altLang="zh-CN">
                <a:solidFill>
                  <a:schemeClr val="tx1"/>
                </a:solidFill>
                <a:latin typeface="楷体_GB2312" pitchFamily="1" charset="-122"/>
                <a:ea typeface="楷体_GB2312" pitchFamily="1" charset="-122"/>
              </a:rPr>
              <a:t>z</a:t>
            </a:r>
            <a:r>
              <a:rPr lang="zh-CN" altLang="en-US">
                <a:solidFill>
                  <a:schemeClr val="tx1"/>
                </a:solidFill>
                <a:latin typeface="楷体_GB2312" pitchFamily="1" charset="-122"/>
                <a:ea typeface="楷体_GB2312" pitchFamily="1" charset="-122"/>
              </a:rPr>
              <a:t>值小（离视点近）的顶点所对应的</a:t>
            </a:r>
            <a:r>
              <a:rPr lang="en-US" altLang="zh-CN">
                <a:solidFill>
                  <a:schemeClr val="tx1"/>
                </a:solidFill>
                <a:latin typeface="楷体_GB2312" pitchFamily="1" charset="-122"/>
                <a:ea typeface="楷体_GB2312" pitchFamily="1" charset="-122"/>
              </a:rPr>
              <a:t>3</a:t>
            </a:r>
            <a:r>
              <a:rPr lang="zh-CN" altLang="en-US">
                <a:solidFill>
                  <a:schemeClr val="tx1"/>
                </a:solidFill>
                <a:latin typeface="楷体_GB2312" pitchFamily="1" charset="-122"/>
                <a:ea typeface="楷体_GB2312" pitchFamily="1" charset="-122"/>
              </a:rPr>
              <a:t>个面，就可以实现立方体的动态消隐。事实上，立方体属于凸多面体，只绘制离视点最近的顶点所对应的</a:t>
            </a:r>
            <a:r>
              <a:rPr lang="en-US" altLang="zh-CN">
                <a:solidFill>
                  <a:schemeClr val="tx1"/>
                </a:solidFill>
                <a:latin typeface="楷体_GB2312" pitchFamily="1" charset="-122"/>
                <a:ea typeface="楷体_GB2312" pitchFamily="1" charset="-122"/>
              </a:rPr>
              <a:t>3</a:t>
            </a:r>
            <a:r>
              <a:rPr lang="zh-CN" altLang="en-US">
                <a:solidFill>
                  <a:schemeClr val="tx1"/>
                </a:solidFill>
                <a:latin typeface="楷体_GB2312" pitchFamily="1" charset="-122"/>
                <a:ea typeface="楷体_GB2312" pitchFamily="1" charset="-122"/>
              </a:rPr>
              <a:t>个面就可以实现消隐，效果如图</a:t>
            </a:r>
            <a:r>
              <a:rPr lang="en-US" altLang="zh-CN">
                <a:solidFill>
                  <a:schemeClr val="tx1"/>
                </a:solidFill>
                <a:latin typeface="楷体_GB2312" pitchFamily="1" charset="-122"/>
                <a:ea typeface="楷体_GB2312" pitchFamily="1" charset="-122"/>
              </a:rPr>
              <a:t>9-84</a:t>
            </a:r>
            <a:r>
              <a:rPr lang="zh-CN" altLang="en-US">
                <a:solidFill>
                  <a:schemeClr val="tx1"/>
                </a:solidFill>
                <a:latin typeface="楷体_GB2312" pitchFamily="1" charset="-122"/>
                <a:ea typeface="楷体_GB2312" pitchFamily="1" charset="-122"/>
              </a:rPr>
              <a:t>所示，请编程实现。</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5A6715FA-E331-4BCA-877A-1B5EFDF3A30A}" type="slidenum">
              <a:rPr lang="en-US" altLang="zh-CN" sz="1200">
                <a:solidFill>
                  <a:schemeClr val="tx1"/>
                </a:solidFill>
                <a:latin typeface="Garamond" pitchFamily="18" charset="0"/>
              </a:rPr>
              <a:pPr algn="r" eaLnBrk="1" hangingPunct="1">
                <a:spcBef>
                  <a:spcPct val="0"/>
                </a:spcBef>
              </a:pPr>
              <a:t>108</a:t>
            </a:fld>
            <a:endParaRPr lang="en-US" altLang="zh-CN" sz="1200">
              <a:solidFill>
                <a:schemeClr val="tx1"/>
              </a:solidFill>
              <a:latin typeface="Garamond" pitchFamily="18" charset="0"/>
            </a:endParaRPr>
          </a:p>
        </p:txBody>
      </p:sp>
      <p:pic>
        <p:nvPicPr>
          <p:cNvPr id="11264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7213" y="773113"/>
            <a:ext cx="5175250" cy="377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4" name="Rectangle 5"/>
          <p:cNvSpPr>
            <a:spLocks noChangeArrowheads="1"/>
          </p:cNvSpPr>
          <p:nvPr/>
        </p:nvSpPr>
        <p:spPr bwMode="auto">
          <a:xfrm>
            <a:off x="2232025" y="5499100"/>
            <a:ext cx="475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9-84 </a:t>
            </a:r>
            <a:r>
              <a:rPr lang="zh-CN" altLang="en-US" sz="2000">
                <a:solidFill>
                  <a:schemeClr val="tx1"/>
                </a:solidFill>
                <a:latin typeface="楷体_GB2312" pitchFamily="1" charset="-122"/>
                <a:ea typeface="楷体_GB2312" pitchFamily="1" charset="-122"/>
              </a:rPr>
              <a:t>立方体表面模型的画家消隐算法 </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85CD17C9-CD0D-4C30-AE1B-CEDD7D8BFA3E}" type="slidenum">
              <a:rPr lang="en-US" altLang="zh-CN" sz="1200">
                <a:solidFill>
                  <a:schemeClr val="tx1"/>
                </a:solidFill>
                <a:latin typeface="Garamond" pitchFamily="18" charset="0"/>
              </a:rPr>
              <a:pPr algn="r" eaLnBrk="1" hangingPunct="1">
                <a:spcBef>
                  <a:spcPct val="0"/>
                </a:spcBef>
              </a:pPr>
              <a:t>109</a:t>
            </a:fld>
            <a:endParaRPr lang="en-US" altLang="zh-CN" sz="1200">
              <a:solidFill>
                <a:schemeClr val="tx1"/>
              </a:solidFill>
              <a:latin typeface="Garamond" pitchFamily="18" charset="0"/>
            </a:endParaRPr>
          </a:p>
        </p:txBody>
      </p:sp>
      <p:sp>
        <p:nvSpPr>
          <p:cNvPr id="113667" name="Rectangle 4"/>
          <p:cNvSpPr>
            <a:spLocks noChangeArrowheads="1"/>
          </p:cNvSpPr>
          <p:nvPr/>
        </p:nvSpPr>
        <p:spPr bwMode="auto">
          <a:xfrm>
            <a:off x="457200" y="368300"/>
            <a:ext cx="86868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250825" algn="l"/>
              </a:tabLst>
              <a:defRPr sz="2400">
                <a:solidFill>
                  <a:srgbClr val="0000CC"/>
                </a:solidFill>
                <a:latin typeface="Arial" pitchFamily="34" charset="0"/>
                <a:ea typeface="宋体" pitchFamily="2" charset="-122"/>
              </a:defRPr>
            </a:lvl1pPr>
            <a:lvl2pPr marL="742950" indent="-285750" eaLnBrk="0" hangingPunct="0">
              <a:tabLst>
                <a:tab pos="250825" algn="l"/>
              </a:tabLst>
              <a:defRPr sz="2400">
                <a:solidFill>
                  <a:srgbClr val="0000CC"/>
                </a:solidFill>
                <a:latin typeface="Arial" pitchFamily="34" charset="0"/>
                <a:ea typeface="宋体" pitchFamily="2" charset="-122"/>
              </a:defRPr>
            </a:lvl2pPr>
            <a:lvl3pPr marL="1143000" indent="-228600" eaLnBrk="0" hangingPunct="0">
              <a:tabLst>
                <a:tab pos="250825" algn="l"/>
              </a:tabLst>
              <a:defRPr sz="2400">
                <a:solidFill>
                  <a:srgbClr val="0000CC"/>
                </a:solidFill>
                <a:latin typeface="Arial" pitchFamily="34" charset="0"/>
                <a:ea typeface="宋体" pitchFamily="2" charset="-122"/>
              </a:defRPr>
            </a:lvl3pPr>
            <a:lvl4pPr marL="1600200" indent="-228600" eaLnBrk="0" hangingPunct="0">
              <a:tabLst>
                <a:tab pos="250825" algn="l"/>
              </a:tabLst>
              <a:defRPr sz="2400">
                <a:solidFill>
                  <a:srgbClr val="0000CC"/>
                </a:solidFill>
                <a:latin typeface="Arial" pitchFamily="34" charset="0"/>
                <a:ea typeface="宋体" pitchFamily="2" charset="-122"/>
              </a:defRPr>
            </a:lvl4pPr>
            <a:lvl5pPr marL="2057400" indent="-228600" eaLnBrk="0" hangingPunct="0">
              <a:tabLst>
                <a:tab pos="250825" algn="l"/>
              </a:tabLst>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9pPr>
          </a:lstStyle>
          <a:p>
            <a:pPr algn="l" eaLnBrk="1" hangingPunct="1">
              <a:lnSpc>
                <a:spcPct val="140000"/>
              </a:lnSpc>
              <a:spcBef>
                <a:spcPct val="0"/>
              </a:spcBef>
            </a:pPr>
            <a:r>
              <a:rPr lang="en-US" altLang="zh-CN">
                <a:solidFill>
                  <a:schemeClr val="tx1"/>
                </a:solidFill>
                <a:latin typeface="楷体_GB2312" pitchFamily="1" charset="-122"/>
                <a:ea typeface="楷体_GB2312" pitchFamily="1" charset="-122"/>
              </a:rPr>
              <a:t>7. z-buffer</a:t>
            </a:r>
            <a:r>
              <a:rPr lang="zh-CN" altLang="en-US">
                <a:solidFill>
                  <a:schemeClr val="tx1"/>
                </a:solidFill>
                <a:latin typeface="楷体_GB2312" pitchFamily="1" charset="-122"/>
                <a:ea typeface="楷体_GB2312" pitchFamily="1" charset="-122"/>
              </a:rPr>
              <a:t>算法的代表性案例是绘制三个相互交叉的红绿蓝条，如图</a:t>
            </a:r>
            <a:r>
              <a:rPr lang="en-US" altLang="zh-CN">
                <a:solidFill>
                  <a:schemeClr val="tx1"/>
                </a:solidFill>
                <a:latin typeface="楷体_GB2312" pitchFamily="1" charset="-122"/>
                <a:ea typeface="楷体_GB2312" pitchFamily="1" charset="-122"/>
              </a:rPr>
              <a:t>9-85</a:t>
            </a:r>
            <a:r>
              <a:rPr lang="zh-CN" altLang="en-US">
                <a:solidFill>
                  <a:schemeClr val="tx1"/>
                </a:solidFill>
                <a:latin typeface="楷体_GB2312" pitchFamily="1" charset="-122"/>
                <a:ea typeface="楷体_GB2312" pitchFamily="1" charset="-122"/>
              </a:rPr>
              <a:t>所示，请使用</a:t>
            </a:r>
            <a:r>
              <a:rPr lang="en-US" altLang="zh-CN">
                <a:solidFill>
                  <a:schemeClr val="tx1"/>
                </a:solidFill>
                <a:latin typeface="楷体_GB2312" pitchFamily="1" charset="-122"/>
                <a:ea typeface="楷体_GB2312" pitchFamily="1" charset="-122"/>
              </a:rPr>
              <a:t>MFC</a:t>
            </a:r>
            <a:r>
              <a:rPr lang="zh-CN" altLang="en-US">
                <a:solidFill>
                  <a:schemeClr val="tx1"/>
                </a:solidFill>
                <a:latin typeface="楷体_GB2312" pitchFamily="1" charset="-122"/>
                <a:ea typeface="楷体_GB2312" pitchFamily="1" charset="-122"/>
              </a:rPr>
              <a:t>编程实现。</a:t>
            </a:r>
          </a:p>
        </p:txBody>
      </p:sp>
      <p:pic>
        <p:nvPicPr>
          <p:cNvPr id="11366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088" y="1719263"/>
            <a:ext cx="5265737" cy="379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9" name="Rectangle 6"/>
          <p:cNvSpPr>
            <a:spLocks noChangeArrowheads="1"/>
          </p:cNvSpPr>
          <p:nvPr/>
        </p:nvSpPr>
        <p:spPr bwMode="auto">
          <a:xfrm>
            <a:off x="3402013" y="5949950"/>
            <a:ext cx="196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 图</a:t>
            </a:r>
            <a:r>
              <a:rPr lang="en-US" altLang="zh-CN" sz="2000">
                <a:solidFill>
                  <a:schemeClr val="tx1"/>
                </a:solidFill>
                <a:latin typeface="楷体_GB2312" pitchFamily="1" charset="-122"/>
                <a:ea typeface="楷体_GB2312" pitchFamily="1" charset="-122"/>
              </a:rPr>
              <a:t>9-85 </a:t>
            </a:r>
            <a:r>
              <a:rPr lang="zh-CN" altLang="en-US" sz="2000">
                <a:solidFill>
                  <a:schemeClr val="tx1"/>
                </a:solidFill>
                <a:latin typeface="楷体_GB2312" pitchFamily="1" charset="-122"/>
                <a:ea typeface="楷体_GB2312" pitchFamily="1" charset="-122"/>
              </a:rPr>
              <a:t>三个条</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8652CC93-B197-4374-9AFC-717EAD780EA0}" type="slidenum">
              <a:rPr lang="en-US" altLang="zh-CN" sz="1200">
                <a:solidFill>
                  <a:schemeClr val="tx1"/>
                </a:solidFill>
                <a:latin typeface="Garamond" pitchFamily="18" charset="0"/>
              </a:rPr>
              <a:pPr algn="r" eaLnBrk="1" hangingPunct="1">
                <a:spcBef>
                  <a:spcPct val="0"/>
                </a:spcBef>
              </a:pPr>
              <a:t>110</a:t>
            </a:fld>
            <a:endParaRPr lang="en-US" altLang="zh-CN" sz="1200">
              <a:solidFill>
                <a:schemeClr val="tx1"/>
              </a:solidFill>
              <a:latin typeface="Garamond" pitchFamily="18" charset="0"/>
            </a:endParaRPr>
          </a:p>
        </p:txBody>
      </p:sp>
      <p:sp>
        <p:nvSpPr>
          <p:cNvPr id="114691" name="Rectangle 2"/>
          <p:cNvSpPr>
            <a:spLocks noChangeArrowheads="1"/>
          </p:cNvSpPr>
          <p:nvPr/>
        </p:nvSpPr>
        <p:spPr bwMode="auto">
          <a:xfrm>
            <a:off x="457200" y="112713"/>
            <a:ext cx="8686800"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250825" algn="l"/>
              </a:tabLst>
              <a:defRPr sz="2400">
                <a:solidFill>
                  <a:srgbClr val="0000CC"/>
                </a:solidFill>
                <a:latin typeface="Arial" pitchFamily="34" charset="0"/>
                <a:ea typeface="宋体" pitchFamily="2" charset="-122"/>
              </a:defRPr>
            </a:lvl1pPr>
            <a:lvl2pPr marL="742950" indent="-285750" eaLnBrk="0" hangingPunct="0">
              <a:tabLst>
                <a:tab pos="250825" algn="l"/>
              </a:tabLst>
              <a:defRPr sz="2400">
                <a:solidFill>
                  <a:srgbClr val="0000CC"/>
                </a:solidFill>
                <a:latin typeface="Arial" pitchFamily="34" charset="0"/>
                <a:ea typeface="宋体" pitchFamily="2" charset="-122"/>
              </a:defRPr>
            </a:lvl2pPr>
            <a:lvl3pPr marL="1143000" indent="-228600" eaLnBrk="0" hangingPunct="0">
              <a:tabLst>
                <a:tab pos="250825" algn="l"/>
              </a:tabLst>
              <a:defRPr sz="2400">
                <a:solidFill>
                  <a:srgbClr val="0000CC"/>
                </a:solidFill>
                <a:latin typeface="Arial" pitchFamily="34" charset="0"/>
                <a:ea typeface="宋体" pitchFamily="2" charset="-122"/>
              </a:defRPr>
            </a:lvl3pPr>
            <a:lvl4pPr marL="1600200" indent="-228600" eaLnBrk="0" hangingPunct="0">
              <a:tabLst>
                <a:tab pos="250825" algn="l"/>
              </a:tabLst>
              <a:defRPr sz="2400">
                <a:solidFill>
                  <a:srgbClr val="0000CC"/>
                </a:solidFill>
                <a:latin typeface="Arial" pitchFamily="34" charset="0"/>
                <a:ea typeface="宋体" pitchFamily="2" charset="-122"/>
              </a:defRPr>
            </a:lvl4pPr>
            <a:lvl5pPr marL="2057400" indent="-228600" eaLnBrk="0" hangingPunct="0">
              <a:tabLst>
                <a:tab pos="250825" algn="l"/>
              </a:tabLst>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9pPr>
          </a:lstStyle>
          <a:p>
            <a:pPr algn="l" eaLnBrk="1" hangingPunct="1">
              <a:lnSpc>
                <a:spcPct val="140000"/>
              </a:lnSpc>
              <a:spcBef>
                <a:spcPct val="0"/>
              </a:spcBef>
            </a:pPr>
            <a:r>
              <a:rPr lang="en-US" altLang="zh-CN">
                <a:solidFill>
                  <a:schemeClr val="tx1"/>
                </a:solidFill>
                <a:latin typeface="楷体_GB2312" pitchFamily="1" charset="-122"/>
                <a:ea typeface="楷体_GB2312" pitchFamily="1" charset="-122"/>
              </a:rPr>
              <a:t>8.</a:t>
            </a:r>
            <a:r>
              <a:rPr lang="zh-CN" altLang="en-US">
                <a:solidFill>
                  <a:schemeClr val="tx1"/>
                </a:solidFill>
                <a:latin typeface="楷体_GB2312" pitchFamily="1" charset="-122"/>
                <a:ea typeface="楷体_GB2312" pitchFamily="1" charset="-122"/>
              </a:rPr>
              <a:t>先使用三角形网格和四边形网格绘制球的线框模型，然后使用红色填充所有网格单元。请使用</a:t>
            </a:r>
            <a:r>
              <a:rPr lang="en-US" altLang="zh-CN">
                <a:solidFill>
                  <a:schemeClr val="tx1"/>
                </a:solidFill>
                <a:latin typeface="楷体_GB2312" pitchFamily="1" charset="-122"/>
                <a:ea typeface="楷体_GB2312" pitchFamily="1" charset="-122"/>
              </a:rPr>
              <a:t>MFC</a:t>
            </a:r>
            <a:r>
              <a:rPr lang="zh-CN" altLang="en-US">
                <a:solidFill>
                  <a:schemeClr val="tx1"/>
                </a:solidFill>
                <a:latin typeface="楷体_GB2312" pitchFamily="1" charset="-122"/>
                <a:ea typeface="楷体_GB2312" pitchFamily="1" charset="-122"/>
              </a:rPr>
              <a:t>编程实现，效果如图</a:t>
            </a:r>
            <a:r>
              <a:rPr lang="en-US" altLang="zh-CN">
                <a:solidFill>
                  <a:schemeClr val="tx1"/>
                </a:solidFill>
                <a:latin typeface="楷体_GB2312" pitchFamily="1" charset="-122"/>
                <a:ea typeface="楷体_GB2312" pitchFamily="1" charset="-122"/>
              </a:rPr>
              <a:t>9-86</a:t>
            </a:r>
            <a:r>
              <a:rPr lang="zh-CN" altLang="en-US">
                <a:solidFill>
                  <a:schemeClr val="tx1"/>
                </a:solidFill>
                <a:latin typeface="楷体_GB2312" pitchFamily="1" charset="-122"/>
                <a:ea typeface="楷体_GB2312" pitchFamily="1" charset="-122"/>
              </a:rPr>
              <a:t>（</a:t>
            </a:r>
            <a:r>
              <a:rPr lang="en-US" altLang="zh-CN">
                <a:solidFill>
                  <a:schemeClr val="tx1"/>
                </a:solidFill>
                <a:latin typeface="楷体_GB2312" pitchFamily="1" charset="-122"/>
                <a:ea typeface="楷体_GB2312" pitchFamily="1" charset="-122"/>
              </a:rPr>
              <a:t>a</a:t>
            </a:r>
            <a:r>
              <a:rPr lang="zh-CN" altLang="en-US">
                <a:solidFill>
                  <a:schemeClr val="tx1"/>
                </a:solidFill>
                <a:latin typeface="楷体_GB2312" pitchFamily="1" charset="-122"/>
                <a:ea typeface="楷体_GB2312" pitchFamily="1" charset="-122"/>
              </a:rPr>
              <a:t>）所示，要求所填充的球面网格连接处不能出现漏点。</a:t>
            </a:r>
          </a:p>
        </p:txBody>
      </p:sp>
      <p:sp>
        <p:nvSpPr>
          <p:cNvPr id="114692" name="Rectangle 5"/>
          <p:cNvSpPr>
            <a:spLocks noChangeArrowheads="1"/>
          </p:cNvSpPr>
          <p:nvPr/>
        </p:nvSpPr>
        <p:spPr bwMode="auto">
          <a:xfrm>
            <a:off x="385763" y="1989138"/>
            <a:ext cx="85217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l" eaLnBrk="1" hangingPunct="1">
              <a:spcBef>
                <a:spcPct val="0"/>
              </a:spcBef>
            </a:pPr>
            <a:r>
              <a:rPr lang="zh-CN" altLang="en-US">
                <a:solidFill>
                  <a:srgbClr val="3333FF"/>
                </a:solidFill>
                <a:latin typeface="楷体_GB2312" pitchFamily="1" charset="-122"/>
                <a:ea typeface="楷体_GB2312" pitchFamily="1" charset="-122"/>
              </a:rPr>
              <a:t>说明：对于球面，如果仅使用单色填充，绘制结果仅仅是一个平面圆，没有三维效果。如果需要在屏幕上展示真正的三维球面，则得借助于光照模型才能实现。在球面的右上方设置白色光源后，球面的光照效果如图</a:t>
            </a:r>
            <a:r>
              <a:rPr lang="en-US" altLang="zh-CN">
                <a:solidFill>
                  <a:srgbClr val="3333FF"/>
                </a:solidFill>
                <a:latin typeface="楷体_GB2312" pitchFamily="1" charset="-122"/>
                <a:ea typeface="楷体_GB2312" pitchFamily="1" charset="-122"/>
              </a:rPr>
              <a:t>9-86</a:t>
            </a:r>
            <a:r>
              <a:rPr lang="zh-CN" altLang="en-US">
                <a:solidFill>
                  <a:srgbClr val="3333FF"/>
                </a:solidFill>
                <a:latin typeface="楷体_GB2312" pitchFamily="1" charset="-122"/>
                <a:ea typeface="楷体_GB2312" pitchFamily="1" charset="-122"/>
              </a:rPr>
              <a:t>（</a:t>
            </a:r>
            <a:r>
              <a:rPr lang="en-US" altLang="zh-CN">
                <a:solidFill>
                  <a:srgbClr val="3333FF"/>
                </a:solidFill>
                <a:latin typeface="楷体_GB2312" pitchFamily="1" charset="-122"/>
                <a:ea typeface="楷体_GB2312" pitchFamily="1" charset="-122"/>
              </a:rPr>
              <a:t>b</a:t>
            </a:r>
            <a:r>
              <a:rPr lang="zh-CN" altLang="en-US">
                <a:solidFill>
                  <a:srgbClr val="3333FF"/>
                </a:solidFill>
                <a:latin typeface="楷体_GB2312" pitchFamily="1" charset="-122"/>
                <a:ea typeface="楷体_GB2312" pitchFamily="1" charset="-122"/>
              </a:rPr>
              <a:t>）所示。</a:t>
            </a:r>
          </a:p>
        </p:txBody>
      </p:sp>
      <p:pic>
        <p:nvPicPr>
          <p:cNvPr id="11469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1425" y="3654425"/>
            <a:ext cx="2655888" cy="192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7788" y="3654425"/>
            <a:ext cx="2565400"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8" name="Rectangle 11"/>
          <p:cNvSpPr>
            <a:spLocks noChangeArrowheads="1"/>
          </p:cNvSpPr>
          <p:nvPr/>
        </p:nvSpPr>
        <p:spPr bwMode="auto">
          <a:xfrm>
            <a:off x="2052638" y="5664200"/>
            <a:ext cx="526415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a:t>
            </a:r>
            <a:r>
              <a:rPr lang="en-US" altLang="zh-CN" sz="2000">
                <a:solidFill>
                  <a:schemeClr val="tx1"/>
                </a:solidFill>
                <a:latin typeface="楷体_GB2312" pitchFamily="1" charset="-122"/>
                <a:ea typeface="楷体_GB2312" pitchFamily="1" charset="-122"/>
              </a:rPr>
              <a:t>a</a:t>
            </a:r>
            <a:r>
              <a:rPr lang="zh-CN" altLang="en-US" sz="2000">
                <a:solidFill>
                  <a:schemeClr val="tx1"/>
                </a:solidFill>
                <a:latin typeface="楷体_GB2312" pitchFamily="1" charset="-122"/>
                <a:ea typeface="楷体_GB2312" pitchFamily="1" charset="-122"/>
              </a:rPr>
              <a:t>）无光照                 （</a:t>
            </a:r>
            <a:r>
              <a:rPr lang="en-US" altLang="zh-CN" sz="2000">
                <a:solidFill>
                  <a:schemeClr val="tx1"/>
                </a:solidFill>
                <a:latin typeface="楷体_GB2312" pitchFamily="1" charset="-122"/>
                <a:ea typeface="楷体_GB2312" pitchFamily="1" charset="-122"/>
              </a:rPr>
              <a:t>b</a:t>
            </a:r>
            <a:r>
              <a:rPr lang="zh-CN" altLang="en-US" sz="2000">
                <a:solidFill>
                  <a:schemeClr val="tx1"/>
                </a:solidFill>
                <a:latin typeface="楷体_GB2312" pitchFamily="1" charset="-122"/>
                <a:ea typeface="楷体_GB2312" pitchFamily="1" charset="-122"/>
              </a:rPr>
              <a:t>）有光照 </a:t>
            </a:r>
          </a:p>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9-86 </a:t>
            </a:r>
            <a:r>
              <a:rPr lang="zh-CN" altLang="en-US" sz="2000">
                <a:solidFill>
                  <a:schemeClr val="tx1"/>
                </a:solidFill>
                <a:latin typeface="楷体_GB2312" pitchFamily="1" charset="-122"/>
                <a:ea typeface="楷体_GB2312" pitchFamily="1" charset="-122"/>
              </a:rPr>
              <a:t>球的表面模型</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5A94E316-D719-4135-AF6B-1C0F813EA43D}" type="slidenum">
              <a:rPr lang="en-US" altLang="zh-CN" sz="1200">
                <a:solidFill>
                  <a:schemeClr val="tx1"/>
                </a:solidFill>
                <a:latin typeface="Garamond" pitchFamily="18" charset="0"/>
              </a:rPr>
              <a:pPr algn="r" eaLnBrk="1" hangingPunct="1">
                <a:spcBef>
                  <a:spcPct val="0"/>
                </a:spcBef>
              </a:pPr>
              <a:t>111</a:t>
            </a:fld>
            <a:endParaRPr lang="en-US" altLang="zh-CN" sz="1200">
              <a:solidFill>
                <a:schemeClr val="tx1"/>
              </a:solidFill>
              <a:latin typeface="Garamond" pitchFamily="18" charset="0"/>
            </a:endParaRPr>
          </a:p>
        </p:txBody>
      </p:sp>
      <p:sp>
        <p:nvSpPr>
          <p:cNvPr id="115715" name="Rectangle 2"/>
          <p:cNvSpPr>
            <a:spLocks noChangeArrowheads="1"/>
          </p:cNvSpPr>
          <p:nvPr/>
        </p:nvSpPr>
        <p:spPr bwMode="auto">
          <a:xfrm>
            <a:off x="457200" y="112713"/>
            <a:ext cx="8686800"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250825" algn="l"/>
              </a:tabLst>
              <a:defRPr sz="2400">
                <a:solidFill>
                  <a:srgbClr val="0000CC"/>
                </a:solidFill>
                <a:latin typeface="Arial" pitchFamily="34" charset="0"/>
                <a:ea typeface="宋体" pitchFamily="2" charset="-122"/>
              </a:defRPr>
            </a:lvl1pPr>
            <a:lvl2pPr marL="742950" indent="-285750" eaLnBrk="0" hangingPunct="0">
              <a:tabLst>
                <a:tab pos="250825" algn="l"/>
              </a:tabLst>
              <a:defRPr sz="2400">
                <a:solidFill>
                  <a:srgbClr val="0000CC"/>
                </a:solidFill>
                <a:latin typeface="Arial" pitchFamily="34" charset="0"/>
                <a:ea typeface="宋体" pitchFamily="2" charset="-122"/>
              </a:defRPr>
            </a:lvl2pPr>
            <a:lvl3pPr marL="1143000" indent="-228600" eaLnBrk="0" hangingPunct="0">
              <a:tabLst>
                <a:tab pos="250825" algn="l"/>
              </a:tabLst>
              <a:defRPr sz="2400">
                <a:solidFill>
                  <a:srgbClr val="0000CC"/>
                </a:solidFill>
                <a:latin typeface="Arial" pitchFamily="34" charset="0"/>
                <a:ea typeface="宋体" pitchFamily="2" charset="-122"/>
              </a:defRPr>
            </a:lvl3pPr>
            <a:lvl4pPr marL="1600200" indent="-228600" eaLnBrk="0" hangingPunct="0">
              <a:tabLst>
                <a:tab pos="250825" algn="l"/>
              </a:tabLst>
              <a:defRPr sz="2400">
                <a:solidFill>
                  <a:srgbClr val="0000CC"/>
                </a:solidFill>
                <a:latin typeface="Arial" pitchFamily="34" charset="0"/>
                <a:ea typeface="宋体" pitchFamily="2" charset="-122"/>
              </a:defRPr>
            </a:lvl4pPr>
            <a:lvl5pPr marL="2057400" indent="-228600" eaLnBrk="0" hangingPunct="0">
              <a:tabLst>
                <a:tab pos="250825" algn="l"/>
              </a:tabLst>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9pPr>
          </a:lstStyle>
          <a:p>
            <a:pPr algn="l" eaLnBrk="1" hangingPunct="1">
              <a:lnSpc>
                <a:spcPct val="140000"/>
              </a:lnSpc>
              <a:spcBef>
                <a:spcPct val="0"/>
              </a:spcBef>
            </a:pPr>
            <a:r>
              <a:rPr lang="en-US" altLang="zh-CN">
                <a:solidFill>
                  <a:schemeClr val="tx1"/>
                </a:solidFill>
                <a:latin typeface="楷体_GB2312" pitchFamily="1" charset="-122"/>
                <a:ea typeface="楷体_GB2312" pitchFamily="1" charset="-122"/>
              </a:rPr>
              <a:t>9. </a:t>
            </a:r>
            <a:r>
              <a:rPr lang="zh-CN" altLang="en-US">
                <a:solidFill>
                  <a:schemeClr val="tx1"/>
                </a:solidFill>
                <a:latin typeface="楷体_GB2312" pitchFamily="1" charset="-122"/>
                <a:ea typeface="楷体_GB2312" pitchFamily="1" charset="-122"/>
              </a:rPr>
              <a:t>*建立立方体的三维模型，使用递归算法搭建</a:t>
            </a:r>
            <a:r>
              <a:rPr lang="en-US" altLang="zh-CN">
                <a:solidFill>
                  <a:schemeClr val="tx1"/>
                </a:solidFill>
                <a:latin typeface="楷体_GB2312" pitchFamily="1" charset="-122"/>
                <a:ea typeface="楷体_GB2312" pitchFamily="1" charset="-122"/>
              </a:rPr>
              <a:t>Menger</a:t>
            </a:r>
            <a:r>
              <a:rPr lang="zh-CN" altLang="en-US">
                <a:solidFill>
                  <a:schemeClr val="tx1"/>
                </a:solidFill>
                <a:latin typeface="楷体_GB2312" pitchFamily="1" charset="-122"/>
                <a:ea typeface="楷体_GB2312" pitchFamily="1" charset="-122"/>
              </a:rPr>
              <a:t>海绵的生成元，使用斜等测投影绘制画家算法消隐的</a:t>
            </a:r>
            <a:r>
              <a:rPr lang="en-US" altLang="zh-CN">
                <a:solidFill>
                  <a:schemeClr val="tx1"/>
                </a:solidFill>
                <a:latin typeface="楷体_GB2312" pitchFamily="1" charset="-122"/>
                <a:ea typeface="楷体_GB2312" pitchFamily="1" charset="-122"/>
              </a:rPr>
              <a:t>Menger</a:t>
            </a:r>
            <a:r>
              <a:rPr lang="zh-CN" altLang="en-US">
                <a:solidFill>
                  <a:schemeClr val="tx1"/>
                </a:solidFill>
                <a:latin typeface="楷体_GB2312" pitchFamily="1" charset="-122"/>
                <a:ea typeface="楷体_GB2312" pitchFamily="1" charset="-122"/>
              </a:rPr>
              <a:t>海绵，如图</a:t>
            </a:r>
            <a:r>
              <a:rPr lang="en-US" altLang="zh-CN">
                <a:solidFill>
                  <a:schemeClr val="tx1"/>
                </a:solidFill>
                <a:latin typeface="楷体_GB2312" pitchFamily="1" charset="-122"/>
                <a:ea typeface="楷体_GB2312" pitchFamily="1" charset="-122"/>
              </a:rPr>
              <a:t>9-87</a:t>
            </a:r>
            <a:r>
              <a:rPr lang="zh-CN" altLang="en-US">
                <a:solidFill>
                  <a:schemeClr val="tx1"/>
                </a:solidFill>
                <a:latin typeface="楷体_GB2312" pitchFamily="1" charset="-122"/>
                <a:ea typeface="楷体_GB2312" pitchFamily="1" charset="-122"/>
              </a:rPr>
              <a:t>所示。 </a:t>
            </a:r>
          </a:p>
        </p:txBody>
      </p:sp>
      <p:sp>
        <p:nvSpPr>
          <p:cNvPr id="115718" name="Rectangle 9"/>
          <p:cNvSpPr>
            <a:spLocks noChangeArrowheads="1"/>
          </p:cNvSpPr>
          <p:nvPr/>
        </p:nvSpPr>
        <p:spPr bwMode="auto">
          <a:xfrm>
            <a:off x="1927225" y="6129338"/>
            <a:ext cx="539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9-87 </a:t>
            </a:r>
            <a:r>
              <a:rPr lang="zh-CN" altLang="en-US" sz="2000">
                <a:solidFill>
                  <a:schemeClr val="tx1"/>
                </a:solidFill>
                <a:latin typeface="楷体_GB2312" pitchFamily="1" charset="-122"/>
                <a:ea typeface="楷体_GB2312" pitchFamily="1" charset="-122"/>
              </a:rPr>
              <a:t>斜等测投影绘制的</a:t>
            </a:r>
            <a:r>
              <a:rPr lang="en-US" altLang="zh-CN" sz="2000">
                <a:solidFill>
                  <a:schemeClr val="tx1"/>
                </a:solidFill>
                <a:latin typeface="楷体_GB2312" pitchFamily="1" charset="-122"/>
                <a:ea typeface="楷体_GB2312" pitchFamily="1" charset="-122"/>
              </a:rPr>
              <a:t>Menger</a:t>
            </a:r>
            <a:r>
              <a:rPr lang="zh-CN" altLang="en-US" sz="2000">
                <a:solidFill>
                  <a:schemeClr val="tx1"/>
                </a:solidFill>
                <a:latin typeface="楷体_GB2312" pitchFamily="1" charset="-122"/>
                <a:ea typeface="楷体_GB2312" pitchFamily="1" charset="-122"/>
              </a:rPr>
              <a:t>海绵表面模型</a:t>
            </a:r>
          </a:p>
        </p:txBody>
      </p:sp>
      <p:pic>
        <p:nvPicPr>
          <p:cNvPr id="115719"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100" y="1763713"/>
            <a:ext cx="2295525"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20"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6950" y="1763713"/>
            <a:ext cx="2249488" cy="163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21"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6800" y="1763713"/>
            <a:ext cx="2205038" cy="160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23" name="Picture 1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7100" y="3833813"/>
            <a:ext cx="2384425" cy="172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24" name="Picture 1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27438" y="3833813"/>
            <a:ext cx="2293937" cy="164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25" name="Picture 1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37288" y="3878263"/>
            <a:ext cx="22510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E23FC0C8-B07E-4256-AE6D-C30BBE73FB9C}" type="slidenum">
              <a:rPr lang="en-US" altLang="zh-CN" sz="1200">
                <a:solidFill>
                  <a:schemeClr val="tx1"/>
                </a:solidFill>
                <a:latin typeface="Garamond" pitchFamily="18" charset="0"/>
              </a:rPr>
              <a:pPr algn="r" eaLnBrk="1" hangingPunct="1">
                <a:spcBef>
                  <a:spcPct val="0"/>
                </a:spcBef>
              </a:pPr>
              <a:t>112</a:t>
            </a:fld>
            <a:endParaRPr lang="en-US" altLang="zh-CN" sz="1200">
              <a:solidFill>
                <a:schemeClr val="tx1"/>
              </a:solidFill>
              <a:latin typeface="Garamond" pitchFamily="18" charset="0"/>
            </a:endParaRPr>
          </a:p>
        </p:txBody>
      </p:sp>
      <p:sp>
        <p:nvSpPr>
          <p:cNvPr id="116739" name="Rectangle 4"/>
          <p:cNvSpPr>
            <a:spLocks noChangeArrowheads="1"/>
          </p:cNvSpPr>
          <p:nvPr/>
        </p:nvSpPr>
        <p:spPr bwMode="auto">
          <a:xfrm>
            <a:off x="457200" y="233363"/>
            <a:ext cx="8480425"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250825" algn="l"/>
              </a:tabLst>
              <a:defRPr sz="2400">
                <a:solidFill>
                  <a:srgbClr val="0000CC"/>
                </a:solidFill>
                <a:latin typeface="Arial" pitchFamily="34" charset="0"/>
                <a:ea typeface="宋体" pitchFamily="2" charset="-122"/>
              </a:defRPr>
            </a:lvl1pPr>
            <a:lvl2pPr marL="742950" indent="-285750" eaLnBrk="0" hangingPunct="0">
              <a:tabLst>
                <a:tab pos="250825" algn="l"/>
              </a:tabLst>
              <a:defRPr sz="2400">
                <a:solidFill>
                  <a:srgbClr val="0000CC"/>
                </a:solidFill>
                <a:latin typeface="Arial" pitchFamily="34" charset="0"/>
                <a:ea typeface="宋体" pitchFamily="2" charset="-122"/>
              </a:defRPr>
            </a:lvl2pPr>
            <a:lvl3pPr marL="1143000" indent="-228600" eaLnBrk="0" hangingPunct="0">
              <a:tabLst>
                <a:tab pos="250825" algn="l"/>
              </a:tabLst>
              <a:defRPr sz="2400">
                <a:solidFill>
                  <a:srgbClr val="0000CC"/>
                </a:solidFill>
                <a:latin typeface="Arial" pitchFamily="34" charset="0"/>
                <a:ea typeface="宋体" pitchFamily="2" charset="-122"/>
              </a:defRPr>
            </a:lvl3pPr>
            <a:lvl4pPr marL="1600200" indent="-228600" eaLnBrk="0" hangingPunct="0">
              <a:tabLst>
                <a:tab pos="250825" algn="l"/>
              </a:tabLst>
              <a:defRPr sz="2400">
                <a:solidFill>
                  <a:srgbClr val="0000CC"/>
                </a:solidFill>
                <a:latin typeface="Arial" pitchFamily="34" charset="0"/>
                <a:ea typeface="宋体" pitchFamily="2" charset="-122"/>
              </a:defRPr>
            </a:lvl4pPr>
            <a:lvl5pPr marL="2057400" indent="-228600" eaLnBrk="0" hangingPunct="0">
              <a:tabLst>
                <a:tab pos="250825" algn="l"/>
              </a:tabLst>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9pPr>
          </a:lstStyle>
          <a:p>
            <a:pPr algn="l" eaLnBrk="1" hangingPunct="1">
              <a:lnSpc>
                <a:spcPct val="140000"/>
              </a:lnSpc>
              <a:spcBef>
                <a:spcPct val="0"/>
              </a:spcBef>
            </a:pPr>
            <a:r>
              <a:rPr lang="en-US" altLang="zh-CN">
                <a:solidFill>
                  <a:schemeClr val="tx1"/>
                </a:solidFill>
                <a:latin typeface="楷体_GB2312" pitchFamily="1" charset="-122"/>
                <a:ea typeface="楷体_GB2312" pitchFamily="1" charset="-122"/>
              </a:rPr>
              <a:t>10. </a:t>
            </a:r>
            <a:r>
              <a:rPr lang="zh-CN" altLang="en-US">
                <a:solidFill>
                  <a:schemeClr val="tx1"/>
                </a:solidFill>
                <a:latin typeface="楷体_GB2312" pitchFamily="1" charset="-122"/>
                <a:ea typeface="楷体_GB2312" pitchFamily="1" charset="-122"/>
              </a:rPr>
              <a:t>*使用画家算法编程绘制递归深度为</a:t>
            </a:r>
            <a:r>
              <a:rPr lang="en-US" altLang="zh-CN">
                <a:solidFill>
                  <a:schemeClr val="tx1"/>
                </a:solidFill>
                <a:latin typeface="楷体_GB2312" pitchFamily="1" charset="-122"/>
                <a:ea typeface="楷体_GB2312" pitchFamily="1" charset="-122"/>
              </a:rPr>
              <a:t>0</a:t>
            </a:r>
            <a:r>
              <a:rPr lang="zh-CN" altLang="en-US">
                <a:solidFill>
                  <a:schemeClr val="tx1"/>
                </a:solidFill>
                <a:latin typeface="楷体_GB2312" pitchFamily="1" charset="-122"/>
                <a:ea typeface="楷体_GB2312" pitchFamily="1" charset="-122"/>
              </a:rPr>
              <a:t>、</a:t>
            </a:r>
            <a:r>
              <a:rPr lang="en-US" altLang="zh-CN">
                <a:solidFill>
                  <a:schemeClr val="tx1"/>
                </a:solidFill>
                <a:latin typeface="楷体_GB2312" pitchFamily="1" charset="-122"/>
                <a:ea typeface="楷体_GB2312" pitchFamily="1" charset="-122"/>
              </a:rPr>
              <a:t>1</a:t>
            </a:r>
            <a:r>
              <a:rPr lang="zh-CN" altLang="en-US">
                <a:solidFill>
                  <a:schemeClr val="tx1"/>
                </a:solidFill>
                <a:latin typeface="楷体_GB2312" pitchFamily="1" charset="-122"/>
                <a:ea typeface="楷体_GB2312" pitchFamily="1" charset="-122"/>
              </a:rPr>
              <a:t>和</a:t>
            </a:r>
            <a:r>
              <a:rPr lang="en-US" altLang="zh-CN">
                <a:solidFill>
                  <a:schemeClr val="tx1"/>
                </a:solidFill>
                <a:latin typeface="楷体_GB2312" pitchFamily="1" charset="-122"/>
                <a:ea typeface="楷体_GB2312" pitchFamily="1" charset="-122"/>
              </a:rPr>
              <a:t>2</a:t>
            </a:r>
            <a:r>
              <a:rPr lang="zh-CN" altLang="en-US">
                <a:solidFill>
                  <a:schemeClr val="tx1"/>
                </a:solidFill>
                <a:latin typeface="楷体_GB2312" pitchFamily="1" charset="-122"/>
                <a:ea typeface="楷体_GB2312" pitchFamily="1" charset="-122"/>
              </a:rPr>
              <a:t>的</a:t>
            </a:r>
            <a:r>
              <a:rPr lang="en-US" altLang="zh-CN">
                <a:solidFill>
                  <a:schemeClr val="tx1"/>
                </a:solidFill>
                <a:latin typeface="楷体_GB2312" pitchFamily="1" charset="-122"/>
                <a:ea typeface="楷体_GB2312" pitchFamily="1" charset="-122"/>
              </a:rPr>
              <a:t>Menger</a:t>
            </a:r>
            <a:r>
              <a:rPr lang="zh-CN" altLang="en-US">
                <a:solidFill>
                  <a:schemeClr val="tx1"/>
                </a:solidFill>
                <a:latin typeface="楷体_GB2312" pitchFamily="1" charset="-122"/>
                <a:ea typeface="楷体_GB2312" pitchFamily="1" charset="-122"/>
              </a:rPr>
              <a:t>海绵。要求</a:t>
            </a:r>
            <a:r>
              <a:rPr lang="en-US" altLang="zh-CN">
                <a:solidFill>
                  <a:schemeClr val="tx1"/>
                </a:solidFill>
                <a:latin typeface="楷体_GB2312" pitchFamily="1" charset="-122"/>
                <a:ea typeface="楷体_GB2312" pitchFamily="1" charset="-122"/>
              </a:rPr>
              <a:t>Menger</a:t>
            </a:r>
            <a:r>
              <a:rPr lang="zh-CN" altLang="en-US">
                <a:solidFill>
                  <a:schemeClr val="tx1"/>
                </a:solidFill>
                <a:latin typeface="楷体_GB2312" pitchFamily="1" charset="-122"/>
                <a:ea typeface="楷体_GB2312" pitchFamily="1" charset="-122"/>
              </a:rPr>
              <a:t>海绵使用正交投影绘制，并且能动态旋转，如图</a:t>
            </a:r>
            <a:r>
              <a:rPr lang="en-US" altLang="zh-CN">
                <a:solidFill>
                  <a:schemeClr val="tx1"/>
                </a:solidFill>
                <a:latin typeface="楷体_GB2312" pitchFamily="1" charset="-122"/>
                <a:ea typeface="楷体_GB2312" pitchFamily="1" charset="-122"/>
              </a:rPr>
              <a:t>9-88</a:t>
            </a:r>
            <a:r>
              <a:rPr lang="zh-CN" altLang="en-US">
                <a:solidFill>
                  <a:schemeClr val="tx1"/>
                </a:solidFill>
                <a:latin typeface="楷体_GB2312" pitchFamily="1" charset="-122"/>
                <a:ea typeface="楷体_GB2312" pitchFamily="1" charset="-122"/>
              </a:rPr>
              <a:t>所示。</a:t>
            </a:r>
          </a:p>
        </p:txBody>
      </p:sp>
      <p:pic>
        <p:nvPicPr>
          <p:cNvPr id="116740"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188" y="2259013"/>
            <a:ext cx="2700337" cy="195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4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6463" y="2259013"/>
            <a:ext cx="2700337"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42"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81738" y="2259013"/>
            <a:ext cx="2655887" cy="191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46" name="Rectangle 11"/>
          <p:cNvSpPr>
            <a:spLocks noChangeArrowheads="1"/>
          </p:cNvSpPr>
          <p:nvPr/>
        </p:nvSpPr>
        <p:spPr bwMode="auto">
          <a:xfrm>
            <a:off x="2363788" y="5513388"/>
            <a:ext cx="4713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9-88 Menger</a:t>
            </a:r>
            <a:r>
              <a:rPr lang="zh-CN" altLang="en-US" sz="2000">
                <a:solidFill>
                  <a:schemeClr val="tx1"/>
                </a:solidFill>
                <a:latin typeface="楷体_GB2312" pitchFamily="1" charset="-122"/>
                <a:ea typeface="楷体_GB2312" pitchFamily="1" charset="-122"/>
              </a:rPr>
              <a:t>海绵表面模型的正交投影</a:t>
            </a:r>
            <a:r>
              <a:rPr lang="zh-CN" altLang="en-US"/>
              <a:t> </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FD665037-0B86-49E8-8740-CF65C81E10DB}" type="slidenum">
              <a:rPr lang="en-US" altLang="zh-CN" sz="1200">
                <a:solidFill>
                  <a:schemeClr val="tx1"/>
                </a:solidFill>
                <a:latin typeface="Garamond" pitchFamily="18" charset="0"/>
              </a:rPr>
              <a:pPr algn="r" eaLnBrk="1" hangingPunct="1">
                <a:spcBef>
                  <a:spcPct val="0"/>
                </a:spcBef>
              </a:pPr>
              <a:t>113</a:t>
            </a:fld>
            <a:endParaRPr lang="en-US" altLang="zh-CN" sz="1200">
              <a:solidFill>
                <a:schemeClr val="tx1"/>
              </a:solidFill>
              <a:latin typeface="Garamond" pitchFamily="18" charset="0"/>
            </a:endParaRPr>
          </a:p>
        </p:txBody>
      </p:sp>
      <p:sp>
        <p:nvSpPr>
          <p:cNvPr id="117763" name="Rectangle 2"/>
          <p:cNvSpPr>
            <a:spLocks noChangeArrowheads="1"/>
          </p:cNvSpPr>
          <p:nvPr/>
        </p:nvSpPr>
        <p:spPr bwMode="auto">
          <a:xfrm>
            <a:off x="457200" y="233363"/>
            <a:ext cx="8480425"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250825" algn="l"/>
              </a:tabLst>
              <a:defRPr sz="2400">
                <a:solidFill>
                  <a:srgbClr val="0000CC"/>
                </a:solidFill>
                <a:latin typeface="Arial" pitchFamily="34" charset="0"/>
                <a:ea typeface="宋体" pitchFamily="2" charset="-122"/>
              </a:defRPr>
            </a:lvl1pPr>
            <a:lvl2pPr marL="742950" indent="-285750" eaLnBrk="0" hangingPunct="0">
              <a:tabLst>
                <a:tab pos="250825" algn="l"/>
              </a:tabLst>
              <a:defRPr sz="2400">
                <a:solidFill>
                  <a:srgbClr val="0000CC"/>
                </a:solidFill>
                <a:latin typeface="Arial" pitchFamily="34" charset="0"/>
                <a:ea typeface="宋体" pitchFamily="2" charset="-122"/>
              </a:defRPr>
            </a:lvl2pPr>
            <a:lvl3pPr marL="1143000" indent="-228600" eaLnBrk="0" hangingPunct="0">
              <a:tabLst>
                <a:tab pos="250825" algn="l"/>
              </a:tabLst>
              <a:defRPr sz="2400">
                <a:solidFill>
                  <a:srgbClr val="0000CC"/>
                </a:solidFill>
                <a:latin typeface="Arial" pitchFamily="34" charset="0"/>
                <a:ea typeface="宋体" pitchFamily="2" charset="-122"/>
              </a:defRPr>
            </a:lvl3pPr>
            <a:lvl4pPr marL="1600200" indent="-228600" eaLnBrk="0" hangingPunct="0">
              <a:tabLst>
                <a:tab pos="250825" algn="l"/>
              </a:tabLst>
              <a:defRPr sz="2400">
                <a:solidFill>
                  <a:srgbClr val="0000CC"/>
                </a:solidFill>
                <a:latin typeface="Arial" pitchFamily="34" charset="0"/>
                <a:ea typeface="宋体" pitchFamily="2" charset="-122"/>
              </a:defRPr>
            </a:lvl4pPr>
            <a:lvl5pPr marL="2057400" indent="-228600" eaLnBrk="0" hangingPunct="0">
              <a:tabLst>
                <a:tab pos="250825" algn="l"/>
              </a:tabLst>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9pPr>
          </a:lstStyle>
          <a:p>
            <a:pPr algn="l" eaLnBrk="1" hangingPunct="1">
              <a:lnSpc>
                <a:spcPct val="140000"/>
              </a:lnSpc>
              <a:spcBef>
                <a:spcPct val="0"/>
              </a:spcBef>
            </a:pPr>
            <a:r>
              <a:rPr lang="en-US" altLang="zh-CN">
                <a:solidFill>
                  <a:schemeClr val="tx1"/>
                </a:solidFill>
                <a:latin typeface="楷体_GB2312" pitchFamily="1" charset="-122"/>
                <a:ea typeface="楷体_GB2312" pitchFamily="1" charset="-122"/>
              </a:rPr>
              <a:t>11. </a:t>
            </a:r>
            <a:r>
              <a:rPr lang="zh-CN" altLang="en-US">
                <a:solidFill>
                  <a:schemeClr val="tx1"/>
                </a:solidFill>
                <a:latin typeface="楷体_GB2312" pitchFamily="1" charset="-122"/>
                <a:ea typeface="楷体_GB2312" pitchFamily="1" charset="-122"/>
              </a:rPr>
              <a:t>*使用画家算法编程绘制递归深度为</a:t>
            </a:r>
            <a:r>
              <a:rPr lang="en-US" altLang="zh-CN">
                <a:solidFill>
                  <a:schemeClr val="tx1"/>
                </a:solidFill>
                <a:latin typeface="楷体_GB2312" pitchFamily="1" charset="-122"/>
                <a:ea typeface="楷体_GB2312" pitchFamily="1" charset="-122"/>
              </a:rPr>
              <a:t>0</a:t>
            </a:r>
            <a:r>
              <a:rPr lang="zh-CN" altLang="en-US">
                <a:solidFill>
                  <a:schemeClr val="tx1"/>
                </a:solidFill>
                <a:latin typeface="楷体_GB2312" pitchFamily="1" charset="-122"/>
                <a:ea typeface="楷体_GB2312" pitchFamily="1" charset="-122"/>
              </a:rPr>
              <a:t>、</a:t>
            </a:r>
            <a:r>
              <a:rPr lang="en-US" altLang="zh-CN">
                <a:solidFill>
                  <a:schemeClr val="tx1"/>
                </a:solidFill>
                <a:latin typeface="楷体_GB2312" pitchFamily="1" charset="-122"/>
                <a:ea typeface="楷体_GB2312" pitchFamily="1" charset="-122"/>
              </a:rPr>
              <a:t>1</a:t>
            </a:r>
            <a:r>
              <a:rPr lang="zh-CN" altLang="en-US">
                <a:solidFill>
                  <a:schemeClr val="tx1"/>
                </a:solidFill>
                <a:latin typeface="楷体_GB2312" pitchFamily="1" charset="-122"/>
                <a:ea typeface="楷体_GB2312" pitchFamily="1" charset="-122"/>
              </a:rPr>
              <a:t>和</a:t>
            </a:r>
            <a:r>
              <a:rPr lang="en-US" altLang="zh-CN">
                <a:solidFill>
                  <a:schemeClr val="tx1"/>
                </a:solidFill>
                <a:latin typeface="楷体_GB2312" pitchFamily="1" charset="-122"/>
                <a:ea typeface="楷体_GB2312" pitchFamily="1" charset="-122"/>
              </a:rPr>
              <a:t>2</a:t>
            </a:r>
            <a:r>
              <a:rPr lang="zh-CN" altLang="en-US">
                <a:solidFill>
                  <a:schemeClr val="tx1"/>
                </a:solidFill>
                <a:latin typeface="楷体_GB2312" pitchFamily="1" charset="-122"/>
                <a:ea typeface="楷体_GB2312" pitchFamily="1" charset="-122"/>
              </a:rPr>
              <a:t>的</a:t>
            </a:r>
            <a:r>
              <a:rPr lang="en-US" altLang="zh-CN">
                <a:solidFill>
                  <a:schemeClr val="tx1"/>
                </a:solidFill>
                <a:latin typeface="楷体_GB2312" pitchFamily="1" charset="-122"/>
                <a:ea typeface="楷体_GB2312" pitchFamily="1" charset="-122"/>
              </a:rPr>
              <a:t>Menger</a:t>
            </a:r>
            <a:r>
              <a:rPr lang="zh-CN" altLang="en-US">
                <a:solidFill>
                  <a:schemeClr val="tx1"/>
                </a:solidFill>
                <a:latin typeface="楷体_GB2312" pitchFamily="1" charset="-122"/>
                <a:ea typeface="楷体_GB2312" pitchFamily="1" charset="-122"/>
              </a:rPr>
              <a:t>海绵。要求</a:t>
            </a:r>
            <a:r>
              <a:rPr lang="en-US" altLang="zh-CN">
                <a:solidFill>
                  <a:schemeClr val="tx1"/>
                </a:solidFill>
                <a:latin typeface="楷体_GB2312" pitchFamily="1" charset="-122"/>
                <a:ea typeface="楷体_GB2312" pitchFamily="1" charset="-122"/>
              </a:rPr>
              <a:t>Menger</a:t>
            </a:r>
            <a:r>
              <a:rPr lang="zh-CN" altLang="en-US">
                <a:solidFill>
                  <a:schemeClr val="tx1"/>
                </a:solidFill>
                <a:latin typeface="楷体_GB2312" pitchFamily="1" charset="-122"/>
                <a:ea typeface="楷体_GB2312" pitchFamily="1" charset="-122"/>
              </a:rPr>
              <a:t>海绵使用透视投影绘制，并且能动态旋转，如图</a:t>
            </a:r>
            <a:r>
              <a:rPr lang="en-US" altLang="zh-CN">
                <a:solidFill>
                  <a:schemeClr val="tx1"/>
                </a:solidFill>
                <a:latin typeface="楷体_GB2312" pitchFamily="1" charset="-122"/>
                <a:ea typeface="楷体_GB2312" pitchFamily="1" charset="-122"/>
              </a:rPr>
              <a:t>9-89</a:t>
            </a:r>
            <a:r>
              <a:rPr lang="zh-CN" altLang="en-US">
                <a:solidFill>
                  <a:schemeClr val="tx1"/>
                </a:solidFill>
                <a:latin typeface="楷体_GB2312" pitchFamily="1" charset="-122"/>
                <a:ea typeface="楷体_GB2312" pitchFamily="1" charset="-122"/>
              </a:rPr>
              <a:t>所示。</a:t>
            </a:r>
          </a:p>
        </p:txBody>
      </p:sp>
      <p:sp>
        <p:nvSpPr>
          <p:cNvPr id="117765" name="Rectangle 9"/>
          <p:cNvSpPr>
            <a:spLocks noChangeArrowheads="1"/>
          </p:cNvSpPr>
          <p:nvPr/>
        </p:nvSpPr>
        <p:spPr bwMode="auto">
          <a:xfrm>
            <a:off x="2363788" y="5513388"/>
            <a:ext cx="4713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9-89 Menger</a:t>
            </a:r>
            <a:r>
              <a:rPr lang="zh-CN" altLang="en-US" sz="2000">
                <a:solidFill>
                  <a:schemeClr val="tx1"/>
                </a:solidFill>
                <a:latin typeface="楷体_GB2312" pitchFamily="1" charset="-122"/>
                <a:ea typeface="楷体_GB2312" pitchFamily="1" charset="-122"/>
              </a:rPr>
              <a:t>海绵表面模型的透视投影</a:t>
            </a:r>
            <a:r>
              <a:rPr lang="zh-CN" altLang="en-US"/>
              <a:t> </a:t>
            </a:r>
          </a:p>
        </p:txBody>
      </p:sp>
      <p:pic>
        <p:nvPicPr>
          <p:cNvPr id="117766"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188" y="2259013"/>
            <a:ext cx="2609850"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67"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6463" y="2259013"/>
            <a:ext cx="2565400"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68" name="Picture 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46800" y="2259013"/>
            <a:ext cx="2611438" cy="188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DF84BB85-CAB2-469B-972C-29A1642E5FEF}" type="slidenum">
              <a:rPr lang="en-US" altLang="zh-CN" sz="1200">
                <a:solidFill>
                  <a:schemeClr val="tx1"/>
                </a:solidFill>
                <a:latin typeface="Garamond" pitchFamily="18" charset="0"/>
              </a:rPr>
              <a:pPr algn="r" eaLnBrk="1" hangingPunct="1">
                <a:spcBef>
                  <a:spcPct val="0"/>
                </a:spcBef>
              </a:pPr>
              <a:t>114</a:t>
            </a:fld>
            <a:endParaRPr lang="en-US" altLang="zh-CN" sz="1200">
              <a:solidFill>
                <a:schemeClr val="tx1"/>
              </a:solidFill>
              <a:latin typeface="Garamond" pitchFamily="18" charset="0"/>
            </a:endParaRPr>
          </a:p>
        </p:txBody>
      </p:sp>
      <p:sp>
        <p:nvSpPr>
          <p:cNvPr id="118787" name="Rectangle 2"/>
          <p:cNvSpPr>
            <a:spLocks noChangeArrowheads="1"/>
          </p:cNvSpPr>
          <p:nvPr/>
        </p:nvSpPr>
        <p:spPr bwMode="auto">
          <a:xfrm>
            <a:off x="341313" y="279400"/>
            <a:ext cx="848042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250825" algn="l"/>
              </a:tabLst>
              <a:defRPr sz="2400">
                <a:solidFill>
                  <a:srgbClr val="0000CC"/>
                </a:solidFill>
                <a:latin typeface="Arial" pitchFamily="34" charset="0"/>
                <a:ea typeface="宋体" pitchFamily="2" charset="-122"/>
              </a:defRPr>
            </a:lvl1pPr>
            <a:lvl2pPr marL="742950" indent="-285750" eaLnBrk="0" hangingPunct="0">
              <a:tabLst>
                <a:tab pos="250825" algn="l"/>
              </a:tabLst>
              <a:defRPr sz="2400">
                <a:solidFill>
                  <a:srgbClr val="0000CC"/>
                </a:solidFill>
                <a:latin typeface="Arial" pitchFamily="34" charset="0"/>
                <a:ea typeface="宋体" pitchFamily="2" charset="-122"/>
              </a:defRPr>
            </a:lvl2pPr>
            <a:lvl3pPr marL="1143000" indent="-228600" eaLnBrk="0" hangingPunct="0">
              <a:tabLst>
                <a:tab pos="250825" algn="l"/>
              </a:tabLst>
              <a:defRPr sz="2400">
                <a:solidFill>
                  <a:srgbClr val="0000CC"/>
                </a:solidFill>
                <a:latin typeface="Arial" pitchFamily="34" charset="0"/>
                <a:ea typeface="宋体" pitchFamily="2" charset="-122"/>
              </a:defRPr>
            </a:lvl3pPr>
            <a:lvl4pPr marL="1600200" indent="-228600" eaLnBrk="0" hangingPunct="0">
              <a:tabLst>
                <a:tab pos="250825" algn="l"/>
              </a:tabLst>
              <a:defRPr sz="2400">
                <a:solidFill>
                  <a:srgbClr val="0000CC"/>
                </a:solidFill>
                <a:latin typeface="Arial" pitchFamily="34" charset="0"/>
                <a:ea typeface="宋体" pitchFamily="2" charset="-122"/>
              </a:defRPr>
            </a:lvl4pPr>
            <a:lvl5pPr marL="2057400" indent="-228600" eaLnBrk="0" hangingPunct="0">
              <a:tabLst>
                <a:tab pos="250825" algn="l"/>
              </a:tabLst>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9pPr>
          </a:lstStyle>
          <a:p>
            <a:pPr algn="l" eaLnBrk="1" hangingPunct="1">
              <a:lnSpc>
                <a:spcPct val="140000"/>
              </a:lnSpc>
              <a:spcBef>
                <a:spcPct val="0"/>
              </a:spcBef>
            </a:pPr>
            <a:r>
              <a:rPr lang="en-US" altLang="zh-CN">
                <a:solidFill>
                  <a:schemeClr val="tx1"/>
                </a:solidFill>
                <a:latin typeface="楷体_GB2312" pitchFamily="1" charset="-122"/>
                <a:ea typeface="楷体_GB2312" pitchFamily="1" charset="-122"/>
              </a:rPr>
              <a:t>12. </a:t>
            </a:r>
            <a:r>
              <a:rPr lang="zh-CN" altLang="en-US">
                <a:solidFill>
                  <a:schemeClr val="tx1"/>
                </a:solidFill>
                <a:latin typeface="楷体_GB2312" pitchFamily="1" charset="-122"/>
                <a:ea typeface="楷体_GB2312" pitchFamily="1" charset="-122"/>
              </a:rPr>
              <a:t>*正二十面体有</a:t>
            </a:r>
            <a:r>
              <a:rPr lang="en-US" altLang="zh-CN">
                <a:solidFill>
                  <a:schemeClr val="tx1"/>
                </a:solidFill>
                <a:latin typeface="楷体_GB2312" pitchFamily="1" charset="-122"/>
                <a:ea typeface="楷体_GB2312" pitchFamily="1" charset="-122"/>
              </a:rPr>
              <a:t>12</a:t>
            </a:r>
            <a:r>
              <a:rPr lang="zh-CN" altLang="en-US">
                <a:solidFill>
                  <a:schemeClr val="tx1"/>
                </a:solidFill>
                <a:latin typeface="楷体_GB2312" pitchFamily="1" charset="-122"/>
                <a:ea typeface="楷体_GB2312" pitchFamily="1" charset="-122"/>
              </a:rPr>
              <a:t>个顶点，且从每个顶点引出</a:t>
            </a:r>
            <a:r>
              <a:rPr lang="en-US" altLang="zh-CN">
                <a:solidFill>
                  <a:schemeClr val="tx1"/>
                </a:solidFill>
                <a:latin typeface="楷体_GB2312" pitchFamily="1" charset="-122"/>
                <a:ea typeface="楷体_GB2312" pitchFamily="1" charset="-122"/>
              </a:rPr>
              <a:t>5</a:t>
            </a:r>
            <a:r>
              <a:rPr lang="zh-CN" altLang="en-US">
                <a:solidFill>
                  <a:schemeClr val="tx1"/>
                </a:solidFill>
                <a:latin typeface="楷体_GB2312" pitchFamily="1" charset="-122"/>
                <a:ea typeface="楷体_GB2312" pitchFamily="1" charset="-122"/>
              </a:rPr>
              <a:t>条边。假设用一把锋利的刀沿着每条边长的</a:t>
            </a:r>
            <a:r>
              <a:rPr lang="en-US" altLang="zh-CN">
                <a:solidFill>
                  <a:schemeClr val="tx1"/>
                </a:solidFill>
                <a:latin typeface="楷体_GB2312" pitchFamily="1" charset="-122"/>
                <a:ea typeface="楷体_GB2312" pitchFamily="1" charset="-122"/>
              </a:rPr>
              <a:t>1/3</a:t>
            </a:r>
            <a:r>
              <a:rPr lang="zh-CN" altLang="en-US">
                <a:solidFill>
                  <a:schemeClr val="tx1"/>
                </a:solidFill>
                <a:latin typeface="楷体_GB2312" pitchFamily="1" charset="-122"/>
                <a:ea typeface="楷体_GB2312" pitchFamily="1" charset="-122"/>
              </a:rPr>
              <a:t>处斜截每一个顶点，这样会留下由</a:t>
            </a:r>
            <a:r>
              <a:rPr lang="en-US" altLang="zh-CN">
                <a:solidFill>
                  <a:schemeClr val="tx1"/>
                </a:solidFill>
                <a:latin typeface="楷体_GB2312" pitchFamily="1" charset="-122"/>
                <a:ea typeface="楷体_GB2312" pitchFamily="1" charset="-122"/>
              </a:rPr>
              <a:t>12</a:t>
            </a:r>
            <a:r>
              <a:rPr lang="zh-CN" altLang="en-US">
                <a:solidFill>
                  <a:schemeClr val="tx1"/>
                </a:solidFill>
                <a:latin typeface="楷体_GB2312" pitchFamily="1" charset="-122"/>
                <a:ea typeface="楷体_GB2312" pitchFamily="1" charset="-122"/>
              </a:rPr>
              <a:t>个正五边形和</a:t>
            </a:r>
            <a:r>
              <a:rPr lang="en-US" altLang="zh-CN">
                <a:solidFill>
                  <a:schemeClr val="tx1"/>
                </a:solidFill>
                <a:latin typeface="楷体_GB2312" pitchFamily="1" charset="-122"/>
                <a:ea typeface="楷体_GB2312" pitchFamily="1" charset="-122"/>
              </a:rPr>
              <a:t>20</a:t>
            </a:r>
            <a:r>
              <a:rPr lang="zh-CN" altLang="en-US">
                <a:solidFill>
                  <a:schemeClr val="tx1"/>
                </a:solidFill>
                <a:latin typeface="楷体_GB2312" pitchFamily="1" charset="-122"/>
                <a:ea typeface="楷体_GB2312" pitchFamily="1" charset="-122"/>
              </a:rPr>
              <a:t>个正六边形组成的球体，如图</a:t>
            </a:r>
            <a:r>
              <a:rPr lang="en-US" altLang="zh-CN">
                <a:solidFill>
                  <a:schemeClr val="tx1"/>
                </a:solidFill>
                <a:latin typeface="楷体_GB2312" pitchFamily="1" charset="-122"/>
                <a:ea typeface="楷体_GB2312" pitchFamily="1" charset="-122"/>
              </a:rPr>
              <a:t>9-90</a:t>
            </a:r>
            <a:r>
              <a:rPr lang="zh-CN" altLang="en-US">
                <a:solidFill>
                  <a:schemeClr val="tx1"/>
                </a:solidFill>
                <a:latin typeface="楷体_GB2312" pitchFamily="1" charset="-122"/>
                <a:ea typeface="楷体_GB2312" pitchFamily="1" charset="-122"/>
              </a:rPr>
              <a:t>所示。这个有</a:t>
            </a:r>
            <a:r>
              <a:rPr lang="en-US" altLang="zh-CN">
                <a:solidFill>
                  <a:schemeClr val="tx1"/>
                </a:solidFill>
                <a:latin typeface="楷体_GB2312" pitchFamily="1" charset="-122"/>
                <a:ea typeface="楷体_GB2312" pitchFamily="1" charset="-122"/>
              </a:rPr>
              <a:t>60</a:t>
            </a:r>
            <a:r>
              <a:rPr lang="zh-CN" altLang="en-US">
                <a:solidFill>
                  <a:schemeClr val="tx1"/>
                </a:solidFill>
                <a:latin typeface="楷体_GB2312" pitchFamily="1" charset="-122"/>
                <a:ea typeface="楷体_GB2312" pitchFamily="1" charset="-122"/>
              </a:rPr>
              <a:t>个顶点的球体被称为</a:t>
            </a:r>
            <a:r>
              <a:rPr lang="en-US" altLang="zh-CN">
                <a:solidFill>
                  <a:schemeClr val="tx1"/>
                </a:solidFill>
                <a:latin typeface="楷体_GB2312" pitchFamily="1" charset="-122"/>
                <a:ea typeface="楷体_GB2312" pitchFamily="1" charset="-122"/>
              </a:rPr>
              <a:t>Bucky</a:t>
            </a:r>
            <a:r>
              <a:rPr lang="zh-CN" altLang="en-US">
                <a:solidFill>
                  <a:schemeClr val="tx1"/>
                </a:solidFill>
                <a:latin typeface="楷体_GB2312" pitchFamily="1" charset="-122"/>
                <a:ea typeface="楷体_GB2312" pitchFamily="1" charset="-122"/>
              </a:rPr>
              <a:t>球，类似于足球。请编写点表和面表绘制如图</a:t>
            </a:r>
            <a:r>
              <a:rPr lang="en-US" altLang="zh-CN">
                <a:solidFill>
                  <a:schemeClr val="tx1"/>
                </a:solidFill>
                <a:latin typeface="楷体_GB2312" pitchFamily="1" charset="-122"/>
                <a:ea typeface="楷体_GB2312" pitchFamily="1" charset="-122"/>
              </a:rPr>
              <a:t>9-91</a:t>
            </a:r>
            <a:r>
              <a:rPr lang="zh-CN" altLang="en-US">
                <a:solidFill>
                  <a:schemeClr val="tx1"/>
                </a:solidFill>
                <a:latin typeface="楷体_GB2312" pitchFamily="1" charset="-122"/>
                <a:ea typeface="楷体_GB2312" pitchFamily="1" charset="-122"/>
              </a:rPr>
              <a:t>所示的</a:t>
            </a:r>
            <a:r>
              <a:rPr lang="en-US" altLang="zh-CN">
                <a:solidFill>
                  <a:schemeClr val="tx1"/>
                </a:solidFill>
                <a:latin typeface="楷体_GB2312" pitchFamily="1" charset="-122"/>
                <a:ea typeface="楷体_GB2312" pitchFamily="1" charset="-122"/>
              </a:rPr>
              <a:t>Bucky</a:t>
            </a:r>
            <a:r>
              <a:rPr lang="zh-CN" altLang="en-US">
                <a:solidFill>
                  <a:schemeClr val="tx1"/>
                </a:solidFill>
                <a:latin typeface="楷体_GB2312" pitchFamily="1" charset="-122"/>
                <a:ea typeface="楷体_GB2312" pitchFamily="1" charset="-122"/>
              </a:rPr>
              <a:t>球线框图。</a:t>
            </a:r>
          </a:p>
        </p:txBody>
      </p:sp>
      <p:sp>
        <p:nvSpPr>
          <p:cNvPr id="118791" name="Rectangle 6"/>
          <p:cNvSpPr>
            <a:spLocks noChangeArrowheads="1"/>
          </p:cNvSpPr>
          <p:nvPr/>
        </p:nvSpPr>
        <p:spPr bwMode="auto">
          <a:xfrm>
            <a:off x="989013" y="5513388"/>
            <a:ext cx="7464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9-90 </a:t>
            </a:r>
            <a:r>
              <a:rPr lang="zh-CN" altLang="en-US" sz="2000">
                <a:solidFill>
                  <a:schemeClr val="tx1"/>
                </a:solidFill>
                <a:latin typeface="楷体_GB2312" pitchFamily="1" charset="-122"/>
                <a:ea typeface="楷体_GB2312" pitchFamily="1" charset="-122"/>
              </a:rPr>
              <a:t>斜截正二十面体形成</a:t>
            </a:r>
            <a:r>
              <a:rPr lang="en-US" altLang="zh-CN" sz="2000">
                <a:solidFill>
                  <a:schemeClr val="tx1"/>
                </a:solidFill>
                <a:latin typeface="楷体_GB2312" pitchFamily="1" charset="-122"/>
                <a:ea typeface="楷体_GB2312" pitchFamily="1" charset="-122"/>
              </a:rPr>
              <a:t>Bucky</a:t>
            </a:r>
            <a:r>
              <a:rPr lang="zh-CN" altLang="en-US" sz="2000">
                <a:solidFill>
                  <a:schemeClr val="tx1"/>
                </a:solidFill>
                <a:latin typeface="楷体_GB2312" pitchFamily="1" charset="-122"/>
                <a:ea typeface="楷体_GB2312" pitchFamily="1" charset="-122"/>
              </a:rPr>
              <a:t>球    图</a:t>
            </a:r>
            <a:r>
              <a:rPr lang="en-US" altLang="zh-CN" sz="2000">
                <a:solidFill>
                  <a:schemeClr val="tx1"/>
                </a:solidFill>
                <a:latin typeface="楷体_GB2312" pitchFamily="1" charset="-122"/>
                <a:ea typeface="楷体_GB2312" pitchFamily="1" charset="-122"/>
              </a:rPr>
              <a:t>9-91 Bucky</a:t>
            </a:r>
            <a:r>
              <a:rPr lang="zh-CN" altLang="en-US" sz="2000">
                <a:solidFill>
                  <a:schemeClr val="tx1"/>
                </a:solidFill>
                <a:latin typeface="楷体_GB2312" pitchFamily="1" charset="-122"/>
                <a:ea typeface="楷体_GB2312" pitchFamily="1" charset="-122"/>
              </a:rPr>
              <a:t>球线框图</a:t>
            </a:r>
            <a:r>
              <a:rPr lang="zh-CN" altLang="en-US"/>
              <a:t>  </a:t>
            </a:r>
          </a:p>
        </p:txBody>
      </p:sp>
      <p:pic>
        <p:nvPicPr>
          <p:cNvPr id="118795" name="Picture 14" descr="c6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3203575"/>
            <a:ext cx="2700338"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796" name="图片 1" descr="多面体球线框.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1750" y="3249613"/>
            <a:ext cx="2339975" cy="207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灯片编号占位符 3"/>
          <p:cNvSpPr txBox="1">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algn="r" eaLnBrk="1" hangingPunct="1">
              <a:spcBef>
                <a:spcPct val="0"/>
              </a:spcBef>
            </a:pPr>
            <a:fld id="{3BEF3135-A654-4915-95FA-3AAA4B2B1784}" type="slidenum">
              <a:rPr lang="en-US" altLang="zh-CN" sz="1200">
                <a:solidFill>
                  <a:schemeClr val="tx1"/>
                </a:solidFill>
                <a:latin typeface="Garamond" pitchFamily="18" charset="0"/>
              </a:rPr>
              <a:pPr algn="r" eaLnBrk="1" hangingPunct="1">
                <a:spcBef>
                  <a:spcPct val="0"/>
                </a:spcBef>
              </a:pPr>
              <a:t>115</a:t>
            </a:fld>
            <a:endParaRPr lang="en-US" altLang="zh-CN" sz="1200">
              <a:solidFill>
                <a:schemeClr val="tx1"/>
              </a:solidFill>
              <a:latin typeface="Garamond" pitchFamily="18" charset="0"/>
            </a:endParaRPr>
          </a:p>
        </p:txBody>
      </p:sp>
      <p:sp>
        <p:nvSpPr>
          <p:cNvPr id="119811" name="Rectangle 2"/>
          <p:cNvSpPr>
            <a:spLocks noChangeArrowheads="1"/>
          </p:cNvSpPr>
          <p:nvPr/>
        </p:nvSpPr>
        <p:spPr bwMode="auto">
          <a:xfrm>
            <a:off x="341313" y="534988"/>
            <a:ext cx="8480425"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250825" algn="l"/>
              </a:tabLst>
              <a:defRPr sz="2400">
                <a:solidFill>
                  <a:srgbClr val="0000CC"/>
                </a:solidFill>
                <a:latin typeface="Arial" pitchFamily="34" charset="0"/>
                <a:ea typeface="宋体" pitchFamily="2" charset="-122"/>
              </a:defRPr>
            </a:lvl1pPr>
            <a:lvl2pPr marL="742950" indent="-285750" eaLnBrk="0" hangingPunct="0">
              <a:tabLst>
                <a:tab pos="250825" algn="l"/>
              </a:tabLst>
              <a:defRPr sz="2400">
                <a:solidFill>
                  <a:srgbClr val="0000CC"/>
                </a:solidFill>
                <a:latin typeface="Arial" pitchFamily="34" charset="0"/>
                <a:ea typeface="宋体" pitchFamily="2" charset="-122"/>
              </a:defRPr>
            </a:lvl2pPr>
            <a:lvl3pPr marL="1143000" indent="-228600" eaLnBrk="0" hangingPunct="0">
              <a:tabLst>
                <a:tab pos="250825" algn="l"/>
              </a:tabLst>
              <a:defRPr sz="2400">
                <a:solidFill>
                  <a:srgbClr val="0000CC"/>
                </a:solidFill>
                <a:latin typeface="Arial" pitchFamily="34" charset="0"/>
                <a:ea typeface="宋体" pitchFamily="2" charset="-122"/>
              </a:defRPr>
            </a:lvl3pPr>
            <a:lvl4pPr marL="1600200" indent="-228600" eaLnBrk="0" hangingPunct="0">
              <a:tabLst>
                <a:tab pos="250825" algn="l"/>
              </a:tabLst>
              <a:defRPr sz="2400">
                <a:solidFill>
                  <a:srgbClr val="0000CC"/>
                </a:solidFill>
                <a:latin typeface="Arial" pitchFamily="34" charset="0"/>
                <a:ea typeface="宋体" pitchFamily="2" charset="-122"/>
              </a:defRPr>
            </a:lvl4pPr>
            <a:lvl5pPr marL="2057400" indent="-228600" eaLnBrk="0" hangingPunct="0">
              <a:tabLst>
                <a:tab pos="250825" algn="l"/>
              </a:tabLst>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tabLst>
                <a:tab pos="250825" algn="l"/>
              </a:tabLst>
              <a:defRPr sz="2400">
                <a:solidFill>
                  <a:srgbClr val="0000CC"/>
                </a:solidFill>
                <a:latin typeface="Arial" pitchFamily="34" charset="0"/>
                <a:ea typeface="宋体" pitchFamily="2" charset="-122"/>
              </a:defRPr>
            </a:lvl9pPr>
          </a:lstStyle>
          <a:p>
            <a:pPr algn="l" eaLnBrk="1" hangingPunct="1">
              <a:lnSpc>
                <a:spcPct val="140000"/>
              </a:lnSpc>
              <a:spcBef>
                <a:spcPct val="0"/>
              </a:spcBef>
            </a:pPr>
            <a:r>
              <a:rPr lang="en-US" altLang="zh-CN">
                <a:solidFill>
                  <a:schemeClr val="tx1"/>
                </a:solidFill>
                <a:latin typeface="楷体_GB2312" pitchFamily="1" charset="-122"/>
                <a:ea typeface="楷体_GB2312" pitchFamily="1" charset="-122"/>
              </a:rPr>
              <a:t>13. </a:t>
            </a:r>
            <a:r>
              <a:rPr lang="zh-CN" altLang="en-US">
                <a:solidFill>
                  <a:schemeClr val="tx1"/>
                </a:solidFill>
                <a:latin typeface="楷体_GB2312" pitchFamily="1" charset="-122"/>
                <a:ea typeface="楷体_GB2312" pitchFamily="1" charset="-122"/>
              </a:rPr>
              <a:t>*</a:t>
            </a:r>
            <a:r>
              <a:rPr lang="en-US" altLang="zh-CN">
                <a:solidFill>
                  <a:schemeClr val="tx1"/>
                </a:solidFill>
                <a:latin typeface="楷体_GB2312" pitchFamily="1" charset="-122"/>
                <a:ea typeface="楷体_GB2312" pitchFamily="1" charset="-122"/>
              </a:rPr>
              <a:t>Bucky</a:t>
            </a:r>
            <a:r>
              <a:rPr lang="zh-CN" altLang="en-US">
                <a:solidFill>
                  <a:schemeClr val="tx1"/>
                </a:solidFill>
                <a:latin typeface="楷体_GB2312" pitchFamily="1" charset="-122"/>
                <a:ea typeface="楷体_GB2312" pitchFamily="1" charset="-122"/>
              </a:rPr>
              <a:t>线框图的五边形与六边形表面均为平面。请连接正五边形的中心和正五边形的每个顶角，并将中心点拉至球面上。对正六边形也行类似的操作，得到了足球的线框模型。请绘制图</a:t>
            </a:r>
            <a:r>
              <a:rPr lang="en-US" altLang="zh-CN">
                <a:solidFill>
                  <a:schemeClr val="tx1"/>
                </a:solidFill>
                <a:latin typeface="楷体_GB2312" pitchFamily="1" charset="-122"/>
                <a:ea typeface="楷体_GB2312" pitchFamily="1" charset="-122"/>
              </a:rPr>
              <a:t>9-92</a:t>
            </a:r>
            <a:r>
              <a:rPr lang="zh-CN" altLang="en-US">
                <a:solidFill>
                  <a:schemeClr val="tx1"/>
                </a:solidFill>
                <a:latin typeface="楷体_GB2312" pitchFamily="1" charset="-122"/>
                <a:ea typeface="楷体_GB2312" pitchFamily="1" charset="-122"/>
              </a:rPr>
              <a:t>所示的足球线框图。</a:t>
            </a:r>
          </a:p>
        </p:txBody>
      </p:sp>
      <p:sp>
        <p:nvSpPr>
          <p:cNvPr id="119813" name="Rectangle 4"/>
          <p:cNvSpPr>
            <a:spLocks noChangeArrowheads="1"/>
          </p:cNvSpPr>
          <p:nvPr/>
        </p:nvSpPr>
        <p:spPr bwMode="auto">
          <a:xfrm>
            <a:off x="4467225" y="2625725"/>
            <a:ext cx="2063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700">
                <a:solidFill>
                  <a:schemeClr val="tx1"/>
                </a:solidFill>
                <a:latin typeface="Times New Roman" pitchFamily="18" charset="0"/>
                <a:cs typeface="Times New Roman" pitchFamily="18" charset="0"/>
              </a:rPr>
              <a:t> </a:t>
            </a:r>
            <a:endParaRPr lang="zh-CN" altLang="en-US">
              <a:solidFill>
                <a:schemeClr val="tx1"/>
              </a:solidFill>
            </a:endParaRPr>
          </a:p>
        </p:txBody>
      </p:sp>
      <p:sp>
        <p:nvSpPr>
          <p:cNvPr id="119814" name="Rectangle 5"/>
          <p:cNvSpPr>
            <a:spLocks noChangeArrowheads="1"/>
          </p:cNvSpPr>
          <p:nvPr/>
        </p:nvSpPr>
        <p:spPr bwMode="auto">
          <a:xfrm>
            <a:off x="4467225" y="4024313"/>
            <a:ext cx="2063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700">
                <a:solidFill>
                  <a:schemeClr val="tx1"/>
                </a:solidFill>
                <a:latin typeface="Times New Roman" pitchFamily="18" charset="0"/>
                <a:cs typeface="Times New Roman" pitchFamily="18" charset="0"/>
              </a:rPr>
              <a:t> </a:t>
            </a:r>
            <a:endParaRPr lang="zh-CN" altLang="en-US">
              <a:solidFill>
                <a:schemeClr val="tx1"/>
              </a:solidFill>
            </a:endParaRPr>
          </a:p>
        </p:txBody>
      </p:sp>
      <p:sp>
        <p:nvSpPr>
          <p:cNvPr id="119815" name="Rectangle 6"/>
          <p:cNvSpPr>
            <a:spLocks noChangeArrowheads="1"/>
          </p:cNvSpPr>
          <p:nvPr/>
        </p:nvSpPr>
        <p:spPr bwMode="auto">
          <a:xfrm>
            <a:off x="3355975" y="5903913"/>
            <a:ext cx="2595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2000">
                <a:solidFill>
                  <a:schemeClr val="tx1"/>
                </a:solidFill>
                <a:latin typeface="楷体_GB2312" pitchFamily="1" charset="-122"/>
                <a:ea typeface="楷体_GB2312" pitchFamily="1" charset="-122"/>
              </a:rPr>
              <a:t>图</a:t>
            </a:r>
            <a:r>
              <a:rPr lang="en-US" altLang="zh-CN" sz="2000">
                <a:solidFill>
                  <a:schemeClr val="tx1"/>
                </a:solidFill>
                <a:latin typeface="楷体_GB2312" pitchFamily="1" charset="-122"/>
                <a:ea typeface="楷体_GB2312" pitchFamily="1" charset="-122"/>
              </a:rPr>
              <a:t>9-92 </a:t>
            </a:r>
            <a:r>
              <a:rPr lang="zh-CN" altLang="en-US" sz="2000">
                <a:solidFill>
                  <a:schemeClr val="tx1"/>
                </a:solidFill>
                <a:latin typeface="楷体_GB2312" pitchFamily="1" charset="-122"/>
                <a:ea typeface="楷体_GB2312" pitchFamily="1" charset="-122"/>
              </a:rPr>
              <a:t>足球线框图</a:t>
            </a:r>
            <a:r>
              <a:rPr lang="zh-CN" altLang="en-US"/>
              <a:t>   </a:t>
            </a:r>
          </a:p>
        </p:txBody>
      </p:sp>
      <p:sp>
        <p:nvSpPr>
          <p:cNvPr id="119817" name="Rectangle 8"/>
          <p:cNvSpPr>
            <a:spLocks noChangeArrowheads="1"/>
          </p:cNvSpPr>
          <p:nvPr/>
        </p:nvSpPr>
        <p:spPr bwMode="auto">
          <a:xfrm>
            <a:off x="4344988" y="2574925"/>
            <a:ext cx="482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1000">
                <a:solidFill>
                  <a:schemeClr val="tx1"/>
                </a:solidFill>
                <a:latin typeface="Times New Roman" pitchFamily="18" charset="0"/>
                <a:cs typeface="Times New Roman" pitchFamily="18" charset="0"/>
              </a:rPr>
              <a:t> </a:t>
            </a:r>
            <a:endParaRPr lang="zh-CN" altLang="en-US">
              <a:solidFill>
                <a:schemeClr val="tx1"/>
              </a:solidFill>
            </a:endParaRPr>
          </a:p>
        </p:txBody>
      </p:sp>
      <p:sp>
        <p:nvSpPr>
          <p:cNvPr id="119818" name="Rectangle 9"/>
          <p:cNvSpPr>
            <a:spLocks noChangeArrowheads="1"/>
          </p:cNvSpPr>
          <p:nvPr/>
        </p:nvSpPr>
        <p:spPr bwMode="auto">
          <a:xfrm>
            <a:off x="4344988" y="4019550"/>
            <a:ext cx="482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1000">
                <a:solidFill>
                  <a:schemeClr val="tx1"/>
                </a:solidFill>
                <a:latin typeface="Times New Roman" pitchFamily="18" charset="0"/>
                <a:cs typeface="Times New Roman" pitchFamily="18" charset="0"/>
              </a:rPr>
              <a:t> </a:t>
            </a:r>
            <a:endParaRPr lang="zh-CN" altLang="en-US">
              <a:solidFill>
                <a:schemeClr val="tx1"/>
              </a:solidFill>
            </a:endParaRPr>
          </a:p>
        </p:txBody>
      </p:sp>
      <p:sp>
        <p:nvSpPr>
          <p:cNvPr id="119820" name="Rectangle 13"/>
          <p:cNvSpPr>
            <a:spLocks noChangeArrowheads="1"/>
          </p:cNvSpPr>
          <p:nvPr/>
        </p:nvSpPr>
        <p:spPr bwMode="auto">
          <a:xfrm>
            <a:off x="0" y="3363913"/>
            <a:ext cx="311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rgbClr val="0000CC"/>
                </a:solidFill>
                <a:latin typeface="Arial" pitchFamily="34" charset="0"/>
                <a:ea typeface="宋体" pitchFamily="2" charset="-122"/>
              </a:defRPr>
            </a:lvl1pPr>
            <a:lvl2pPr marL="742950" indent="-285750" eaLnBrk="0" hangingPunct="0">
              <a:defRPr sz="2400">
                <a:solidFill>
                  <a:srgbClr val="0000CC"/>
                </a:solidFill>
                <a:latin typeface="Arial" pitchFamily="34" charset="0"/>
                <a:ea typeface="宋体" pitchFamily="2" charset="-122"/>
              </a:defRPr>
            </a:lvl2pPr>
            <a:lvl3pPr marL="1143000" indent="-228600" eaLnBrk="0" hangingPunct="0">
              <a:defRPr sz="2400">
                <a:solidFill>
                  <a:srgbClr val="0000CC"/>
                </a:solidFill>
                <a:latin typeface="Arial" pitchFamily="34" charset="0"/>
                <a:ea typeface="宋体" pitchFamily="2" charset="-122"/>
              </a:defRPr>
            </a:lvl3pPr>
            <a:lvl4pPr marL="1600200" indent="-228600" eaLnBrk="0" hangingPunct="0">
              <a:defRPr sz="2400">
                <a:solidFill>
                  <a:srgbClr val="0000CC"/>
                </a:solidFill>
                <a:latin typeface="Arial" pitchFamily="34" charset="0"/>
                <a:ea typeface="宋体" pitchFamily="2" charset="-122"/>
              </a:defRPr>
            </a:lvl4pPr>
            <a:lvl5pPr marL="2057400" indent="-228600" eaLnBrk="0" hangingPunct="0">
              <a:defRPr sz="2400">
                <a:solidFill>
                  <a:srgbClr val="0000CC"/>
                </a:solidFill>
                <a:latin typeface="Arial" pitchFamily="34" charset="0"/>
                <a:ea typeface="宋体" pitchFamily="2" charset="-122"/>
              </a:defRPr>
            </a:lvl5pPr>
            <a:lvl6pPr marL="25146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6pPr>
            <a:lvl7pPr marL="29718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7pPr>
            <a:lvl8pPr marL="34290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8pPr>
            <a:lvl9pPr marL="3886200" indent="-228600" algn="ctr" eaLnBrk="0" fontAlgn="base" hangingPunct="0">
              <a:spcBef>
                <a:spcPct val="50000"/>
              </a:spcBef>
              <a:spcAft>
                <a:spcPct val="0"/>
              </a:spcAft>
              <a:buFont typeface="Arial" pitchFamily="34" charset="0"/>
              <a:defRPr sz="2400">
                <a:solidFill>
                  <a:srgbClr val="0000CC"/>
                </a:solidFill>
                <a:latin typeface="Arial" pitchFamily="34" charset="0"/>
                <a:ea typeface="宋体" pitchFamily="2" charset="-122"/>
              </a:defRPr>
            </a:lvl9pPr>
          </a:lstStyle>
          <a:p>
            <a:pPr eaLnBrk="1" hangingPunct="1">
              <a:spcBef>
                <a:spcPct val="0"/>
              </a:spcBef>
            </a:pPr>
            <a:r>
              <a:rPr lang="zh-CN" altLang="en-US" sz="1000">
                <a:solidFill>
                  <a:schemeClr val="tx1"/>
                </a:solidFill>
                <a:latin typeface="Times New Roman" pitchFamily="18" charset="0"/>
                <a:cs typeface="Times New Roman" pitchFamily="18" charset="0"/>
              </a:rPr>
              <a:t>    </a:t>
            </a:r>
            <a:endParaRPr lang="zh-CN" altLang="en-US">
              <a:solidFill>
                <a:schemeClr val="tx1"/>
              </a:solidFill>
            </a:endParaRPr>
          </a:p>
        </p:txBody>
      </p:sp>
      <p:pic>
        <p:nvPicPr>
          <p:cNvPr id="119821"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6713" y="2663825"/>
            <a:ext cx="2833687"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Edge">
  <a:themeElements>
    <a:clrScheme name="Edge 10">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0000FF"/>
      </a:hlink>
      <a:folHlink>
        <a:srgbClr val="AFBF39"/>
      </a:folHlink>
    </a:clrScheme>
    <a:fontScheme name="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outerShdw dist="17961" dir="2700000" algn="ctr" rotWithShape="0">
            <a:srgbClr val="FFFFFF">
              <a:gamma/>
              <a:shade val="60000"/>
              <a:invGamma/>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 typeface="Arial" pitchFamily="34" charset="0"/>
          <a:buNone/>
          <a:tabLst/>
          <a:defRPr kumimoji="0" lang="en-US" altLang="zh-CN" sz="2400" b="0" i="0" u="none" strike="noStrike" cap="none" normalizeH="0" baseline="0" smtClean="0">
            <a:ln>
              <a:noFill/>
            </a:ln>
            <a:solidFill>
              <a:srgbClr val="0000CC"/>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a:noFill/>
        </a:ln>
        <a:effectLst>
          <a:outerShdw dist="17961" dir="2700000" algn="ctr" rotWithShape="0">
            <a:srgbClr val="FFFFFF">
              <a:gamma/>
              <a:shade val="60000"/>
              <a:invGamma/>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 typeface="Arial" pitchFamily="34" charset="0"/>
          <a:buNone/>
          <a:tabLst/>
          <a:defRPr kumimoji="0" lang="en-US" altLang="zh-CN" sz="2400" b="0" i="0" u="none" strike="noStrike" cap="none" normalizeH="0" baseline="0" smtClean="0">
            <a:ln>
              <a:noFill/>
            </a:ln>
            <a:solidFill>
              <a:srgbClr val="0000CC"/>
            </a:solidFill>
            <a:effectLst/>
            <a:latin typeface="Arial" pitchFamily="34" charset="0"/>
            <a:ea typeface="宋体"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10">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0000FF"/>
        </a:hlink>
        <a:folHlink>
          <a:srgbClr val="AFBF3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Edge">
  <a:themeElements>
    <a:clrScheme name="1_Edge 10">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0000FF"/>
      </a:hlink>
      <a:folHlink>
        <a:srgbClr val="AFBF39"/>
      </a:folHlink>
    </a:clrScheme>
    <a:fontScheme name="1_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outerShdw dist="17961" dir="2700000" algn="ctr" rotWithShape="0">
            <a:srgbClr val="FFFFFF">
              <a:gamma/>
              <a:shade val="60000"/>
              <a:invGamma/>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 typeface="Arial" pitchFamily="34" charset="0"/>
          <a:buNone/>
          <a:tabLst/>
          <a:defRPr kumimoji="0" lang="en-US" altLang="zh-CN" sz="2400" b="0" i="0" u="none" strike="noStrike" cap="none" normalizeH="0" baseline="0" smtClean="0">
            <a:ln>
              <a:noFill/>
            </a:ln>
            <a:solidFill>
              <a:srgbClr val="0000CC"/>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a:noFill/>
        </a:ln>
        <a:effectLst>
          <a:outerShdw dist="17961" dir="2700000" algn="ctr" rotWithShape="0">
            <a:srgbClr val="FFFFFF">
              <a:gamma/>
              <a:shade val="60000"/>
              <a:invGamma/>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 typeface="Arial" pitchFamily="34" charset="0"/>
          <a:buNone/>
          <a:tabLst/>
          <a:defRPr kumimoji="0" lang="en-US" altLang="zh-CN" sz="2400" b="0" i="0" u="none" strike="noStrike" cap="none" normalizeH="0" baseline="0" smtClean="0">
            <a:ln>
              <a:noFill/>
            </a:ln>
            <a:solidFill>
              <a:srgbClr val="0000CC"/>
            </a:solidFill>
            <a:effectLst/>
            <a:latin typeface="Arial" pitchFamily="34" charset="0"/>
            <a:ea typeface="宋体" pitchFamily="2" charset="-122"/>
          </a:defRPr>
        </a:defPPr>
      </a:lstStyle>
    </a:lnDef>
  </a:objectDefaults>
  <a:extraClrSchemeLst>
    <a:extraClrScheme>
      <a:clrScheme name="1_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1_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1_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1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1_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1_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1_Edge 10">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0000FF"/>
        </a:hlink>
        <a:folHlink>
          <a:srgbClr val="AFBF3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484</TotalTime>
  <Pages>0</Pages>
  <Words>8116</Words>
  <Characters>0</Characters>
  <Application>Microsoft Office PowerPoint</Application>
  <DocSecurity>0</DocSecurity>
  <PresentationFormat>全屏显示(4:3)</PresentationFormat>
  <Lines>0</Lines>
  <Paragraphs>1176</Paragraphs>
  <Slides>115</Slides>
  <Notes>0</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4</vt:i4>
      </vt:variant>
      <vt:variant>
        <vt:lpstr>幻灯片标题</vt:lpstr>
      </vt:variant>
      <vt:variant>
        <vt:i4>115</vt:i4>
      </vt:variant>
    </vt:vector>
  </HeadingPairs>
  <TitlesOfParts>
    <vt:vector size="137" baseType="lpstr">
      <vt:lpstr>Adobe 楷体 Std R</vt:lpstr>
      <vt:lpstr>PMingLiU</vt:lpstr>
      <vt:lpstr>方正粗黑宋简体</vt:lpstr>
      <vt:lpstr>黑体</vt:lpstr>
      <vt:lpstr>楷体_GB2312</vt:lpstr>
      <vt:lpstr>隶书</vt:lpstr>
      <vt:lpstr>宋体</vt:lpstr>
      <vt:lpstr>幼圆</vt:lpstr>
      <vt:lpstr>Arial</vt:lpstr>
      <vt:lpstr>Cambria Math</vt:lpstr>
      <vt:lpstr>Garamond</vt:lpstr>
      <vt:lpstr>Symbol</vt:lpstr>
      <vt:lpstr>Tahoma</vt:lpstr>
      <vt:lpstr>Times New Roman</vt:lpstr>
      <vt:lpstr>Verdana</vt:lpstr>
      <vt:lpstr>Wingdings</vt:lpstr>
      <vt:lpstr>Edge</vt:lpstr>
      <vt:lpstr>1_Edge</vt:lpstr>
      <vt:lpstr>Visio</vt:lpstr>
      <vt:lpstr>Visio.Drawing.11</vt:lpstr>
      <vt:lpstr>Microsoft 公式 3.0</vt:lpstr>
      <vt:lpstr>公式</vt:lpstr>
      <vt:lpstr>PowerPoint 演示文稿</vt:lpstr>
      <vt:lpstr>PowerPoint 演示文稿</vt:lpstr>
      <vt:lpstr>PowerPoint 演示文稿</vt:lpstr>
      <vt:lpstr>PowerPoint 演示文稿</vt:lpstr>
      <vt:lpstr>9.1 三维物体的数据结构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柏拉图多面体对偶性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LZQ</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计算机图形学</dc:title>
  <dc:subject>太原工业学院</dc:subject>
  <dc:creator>孔令德</dc:creator>
  <cp:lastModifiedBy>DELL</cp:lastModifiedBy>
  <cp:revision>731</cp:revision>
  <dcterms:created xsi:type="dcterms:W3CDTF">2001-04-17T13:25:43Z</dcterms:created>
  <dcterms:modified xsi:type="dcterms:W3CDTF">2025-11-29T03:14:47Z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2052-9.1.0.4517</vt:lpwstr>
  </property>
</Properties>
</file>