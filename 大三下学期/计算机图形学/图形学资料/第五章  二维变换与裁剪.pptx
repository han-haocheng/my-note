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>
  <p:sldMasterIdLst>
    <p:sldMasterId id="2147483648" r:id="rId1"/>
    <p:sldMasterId id="2147483660" r:id="rId2"/>
  </p:sldMasterIdLst>
  <p:notesMasterIdLst>
    <p:notesMasterId r:id="rId85"/>
  </p:notesMasterIdLst>
  <p:handoutMasterIdLst>
    <p:handoutMasterId r:id="rId86"/>
  </p:handoutMasterIdLst>
  <p:sldIdLst>
    <p:sldId id="257" r:id="rId3"/>
    <p:sldId id="259" r:id="rId4"/>
    <p:sldId id="260" r:id="rId5"/>
    <p:sldId id="292" r:id="rId6"/>
    <p:sldId id="550" r:id="rId7"/>
    <p:sldId id="551" r:id="rId8"/>
    <p:sldId id="553" r:id="rId9"/>
    <p:sldId id="651" r:id="rId10"/>
    <p:sldId id="653" r:id="rId11"/>
    <p:sldId id="654" r:id="rId12"/>
    <p:sldId id="655" r:id="rId13"/>
    <p:sldId id="657" r:id="rId14"/>
    <p:sldId id="658" r:id="rId15"/>
    <p:sldId id="574" r:id="rId16"/>
    <p:sldId id="659" r:id="rId17"/>
    <p:sldId id="660" r:id="rId18"/>
    <p:sldId id="620" r:id="rId19"/>
    <p:sldId id="661" r:id="rId20"/>
    <p:sldId id="685" r:id="rId21"/>
    <p:sldId id="662" r:id="rId22"/>
    <p:sldId id="627" r:id="rId23"/>
    <p:sldId id="663" r:id="rId24"/>
    <p:sldId id="679" r:id="rId25"/>
    <p:sldId id="680" r:id="rId26"/>
    <p:sldId id="681" r:id="rId27"/>
    <p:sldId id="682" r:id="rId28"/>
    <p:sldId id="683" r:id="rId29"/>
    <p:sldId id="684" r:id="rId30"/>
    <p:sldId id="664" r:id="rId31"/>
    <p:sldId id="665" r:id="rId32"/>
    <p:sldId id="666" r:id="rId33"/>
    <p:sldId id="668" r:id="rId34"/>
    <p:sldId id="669" r:id="rId35"/>
    <p:sldId id="673" r:id="rId36"/>
    <p:sldId id="670" r:id="rId37"/>
    <p:sldId id="671" r:id="rId38"/>
    <p:sldId id="672" r:id="rId39"/>
    <p:sldId id="718" r:id="rId40"/>
    <p:sldId id="596" r:id="rId41"/>
    <p:sldId id="674" r:id="rId42"/>
    <p:sldId id="676" r:id="rId43"/>
    <p:sldId id="687" r:id="rId44"/>
    <p:sldId id="716" r:id="rId45"/>
    <p:sldId id="677" r:id="rId46"/>
    <p:sldId id="678" r:id="rId47"/>
    <p:sldId id="689" r:id="rId48"/>
    <p:sldId id="713" r:id="rId49"/>
    <p:sldId id="690" r:id="rId50"/>
    <p:sldId id="691" r:id="rId51"/>
    <p:sldId id="635" r:id="rId52"/>
    <p:sldId id="688" r:id="rId53"/>
    <p:sldId id="692" r:id="rId54"/>
    <p:sldId id="693" r:id="rId55"/>
    <p:sldId id="694" r:id="rId56"/>
    <p:sldId id="639" r:id="rId57"/>
    <p:sldId id="708" r:id="rId58"/>
    <p:sldId id="641" r:id="rId59"/>
    <p:sldId id="712" r:id="rId60"/>
    <p:sldId id="645" r:id="rId61"/>
    <p:sldId id="647" r:id="rId62"/>
    <p:sldId id="697" r:id="rId63"/>
    <p:sldId id="695" r:id="rId64"/>
    <p:sldId id="700" r:id="rId65"/>
    <p:sldId id="698" r:id="rId66"/>
    <p:sldId id="699" r:id="rId67"/>
    <p:sldId id="648" r:id="rId68"/>
    <p:sldId id="649" r:id="rId69"/>
    <p:sldId id="701" r:id="rId70"/>
    <p:sldId id="702" r:id="rId71"/>
    <p:sldId id="703" r:id="rId72"/>
    <p:sldId id="704" r:id="rId73"/>
    <p:sldId id="705" r:id="rId74"/>
    <p:sldId id="603" r:id="rId75"/>
    <p:sldId id="604" r:id="rId76"/>
    <p:sldId id="605" r:id="rId77"/>
    <p:sldId id="610" r:id="rId78"/>
    <p:sldId id="611" r:id="rId79"/>
    <p:sldId id="612" r:id="rId80"/>
    <p:sldId id="613" r:id="rId81"/>
    <p:sldId id="614" r:id="rId82"/>
    <p:sldId id="615" r:id="rId83"/>
    <p:sldId id="706" r:id="rId8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10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3366FF"/>
    <a:srgbClr val="0033CC"/>
    <a:srgbClr val="424000"/>
    <a:srgbClr val="004E00"/>
    <a:srgbClr val="99CC00"/>
    <a:srgbClr val="00FF99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 autoAdjust="0"/>
    <p:restoredTop sz="94660" autoAdjust="0"/>
  </p:normalViewPr>
  <p:slideViewPr>
    <p:cSldViewPr showGuides="1">
      <p:cViewPr varScale="1">
        <p:scale>
          <a:sx n="114" d="100"/>
          <a:sy n="114" d="100"/>
        </p:scale>
        <p:origin x="2184" y="96"/>
      </p:cViewPr>
      <p:guideLst>
        <p:guide orient="horz" pos="2160"/>
        <p:guide pos="1008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theme" Target="theme/theme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tableStyles" Target="tableStyles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presProps" Target="pres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4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4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image" Target="../media/image18.emf"/><Relationship Id="rId7" Type="http://schemas.openxmlformats.org/officeDocument/2006/relationships/image" Target="../media/image22.e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emf"/><Relationship Id="rId4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emf"/><Relationship Id="rId1" Type="http://schemas.openxmlformats.org/officeDocument/2006/relationships/image" Target="../media/image39.emf"/><Relationship Id="rId4" Type="http://schemas.openxmlformats.org/officeDocument/2006/relationships/image" Target="../media/image4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4" Type="http://schemas.openxmlformats.org/officeDocument/2006/relationships/image" Target="../media/image4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emf"/><Relationship Id="rId1" Type="http://schemas.openxmlformats.org/officeDocument/2006/relationships/image" Target="../media/image49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53.wmf"/><Relationship Id="rId1" Type="http://schemas.openxmlformats.org/officeDocument/2006/relationships/image" Target="../media/image52.emf"/><Relationship Id="rId4" Type="http://schemas.openxmlformats.org/officeDocument/2006/relationships/image" Target="../media/image5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emf"/><Relationship Id="rId1" Type="http://schemas.openxmlformats.org/officeDocument/2006/relationships/image" Target="../media/image56.emf"/><Relationship Id="rId4" Type="http://schemas.openxmlformats.org/officeDocument/2006/relationships/image" Target="../media/image59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image" Target="../media/image61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image" Target="../media/image63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image" Target="../media/image65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emf"/><Relationship Id="rId1" Type="http://schemas.openxmlformats.org/officeDocument/2006/relationships/image" Target="../media/image69.emf"/><Relationship Id="rId5" Type="http://schemas.openxmlformats.org/officeDocument/2006/relationships/image" Target="../media/image73.wmf"/><Relationship Id="rId4" Type="http://schemas.openxmlformats.org/officeDocument/2006/relationships/image" Target="../media/image72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2.emf"/><Relationship Id="rId1" Type="http://schemas.openxmlformats.org/officeDocument/2006/relationships/image" Target="../media/image81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7.emf"/><Relationship Id="rId1" Type="http://schemas.openxmlformats.org/officeDocument/2006/relationships/image" Target="../media/image86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2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9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0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1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8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1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2.e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emf"/><Relationship Id="rId2" Type="http://schemas.openxmlformats.org/officeDocument/2006/relationships/image" Target="../media/image116.emf"/><Relationship Id="rId1" Type="http://schemas.openxmlformats.org/officeDocument/2006/relationships/image" Target="../media/image115.e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emf"/><Relationship Id="rId2" Type="http://schemas.openxmlformats.org/officeDocument/2006/relationships/image" Target="../media/image119.emf"/><Relationship Id="rId1" Type="http://schemas.openxmlformats.org/officeDocument/2006/relationships/image" Target="../media/image118.emf"/><Relationship Id="rId4" Type="http://schemas.openxmlformats.org/officeDocument/2006/relationships/image" Target="../media/image121.e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emf"/><Relationship Id="rId2" Type="http://schemas.openxmlformats.org/officeDocument/2006/relationships/image" Target="../media/image123.emf"/><Relationship Id="rId1" Type="http://schemas.openxmlformats.org/officeDocument/2006/relationships/image" Target="../media/image122.e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emf"/><Relationship Id="rId1" Type="http://schemas.openxmlformats.org/officeDocument/2006/relationships/image" Target="../media/image125.e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emf"/><Relationship Id="rId1" Type="http://schemas.openxmlformats.org/officeDocument/2006/relationships/image" Target="../media/image127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0.w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1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2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3.w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6.e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wmf"/><Relationship Id="rId1" Type="http://schemas.openxmlformats.org/officeDocument/2006/relationships/image" Target="../media/image137.w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E0C5F0-6836-4C04-931C-869E44F4A9FD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E838E9-FCB2-4642-9951-0AF30EFAB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2" name="Rectangle 4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6E02324-6601-4940-BE85-8E34F1145B43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CB1CB4-6543-4F42-9EB2-9234FA571A26}" type="datetime1">
              <a:rPr lang="zh-CN" altLang="en-US"/>
              <a:t>2025/11/8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6B3570-9C02-417C-811F-D48C666B55B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E1614E-3F91-4B29-AED3-EF90939955FC}" type="datetime1">
              <a:rPr lang="zh-CN" altLang="en-US"/>
              <a:t>2025/11/8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78FA74-A7E3-4710-9143-F4B11F039EB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2F6F1-F250-4595-BAA7-1A204ECA247A}" type="datetime1">
              <a:rPr lang="zh-CN" altLang="en-US"/>
              <a:t>2025/11/8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F1525C-4FF2-4DD9-8171-A50CF82BB06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775130-236E-494E-B29A-1601D8149594}" type="datetime1">
              <a:rPr lang="zh-CN" altLang="en-US"/>
              <a:t>2025/11/8</a:t>
            </a:fld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F63018-414F-4B39-93B4-289D540E927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0ECC2A-443A-4590-9084-AA3D0F0E00D6}" type="datetime1">
              <a:rPr lang="zh-CN" altLang="en-US"/>
              <a:t>2025/11/8</a:t>
            </a:fld>
            <a:endParaRPr lang="en-US" altLang="zh-CN"/>
          </a:p>
        </p:txBody>
      </p:sp>
      <p:sp>
        <p:nvSpPr>
          <p:cNvPr id="8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E74A4-EDF5-4B0A-B231-47B02C0F311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Rectangle 1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81C304-2B75-471E-944A-0A555204E693}" type="datetime1">
              <a:rPr lang="zh-CN" altLang="en-US"/>
              <a:t>2025/11/8</a:t>
            </a:fld>
            <a:endParaRPr lang="en-US" altLang="zh-CN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78F278-60AB-4DB2-A67E-FC0BCC876C9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671D6D-DE5F-47FF-82DD-A8FA0422B1B7}" type="datetime1">
              <a:rPr lang="zh-CN" altLang="en-US"/>
              <a:t>2025/11/8</a:t>
            </a:fld>
            <a:endParaRPr lang="en-US" altLang="zh-CN"/>
          </a:p>
        </p:txBody>
      </p:sp>
      <p:sp>
        <p:nvSpPr>
          <p:cNvPr id="3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EC08C-EAC2-400C-87F5-9FD9019BEE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ADCFAF-C02F-4F28-87DD-CFBB60B8166E}" type="datetime1">
              <a:rPr lang="zh-CN" altLang="en-US"/>
              <a:t>2025/11/8</a:t>
            </a:fld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A3E661-ADFF-4ED2-9609-5989A584AA1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94DC65-F902-47F6-BCE6-DD2F56FDB697}" type="datetime1">
              <a:rPr lang="zh-CN" altLang="en-US"/>
              <a:t>2025/11/8</a:t>
            </a:fld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3E9B5F-64FA-4017-A920-95F9B2916C4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9ED279-F367-4FCE-A81C-D6E336A1B323}" type="datetime1">
              <a:rPr lang="zh-CN" altLang="en-US"/>
              <a:t>2025/11/8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EDDA24-B37B-4F9A-A2D3-5DD18743125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EC3FAE-4B70-463C-B44B-E52934D3F386}" type="datetime1">
              <a:rPr lang="zh-CN" altLang="en-US"/>
              <a:t>2025/11/8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B47C42-C4B1-43EF-BBC9-A3528D7EC42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33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3300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3300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3300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3300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3300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3300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3300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3300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336600"/>
        </a:buClr>
        <a:buSzPct val="60000"/>
        <a:buFont typeface="Wingdings" panose="05000000000000000000" pitchFamily="2" charset="2"/>
        <a:buChar char="n"/>
        <a:defRPr sz="2800">
          <a:solidFill>
            <a:srgbClr val="A5002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336600"/>
        </a:buClr>
        <a:buSzPct val="60000"/>
        <a:buFont typeface="Wingdings" panose="05000000000000000000" pitchFamily="2" charset="2"/>
        <a:buChar char="n"/>
        <a:defRPr sz="2800">
          <a:solidFill>
            <a:srgbClr val="A5002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336600"/>
        </a:buClr>
        <a:buSzPct val="60000"/>
        <a:buFont typeface="Wingdings" panose="05000000000000000000" pitchFamily="2" charset="2"/>
        <a:buChar char="n"/>
        <a:defRPr sz="2800">
          <a:solidFill>
            <a:srgbClr val="A5002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336600"/>
        </a:buClr>
        <a:buSzPct val="60000"/>
        <a:buFont typeface="Wingdings" panose="05000000000000000000" pitchFamily="2" charset="2"/>
        <a:buChar char="n"/>
        <a:defRPr sz="2000">
          <a:solidFill>
            <a:srgbClr val="A5002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336600"/>
        </a:buClr>
        <a:buSzPct val="60000"/>
        <a:buFont typeface="Wingdings" panose="05000000000000000000" pitchFamily="2" charset="2"/>
        <a:buChar char="n"/>
        <a:defRPr sz="2000">
          <a:solidFill>
            <a:srgbClr val="A5002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336600"/>
        </a:buClr>
        <a:buSzPct val="60000"/>
        <a:buFont typeface="Wingdings" panose="05000000000000000000" pitchFamily="2" charset="2"/>
        <a:buChar char="n"/>
        <a:defRPr sz="2000">
          <a:solidFill>
            <a:srgbClr val="A5002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336600"/>
        </a:buClr>
        <a:buSzPct val="60000"/>
        <a:buFont typeface="Wingdings" panose="05000000000000000000" pitchFamily="2" charset="2"/>
        <a:buChar char="n"/>
        <a:defRPr sz="2000">
          <a:solidFill>
            <a:srgbClr val="A5002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336600"/>
        </a:buClr>
        <a:buSzPct val="60000"/>
        <a:buFont typeface="Wingdings" panose="05000000000000000000" pitchFamily="2" charset="2"/>
        <a:buChar char="n"/>
        <a:defRPr sz="2000">
          <a:solidFill>
            <a:srgbClr val="A5002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336600"/>
        </a:buClr>
        <a:buSzPct val="60000"/>
        <a:buFont typeface="Wingdings" panose="05000000000000000000" pitchFamily="2" charset="2"/>
        <a:buChar char="n"/>
        <a:defRPr sz="2000">
          <a:solidFill>
            <a:srgbClr val="A5002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 bwMode="auto">
          <a:xfrm>
            <a:off x="0" y="2438400"/>
            <a:ext cx="9009063" cy="1052513"/>
            <a:chOff x="0" y="0"/>
            <a:chExt cx="5675" cy="663"/>
          </a:xfrm>
        </p:grpSpPr>
        <p:grpSp>
          <p:nvGrpSpPr>
            <p:cNvPr id="1031" name="Group 3"/>
            <p:cNvGrpSpPr/>
            <p:nvPr/>
          </p:nvGrpSpPr>
          <p:grpSpPr bwMode="auto">
            <a:xfrm>
              <a:off x="185" y="68"/>
              <a:ext cx="449" cy="299"/>
              <a:chOff x="0" y="0"/>
              <a:chExt cx="624" cy="432"/>
            </a:xfrm>
          </p:grpSpPr>
          <p:sp>
            <p:nvSpPr>
              <p:cNvPr id="1038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1039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1032" name="Group 6"/>
            <p:cNvGrpSpPr/>
            <p:nvPr/>
          </p:nvGrpSpPr>
          <p:grpSpPr bwMode="auto">
            <a:xfrm>
              <a:off x="263" y="334"/>
              <a:ext cx="466" cy="299"/>
              <a:chOff x="0" y="0"/>
              <a:chExt cx="672" cy="432"/>
            </a:xfrm>
          </p:grpSpPr>
          <p:sp>
            <p:nvSpPr>
              <p:cNvPr id="1036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1037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  <p:sp>
          <p:nvSpPr>
            <p:cNvPr id="1034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  <p:sp>
          <p:nvSpPr>
            <p:cNvPr id="1035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</p:grpSp>
      <p:sp>
        <p:nvSpPr>
          <p:cNvPr id="1027" name="Rectangle 17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8001000" y="6664325"/>
            <a:ext cx="835025" cy="193675"/>
          </a:xfrm>
          <a:prstGeom prst="rect">
            <a:avLst/>
          </a:prstGeom>
          <a:solidFill>
            <a:srgbClr val="00FF00"/>
          </a:solidFill>
          <a:ln>
            <a:noFill/>
          </a:ln>
          <a:effectLst>
            <a:prstShdw prst="shdw17" dist="17961" dir="2700000">
              <a:srgbClr val="009900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smtClean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下一张</a:t>
            </a:r>
            <a:endParaRPr lang="zh-CN" altLang="en-US" smtClean="0">
              <a:solidFill>
                <a:srgbClr val="FF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61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400">
                <a:solidFill>
                  <a:schemeClr val="bg2"/>
                </a:solidFill>
                <a:ea typeface="+mn-ea"/>
              </a:defRPr>
            </a:lvl1pPr>
          </a:lstStyle>
          <a:p>
            <a:pPr>
              <a:defRPr/>
            </a:pPr>
            <a:fld id="{6BC1F0ED-D54C-4B17-9C1E-3A1B3BEDD158}" type="datetime1">
              <a:rPr lang="zh-CN" altLang="en-US"/>
              <a:t>2025/11/8</a:t>
            </a:fld>
            <a:endParaRPr lang="en-US" altLang="zh-CN"/>
          </a:p>
        </p:txBody>
      </p:sp>
      <p:sp>
        <p:nvSpPr>
          <p:cNvPr id="2062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>
                <a:solidFill>
                  <a:schemeClr val="bg2"/>
                </a:solidFill>
                <a:ea typeface="+mn-ea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63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noProof="1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1550409-B45C-4996-B24E-BE97A29BB779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33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3300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3300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3300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3300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3300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3300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3300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3300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336600"/>
        </a:buClr>
        <a:buSzPct val="60000"/>
        <a:buFont typeface="Wingdings" panose="05000000000000000000" pitchFamily="2" charset="2"/>
        <a:buChar char="n"/>
        <a:defRPr sz="2800">
          <a:solidFill>
            <a:srgbClr val="A5002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336600"/>
        </a:buClr>
        <a:buSzPct val="60000"/>
        <a:buFont typeface="Wingdings" panose="05000000000000000000" pitchFamily="2" charset="2"/>
        <a:buChar char="n"/>
        <a:defRPr sz="2800">
          <a:solidFill>
            <a:srgbClr val="A5002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336600"/>
        </a:buClr>
        <a:buSzPct val="60000"/>
        <a:buFont typeface="Wingdings" panose="05000000000000000000" pitchFamily="2" charset="2"/>
        <a:buChar char="n"/>
        <a:defRPr sz="2800">
          <a:solidFill>
            <a:srgbClr val="A5002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336600"/>
        </a:buClr>
        <a:buSzPct val="60000"/>
        <a:buFont typeface="Wingdings" panose="05000000000000000000" pitchFamily="2" charset="2"/>
        <a:buChar char="n"/>
        <a:defRPr sz="2000">
          <a:solidFill>
            <a:srgbClr val="A5002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336600"/>
        </a:buClr>
        <a:buSzPct val="60000"/>
        <a:buFont typeface="Wingdings" panose="05000000000000000000" pitchFamily="2" charset="2"/>
        <a:buChar char="n"/>
        <a:defRPr sz="2000">
          <a:solidFill>
            <a:srgbClr val="A5002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336600"/>
        </a:buClr>
        <a:buSzPct val="60000"/>
        <a:buFont typeface="Wingdings" panose="05000000000000000000" pitchFamily="2" charset="2"/>
        <a:buChar char="n"/>
        <a:defRPr sz="2000">
          <a:solidFill>
            <a:srgbClr val="A5002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336600"/>
        </a:buClr>
        <a:buSzPct val="60000"/>
        <a:buFont typeface="Wingdings" panose="05000000000000000000" pitchFamily="2" charset="2"/>
        <a:buChar char="n"/>
        <a:defRPr sz="2000">
          <a:solidFill>
            <a:srgbClr val="A5002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336600"/>
        </a:buClr>
        <a:buSzPct val="60000"/>
        <a:buFont typeface="Wingdings" panose="05000000000000000000" pitchFamily="2" charset="2"/>
        <a:buChar char="n"/>
        <a:defRPr sz="2000">
          <a:solidFill>
            <a:srgbClr val="A5002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336600"/>
        </a:buClr>
        <a:buSzPct val="60000"/>
        <a:buFont typeface="Wingdings" panose="05000000000000000000" pitchFamily="2" charset="2"/>
        <a:buChar char="n"/>
        <a:defRPr sz="2000">
          <a:solidFill>
            <a:srgbClr val="A5002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7" Type="http://schemas.openxmlformats.org/officeDocument/2006/relationships/slide" Target="slide66.xml"/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5.xml"/><Relationship Id="rId5" Type="http://schemas.openxmlformats.org/officeDocument/2006/relationships/slide" Target="slide50.xml"/><Relationship Id="rId4" Type="http://schemas.openxmlformats.org/officeDocument/2006/relationships/slide" Target="slide3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hyperlink" Target="&#22320;&#30742;2.exe" TargetMode="Externa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11" Type="http://schemas.openxmlformats.org/officeDocument/2006/relationships/hyperlink" Target="&#22320;&#30742;1.exe" TargetMode="External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e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0.wmf"/><Relationship Id="rId18" Type="http://schemas.openxmlformats.org/officeDocument/2006/relationships/image" Target="../media/image25.png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oleObject" Target="../embeddings/oleObject9.bin"/><Relationship Id="rId17" Type="http://schemas.openxmlformats.org/officeDocument/2006/relationships/image" Target="../media/image24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.png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image" Target="../media/image9.wmf"/><Relationship Id="rId5" Type="http://schemas.openxmlformats.org/officeDocument/2006/relationships/oleObject" Target="../embeddings/oleObject6.bin"/><Relationship Id="rId15" Type="http://schemas.openxmlformats.org/officeDocument/2006/relationships/image" Target="../media/image11.wmf"/><Relationship Id="rId10" Type="http://schemas.openxmlformats.org/officeDocument/2006/relationships/oleObject" Target="../embeddings/oleObject8.bin"/><Relationship Id="rId4" Type="http://schemas.openxmlformats.org/officeDocument/2006/relationships/image" Target="../media/image6.wmf"/><Relationship Id="rId9" Type="http://schemas.openxmlformats.org/officeDocument/2006/relationships/image" Target="../media/image19.png"/><Relationship Id="rId1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14.wmf"/><Relationship Id="rId3" Type="http://schemas.openxmlformats.org/officeDocument/2006/relationships/image" Target="../media/image26.png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.png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3.wmf"/><Relationship Id="rId5" Type="http://schemas.openxmlformats.org/officeDocument/2006/relationships/image" Target="../media/image12.wmf"/><Relationship Id="rId15" Type="http://schemas.openxmlformats.org/officeDocument/2006/relationships/image" Target="../media/image15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29.png"/><Relationship Id="rId14" Type="http://schemas.openxmlformats.org/officeDocument/2006/relationships/oleObject" Target="../embeddings/oleObject14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13" Type="http://schemas.openxmlformats.org/officeDocument/2006/relationships/oleObject" Target="../embeddings/oleObject20.bin"/><Relationship Id="rId18" Type="http://schemas.openxmlformats.org/officeDocument/2006/relationships/image" Target="../media/image23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0.emf"/><Relationship Id="rId17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.e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1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13" Type="http://schemas.openxmlformats.org/officeDocument/2006/relationships/oleObject" Target="../embeddings/oleObject28.bin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5.e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27.emf"/><Relationship Id="rId4" Type="http://schemas.openxmlformats.org/officeDocument/2006/relationships/image" Target="../media/image24.e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29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30.wmf"/><Relationship Id="rId9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3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4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7.e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36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0.emf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42.wmf"/><Relationship Id="rId4" Type="http://schemas.openxmlformats.org/officeDocument/2006/relationships/image" Target="../media/image39.emf"/><Relationship Id="rId9" Type="http://schemas.openxmlformats.org/officeDocument/2006/relationships/oleObject" Target="../embeddings/oleObject41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45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&#22797;&#21512;&#26059;&#36716;&#21464;&#25442;.exe" TargetMode="External"/><Relationship Id="rId2" Type="http://schemas.openxmlformats.org/officeDocument/2006/relationships/hyperlink" Target="&#20108;&#32500;&#26059;&#36716;&#21464;&#25442;.exe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0.e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49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50.bin"/><Relationship Id="rId10" Type="http://schemas.openxmlformats.org/officeDocument/2006/relationships/image" Target="../media/image55.wmf"/><Relationship Id="rId4" Type="http://schemas.openxmlformats.org/officeDocument/2006/relationships/image" Target="../media/image52.emf"/><Relationship Id="rId9" Type="http://schemas.openxmlformats.org/officeDocument/2006/relationships/oleObject" Target="../embeddings/oleObject52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7.emf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59.wmf"/><Relationship Id="rId4" Type="http://schemas.openxmlformats.org/officeDocument/2006/relationships/image" Target="../media/image56.emf"/><Relationship Id="rId9" Type="http://schemas.openxmlformats.org/officeDocument/2006/relationships/oleObject" Target="../embeddings/oleObject56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hyperlink" Target="&#20108;&#32500;&#20960;&#20309;&#21464;&#25442;.exe" TargetMode="Externa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2.e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61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4.e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63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7" Type="http://schemas.openxmlformats.org/officeDocument/2006/relationships/image" Target="../media/image6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62.bin"/><Relationship Id="rId5" Type="http://schemas.openxmlformats.org/officeDocument/2006/relationships/image" Target="../media/image67.png"/><Relationship Id="rId4" Type="http://schemas.openxmlformats.org/officeDocument/2006/relationships/image" Target="../media/image65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&#31383;&#21475;&#19982;&#35270;&#21306;.exe" TargetMode="External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13" Type="http://schemas.openxmlformats.org/officeDocument/2006/relationships/image" Target="../media/image73.wmf"/><Relationship Id="rId3" Type="http://schemas.openxmlformats.org/officeDocument/2006/relationships/oleObject" Target="../embeddings/oleObject63.bin"/><Relationship Id="rId7" Type="http://schemas.openxmlformats.org/officeDocument/2006/relationships/image" Target="../media/image90.png"/><Relationship Id="rId12" Type="http://schemas.openxmlformats.org/officeDocument/2006/relationships/oleObject" Target="../embeddings/oleObject6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70.emf"/><Relationship Id="rId11" Type="http://schemas.openxmlformats.org/officeDocument/2006/relationships/image" Target="../media/image72.wmf"/><Relationship Id="rId5" Type="http://schemas.openxmlformats.org/officeDocument/2006/relationships/oleObject" Target="../embeddings/oleObject64.bin"/><Relationship Id="rId10" Type="http://schemas.openxmlformats.org/officeDocument/2006/relationships/oleObject" Target="../embeddings/oleObject66.bin"/><Relationship Id="rId4" Type="http://schemas.openxmlformats.org/officeDocument/2006/relationships/image" Target="../media/image69.emf"/><Relationship Id="rId9" Type="http://schemas.openxmlformats.org/officeDocument/2006/relationships/image" Target="../media/image71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3" Type="http://schemas.openxmlformats.org/officeDocument/2006/relationships/image" Target="../media/image94.png"/><Relationship Id="rId7" Type="http://schemas.openxmlformats.org/officeDocument/2006/relationships/image" Target="../media/image7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69.bin"/><Relationship Id="rId5" Type="http://schemas.openxmlformats.org/officeDocument/2006/relationships/image" Target="../media/image74.wmf"/><Relationship Id="rId4" Type="http://schemas.openxmlformats.org/officeDocument/2006/relationships/oleObject" Target="../embeddings/oleObject68.bin"/><Relationship Id="rId9" Type="http://schemas.openxmlformats.org/officeDocument/2006/relationships/image" Target="../media/image76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77.w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82.emf"/><Relationship Id="rId5" Type="http://schemas.openxmlformats.org/officeDocument/2006/relationships/oleObject" Target="../embeddings/oleObject75.bin"/><Relationship Id="rId4" Type="http://schemas.openxmlformats.org/officeDocument/2006/relationships/image" Target="../media/image81.e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87.emf"/><Relationship Id="rId5" Type="http://schemas.openxmlformats.org/officeDocument/2006/relationships/oleObject" Target="../embeddings/oleObject77.bin"/><Relationship Id="rId4" Type="http://schemas.openxmlformats.org/officeDocument/2006/relationships/image" Target="../media/image86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89.wmf"/><Relationship Id="rId5" Type="http://schemas.openxmlformats.org/officeDocument/2006/relationships/oleObject" Target="../embeddings/oleObject79.bin"/><Relationship Id="rId4" Type="http://schemas.openxmlformats.org/officeDocument/2006/relationships/image" Target="../media/image88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Cohen-Sutherland&#30452;&#32447;&#27573;&#35009;&#21098;.exe" TargetMode="External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92.wmf"/><Relationship Id="rId4" Type="http://schemas.openxmlformats.org/officeDocument/2006/relationships/oleObject" Target="../embeddings/oleObject81.bin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hyperlink" Target="&#20013;&#28857;&#20998;&#21106;&#31639;&#27861;.exe" TargetMode="Externa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image" Target="../media/image99.png"/><Relationship Id="rId7" Type="http://schemas.openxmlformats.org/officeDocument/2006/relationships/oleObject" Target="../embeddings/oleObject8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00.png"/><Relationship Id="rId5" Type="http://schemas.openxmlformats.org/officeDocument/2006/relationships/image" Target="../media/image96.wmf"/><Relationship Id="rId10" Type="http://schemas.openxmlformats.org/officeDocument/2006/relationships/image" Target="../media/image98.wmf"/><Relationship Id="rId4" Type="http://schemas.openxmlformats.org/officeDocument/2006/relationships/oleObject" Target="../embeddings/oleObject82.bin"/><Relationship Id="rId9" Type="http://schemas.openxmlformats.org/officeDocument/2006/relationships/oleObject" Target="../embeddings/oleObject84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oleObject" Target="../embeddings/oleObject85.bin"/><Relationship Id="rId7" Type="http://schemas.openxmlformats.org/officeDocument/2006/relationships/image" Target="../media/image10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99.wmf"/><Relationship Id="rId9" Type="http://schemas.openxmlformats.org/officeDocument/2006/relationships/image" Target="../media/image10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100.e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5" Type="http://schemas.openxmlformats.org/officeDocument/2006/relationships/image" Target="../media/image101.emf"/><Relationship Id="rId4" Type="http://schemas.openxmlformats.org/officeDocument/2006/relationships/oleObject" Target="../embeddings/oleObject87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08.wmf"/><Relationship Id="rId5" Type="http://schemas.openxmlformats.org/officeDocument/2006/relationships/oleObject" Target="../embeddings/oleObject88.bin"/><Relationship Id="rId4" Type="http://schemas.openxmlformats.org/officeDocument/2006/relationships/image" Target="../media/image11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9.bin"/><Relationship Id="rId7" Type="http://schemas.openxmlformats.org/officeDocument/2006/relationships/image" Target="../media/image11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1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0.bin"/><Relationship Id="rId7" Type="http://schemas.openxmlformats.org/officeDocument/2006/relationships/image" Target="../media/image12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2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Liang-Barsky&#25918;&#22823;&#38236;.exe" TargetMode="External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emf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16.emf"/><Relationship Id="rId5" Type="http://schemas.openxmlformats.org/officeDocument/2006/relationships/oleObject" Target="../embeddings/oleObject92.bin"/><Relationship Id="rId4" Type="http://schemas.openxmlformats.org/officeDocument/2006/relationships/image" Target="../media/image115.e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emf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19.emf"/><Relationship Id="rId5" Type="http://schemas.openxmlformats.org/officeDocument/2006/relationships/oleObject" Target="../embeddings/oleObject95.bin"/><Relationship Id="rId10" Type="http://schemas.openxmlformats.org/officeDocument/2006/relationships/image" Target="../media/image121.emf"/><Relationship Id="rId4" Type="http://schemas.openxmlformats.org/officeDocument/2006/relationships/image" Target="../media/image118.emf"/><Relationship Id="rId9" Type="http://schemas.openxmlformats.org/officeDocument/2006/relationships/oleObject" Target="../embeddings/oleObject97.bin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3" Type="http://schemas.openxmlformats.org/officeDocument/2006/relationships/oleObject" Target="../embeddings/oleObject98.bin"/><Relationship Id="rId7" Type="http://schemas.openxmlformats.org/officeDocument/2006/relationships/image" Target="../media/image13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23.emf"/><Relationship Id="rId5" Type="http://schemas.openxmlformats.org/officeDocument/2006/relationships/oleObject" Target="../embeddings/oleObject99.bin"/><Relationship Id="rId10" Type="http://schemas.openxmlformats.org/officeDocument/2006/relationships/image" Target="../media/image134.png"/><Relationship Id="rId4" Type="http://schemas.openxmlformats.org/officeDocument/2006/relationships/image" Target="../media/image122.emf"/><Relationship Id="rId9" Type="http://schemas.openxmlformats.org/officeDocument/2006/relationships/image" Target="../media/image124.e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emf"/><Relationship Id="rId3" Type="http://schemas.openxmlformats.org/officeDocument/2006/relationships/image" Target="../media/image127.png"/><Relationship Id="rId7" Type="http://schemas.openxmlformats.org/officeDocument/2006/relationships/oleObject" Target="../embeddings/oleObject10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38.png"/><Relationship Id="rId5" Type="http://schemas.openxmlformats.org/officeDocument/2006/relationships/image" Target="../media/image125.emf"/><Relationship Id="rId4" Type="http://schemas.openxmlformats.org/officeDocument/2006/relationships/oleObject" Target="../embeddings/oleObject101.bin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28.emf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127.emf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&#22810;&#36793;&#24418;&#35009;&#21098;&#31639;&#27861;.exe" TargetMode="External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4" Type="http://schemas.openxmlformats.org/officeDocument/2006/relationships/image" Target="../media/image130.wmf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4" Type="http://schemas.openxmlformats.org/officeDocument/2006/relationships/image" Target="../media/image131.e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4" Type="http://schemas.openxmlformats.org/officeDocument/2006/relationships/image" Target="../media/image132.em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5" Type="http://schemas.openxmlformats.org/officeDocument/2006/relationships/image" Target="../media/image133.wmf"/><Relationship Id="rId4" Type="http://schemas.openxmlformats.org/officeDocument/2006/relationships/oleObject" Target="../embeddings/oleObject108.bin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4" Type="http://schemas.openxmlformats.org/officeDocument/2006/relationships/image" Target="../media/image136.e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138.wmf"/><Relationship Id="rId5" Type="http://schemas.openxmlformats.org/officeDocument/2006/relationships/oleObject" Target="../embeddings/oleObject111.bin"/><Relationship Id="rId4" Type="http://schemas.openxmlformats.org/officeDocument/2006/relationships/image" Target="../media/image137.w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4" Type="http://schemas.openxmlformats.org/officeDocument/2006/relationships/image" Target="../media/image141.e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6" descr="新闻纸"/>
          <p:cNvSpPr>
            <a:spLocks noChangeArrowheads="1"/>
          </p:cNvSpPr>
          <p:nvPr/>
        </p:nvSpPr>
        <p:spPr bwMode="auto">
          <a:xfrm>
            <a:off x="1042988" y="0"/>
            <a:ext cx="2449512" cy="1268413"/>
          </a:xfrm>
          <a:prstGeom prst="diamond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>
            <a:prstShdw prst="shdw17" dist="17961" dir="2700000">
              <a:srgbClr val="959595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>
                <a:solidFill>
                  <a:schemeClr val="folHlink"/>
                </a:solidFill>
                <a:latin typeface="Times New Roman" panose="02020603050405020304" pitchFamily="18" charset="0"/>
              </a:rPr>
              <a:t>第五章</a:t>
            </a:r>
            <a:endParaRPr lang="zh-CN" altLang="en-US" b="1">
              <a:solidFill>
                <a:schemeClr val="folHlink"/>
              </a:solidFill>
              <a:latin typeface="幼圆" panose="02010509060101010101" pitchFamily="49" charset="-122"/>
            </a:endParaRPr>
          </a:p>
        </p:txBody>
      </p:sp>
      <p:sp>
        <p:nvSpPr>
          <p:cNvPr id="3076" name="Text Box 8"/>
          <p:cNvSpPr txBox="1">
            <a:spLocks noChangeArrowheads="1"/>
          </p:cNvSpPr>
          <p:nvPr/>
        </p:nvSpPr>
        <p:spPr bwMode="auto">
          <a:xfrm>
            <a:off x="1981200" y="304800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3077" name="Group 5"/>
          <p:cNvGrpSpPr/>
          <p:nvPr/>
        </p:nvGrpSpPr>
        <p:grpSpPr bwMode="auto">
          <a:xfrm>
            <a:off x="1692275" y="3789363"/>
            <a:ext cx="3810000" cy="519112"/>
            <a:chOff x="0" y="0"/>
            <a:chExt cx="5675" cy="663"/>
          </a:xfrm>
        </p:grpSpPr>
        <p:grpSp>
          <p:nvGrpSpPr>
            <p:cNvPr id="3079" name="Group 6"/>
            <p:cNvGrpSpPr/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3086" name="Rectangle 2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/>
              </a:p>
            </p:txBody>
          </p:sp>
          <p:sp>
            <p:nvSpPr>
              <p:cNvPr id="3087" name="Rectangle 22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/>
              </a:p>
            </p:txBody>
          </p:sp>
        </p:grpSp>
        <p:grpSp>
          <p:nvGrpSpPr>
            <p:cNvPr id="3080" name="Group 9"/>
            <p:cNvGrpSpPr/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3084" name="Rectangle 2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/>
              </a:p>
            </p:txBody>
          </p:sp>
          <p:sp>
            <p:nvSpPr>
              <p:cNvPr id="3085" name="Rectangle 2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/>
              </a:p>
            </p:txBody>
          </p:sp>
        </p:grpSp>
        <p:sp>
          <p:nvSpPr>
            <p:cNvPr id="3081" name="Rectangle 26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  <p:sp>
          <p:nvSpPr>
            <p:cNvPr id="3082" name="Rectangle 27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  <p:sp>
          <p:nvSpPr>
            <p:cNvPr id="3083" name="Rectangle 28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</p:grpSp>
      <p:sp>
        <p:nvSpPr>
          <p:cNvPr id="3078" name="WordArt 33"/>
          <p:cNvSpPr>
            <a:spLocks noChangeArrowheads="1" noChangeShapeType="1" noTextEdit="1"/>
          </p:cNvSpPr>
          <p:nvPr/>
        </p:nvSpPr>
        <p:spPr bwMode="auto">
          <a:xfrm>
            <a:off x="2339975" y="3357563"/>
            <a:ext cx="5543550" cy="7207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200" kern="10">
                <a:ln w="12700">
                  <a:solidFill>
                    <a:schemeClr val="tx1"/>
                  </a:solidFill>
                  <a:round/>
                </a:ln>
                <a:solidFill>
                  <a:schemeClr val="tx1">
                    <a:alpha val="74901"/>
                  </a:scheme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楷体_GB2312"/>
              </a:rPr>
              <a:t>二维变换与裁剪</a:t>
            </a:r>
          </a:p>
        </p:txBody>
      </p:sp>
    </p:spTree>
  </p:cSld>
  <p:clrMapOvr>
    <a:masterClrMapping/>
  </p:clrMapOvr>
  <p:transition advClick="0" advTm="1000">
    <p:zo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7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547813" y="1989138"/>
            <a:ext cx="6840537" cy="3311525"/>
          </a:xfrm>
          <a:prstGeom prst="rect">
            <a:avLst/>
          </a:prstGeom>
          <a:solidFill>
            <a:srgbClr val="FFFFFF"/>
          </a:solidFill>
          <a:ln>
            <a:miter lim="800000"/>
          </a:ln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  <a:hlinkClick r:id="rId2" action="ppaction://hlinksldjump"/>
              </a:rPr>
              <a:t>齐次坐标</a:t>
            </a:r>
            <a:endParaRPr lang="zh-CN" altLang="en-US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  <a:hlinkClick r:id="rId3" action="ppaction://hlinksldjump"/>
              </a:rPr>
              <a:t>二维几何变换矩阵</a:t>
            </a:r>
            <a:endParaRPr lang="zh-CN" altLang="en-US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  <a:p>
            <a:pPr eaLnBrk="1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  <a:hlinkClick r:id="rId4" action="ppaction://hlinksldjump"/>
              </a:rPr>
              <a:t>Cohen-Sutherland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  <a:hlinkClick r:id="rId4" action="ppaction://hlinksldjump"/>
              </a:rPr>
              <a:t>直线段裁剪算法</a:t>
            </a:r>
            <a:endParaRPr lang="zh-CN" altLang="en-US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  <a:p>
            <a:pPr eaLnBrk="1" hangingPunct="1">
              <a:defRPr/>
            </a:pP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  <a:hlinkClick r:id="rId5" action="ppaction://hlinksldjump"/>
              </a:rPr>
              <a:t>中点分割直线段裁剪算法</a:t>
            </a:r>
            <a:endParaRPr lang="zh-CN" altLang="en-US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  <a:p>
            <a:pPr eaLnBrk="1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Liang-</a:t>
            </a:r>
            <a:r>
              <a:rPr lang="en-US" altLang="zh-CN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Barsky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  <a:hlinkClick r:id="rId6" action="ppaction://hlinksldjump"/>
              </a:rPr>
              <a:t>直线段裁剪算法</a:t>
            </a:r>
            <a:endParaRPr lang="zh-CN" altLang="en-US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  <a:p>
            <a:pPr eaLnBrk="1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  <a:hlinkClick r:id="rId7" action="ppaction://hlinksldjump"/>
              </a:rPr>
              <a:t>Sutherland-</a:t>
            </a:r>
            <a:r>
              <a:rPr lang="en-US" altLang="zh-CN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  <a:hlinkClick r:id="rId7" action="ppaction://hlinksldjump"/>
              </a:rPr>
              <a:t>Hodgman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  <a:hlinkClick r:id="rId7" action="ppaction://hlinksldjump"/>
              </a:rPr>
              <a:t>多边形裁剪算法</a:t>
            </a:r>
            <a:endParaRPr lang="zh-CN" altLang="en-US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4099" name="Text Box 1040"/>
          <p:cNvSpPr txBox="1">
            <a:spLocks noChangeArrowheads="1"/>
          </p:cNvSpPr>
          <p:nvPr/>
        </p:nvSpPr>
        <p:spPr bwMode="auto">
          <a:xfrm>
            <a:off x="1547813" y="404813"/>
            <a:ext cx="28797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3200" b="1">
                <a:ea typeface="宋体" panose="02010600030101010101" pitchFamily="2" charset="-122"/>
              </a:rPr>
              <a:t>本章学习目标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9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835150" y="981075"/>
            <a:ext cx="6553200" cy="51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sz="24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5.1  </a:t>
            </a:r>
            <a:r>
              <a:rPr lang="zh-CN" altLang="en-US" sz="24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图形几何变换基础</a:t>
            </a:r>
          </a:p>
          <a:p>
            <a:pPr eaLnBrk="1" hangingPunct="1"/>
            <a:r>
              <a:rPr lang="en-US" altLang="zh-CN" sz="24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5.2  </a:t>
            </a:r>
            <a:r>
              <a:rPr lang="zh-CN" altLang="en-US" sz="24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二维图形基本几何变换矩阵 </a:t>
            </a:r>
          </a:p>
          <a:p>
            <a:pPr eaLnBrk="1" hangingPunct="1"/>
            <a:r>
              <a:rPr lang="en-US" altLang="zh-CN" sz="24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5.3  </a:t>
            </a:r>
            <a:r>
              <a:rPr lang="zh-CN" altLang="en-US" sz="24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二维复合变换</a:t>
            </a:r>
          </a:p>
          <a:p>
            <a:pPr eaLnBrk="1" hangingPunct="1"/>
            <a:r>
              <a:rPr lang="en-US" altLang="zh-CN" sz="24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5.4  </a:t>
            </a:r>
            <a:r>
              <a:rPr lang="zh-CN" altLang="en-US" sz="24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二维图形裁剪</a:t>
            </a:r>
          </a:p>
          <a:p>
            <a:pPr eaLnBrk="1" hangingPunct="1"/>
            <a:r>
              <a:rPr lang="en-US" altLang="zh-CN" sz="24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5.5  Cohen-Sutherland</a:t>
            </a:r>
            <a:r>
              <a:rPr lang="zh-CN" altLang="en-US" sz="24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直线裁剪算法</a:t>
            </a:r>
          </a:p>
          <a:p>
            <a:pPr eaLnBrk="1" hangingPunct="1"/>
            <a:r>
              <a:rPr lang="en-US" altLang="zh-CN" sz="24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5.6  </a:t>
            </a:r>
            <a:r>
              <a:rPr lang="zh-CN" altLang="en-US" sz="24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中点分割直线段裁剪算法</a:t>
            </a:r>
          </a:p>
          <a:p>
            <a:pPr eaLnBrk="1" hangingPunct="1"/>
            <a:r>
              <a:rPr lang="en-US" altLang="zh-CN" sz="24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5.7  </a:t>
            </a:r>
            <a:r>
              <a:rPr lang="zh-CN" altLang="en-US" sz="24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梁友栋－</a:t>
            </a:r>
            <a:r>
              <a:rPr lang="en-US" altLang="zh-CN" sz="2400" b="1" dirty="0" err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Barsky</a:t>
            </a:r>
            <a:r>
              <a:rPr lang="zh-CN" altLang="en-US" sz="24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直线段裁剪算法</a:t>
            </a:r>
          </a:p>
          <a:p>
            <a:pPr eaLnBrk="1" hangingPunct="1"/>
            <a:r>
              <a:rPr lang="en-US" altLang="zh-CN" sz="24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5.8  </a:t>
            </a:r>
            <a:r>
              <a:rPr lang="zh-CN" altLang="en-US" sz="24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多边形裁剪 </a:t>
            </a:r>
          </a:p>
          <a:p>
            <a:pPr eaLnBrk="1" hangingPunct="1"/>
            <a:r>
              <a:rPr lang="en-US" altLang="zh-CN" sz="24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5.9  </a:t>
            </a:r>
            <a:r>
              <a:rPr lang="zh-CN" altLang="en-US" sz="24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本章小结</a:t>
            </a:r>
          </a:p>
          <a:p>
            <a:pPr eaLnBrk="1" hangingPunct="1"/>
            <a:r>
              <a:rPr lang="zh-CN" altLang="en-US" sz="24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习题 </a:t>
            </a:r>
            <a:r>
              <a:rPr lang="en-US" altLang="zh-CN" sz="24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5</a:t>
            </a:r>
          </a:p>
        </p:txBody>
      </p:sp>
      <p:sp>
        <p:nvSpPr>
          <p:cNvPr id="5123" name="Text Box 10"/>
          <p:cNvSpPr txBox="1">
            <a:spLocks noChangeArrowheads="1"/>
          </p:cNvSpPr>
          <p:nvPr/>
        </p:nvSpPr>
        <p:spPr bwMode="auto">
          <a:xfrm>
            <a:off x="1331913" y="188913"/>
            <a:ext cx="20875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3200" b="1">
                <a:ea typeface="宋体" panose="02010600030101010101" pitchFamily="2" charset="-122"/>
              </a:rPr>
              <a:t>本章内容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1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9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20417" y="177800"/>
            <a:ext cx="4972308" cy="681038"/>
          </a:xfrm>
          <a:prstGeom prst="rect">
            <a:avLst/>
          </a:prstGeom>
          <a:ln>
            <a:miter lim="800000"/>
          </a:ln>
        </p:spPr>
        <p:txBody>
          <a:bodyPr anchor="ctr" anchorCtr="1"/>
          <a:lstStyle/>
          <a:p>
            <a:pPr algn="l" eaLnBrk="1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5.1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图形几何变换基础</a:t>
            </a:r>
          </a:p>
        </p:txBody>
      </p:sp>
      <p:sp>
        <p:nvSpPr>
          <p:cNvPr id="8195" name="Rectangle 10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20417" y="1020763"/>
            <a:ext cx="8569647" cy="1657351"/>
          </a:xfrm>
          <a:prstGeom prst="rect">
            <a:avLst/>
          </a:prstGeom>
          <a:ln>
            <a:miter lim="800000"/>
          </a:ln>
        </p:spPr>
        <p:txBody>
          <a:bodyPr/>
          <a:lstStyle/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通过对图形进行几何变换，可以由简单图形构造复杂图形。图形</a:t>
            </a:r>
            <a:r>
              <a:rPr lang="zh-CN" altLang="en-US" sz="2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几何变换</a:t>
            </a:r>
            <a:r>
              <a:rPr lang="zh-CN" altLang="en-US" sz="20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是对</a:t>
            </a:r>
            <a:r>
              <a:rPr lang="zh-CN" altLang="en-US" sz="1800" b="1" kern="1200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图形</a:t>
            </a:r>
            <a:r>
              <a:rPr lang="zh-CN" altLang="en-US" sz="20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进行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平移变换</a:t>
            </a:r>
            <a:r>
              <a:rPr lang="zh-CN" altLang="en-US" sz="20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比例变换</a:t>
            </a:r>
            <a:r>
              <a:rPr lang="zh-CN" altLang="en-US" sz="20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旋转变换</a:t>
            </a:r>
            <a:r>
              <a:rPr lang="zh-CN" altLang="en-US" sz="20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反射变换和错切变换</a:t>
            </a:r>
            <a:r>
              <a:rPr lang="zh-CN" altLang="en-US" sz="20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。图形</a:t>
            </a:r>
            <a:r>
              <a:rPr lang="zh-CN" altLang="en-US" sz="1800" b="1" kern="1200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几何变换</a:t>
            </a:r>
            <a:r>
              <a:rPr lang="zh-CN" altLang="en-US" sz="20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可以分为</a:t>
            </a:r>
            <a:r>
              <a:rPr lang="zh-CN" altLang="en-US" sz="1800" b="1" kern="1200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二维图形几何变换</a:t>
            </a:r>
            <a:r>
              <a:rPr lang="zh-CN" altLang="en-US" sz="20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zh-CN" altLang="en-US" sz="1800" b="1" kern="1200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三维图形几何变换</a:t>
            </a:r>
            <a:r>
              <a:rPr lang="zh-CN" altLang="en-US" sz="20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，而二维图形几何变换是三维图形几何变换的基础</a:t>
            </a:r>
            <a:r>
              <a:rPr lang="zh-CN" altLang="en-US" sz="2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0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graphicFrame>
        <p:nvGraphicFramePr>
          <p:cNvPr id="6148" name="Object 15"/>
          <p:cNvGraphicFramePr>
            <a:graphicFrameLocks noChangeAspect="1"/>
          </p:cNvGraphicFramePr>
          <p:nvPr/>
        </p:nvGraphicFramePr>
        <p:xfrm>
          <a:off x="2124075" y="4076700"/>
          <a:ext cx="792163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8" r:id="rId3" imgW="2630170" imgH="2630170" progId="Visio.Drawing.11">
                  <p:embed/>
                </p:oleObj>
              </mc:Choice>
              <mc:Fallback>
                <p:oleObj r:id="rId3" imgW="2630170" imgH="2630170" progId="Visio.Drawing.11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076700"/>
                        <a:ext cx="792163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14"/>
          <p:cNvGraphicFramePr>
            <a:graphicFrameLocks noChangeAspect="1"/>
          </p:cNvGraphicFramePr>
          <p:nvPr/>
        </p:nvGraphicFramePr>
        <p:xfrm>
          <a:off x="3419475" y="3573463"/>
          <a:ext cx="15113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9" r:id="rId5" imgW="7744460" imgH="7744460" progId="Visio.Drawing.11">
                  <p:embed/>
                </p:oleObj>
              </mc:Choice>
              <mc:Fallback>
                <p:oleObj r:id="rId5" imgW="7744460" imgH="7744460" progId="Visio.Drawing.11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3573463"/>
                        <a:ext cx="15113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13"/>
          <p:cNvGraphicFramePr>
            <a:graphicFrameLocks noChangeAspect="1"/>
          </p:cNvGraphicFramePr>
          <p:nvPr/>
        </p:nvGraphicFramePr>
        <p:xfrm>
          <a:off x="5292725" y="4076700"/>
          <a:ext cx="863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0" r:id="rId7" imgW="1772285" imgH="1772285" progId="Visio.Drawing.11">
                  <p:embed/>
                </p:oleObj>
              </mc:Choice>
              <mc:Fallback>
                <p:oleObj r:id="rId7" imgW="1772285" imgH="1772285" progId="Visio.Drawing.11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4076700"/>
                        <a:ext cx="8636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12"/>
          <p:cNvGraphicFramePr>
            <a:graphicFrameLocks noChangeAspect="1"/>
          </p:cNvGraphicFramePr>
          <p:nvPr/>
        </p:nvGraphicFramePr>
        <p:xfrm>
          <a:off x="6659563" y="3573463"/>
          <a:ext cx="1584325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1" r:id="rId9" imgW="5181600" imgH="5181600" progId="Visio.Drawing.11">
                  <p:embed/>
                </p:oleObj>
              </mc:Choice>
              <mc:Fallback>
                <p:oleObj r:id="rId9" imgW="5181600" imgH="5181600" progId="Visio.Drawing.11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3573463"/>
                        <a:ext cx="1584325" cy="158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2" name="Rectangle 18"/>
          <p:cNvSpPr>
            <a:spLocks noChangeArrowheads="1"/>
          </p:cNvSpPr>
          <p:nvPr/>
        </p:nvSpPr>
        <p:spPr bwMode="auto">
          <a:xfrm>
            <a:off x="0" y="939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6153" name="Rectangle 19"/>
          <p:cNvSpPr>
            <a:spLocks noChangeArrowheads="1"/>
          </p:cNvSpPr>
          <p:nvPr/>
        </p:nvSpPr>
        <p:spPr bwMode="auto">
          <a:xfrm>
            <a:off x="0" y="939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6154" name="Rectangle 20"/>
          <p:cNvSpPr>
            <a:spLocks noChangeArrowheads="1"/>
          </p:cNvSpPr>
          <p:nvPr/>
        </p:nvSpPr>
        <p:spPr bwMode="auto">
          <a:xfrm>
            <a:off x="4432300" y="1416050"/>
            <a:ext cx="279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00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5" name="Rectangle 21"/>
          <p:cNvSpPr>
            <a:spLocks noChangeArrowheads="1"/>
          </p:cNvSpPr>
          <p:nvPr/>
        </p:nvSpPr>
        <p:spPr bwMode="auto">
          <a:xfrm>
            <a:off x="4400550" y="2803525"/>
            <a:ext cx="3429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00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6" name="Rectangle 23"/>
          <p:cNvSpPr>
            <a:spLocks noChangeArrowheads="1"/>
          </p:cNvSpPr>
          <p:nvPr/>
        </p:nvSpPr>
        <p:spPr bwMode="auto">
          <a:xfrm>
            <a:off x="2843213" y="5518150"/>
            <a:ext cx="5026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269875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>
                <a:latin typeface="楷体_GB2312" pitchFamily="49" charset="-122"/>
              </a:rPr>
              <a:t>（</a:t>
            </a:r>
            <a:r>
              <a:rPr lang="en-US" altLang="zh-CN">
                <a:latin typeface="楷体_GB2312" pitchFamily="49" charset="-122"/>
              </a:rPr>
              <a:t>a</a:t>
            </a:r>
            <a:r>
              <a:rPr lang="zh-CN" altLang="en-US">
                <a:latin typeface="楷体_GB2312" pitchFamily="49" charset="-122"/>
              </a:rPr>
              <a:t>）</a:t>
            </a:r>
            <a:r>
              <a:rPr lang="zh-CN" altLang="en-US">
                <a:latin typeface="楷体_GB2312" pitchFamily="49" charset="-122"/>
                <a:hlinkClick r:id="rId11" action="ppaction://hlinkfile"/>
              </a:rPr>
              <a:t>地砖</a:t>
            </a:r>
            <a:r>
              <a:rPr lang="en-US" altLang="zh-CN">
                <a:latin typeface="楷体_GB2312" pitchFamily="49" charset="-122"/>
              </a:rPr>
              <a:t>1          </a:t>
            </a:r>
            <a:r>
              <a:rPr lang="zh-CN" altLang="en-US">
                <a:latin typeface="楷体_GB2312" pitchFamily="49" charset="-122"/>
              </a:rPr>
              <a:t>（</a:t>
            </a:r>
            <a:r>
              <a:rPr lang="en-US" altLang="zh-CN">
                <a:latin typeface="楷体_GB2312" pitchFamily="49" charset="-122"/>
              </a:rPr>
              <a:t>b</a:t>
            </a:r>
            <a:r>
              <a:rPr lang="zh-CN" altLang="en-US">
                <a:latin typeface="楷体_GB2312" pitchFamily="49" charset="-122"/>
              </a:rPr>
              <a:t>）</a:t>
            </a:r>
            <a:r>
              <a:rPr lang="zh-CN" altLang="en-US">
                <a:latin typeface="楷体_GB2312" pitchFamily="49" charset="-122"/>
                <a:hlinkClick r:id="rId12" action="ppaction://hlinkfile"/>
              </a:rPr>
              <a:t>地砖</a:t>
            </a:r>
            <a:r>
              <a:rPr lang="en-US" altLang="zh-CN">
                <a:latin typeface="楷体_GB2312" pitchFamily="49" charset="-122"/>
              </a:rPr>
              <a:t>2</a:t>
            </a:r>
            <a:endParaRPr lang="en-US" altLang="zh-CN"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157" name="Rectangle 25"/>
          <p:cNvSpPr>
            <a:spLocks noChangeArrowheads="1"/>
          </p:cNvSpPr>
          <p:nvPr/>
        </p:nvSpPr>
        <p:spPr bwMode="auto">
          <a:xfrm>
            <a:off x="3492500" y="6237288"/>
            <a:ext cx="3536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>
                <a:latin typeface="楷体_GB2312" pitchFamily="49" charset="-122"/>
              </a:rPr>
              <a:t>图</a:t>
            </a:r>
            <a:r>
              <a:rPr lang="en-US" altLang="zh-CN">
                <a:latin typeface="楷体_GB2312" pitchFamily="49" charset="-122"/>
              </a:rPr>
              <a:t>5-1 </a:t>
            </a:r>
            <a:r>
              <a:rPr lang="zh-CN" altLang="en-US">
                <a:latin typeface="楷体_GB2312" pitchFamily="49" charset="-122"/>
              </a:rPr>
              <a:t>地板砖类二维场景</a:t>
            </a:r>
            <a:endParaRPr lang="zh-CN" altLang="en-US"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158" name="AutoShape 26"/>
          <p:cNvSpPr>
            <a:spLocks noChangeArrowheads="1"/>
          </p:cNvSpPr>
          <p:nvPr/>
        </p:nvSpPr>
        <p:spPr bwMode="auto">
          <a:xfrm>
            <a:off x="2987675" y="4365625"/>
            <a:ext cx="288925" cy="144463"/>
          </a:xfrm>
          <a:prstGeom prst="rightArrow">
            <a:avLst>
              <a:gd name="adj1" fmla="val 50000"/>
              <a:gd name="adj2" fmla="val 4999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6159" name="AutoShape 27"/>
          <p:cNvSpPr>
            <a:spLocks noChangeArrowheads="1"/>
          </p:cNvSpPr>
          <p:nvPr/>
        </p:nvSpPr>
        <p:spPr bwMode="auto">
          <a:xfrm>
            <a:off x="6300788" y="4437063"/>
            <a:ext cx="288925" cy="144462"/>
          </a:xfrm>
          <a:prstGeom prst="rightArrow">
            <a:avLst>
              <a:gd name="adj1" fmla="val 50000"/>
              <a:gd name="adj2" fmla="val 4999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170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 bwMode="auto">
              <a:xfrm>
                <a:off x="323528" y="836613"/>
                <a:ext cx="8641085" cy="3384475"/>
              </a:xfrm>
              <a:prstGeom prst="rect">
                <a:avLst/>
              </a:prstGeo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lnSpc>
                    <a:spcPct val="140000"/>
                  </a:lnSpc>
                </a:pPr>
                <a:r>
                  <a:rPr lang="zh-CN" altLang="en-US" sz="1800" b="1" kern="1200" dirty="0" smtClean="0">
                    <a:solidFill>
                      <a:srgbClr val="3366FF"/>
                    </a:solidFill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齐次坐标</a:t>
                </a:r>
                <a:r>
                  <a:rPr lang="zh-CN" altLang="en-US" sz="2000" dirty="0" smtClean="0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rPr>
                  <a:t>就是</a:t>
                </a:r>
                <a:r>
                  <a:rPr lang="zh-CN" altLang="en-US" sz="2000" b="1" dirty="0" smtClean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用 </a:t>
                </a:r>
                <a14:m>
                  <m:oMath xmlns:m="http://schemas.openxmlformats.org/officeDocument/2006/math">
                    <m:r>
                      <a:rPr lang="en-US" altLang="zh-CN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𝒏</m:t>
                    </m:r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2000" b="1" dirty="0" smtClean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维矢量表示 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2000" b="1" dirty="0" smtClean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维矢量</a:t>
                </a:r>
                <a:r>
                  <a:rPr lang="zh-CN" altLang="en-US" sz="2000" dirty="0" smtClean="0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rPr>
                  <a:t>。例如，在二维平面中，点 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𝒑</m:t>
                    </m:r>
                    <m:d>
                      <m:dPr>
                        <m:ctrlP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𝒚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rPr>
                  <a:t> 的齐次坐标表示为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𝒘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𝒚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𝒘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𝒘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rPr>
                  <a:t>。类似地，在三维空间中，点 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𝒑</m:t>
                    </m:r>
                    <m:d>
                      <m:dPr>
                        <m:ctrlP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𝒚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𝒛</m:t>
                        </m:r>
                      </m:e>
                    </m:d>
                  </m:oMath>
                </a14:m>
                <a:r>
                  <a:rPr lang="en-US" altLang="zh-CN" sz="2000" dirty="0" smtClean="0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lang="zh-CN" altLang="en-US" sz="2000" dirty="0" smtClean="0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rPr>
                  <a:t>的齐次坐标表示为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𝒘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𝒚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𝒘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𝒛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𝒘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𝒘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rPr>
                  <a:t>。</a:t>
                </a:r>
                <a:endParaRPr lang="en-US" altLang="zh-CN" sz="2000" dirty="0" smtClean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endParaRPr>
              </a:p>
              <a:p>
                <a:pPr eaLnBrk="1" hangingPunct="1">
                  <a:lnSpc>
                    <a:spcPct val="140000"/>
                  </a:lnSpc>
                </a:pP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𝒘</m:t>
                    </m:r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𝟏</m:t>
                    </m:r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000" b="1" dirty="0" smtClean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时是</a:t>
                </a:r>
                <a:r>
                  <a:rPr lang="zh-CN" altLang="en-US" sz="1800" b="1" kern="1200" dirty="0">
                    <a:solidFill>
                      <a:srgbClr val="3366FF"/>
                    </a:solidFill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规范化的齐次坐标</a:t>
                </a:r>
                <a:r>
                  <a:rPr lang="zh-CN" altLang="en-US" sz="2000" dirty="0" smtClean="0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rPr>
                  <a:t>。二维点 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𝒑</m:t>
                    </m:r>
                    <m:d>
                      <m:dPr>
                        <m:ctrlP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𝒚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rPr>
                  <a:t> 的规范化齐次坐标为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𝒚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rPr>
                  <a:t>，三维点 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𝒑</m:t>
                    </m:r>
                    <m:d>
                      <m:dPr>
                        <m:ctrlP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𝒚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𝒛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rPr>
                  <a:t> 的规范化齐次坐标为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𝒚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𝒛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rPr>
                  <a:t>。</a:t>
                </a:r>
                <a:endParaRPr lang="en-US" altLang="zh-CN" sz="2000" dirty="0" smtClean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endParaRPr>
              </a:p>
              <a:p>
                <a:pPr eaLnBrk="1" hangingPunct="1">
                  <a:lnSpc>
                    <a:spcPct val="140000"/>
                  </a:lnSpc>
                </a:pPr>
                <a:r>
                  <a:rPr lang="zh-CN" altLang="en-US" sz="2000" dirty="0" smtClean="0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rPr>
                  <a:t>定义了规范化齐次坐标以后，图形几何变换可以表示为图形顶点集合的</a:t>
                </a:r>
                <a:r>
                  <a:rPr lang="zh-CN" altLang="en-US" sz="1800" b="1" kern="1200" dirty="0">
                    <a:solidFill>
                      <a:srgbClr val="3366FF"/>
                    </a:solidFill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规范化齐次坐标矩阵与某一变换矩阵</a:t>
                </a:r>
                <a:r>
                  <a:rPr lang="zh-CN" altLang="en-US" sz="2000" dirty="0" smtClean="0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rPr>
                  <a:t>相乘的形式。</a:t>
                </a:r>
                <a:endParaRPr lang="en-US" altLang="zh-CN" sz="2000" dirty="0" smtClean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</mc:Choice>
        <mc:Fallback xmlns="">
          <p:sp>
            <p:nvSpPr>
              <p:cNvPr id="7170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 bwMode="auto">
              <a:xfrm>
                <a:off x="323528" y="836613"/>
                <a:ext cx="8641085" cy="3384475"/>
              </a:xfrm>
              <a:prstGeom prst="rect">
                <a:avLst/>
              </a:prstGeom>
              <a:blipFill rotWithShape="1">
                <a:blip r:embed="rId2"/>
                <a:stretch>
                  <a:fillRect l="-4" t="-9" r="4" b="7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3" name="Rectangle 5"/>
          <p:cNvSpPr>
            <a:spLocks noChangeArrowheads="1"/>
          </p:cNvSpPr>
          <p:nvPr/>
        </p:nvSpPr>
        <p:spPr bwMode="auto">
          <a:xfrm>
            <a:off x="323528" y="112713"/>
            <a:ext cx="5472435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5.1.1 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规范化齐次坐标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194" name="Rectangle 7"/>
              <p:cNvSpPr>
                <a:spLocks noChangeArrowheads="1"/>
              </p:cNvSpPr>
              <p:nvPr/>
            </p:nvSpPr>
            <p:spPr bwMode="auto">
              <a:xfrm>
                <a:off x="289174" y="758910"/>
                <a:ext cx="7595194" cy="5048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1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2000" dirty="0" smtClean="0">
                    <a:latin typeface="楷体_GB2312" pitchFamily="49" charset="-122"/>
                  </a:rPr>
                  <a:t>对于 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𝒏</m:t>
                    </m:r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000" dirty="0" smtClean="0">
                    <a:latin typeface="楷体_GB2312" pitchFamily="49" charset="-122"/>
                  </a:rPr>
                  <a:t> 的</a:t>
                </a:r>
                <a:r>
                  <a:rPr lang="zh-CN" altLang="en-US" sz="2000" dirty="0">
                    <a:latin typeface="楷体_GB2312" pitchFamily="49" charset="-122"/>
                  </a:rPr>
                  <a:t>矩阵</a:t>
                </a:r>
                <a:r>
                  <a:rPr lang="zh-CN" altLang="en-US" sz="2000" dirty="0" smtClean="0">
                    <a:latin typeface="楷体_GB2312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000" dirty="0" smtClean="0">
                    <a:latin typeface="楷体_GB2312" pitchFamily="49" charset="-122"/>
                  </a:rPr>
                  <a:t> 和 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𝟑</m:t>
                    </m:r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000" dirty="0" smtClean="0">
                    <a:latin typeface="楷体_GB2312" pitchFamily="49" charset="-122"/>
                  </a:rPr>
                  <a:t> 的</a:t>
                </a:r>
                <a:r>
                  <a:rPr lang="zh-CN" altLang="en-US" sz="2000" b="1" dirty="0">
                    <a:solidFill>
                      <a:srgbClr val="3366FF"/>
                    </a:solidFill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交换</a:t>
                </a:r>
                <a:r>
                  <a:rPr lang="zh-CN" altLang="en-US" sz="2000" dirty="0" smtClean="0">
                    <a:latin typeface="楷体_GB2312" pitchFamily="49" charset="-122"/>
                  </a:rPr>
                  <a:t>矩阵 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000" dirty="0">
                    <a:latin typeface="楷体_GB2312" pitchFamily="49" charset="-122"/>
                  </a:rPr>
                  <a:t>，矩阵相乘公式为：</a:t>
                </a:r>
              </a:p>
            </p:txBody>
          </p:sp>
        </mc:Choice>
        <mc:Fallback xmlns="">
          <p:sp>
            <p:nvSpPr>
              <p:cNvPr id="8194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174" y="758910"/>
                <a:ext cx="7595194" cy="504825"/>
              </a:xfrm>
              <a:prstGeom prst="rect">
                <a:avLst/>
              </a:prstGeom>
              <a:blipFill rotWithShape="1">
                <a:blip r:embed="rId2"/>
                <a:stretch>
                  <a:fillRect l="-3" t="-17" r="3" b="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67" name="Rectangle 9"/>
          <p:cNvSpPr>
            <a:spLocks noChangeArrowheads="1"/>
          </p:cNvSpPr>
          <p:nvPr/>
        </p:nvSpPr>
        <p:spPr bwMode="auto">
          <a:xfrm>
            <a:off x="1403350" y="112713"/>
            <a:ext cx="3168650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5.1.2 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矩阵相乘 </a:t>
            </a:r>
          </a:p>
        </p:txBody>
      </p:sp>
      <p:sp>
        <p:nvSpPr>
          <p:cNvPr id="11273" name="Rectangle 7"/>
          <p:cNvSpPr>
            <a:spLocks noChangeArrowheads="1"/>
          </p:cNvSpPr>
          <p:nvPr/>
        </p:nvSpPr>
        <p:spPr bwMode="auto">
          <a:xfrm>
            <a:off x="107504" y="4077072"/>
            <a:ext cx="8675439" cy="9356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000" dirty="0" smtClean="0">
                <a:latin typeface="楷体_GB2312" pitchFamily="49" charset="-122"/>
              </a:rPr>
              <a:t>由</a:t>
            </a:r>
            <a:r>
              <a:rPr lang="zh-CN" altLang="en-US" sz="2000" dirty="0">
                <a:latin typeface="楷体_GB2312" pitchFamily="49" charset="-122"/>
              </a:rPr>
              <a:t>线性代数知道，</a:t>
            </a:r>
            <a:r>
              <a:rPr lang="zh-CN" altLang="en-US" sz="18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矩阵乘法不满足交换律</a:t>
            </a:r>
            <a:r>
              <a:rPr lang="zh-CN" altLang="en-US" sz="2000" dirty="0">
                <a:latin typeface="楷体_GB2312" pitchFamily="49" charset="-122"/>
              </a:rPr>
              <a:t>，只有</a:t>
            </a:r>
            <a:r>
              <a:rPr lang="zh-CN" altLang="en-US" sz="1800" b="1" dirty="0">
                <a:solidFill>
                  <a:srgbClr val="FF0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左矩阵的列数等于右矩阵的行数时，两个矩阵才可以相乘</a:t>
            </a:r>
            <a:r>
              <a:rPr lang="zh-CN" altLang="en-US" sz="2000" dirty="0">
                <a:latin typeface="楷体_GB2312" pitchFamily="49" charset="-122"/>
              </a:rPr>
              <a:t>。</a:t>
            </a:r>
            <a:endParaRPr lang="zh-CN" altLang="en-US" sz="2000" dirty="0"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292897" y="1484784"/>
                <a:ext cx="8604589" cy="18227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𝑨</m:t>
                      </m:r>
                      <m:r>
                        <a:rPr lang="en-US" altLang="zh-CN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  <m:r>
                        <a:rPr lang="en-US" altLang="zh-CN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𝑩</m:t>
                      </m:r>
                      <m:r>
                        <a:rPr lang="en-US" altLang="zh-CN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16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𝟏𝟏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𝟏𝟐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𝟏𝟑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𝟐𝟏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𝟐𝟐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𝟐𝟑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16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𝒏</m:t>
                                        </m:r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𝒏</m:t>
                                        </m:r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𝒏</m:t>
                                        </m:r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𝟑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eqArr>
                        </m:e>
                      </m:d>
                      <m:r>
                        <a:rPr lang="en-US" altLang="zh-CN" sz="16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𝟏𝟏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𝟏𝟐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𝟏𝟑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𝟐𝟏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𝟐𝟐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𝟐𝟑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𝟑𝟏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𝟑𝟐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𝟑𝟑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16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16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𝟏𝟏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𝟏𝟏</m:t>
                                        </m:r>
                                      </m:sub>
                                    </m:sSub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𝟏𝟐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𝟐𝟏</m:t>
                                        </m:r>
                                      </m:sub>
                                    </m:sSub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𝟏𝟑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𝟑𝟏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𝟏𝟏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𝟏𝟐</m:t>
                                        </m:r>
                                      </m:sub>
                                    </m:sSub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𝟏𝟐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𝟐𝟐</m:t>
                                        </m:r>
                                      </m:sub>
                                    </m:sSub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𝟏𝟑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𝟑𝟐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𝟏𝟏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𝟏𝟑</m:t>
                                        </m:r>
                                      </m:sub>
                                    </m:sSub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𝟏𝟐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𝟐𝟑</m:t>
                                        </m:r>
                                      </m:sub>
                                    </m:sSub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𝟏𝟑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𝟑𝟑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𝟏𝟏</m:t>
                                        </m:r>
                                      </m:sub>
                                    </m:sSub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𝟐𝟏</m:t>
                                        </m:r>
                                      </m:sub>
                                    </m:sSub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𝟑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𝟑𝟏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</m:t>
                                        </m:r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𝟑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𝟑</m:t>
                                        </m:r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</m:t>
                                        </m:r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𝟑</m:t>
                                        </m:r>
                                      </m:sub>
                                    </m:sSub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𝟑</m:t>
                                        </m:r>
                                      </m:sub>
                                    </m:sSub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𝟑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𝟑</m:t>
                                        </m:r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𝟑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16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𝒏</m:t>
                                        </m:r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𝟏𝟏</m:t>
                                        </m:r>
                                      </m:sub>
                                    </m:sSub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𝒏</m:t>
                                        </m:r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𝟐𝟏</m:t>
                                        </m:r>
                                      </m:sub>
                                    </m:sSub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𝒏</m:t>
                                        </m:r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𝟑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𝟑𝟏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𝒏</m:t>
                                        </m:r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</m:t>
                                        </m:r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𝒏</m:t>
                                        </m:r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𝒏</m:t>
                                        </m:r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𝟑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𝟑</m:t>
                                        </m:r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𝒏</m:t>
                                        </m:r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</m:t>
                                        </m:r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𝟑</m:t>
                                        </m:r>
                                      </m:sub>
                                    </m:sSub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𝒏</m:t>
                                        </m:r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𝟑</m:t>
                                        </m:r>
                                      </m:sub>
                                    </m:sSub>
                                    <m:r>
                                      <a:rPr lang="en-US" altLang="zh-CN" sz="16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𝒏</m:t>
                                        </m:r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𝟑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𝟑</m:t>
                                        </m:r>
                                        <m:r>
                                          <a:rPr lang="en-US" altLang="zh-CN" sz="16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𝟑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897" y="1484784"/>
                <a:ext cx="8604589" cy="1822743"/>
              </a:xfrm>
              <a:prstGeom prst="rect">
                <a:avLst/>
              </a:prstGeom>
              <a:blipFill rotWithShape="1">
                <a:blip r:embed="rId3"/>
                <a:stretch>
                  <a:fillRect l="-2" t="-8" r="6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289174" y="3553735"/>
                <a:ext cx="176144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𝑨</m:t>
                      </m:r>
                      <m:r>
                        <a:rPr lang="en-US" altLang="zh-CN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  <m:r>
                        <a:rPr lang="en-US" altLang="zh-CN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𝑩</m:t>
                      </m:r>
                      <m:r>
                        <a:rPr lang="en-US" altLang="zh-CN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altLang="zh-CN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US" altLang="zh-CN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CN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174" y="3553735"/>
                <a:ext cx="1761444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14" t="-60" r="12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ChangeArrowheads="1"/>
          </p:cNvSpPr>
          <p:nvPr/>
        </p:nvSpPr>
        <p:spPr bwMode="auto">
          <a:xfrm>
            <a:off x="467544" y="734197"/>
            <a:ext cx="8495481" cy="1115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rgbClr val="336600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二维空间中</a:t>
            </a:r>
            <a:r>
              <a:rPr lang="zh-CN" altLang="en-US" sz="2000" dirty="0" smtClean="0">
                <a:solidFill>
                  <a:srgbClr val="A50021"/>
                </a:solidFill>
                <a:ea typeface="宋体" panose="02010600030101010101" pitchFamily="2" charset="-122"/>
              </a:rPr>
              <a:t>，</a:t>
            </a:r>
            <a:r>
              <a:rPr lang="zh-CN" altLang="en-US" sz="2000" dirty="0" smtClean="0">
                <a:latin typeface="楷体_GB2312" pitchFamily="49" charset="-122"/>
              </a:rPr>
              <a:t>用</a:t>
            </a:r>
            <a:r>
              <a:rPr lang="zh-CN" altLang="en-US" sz="2000" dirty="0">
                <a:latin typeface="楷体_GB2312" pitchFamily="49" charset="-122"/>
              </a:rPr>
              <a:t>规范化齐次坐标表示的二维基本几何变换矩阵是一个</a:t>
            </a:r>
            <a:r>
              <a:rPr lang="en-US" altLang="zh-CN" sz="2000" dirty="0">
                <a:latin typeface="楷体_GB2312" pitchFamily="49" charset="-122"/>
              </a:rPr>
              <a:t>3×3</a:t>
            </a:r>
            <a:r>
              <a:rPr lang="zh-CN" altLang="en-US" sz="2000" dirty="0">
                <a:latin typeface="楷体_GB2312" pitchFamily="49" charset="-122"/>
              </a:rPr>
              <a:t>的方阵，简称为</a:t>
            </a:r>
            <a:r>
              <a:rPr lang="zh-CN" altLang="en-US" sz="20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二维变换矩阵</a:t>
            </a:r>
            <a:r>
              <a:rPr lang="zh-CN" altLang="en-US" sz="2000" dirty="0">
                <a:latin typeface="楷体_GB2312" pitchFamily="49" charset="-122"/>
              </a:rPr>
              <a:t>。</a:t>
            </a:r>
          </a:p>
        </p:txBody>
      </p:sp>
      <p:sp>
        <p:nvSpPr>
          <p:cNvPr id="12292" name="Text Box 6"/>
          <p:cNvSpPr txBox="1">
            <a:spLocks noChangeArrowheads="1"/>
          </p:cNvSpPr>
          <p:nvPr/>
        </p:nvSpPr>
        <p:spPr bwMode="auto">
          <a:xfrm>
            <a:off x="467544" y="2765657"/>
            <a:ext cx="633670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Ctr="1"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从功能上可以把二维变换矩阵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T</a:t>
            </a:r>
            <a:r>
              <a:rPr lang="zh-CN" altLang="en-US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分为 </a:t>
            </a:r>
            <a:r>
              <a:rPr lang="en-US" altLang="zh-CN" sz="2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zh-CN" altLang="en-US" sz="2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子矩阵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。</a:t>
            </a:r>
            <a:r>
              <a:rPr lang="zh-CN" altLang="en-US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其中</a:t>
            </a:r>
            <a:endParaRPr lang="en-US" altLang="zh-CN" sz="2000" dirty="0" smtClean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9225" name="Text Box 21"/>
          <p:cNvSpPr txBox="1">
            <a:spLocks noChangeArrowheads="1"/>
          </p:cNvSpPr>
          <p:nvPr/>
        </p:nvSpPr>
        <p:spPr bwMode="auto">
          <a:xfrm>
            <a:off x="4064794" y="1981200"/>
            <a:ext cx="154463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5-2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12298" name="Rectangle 18"/>
          <p:cNvSpPr>
            <a:spLocks noChangeArrowheads="1"/>
          </p:cNvSpPr>
          <p:nvPr/>
        </p:nvSpPr>
        <p:spPr bwMode="auto">
          <a:xfrm>
            <a:off x="1403350" y="112713"/>
            <a:ext cx="4824413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5.1.3 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二维几何变换矩阵</a:t>
            </a:r>
            <a:r>
              <a:rPr lang="zh-CN" altLang="en-US"/>
              <a:t> </a:t>
            </a:r>
            <a:r>
              <a:rPr lang="zh-CN" altLang="en-US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299" name="Rectangle 19"/>
          <p:cNvSpPr>
            <a:spLocks noChangeArrowheads="1"/>
          </p:cNvSpPr>
          <p:nvPr/>
        </p:nvSpPr>
        <p:spPr bwMode="auto">
          <a:xfrm>
            <a:off x="2381294" y="3810402"/>
            <a:ext cx="2749471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对图形进行</a:t>
            </a:r>
            <a:r>
              <a:rPr lang="zh-CN" altLang="en-US" sz="20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平移变换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；</a:t>
            </a:r>
          </a:p>
        </p:txBody>
      </p:sp>
      <p:sp>
        <p:nvSpPr>
          <p:cNvPr id="12300" name="Rectangle 20"/>
          <p:cNvSpPr>
            <a:spLocks noChangeArrowheads="1"/>
          </p:cNvSpPr>
          <p:nvPr/>
        </p:nvSpPr>
        <p:spPr bwMode="auto">
          <a:xfrm>
            <a:off x="1964892" y="4411985"/>
            <a:ext cx="2749471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对图形进行</a:t>
            </a:r>
            <a:r>
              <a:rPr lang="zh-CN" altLang="en-US" sz="20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投影变换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；</a:t>
            </a:r>
          </a:p>
        </p:txBody>
      </p:sp>
      <p:sp>
        <p:nvSpPr>
          <p:cNvPr id="12301" name="Rectangle 21"/>
          <p:cNvSpPr>
            <a:spLocks noChangeArrowheads="1"/>
          </p:cNvSpPr>
          <p:nvPr/>
        </p:nvSpPr>
        <p:spPr bwMode="auto">
          <a:xfrm>
            <a:off x="1964892" y="4901135"/>
            <a:ext cx="3262432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对图形进行整体</a:t>
            </a:r>
            <a:r>
              <a:rPr lang="zh-CN" altLang="en-US" sz="20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比例变换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</a:p>
        </p:txBody>
      </p:sp>
      <p:sp>
        <p:nvSpPr>
          <p:cNvPr id="12302" name="Rectangle 22"/>
          <p:cNvSpPr>
            <a:spLocks noChangeArrowheads="1"/>
          </p:cNvSpPr>
          <p:nvPr/>
        </p:nvSpPr>
        <p:spPr bwMode="auto">
          <a:xfrm>
            <a:off x="2308215" y="3317607"/>
            <a:ext cx="5057795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对图形进行</a:t>
            </a:r>
            <a:r>
              <a:rPr lang="zh-CN" altLang="en-US" sz="20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比例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zh-CN" altLang="en-US" sz="20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旋转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zh-CN" altLang="en-US" sz="20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反射和错切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变换；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645940" y="1708076"/>
                <a:ext cx="2032223" cy="9412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𝑻</m:t>
                      </m:r>
                      <m:r>
                        <a:rPr lang="en-US" altLang="zh-CN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𝒂</m:t>
                                </m:r>
                              </m:e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𝒃</m:t>
                                </m:r>
                              </m:e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𝒄</m:t>
                                </m:r>
                              </m:e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𝒅</m:t>
                                </m:r>
                              </m:e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𝒒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𝒍</m:t>
                                </m:r>
                              </m:e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𝒎</m:t>
                                </m:r>
                              </m:e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940" y="1708076"/>
                <a:ext cx="2032223" cy="941283"/>
              </a:xfrm>
              <a:prstGeom prst="rect">
                <a:avLst/>
              </a:prstGeom>
              <a:blipFill rotWithShape="1">
                <a:blip r:embed="rId2"/>
                <a:stretch>
                  <a:fillRect l="-1" t="-60" r="12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467544" y="3259051"/>
                <a:ext cx="1916550" cy="6118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𝑻</m:t>
                        </m:r>
                      </m:e>
                      <m:sub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𝒂</m:t>
                              </m:r>
                            </m:e>
                            <m:e>
                              <m:r>
                                <a:rPr lang="en-US" altLang="zh-CN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𝒃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𝒄</m:t>
                              </m:r>
                            </m:e>
                            <m:e>
                              <m:r>
                                <a:rPr lang="en-US" altLang="zh-CN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𝒅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259051"/>
                <a:ext cx="1916550" cy="611899"/>
              </a:xfrm>
              <a:prstGeom prst="rect">
                <a:avLst/>
              </a:prstGeom>
              <a:blipFill rotWithShape="1">
                <a:blip r:embed="rId3"/>
                <a:stretch>
                  <a:fillRect l="-10" t="-38" r="16" b="1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467544" y="3820276"/>
                <a:ext cx="191674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𝑻</m:t>
                        </m:r>
                      </m:e>
                      <m:sub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𝒍</m:t>
                              </m:r>
                            </m:e>
                            <m:e>
                              <m:r>
                                <a:rPr lang="en-US" altLang="zh-CN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𝒎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820276"/>
                <a:ext cx="1916743" cy="400110"/>
              </a:xfrm>
              <a:prstGeom prst="rect">
                <a:avLst/>
              </a:prstGeom>
              <a:blipFill rotWithShape="1">
                <a:blip r:embed="rId4"/>
                <a:stretch>
                  <a:fillRect l="-10" t="-29" r="26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469931" y="4322945"/>
                <a:ext cx="1494961" cy="6108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𝑻</m:t>
                        </m:r>
                      </m:e>
                      <m:sub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b>
                    </m:sSub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𝒑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𝒒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31" y="4322945"/>
                <a:ext cx="1494961" cy="610808"/>
              </a:xfrm>
              <a:prstGeom prst="rect">
                <a:avLst/>
              </a:prstGeom>
              <a:blipFill rotWithShape="1">
                <a:blip r:embed="rId5"/>
                <a:stretch>
                  <a:fillRect l="-2" t="-82" r="14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469931" y="4901135"/>
                <a:ext cx="145668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𝑻</m:t>
                        </m:r>
                      </m:e>
                      <m:sub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b>
                    </m:sSub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𝒔</m:t>
                        </m:r>
                      </m:e>
                    </m:d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31" y="4901135"/>
                <a:ext cx="1456681" cy="400110"/>
              </a:xfrm>
              <a:prstGeom prst="rect">
                <a:avLst/>
              </a:prstGeom>
              <a:blipFill rotWithShape="1">
                <a:blip r:embed="rId6"/>
                <a:stretch>
                  <a:fillRect l="-2" t="-51" r="2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ChangeArrowheads="1"/>
          </p:cNvSpPr>
          <p:nvPr/>
        </p:nvSpPr>
        <p:spPr bwMode="auto">
          <a:xfrm>
            <a:off x="1403350" y="112713"/>
            <a:ext cx="5113338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5.1.4 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物体变换与坐标变换  </a:t>
            </a:r>
          </a:p>
        </p:txBody>
      </p:sp>
      <p:sp>
        <p:nvSpPr>
          <p:cNvPr id="10243" name="Rectangle 5"/>
          <p:cNvSpPr>
            <a:spLocks noChangeArrowheads="1"/>
          </p:cNvSpPr>
          <p:nvPr/>
        </p:nvSpPr>
        <p:spPr bwMode="auto">
          <a:xfrm>
            <a:off x="290949" y="796448"/>
            <a:ext cx="8569647" cy="2951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同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一种变换可以看作是物体变换，也可以看作是坐标变换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物体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变换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是使用同一变换矩阵作用于物体上的所有顶点，但坐标系位置不发生改变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坐标变换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是坐标系发生变换，但物体位置不发生改变，然后在新坐标系下表示物体上的所有顶点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两种变换紧密联系，各有各的优点，只是变换矩阵略有差异而已，以下主要介绍物体变换。</a:t>
            </a:r>
          </a:p>
        </p:txBody>
      </p:sp>
      <p:sp>
        <p:nvSpPr>
          <p:cNvPr id="13316" name="Rectangle 6"/>
          <p:cNvSpPr>
            <a:spLocks noChangeArrowheads="1"/>
          </p:cNvSpPr>
          <p:nvPr/>
        </p:nvSpPr>
        <p:spPr bwMode="auto">
          <a:xfrm>
            <a:off x="287176" y="3976033"/>
            <a:ext cx="3960812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5.1.5 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二维几何变换  </a:t>
            </a:r>
          </a:p>
        </p:txBody>
      </p:sp>
      <p:sp>
        <p:nvSpPr>
          <p:cNvPr id="10245" name="Rectangle 8"/>
          <p:cNvSpPr>
            <a:spLocks noChangeArrowheads="1"/>
          </p:cNvSpPr>
          <p:nvPr/>
        </p:nvSpPr>
        <p:spPr bwMode="auto">
          <a:xfrm>
            <a:off x="0" y="2957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4247988" y="3610648"/>
                <a:ext cx="4872423" cy="13076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0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altLang="zh-CN" sz="20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altLang="zh-CN" sz="20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</m:e>
                                  <m:e>
                                    <m:r>
                                      <a:rPr lang="en-US" altLang="zh-CN" sz="20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𝟏</m:t>
                                    </m:r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altLang="zh-CN" sz="20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altLang="zh-CN" sz="20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</m:e>
                                  <m:e>
                                    <m:r>
                                      <a:rPr lang="en-US" altLang="zh-CN" sz="20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𝟏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altLang="zh-CN" sz="20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altLang="zh-CN" sz="20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0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altLang="zh-CN" sz="20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𝒏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altLang="zh-CN" sz="20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𝒏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</m:e>
                                  <m:e>
                                    <m:r>
                                      <a:rPr lang="en-US" altLang="zh-CN" sz="20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𝟏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  <m:r>
                        <a:rPr lang="en-US" altLang="zh-CN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0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𝟏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𝟏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altLang="zh-CN" sz="20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altLang="zh-CN" sz="20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000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𝒏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𝒏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𝟏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  <m:r>
                        <a:rPr lang="en-US" altLang="zh-CN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𝒂</m:t>
                                </m:r>
                              </m:e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𝒃</m:t>
                                </m:r>
                              </m:e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𝒄</m:t>
                                </m:r>
                              </m:e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𝒅</m:t>
                                </m:r>
                              </m:e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𝒒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𝒍</m:t>
                                </m:r>
                              </m:e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𝒎</m:t>
                                </m:r>
                              </m:e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7988" y="3610648"/>
                <a:ext cx="4872423" cy="1307666"/>
              </a:xfrm>
              <a:prstGeom prst="rect">
                <a:avLst/>
              </a:prstGeom>
              <a:blipFill rotWithShape="1">
                <a:blip r:embed="rId2"/>
                <a:stretch>
                  <a:fillRect l="-10" t="-3" r="11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287176" y="4899288"/>
            <a:ext cx="8677312" cy="1800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维图形基本几何变换是指相对于坐标原点和坐标轴进行的</a:t>
            </a:r>
            <a:r>
              <a:rPr lang="zh-CN" altLang="en-US" sz="20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几何变换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，包括</a:t>
            </a:r>
            <a:r>
              <a:rPr lang="zh-CN" altLang="en-US" sz="18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平移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Translate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r>
              <a:rPr lang="zh-CN" altLang="en-US" sz="18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比例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Scale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r>
              <a:rPr lang="zh-CN" altLang="en-US" sz="18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旋转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Rotate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r>
              <a:rPr lang="zh-CN" altLang="en-US" sz="18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反射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Reflect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）和</a:t>
            </a:r>
            <a:r>
              <a:rPr lang="zh-CN" altLang="en-US" sz="18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错切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shear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种变换。</a:t>
            </a:r>
            <a:r>
              <a:rPr lang="zh-CN" altLang="en-US" sz="18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物体</a:t>
            </a:r>
            <a:r>
              <a:rPr lang="zh-CN" altLang="en-US" sz="1800" b="1" dirty="0" smtClean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变换是</a:t>
            </a:r>
            <a:r>
              <a:rPr lang="zh-CN" altLang="en-US" sz="18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通过变换物体上每一个顶点实现的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，因此以点的二维基本几何变换为例讲解二维图形基本几何变换矩阵 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/>
          <p:cNvSpPr>
            <a:spLocks noChangeArrowheads="1"/>
          </p:cNvSpPr>
          <p:nvPr/>
        </p:nvSpPr>
        <p:spPr bwMode="auto">
          <a:xfrm>
            <a:off x="359568" y="210344"/>
            <a:ext cx="3960813" cy="579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2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5.2 </a:t>
            </a:r>
            <a:r>
              <a:rPr lang="zh-CN" altLang="en-US" sz="32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变换矩阵</a:t>
            </a:r>
            <a:r>
              <a:rPr lang="zh-CN" altLang="en-US" dirty="0" smtClean="0"/>
              <a:t> </a:t>
            </a:r>
            <a:r>
              <a:rPr lang="zh-CN" altLang="en-US" sz="32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  </a:t>
            </a:r>
            <a:endParaRPr lang="zh-CN" altLang="en-US" sz="3200" b="1" dirty="0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</a:endParaRPr>
          </a:p>
        </p:txBody>
      </p:sp>
      <p:graphicFrame>
        <p:nvGraphicFramePr>
          <p:cNvPr id="12295" name="Object 7"/>
          <p:cNvGraphicFramePr>
            <a:graphicFrameLocks noChangeAspect="1"/>
          </p:cNvGraphicFramePr>
          <p:nvPr/>
        </p:nvGraphicFramePr>
        <p:xfrm>
          <a:off x="3645504" y="915688"/>
          <a:ext cx="1502560" cy="865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4" name="公式" r:id="rId3" imgW="21336000" imgH="12192000" progId="Equation.3">
                  <p:embed/>
                </p:oleObj>
              </mc:Choice>
              <mc:Fallback>
                <p:oleObj name="公式" r:id="rId3" imgW="21336000" imgH="12192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5504" y="915688"/>
                        <a:ext cx="1502560" cy="8655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8"/>
          <p:cNvGraphicFramePr>
            <a:graphicFrameLocks noChangeAspect="1"/>
          </p:cNvGraphicFramePr>
          <p:nvPr/>
        </p:nvGraphicFramePr>
        <p:xfrm>
          <a:off x="3721077" y="1714039"/>
          <a:ext cx="5171403" cy="963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5" name="公式" r:id="rId5" imgW="94488000" imgH="17678400" progId="Equation.3">
                  <p:embed/>
                </p:oleObj>
              </mc:Choice>
              <mc:Fallback>
                <p:oleObj name="公式" r:id="rId5" imgW="94488000" imgH="17678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1077" y="1714039"/>
                        <a:ext cx="5171403" cy="9635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485775" y="915688"/>
            <a:ext cx="2808288" cy="3121025"/>
            <a:chOff x="2339975" y="1052513"/>
            <a:chExt cx="2808288" cy="3121025"/>
          </a:xfrm>
        </p:grpSpPr>
        <p:graphicFrame>
          <p:nvGraphicFramePr>
            <p:cNvPr id="12291" name="Object 5"/>
            <p:cNvGraphicFramePr>
              <a:graphicFrameLocks noChangeAspect="1"/>
            </p:cNvGraphicFramePr>
            <p:nvPr/>
          </p:nvGraphicFramePr>
          <p:xfrm>
            <a:off x="2339975" y="1052513"/>
            <a:ext cx="2808288" cy="2613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26" r:id="rId7" imgW="5241290" imgH="3987165" progId="Visio.Drawing.11">
                    <p:embed/>
                  </p:oleObj>
                </mc:Choice>
                <mc:Fallback>
                  <p:oleObj r:id="rId7" imgW="5241290" imgH="3987165" progId="Visio.Drawing.11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1812" t="4784" r="14215" b="4784"/>
                        <a:stretch>
                          <a:fillRect/>
                        </a:stretch>
                      </p:blipFill>
                      <p:spPr bwMode="auto">
                        <a:xfrm>
                          <a:off x="2339975" y="1052513"/>
                          <a:ext cx="2808288" cy="26130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292" name="Text Box 6"/>
            <p:cNvSpPr txBox="1">
              <a:spLocks noChangeArrowheads="1"/>
            </p:cNvSpPr>
            <p:nvPr/>
          </p:nvSpPr>
          <p:spPr bwMode="auto">
            <a:xfrm>
              <a:off x="4500563" y="1484313"/>
              <a:ext cx="287337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P’</a:t>
              </a:r>
              <a:endParaRPr lang="en-US" altLang="zh-CN"/>
            </a:p>
          </p:txBody>
        </p:sp>
        <p:sp>
          <p:nvSpPr>
            <p:cNvPr id="12293" name="Text Box 7"/>
            <p:cNvSpPr txBox="1">
              <a:spLocks noChangeArrowheads="1"/>
            </p:cNvSpPr>
            <p:nvPr/>
          </p:nvSpPr>
          <p:spPr bwMode="auto">
            <a:xfrm>
              <a:off x="2987675" y="2419350"/>
              <a:ext cx="287338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lang="en-US" altLang="zh-CN"/>
            </a:p>
          </p:txBody>
        </p:sp>
        <p:sp>
          <p:nvSpPr>
            <p:cNvPr id="12294" name="Rectangle 8"/>
            <p:cNvSpPr>
              <a:spLocks noChangeArrowheads="1"/>
            </p:cNvSpPr>
            <p:nvPr/>
          </p:nvSpPr>
          <p:spPr bwMode="auto">
            <a:xfrm>
              <a:off x="3059113" y="3716338"/>
              <a:ext cx="15938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/>
                <a:t>平移变换  </a:t>
              </a:r>
            </a:p>
          </p:txBody>
        </p:sp>
        <p:sp>
          <p:nvSpPr>
            <p:cNvPr id="12299" name="Text Box 13"/>
            <p:cNvSpPr txBox="1">
              <a:spLocks noChangeArrowheads="1"/>
            </p:cNvSpPr>
            <p:nvPr/>
          </p:nvSpPr>
          <p:spPr bwMode="auto">
            <a:xfrm>
              <a:off x="4500563" y="2420938"/>
              <a:ext cx="327025" cy="479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endParaRPr lang="en-US" altLang="zh-CN"/>
            </a:p>
          </p:txBody>
        </p:sp>
        <p:sp>
          <p:nvSpPr>
            <p:cNvPr id="12300" name="Text Box 14"/>
            <p:cNvSpPr txBox="1">
              <a:spLocks noChangeArrowheads="1"/>
            </p:cNvSpPr>
            <p:nvPr/>
          </p:nvSpPr>
          <p:spPr bwMode="auto">
            <a:xfrm>
              <a:off x="3851275" y="2565400"/>
              <a:ext cx="327025" cy="479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lang="en-US" altLang="zh-C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301" name="Rectangle 15"/>
              <p:cNvSpPr>
                <a:spLocks noChangeArrowheads="1"/>
              </p:cNvSpPr>
              <p:nvPr/>
            </p:nvSpPr>
            <p:spPr bwMode="auto">
              <a:xfrm>
                <a:off x="3645504" y="2624110"/>
                <a:ext cx="2390847" cy="428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𝑻</m:t>
                        </m:r>
                      </m:e>
                      <m:sub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rgbClr val="3366FF"/>
                    </a:solidFill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𝑻</m:t>
                        </m:r>
                      </m:e>
                      <m:sub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rgbClr val="3366FF"/>
                    </a:solidFill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为平移参数 </a:t>
                </a:r>
              </a:p>
            </p:txBody>
          </p:sp>
        </mc:Choice>
        <mc:Fallback xmlns="">
          <p:sp>
            <p:nvSpPr>
              <p:cNvPr id="12301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45504" y="2624110"/>
                <a:ext cx="2390847" cy="428259"/>
              </a:xfrm>
              <a:prstGeom prst="rect">
                <a:avLst/>
              </a:prstGeom>
              <a:blipFill rotWithShape="1">
                <a:blip r:embed="rId9"/>
                <a:stretch>
                  <a:fillRect l="-25" t="-68" r="-4460" b="13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665956" y="4080143"/>
            <a:ext cx="2447925" cy="2689225"/>
            <a:chOff x="1619250" y="1196975"/>
            <a:chExt cx="2447925" cy="2689225"/>
          </a:xfrm>
        </p:grpSpPr>
        <p:graphicFrame>
          <p:nvGraphicFramePr>
            <p:cNvPr id="16" name="Object 9"/>
            <p:cNvGraphicFramePr>
              <a:graphicFrameLocks noChangeAspect="1"/>
            </p:cNvGraphicFramePr>
            <p:nvPr/>
          </p:nvGraphicFramePr>
          <p:xfrm>
            <a:off x="1619250" y="1196975"/>
            <a:ext cx="2447925" cy="2328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27" r:id="rId10" imgW="5241290" imgH="3987165" progId="Visio.Drawing.11">
                    <p:embed/>
                  </p:oleObj>
                </mc:Choice>
                <mc:Fallback>
                  <p:oleObj r:id="rId10" imgW="5241290" imgH="3987165" progId="Visio.Drawing.11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3322" t="4604" r="13528" b="4152"/>
                        <a:stretch>
                          <a:fillRect/>
                        </a:stretch>
                      </p:blipFill>
                      <p:spPr bwMode="auto">
                        <a:xfrm>
                          <a:off x="1619250" y="1196975"/>
                          <a:ext cx="2447925" cy="23288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Text Box 11"/>
            <p:cNvSpPr txBox="1">
              <a:spLocks noChangeArrowheads="1"/>
            </p:cNvSpPr>
            <p:nvPr/>
          </p:nvSpPr>
          <p:spPr bwMode="auto">
            <a:xfrm>
              <a:off x="2700338" y="2420938"/>
              <a:ext cx="354012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r>
                <a:rPr lang="en-US" altLang="zh-CN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lang="en-US" altLang="zh-CN"/>
            </a:p>
          </p:txBody>
        </p:sp>
        <p:sp>
          <p:nvSpPr>
            <p:cNvPr id="18" name="Text Box 12"/>
            <p:cNvSpPr txBox="1">
              <a:spLocks noChangeArrowheads="1"/>
            </p:cNvSpPr>
            <p:nvPr/>
          </p:nvSpPr>
          <p:spPr bwMode="auto">
            <a:xfrm>
              <a:off x="3276600" y="2205038"/>
              <a:ext cx="431800" cy="433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r>
                <a:rPr lang="en-US" altLang="zh-CN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endParaRPr lang="en-US" altLang="zh-CN"/>
            </a:p>
          </p:txBody>
        </p:sp>
        <p:sp>
          <p:nvSpPr>
            <p:cNvPr id="19" name="Text Box 13"/>
            <p:cNvSpPr txBox="1">
              <a:spLocks noChangeArrowheads="1"/>
            </p:cNvSpPr>
            <p:nvPr/>
          </p:nvSpPr>
          <p:spPr bwMode="auto">
            <a:xfrm>
              <a:off x="2195513" y="2420938"/>
              <a:ext cx="212725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lang="en-US" altLang="zh-CN"/>
            </a:p>
          </p:txBody>
        </p:sp>
        <p:sp>
          <p:nvSpPr>
            <p:cNvPr id="20" name="Text Box 14"/>
            <p:cNvSpPr txBox="1">
              <a:spLocks noChangeArrowheads="1"/>
            </p:cNvSpPr>
            <p:nvPr/>
          </p:nvSpPr>
          <p:spPr bwMode="auto">
            <a:xfrm>
              <a:off x="3348038" y="1628775"/>
              <a:ext cx="288925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P’</a:t>
              </a:r>
              <a:endParaRPr lang="en-US" altLang="zh-CN"/>
            </a:p>
          </p:txBody>
        </p:sp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2051050" y="3429000"/>
              <a:ext cx="1403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/>
                <a:t>比例变换</a:t>
              </a:r>
            </a:p>
          </p:txBody>
        </p:sp>
      </p:grpSp>
      <p:graphicFrame>
        <p:nvGraphicFramePr>
          <p:cNvPr id="22" name="Object 10"/>
          <p:cNvGraphicFramePr>
            <a:graphicFrameLocks noChangeAspect="1"/>
          </p:cNvGraphicFramePr>
          <p:nvPr/>
        </p:nvGraphicFramePr>
        <p:xfrm>
          <a:off x="3405981" y="3683605"/>
          <a:ext cx="15113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8" r:id="rId12" imgW="711200" imgH="482600" progId="Equation.3">
                  <p:embed/>
                </p:oleObj>
              </mc:Choice>
              <mc:Fallback>
                <p:oleObj r:id="rId12" imgW="711200" imgH="482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5981" y="3683605"/>
                        <a:ext cx="15113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2"/>
          <p:cNvGraphicFramePr>
            <a:graphicFrameLocks noChangeAspect="1"/>
          </p:cNvGraphicFramePr>
          <p:nvPr/>
        </p:nvGraphicFramePr>
        <p:xfrm>
          <a:off x="3405981" y="4515684"/>
          <a:ext cx="5599658" cy="1138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9" r:id="rId14" imgW="3517900" imgH="711200" progId="Equation.3">
                  <p:embed/>
                </p:oleObj>
              </mc:Choice>
              <mc:Fallback>
                <p:oleObj r:id="rId14" imgW="3517900" imgH="711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5981" y="4515684"/>
                        <a:ext cx="5599658" cy="1138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2"/>
              <p:cNvSpPr>
                <a:spLocks noChangeArrowheads="1"/>
              </p:cNvSpPr>
              <p:nvPr/>
            </p:nvSpPr>
            <p:spPr bwMode="auto">
              <a:xfrm>
                <a:off x="5602592" y="3905229"/>
                <a:ext cx="2548968" cy="4955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𝑺</m:t>
                        </m:r>
                      </m:e>
                      <m:sub>
                        <m:r>
                          <a:rPr lang="en-US" altLang="zh-CN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rgbClr val="3366FF"/>
                    </a:solidFill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𝑺</m:t>
                        </m:r>
                      </m:e>
                      <m:sub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为</a:t>
                </a:r>
                <a:r>
                  <a:rPr lang="zh-CN" altLang="en-US" sz="2000" b="1" dirty="0">
                    <a:solidFill>
                      <a:srgbClr val="3366FF"/>
                    </a:solidFill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比例系数 </a:t>
                </a:r>
              </a:p>
            </p:txBody>
          </p:sp>
        </mc:Choice>
        <mc:Fallback xmlns="">
          <p:sp>
            <p:nvSpPr>
              <p:cNvPr id="25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02592" y="3905229"/>
                <a:ext cx="2548968" cy="495520"/>
              </a:xfrm>
              <a:prstGeom prst="rect">
                <a:avLst/>
              </a:prstGeom>
              <a:blipFill rotWithShape="1">
                <a:blip r:embed="rId16"/>
                <a:stretch>
                  <a:fillRect l="-24" t="-124" r="-4232" b="4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6053241" y="380413"/>
                <a:ext cx="2220160" cy="10705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𝑻</m:t>
                      </m:r>
                      <m:r>
                        <a:rPr lang="en-US" altLang="zh-CN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altLang="zh-CN" sz="20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𝑿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altLang="zh-CN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𝒚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3241" y="380413"/>
                <a:ext cx="2220160" cy="1070549"/>
              </a:xfrm>
              <a:prstGeom prst="rect">
                <a:avLst/>
              </a:prstGeom>
              <a:blipFill rotWithShape="1">
                <a:blip r:embed="rId17"/>
                <a:stretch>
                  <a:fillRect l="-19" t="-4" r="28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/>
              <p:cNvSpPr/>
              <p:nvPr/>
            </p:nvSpPr>
            <p:spPr>
              <a:xfrm>
                <a:off x="3405981" y="5524197"/>
                <a:ext cx="2210605" cy="9567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𝑻</m:t>
                      </m:r>
                      <m:r>
                        <a:rPr lang="en-US" altLang="zh-CN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𝒙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𝟎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𝒚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981" y="5524197"/>
                <a:ext cx="2210605" cy="956737"/>
              </a:xfrm>
              <a:prstGeom prst="rect">
                <a:avLst/>
              </a:prstGeom>
              <a:blipFill rotWithShape="1">
                <a:blip r:embed="rId18"/>
                <a:stretch>
                  <a:fillRect l="-22" t="-35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389559" y="119857"/>
            <a:ext cx="3960812" cy="579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5.2.3 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旋转变换矩阵</a:t>
            </a:r>
            <a:r>
              <a:rPr lang="zh-CN" altLang="en-US" dirty="0"/>
              <a:t>  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8" name="Rectangle 15"/>
              <p:cNvSpPr>
                <a:spLocks noChangeArrowheads="1"/>
              </p:cNvSpPr>
              <p:nvPr/>
            </p:nvSpPr>
            <p:spPr bwMode="auto">
              <a:xfrm>
                <a:off x="3059832" y="1553486"/>
                <a:ext cx="525864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zh-CN" alt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𝜶</m:t>
                    </m:r>
                  </m:oMath>
                </a14:m>
                <a:r>
                  <a:rPr lang="zh-CN" altLang="en-US" sz="2000" dirty="0" smtClean="0"/>
                  <a:t>为</a:t>
                </a:r>
                <a:r>
                  <a:rPr lang="zh-CN" altLang="en-US" sz="2000" dirty="0"/>
                  <a:t>点的</a:t>
                </a:r>
                <a:r>
                  <a:rPr lang="zh-CN" altLang="en-US" sz="2000" b="1" dirty="0">
                    <a:solidFill>
                      <a:srgbClr val="3366FF"/>
                    </a:solidFill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起始角</a:t>
                </a:r>
                <a:r>
                  <a:rPr lang="zh-CN" altLang="en-US" sz="2000" dirty="0"/>
                  <a:t>，</a:t>
                </a:r>
                <a14:m>
                  <m:oMath xmlns:m="http://schemas.openxmlformats.org/officeDocument/2006/math">
                    <m:r>
                      <a:rPr lang="zh-CN" alt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𝜷</m:t>
                    </m:r>
                  </m:oMath>
                </a14:m>
                <a:r>
                  <a:rPr lang="zh-CN" altLang="en-US" sz="2000" dirty="0" smtClean="0"/>
                  <a:t> </a:t>
                </a:r>
                <a:r>
                  <a:rPr lang="zh-CN" altLang="en-US" sz="2000" dirty="0"/>
                  <a:t>为点的</a:t>
                </a:r>
                <a:r>
                  <a:rPr lang="zh-CN" altLang="en-US" sz="2000" b="1" dirty="0">
                    <a:solidFill>
                      <a:srgbClr val="3366FF"/>
                    </a:solidFill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逆时针</a:t>
                </a:r>
                <a:r>
                  <a:rPr lang="zh-CN" altLang="en-US" sz="2000" dirty="0"/>
                  <a:t>方向</a:t>
                </a:r>
                <a:r>
                  <a:rPr lang="zh-CN" altLang="en-US" sz="2000" b="1" dirty="0">
                    <a:solidFill>
                      <a:srgbClr val="3366FF"/>
                    </a:solidFill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旋转角</a:t>
                </a:r>
                <a:r>
                  <a:rPr lang="zh-CN" altLang="en-US" sz="2000" dirty="0"/>
                  <a:t> </a:t>
                </a:r>
              </a:p>
            </p:txBody>
          </p:sp>
        </mc:Choice>
        <mc:Fallback xmlns="">
          <p:sp>
            <p:nvSpPr>
              <p:cNvPr id="14348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59832" y="1553486"/>
                <a:ext cx="5258642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8" t="-69" r="12" b="8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389559" y="774910"/>
            <a:ext cx="2592388" cy="2949605"/>
            <a:chOff x="1835150" y="1268413"/>
            <a:chExt cx="2592388" cy="2949605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4338" name="Object 17"/>
                <p:cNvGraphicFramePr>
                  <a:graphicFrameLocks noChangeAspect="1"/>
                </p:cNvGraphicFramePr>
                <p:nvPr/>
              </p:nvGraphicFramePr>
              <p:xfrm>
                <a:off x="1835150" y="1268413"/>
                <a:ext cx="2592388" cy="241617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4458" r:id="rId4" imgW="5571490" imgH="4238625" progId="Visio.Drawing.11">
                        <p:embed/>
                      </p:oleObj>
                    </mc:Choice>
                    <mc:Fallback>
                      <p:oleObj r:id="rId4" imgW="5571490" imgH="4238625" progId="Visio.Drawing.11">
                        <p:embed/>
                        <p:pic>
                          <p:nvPicPr>
                            <p:cNvPr id="0" name="Object 1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 l="13545" t="6503" r="14194" b="4797"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835150" y="1268413"/>
                              <a:ext cx="2592388" cy="241617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4338" name="Object 17"/>
                <p:cNvGraphicFramePr>
                  <a:graphicFrameLocks noChangeAspect="1"/>
                </p:cNvGraphicFramePr>
                <p:nvPr/>
              </p:nvGraphicFramePr>
              <p:xfrm>
                <a:off x="1835150" y="1268413"/>
                <a:ext cx="2592388" cy="241617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4450" r:id="rId6" imgW="5571490" imgH="4238625" progId="Visio.Drawing.11">
                        <p:embed/>
                      </p:oleObj>
                    </mc:Choice>
                    <mc:Fallback>
                      <p:oleObj r:id="rId6" imgW="5571490" imgH="4238625" progId="Visio.Drawing.11">
                        <p:embed/>
                        <p:pic>
                          <p:nvPicPr>
                            <p:cNvPr id="0" name="Object 1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 l="13545" t="6503" r="14194" b="4797"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835150" y="1268413"/>
                              <a:ext cx="2592388" cy="241617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sp>
          <p:nvSpPr>
            <p:cNvPr id="14340" name="Text Box 4"/>
            <p:cNvSpPr txBox="1">
              <a:spLocks noChangeArrowheads="1"/>
            </p:cNvSpPr>
            <p:nvPr/>
          </p:nvSpPr>
          <p:spPr bwMode="auto">
            <a:xfrm>
              <a:off x="2411413" y="2133600"/>
              <a:ext cx="215900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41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2700338" y="2636838"/>
                  <a:ext cx="360362" cy="3603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9pPr>
                </a:lstStyle>
                <a:p>
                  <a:pPr algn="just" eaLnBrk="1" hangingPunct="1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𝜷</m:t>
                        </m:r>
                      </m:oMath>
                    </m:oMathPara>
                  </a14:m>
                  <a:endParaRPr lang="en-US" altLang="zh-CN" sz="2000" dirty="0"/>
                </a:p>
              </p:txBody>
            </p:sp>
          </mc:Choice>
          <mc:Fallback xmlns="">
            <p:sp>
              <p:nvSpPr>
                <p:cNvPr id="14341" name="Text 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00338" y="2636838"/>
                  <a:ext cx="360362" cy="360362"/>
                </a:xfrm>
                <a:prstGeom prst="rect">
                  <a:avLst/>
                </a:prstGeom>
                <a:blipFill rotWithShape="1">
                  <a:blip r:embed="rId8"/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342" name="Text Box 6"/>
            <p:cNvSpPr txBox="1">
              <a:spLocks noChangeArrowheads="1"/>
            </p:cNvSpPr>
            <p:nvPr/>
          </p:nvSpPr>
          <p:spPr bwMode="auto">
            <a:xfrm>
              <a:off x="4067175" y="2565400"/>
              <a:ext cx="212725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lang="en-US" altLang="zh-CN" sz="2000"/>
            </a:p>
          </p:txBody>
        </p:sp>
        <p:sp>
          <p:nvSpPr>
            <p:cNvPr id="14343" name="Text Box 7"/>
            <p:cNvSpPr txBox="1">
              <a:spLocks noChangeArrowheads="1"/>
            </p:cNvSpPr>
            <p:nvPr/>
          </p:nvSpPr>
          <p:spPr bwMode="auto">
            <a:xfrm>
              <a:off x="2987675" y="1484313"/>
              <a:ext cx="288925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P’</a:t>
              </a:r>
              <a:endParaRPr lang="en-US" altLang="zh-CN" sz="2000"/>
            </a:p>
          </p:txBody>
        </p:sp>
        <p:sp>
          <p:nvSpPr>
            <p:cNvPr id="14344" name="Rectangle 8"/>
            <p:cNvSpPr>
              <a:spLocks noChangeArrowheads="1"/>
            </p:cNvSpPr>
            <p:nvPr/>
          </p:nvSpPr>
          <p:spPr bwMode="auto">
            <a:xfrm>
              <a:off x="2723694" y="3817908"/>
              <a:ext cx="121058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2000"/>
                <a:t>旋转变换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50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3059113" y="2995613"/>
                  <a:ext cx="431800" cy="4333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楷体_GB2312" pitchFamily="49" charset="-122"/>
                    </a:defRPr>
                  </a:lvl9pPr>
                </a:lstStyle>
                <a:p>
                  <a:pPr algn="just" eaLnBrk="1" hangingPunct="1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𝜶</m:t>
                        </m:r>
                      </m:oMath>
                    </m:oMathPara>
                  </a14:m>
                  <a:endParaRPr lang="en-US" altLang="zh-CN" sz="2000" dirty="0"/>
                </a:p>
              </p:txBody>
            </p:sp>
          </mc:Choice>
          <mc:Fallback xmlns="">
            <p:sp>
              <p:nvSpPr>
                <p:cNvPr id="14350" name="Text 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59113" y="2995613"/>
                  <a:ext cx="431800" cy="433387"/>
                </a:xfrm>
                <a:prstGeom prst="rect">
                  <a:avLst/>
                </a:prstGeom>
                <a:blipFill rotWithShape="1">
                  <a:blip r:embed="rId9"/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14351" name="Object 15"/>
          <p:cNvGraphicFramePr>
            <a:graphicFrameLocks noChangeAspect="1"/>
          </p:cNvGraphicFramePr>
          <p:nvPr/>
        </p:nvGraphicFramePr>
        <p:xfrm>
          <a:off x="3059832" y="791327"/>
          <a:ext cx="3522555" cy="713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9" r:id="rId10" imgW="2261870" imgH="457200" progId="Equation.3">
                  <p:embed/>
                </p:oleObj>
              </mc:Choice>
              <mc:Fallback>
                <p:oleObj r:id="rId10" imgW="2261870" imgH="457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791327"/>
                        <a:ext cx="3522555" cy="7136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3" name="Object 4"/>
          <p:cNvGraphicFramePr>
            <a:graphicFrameLocks noChangeAspect="1"/>
          </p:cNvGraphicFramePr>
          <p:nvPr/>
        </p:nvGraphicFramePr>
        <p:xfrm>
          <a:off x="3059832" y="2050707"/>
          <a:ext cx="5899963" cy="39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0" r:id="rId12" imgW="3251200" imgH="215900" progId="Equation.3">
                  <p:embed/>
                </p:oleObj>
              </mc:Choice>
              <mc:Fallback>
                <p:oleObj r:id="rId12" imgW="3251200" imgH="215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2050707"/>
                        <a:ext cx="5899963" cy="39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5" name="Object 19"/>
          <p:cNvGraphicFramePr>
            <a:graphicFrameLocks noChangeAspect="1"/>
          </p:cNvGraphicFramePr>
          <p:nvPr/>
        </p:nvGraphicFramePr>
        <p:xfrm>
          <a:off x="4283324" y="2443387"/>
          <a:ext cx="3235289" cy="1116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1" r:id="rId14" imgW="2070735" imgH="711200" progId="Equation.3">
                  <p:embed/>
                </p:oleObj>
              </mc:Choice>
              <mc:Fallback>
                <p:oleObj r:id="rId14" imgW="2070735" imgH="7112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324" y="2443387"/>
                        <a:ext cx="3235289" cy="11169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389559" y="3817145"/>
                <a:ext cx="2940100" cy="9350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𝑻</m:t>
                      </m:r>
                      <m:r>
                        <a:rPr lang="en-US" altLang="zh-CN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CN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CN" sz="2000" b="0" i="0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zh-CN" altLang="en-US" sz="2000" b="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𝜷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CN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sz="20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𝜷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CN" sz="20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CN" sz="20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sz="20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𝜷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CN" sz="20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CN" sz="2000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zh-CN" altLang="en-US" sz="20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𝜷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altLang="zh-CN" sz="2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59" y="3817145"/>
                <a:ext cx="2940100" cy="935064"/>
              </a:xfrm>
              <a:prstGeom prst="rect">
                <a:avLst/>
              </a:prstGeom>
              <a:blipFill rotWithShape="1">
                <a:blip r:embed="rId16"/>
                <a:stretch>
                  <a:fillRect l="-10" t="-17" r="12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/>
          <p:cNvSpPr>
            <a:spLocks noChangeArrowheads="1"/>
          </p:cNvSpPr>
          <p:nvPr/>
        </p:nvSpPr>
        <p:spPr bwMode="auto">
          <a:xfrm>
            <a:off x="1331913" y="188913"/>
            <a:ext cx="3960812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5.2.4 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反射变换矩阵</a:t>
            </a:r>
            <a:r>
              <a:rPr lang="zh-CN" altLang="en-US"/>
              <a:t> 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  </a:t>
            </a:r>
          </a:p>
        </p:txBody>
      </p:sp>
      <p:sp>
        <p:nvSpPr>
          <p:cNvPr id="15370" name="Rectangle 32"/>
          <p:cNvSpPr>
            <a:spLocks noChangeArrowheads="1"/>
          </p:cNvSpPr>
          <p:nvPr/>
        </p:nvSpPr>
        <p:spPr bwMode="auto">
          <a:xfrm>
            <a:off x="4837305" y="931848"/>
            <a:ext cx="33970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dirty="0">
                <a:latin typeface="楷体_GB2312" pitchFamily="49" charset="-122"/>
              </a:rPr>
              <a:t>关于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原点反射</a:t>
            </a:r>
            <a:r>
              <a:rPr lang="zh-CN" altLang="en-US" sz="2000" dirty="0">
                <a:latin typeface="楷体_GB2312" pitchFamily="49" charset="-122"/>
              </a:rPr>
              <a:t>的坐标表示为 </a:t>
            </a:r>
            <a:endParaRPr lang="zh-CN" altLang="en-US" sz="2000" dirty="0"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371" name="Object 12"/>
          <p:cNvGraphicFramePr>
            <a:graphicFrameLocks noChangeAspect="1"/>
          </p:cNvGraphicFramePr>
          <p:nvPr/>
        </p:nvGraphicFramePr>
        <p:xfrm>
          <a:off x="4834243" y="1417347"/>
          <a:ext cx="1223962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2" r:id="rId3" imgW="558800" imgH="457200" progId="Equation.3">
                  <p:embed/>
                </p:oleObj>
              </mc:Choice>
              <mc:Fallback>
                <p:oleObj r:id="rId3" imgW="558800" imgH="457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4243" y="1417347"/>
                        <a:ext cx="1223962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3" name="Rectangle 35"/>
          <p:cNvSpPr>
            <a:spLocks noChangeArrowheads="1"/>
          </p:cNvSpPr>
          <p:nvPr/>
        </p:nvSpPr>
        <p:spPr bwMode="auto">
          <a:xfrm>
            <a:off x="509981" y="3823209"/>
            <a:ext cx="327578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相应的齐次坐标矩阵表示为</a:t>
            </a:r>
            <a:endParaRPr lang="zh-CN" altLang="en-US" sz="2000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374" name="Object 15"/>
          <p:cNvGraphicFramePr>
            <a:graphicFrameLocks noChangeAspect="1"/>
          </p:cNvGraphicFramePr>
          <p:nvPr/>
        </p:nvGraphicFramePr>
        <p:xfrm>
          <a:off x="3744097" y="2435487"/>
          <a:ext cx="511175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3" r:id="rId5" imgW="3263900" imgH="711200" progId="Equation.3">
                  <p:embed/>
                </p:oleObj>
              </mc:Choice>
              <mc:Fallback>
                <p:oleObj r:id="rId5" imgW="3263900" imgH="711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4097" y="2435487"/>
                        <a:ext cx="511175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143657" y="897633"/>
            <a:ext cx="4158504" cy="1892249"/>
            <a:chOff x="143657" y="897633"/>
            <a:chExt cx="4158504" cy="1892249"/>
          </a:xfrm>
        </p:grpSpPr>
        <p:grpSp>
          <p:nvGrpSpPr>
            <p:cNvPr id="4" name="组合 3"/>
            <p:cNvGrpSpPr/>
            <p:nvPr/>
          </p:nvGrpSpPr>
          <p:grpSpPr>
            <a:xfrm>
              <a:off x="143657" y="897633"/>
              <a:ext cx="2700151" cy="1892249"/>
              <a:chOff x="143657" y="897633"/>
              <a:chExt cx="2700151" cy="1892249"/>
            </a:xfrm>
          </p:grpSpPr>
          <p:graphicFrame>
            <p:nvGraphicFramePr>
              <p:cNvPr id="15366" name="Object 21"/>
              <p:cNvGraphicFramePr>
                <a:graphicFrameLocks noChangeAspect="1"/>
              </p:cNvGraphicFramePr>
              <p:nvPr/>
            </p:nvGraphicFramePr>
            <p:xfrm>
              <a:off x="976978" y="897633"/>
              <a:ext cx="1504950" cy="14954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534" r:id="rId7" imgW="3792855" imgH="3274060" progId="Visio.Drawing.11">
                      <p:embed/>
                    </p:oleObj>
                  </mc:Choice>
                  <mc:Fallback>
                    <p:oleObj r:id="rId7" imgW="3792855" imgH="3274060" progId="Visio.Drawing.11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 l="2388" t="3853" r="16418" b="2721"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76978" y="897633"/>
                            <a:ext cx="1504950" cy="14954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" name="矩形 1"/>
              <p:cNvSpPr/>
              <p:nvPr/>
            </p:nvSpPr>
            <p:spPr>
              <a:xfrm>
                <a:off x="143657" y="2389772"/>
                <a:ext cx="2700151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265430" eaLnBrk="1" hangingPunct="1"/>
                <a:r>
                  <a:rPr lang="zh-CN" altLang="en-US" sz="2000" dirty="0">
                    <a:latin typeface="楷体_GB2312" pitchFamily="49" charset="-122"/>
                  </a:rPr>
                  <a:t>（</a:t>
                </a:r>
                <a:r>
                  <a:rPr lang="en-US" altLang="zh-CN" sz="2000" dirty="0">
                    <a:latin typeface="楷体_GB2312" pitchFamily="49" charset="-122"/>
                  </a:rPr>
                  <a:t>a</a:t>
                </a:r>
                <a:r>
                  <a:rPr lang="zh-CN" altLang="en-US" sz="2000" dirty="0">
                    <a:latin typeface="楷体_GB2312" pitchFamily="49" charset="-122"/>
                  </a:rPr>
                  <a:t>）关于原点反射</a:t>
                </a:r>
              </a:p>
            </p:txBody>
          </p:sp>
        </p:grpSp>
        <p:graphicFrame>
          <p:nvGraphicFramePr>
            <p:cNvPr id="21" name="Object 4"/>
            <p:cNvGraphicFramePr>
              <a:graphicFrameLocks noChangeAspect="1"/>
            </p:cNvGraphicFramePr>
            <p:nvPr/>
          </p:nvGraphicFramePr>
          <p:xfrm>
            <a:off x="2627784" y="1181528"/>
            <a:ext cx="1674377" cy="1073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35" r:id="rId9" imgW="1118235" imgH="711200" progId="Equation.3">
                    <p:embed/>
                  </p:oleObj>
                </mc:Choice>
                <mc:Fallback>
                  <p:oleObj r:id="rId9" imgW="1118235" imgH="7112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7784" y="1181528"/>
                          <a:ext cx="1674377" cy="1073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/>
          <p:cNvGrpSpPr/>
          <p:nvPr/>
        </p:nvGrpSpPr>
        <p:grpSpPr>
          <a:xfrm>
            <a:off x="4834243" y="4480106"/>
            <a:ext cx="3852254" cy="1871994"/>
            <a:chOff x="3906197" y="4531695"/>
            <a:chExt cx="3852254" cy="1871994"/>
          </a:xfrm>
        </p:grpSpPr>
        <p:grpSp>
          <p:nvGrpSpPr>
            <p:cNvPr id="5" name="组合 4"/>
            <p:cNvGrpSpPr/>
            <p:nvPr/>
          </p:nvGrpSpPr>
          <p:grpSpPr>
            <a:xfrm>
              <a:off x="3906197" y="4531695"/>
              <a:ext cx="2632772" cy="1871994"/>
              <a:chOff x="3633439" y="1052513"/>
              <a:chExt cx="2632772" cy="1871994"/>
            </a:xfrm>
          </p:grpSpPr>
          <p:graphicFrame>
            <p:nvGraphicFramePr>
              <p:cNvPr id="15367" name="Object 20"/>
              <p:cNvGraphicFramePr>
                <a:graphicFrameLocks noChangeAspect="1"/>
              </p:cNvGraphicFramePr>
              <p:nvPr/>
            </p:nvGraphicFramePr>
            <p:xfrm>
              <a:off x="4140200" y="1052513"/>
              <a:ext cx="1619250" cy="15144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536" r:id="rId11" imgW="4843145" imgH="3352800" progId="Visio.Drawing.11">
                      <p:embed/>
                    </p:oleObj>
                  </mc:Choice>
                  <mc:Fallback>
                    <p:oleObj r:id="rId11" imgW="4843145" imgH="3352800" progId="Visio.Drawing.11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 l="15169" t="5095" r="14735"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40200" y="1052513"/>
                            <a:ext cx="1619250" cy="15144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" name="矩形 2"/>
              <p:cNvSpPr/>
              <p:nvPr/>
            </p:nvSpPr>
            <p:spPr>
              <a:xfrm>
                <a:off x="3633439" y="2524397"/>
                <a:ext cx="263277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indent="265430" algn="ctr" eaLnBrk="1" hangingPunct="1"/>
                <a:r>
                  <a:rPr lang="zh-CN" altLang="en-US" sz="2000" dirty="0">
                    <a:latin typeface="楷体_GB2312" pitchFamily="49" charset="-122"/>
                  </a:rPr>
                  <a:t>（</a:t>
                </a:r>
                <a:r>
                  <a:rPr lang="en-US" altLang="zh-CN" sz="2000" dirty="0">
                    <a:latin typeface="楷体_GB2312" pitchFamily="49" charset="-122"/>
                  </a:rPr>
                  <a:t>b</a:t>
                </a:r>
                <a:r>
                  <a:rPr lang="zh-CN" altLang="en-US" sz="2000" dirty="0">
                    <a:latin typeface="楷体_GB2312" pitchFamily="49" charset="-122"/>
                  </a:rPr>
                  <a:t>）关于</a:t>
                </a:r>
                <a:r>
                  <a:rPr lang="en-US" altLang="zh-CN" sz="2000" dirty="0">
                    <a:latin typeface="楷体_GB2312" pitchFamily="49" charset="-122"/>
                  </a:rPr>
                  <a:t>x</a:t>
                </a:r>
                <a:r>
                  <a:rPr lang="zh-CN" altLang="en-US" sz="2000" dirty="0">
                    <a:latin typeface="楷体_GB2312" pitchFamily="49" charset="-122"/>
                  </a:rPr>
                  <a:t>轴反射 </a:t>
                </a:r>
              </a:p>
            </p:txBody>
          </p:sp>
        </p:grpSp>
        <p:graphicFrame>
          <p:nvGraphicFramePr>
            <p:cNvPr id="23" name="Object 8"/>
            <p:cNvGraphicFramePr>
              <a:graphicFrameLocks noChangeAspect="1"/>
            </p:cNvGraphicFramePr>
            <p:nvPr/>
          </p:nvGraphicFramePr>
          <p:xfrm>
            <a:off x="6186983" y="4832588"/>
            <a:ext cx="1571468" cy="10914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37" r:id="rId13" imgW="1028700" imgH="711200" progId="Equation.3">
                    <p:embed/>
                  </p:oleObj>
                </mc:Choice>
                <mc:Fallback>
                  <p:oleObj r:id="rId13" imgW="1028700" imgH="7112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6983" y="4832588"/>
                          <a:ext cx="1571468" cy="10914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251520" y="4457019"/>
            <a:ext cx="3648365" cy="1905060"/>
            <a:chOff x="5508104" y="929655"/>
            <a:chExt cx="3648365" cy="1905060"/>
          </a:xfrm>
        </p:grpSpPr>
        <p:grpSp>
          <p:nvGrpSpPr>
            <p:cNvPr id="6" name="组合 5"/>
            <p:cNvGrpSpPr/>
            <p:nvPr/>
          </p:nvGrpSpPr>
          <p:grpSpPr>
            <a:xfrm>
              <a:off x="5508104" y="929655"/>
              <a:ext cx="2504532" cy="1905060"/>
              <a:chOff x="6053709" y="979488"/>
              <a:chExt cx="2504532" cy="1905060"/>
            </a:xfrm>
          </p:grpSpPr>
          <p:graphicFrame>
            <p:nvGraphicFramePr>
              <p:cNvPr id="15368" name="Object 19"/>
              <p:cNvGraphicFramePr>
                <a:graphicFrameLocks noChangeAspect="1"/>
              </p:cNvGraphicFramePr>
              <p:nvPr/>
            </p:nvGraphicFramePr>
            <p:xfrm>
              <a:off x="6732588" y="979488"/>
              <a:ext cx="1409700" cy="15049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538" r:id="rId15" imgW="3792855" imgH="3691255" progId="Visio.Drawing.11">
                      <p:embed/>
                    </p:oleObj>
                  </mc:Choice>
                  <mc:Fallback>
                    <p:oleObj r:id="rId15" imgW="3792855" imgH="3691255" progId="Visio.Drawing.11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 l="1529" t="2803" r="16418" b="6401"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732588" y="979488"/>
                            <a:ext cx="1409700" cy="15049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369" name="Rectangle 30"/>
              <p:cNvSpPr>
                <a:spLocks noChangeArrowheads="1"/>
              </p:cNvSpPr>
              <p:nvPr/>
            </p:nvSpPr>
            <p:spPr bwMode="auto">
              <a:xfrm>
                <a:off x="6053709" y="2484438"/>
                <a:ext cx="250453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indent="26543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 sz="2000" dirty="0" smtClean="0">
                    <a:latin typeface="楷体_GB2312" pitchFamily="49" charset="-122"/>
                  </a:rPr>
                  <a:t>（</a:t>
                </a:r>
                <a:r>
                  <a:rPr lang="en-US" altLang="zh-CN" sz="2000" dirty="0">
                    <a:latin typeface="楷体_GB2312" pitchFamily="49" charset="-122"/>
                  </a:rPr>
                  <a:t>c</a:t>
                </a:r>
                <a:r>
                  <a:rPr lang="zh-CN" altLang="en-US" sz="2000" dirty="0">
                    <a:latin typeface="楷体_GB2312" pitchFamily="49" charset="-122"/>
                  </a:rPr>
                  <a:t>）关于</a:t>
                </a:r>
                <a:r>
                  <a:rPr lang="en-US" altLang="zh-CN" sz="2000" dirty="0">
                    <a:latin typeface="楷体_GB2312" pitchFamily="49" charset="-122"/>
                  </a:rPr>
                  <a:t>y</a:t>
                </a:r>
                <a:r>
                  <a:rPr lang="zh-CN" altLang="en-US" sz="2000" dirty="0">
                    <a:latin typeface="楷体_GB2312" pitchFamily="49" charset="-122"/>
                  </a:rPr>
                  <a:t>轴</a:t>
                </a:r>
                <a:r>
                  <a:rPr lang="zh-CN" altLang="en-US" sz="2000" dirty="0" smtClean="0">
                    <a:latin typeface="楷体_GB2312" pitchFamily="49" charset="-122"/>
                  </a:rPr>
                  <a:t>反射</a:t>
                </a:r>
                <a:endParaRPr lang="zh-CN" altLang="en-US" sz="2000" dirty="0">
                  <a:latin typeface="楷体_GB2312" pitchFamily="49" charset="-122"/>
                </a:endParaRPr>
              </a:p>
            </p:txBody>
          </p:sp>
        </p:grpSp>
        <p:graphicFrame>
          <p:nvGraphicFramePr>
            <p:cNvPr id="25" name="Object 12"/>
            <p:cNvGraphicFramePr>
              <a:graphicFrameLocks noChangeAspect="1"/>
            </p:cNvGraphicFramePr>
            <p:nvPr/>
          </p:nvGraphicFramePr>
          <p:xfrm>
            <a:off x="7658797" y="1162774"/>
            <a:ext cx="1497672" cy="1040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39" r:id="rId17" imgW="1028700" imgH="711200" progId="Equation.3">
                    <p:embed/>
                  </p:oleObj>
                </mc:Choice>
                <mc:Fallback>
                  <p:oleObj r:id="rId17" imgW="1028700" imgH="7112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58797" y="1162774"/>
                          <a:ext cx="1497672" cy="10404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5"/>
          <p:cNvSpPr>
            <a:spLocks noChangeArrowheads="1"/>
          </p:cNvSpPr>
          <p:nvPr/>
        </p:nvSpPr>
        <p:spPr bwMode="auto">
          <a:xfrm>
            <a:off x="1331913" y="333375"/>
            <a:ext cx="3960812" cy="579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5.2.5 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错切变换矩阵</a:t>
            </a:r>
            <a:r>
              <a:rPr lang="zh-CN" altLang="en-US"/>
              <a:t>  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  </a:t>
            </a:r>
          </a:p>
        </p:txBody>
      </p:sp>
      <p:graphicFrame>
        <p:nvGraphicFramePr>
          <p:cNvPr id="17417" name="Object 44"/>
          <p:cNvGraphicFramePr>
            <a:graphicFrameLocks noChangeAspect="1"/>
          </p:cNvGraphicFramePr>
          <p:nvPr/>
        </p:nvGraphicFramePr>
        <p:xfrm>
          <a:off x="1776413" y="1125538"/>
          <a:ext cx="1858962" cy="187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4" r:id="rId3" imgW="4007485" imgH="3488055" progId="Visio.Drawing.11">
                  <p:embed/>
                </p:oleObj>
              </mc:Choice>
              <mc:Fallback>
                <p:oleObj r:id="rId3" imgW="4007485" imgH="3488055" progId="Visio.Drawing.11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13496"/>
                      <a:stretch>
                        <a:fillRect/>
                      </a:stretch>
                    </p:blipFill>
                    <p:spPr bwMode="auto">
                      <a:xfrm>
                        <a:off x="1776413" y="1125538"/>
                        <a:ext cx="1858962" cy="187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Object 43"/>
          <p:cNvGraphicFramePr>
            <a:graphicFrameLocks noChangeAspect="1"/>
          </p:cNvGraphicFramePr>
          <p:nvPr/>
        </p:nvGraphicFramePr>
        <p:xfrm>
          <a:off x="4268788" y="1125538"/>
          <a:ext cx="1814512" cy="187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5" r:id="rId5" imgW="4007485" imgH="3488055" progId="Visio.Drawing.11">
                  <p:embed/>
                </p:oleObj>
              </mc:Choice>
              <mc:Fallback>
                <p:oleObj r:id="rId5" imgW="4007485" imgH="3488055" progId="Visio.Drawing.11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15721"/>
                      <a:stretch>
                        <a:fillRect/>
                      </a:stretch>
                    </p:blipFill>
                    <p:spPr bwMode="auto">
                      <a:xfrm>
                        <a:off x="4268788" y="1125538"/>
                        <a:ext cx="1814512" cy="187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42"/>
          <p:cNvGraphicFramePr>
            <a:graphicFrameLocks noChangeAspect="1"/>
          </p:cNvGraphicFramePr>
          <p:nvPr/>
        </p:nvGraphicFramePr>
        <p:xfrm>
          <a:off x="6624638" y="1052513"/>
          <a:ext cx="1908175" cy="194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6" r:id="rId7" imgW="4007485" imgH="3488055" progId="Visio.Drawing.11">
                  <p:embed/>
                </p:oleObj>
              </mc:Choice>
              <mc:Fallback>
                <p:oleObj r:id="rId7" imgW="4007485" imgH="3488055" progId="Visio.Drawing.11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14690"/>
                      <a:stretch>
                        <a:fillRect/>
                      </a:stretch>
                    </p:blipFill>
                    <p:spPr bwMode="auto">
                      <a:xfrm>
                        <a:off x="6624638" y="1052513"/>
                        <a:ext cx="1908175" cy="194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0" name="Object 26"/>
          <p:cNvGraphicFramePr>
            <a:graphicFrameLocks noChangeAspect="1"/>
          </p:cNvGraphicFramePr>
          <p:nvPr/>
        </p:nvGraphicFramePr>
        <p:xfrm>
          <a:off x="1835150" y="3781425"/>
          <a:ext cx="1743075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7" r:id="rId9" imgW="4007485" imgH="3488055" progId="Visio.Drawing.11">
                  <p:embed/>
                </p:oleObj>
              </mc:Choice>
              <mc:Fallback>
                <p:oleObj r:id="rId9" imgW="4007485" imgH="3488055" progId="Visio.Drawing.11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15800"/>
                      <a:stretch>
                        <a:fillRect/>
                      </a:stretch>
                    </p:blipFill>
                    <p:spPr bwMode="auto">
                      <a:xfrm>
                        <a:off x="1835150" y="3781425"/>
                        <a:ext cx="1743075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1" name="Object 25"/>
          <p:cNvGraphicFramePr>
            <a:graphicFrameLocks noChangeAspect="1"/>
          </p:cNvGraphicFramePr>
          <p:nvPr/>
        </p:nvGraphicFramePr>
        <p:xfrm>
          <a:off x="4283075" y="3781425"/>
          <a:ext cx="1835150" cy="187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8" r:id="rId11" imgW="4007485" imgH="3488055" progId="Visio.Drawing.11">
                  <p:embed/>
                </p:oleObj>
              </mc:Choice>
              <mc:Fallback>
                <p:oleObj r:id="rId11" imgW="4007485" imgH="3488055" progId="Visio.Drawing.11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14690"/>
                      <a:stretch>
                        <a:fillRect/>
                      </a:stretch>
                    </p:blipFill>
                    <p:spPr bwMode="auto">
                      <a:xfrm>
                        <a:off x="4283075" y="3781425"/>
                        <a:ext cx="1835150" cy="187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2" name="Object 24"/>
          <p:cNvGraphicFramePr>
            <a:graphicFrameLocks noChangeAspect="1"/>
          </p:cNvGraphicFramePr>
          <p:nvPr/>
        </p:nvGraphicFramePr>
        <p:xfrm>
          <a:off x="6659563" y="3781425"/>
          <a:ext cx="1873250" cy="181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9" r:id="rId13" imgW="4007485" imgH="3488055" progId="Visio.Drawing.11">
                  <p:embed/>
                </p:oleObj>
              </mc:Choice>
              <mc:Fallback>
                <p:oleObj r:id="rId13" imgW="4007485" imgH="3488055" progId="Visio.Drawing.11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562" t="4591" r="14690" b="2879"/>
                      <a:stretch>
                        <a:fillRect/>
                      </a:stretch>
                    </p:blipFill>
                    <p:spPr bwMode="auto">
                      <a:xfrm>
                        <a:off x="6659563" y="3781425"/>
                        <a:ext cx="1873250" cy="181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4" name="Rectangle 63"/>
          <p:cNvSpPr>
            <a:spLocks noChangeArrowheads="1"/>
          </p:cNvSpPr>
          <p:nvPr/>
        </p:nvSpPr>
        <p:spPr bwMode="auto">
          <a:xfrm>
            <a:off x="1401763" y="3103563"/>
            <a:ext cx="7562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2667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dirty="0">
                <a:latin typeface="楷体_GB2312" pitchFamily="49" charset="-122"/>
              </a:rPr>
              <a:t>（</a:t>
            </a:r>
            <a:r>
              <a:rPr lang="en-US" altLang="zh-CN" sz="2000" dirty="0">
                <a:latin typeface="楷体_GB2312" pitchFamily="49" charset="-122"/>
              </a:rPr>
              <a:t>a</a:t>
            </a:r>
            <a:r>
              <a:rPr lang="zh-CN" altLang="en-US" sz="2000" dirty="0">
                <a:latin typeface="楷体_GB2312" pitchFamily="49" charset="-122"/>
              </a:rPr>
              <a:t>）正方形        （</a:t>
            </a:r>
            <a:r>
              <a:rPr lang="en-US" altLang="zh-CN" sz="2000" dirty="0">
                <a:latin typeface="楷体_GB2312" pitchFamily="49" charset="-122"/>
              </a:rPr>
              <a:t>b</a:t>
            </a:r>
            <a:r>
              <a:rPr lang="zh-CN" altLang="en-US" sz="2000" dirty="0">
                <a:latin typeface="楷体_GB2312" pitchFamily="49" charset="-122"/>
              </a:rPr>
              <a:t>）沿</a:t>
            </a:r>
            <a:r>
              <a:rPr lang="en-US" altLang="zh-CN" sz="2000" dirty="0">
                <a:latin typeface="楷体_GB2312" pitchFamily="49" charset="-122"/>
              </a:rPr>
              <a:t>x</a:t>
            </a:r>
            <a:r>
              <a:rPr lang="zh-CN" altLang="en-US" sz="2000" dirty="0">
                <a:latin typeface="楷体_GB2312" pitchFamily="49" charset="-122"/>
              </a:rPr>
              <a:t>正向错切     （</a:t>
            </a:r>
            <a:r>
              <a:rPr lang="en-US" altLang="zh-CN" sz="2000" dirty="0">
                <a:latin typeface="楷体_GB2312" pitchFamily="49" charset="-122"/>
              </a:rPr>
              <a:t>c</a:t>
            </a:r>
            <a:r>
              <a:rPr lang="zh-CN" altLang="en-US" sz="2000" dirty="0">
                <a:latin typeface="楷体_GB2312" pitchFamily="49" charset="-122"/>
              </a:rPr>
              <a:t>）沿</a:t>
            </a:r>
            <a:r>
              <a:rPr lang="en-US" altLang="zh-CN" sz="2000" dirty="0">
                <a:latin typeface="楷体_GB2312" pitchFamily="49" charset="-122"/>
              </a:rPr>
              <a:t>x</a:t>
            </a:r>
            <a:r>
              <a:rPr lang="zh-CN" altLang="en-US" sz="2000" dirty="0">
                <a:latin typeface="楷体_GB2312" pitchFamily="49" charset="-122"/>
              </a:rPr>
              <a:t>负向错切</a:t>
            </a:r>
            <a:endParaRPr lang="zh-CN" altLang="en-US" sz="2000" dirty="0"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427" name="Rectangle 67"/>
          <p:cNvSpPr>
            <a:spLocks noChangeArrowheads="1"/>
          </p:cNvSpPr>
          <p:nvPr/>
        </p:nvSpPr>
        <p:spPr bwMode="auto">
          <a:xfrm>
            <a:off x="1308100" y="5949950"/>
            <a:ext cx="7296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000">
                <a:latin typeface="楷体_GB2312" pitchFamily="49" charset="-122"/>
              </a:rPr>
              <a:t>（</a:t>
            </a:r>
            <a:r>
              <a:rPr lang="en-US" altLang="zh-CN" sz="2000">
                <a:latin typeface="楷体_GB2312" pitchFamily="49" charset="-122"/>
              </a:rPr>
              <a:t>d</a:t>
            </a:r>
            <a:r>
              <a:rPr lang="zh-CN" altLang="en-US" sz="2000">
                <a:latin typeface="楷体_GB2312" pitchFamily="49" charset="-122"/>
              </a:rPr>
              <a:t>）沿</a:t>
            </a:r>
            <a:r>
              <a:rPr lang="en-US" altLang="zh-CN" sz="2000">
                <a:latin typeface="楷体_GB2312" pitchFamily="49" charset="-122"/>
              </a:rPr>
              <a:t>y</a:t>
            </a:r>
            <a:r>
              <a:rPr lang="zh-CN" altLang="en-US" sz="2000">
                <a:latin typeface="楷体_GB2312" pitchFamily="49" charset="-122"/>
              </a:rPr>
              <a:t>正向错切 （</a:t>
            </a:r>
            <a:r>
              <a:rPr lang="en-US" altLang="zh-CN" sz="2000">
                <a:latin typeface="楷体_GB2312" pitchFamily="49" charset="-122"/>
              </a:rPr>
              <a:t>e</a:t>
            </a:r>
            <a:r>
              <a:rPr lang="zh-CN" altLang="en-US" sz="2000">
                <a:latin typeface="楷体_GB2312" pitchFamily="49" charset="-122"/>
              </a:rPr>
              <a:t>）沿</a:t>
            </a:r>
            <a:r>
              <a:rPr lang="en-US" altLang="zh-CN" sz="2000">
                <a:latin typeface="楷体_GB2312" pitchFamily="49" charset="-122"/>
              </a:rPr>
              <a:t>y</a:t>
            </a:r>
            <a:r>
              <a:rPr lang="zh-CN" altLang="en-US" sz="2000">
                <a:latin typeface="楷体_GB2312" pitchFamily="49" charset="-122"/>
              </a:rPr>
              <a:t>负向错切    （</a:t>
            </a:r>
            <a:r>
              <a:rPr lang="en-US" altLang="zh-CN" sz="2000">
                <a:latin typeface="楷体_GB2312" pitchFamily="49" charset="-122"/>
              </a:rPr>
              <a:t>f</a:t>
            </a:r>
            <a:r>
              <a:rPr lang="zh-CN" altLang="en-US" sz="2000">
                <a:latin typeface="楷体_GB2312" pitchFamily="49" charset="-122"/>
              </a:rPr>
              <a:t>）沿</a:t>
            </a:r>
            <a:r>
              <a:rPr lang="en-US" altLang="zh-CN" sz="2000">
                <a:latin typeface="楷体_GB2312" pitchFamily="49" charset="-122"/>
              </a:rPr>
              <a:t>x</a:t>
            </a:r>
            <a:r>
              <a:rPr lang="zh-CN" altLang="en-US" sz="2000">
                <a:latin typeface="楷体_GB2312" pitchFamily="49" charset="-122"/>
              </a:rPr>
              <a:t>和</a:t>
            </a:r>
            <a:r>
              <a:rPr lang="en-US" altLang="zh-CN" sz="2000">
                <a:latin typeface="楷体_GB2312" pitchFamily="49" charset="-122"/>
              </a:rPr>
              <a:t>y</a:t>
            </a:r>
            <a:r>
              <a:rPr lang="zh-CN" altLang="en-US" sz="2000">
                <a:latin typeface="楷体_GB2312" pitchFamily="49" charset="-122"/>
              </a:rPr>
              <a:t>正向错切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000">
                <a:latin typeface="楷体_GB2312" pitchFamily="49" charset="-122"/>
              </a:rPr>
              <a:t>错切变换</a:t>
            </a:r>
            <a:endParaRPr lang="zh-CN" altLang="en-US" sz="2000">
              <a:latin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4786819" y="263566"/>
          <a:ext cx="1545167" cy="939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7" r:id="rId3" imgW="749935" imgH="457200" progId="Equation.3">
                  <p:embed/>
                </p:oleObj>
              </mc:Choice>
              <mc:Fallback>
                <p:oleObj r:id="rId3" imgW="749935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819" y="263566"/>
                        <a:ext cx="1545167" cy="9396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467544" y="1342014"/>
          <a:ext cx="6013450" cy="125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8" r:id="rId5" imgW="3429000" imgH="711200" progId="Equation.3">
                  <p:embed/>
                </p:oleObj>
              </mc:Choice>
              <mc:Fallback>
                <p:oleObj r:id="rId5" imgW="3429000" imgH="711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1342014"/>
                        <a:ext cx="6013450" cy="1252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4"/>
          <p:cNvGraphicFramePr>
            <a:graphicFrameLocks noChangeAspect="1"/>
          </p:cNvGraphicFramePr>
          <p:nvPr/>
        </p:nvGraphicFramePr>
        <p:xfrm>
          <a:off x="6012160" y="2406947"/>
          <a:ext cx="1584176" cy="1200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9" r:id="rId7" imgW="939800" imgH="711200" progId="Equation.3">
                  <p:embed/>
                </p:oleObj>
              </mc:Choice>
              <mc:Fallback>
                <p:oleObj r:id="rId7" imgW="939800" imgH="71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2160" y="2406947"/>
                        <a:ext cx="1584176" cy="12002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Rectangle 7"/>
          <p:cNvSpPr>
            <a:spLocks noChangeArrowheads="1"/>
          </p:cNvSpPr>
          <p:nvPr/>
        </p:nvSpPr>
        <p:spPr bwMode="auto">
          <a:xfrm>
            <a:off x="467544" y="529401"/>
            <a:ext cx="4293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dirty="0">
                <a:latin typeface="楷体_GB2312" pitchFamily="49" charset="-122"/>
              </a:rPr>
              <a:t>沿</a:t>
            </a:r>
            <a:r>
              <a:rPr lang="en-US" altLang="zh-CN" sz="2000" dirty="0">
                <a:latin typeface="楷体_GB2312" pitchFamily="49" charset="-122"/>
              </a:rPr>
              <a:t>x</a:t>
            </a:r>
            <a:r>
              <a:rPr lang="zh-CN" altLang="en-US" sz="2000" dirty="0">
                <a:latin typeface="楷体_GB2312" pitchFamily="49" charset="-122"/>
              </a:rPr>
              <a:t>，</a:t>
            </a:r>
            <a:r>
              <a:rPr lang="en-US" altLang="zh-CN" sz="2000" dirty="0">
                <a:latin typeface="楷体_GB2312" pitchFamily="49" charset="-122"/>
              </a:rPr>
              <a:t>y</a:t>
            </a:r>
            <a:r>
              <a:rPr lang="zh-CN" altLang="en-US" sz="2000" dirty="0">
                <a:latin typeface="楷体_GB2312" pitchFamily="49" charset="-122"/>
              </a:rPr>
              <a:t>方向的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错切变</a:t>
            </a:r>
            <a:r>
              <a:rPr lang="zh-CN" altLang="en-US" sz="2000" dirty="0">
                <a:latin typeface="楷体_GB2312" pitchFamily="49" charset="-122"/>
              </a:rPr>
              <a:t>换的坐标表示为</a:t>
            </a:r>
            <a:endParaRPr lang="zh-CN" altLang="en-US" sz="2000" dirty="0"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441" name="Rectangle 11"/>
          <p:cNvSpPr>
            <a:spLocks noChangeArrowheads="1"/>
          </p:cNvSpPr>
          <p:nvPr/>
        </p:nvSpPr>
        <p:spPr bwMode="auto">
          <a:xfrm>
            <a:off x="467544" y="1233962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dirty="0"/>
              <a:t>相应的齐次坐标矩阵表示为</a:t>
            </a:r>
          </a:p>
        </p:txBody>
      </p:sp>
      <p:sp>
        <p:nvSpPr>
          <p:cNvPr id="18442" name="Rectangle 12"/>
          <p:cNvSpPr>
            <a:spLocks noChangeArrowheads="1"/>
          </p:cNvSpPr>
          <p:nvPr/>
        </p:nvSpPr>
        <p:spPr bwMode="auto">
          <a:xfrm>
            <a:off x="440164" y="2784871"/>
            <a:ext cx="531267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dirty="0"/>
              <a:t>因此，沿</a:t>
            </a:r>
            <a:r>
              <a:rPr lang="en-US" altLang="zh-CN" sz="2000" dirty="0"/>
              <a:t>x</a:t>
            </a:r>
            <a:r>
              <a:rPr lang="zh-CN" altLang="en-US" sz="2000" dirty="0"/>
              <a:t>，</a:t>
            </a:r>
            <a:r>
              <a:rPr lang="en-US" altLang="zh-CN" sz="2000" dirty="0"/>
              <a:t>y</a:t>
            </a:r>
            <a:r>
              <a:rPr lang="zh-CN" altLang="en-US" sz="2000" dirty="0"/>
              <a:t>两个方向的二维</a:t>
            </a:r>
            <a:r>
              <a:rPr lang="zh-CN" altLang="en-US" sz="20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错切变换矩阵</a:t>
            </a:r>
            <a:r>
              <a:rPr lang="zh-CN" altLang="en-US" sz="2000" dirty="0"/>
              <a:t>为</a:t>
            </a:r>
          </a:p>
        </p:txBody>
      </p:sp>
      <p:sp>
        <p:nvSpPr>
          <p:cNvPr id="18443" name="Rectangle 13"/>
          <p:cNvSpPr>
            <a:spLocks noChangeArrowheads="1"/>
          </p:cNvSpPr>
          <p:nvPr/>
        </p:nvSpPr>
        <p:spPr bwMode="auto">
          <a:xfrm>
            <a:off x="434971" y="3254520"/>
            <a:ext cx="2505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dirty="0"/>
              <a:t>其中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为错切参数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3"/>
              <p:cNvSpPr txBox="1">
                <a:spLocks noChangeArrowheads="1"/>
              </p:cNvSpPr>
              <p:nvPr/>
            </p:nvSpPr>
            <p:spPr bwMode="auto">
              <a:xfrm>
                <a:off x="434971" y="3654630"/>
                <a:ext cx="8641085" cy="2448297"/>
              </a:xfrm>
              <a:prstGeom prst="rect">
                <a:avLst/>
              </a:prstGeom>
              <a:ln>
                <a:miter lim="800000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6600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rgbClr val="A5002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6600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rgbClr val="A5002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6600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rgbClr val="A5002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6600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rgbClr val="A5002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6600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rgbClr val="A50021"/>
                    </a:solidFill>
                    <a:latin typeface="+mn-lt"/>
                    <a:ea typeface="+mn-ea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6600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rgbClr val="A50021"/>
                    </a:solidFill>
                    <a:latin typeface="+mn-lt"/>
                    <a:ea typeface="+mn-ea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6600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rgbClr val="A50021"/>
                    </a:solidFill>
                    <a:latin typeface="+mn-lt"/>
                    <a:ea typeface="+mn-ea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6600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rgbClr val="A50021"/>
                    </a:solidFill>
                    <a:latin typeface="+mn-lt"/>
                    <a:ea typeface="+mn-ea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6600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rgbClr val="A5002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eaLnBrk="1" hangingPunct="1">
                  <a:lnSpc>
                    <a:spcPct val="140000"/>
                  </a:lnSpc>
                  <a:buFont typeface="Wingdings" panose="05000000000000000000" pitchFamily="2" charset="2"/>
                  <a:buNone/>
                  <a:defRPr/>
                </a:pPr>
                <a:r>
                  <a:rPr lang="zh-CN" altLang="en-US" sz="2000" kern="0" dirty="0" smtClean="0">
                    <a:latin typeface="Arial" panose="020B0604020202020204" pitchFamily="34" charset="0"/>
                  </a:rPr>
                  <a:t>子矩阵</a:t>
                </a:r>
                <a14:m>
                  <m:oMath xmlns:m="http://schemas.openxmlformats.org/officeDocument/2006/math">
                    <m:r>
                      <a:rPr lang="en-US" altLang="zh-CN" sz="2000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lang="en-US" altLang="zh-CN" sz="2000" b="1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𝑻</m:t>
                    </m:r>
                    <m:r>
                      <a:rPr lang="en-US" altLang="zh-CN" sz="2000" b="1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1" i="1" kern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b="1" i="1" kern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b="1" i="1" kern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𝒂</m:t>
                              </m:r>
                            </m:e>
                            <m:e>
                              <m:r>
                                <a:rPr lang="en-US" altLang="zh-CN" sz="2000" b="1" i="1" kern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𝒃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1" i="1" kern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𝒄</m:t>
                              </m:r>
                            </m:e>
                            <m:e>
                              <m:r>
                                <a:rPr lang="en-US" altLang="zh-CN" sz="2000" b="1" i="1" kern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𝒅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000" kern="0" dirty="0"/>
                  <a:t>的</a:t>
                </a:r>
                <a:r>
                  <a:rPr lang="zh-CN" altLang="en-US" sz="2000" b="1" kern="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非</a:t>
                </a:r>
                <a:r>
                  <a:rPr lang="zh-CN" altLang="en-US" sz="2000" b="1" kern="0" dirty="0" smtClean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对角线</a:t>
                </a:r>
                <a:r>
                  <a:rPr lang="zh-CN" altLang="en-US" sz="2000" kern="0" dirty="0" smtClean="0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rPr>
                  <a:t>元素大多为零，</a:t>
                </a:r>
                <a:r>
                  <a:rPr lang="zh-CN" altLang="en-US" sz="2000" kern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如果</a:t>
                </a:r>
                <a:r>
                  <a:rPr lang="en-US" altLang="zh-CN" sz="2000" kern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c</a:t>
                </a:r>
                <a:r>
                  <a:rPr lang="zh-CN" altLang="en-US" sz="2000" kern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和</a:t>
                </a:r>
                <a:r>
                  <a:rPr lang="en-US" altLang="zh-CN" sz="2000" kern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b</a:t>
                </a:r>
                <a:r>
                  <a:rPr lang="zh-CN" altLang="en-US" sz="2000" kern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不为零，则意味着对图形进行错切变换。</a:t>
                </a:r>
              </a:p>
              <a:p>
                <a:pPr eaLnBrk="1" hangingPunct="1">
                  <a:lnSpc>
                    <a:spcPct val="140000"/>
                  </a:lnSpc>
                  <a:defRPr/>
                </a:pPr>
                <a:r>
                  <a:rPr lang="zh-CN" altLang="en-US" sz="2000" kern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令</a:t>
                </a:r>
                <a:r>
                  <a:rPr lang="en-US" altLang="zh-CN" sz="2000" b="1" kern="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b</a:t>
                </a:r>
                <a:r>
                  <a:rPr lang="zh-CN" altLang="en-US" sz="2000" b="1" kern="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＝</a:t>
                </a:r>
                <a:r>
                  <a:rPr lang="en-US" altLang="zh-CN" sz="2000" b="1" kern="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r>
                  <a:rPr lang="zh-CN" altLang="en-US" sz="2000" kern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可以得到</a:t>
                </a:r>
                <a:r>
                  <a:rPr lang="zh-CN" altLang="en-US" sz="2000" b="1" kern="0" dirty="0" smtClean="0">
                    <a:solidFill>
                      <a:srgbClr val="0070C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沿</a:t>
                </a:r>
                <a:r>
                  <a:rPr lang="en-US" altLang="zh-CN" sz="2000" b="1" kern="0" dirty="0" smtClean="0">
                    <a:solidFill>
                      <a:srgbClr val="0070C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x</a:t>
                </a:r>
                <a:r>
                  <a:rPr lang="zh-CN" altLang="en-US" sz="2000" b="1" kern="0" dirty="0" smtClean="0">
                    <a:solidFill>
                      <a:srgbClr val="0070C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方向的错切变换</a:t>
                </a:r>
                <a:r>
                  <a:rPr lang="zh-CN" altLang="en-US" sz="2000" kern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，</a:t>
                </a:r>
                <a:r>
                  <a:rPr lang="en-US" altLang="zh-CN" sz="2000" b="1" kern="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c&gt;0</a:t>
                </a:r>
                <a:r>
                  <a:rPr lang="zh-CN" altLang="en-US" sz="2000" kern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是沿</a:t>
                </a:r>
                <a:r>
                  <a:rPr lang="en-US" altLang="zh-CN" sz="2000" kern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x</a:t>
                </a:r>
                <a:r>
                  <a:rPr lang="zh-CN" altLang="en-US" sz="2000" kern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正向的错切变换，</a:t>
                </a:r>
                <a:r>
                  <a:rPr lang="en-US" altLang="zh-CN" sz="2000" b="1" kern="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c&lt;0</a:t>
                </a:r>
                <a:r>
                  <a:rPr lang="zh-CN" altLang="en-US" sz="2000" kern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是沿</a:t>
                </a:r>
                <a:r>
                  <a:rPr lang="en-US" altLang="zh-CN" sz="2000" kern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x</a:t>
                </a:r>
                <a:r>
                  <a:rPr lang="zh-CN" altLang="en-US" sz="2000" kern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负向的错切变换。</a:t>
                </a:r>
              </a:p>
              <a:p>
                <a:pPr eaLnBrk="1" hangingPunct="1">
                  <a:lnSpc>
                    <a:spcPct val="140000"/>
                  </a:lnSpc>
                  <a:defRPr/>
                </a:pPr>
                <a:r>
                  <a:rPr lang="zh-CN" altLang="en-US" sz="2000" kern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令</a:t>
                </a:r>
                <a:r>
                  <a:rPr lang="en-US" altLang="zh-CN" sz="2000" b="1" kern="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c</a:t>
                </a:r>
                <a:r>
                  <a:rPr lang="zh-CN" altLang="en-US" sz="2000" b="1" kern="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＝</a:t>
                </a:r>
                <a:r>
                  <a:rPr lang="en-US" altLang="zh-CN" sz="2000" b="1" kern="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r>
                  <a:rPr lang="zh-CN" altLang="en-US" sz="2000" kern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可以得到沿</a:t>
                </a:r>
                <a:r>
                  <a:rPr lang="en-US" altLang="zh-CN" sz="2000" kern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y</a:t>
                </a:r>
                <a:r>
                  <a:rPr lang="zh-CN" altLang="en-US" sz="2000" kern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方向的错切变换，</a:t>
                </a:r>
                <a:r>
                  <a:rPr lang="en-US" altLang="zh-CN" sz="2000" b="1" kern="0" dirty="0">
                    <a:solidFill>
                      <a:srgbClr val="0070C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b&gt;0</a:t>
                </a:r>
                <a:r>
                  <a:rPr lang="zh-CN" altLang="en-US" sz="2000" kern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是沿</a:t>
                </a:r>
                <a:r>
                  <a:rPr lang="en-US" altLang="zh-CN" sz="2000" kern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y</a:t>
                </a:r>
                <a:r>
                  <a:rPr lang="zh-CN" altLang="en-US" sz="2000" kern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正向的错切变换，</a:t>
                </a:r>
                <a:r>
                  <a:rPr lang="en-US" altLang="zh-CN" sz="2000" b="1" kern="0" dirty="0">
                    <a:solidFill>
                      <a:srgbClr val="0070C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b&lt;0</a:t>
                </a:r>
                <a:r>
                  <a:rPr lang="zh-CN" altLang="en-US" sz="2000" kern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是沿</a:t>
                </a:r>
                <a:r>
                  <a:rPr lang="en-US" altLang="zh-CN" sz="2000" kern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y</a:t>
                </a:r>
                <a:r>
                  <a:rPr lang="zh-CN" altLang="en-US" sz="2000" kern="0" dirty="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楷体_GB2312" pitchFamily="49" charset="-122"/>
                    <a:ea typeface="楷体_GB2312" pitchFamily="49" charset="-122"/>
                  </a:rPr>
                  <a:t>负向的错切变换。</a:t>
                </a:r>
              </a:p>
            </p:txBody>
          </p:sp>
        </mc:Choice>
        <mc:Fallback xmlns="">
          <p:sp>
            <p:nvSpPr>
              <p:cNvPr id="13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971" y="3654630"/>
                <a:ext cx="8641085" cy="2448297"/>
              </a:xfrm>
              <a:prstGeom prst="rect">
                <a:avLst/>
              </a:prstGeom>
              <a:blipFill rotWithShape="1">
                <a:blip r:embed="rId9"/>
                <a:stretch>
                  <a:fillRect l="-7" t="-8" b="-23086"/>
                </a:stretch>
              </a:blipFill>
              <a:ln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ext Box 4"/>
          <p:cNvSpPr txBox="1">
            <a:spLocks noChangeArrowheads="1"/>
          </p:cNvSpPr>
          <p:nvPr/>
        </p:nvSpPr>
        <p:spPr bwMode="auto">
          <a:xfrm>
            <a:off x="251520" y="142875"/>
            <a:ext cx="8713093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Ctr="1">
            <a:spAutoFit/>
          </a:bodyPr>
          <a:lstStyle/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000" dirty="0" smtClean="0">
                <a:latin typeface="楷体_GB2312" pitchFamily="49" charset="-122"/>
              </a:rPr>
              <a:t>上面</a:t>
            </a:r>
            <a:r>
              <a:rPr lang="zh-CN" altLang="en-US" sz="2000" dirty="0">
                <a:latin typeface="楷体_GB2312" pitchFamily="49" charset="-122"/>
              </a:rPr>
              <a:t>讨论的</a:t>
            </a:r>
            <a:r>
              <a:rPr lang="zh-CN" altLang="en-US" sz="20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五种变换给出的都是点变换的公式</a:t>
            </a:r>
            <a:r>
              <a:rPr lang="zh-CN" altLang="en-US" sz="2000" dirty="0">
                <a:latin typeface="楷体_GB2312" pitchFamily="49" charset="-122"/>
              </a:rPr>
              <a:t>，对于线框模型，图形的变换实际上都可以通过</a:t>
            </a:r>
            <a:r>
              <a:rPr lang="zh-CN" altLang="en-US" sz="20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点变换</a:t>
            </a:r>
            <a:r>
              <a:rPr lang="zh-CN" altLang="en-US" sz="2000" dirty="0">
                <a:latin typeface="楷体_GB2312" pitchFamily="49" charset="-122"/>
              </a:rPr>
              <a:t>来完成。例如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直线段的变换可以通过对</a:t>
            </a:r>
            <a:r>
              <a:rPr lang="zh-CN" altLang="en-US" sz="20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两个顶点坐标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进行变换</a:t>
            </a:r>
            <a:r>
              <a:rPr lang="zh-CN" altLang="en-US" sz="2000" dirty="0">
                <a:latin typeface="楷体_GB2312" pitchFamily="49" charset="-122"/>
              </a:rPr>
              <a:t>，连接新顶点得到变换后的新直线段；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多边形的变换可以通过对</a:t>
            </a:r>
            <a:r>
              <a:rPr lang="zh-CN" altLang="en-US" sz="20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每个顶点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进行变换</a:t>
            </a:r>
            <a:r>
              <a:rPr lang="zh-CN" altLang="en-US" sz="2000" dirty="0">
                <a:latin typeface="楷体_GB2312" pitchFamily="49" charset="-122"/>
              </a:rPr>
              <a:t>，连接新顶点得到变换后的</a:t>
            </a:r>
            <a:r>
              <a:rPr lang="zh-CN" altLang="en-US" sz="20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新多边形</a:t>
            </a:r>
            <a:r>
              <a:rPr lang="zh-CN" altLang="en-US" sz="2000" dirty="0">
                <a:latin typeface="楷体_GB2312" pitchFamily="49" charset="-122"/>
              </a:rPr>
              <a:t>。曲线的变换可通过变换控制多边形的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控制点</a:t>
            </a:r>
            <a:r>
              <a:rPr lang="zh-CN" altLang="en-US" sz="2000" dirty="0">
                <a:latin typeface="楷体_GB2312" pitchFamily="49" charset="-122"/>
              </a:rPr>
              <a:t>后，重新绘制曲线来实现。</a:t>
            </a:r>
            <a:r>
              <a:rPr lang="zh-CN" altLang="en-US" sz="2000" dirty="0">
                <a:solidFill>
                  <a:srgbClr val="0000CC"/>
                </a:solidFill>
                <a:latin typeface="楷体_GB2312" pitchFamily="49" charset="-122"/>
              </a:rPr>
              <a:t>       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000" dirty="0" smtClean="0">
                <a:latin typeface="楷体_GB2312" pitchFamily="49" charset="-122"/>
              </a:rPr>
              <a:t>符合</a:t>
            </a:r>
            <a:r>
              <a:rPr lang="zh-CN" altLang="en-US" sz="2000" dirty="0">
                <a:latin typeface="楷体_GB2312" pitchFamily="49" charset="-122"/>
              </a:rPr>
              <a:t>下面形式的坐标变换称为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二维仿射变换</a:t>
            </a:r>
            <a:r>
              <a:rPr lang="zh-CN" altLang="en-US" sz="2000" dirty="0">
                <a:latin typeface="楷体_GB2312" pitchFamily="49" charset="-122"/>
              </a:rPr>
              <a:t>（</a:t>
            </a:r>
            <a:r>
              <a:rPr lang="en-US" altLang="zh-CN" sz="2000" dirty="0">
                <a:latin typeface="楷体_GB2312" pitchFamily="49" charset="-122"/>
              </a:rPr>
              <a:t>Affine Transformation</a:t>
            </a:r>
            <a:r>
              <a:rPr lang="zh-CN" altLang="en-US" sz="2000" dirty="0">
                <a:latin typeface="楷体_GB2312" pitchFamily="49" charset="-122"/>
              </a:rPr>
              <a:t>）。 </a:t>
            </a:r>
          </a:p>
        </p:txBody>
      </p:sp>
      <p:sp>
        <p:nvSpPr>
          <p:cNvPr id="23555" name="Rectangle 8"/>
          <p:cNvSpPr>
            <a:spLocks noChangeArrowheads="1"/>
          </p:cNvSpPr>
          <p:nvPr/>
        </p:nvSpPr>
        <p:spPr bwMode="auto">
          <a:xfrm>
            <a:off x="7164388" y="4005263"/>
            <a:ext cx="14033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（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5-11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）</a:t>
            </a:r>
          </a:p>
        </p:txBody>
      </p:sp>
      <p:sp>
        <p:nvSpPr>
          <p:cNvPr id="20484" name="Rectangle 10"/>
          <p:cNvSpPr>
            <a:spLocks noChangeArrowheads="1"/>
          </p:cNvSpPr>
          <p:nvPr/>
        </p:nvSpPr>
        <p:spPr bwMode="auto">
          <a:xfrm>
            <a:off x="0" y="3062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0485" name="Object 5"/>
          <p:cNvGraphicFramePr>
            <a:graphicFrameLocks noChangeAspect="1"/>
          </p:cNvGraphicFramePr>
          <p:nvPr/>
        </p:nvGraphicFramePr>
        <p:xfrm>
          <a:off x="2339752" y="3217106"/>
          <a:ext cx="4248150" cy="125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0" r:id="rId3" imgW="2489200" imgH="736600" progId="Equation.3">
                  <p:embed/>
                </p:oleObj>
              </mc:Choice>
              <mc:Fallback>
                <p:oleObj r:id="rId3" imgW="2489200" imgH="736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3217106"/>
                        <a:ext cx="4248150" cy="1252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Rectangle 11"/>
          <p:cNvSpPr>
            <a:spLocks noChangeArrowheads="1"/>
          </p:cNvSpPr>
          <p:nvPr/>
        </p:nvSpPr>
        <p:spPr bwMode="auto">
          <a:xfrm>
            <a:off x="322610" y="4770705"/>
            <a:ext cx="849878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仿射变换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具有平行线变换成平行线</a:t>
            </a:r>
            <a:r>
              <a:rPr lang="zh-CN" altLang="en-US" sz="2000" dirty="0"/>
              <a:t>，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有限点映射到有限点的一般特性</a:t>
            </a:r>
            <a:r>
              <a:rPr lang="zh-CN" altLang="en-US" sz="2000" dirty="0"/>
              <a:t>。平移、比例、旋转、反射和错切五种变换都是二维仿射变换的特例，</a:t>
            </a:r>
            <a:r>
              <a:rPr lang="zh-CN" altLang="en-US" sz="20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任何一组二维仿射变换总可表示为</a:t>
            </a:r>
            <a:r>
              <a:rPr lang="zh-CN" altLang="en-US" sz="2000" b="1" dirty="0" smtClean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这 </a:t>
            </a:r>
            <a:r>
              <a:rPr lang="en-US" altLang="zh-CN" sz="2000" b="1" dirty="0" smtClean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5 </a:t>
            </a:r>
            <a:r>
              <a:rPr lang="zh-CN" altLang="en-US" sz="2000" b="1" dirty="0" smtClean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种</a:t>
            </a:r>
            <a:r>
              <a:rPr lang="zh-CN" altLang="en-US" sz="20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变换的组合。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/>
          <p:cNvSpPr>
            <a:spLocks noChangeArrowheads="1"/>
          </p:cNvSpPr>
          <p:nvPr/>
        </p:nvSpPr>
        <p:spPr bwMode="auto">
          <a:xfrm>
            <a:off x="395288" y="203536"/>
            <a:ext cx="4176712" cy="765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5.3 </a:t>
            </a:r>
            <a:r>
              <a:rPr lang="zh-CN" alt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二维复合变换</a:t>
            </a:r>
            <a:r>
              <a:rPr lang="zh-CN" altLang="en-US" sz="3600" b="1" dirty="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4579" name="Rectangle 5"/>
          <p:cNvSpPr>
            <a:spLocks noChangeArrowheads="1"/>
          </p:cNvSpPr>
          <p:nvPr/>
        </p:nvSpPr>
        <p:spPr bwMode="auto">
          <a:xfrm>
            <a:off x="395288" y="1041401"/>
            <a:ext cx="3960812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5.3.1 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复合变换原理</a:t>
            </a:r>
            <a:r>
              <a:rPr lang="zh-CN" altLang="en-US" sz="3200" dirty="0">
                <a:latin typeface="楷体_GB2312" pitchFamily="49" charset="-122"/>
              </a:rPr>
              <a:t>   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  </a:t>
            </a:r>
          </a:p>
        </p:txBody>
      </p:sp>
      <p:sp>
        <p:nvSpPr>
          <p:cNvPr id="21508" name="Rectangle 7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1692275" y="1781175"/>
          <a:ext cx="403225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5" r:id="rId3" imgW="1562735" imgH="228600" progId="Equation.3">
                  <p:embed/>
                </p:oleObj>
              </mc:Choice>
              <mc:Fallback>
                <p:oleObj r:id="rId3" imgW="1562735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781175"/>
                        <a:ext cx="403225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2" name="Rectangle 8"/>
          <p:cNvSpPr>
            <a:spLocks noChangeArrowheads="1"/>
          </p:cNvSpPr>
          <p:nvPr/>
        </p:nvSpPr>
        <p:spPr bwMode="auto">
          <a:xfrm>
            <a:off x="395288" y="3764756"/>
            <a:ext cx="7632700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5.3.2 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相对于任一参考点的二维几何变换      </a:t>
            </a:r>
          </a:p>
        </p:txBody>
      </p:sp>
      <p:sp>
        <p:nvSpPr>
          <p:cNvPr id="22534" name="Rectangle 9"/>
          <p:cNvSpPr>
            <a:spLocks noChangeArrowheads="1"/>
          </p:cNvSpPr>
          <p:nvPr/>
        </p:nvSpPr>
        <p:spPr bwMode="auto">
          <a:xfrm>
            <a:off x="539552" y="4481812"/>
            <a:ext cx="8209161" cy="2190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000" dirty="0" smtClean="0"/>
              <a:t>   </a:t>
            </a:r>
            <a:r>
              <a:rPr lang="zh-CN" altLang="en-US" sz="2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相对于</a:t>
            </a:r>
            <a:r>
              <a:rPr lang="zh-CN" altLang="en-US" sz="20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任一参考点</a:t>
            </a:r>
            <a:r>
              <a:rPr lang="zh-CN" altLang="en-US" sz="2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的比例变换</a:t>
            </a:r>
            <a:r>
              <a:rPr lang="zh-CN" altLang="en-US" sz="2000" dirty="0" smtClean="0"/>
              <a:t>和旋转变换应表达为复合变换形式，变换方法为</a:t>
            </a:r>
            <a:endParaRPr lang="en-US" altLang="zh-CN" sz="2000" b="1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hangingPunct="1">
              <a:lnSpc>
                <a:spcPct val="14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dirty="0" smtClean="0"/>
              <a:t>首先，</a:t>
            </a:r>
            <a:r>
              <a:rPr lang="zh-CN" altLang="en-US" sz="2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将参考点平移到坐标原点</a:t>
            </a:r>
            <a:r>
              <a:rPr lang="zh-CN" altLang="en-US" sz="2000" dirty="0" smtClean="0"/>
              <a:t>，对坐标原点进行比例变换和旋转变换，</a:t>
            </a:r>
            <a:endParaRPr lang="en-US" altLang="zh-CN" sz="2000" dirty="0" smtClean="0"/>
          </a:p>
          <a:p>
            <a:pPr marL="342900" indent="-342900" eaLnBrk="1" hangingPunct="1">
              <a:lnSpc>
                <a:spcPct val="14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然后，再进行反平移将参考点平移回原位置</a:t>
            </a:r>
            <a:r>
              <a:rPr lang="zh-CN" altLang="en-US" sz="2000" dirty="0" smtClean="0"/>
              <a:t>。</a:t>
            </a:r>
          </a:p>
        </p:txBody>
      </p:sp>
      <p:graphicFrame>
        <p:nvGraphicFramePr>
          <p:cNvPr id="21512" name="Object 8"/>
          <p:cNvGraphicFramePr>
            <a:graphicFrameLocks noChangeAspect="1"/>
          </p:cNvGraphicFramePr>
          <p:nvPr/>
        </p:nvGraphicFramePr>
        <p:xfrm>
          <a:off x="1547813" y="3236913"/>
          <a:ext cx="2160587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6" r:id="rId5" imgW="661035" imgH="228600" progId="Equation.DSMT4">
                  <p:embed/>
                </p:oleObj>
              </mc:Choice>
              <mc:Fallback>
                <p:oleObj r:id="rId5" imgW="661035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236913"/>
                        <a:ext cx="2160587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3" name="Rectangle 11"/>
          <p:cNvSpPr>
            <a:spLocks noChangeArrowheads="1"/>
          </p:cNvSpPr>
          <p:nvPr/>
        </p:nvSpPr>
        <p:spPr bwMode="auto">
          <a:xfrm>
            <a:off x="1403350" y="2552700"/>
            <a:ext cx="5868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>
                <a:latin typeface="楷体_GB2312" pitchFamily="49" charset="-122"/>
              </a:rPr>
              <a:t>其中，</a:t>
            </a:r>
            <a:r>
              <a:rPr lang="en-US" altLang="zh-CN">
                <a:latin typeface="楷体_GB2312" pitchFamily="49" charset="-122"/>
              </a:rPr>
              <a:t>T</a:t>
            </a:r>
            <a:r>
              <a:rPr lang="zh-CN" altLang="en-US">
                <a:latin typeface="楷体_GB2312" pitchFamily="49" charset="-122"/>
              </a:rPr>
              <a:t>为</a:t>
            </a:r>
            <a:r>
              <a:rPr lang="zh-CN" altLang="en-US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复合变换矩阵</a:t>
            </a:r>
            <a:r>
              <a:rPr lang="zh-CN" altLang="en-US">
                <a:latin typeface="楷体_GB2312" pitchFamily="49" charset="-122"/>
              </a:rPr>
              <a:t>，</a:t>
            </a:r>
            <a:endParaRPr lang="zh-CN" altLang="en-US"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514" name="Rectangle 12"/>
          <p:cNvSpPr>
            <a:spLocks noChangeArrowheads="1"/>
          </p:cNvSpPr>
          <p:nvPr/>
        </p:nvSpPr>
        <p:spPr bwMode="auto">
          <a:xfrm>
            <a:off x="3635375" y="3210868"/>
            <a:ext cx="34804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>
                <a:latin typeface="楷体_GB2312" pitchFamily="49" charset="-122"/>
              </a:rPr>
              <a:t>为单次</a:t>
            </a:r>
            <a:r>
              <a:rPr lang="zh-CN" altLang="en-US" sz="20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基本几何变换矩阵</a:t>
            </a:r>
            <a:r>
              <a:rPr lang="zh-CN" altLang="en-US" dirty="0">
                <a:latin typeface="楷体_GB2312" pitchFamily="49" charset="-122"/>
              </a:rPr>
              <a:t>。</a:t>
            </a:r>
            <a:endParaRPr lang="zh-CN" altLang="en-US" dirty="0">
              <a:latin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ChangeArrowheads="1"/>
          </p:cNvSpPr>
          <p:nvPr/>
        </p:nvSpPr>
        <p:spPr bwMode="auto">
          <a:xfrm>
            <a:off x="521903" y="312052"/>
            <a:ext cx="810019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>
                <a:latin typeface="楷体_GB2312" pitchFamily="49" charset="-122"/>
              </a:rPr>
              <a:t>    例</a:t>
            </a:r>
            <a:r>
              <a:rPr lang="en-US" altLang="zh-CN" dirty="0">
                <a:latin typeface="楷体_GB2312" pitchFamily="49" charset="-122"/>
              </a:rPr>
              <a:t>5-1</a:t>
            </a:r>
            <a:r>
              <a:rPr lang="zh-CN" altLang="en-US" dirty="0">
                <a:latin typeface="楷体_GB2312" pitchFamily="49" charset="-122"/>
              </a:rPr>
              <a:t>：一个由顶点</a:t>
            </a:r>
            <a:r>
              <a:rPr lang="en-US" altLang="zh-CN" dirty="0">
                <a:latin typeface="楷体_GB2312" pitchFamily="49" charset="-122"/>
              </a:rPr>
              <a:t>P</a:t>
            </a:r>
            <a:r>
              <a:rPr lang="en-US" altLang="zh-CN" baseline="-25000" dirty="0">
                <a:latin typeface="楷体_GB2312" pitchFamily="49" charset="-122"/>
              </a:rPr>
              <a:t>1</a:t>
            </a:r>
            <a:r>
              <a:rPr lang="zh-CN" altLang="en-US" dirty="0">
                <a:latin typeface="楷体_GB2312" pitchFamily="49" charset="-122"/>
              </a:rPr>
              <a:t>（</a:t>
            </a:r>
            <a:r>
              <a:rPr lang="en-US" altLang="zh-CN" dirty="0">
                <a:latin typeface="楷体_GB2312" pitchFamily="49" charset="-122"/>
              </a:rPr>
              <a:t>10</a:t>
            </a:r>
            <a:r>
              <a:rPr lang="zh-CN" altLang="en-US" dirty="0">
                <a:latin typeface="楷体_GB2312" pitchFamily="49" charset="-122"/>
              </a:rPr>
              <a:t>，</a:t>
            </a:r>
            <a:r>
              <a:rPr lang="en-US" altLang="zh-CN" dirty="0">
                <a:latin typeface="楷体_GB2312" pitchFamily="49" charset="-122"/>
              </a:rPr>
              <a:t>10</a:t>
            </a:r>
            <a:r>
              <a:rPr lang="zh-CN" altLang="en-US" dirty="0">
                <a:latin typeface="楷体_GB2312" pitchFamily="49" charset="-122"/>
              </a:rPr>
              <a:t>），</a:t>
            </a:r>
            <a:r>
              <a:rPr lang="en-US" altLang="zh-CN" dirty="0">
                <a:latin typeface="楷体_GB2312" pitchFamily="49" charset="-122"/>
              </a:rPr>
              <a:t>P</a:t>
            </a:r>
            <a:r>
              <a:rPr lang="en-US" altLang="zh-CN" baseline="-25000" dirty="0">
                <a:latin typeface="楷体_GB2312" pitchFamily="49" charset="-122"/>
              </a:rPr>
              <a:t>2</a:t>
            </a:r>
            <a:r>
              <a:rPr lang="zh-CN" altLang="en-US" dirty="0">
                <a:latin typeface="楷体_GB2312" pitchFamily="49" charset="-122"/>
              </a:rPr>
              <a:t>（</a:t>
            </a:r>
            <a:r>
              <a:rPr lang="en-US" altLang="zh-CN" dirty="0">
                <a:latin typeface="楷体_GB2312" pitchFamily="49" charset="-122"/>
              </a:rPr>
              <a:t>30</a:t>
            </a:r>
            <a:r>
              <a:rPr lang="zh-CN" altLang="en-US" dirty="0">
                <a:latin typeface="楷体_GB2312" pitchFamily="49" charset="-122"/>
              </a:rPr>
              <a:t>，</a:t>
            </a:r>
            <a:r>
              <a:rPr lang="en-US" altLang="zh-CN" dirty="0">
                <a:latin typeface="楷体_GB2312" pitchFamily="49" charset="-122"/>
              </a:rPr>
              <a:t>10</a:t>
            </a:r>
            <a:r>
              <a:rPr lang="zh-CN" altLang="en-US" dirty="0">
                <a:latin typeface="楷体_GB2312" pitchFamily="49" charset="-122"/>
              </a:rPr>
              <a:t>）和</a:t>
            </a:r>
            <a:r>
              <a:rPr lang="en-US" altLang="zh-CN" dirty="0">
                <a:latin typeface="楷体_GB2312" pitchFamily="49" charset="-122"/>
              </a:rPr>
              <a:t>P</a:t>
            </a:r>
            <a:r>
              <a:rPr lang="en-US" altLang="zh-CN" baseline="-25000" dirty="0">
                <a:latin typeface="楷体_GB2312" pitchFamily="49" charset="-122"/>
              </a:rPr>
              <a:t>3</a:t>
            </a:r>
            <a:r>
              <a:rPr lang="zh-CN" altLang="en-US" dirty="0">
                <a:latin typeface="楷体_GB2312" pitchFamily="49" charset="-122"/>
              </a:rPr>
              <a:t>（</a:t>
            </a:r>
            <a:r>
              <a:rPr lang="en-US" altLang="zh-CN" dirty="0">
                <a:latin typeface="楷体_GB2312" pitchFamily="49" charset="-122"/>
              </a:rPr>
              <a:t>20</a:t>
            </a:r>
            <a:r>
              <a:rPr lang="zh-CN" altLang="en-US" dirty="0">
                <a:latin typeface="楷体_GB2312" pitchFamily="49" charset="-122"/>
              </a:rPr>
              <a:t>，</a:t>
            </a:r>
            <a:r>
              <a:rPr lang="en-US" altLang="zh-CN" dirty="0">
                <a:latin typeface="楷体_GB2312" pitchFamily="49" charset="-122"/>
              </a:rPr>
              <a:t>25</a:t>
            </a:r>
            <a:r>
              <a:rPr lang="zh-CN" altLang="en-US" dirty="0">
                <a:latin typeface="楷体_GB2312" pitchFamily="49" charset="-122"/>
              </a:rPr>
              <a:t>）所定义的三角形，如图所示，相对于</a:t>
            </a:r>
            <a:r>
              <a:rPr lang="zh-CN" altLang="en-US" dirty="0" smtClean="0">
                <a:latin typeface="楷体_GB2312" pitchFamily="49" charset="-122"/>
              </a:rPr>
              <a:t>点 </a:t>
            </a:r>
            <a:r>
              <a:rPr lang="en-US" altLang="zh-CN" dirty="0" smtClean="0">
                <a:latin typeface="楷体_GB2312" pitchFamily="49" charset="-122"/>
              </a:rPr>
              <a:t>Q</a:t>
            </a:r>
            <a:r>
              <a:rPr lang="zh-CN" altLang="en-US" dirty="0">
                <a:latin typeface="楷体_GB2312" pitchFamily="49" charset="-122"/>
              </a:rPr>
              <a:t>（</a:t>
            </a:r>
            <a:r>
              <a:rPr lang="en-US" altLang="zh-CN" dirty="0">
                <a:latin typeface="楷体_GB2312" pitchFamily="49" charset="-122"/>
              </a:rPr>
              <a:t>10</a:t>
            </a:r>
            <a:r>
              <a:rPr lang="zh-CN" altLang="en-US" dirty="0">
                <a:latin typeface="楷体_GB2312" pitchFamily="49" charset="-122"/>
              </a:rPr>
              <a:t>，</a:t>
            </a:r>
            <a:r>
              <a:rPr lang="en-US" altLang="zh-CN" dirty="0">
                <a:latin typeface="楷体_GB2312" pitchFamily="49" charset="-122"/>
              </a:rPr>
              <a:t>25</a:t>
            </a:r>
            <a:r>
              <a:rPr lang="zh-CN" altLang="en-US" dirty="0">
                <a:latin typeface="楷体_GB2312" pitchFamily="49" charset="-122"/>
              </a:rPr>
              <a:t>）逆时针</a:t>
            </a:r>
            <a:r>
              <a:rPr lang="zh-CN" altLang="en-US" dirty="0" smtClean="0">
                <a:latin typeface="楷体_GB2312" pitchFamily="49" charset="-122"/>
              </a:rPr>
              <a:t>旋转 </a:t>
            </a:r>
            <a:r>
              <a:rPr lang="en-US" altLang="zh-CN" dirty="0" smtClean="0">
                <a:latin typeface="楷体_GB2312" pitchFamily="49" charset="-122"/>
              </a:rPr>
              <a:t>30</a:t>
            </a:r>
            <a:r>
              <a:rPr lang="en-US" altLang="zh-CN" dirty="0">
                <a:latin typeface="楷体_GB2312" pitchFamily="49" charset="-122"/>
              </a:rPr>
              <a:t>°</a:t>
            </a:r>
            <a:r>
              <a:rPr lang="zh-CN" altLang="en-US" dirty="0">
                <a:latin typeface="楷体_GB2312" pitchFamily="49" charset="-122"/>
              </a:rPr>
              <a:t>，求变换后的三角形顶点坐标。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762273" y="1772816"/>
            <a:ext cx="3168650" cy="2801937"/>
            <a:chOff x="1619250" y="2205038"/>
            <a:chExt cx="3168650" cy="2801937"/>
          </a:xfrm>
        </p:grpSpPr>
        <p:graphicFrame>
          <p:nvGraphicFramePr>
            <p:cNvPr id="22531" name="Object 5"/>
            <p:cNvGraphicFramePr>
              <a:graphicFrameLocks noChangeAspect="1"/>
            </p:cNvGraphicFramePr>
            <p:nvPr/>
          </p:nvGraphicFramePr>
          <p:xfrm>
            <a:off x="1619250" y="2205038"/>
            <a:ext cx="3168650" cy="2801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04" r:id="rId3" imgW="5588000" imgH="4549140" progId="Visio.Drawing.11">
                    <p:embed/>
                  </p:oleObj>
                </mc:Choice>
                <mc:Fallback>
                  <p:oleObj r:id="rId3" imgW="5588000" imgH="4549140" progId="Visio.Drawing.11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7985"/>
                        <a:stretch>
                          <a:fillRect/>
                        </a:stretch>
                      </p:blipFill>
                      <p:spPr bwMode="auto">
                        <a:xfrm>
                          <a:off x="1619250" y="2205038"/>
                          <a:ext cx="3168650" cy="28019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32" name="Text Box 6"/>
            <p:cNvSpPr txBox="1">
              <a:spLocks noChangeArrowheads="1"/>
            </p:cNvSpPr>
            <p:nvPr/>
          </p:nvSpPr>
          <p:spPr bwMode="auto">
            <a:xfrm>
              <a:off x="2339975" y="3860800"/>
              <a:ext cx="346075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3950" tIns="26975" rIns="53950" bIns="26975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sz="2000" baseline="-30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33" name="Text Box 7"/>
            <p:cNvSpPr txBox="1">
              <a:spLocks noChangeArrowheads="1"/>
            </p:cNvSpPr>
            <p:nvPr/>
          </p:nvSpPr>
          <p:spPr bwMode="auto">
            <a:xfrm>
              <a:off x="3779838" y="3789363"/>
              <a:ext cx="423862" cy="414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3950" tIns="26975" rIns="53950" bIns="26975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sz="2000" baseline="-30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34" name="Text Box 8"/>
            <p:cNvSpPr txBox="1">
              <a:spLocks noChangeArrowheads="1"/>
            </p:cNvSpPr>
            <p:nvPr/>
          </p:nvSpPr>
          <p:spPr bwMode="auto">
            <a:xfrm>
              <a:off x="3059113" y="2781300"/>
              <a:ext cx="352425" cy="411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3950" tIns="26975" rIns="53950" bIns="26975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sz="2000" baseline="-30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35" name="Text Box 9"/>
            <p:cNvSpPr txBox="1">
              <a:spLocks noChangeArrowheads="1"/>
            </p:cNvSpPr>
            <p:nvPr/>
          </p:nvSpPr>
          <p:spPr bwMode="auto">
            <a:xfrm>
              <a:off x="2555875" y="2708275"/>
              <a:ext cx="287338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3950" tIns="26975" rIns="53950" bIns="26975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2536" name="Rectangle 10"/>
          <p:cNvSpPr>
            <a:spLocks noChangeArrowheads="1"/>
          </p:cNvSpPr>
          <p:nvPr/>
        </p:nvSpPr>
        <p:spPr bwMode="auto">
          <a:xfrm>
            <a:off x="1644923" y="4417379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>
                <a:latin typeface="楷体_GB2312" pitchFamily="49" charset="-122"/>
              </a:rPr>
              <a:t>原始图形</a:t>
            </a:r>
          </a:p>
        </p:txBody>
      </p:sp>
      <p:sp>
        <p:nvSpPr>
          <p:cNvPr id="22537" name="Rectangle 12"/>
          <p:cNvSpPr>
            <a:spLocks noChangeArrowheads="1"/>
          </p:cNvSpPr>
          <p:nvPr/>
        </p:nvSpPr>
        <p:spPr bwMode="auto">
          <a:xfrm>
            <a:off x="0" y="23717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2538" name="Object 11"/>
          <p:cNvGraphicFramePr>
            <a:graphicFrameLocks noChangeAspect="1"/>
          </p:cNvGraphicFramePr>
          <p:nvPr/>
        </p:nvGraphicFramePr>
        <p:xfrm>
          <a:off x="5435600" y="2133600"/>
          <a:ext cx="2592388" cy="255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5" r:id="rId5" imgW="5588000" imgH="5091430" progId="Visio.Drawing.11">
                  <p:embed/>
                </p:oleObj>
              </mc:Choice>
              <mc:Fallback>
                <p:oleObj r:id="rId5" imgW="5588000" imgH="5091430" progId="Visio.Drawing.11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7265"/>
                      <a:stretch>
                        <a:fillRect/>
                      </a:stretch>
                    </p:blipFill>
                    <p:spPr bwMode="auto">
                      <a:xfrm>
                        <a:off x="5435600" y="2133600"/>
                        <a:ext cx="2592388" cy="255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9" name="Rectangle 13"/>
          <p:cNvSpPr>
            <a:spLocks noChangeArrowheads="1"/>
          </p:cNvSpPr>
          <p:nvPr/>
        </p:nvSpPr>
        <p:spPr bwMode="auto">
          <a:xfrm>
            <a:off x="6516688" y="5157788"/>
            <a:ext cx="149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/>
              <a:t>平移变换 </a:t>
            </a:r>
          </a:p>
        </p:txBody>
      </p:sp>
      <p:sp>
        <p:nvSpPr>
          <p:cNvPr id="22540" name="Text Box 14"/>
          <p:cNvSpPr txBox="1">
            <a:spLocks noChangeArrowheads="1"/>
          </p:cNvSpPr>
          <p:nvPr/>
        </p:nvSpPr>
        <p:spPr bwMode="auto">
          <a:xfrm>
            <a:off x="5292725" y="3860800"/>
            <a:ext cx="28733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950" tIns="26975" rIns="53950" bIns="26975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41" name="Text Box 15"/>
          <p:cNvSpPr txBox="1">
            <a:spLocks noChangeArrowheads="1"/>
          </p:cNvSpPr>
          <p:nvPr/>
        </p:nvSpPr>
        <p:spPr bwMode="auto">
          <a:xfrm>
            <a:off x="6084888" y="3357563"/>
            <a:ext cx="3524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950" tIns="26975" rIns="53950" bIns="26975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000" baseline="-30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42" name="Text Box 16"/>
          <p:cNvSpPr txBox="1">
            <a:spLocks noChangeArrowheads="1"/>
          </p:cNvSpPr>
          <p:nvPr/>
        </p:nvSpPr>
        <p:spPr bwMode="auto">
          <a:xfrm>
            <a:off x="7019925" y="4508500"/>
            <a:ext cx="423863" cy="4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950" tIns="26975" rIns="53950" bIns="26975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000" baseline="-30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43" name="Text Box 17"/>
          <p:cNvSpPr txBox="1">
            <a:spLocks noChangeArrowheads="1"/>
          </p:cNvSpPr>
          <p:nvPr/>
        </p:nvSpPr>
        <p:spPr bwMode="auto">
          <a:xfrm>
            <a:off x="5364163" y="4508500"/>
            <a:ext cx="3460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950" tIns="26975" rIns="53950" bIns="26975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000" baseline="-30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2544" name="Object 16"/>
          <p:cNvGraphicFramePr>
            <a:graphicFrameLocks noChangeAspect="1"/>
          </p:cNvGraphicFramePr>
          <p:nvPr/>
        </p:nvGraphicFramePr>
        <p:xfrm>
          <a:off x="3048273" y="5019025"/>
          <a:ext cx="1944687" cy="150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6" r:id="rId7" imgW="1346835" imgH="711200" progId="Equation.3">
                  <p:embed/>
                </p:oleObj>
              </mc:Choice>
              <mc:Fallback>
                <p:oleObj r:id="rId7" imgW="1346835" imgH="7112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273" y="5019025"/>
                        <a:ext cx="1944687" cy="1503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4"/>
          <p:cNvSpPr>
            <a:spLocks noChangeArrowheads="1"/>
          </p:cNvSpPr>
          <p:nvPr/>
        </p:nvSpPr>
        <p:spPr bwMode="auto">
          <a:xfrm>
            <a:off x="0" y="1231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23556" name="Rectangle 30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23557" name="Rectangle 32"/>
          <p:cNvSpPr>
            <a:spLocks noChangeArrowheads="1"/>
          </p:cNvSpPr>
          <p:nvPr/>
        </p:nvSpPr>
        <p:spPr bwMode="auto">
          <a:xfrm>
            <a:off x="0" y="2381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3558" name="Object 31"/>
          <p:cNvGraphicFramePr>
            <a:graphicFrameLocks noChangeAspect="1"/>
          </p:cNvGraphicFramePr>
          <p:nvPr/>
        </p:nvGraphicFramePr>
        <p:xfrm>
          <a:off x="1066075" y="2784839"/>
          <a:ext cx="3025775" cy="309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7" r:id="rId3" imgW="5588000" imgH="4843145" progId="Visio.Drawing.11">
                  <p:embed/>
                </p:oleObj>
              </mc:Choice>
              <mc:Fallback>
                <p:oleObj r:id="rId3" imgW="5588000" imgH="4843145" progId="Visio.Drawing.11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367" r="8955"/>
                      <a:stretch>
                        <a:fillRect/>
                      </a:stretch>
                    </p:blipFill>
                    <p:spPr bwMode="auto">
                      <a:xfrm>
                        <a:off x="1066075" y="2784839"/>
                        <a:ext cx="3025775" cy="309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Text Box 33"/>
          <p:cNvSpPr txBox="1">
            <a:spLocks noChangeArrowheads="1"/>
          </p:cNvSpPr>
          <p:nvPr/>
        </p:nvSpPr>
        <p:spPr bwMode="auto">
          <a:xfrm>
            <a:off x="1066075" y="4873989"/>
            <a:ext cx="28733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950" tIns="26975" rIns="53950" bIns="26975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60" name="Text Box 34"/>
          <p:cNvSpPr txBox="1">
            <a:spLocks noChangeArrowheads="1"/>
          </p:cNvSpPr>
          <p:nvPr/>
        </p:nvSpPr>
        <p:spPr bwMode="auto">
          <a:xfrm>
            <a:off x="1929675" y="4369164"/>
            <a:ext cx="3524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950" tIns="26975" rIns="53950" bIns="26975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000" baseline="-30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61" name="Text Box 35"/>
          <p:cNvSpPr txBox="1">
            <a:spLocks noChangeArrowheads="1"/>
          </p:cNvSpPr>
          <p:nvPr/>
        </p:nvSpPr>
        <p:spPr bwMode="auto">
          <a:xfrm>
            <a:off x="2866300" y="4585064"/>
            <a:ext cx="423863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950" tIns="26975" rIns="53950" bIns="26975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000" baseline="-30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62" name="Text Box 36"/>
          <p:cNvSpPr txBox="1">
            <a:spLocks noChangeArrowheads="1"/>
          </p:cNvSpPr>
          <p:nvPr/>
        </p:nvSpPr>
        <p:spPr bwMode="auto">
          <a:xfrm>
            <a:off x="1713775" y="5882051"/>
            <a:ext cx="3460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950" tIns="26975" rIns="53950" bIns="26975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000" baseline="-30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63" name="Rectangle 38"/>
          <p:cNvSpPr>
            <a:spLocks noChangeArrowheads="1"/>
          </p:cNvSpPr>
          <p:nvPr/>
        </p:nvSpPr>
        <p:spPr bwMode="auto">
          <a:xfrm>
            <a:off x="0" y="2871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23564" name="Rectangle 40"/>
          <p:cNvSpPr>
            <a:spLocks noChangeArrowheads="1"/>
          </p:cNvSpPr>
          <p:nvPr/>
        </p:nvSpPr>
        <p:spPr bwMode="auto">
          <a:xfrm>
            <a:off x="0" y="23383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3565" name="Object 39"/>
          <p:cNvGraphicFramePr>
            <a:graphicFrameLocks noChangeAspect="1"/>
          </p:cNvGraphicFramePr>
          <p:nvPr/>
        </p:nvGraphicFramePr>
        <p:xfrm>
          <a:off x="5292725" y="3068638"/>
          <a:ext cx="3457575" cy="281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8" r:id="rId5" imgW="5588000" imgH="4549140" progId="Visio.Drawing.11">
                  <p:embed/>
                </p:oleObj>
              </mc:Choice>
              <mc:Fallback>
                <p:oleObj r:id="rId5" imgW="5588000" imgH="4549140" progId="Visio.Drawing.11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3068638"/>
                        <a:ext cx="3457575" cy="2817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6" name="Text Box 41"/>
          <p:cNvSpPr txBox="1">
            <a:spLocks noChangeArrowheads="1"/>
          </p:cNvSpPr>
          <p:nvPr/>
        </p:nvSpPr>
        <p:spPr bwMode="auto">
          <a:xfrm>
            <a:off x="6372225" y="3573463"/>
            <a:ext cx="28733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950" tIns="26975" rIns="53950" bIns="26975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67" name="Text Box 42"/>
          <p:cNvSpPr txBox="1">
            <a:spLocks noChangeArrowheads="1"/>
          </p:cNvSpPr>
          <p:nvPr/>
        </p:nvSpPr>
        <p:spPr bwMode="auto">
          <a:xfrm>
            <a:off x="6948488" y="3284538"/>
            <a:ext cx="352425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950" tIns="26975" rIns="53950" bIns="26975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000" baseline="-30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68" name="Text Box 43"/>
          <p:cNvSpPr txBox="1">
            <a:spLocks noChangeArrowheads="1"/>
          </p:cNvSpPr>
          <p:nvPr/>
        </p:nvSpPr>
        <p:spPr bwMode="auto">
          <a:xfrm>
            <a:off x="7956550" y="3789363"/>
            <a:ext cx="423863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950" tIns="26975" rIns="53950" bIns="26975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000" baseline="-30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69" name="Text Box 44"/>
          <p:cNvSpPr txBox="1">
            <a:spLocks noChangeArrowheads="1"/>
          </p:cNvSpPr>
          <p:nvPr/>
        </p:nvSpPr>
        <p:spPr bwMode="auto">
          <a:xfrm>
            <a:off x="6659563" y="4581525"/>
            <a:ext cx="3460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950" tIns="26975" rIns="53950" bIns="26975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000" baseline="-30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70" name="Rectangle 46"/>
          <p:cNvSpPr>
            <a:spLocks noChangeArrowheads="1"/>
          </p:cNvSpPr>
          <p:nvPr/>
        </p:nvSpPr>
        <p:spPr bwMode="auto">
          <a:xfrm>
            <a:off x="0" y="3048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3571" name="Object 19"/>
          <p:cNvGraphicFramePr>
            <a:graphicFrameLocks noChangeAspect="1"/>
          </p:cNvGraphicFramePr>
          <p:nvPr/>
        </p:nvGraphicFramePr>
        <p:xfrm>
          <a:off x="6552406" y="1780382"/>
          <a:ext cx="1728788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9" r:id="rId7" imgW="1105535" imgH="711200" progId="Equation.3">
                  <p:embed/>
                </p:oleObj>
              </mc:Choice>
              <mc:Fallback>
                <p:oleObj r:id="rId7" imgW="1105535" imgH="7112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2406" y="1780382"/>
                        <a:ext cx="1728788" cy="1116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2" name="Rectangle 48"/>
          <p:cNvSpPr>
            <a:spLocks noChangeArrowheads="1"/>
          </p:cNvSpPr>
          <p:nvPr/>
        </p:nvSpPr>
        <p:spPr bwMode="auto">
          <a:xfrm>
            <a:off x="0" y="2795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23573" name="Rectangle 50"/>
          <p:cNvSpPr>
            <a:spLocks noChangeArrowheads="1"/>
          </p:cNvSpPr>
          <p:nvPr/>
        </p:nvSpPr>
        <p:spPr bwMode="auto">
          <a:xfrm>
            <a:off x="0" y="2795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3574" name="Object 22"/>
          <p:cNvGraphicFramePr>
            <a:graphicFrameLocks noChangeAspect="1"/>
          </p:cNvGraphicFramePr>
          <p:nvPr/>
        </p:nvGraphicFramePr>
        <p:xfrm>
          <a:off x="539750" y="511176"/>
          <a:ext cx="4032250" cy="178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0" r:id="rId9" imgW="2870200" imgH="1270000" progId="Equation.3">
                  <p:embed/>
                </p:oleObj>
              </mc:Choice>
              <mc:Fallback>
                <p:oleObj r:id="rId9" imgW="2870200" imgH="12700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511176"/>
                        <a:ext cx="4032250" cy="178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5"/>
          <p:cNvSpPr>
            <a:spLocks noChangeArrowheads="1"/>
          </p:cNvSpPr>
          <p:nvPr/>
        </p:nvSpPr>
        <p:spPr bwMode="auto">
          <a:xfrm>
            <a:off x="0" y="3062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1835150" y="549275"/>
          <a:ext cx="3529013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1" r:id="rId3" imgW="1918335" imgH="737235" progId="Equation.3">
                  <p:embed/>
                </p:oleObj>
              </mc:Choice>
              <mc:Fallback>
                <p:oleObj r:id="rId3" imgW="1918335" imgH="73723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49275"/>
                        <a:ext cx="3529013" cy="135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Rectangle 7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4581" name="Object 5"/>
          <p:cNvGraphicFramePr>
            <a:graphicFrameLocks noChangeAspect="1"/>
          </p:cNvGraphicFramePr>
          <p:nvPr/>
        </p:nvGraphicFramePr>
        <p:xfrm>
          <a:off x="6156325" y="981075"/>
          <a:ext cx="194468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2" r:id="rId5" imgW="851535" imgH="228600" progId="Equation.3">
                  <p:embed/>
                </p:oleObj>
              </mc:Choice>
              <mc:Fallback>
                <p:oleObj r:id="rId5" imgW="851535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981075"/>
                        <a:ext cx="1944688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2" name="Rectangle 9"/>
          <p:cNvSpPr>
            <a:spLocks noChangeArrowheads="1"/>
          </p:cNvSpPr>
          <p:nvPr/>
        </p:nvSpPr>
        <p:spPr bwMode="auto">
          <a:xfrm>
            <a:off x="0" y="3062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4583" name="Object 7"/>
          <p:cNvGraphicFramePr>
            <a:graphicFrameLocks noChangeAspect="1"/>
          </p:cNvGraphicFramePr>
          <p:nvPr/>
        </p:nvGraphicFramePr>
        <p:xfrm>
          <a:off x="1908175" y="2349500"/>
          <a:ext cx="4895850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3" r:id="rId7" imgW="2832100" imgH="736600" progId="Equation.3">
                  <p:embed/>
                </p:oleObj>
              </mc:Choice>
              <mc:Fallback>
                <p:oleObj r:id="rId7" imgW="2832100" imgH="736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349500"/>
                        <a:ext cx="4895850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4" name="Rectangle 11"/>
          <p:cNvSpPr>
            <a:spLocks noChangeArrowheads="1"/>
          </p:cNvSpPr>
          <p:nvPr/>
        </p:nvSpPr>
        <p:spPr bwMode="auto">
          <a:xfrm>
            <a:off x="0" y="2795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4585" name="Object 9"/>
          <p:cNvGraphicFramePr>
            <a:graphicFrameLocks noChangeAspect="1"/>
          </p:cNvGraphicFramePr>
          <p:nvPr/>
        </p:nvGraphicFramePr>
        <p:xfrm>
          <a:off x="3276600" y="3860800"/>
          <a:ext cx="4824413" cy="192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4" r:id="rId9" imgW="3175000" imgH="1270000" progId="Equation.3">
                  <p:embed/>
                </p:oleObj>
              </mc:Choice>
              <mc:Fallback>
                <p:oleObj r:id="rId9" imgW="3175000" imgH="1270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860800"/>
                        <a:ext cx="4824413" cy="192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6" name="Rectangle 12"/>
          <p:cNvSpPr>
            <a:spLocks noChangeArrowheads="1"/>
          </p:cNvSpPr>
          <p:nvPr/>
        </p:nvSpPr>
        <p:spPr bwMode="auto">
          <a:xfrm>
            <a:off x="1835150" y="6021388"/>
            <a:ext cx="666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/>
              <a:t>P</a:t>
            </a:r>
            <a:r>
              <a:rPr lang="en-US" altLang="zh-CN" baseline="-25000"/>
              <a:t>1</a:t>
            </a:r>
            <a:r>
              <a:rPr lang="en-US" altLang="zh-CN"/>
              <a:t>(17.5,12.01)</a:t>
            </a:r>
            <a:r>
              <a:rPr lang="zh-CN" altLang="en-US"/>
              <a:t>，</a:t>
            </a:r>
            <a:r>
              <a:rPr lang="en-US" altLang="zh-CN"/>
              <a:t>P</a:t>
            </a:r>
            <a:r>
              <a:rPr lang="en-US" altLang="zh-CN" baseline="-25000"/>
              <a:t>2</a:t>
            </a:r>
            <a:r>
              <a:rPr lang="en-US" altLang="zh-CN"/>
              <a:t>(34.82,22.01)</a:t>
            </a:r>
            <a:r>
              <a:rPr lang="zh-CN" altLang="en-US"/>
              <a:t>和</a:t>
            </a:r>
            <a:r>
              <a:rPr lang="en-US" altLang="zh-CN"/>
              <a:t>P</a:t>
            </a:r>
            <a:r>
              <a:rPr lang="en-US" altLang="zh-CN" baseline="-25000"/>
              <a:t>3</a:t>
            </a:r>
            <a:r>
              <a:rPr lang="en-US" altLang="zh-CN"/>
              <a:t>(18.66,30)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4"/>
          <p:cNvSpPr txBox="1">
            <a:spLocks noChangeArrowheads="1"/>
          </p:cNvSpPr>
          <p:nvPr/>
        </p:nvSpPr>
        <p:spPr bwMode="auto">
          <a:xfrm>
            <a:off x="2124075" y="5229225"/>
            <a:ext cx="2087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>
                <a:hlinkClick r:id="rId2" action="ppaction://hlinkfile"/>
              </a:rPr>
              <a:t>基本旋转变换</a:t>
            </a:r>
            <a:endParaRPr lang="zh-CN" altLang="en-US"/>
          </a:p>
        </p:txBody>
      </p:sp>
      <p:sp>
        <p:nvSpPr>
          <p:cNvPr id="25603" name="Text Box 5"/>
          <p:cNvSpPr txBox="1">
            <a:spLocks noChangeArrowheads="1"/>
          </p:cNvSpPr>
          <p:nvPr/>
        </p:nvSpPr>
        <p:spPr bwMode="auto">
          <a:xfrm>
            <a:off x="6156325" y="5157788"/>
            <a:ext cx="2016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>
                <a:hlinkClick r:id="rId3" action="ppaction://hlinkfile"/>
              </a:rPr>
              <a:t>复合旋转变换</a:t>
            </a:r>
            <a:endParaRPr lang="zh-CN" altLang="en-US"/>
          </a:p>
        </p:txBody>
      </p:sp>
      <p:pic>
        <p:nvPicPr>
          <p:cNvPr id="2560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1341438"/>
            <a:ext cx="3529013" cy="255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1412875"/>
            <a:ext cx="3419475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6" name="Text Box 8"/>
          <p:cNvSpPr txBox="1">
            <a:spLocks noChangeArrowheads="1"/>
          </p:cNvSpPr>
          <p:nvPr/>
        </p:nvSpPr>
        <p:spPr bwMode="auto">
          <a:xfrm>
            <a:off x="1692275" y="549275"/>
            <a:ext cx="1511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/>
              <a:t>习题</a:t>
            </a:r>
            <a:r>
              <a:rPr lang="en-US" altLang="zh-CN"/>
              <a:t>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ChangeArrowheads="1"/>
          </p:cNvSpPr>
          <p:nvPr/>
        </p:nvSpPr>
        <p:spPr bwMode="auto">
          <a:xfrm>
            <a:off x="1258888" y="188913"/>
            <a:ext cx="7632700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5.3.2 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相对于任意方向的二维几何变换</a:t>
            </a:r>
            <a:r>
              <a:rPr lang="zh-CN" altLang="en-US"/>
              <a:t>     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  </a:t>
            </a:r>
          </a:p>
        </p:txBody>
      </p:sp>
      <p:sp>
        <p:nvSpPr>
          <p:cNvPr id="27650" name="Rectangle 5"/>
          <p:cNvSpPr>
            <a:spLocks noChangeArrowheads="1"/>
          </p:cNvSpPr>
          <p:nvPr/>
        </p:nvSpPr>
        <p:spPr bwMode="auto">
          <a:xfrm>
            <a:off x="467544" y="787867"/>
            <a:ext cx="8209731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0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</a:t>
            </a:r>
            <a:r>
              <a:rPr lang="zh-CN" altLang="en-US" sz="20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于任意方向的变换方法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首先，对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任意方向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做旋转变换，使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变换方向与坐标轴重合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然后，对坐标轴进行二维基本几何变换，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最后，做反向旋转变换，将任意方向还原到原来的方向。</a:t>
            </a:r>
          </a:p>
        </p:txBody>
      </p:sp>
      <p:sp>
        <p:nvSpPr>
          <p:cNvPr id="26628" name="Rectangle 6"/>
          <p:cNvSpPr>
            <a:spLocks noChangeArrowheads="1"/>
          </p:cNvSpPr>
          <p:nvPr/>
        </p:nvSpPr>
        <p:spPr bwMode="auto">
          <a:xfrm>
            <a:off x="216693" y="2954804"/>
            <a:ext cx="846058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b="1" dirty="0"/>
              <a:t>例</a:t>
            </a:r>
            <a:r>
              <a:rPr lang="en-US" altLang="zh-CN" sz="2000" b="1" dirty="0"/>
              <a:t>5-2 </a:t>
            </a:r>
            <a:r>
              <a:rPr lang="zh-CN" altLang="en-US" sz="2000" dirty="0"/>
              <a:t>将图示三角形相对于</a:t>
            </a:r>
            <a:r>
              <a:rPr lang="zh-CN" altLang="en-US" sz="2000" dirty="0" smtClean="0"/>
              <a:t>轴线 </a:t>
            </a:r>
            <a:r>
              <a:rPr lang="en-US" altLang="zh-CN" sz="2000" dirty="0" smtClean="0"/>
              <a:t>y=</a:t>
            </a:r>
            <a:r>
              <a:rPr lang="en-US" altLang="zh-CN" sz="2000" dirty="0" err="1" smtClean="0"/>
              <a:t>kx+b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作</a:t>
            </a:r>
            <a:r>
              <a:rPr lang="zh-CN" altLang="en-US" sz="2000" dirty="0"/>
              <a:t>反射变换，计算每一步的变换矩阵。</a:t>
            </a:r>
          </a:p>
        </p:txBody>
      </p:sp>
      <p:sp>
        <p:nvSpPr>
          <p:cNvPr id="26629" name="Rectangle 8"/>
          <p:cNvSpPr>
            <a:spLocks noChangeArrowheads="1"/>
          </p:cNvSpPr>
          <p:nvPr/>
        </p:nvSpPr>
        <p:spPr bwMode="auto">
          <a:xfrm>
            <a:off x="0" y="2433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6630" name="Object 7"/>
          <p:cNvGraphicFramePr>
            <a:graphicFrameLocks noChangeAspect="1"/>
          </p:cNvGraphicFramePr>
          <p:nvPr/>
        </p:nvGraphicFramePr>
        <p:xfrm>
          <a:off x="395536" y="3717032"/>
          <a:ext cx="3024188" cy="245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1" r:id="rId3" imgW="5610860" imgH="4572000" progId="Visio.Drawing.11">
                  <p:embed/>
                </p:oleObj>
              </mc:Choice>
              <mc:Fallback>
                <p:oleObj r:id="rId3" imgW="5610860" imgH="4572000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3717032"/>
                        <a:ext cx="3024188" cy="2459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Text Box 9"/>
          <p:cNvSpPr txBox="1">
            <a:spLocks noChangeArrowheads="1"/>
          </p:cNvSpPr>
          <p:nvPr/>
        </p:nvSpPr>
        <p:spPr bwMode="auto">
          <a:xfrm>
            <a:off x="2051299" y="3861494"/>
            <a:ext cx="1150937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950" tIns="26975" rIns="53950" bIns="26975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y=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</a:rPr>
              <a:t>kx+b</a:t>
            </a:r>
            <a:endParaRPr lang="en-US" altLang="zh-CN" dirty="0"/>
          </a:p>
        </p:txBody>
      </p:sp>
      <p:sp>
        <p:nvSpPr>
          <p:cNvPr id="26632" name="Text Box 10"/>
          <p:cNvSpPr txBox="1">
            <a:spLocks noChangeArrowheads="1"/>
          </p:cNvSpPr>
          <p:nvPr/>
        </p:nvSpPr>
        <p:spPr bwMode="auto">
          <a:xfrm>
            <a:off x="1187699" y="5301357"/>
            <a:ext cx="1150937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950" tIns="26975" rIns="53950" bIns="26975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zh-CN" altLang="en-US" sz="2000"/>
          </a:p>
        </p:txBody>
      </p:sp>
      <p:sp>
        <p:nvSpPr>
          <p:cNvPr id="26633" name="Rectangle 11"/>
          <p:cNvSpPr>
            <a:spLocks noChangeArrowheads="1"/>
          </p:cNvSpPr>
          <p:nvPr/>
        </p:nvSpPr>
        <p:spPr bwMode="auto">
          <a:xfrm>
            <a:off x="1330574" y="6166544"/>
            <a:ext cx="149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/>
              <a:t>原始图形 </a:t>
            </a:r>
          </a:p>
        </p:txBody>
      </p:sp>
      <p:sp>
        <p:nvSpPr>
          <p:cNvPr id="26634" name="Rectangle 13"/>
          <p:cNvSpPr>
            <a:spLocks noChangeArrowheads="1"/>
          </p:cNvSpPr>
          <p:nvPr/>
        </p:nvSpPr>
        <p:spPr bwMode="auto">
          <a:xfrm>
            <a:off x="0" y="2557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6635" name="Object 12"/>
          <p:cNvGraphicFramePr>
            <a:graphicFrameLocks noChangeAspect="1"/>
          </p:cNvGraphicFramePr>
          <p:nvPr/>
        </p:nvGraphicFramePr>
        <p:xfrm>
          <a:off x="6083301" y="3717032"/>
          <a:ext cx="2808287" cy="228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2" r:id="rId5" imgW="5588000" imgH="4549140" progId="Visio.Drawing.11">
                  <p:embed/>
                </p:oleObj>
              </mc:Choice>
              <mc:Fallback>
                <p:oleObj r:id="rId5" imgW="5588000" imgH="4549140" progId="Visio.Drawing.11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3301" y="3717032"/>
                        <a:ext cx="2808287" cy="228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6" name="Rectangle 14"/>
          <p:cNvSpPr>
            <a:spLocks noChangeArrowheads="1"/>
          </p:cNvSpPr>
          <p:nvPr/>
        </p:nvSpPr>
        <p:spPr bwMode="auto">
          <a:xfrm>
            <a:off x="6946901" y="6166544"/>
            <a:ext cx="149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/>
              <a:t>平移变换 </a:t>
            </a:r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/>
        </p:nvGraphicFramePr>
        <p:xfrm>
          <a:off x="3773213" y="4330862"/>
          <a:ext cx="2016125" cy="1338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3" r:id="rId7" imgW="1079500" imgH="711200" progId="Equation.3">
                  <p:embed/>
                </p:oleObj>
              </mc:Choice>
              <mc:Fallback>
                <p:oleObj r:id="rId7" imgW="1079500" imgH="71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3213" y="4330862"/>
                        <a:ext cx="2016125" cy="1338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ChangeArrowheads="1"/>
          </p:cNvSpPr>
          <p:nvPr/>
        </p:nvSpPr>
        <p:spPr bwMode="auto">
          <a:xfrm>
            <a:off x="0" y="12985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27651" name="Rectangle 9"/>
          <p:cNvSpPr>
            <a:spLocks noChangeArrowheads="1"/>
          </p:cNvSpPr>
          <p:nvPr/>
        </p:nvSpPr>
        <p:spPr bwMode="auto">
          <a:xfrm>
            <a:off x="0" y="2908300"/>
            <a:ext cx="4365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 sz="800"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  <a:buNone/>
            </a:pP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</a:p>
        </p:txBody>
      </p:sp>
      <p:sp>
        <p:nvSpPr>
          <p:cNvPr id="27652" name="Rectangle 12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27654" name="Rectangle 14"/>
          <p:cNvSpPr>
            <a:spLocks noChangeArrowheads="1"/>
          </p:cNvSpPr>
          <p:nvPr/>
        </p:nvSpPr>
        <p:spPr bwMode="auto">
          <a:xfrm>
            <a:off x="0" y="2443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7655" name="Object 13"/>
          <p:cNvGraphicFramePr>
            <a:graphicFrameLocks noChangeAspect="1"/>
          </p:cNvGraphicFramePr>
          <p:nvPr/>
        </p:nvGraphicFramePr>
        <p:xfrm>
          <a:off x="5076825" y="188913"/>
          <a:ext cx="3024188" cy="245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0" r:id="rId3" imgW="5588000" imgH="4549140" progId="Visio.Drawing.11">
                  <p:embed/>
                </p:oleObj>
              </mc:Choice>
              <mc:Fallback>
                <p:oleObj r:id="rId3" imgW="5588000" imgH="4549140" progId="Visio.Drawing.11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188913"/>
                        <a:ext cx="3024188" cy="245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6" name="Rectangle 15"/>
          <p:cNvSpPr>
            <a:spLocks noChangeArrowheads="1"/>
          </p:cNvSpPr>
          <p:nvPr/>
        </p:nvSpPr>
        <p:spPr bwMode="auto">
          <a:xfrm>
            <a:off x="6156325" y="2708275"/>
            <a:ext cx="149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/>
              <a:t>旋转变换 </a:t>
            </a:r>
          </a:p>
        </p:txBody>
      </p:sp>
      <p:sp>
        <p:nvSpPr>
          <p:cNvPr id="27657" name="Rectangle 17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7658" name="Object 10"/>
          <p:cNvGraphicFramePr>
            <a:graphicFrameLocks noChangeAspect="1"/>
          </p:cNvGraphicFramePr>
          <p:nvPr/>
        </p:nvGraphicFramePr>
        <p:xfrm>
          <a:off x="1763688" y="824186"/>
          <a:ext cx="2736850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1" r:id="rId5" imgW="1588135" imgH="711200" progId="Equation.3">
                  <p:embed/>
                </p:oleObj>
              </mc:Choice>
              <mc:Fallback>
                <p:oleObj r:id="rId5" imgW="1588135" imgH="711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824186"/>
                        <a:ext cx="2736850" cy="122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9" name="Rectangle 19"/>
          <p:cNvSpPr>
            <a:spLocks noChangeArrowheads="1"/>
          </p:cNvSpPr>
          <p:nvPr/>
        </p:nvSpPr>
        <p:spPr bwMode="auto">
          <a:xfrm>
            <a:off x="0" y="23860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7660" name="Object 18"/>
          <p:cNvGraphicFramePr>
            <a:graphicFrameLocks noChangeAspect="1"/>
          </p:cNvGraphicFramePr>
          <p:nvPr/>
        </p:nvGraphicFramePr>
        <p:xfrm>
          <a:off x="5076826" y="3305359"/>
          <a:ext cx="3024187" cy="291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2" r:id="rId7" imgW="5588000" imgH="5384800" progId="Visio.Drawing.11">
                  <p:embed/>
                </p:oleObj>
              </mc:Choice>
              <mc:Fallback>
                <p:oleObj r:id="rId7" imgW="5588000" imgH="5384800" progId="Visio.Drawing.11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6" y="3305359"/>
                        <a:ext cx="3024187" cy="291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1" name="Rectangle 20"/>
          <p:cNvSpPr>
            <a:spLocks noChangeArrowheads="1"/>
          </p:cNvSpPr>
          <p:nvPr/>
        </p:nvSpPr>
        <p:spPr bwMode="auto">
          <a:xfrm>
            <a:off x="5868988" y="6277159"/>
            <a:ext cx="149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/>
              <a:t>反射变换 </a:t>
            </a:r>
          </a:p>
        </p:txBody>
      </p:sp>
      <p:graphicFrame>
        <p:nvGraphicFramePr>
          <p:cNvPr id="27663" name="Object 15"/>
          <p:cNvGraphicFramePr>
            <a:graphicFrameLocks noChangeAspect="1"/>
          </p:cNvGraphicFramePr>
          <p:nvPr/>
        </p:nvGraphicFramePr>
        <p:xfrm>
          <a:off x="2123728" y="3972108"/>
          <a:ext cx="2303463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3" r:id="rId9" imgW="1041400" imgH="711200" progId="Equation.3">
                  <p:embed/>
                </p:oleObj>
              </mc:Choice>
              <mc:Fallback>
                <p:oleObj r:id="rId9" imgW="1041400" imgH="711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3972108"/>
                        <a:ext cx="2303463" cy="158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4" name="Line 23"/>
          <p:cNvSpPr>
            <a:spLocks noChangeShapeType="1"/>
          </p:cNvSpPr>
          <p:nvPr/>
        </p:nvSpPr>
        <p:spPr bwMode="auto">
          <a:xfrm>
            <a:off x="5795963" y="2205038"/>
            <a:ext cx="1871662" cy="0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5"/>
          <p:cNvSpPr>
            <a:spLocks noChangeArrowheads="1"/>
          </p:cNvSpPr>
          <p:nvPr/>
        </p:nvSpPr>
        <p:spPr bwMode="auto">
          <a:xfrm>
            <a:off x="0" y="2471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8675" name="Object 4"/>
          <p:cNvGraphicFramePr>
            <a:graphicFrameLocks noChangeAspect="1"/>
          </p:cNvGraphicFramePr>
          <p:nvPr/>
        </p:nvGraphicFramePr>
        <p:xfrm>
          <a:off x="5652120" y="260648"/>
          <a:ext cx="2879725" cy="234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62" r:id="rId3" imgW="5588000" imgH="4560570" progId="Visio.Drawing.11">
                  <p:embed/>
                </p:oleObj>
              </mc:Choice>
              <mc:Fallback>
                <p:oleObj r:id="rId3" imgW="5588000" imgH="456057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120" y="260648"/>
                        <a:ext cx="2879725" cy="234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6" name="Rectangle 6"/>
          <p:cNvSpPr>
            <a:spLocks noChangeArrowheads="1"/>
          </p:cNvSpPr>
          <p:nvPr/>
        </p:nvSpPr>
        <p:spPr bwMode="auto">
          <a:xfrm>
            <a:off x="6299820" y="2781598"/>
            <a:ext cx="180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/>
              <a:t>反旋转变换 </a:t>
            </a:r>
          </a:p>
        </p:txBody>
      </p:sp>
      <p:sp>
        <p:nvSpPr>
          <p:cNvPr id="28677" name="Rectangle 8"/>
          <p:cNvSpPr>
            <a:spLocks noChangeArrowheads="1"/>
          </p:cNvSpPr>
          <p:nvPr/>
        </p:nvSpPr>
        <p:spPr bwMode="auto">
          <a:xfrm>
            <a:off x="0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8678" name="Object 7"/>
          <p:cNvGraphicFramePr>
            <a:graphicFrameLocks noChangeAspect="1"/>
          </p:cNvGraphicFramePr>
          <p:nvPr/>
        </p:nvGraphicFramePr>
        <p:xfrm>
          <a:off x="5652120" y="3416598"/>
          <a:ext cx="2808288" cy="228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63" r:id="rId5" imgW="5588000" imgH="4549140" progId="Visio.Drawing.11">
                  <p:embed/>
                </p:oleObj>
              </mc:Choice>
              <mc:Fallback>
                <p:oleObj r:id="rId5" imgW="5588000" imgH="4549140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120" y="3416598"/>
                        <a:ext cx="2808288" cy="228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9" name="Rectangle 9"/>
          <p:cNvSpPr>
            <a:spLocks noChangeArrowheads="1"/>
          </p:cNvSpPr>
          <p:nvPr/>
        </p:nvSpPr>
        <p:spPr bwMode="auto">
          <a:xfrm>
            <a:off x="6444283" y="5864523"/>
            <a:ext cx="180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/>
              <a:t>反平移变换 </a:t>
            </a:r>
          </a:p>
        </p:txBody>
      </p:sp>
      <p:sp>
        <p:nvSpPr>
          <p:cNvPr id="28680" name="Rectangle 11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8681" name="Object 9"/>
          <p:cNvGraphicFramePr>
            <a:graphicFrameLocks noChangeAspect="1"/>
          </p:cNvGraphicFramePr>
          <p:nvPr/>
        </p:nvGraphicFramePr>
        <p:xfrm>
          <a:off x="971600" y="817860"/>
          <a:ext cx="2736850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64" r:id="rId7" imgW="1588135" imgH="711200" progId="Equation.3">
                  <p:embed/>
                </p:oleObj>
              </mc:Choice>
              <mc:Fallback>
                <p:oleObj r:id="rId7" imgW="1588135" imgH="711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817860"/>
                        <a:ext cx="2736850" cy="122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2" name="Rectangle 13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28683" name="Object 11"/>
          <p:cNvGraphicFramePr>
            <a:graphicFrameLocks noChangeAspect="1"/>
          </p:cNvGraphicFramePr>
          <p:nvPr/>
        </p:nvGraphicFramePr>
        <p:xfrm>
          <a:off x="1620888" y="3922416"/>
          <a:ext cx="2087562" cy="152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65" r:id="rId9" imgW="978535" imgH="711200" progId="Equation.3">
                  <p:embed/>
                </p:oleObj>
              </mc:Choice>
              <mc:Fallback>
                <p:oleObj r:id="rId9" imgW="978535" imgH="711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888" y="3922416"/>
                        <a:ext cx="2087562" cy="152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ChangeArrowheads="1"/>
          </p:cNvSpPr>
          <p:nvPr/>
        </p:nvSpPr>
        <p:spPr bwMode="auto">
          <a:xfrm>
            <a:off x="1403350" y="260350"/>
            <a:ext cx="7416800" cy="613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class </a:t>
            </a:r>
            <a:r>
              <a:rPr lang="en-US" altLang="zh-CN" sz="1800" dirty="0" err="1"/>
              <a:t>CTransform</a:t>
            </a:r>
            <a:r>
              <a:rPr lang="en-US" altLang="zh-CN" sz="1800" dirty="0"/>
              <a:t>//</a:t>
            </a:r>
            <a:r>
              <a:rPr lang="zh-CN" altLang="en-US" sz="1800" dirty="0"/>
              <a:t>二维几何变换 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public: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CTransform</a:t>
            </a:r>
            <a:r>
              <a:rPr lang="en-US" altLang="zh-CN" sz="1800" dirty="0"/>
              <a:t>();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virtual ~</a:t>
            </a:r>
            <a:r>
              <a:rPr lang="en-US" altLang="zh-CN" sz="1800" dirty="0" err="1"/>
              <a:t>CTransform</a:t>
            </a:r>
            <a:r>
              <a:rPr lang="en-US" altLang="zh-CN" sz="1800" dirty="0"/>
              <a:t>();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void </a:t>
            </a:r>
            <a:r>
              <a:rPr lang="en-US" altLang="zh-CN" sz="1800" dirty="0" err="1"/>
              <a:t>SetMat</a:t>
            </a:r>
            <a:r>
              <a:rPr lang="en-US" altLang="zh-CN" sz="1800" dirty="0"/>
              <a:t>(CP2 *,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void Identity();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void Translate(</a:t>
            </a:r>
            <a:r>
              <a:rPr lang="en-US" altLang="zh-CN" sz="1800" dirty="0" err="1"/>
              <a:t>double,double</a:t>
            </a:r>
            <a:r>
              <a:rPr lang="en-US" altLang="zh-CN" sz="1800" dirty="0"/>
              <a:t>);//</a:t>
            </a:r>
            <a:r>
              <a:rPr lang="zh-CN" altLang="en-US" sz="1800" dirty="0"/>
              <a:t>平移变换矩阵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800" dirty="0"/>
              <a:t>	</a:t>
            </a:r>
            <a:r>
              <a:rPr lang="en-US" altLang="zh-CN" sz="1800" dirty="0"/>
              <a:t>void Scale(</a:t>
            </a:r>
            <a:r>
              <a:rPr lang="en-US" altLang="zh-CN" sz="1800" dirty="0" err="1"/>
              <a:t>double,double</a:t>
            </a:r>
            <a:r>
              <a:rPr lang="en-US" altLang="zh-CN" sz="1800" dirty="0"/>
              <a:t>);//</a:t>
            </a:r>
            <a:r>
              <a:rPr lang="zh-CN" altLang="en-US" sz="1800" dirty="0"/>
              <a:t>比例变换矩阵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800" dirty="0"/>
              <a:t>	</a:t>
            </a:r>
            <a:r>
              <a:rPr lang="en-US" altLang="zh-CN" sz="1800" dirty="0"/>
              <a:t>void Scale(double,double,CP2);//</a:t>
            </a:r>
            <a:r>
              <a:rPr lang="zh-CN" altLang="en-US" sz="1800" dirty="0"/>
              <a:t>相对于任意点的比例变换矩阵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800" dirty="0"/>
              <a:t>	</a:t>
            </a:r>
            <a:r>
              <a:rPr lang="en-US" altLang="zh-CN" sz="1800" dirty="0"/>
              <a:t>void Rotate(double);//</a:t>
            </a:r>
            <a:r>
              <a:rPr lang="zh-CN" altLang="en-US" sz="1800" dirty="0"/>
              <a:t>旋转变换矩阵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800" dirty="0"/>
              <a:t>	</a:t>
            </a:r>
            <a:r>
              <a:rPr lang="en-US" altLang="zh-CN" sz="1800" dirty="0"/>
              <a:t>void Rotate(double,CP2);//</a:t>
            </a:r>
            <a:r>
              <a:rPr lang="zh-CN" altLang="en-US" sz="1800" dirty="0"/>
              <a:t>相对于任意点的旋转变换矩阵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800" dirty="0"/>
              <a:t>	</a:t>
            </a:r>
            <a:r>
              <a:rPr lang="en-US" altLang="zh-CN" sz="1800" dirty="0"/>
              <a:t>void </a:t>
            </a:r>
            <a:r>
              <a:rPr lang="en-US" altLang="zh-CN" sz="1800" dirty="0" err="1"/>
              <a:t>ReflectO</a:t>
            </a:r>
            <a:r>
              <a:rPr lang="en-US" altLang="zh-CN" sz="1800" dirty="0"/>
              <a:t>();//</a:t>
            </a:r>
            <a:r>
              <a:rPr lang="zh-CN" altLang="en-US" sz="1800" dirty="0"/>
              <a:t>原点反射变换矩阵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800" dirty="0"/>
              <a:t>	</a:t>
            </a:r>
            <a:r>
              <a:rPr lang="en-US" altLang="zh-CN" sz="1800" dirty="0"/>
              <a:t>void </a:t>
            </a:r>
            <a:r>
              <a:rPr lang="en-US" altLang="zh-CN" sz="1800" dirty="0" err="1"/>
              <a:t>ReflectX</a:t>
            </a:r>
            <a:r>
              <a:rPr lang="en-US" altLang="zh-CN" sz="1800" dirty="0"/>
              <a:t>();//X</a:t>
            </a:r>
            <a:r>
              <a:rPr lang="zh-CN" altLang="en-US" sz="1800" dirty="0"/>
              <a:t>轴反射变换矩阵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800" dirty="0"/>
              <a:t>	</a:t>
            </a:r>
            <a:r>
              <a:rPr lang="en-US" altLang="zh-CN" sz="1800" dirty="0"/>
              <a:t>void </a:t>
            </a:r>
            <a:r>
              <a:rPr lang="en-US" altLang="zh-CN" sz="1800" dirty="0" err="1"/>
              <a:t>ReflectY</a:t>
            </a:r>
            <a:r>
              <a:rPr lang="en-US" altLang="zh-CN" sz="1800" dirty="0"/>
              <a:t>();//Y</a:t>
            </a:r>
            <a:r>
              <a:rPr lang="zh-CN" altLang="en-US" sz="1800" dirty="0"/>
              <a:t>轴反射变换矩阵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800" dirty="0"/>
              <a:t>	</a:t>
            </a:r>
            <a:r>
              <a:rPr lang="en-US" altLang="zh-CN" sz="1800" dirty="0"/>
              <a:t>void Shear(</a:t>
            </a:r>
            <a:r>
              <a:rPr lang="en-US" altLang="zh-CN" sz="1800" dirty="0" err="1"/>
              <a:t>double,double</a:t>
            </a:r>
            <a:r>
              <a:rPr lang="en-US" altLang="zh-CN" sz="1800" dirty="0"/>
              <a:t>);//</a:t>
            </a:r>
            <a:r>
              <a:rPr lang="zh-CN" altLang="en-US" sz="1800" dirty="0"/>
              <a:t>错切变换矩阵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800" dirty="0"/>
              <a:t>	</a:t>
            </a:r>
            <a:r>
              <a:rPr lang="en-US" altLang="zh-CN" sz="1800" dirty="0"/>
              <a:t>void </a:t>
            </a:r>
            <a:r>
              <a:rPr lang="en-US" altLang="zh-CN" sz="1800" dirty="0" err="1"/>
              <a:t>MultiMatrix</a:t>
            </a:r>
            <a:r>
              <a:rPr lang="en-US" altLang="zh-CN" sz="1800" dirty="0"/>
              <a:t>();//</a:t>
            </a:r>
            <a:r>
              <a:rPr lang="zh-CN" altLang="en-US" sz="1800" dirty="0"/>
              <a:t>矩阵相乘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public: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double T[3][3];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CP2 *</a:t>
            </a:r>
            <a:r>
              <a:rPr lang="en-US" altLang="zh-CN" sz="1800" dirty="0" err="1"/>
              <a:t>POld</a:t>
            </a:r>
            <a:r>
              <a:rPr lang="en-US" altLang="zh-CN" sz="1800" dirty="0"/>
              <a:t>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num</a:t>
            </a:r>
            <a:r>
              <a:rPr lang="en-US" altLang="zh-CN" sz="1800" dirty="0"/>
              <a:t>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};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4"/>
          <p:cNvSpPr>
            <a:spLocks noChangeArrowheads="1"/>
          </p:cNvSpPr>
          <p:nvPr/>
        </p:nvSpPr>
        <p:spPr bwMode="auto">
          <a:xfrm>
            <a:off x="1619250" y="333375"/>
            <a:ext cx="7129463" cy="558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void </a:t>
            </a:r>
            <a:r>
              <a:rPr lang="en-US" altLang="zh-CN" sz="1800" dirty="0" err="1"/>
              <a:t>CTransform</a:t>
            </a:r>
            <a:r>
              <a:rPr lang="en-US" altLang="zh-CN" sz="1800" dirty="0"/>
              <a:t>::Identity()//</a:t>
            </a:r>
            <a:r>
              <a:rPr lang="zh-CN" altLang="en-US" sz="1800" dirty="0"/>
              <a:t>单位矩阵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T[0][0]=1.0;T[0][1]=0.0;T[0][2]=0.0;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T[1][0]=0.0;T[1][1]=1.0;T[1][2]=0.0;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T[2][0]=0.0;T[2][1]=0.0;T[2][2]=1.0;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void </a:t>
            </a:r>
            <a:r>
              <a:rPr lang="en-US" altLang="zh-CN" sz="1800" dirty="0" err="1"/>
              <a:t>CTransform</a:t>
            </a:r>
            <a:r>
              <a:rPr lang="en-US" altLang="zh-CN" sz="1800" dirty="0"/>
              <a:t>::Translate(double </a:t>
            </a:r>
            <a:r>
              <a:rPr lang="en-US" altLang="zh-CN" sz="1800" dirty="0" err="1"/>
              <a:t>tx,double</a:t>
            </a:r>
            <a:r>
              <a:rPr lang="en-US" altLang="zh-CN" sz="1800" dirty="0"/>
              <a:t> ty)//</a:t>
            </a:r>
            <a:r>
              <a:rPr lang="zh-CN" altLang="en-US" sz="1800" dirty="0"/>
              <a:t>平移变换矩阵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Identity();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T[2][0]=</a:t>
            </a:r>
            <a:r>
              <a:rPr lang="en-US" altLang="zh-CN" sz="1800" dirty="0" err="1"/>
              <a:t>tx</a:t>
            </a:r>
            <a:r>
              <a:rPr lang="en-US" altLang="zh-CN" sz="1800" dirty="0"/>
              <a:t>;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T[2][1]=ty;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MultiMatrix</a:t>
            </a:r>
            <a:r>
              <a:rPr lang="en-US" altLang="zh-CN" sz="1800" dirty="0"/>
              <a:t>();	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void </a:t>
            </a:r>
            <a:r>
              <a:rPr lang="en-US" altLang="zh-CN" sz="1800" dirty="0" err="1"/>
              <a:t>CTransform</a:t>
            </a:r>
            <a:r>
              <a:rPr lang="en-US" altLang="zh-CN" sz="1800" dirty="0"/>
              <a:t>::Scale(double </a:t>
            </a:r>
            <a:r>
              <a:rPr lang="en-US" altLang="zh-CN" sz="1800" dirty="0" err="1"/>
              <a:t>sx,double</a:t>
            </a:r>
            <a:r>
              <a:rPr lang="en-US" altLang="zh-CN" sz="1800" dirty="0"/>
              <a:t> </a:t>
            </a:r>
            <a:r>
              <a:rPr lang="en-US" altLang="zh-CN" sz="1800" dirty="0" err="1"/>
              <a:t>sy</a:t>
            </a:r>
            <a:r>
              <a:rPr lang="en-US" altLang="zh-CN" sz="1800" dirty="0"/>
              <a:t>)//</a:t>
            </a:r>
            <a:r>
              <a:rPr lang="zh-CN" altLang="en-US" sz="1800" dirty="0"/>
              <a:t>比例变换矩阵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Identity();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T[0][0]=</a:t>
            </a:r>
            <a:r>
              <a:rPr lang="en-US" altLang="zh-CN" sz="1800" dirty="0" err="1"/>
              <a:t>sx</a:t>
            </a:r>
            <a:r>
              <a:rPr lang="en-US" altLang="zh-CN" sz="1800" dirty="0"/>
              <a:t>;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T[1][1]=</a:t>
            </a:r>
            <a:r>
              <a:rPr lang="en-US" altLang="zh-CN" sz="1800" dirty="0" err="1"/>
              <a:t>sy</a:t>
            </a:r>
            <a:r>
              <a:rPr lang="en-US" altLang="zh-CN" sz="1800" dirty="0"/>
              <a:t>;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MultiMatrix</a:t>
            </a:r>
            <a:r>
              <a:rPr lang="en-US" altLang="zh-CN" sz="1800" dirty="0"/>
              <a:t>();	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4"/>
          <p:cNvSpPr>
            <a:spLocks noChangeArrowheads="1"/>
          </p:cNvSpPr>
          <p:nvPr/>
        </p:nvSpPr>
        <p:spPr bwMode="auto">
          <a:xfrm>
            <a:off x="1187450" y="174625"/>
            <a:ext cx="7921625" cy="585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void </a:t>
            </a:r>
            <a:r>
              <a:rPr lang="en-US" altLang="zh-CN" sz="1800" dirty="0" err="1"/>
              <a:t>CTransform</a:t>
            </a:r>
            <a:r>
              <a:rPr lang="en-US" altLang="zh-CN" sz="1800" dirty="0"/>
              <a:t>::Rotate(double beta)//</a:t>
            </a:r>
            <a:r>
              <a:rPr lang="zh-CN" altLang="en-US" sz="1800" dirty="0"/>
              <a:t>旋转变换矩阵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Identity();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double rad=beta*PI/180;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T[0][0]=cos(rad); T[0][1]=sin(rad);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T[1][0]=-sin(rad);T[1][1]=cos(rad);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MultiMatrix</a:t>
            </a:r>
            <a:r>
              <a:rPr lang="en-US" altLang="zh-CN" sz="1800" dirty="0"/>
              <a:t>();	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void </a:t>
            </a:r>
            <a:r>
              <a:rPr lang="en-US" altLang="zh-CN" sz="1800" dirty="0" err="1"/>
              <a:t>CTransform</a:t>
            </a:r>
            <a:r>
              <a:rPr lang="en-US" altLang="zh-CN" sz="1800" dirty="0"/>
              <a:t>::Rotate(double beta,CP2 p)//</a:t>
            </a:r>
            <a:r>
              <a:rPr lang="zh-CN" altLang="en-US" sz="1800" dirty="0"/>
              <a:t>相对于任意点的旋转变换矩阵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Translate(-p.x,-</a:t>
            </a:r>
            <a:r>
              <a:rPr lang="en-US" altLang="zh-CN" sz="1800" dirty="0" err="1"/>
              <a:t>p.y</a:t>
            </a:r>
            <a:r>
              <a:rPr lang="en-US" altLang="zh-CN" sz="1800" dirty="0"/>
              <a:t>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Rotate(beta);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Translate(</a:t>
            </a:r>
            <a:r>
              <a:rPr lang="en-US" altLang="zh-CN" sz="1800" dirty="0" err="1"/>
              <a:t>p.x,p.y</a:t>
            </a:r>
            <a:r>
              <a:rPr lang="en-US" altLang="zh-CN" sz="1800" dirty="0"/>
              <a:t>);	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void </a:t>
            </a:r>
            <a:r>
              <a:rPr lang="en-US" altLang="zh-CN" sz="1800" dirty="0" err="1"/>
              <a:t>CTransform</a:t>
            </a:r>
            <a:r>
              <a:rPr lang="en-US" altLang="zh-CN" sz="1800" dirty="0"/>
              <a:t>::</a:t>
            </a:r>
            <a:r>
              <a:rPr lang="en-US" altLang="zh-CN" sz="1800" dirty="0" err="1"/>
              <a:t>ReflectO</a:t>
            </a:r>
            <a:r>
              <a:rPr lang="en-US" altLang="zh-CN" sz="1800" dirty="0"/>
              <a:t>()//</a:t>
            </a:r>
            <a:r>
              <a:rPr lang="zh-CN" altLang="en-US" sz="1800" dirty="0"/>
              <a:t>原点反射变换矩阵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Identity();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T[0][0]=-1;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T[1][1]=-1;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MultiMatrix</a:t>
            </a:r>
            <a:r>
              <a:rPr lang="en-US" altLang="zh-CN" sz="1800" dirty="0"/>
              <a:t>();	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/>
          <p:cNvSpPr>
            <a:spLocks noChangeArrowheads="1"/>
          </p:cNvSpPr>
          <p:nvPr/>
        </p:nvSpPr>
        <p:spPr bwMode="auto">
          <a:xfrm>
            <a:off x="1403350" y="404813"/>
            <a:ext cx="7489825" cy="585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void </a:t>
            </a:r>
            <a:r>
              <a:rPr lang="en-US" altLang="zh-CN" sz="1800" dirty="0" err="1"/>
              <a:t>CTransform</a:t>
            </a:r>
            <a:r>
              <a:rPr lang="en-US" altLang="zh-CN" sz="1800" dirty="0"/>
              <a:t>::</a:t>
            </a:r>
            <a:r>
              <a:rPr lang="en-US" altLang="zh-CN" sz="1800" dirty="0" err="1"/>
              <a:t>ReflectX</a:t>
            </a:r>
            <a:r>
              <a:rPr lang="en-US" altLang="zh-CN" sz="1800" dirty="0"/>
              <a:t>()//X</a:t>
            </a:r>
            <a:r>
              <a:rPr lang="zh-CN" altLang="en-US" sz="1800" dirty="0"/>
              <a:t>轴反射变换矩阵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Identity();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T[0][0]=1;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T[1][1]=-1;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MultiMatrix</a:t>
            </a:r>
            <a:r>
              <a:rPr lang="en-US" altLang="zh-CN" sz="1800" dirty="0"/>
              <a:t>();	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void </a:t>
            </a:r>
            <a:r>
              <a:rPr lang="en-US" altLang="zh-CN" sz="1800" dirty="0" err="1"/>
              <a:t>CTransform</a:t>
            </a:r>
            <a:r>
              <a:rPr lang="en-US" altLang="zh-CN" sz="1800" dirty="0"/>
              <a:t>::</a:t>
            </a:r>
            <a:r>
              <a:rPr lang="en-US" altLang="zh-CN" sz="1800" dirty="0" err="1"/>
              <a:t>ReflectY</a:t>
            </a:r>
            <a:r>
              <a:rPr lang="en-US" altLang="zh-CN" sz="1800" dirty="0"/>
              <a:t>()//Y</a:t>
            </a:r>
            <a:r>
              <a:rPr lang="zh-CN" altLang="en-US" sz="1800" dirty="0"/>
              <a:t>轴反射变换矩阵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Identity();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T[0][0]=-1;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T[1][1]=1;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MultiMatrix</a:t>
            </a:r>
            <a:r>
              <a:rPr lang="en-US" altLang="zh-CN" sz="1800" dirty="0"/>
              <a:t>();	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void </a:t>
            </a:r>
            <a:r>
              <a:rPr lang="en-US" altLang="zh-CN" sz="1800" dirty="0" err="1"/>
              <a:t>CTransform</a:t>
            </a:r>
            <a:r>
              <a:rPr lang="en-US" altLang="zh-CN" sz="1800" dirty="0"/>
              <a:t>::Shear(double </a:t>
            </a:r>
            <a:r>
              <a:rPr lang="en-US" altLang="zh-CN" sz="1800" dirty="0" err="1"/>
              <a:t>b,double</a:t>
            </a:r>
            <a:r>
              <a:rPr lang="en-US" altLang="zh-CN" sz="1800" dirty="0"/>
              <a:t> c)//</a:t>
            </a:r>
            <a:r>
              <a:rPr lang="zh-CN" altLang="en-US" sz="1800" dirty="0"/>
              <a:t>错切变换矩阵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Identity();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T[0][1]=b;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T[1][0]=c;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MultiMatrix</a:t>
            </a:r>
            <a:r>
              <a:rPr lang="en-US" altLang="zh-CN" sz="1800" dirty="0"/>
              <a:t>();	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4"/>
          <p:cNvSpPr>
            <a:spLocks noChangeArrowheads="1"/>
          </p:cNvSpPr>
          <p:nvPr/>
        </p:nvSpPr>
        <p:spPr bwMode="auto">
          <a:xfrm>
            <a:off x="1403350" y="765175"/>
            <a:ext cx="7416800" cy="503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void </a:t>
            </a:r>
            <a:r>
              <a:rPr lang="en-US" altLang="zh-CN" sz="1800" dirty="0" err="1"/>
              <a:t>CTransform</a:t>
            </a:r>
            <a:r>
              <a:rPr lang="en-US" altLang="zh-CN" sz="1800" dirty="0"/>
              <a:t>::</a:t>
            </a:r>
            <a:r>
              <a:rPr lang="en-US" altLang="zh-CN" sz="1800" dirty="0" err="1"/>
              <a:t>MultiMatrix</a:t>
            </a:r>
            <a:r>
              <a:rPr lang="en-US" altLang="zh-CN" sz="1800" dirty="0"/>
              <a:t>()//</a:t>
            </a:r>
            <a:r>
              <a:rPr lang="zh-CN" altLang="en-US" sz="1800" dirty="0"/>
              <a:t>矩阵相乘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CP2 *</a:t>
            </a:r>
            <a:r>
              <a:rPr lang="en-US" altLang="zh-CN" sz="1800" dirty="0" err="1"/>
              <a:t>PNew</a:t>
            </a:r>
            <a:r>
              <a:rPr lang="en-US" altLang="zh-CN" sz="1800" dirty="0"/>
              <a:t>=new CP2[</a:t>
            </a:r>
            <a:r>
              <a:rPr lang="en-US" altLang="zh-CN" sz="1800" dirty="0" err="1"/>
              <a:t>num</a:t>
            </a:r>
            <a:r>
              <a:rPr lang="en-US" altLang="zh-CN" sz="1800" dirty="0"/>
              <a:t>];	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for(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=0;i&lt;</a:t>
            </a:r>
            <a:r>
              <a:rPr lang="en-US" altLang="zh-CN" sz="1800" dirty="0" err="1"/>
              <a:t>num;i</a:t>
            </a:r>
            <a:r>
              <a:rPr lang="en-US" altLang="zh-CN" sz="1800" dirty="0"/>
              <a:t>++)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	</a:t>
            </a:r>
            <a:r>
              <a:rPr lang="en-US" altLang="zh-CN" sz="1800" dirty="0" err="1"/>
              <a:t>PNew</a:t>
            </a:r>
            <a:r>
              <a:rPr lang="en-US" altLang="zh-CN" sz="1800" dirty="0"/>
              <a:t>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]=</a:t>
            </a:r>
            <a:r>
              <a:rPr lang="en-US" altLang="zh-CN" sz="1800" dirty="0" err="1"/>
              <a:t>POld</a:t>
            </a:r>
            <a:r>
              <a:rPr lang="en-US" altLang="zh-CN" sz="1800" dirty="0"/>
              <a:t>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for(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j=0;j&lt;</a:t>
            </a:r>
            <a:r>
              <a:rPr lang="en-US" altLang="zh-CN" sz="1800" dirty="0" err="1"/>
              <a:t>num;j</a:t>
            </a:r>
            <a:r>
              <a:rPr lang="en-US" altLang="zh-CN" sz="1800" dirty="0"/>
              <a:t>++)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	</a:t>
            </a:r>
            <a:r>
              <a:rPr lang="en-US" altLang="zh-CN" sz="1800" dirty="0" err="1"/>
              <a:t>POld</a:t>
            </a:r>
            <a:r>
              <a:rPr lang="en-US" altLang="zh-CN" sz="1800" dirty="0"/>
              <a:t>[j].x=</a:t>
            </a:r>
            <a:r>
              <a:rPr lang="en-US" altLang="zh-CN" sz="1800" dirty="0" err="1"/>
              <a:t>PNew</a:t>
            </a:r>
            <a:r>
              <a:rPr lang="en-US" altLang="zh-CN" sz="1800" dirty="0"/>
              <a:t>[j].x*T[0][0]+</a:t>
            </a:r>
            <a:r>
              <a:rPr lang="en-US" altLang="zh-CN" sz="1800" dirty="0" err="1"/>
              <a:t>PNew</a:t>
            </a:r>
            <a:r>
              <a:rPr lang="en-US" altLang="zh-CN" sz="1800" dirty="0"/>
              <a:t>[j].y*T[1][0]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                                      +</a:t>
            </a:r>
            <a:r>
              <a:rPr lang="en-US" altLang="zh-CN" sz="1800" dirty="0" err="1"/>
              <a:t>PNew</a:t>
            </a:r>
            <a:r>
              <a:rPr lang="en-US" altLang="zh-CN" sz="1800" dirty="0"/>
              <a:t>[j].w*T[2][0];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	</a:t>
            </a:r>
            <a:r>
              <a:rPr lang="en-US" altLang="zh-CN" sz="1800" dirty="0" err="1"/>
              <a:t>POld</a:t>
            </a:r>
            <a:r>
              <a:rPr lang="en-US" altLang="zh-CN" sz="1800" dirty="0"/>
              <a:t>[j].y=</a:t>
            </a:r>
            <a:r>
              <a:rPr lang="en-US" altLang="zh-CN" sz="1800" dirty="0" err="1"/>
              <a:t>PNew</a:t>
            </a:r>
            <a:r>
              <a:rPr lang="en-US" altLang="zh-CN" sz="1800" dirty="0"/>
              <a:t>[j].x*T[0][1]+</a:t>
            </a:r>
            <a:r>
              <a:rPr lang="en-US" altLang="zh-CN" sz="1800" dirty="0" err="1"/>
              <a:t>PNew</a:t>
            </a:r>
            <a:r>
              <a:rPr lang="en-US" altLang="zh-CN" sz="1800" dirty="0"/>
              <a:t>[j].y*T[1][1]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                                      +</a:t>
            </a:r>
            <a:r>
              <a:rPr lang="en-US" altLang="zh-CN" sz="1800" dirty="0" err="1"/>
              <a:t>PNew</a:t>
            </a:r>
            <a:r>
              <a:rPr lang="en-US" altLang="zh-CN" sz="1800" dirty="0"/>
              <a:t>[j].w*T[2][1];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	</a:t>
            </a:r>
            <a:r>
              <a:rPr lang="en-US" altLang="zh-CN" sz="1800" dirty="0" err="1"/>
              <a:t>POld</a:t>
            </a:r>
            <a:r>
              <a:rPr lang="en-US" altLang="zh-CN" sz="1800" dirty="0"/>
              <a:t>[j].w=</a:t>
            </a:r>
            <a:r>
              <a:rPr lang="en-US" altLang="zh-CN" sz="1800" dirty="0" err="1"/>
              <a:t>PNew</a:t>
            </a:r>
            <a:r>
              <a:rPr lang="en-US" altLang="zh-CN" sz="1800" dirty="0"/>
              <a:t>[j].x*T[0][2]+</a:t>
            </a:r>
            <a:r>
              <a:rPr lang="en-US" altLang="zh-CN" sz="1800" dirty="0" err="1"/>
              <a:t>PNew</a:t>
            </a:r>
            <a:r>
              <a:rPr lang="en-US" altLang="zh-CN" sz="1800" dirty="0"/>
              <a:t>[j].y*T[1][2]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                                      +</a:t>
            </a:r>
            <a:r>
              <a:rPr lang="en-US" altLang="zh-CN" sz="1800" dirty="0" err="1"/>
              <a:t>PNew</a:t>
            </a:r>
            <a:r>
              <a:rPr lang="en-US" altLang="zh-CN" sz="1800" dirty="0"/>
              <a:t>[j].w*T[2][2];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delete []</a:t>
            </a:r>
            <a:r>
              <a:rPr lang="en-US" altLang="zh-CN" sz="1800" dirty="0" err="1"/>
              <a:t>PNew</a:t>
            </a:r>
            <a:r>
              <a:rPr lang="en-US" altLang="zh-CN" sz="1800" dirty="0"/>
              <a:t>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4"/>
          <p:cNvSpPr txBox="1">
            <a:spLocks noChangeArrowheads="1"/>
          </p:cNvSpPr>
          <p:nvPr/>
        </p:nvSpPr>
        <p:spPr bwMode="auto">
          <a:xfrm>
            <a:off x="4427538" y="5589588"/>
            <a:ext cx="2017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>
                <a:hlinkClick r:id="rId2" action="ppaction://hlinkfile"/>
              </a:rPr>
              <a:t>二维几何变换</a:t>
            </a:r>
            <a:endParaRPr lang="zh-CN" altLang="en-US"/>
          </a:p>
        </p:txBody>
      </p:sp>
      <p:pic>
        <p:nvPicPr>
          <p:cNvPr id="3481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333375"/>
            <a:ext cx="6553200" cy="474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1187450" y="188913"/>
            <a:ext cx="3960813" cy="7191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en-US" altLang="zh-CN" sz="36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5.4 </a:t>
            </a:r>
            <a:r>
              <a:rPr lang="zh-CN" altLang="en-US" sz="36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二维图形裁剪</a:t>
            </a:r>
          </a:p>
        </p:txBody>
      </p:sp>
      <p:sp>
        <p:nvSpPr>
          <p:cNvPr id="35845" name="Rectangle 8"/>
          <p:cNvSpPr>
            <a:spLocks noChangeArrowheads="1"/>
          </p:cNvSpPr>
          <p:nvPr/>
        </p:nvSpPr>
        <p:spPr bwMode="auto">
          <a:xfrm>
            <a:off x="0" y="1598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35846" name="Rectangle 9"/>
          <p:cNvSpPr>
            <a:spLocks noChangeArrowheads="1"/>
          </p:cNvSpPr>
          <p:nvPr/>
        </p:nvSpPr>
        <p:spPr bwMode="auto">
          <a:xfrm>
            <a:off x="4356100" y="3189288"/>
            <a:ext cx="4381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00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840091" y="4187100"/>
            <a:ext cx="2303909" cy="1933163"/>
            <a:chOff x="5244847" y="4457457"/>
            <a:chExt cx="2303909" cy="1933163"/>
          </a:xfrm>
        </p:grpSpPr>
        <p:graphicFrame>
          <p:nvGraphicFramePr>
            <p:cNvPr id="35844" name="Object 6"/>
            <p:cNvGraphicFramePr>
              <a:graphicFrameLocks noChangeAspect="1"/>
            </p:cNvGraphicFramePr>
            <p:nvPr/>
          </p:nvGraphicFramePr>
          <p:xfrm>
            <a:off x="5508104" y="4457457"/>
            <a:ext cx="1686857" cy="1656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91" r:id="rId3" imgW="2980055" imgH="2923540" progId="Visio.Drawing.11">
                    <p:embed/>
                  </p:oleObj>
                </mc:Choice>
                <mc:Fallback>
                  <p:oleObj r:id="rId3" imgW="2980055" imgH="2923540" progId="Visio.Drawing.11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8104" y="4457457"/>
                          <a:ext cx="1686857" cy="1656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47" name="Rectangle 10"/>
            <p:cNvSpPr>
              <a:spLocks noChangeArrowheads="1"/>
            </p:cNvSpPr>
            <p:nvPr/>
          </p:nvSpPr>
          <p:spPr bwMode="auto">
            <a:xfrm>
              <a:off x="5244847" y="6021288"/>
              <a:ext cx="230390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1800" dirty="0" smtClean="0">
                  <a:latin typeface="楷体_GB2312" pitchFamily="49" charset="-122"/>
                </a:rPr>
                <a:t>三维</a:t>
              </a:r>
              <a:r>
                <a:rPr lang="zh-CN" altLang="en-US" sz="1800" dirty="0">
                  <a:latin typeface="楷体_GB2312" pitchFamily="49" charset="-122"/>
                </a:rPr>
                <a:t>右手直角坐标系</a:t>
              </a:r>
              <a:endParaRPr lang="zh-CN" altLang="en-US" sz="1800" dirty="0">
                <a:latin typeface="楷体_GB2312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5848" name="Rectangle 11"/>
          <p:cNvSpPr>
            <a:spLocks noChangeArrowheads="1"/>
          </p:cNvSpPr>
          <p:nvPr/>
        </p:nvSpPr>
        <p:spPr bwMode="auto">
          <a:xfrm>
            <a:off x="323529" y="1510571"/>
            <a:ext cx="6624736" cy="5124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世界坐标系</a:t>
            </a:r>
            <a:r>
              <a:rPr lang="en-US" altLang="zh-CN" sz="20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dirty="0" smtClean="0"/>
              <a:t>描述</a:t>
            </a:r>
            <a:r>
              <a:rPr lang="zh-CN" altLang="en-US" sz="2000" dirty="0"/>
              <a:t>现实世界中场景的固定坐标系称为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世界坐标系</a:t>
            </a:r>
            <a:r>
              <a:rPr lang="zh-CN" altLang="en-US" sz="2000" dirty="0"/>
              <a:t>，世界坐标系是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实数域坐标系</a:t>
            </a:r>
            <a:r>
              <a:rPr lang="zh-CN" altLang="en-US" sz="2000" dirty="0"/>
              <a:t>，根据应用的需要可以选择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直角坐标系</a:t>
            </a:r>
            <a:r>
              <a:rPr lang="zh-CN" altLang="en-US" sz="2000" dirty="0"/>
              <a:t>、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圆柱坐标系</a:t>
            </a:r>
            <a:r>
              <a:rPr lang="zh-CN" altLang="en-US" sz="2000" dirty="0"/>
              <a:t>、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球坐标系</a:t>
            </a:r>
            <a:r>
              <a:rPr lang="zh-CN" altLang="en-US" sz="2000" dirty="0"/>
              <a:t>以及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极坐标系</a:t>
            </a:r>
            <a:r>
              <a:rPr lang="zh-CN" altLang="en-US" sz="2000" dirty="0"/>
              <a:t>等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marL="457200" indent="-45720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用户坐标系</a:t>
            </a:r>
            <a:r>
              <a:rPr lang="en-US" altLang="zh-CN" sz="20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dirty="0"/>
              <a:t>描述物体数学模型的坐标系称为用户坐标系，有时也称为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局部坐标系</a:t>
            </a:r>
            <a:r>
              <a:rPr lang="zh-CN" altLang="en-US" sz="2000" dirty="0"/>
              <a:t>。用户坐标系也是实数域坐标系。用户坐标系是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可移动坐标系</a:t>
            </a:r>
            <a:r>
              <a:rPr lang="zh-CN" altLang="en-US" sz="2000" dirty="0"/>
              <a:t>，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用户坐标系的原点可以放在物体的任意位置上</a:t>
            </a:r>
            <a:r>
              <a:rPr lang="zh-CN" altLang="en-US" sz="2000" dirty="0"/>
              <a:t>，坐标系也可以旋转任意角度</a:t>
            </a:r>
            <a:r>
              <a:rPr lang="zh-CN" altLang="en-US" sz="2000" dirty="0" smtClean="0"/>
              <a:t>。</a:t>
            </a:r>
            <a:r>
              <a:rPr lang="zh-CN" altLang="en-US" sz="20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对于立方体</a:t>
            </a:r>
            <a:r>
              <a:rPr lang="zh-CN" altLang="en-US" sz="1800" dirty="0" smtClean="0"/>
              <a:t>，</a:t>
            </a:r>
            <a:r>
              <a:rPr lang="zh-CN" altLang="en-US" sz="2000" dirty="0"/>
              <a:t>可以将用户坐标系原点放置在立方体中心</a:t>
            </a:r>
            <a:r>
              <a:rPr lang="zh-CN" altLang="en-US" sz="1800" dirty="0" smtClean="0"/>
              <a:t>；</a:t>
            </a:r>
            <a:r>
              <a:rPr lang="zh-CN" altLang="en-US" sz="20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对于圆柱</a:t>
            </a:r>
            <a:r>
              <a:rPr lang="zh-CN" altLang="en-US" sz="1800" dirty="0"/>
              <a:t>，</a:t>
            </a:r>
            <a:r>
              <a:rPr lang="zh-CN" altLang="en-US" sz="2000" dirty="0"/>
              <a:t>可以将用户坐标系的</a:t>
            </a:r>
            <a:r>
              <a:rPr lang="en-US" altLang="zh-CN" sz="2000" dirty="0"/>
              <a:t>y</a:t>
            </a:r>
            <a:r>
              <a:rPr lang="zh-CN" altLang="en-US" sz="2000" dirty="0"/>
              <a:t>轴作为旋转轴。 </a:t>
            </a:r>
          </a:p>
        </p:txBody>
      </p:sp>
      <p:sp>
        <p:nvSpPr>
          <p:cNvPr id="38922" name="Rectangle 14"/>
          <p:cNvSpPr>
            <a:spLocks noChangeArrowheads="1"/>
          </p:cNvSpPr>
          <p:nvPr/>
        </p:nvSpPr>
        <p:spPr bwMode="auto">
          <a:xfrm>
            <a:off x="1258888" y="908050"/>
            <a:ext cx="5545137" cy="579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5.4.1 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图形学中常用的坐标系</a:t>
            </a:r>
            <a:r>
              <a:rPr lang="zh-CN" altLang="en-US"/>
              <a:t> 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7028018" y="1180207"/>
            <a:ext cx="1915909" cy="2101580"/>
            <a:chOff x="2317963" y="4381641"/>
            <a:chExt cx="1915909" cy="2101580"/>
          </a:xfrm>
        </p:grpSpPr>
        <p:graphicFrame>
          <p:nvGraphicFramePr>
            <p:cNvPr id="35843" name="Object 7"/>
            <p:cNvGraphicFramePr>
              <a:graphicFrameLocks noChangeAspect="1"/>
            </p:cNvGraphicFramePr>
            <p:nvPr/>
          </p:nvGraphicFramePr>
          <p:xfrm>
            <a:off x="2339752" y="4381641"/>
            <a:ext cx="1872332" cy="1872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92" r:id="rId5" imgW="3770630" imgH="3770630" progId="Visio.Drawing.11">
                    <p:embed/>
                  </p:oleObj>
                </mc:Choice>
                <mc:Fallback>
                  <p:oleObj r:id="rId5" imgW="3770630" imgH="3770630" progId="Visio.Drawing.11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9752" y="4381641"/>
                          <a:ext cx="1872332" cy="1872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矩形 1"/>
            <p:cNvSpPr/>
            <p:nvPr/>
          </p:nvSpPr>
          <p:spPr>
            <a:xfrm>
              <a:off x="2317963" y="6113889"/>
              <a:ext cx="191590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800" dirty="0">
                  <a:latin typeface="楷体_GB2312" pitchFamily="49" charset="-122"/>
                </a:rPr>
                <a:t>二维直角坐标系 </a:t>
              </a:r>
              <a:endParaRPr lang="zh-CN" altLang="en-US" sz="1800" dirty="0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5"/>
          <p:cNvSpPr>
            <a:spLocks noChangeArrowheads="1"/>
          </p:cNvSpPr>
          <p:nvPr/>
        </p:nvSpPr>
        <p:spPr bwMode="auto">
          <a:xfrm>
            <a:off x="395536" y="232907"/>
            <a:ext cx="8568952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Font typeface="+mj-lt"/>
              <a:buAutoNum type="arabicPeriod" startAt="3"/>
            </a:pPr>
            <a:r>
              <a:rPr lang="zh-CN" altLang="en-US" sz="20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</a:t>
            </a:r>
            <a:r>
              <a:rPr lang="zh-CN" altLang="en-US" sz="20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坐标系</a:t>
            </a: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: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观察坐标系</a:t>
            </a:r>
            <a:r>
              <a:rPr lang="zh-CN" altLang="en-US" sz="2000" dirty="0"/>
              <a:t>是在世界坐标系中定义的坐标系，</a:t>
            </a:r>
            <a:r>
              <a:rPr lang="zh-CN" altLang="en-US" sz="2000" b="1" dirty="0">
                <a:solidFill>
                  <a:srgbClr val="33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观察坐标系原点位于视点</a:t>
            </a:r>
            <a:r>
              <a:rPr lang="zh-CN" altLang="en-US" sz="2000" dirty="0"/>
              <a:t>，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轴垂直于屏幕</a:t>
            </a:r>
            <a:r>
              <a:rPr lang="zh-CN" altLang="en-US" sz="2000" dirty="0"/>
              <a:t>，</a:t>
            </a:r>
            <a:r>
              <a:rPr lang="zh-CN" altLang="en-US" sz="20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正向为视线方向</a:t>
            </a:r>
            <a:r>
              <a:rPr lang="zh-CN" altLang="en-US" sz="2000" dirty="0"/>
              <a:t>。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二维观察坐标系主要用于指定图形的输出范围</a:t>
            </a:r>
            <a:r>
              <a:rPr lang="zh-CN" altLang="en-US" sz="2000" dirty="0"/>
              <a:t>。三维观察坐标系是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左手系</a:t>
            </a:r>
            <a:r>
              <a:rPr lang="zh-CN" altLang="en-US" sz="2000" dirty="0"/>
              <a:t>，用于生成物体的旋转动画。 </a:t>
            </a:r>
          </a:p>
          <a:p>
            <a:pPr marL="457200" indent="-457200" eaLnBrk="1" hangingPunct="1">
              <a:lnSpc>
                <a:spcPct val="150000"/>
              </a:lnSpc>
              <a:buFont typeface="+mj-lt"/>
              <a:buAutoNum type="arabicPeriod" startAt="4"/>
            </a:pPr>
            <a:r>
              <a:rPr lang="zh-CN" altLang="en-US" sz="20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屏幕坐标系</a:t>
            </a:r>
            <a:r>
              <a:rPr lang="en-US" altLang="zh-CN" sz="20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dirty="0">
                <a:latin typeface="楷体_GB2312" pitchFamily="49" charset="-122"/>
              </a:rPr>
              <a:t>屏幕坐标系为实数域</a:t>
            </a:r>
            <a:r>
              <a:rPr lang="zh-CN" altLang="en-US" sz="20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二维直角坐标系</a:t>
            </a:r>
            <a:r>
              <a:rPr lang="zh-CN" altLang="en-US" sz="2000" dirty="0">
                <a:latin typeface="楷体_GB2312" pitchFamily="49" charset="-122"/>
              </a:rPr>
              <a:t>。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原点位于屏幕中心，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轴水平向右为正，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轴垂直向上为正</a:t>
            </a:r>
            <a:r>
              <a:rPr lang="zh-CN" altLang="en-US" sz="2000" dirty="0">
                <a:latin typeface="楷体_GB2312" pitchFamily="49" charset="-122"/>
              </a:rPr>
              <a:t>。</a:t>
            </a:r>
            <a:endParaRPr lang="en-US" altLang="zh-CN" sz="2000" dirty="0">
              <a:latin typeface="楷体_GB2312" pitchFamily="49" charset="-122"/>
            </a:endParaRPr>
          </a:p>
          <a:p>
            <a:pPr marL="457200" indent="-457200" eaLnBrk="1" hangingPunct="1">
              <a:lnSpc>
                <a:spcPct val="150000"/>
              </a:lnSpc>
              <a:buFont typeface="+mj-lt"/>
              <a:buAutoNum type="arabicPeriod" startAt="4"/>
            </a:pPr>
            <a:r>
              <a:rPr lang="zh-CN" altLang="en-US" sz="20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设备坐标系</a:t>
            </a:r>
            <a:r>
              <a:rPr lang="en-US" altLang="zh-CN" sz="20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dirty="0"/>
              <a:t>显示器等图形输出设备自身都带有一个二维直角坐标系称为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设备坐标系</a:t>
            </a:r>
            <a:r>
              <a:rPr lang="zh-CN" altLang="en-US" sz="2000" dirty="0"/>
              <a:t>。设备坐标系是</a:t>
            </a:r>
            <a:r>
              <a:rPr lang="zh-CN" altLang="en-US" sz="20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整数域</a:t>
            </a:r>
            <a:r>
              <a:rPr lang="zh-CN" altLang="en-US" sz="2000" dirty="0"/>
              <a:t>二维坐标系，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原点位于屏幕左上角</a:t>
            </a:r>
            <a:r>
              <a:rPr lang="zh-CN" altLang="en-US" sz="2000" dirty="0"/>
              <a:t>，</a:t>
            </a:r>
            <a:r>
              <a:rPr lang="en-US" altLang="zh-CN" sz="20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0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轴水平向右</a:t>
            </a:r>
            <a:r>
              <a:rPr lang="zh-CN" altLang="en-US" sz="2000" dirty="0"/>
              <a:t>，</a:t>
            </a:r>
            <a:r>
              <a:rPr lang="en-US" altLang="zh-CN" sz="20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0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轴垂直向下</a:t>
            </a:r>
            <a:r>
              <a:rPr lang="zh-CN" altLang="en-US" sz="2000" dirty="0"/>
              <a:t>，基本单位为像素。格化到</a:t>
            </a:r>
            <a:r>
              <a:rPr lang="en-US" altLang="zh-CN" sz="2000" dirty="0"/>
              <a:t>〔0.0</a:t>
            </a:r>
            <a:r>
              <a:rPr lang="zh-CN" altLang="en-US" sz="2000" dirty="0"/>
              <a:t>，</a:t>
            </a:r>
            <a:r>
              <a:rPr lang="en-US" altLang="zh-CN" sz="2000" dirty="0"/>
              <a:t>0.0〕</a:t>
            </a:r>
            <a:r>
              <a:rPr lang="zh-CN" altLang="en-US" sz="2000" dirty="0"/>
              <a:t>到</a:t>
            </a:r>
            <a:r>
              <a:rPr lang="en-US" altLang="zh-CN" sz="2000" dirty="0"/>
              <a:t>〔1.0</a:t>
            </a:r>
            <a:r>
              <a:rPr lang="zh-CN" altLang="en-US" sz="2000" dirty="0"/>
              <a:t>，</a:t>
            </a:r>
            <a:r>
              <a:rPr lang="en-US" altLang="zh-CN" sz="2000" dirty="0"/>
              <a:t>1.0〕</a:t>
            </a:r>
            <a:r>
              <a:rPr lang="zh-CN" altLang="en-US" sz="2000" dirty="0"/>
              <a:t>的范围内的设备坐标系称为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规格化设备坐标系。</a:t>
            </a:r>
            <a:r>
              <a:rPr lang="zh-CN" altLang="en-US" sz="2000" dirty="0">
                <a:latin typeface="楷体_GB2312" pitchFamily="49" charset="-122"/>
              </a:rPr>
              <a:t> 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292080" y="4966865"/>
            <a:ext cx="2031325" cy="1548190"/>
            <a:chOff x="5239087" y="4941888"/>
            <a:chExt cx="2031325" cy="1548190"/>
          </a:xfrm>
        </p:grpSpPr>
        <p:graphicFrame>
          <p:nvGraphicFramePr>
            <p:cNvPr id="5" name="Object 8"/>
            <p:cNvGraphicFramePr>
              <a:graphicFrameLocks noChangeAspect="1"/>
            </p:cNvGraphicFramePr>
            <p:nvPr/>
          </p:nvGraphicFramePr>
          <p:xfrm>
            <a:off x="5364163" y="4941888"/>
            <a:ext cx="1781175" cy="1285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56" r:id="rId3" imgW="4120515" imgH="2969260" progId="Visio.Drawing.11">
                    <p:embed/>
                  </p:oleObj>
                </mc:Choice>
                <mc:Fallback>
                  <p:oleObj r:id="rId3" imgW="4120515" imgH="2969260" progId="Visio.Drawing.11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4163" y="4941888"/>
                          <a:ext cx="1781175" cy="1285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Rectangle 12"/>
            <p:cNvSpPr>
              <a:spLocks noChangeArrowheads="1"/>
            </p:cNvSpPr>
            <p:nvPr/>
          </p:nvSpPr>
          <p:spPr bwMode="auto">
            <a:xfrm>
              <a:off x="5239087" y="6120746"/>
              <a:ext cx="20313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1800" dirty="0" smtClean="0">
                  <a:latin typeface="楷体_GB2312" pitchFamily="49" charset="-122"/>
                </a:rPr>
                <a:t>规格化设备坐标</a:t>
              </a:r>
              <a:r>
                <a:rPr lang="zh-CN" altLang="en-US" sz="1800" dirty="0">
                  <a:latin typeface="楷体_GB2312" pitchFamily="49" charset="-122"/>
                </a:rPr>
                <a:t>系</a:t>
              </a:r>
              <a:endParaRPr lang="zh-CN" altLang="en-US" sz="1800" dirty="0">
                <a:latin typeface="楷体_GB2312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979712" y="4966865"/>
            <a:ext cx="2286000" cy="1543566"/>
            <a:chOff x="1979613" y="4868863"/>
            <a:chExt cx="2286000" cy="1543566"/>
          </a:xfrm>
        </p:grpSpPr>
        <p:graphicFrame>
          <p:nvGraphicFramePr>
            <p:cNvPr id="8" name="Object 9"/>
            <p:cNvGraphicFramePr>
              <a:graphicFrameLocks noChangeAspect="1"/>
            </p:cNvGraphicFramePr>
            <p:nvPr/>
          </p:nvGraphicFramePr>
          <p:xfrm>
            <a:off x="1979613" y="4868863"/>
            <a:ext cx="2286000" cy="1228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57" r:id="rId5" imgW="5509260" imgH="2969260" progId="Visio.Drawing.11">
                    <p:embed/>
                  </p:oleObj>
                </mc:Choice>
                <mc:Fallback>
                  <p:oleObj r:id="rId5" imgW="5509260" imgH="2969260" progId="Visio.Drawing.11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9613" y="4868863"/>
                          <a:ext cx="2286000" cy="1228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矩形 8"/>
            <p:cNvSpPr/>
            <p:nvPr/>
          </p:nvSpPr>
          <p:spPr>
            <a:xfrm>
              <a:off x="2395491" y="6043097"/>
              <a:ext cx="14542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800" dirty="0">
                  <a:latin typeface="楷体_GB2312" pitchFamily="49" charset="-122"/>
                </a:rPr>
                <a:t>设备坐标系 </a:t>
              </a:r>
              <a:endParaRPr lang="zh-CN" altLang="en-US" sz="1800" dirty="0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90" name="Object 5"/>
          <p:cNvGraphicFramePr>
            <a:graphicFrameLocks noChangeAspect="1"/>
          </p:cNvGraphicFramePr>
          <p:nvPr/>
        </p:nvGraphicFramePr>
        <p:xfrm>
          <a:off x="1692275" y="333375"/>
          <a:ext cx="3024188" cy="249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1" r:id="rId3" imgW="5339715" imgH="4402455" progId="Visio.Drawing.11">
                  <p:embed/>
                </p:oleObj>
              </mc:Choice>
              <mc:Fallback>
                <p:oleObj r:id="rId3" imgW="5339715" imgH="4402455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33375"/>
                        <a:ext cx="3024188" cy="249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891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1125538"/>
            <a:ext cx="1781175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2" name="Text Box 8"/>
          <p:cNvSpPr txBox="1">
            <a:spLocks noChangeArrowheads="1"/>
          </p:cNvSpPr>
          <p:nvPr/>
        </p:nvSpPr>
        <p:spPr bwMode="auto">
          <a:xfrm>
            <a:off x="3708400" y="692150"/>
            <a:ext cx="18732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观察坐标系系</a:t>
            </a:r>
            <a:endParaRPr lang="zh-CN" altLang="en-US" sz="200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893" name="Text Box 7"/>
          <p:cNvSpPr txBox="1">
            <a:spLocks noChangeArrowheads="1"/>
          </p:cNvSpPr>
          <p:nvPr/>
        </p:nvSpPr>
        <p:spPr bwMode="auto">
          <a:xfrm>
            <a:off x="2339975" y="2636838"/>
            <a:ext cx="151130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世界坐标系</a:t>
            </a:r>
            <a:endParaRPr lang="zh-CN" altLang="en-US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894" name="Text Box 6"/>
          <p:cNvSpPr txBox="1">
            <a:spLocks noChangeArrowheads="1"/>
          </p:cNvSpPr>
          <p:nvPr/>
        </p:nvSpPr>
        <p:spPr bwMode="auto">
          <a:xfrm>
            <a:off x="6804025" y="620713"/>
            <a:ext cx="129540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输出结果</a:t>
            </a:r>
            <a:endParaRPr lang="zh-CN" altLang="en-US" sz="200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896" name="Rectangle 12"/>
          <p:cNvSpPr>
            <a:spLocks noChangeArrowheads="1"/>
          </p:cNvSpPr>
          <p:nvPr/>
        </p:nvSpPr>
        <p:spPr bwMode="auto">
          <a:xfrm>
            <a:off x="4703763" y="2781300"/>
            <a:ext cx="231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>
                <a:latin typeface="Times New Roman" panose="02020603050405020304" pitchFamily="18" charset="0"/>
              </a:rPr>
              <a:t>二维观察坐标系</a:t>
            </a:r>
            <a:endParaRPr lang="zh-CN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898" name="Object 13"/>
          <p:cNvGraphicFramePr>
            <a:graphicFrameLocks noChangeAspect="1"/>
          </p:cNvGraphicFramePr>
          <p:nvPr/>
        </p:nvGraphicFramePr>
        <p:xfrm>
          <a:off x="2916238" y="3357563"/>
          <a:ext cx="4248150" cy="310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2" r:id="rId6" imgW="6423660" imgH="4685030" progId="Visio.Drawing.11">
                  <p:embed/>
                </p:oleObj>
              </mc:Choice>
              <mc:Fallback>
                <p:oleObj r:id="rId6" imgW="6423660" imgH="4685030" progId="Visio.Drawing.11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357563"/>
                        <a:ext cx="4248150" cy="310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9" name="Text Box 15"/>
          <p:cNvSpPr txBox="1">
            <a:spLocks noChangeArrowheads="1"/>
          </p:cNvSpPr>
          <p:nvPr/>
        </p:nvSpPr>
        <p:spPr bwMode="auto">
          <a:xfrm>
            <a:off x="2051050" y="3500438"/>
            <a:ext cx="1741488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buFont typeface="Arial" panose="020B0604020202020204" pitchFamily="34" charset="0"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观察坐标系</a:t>
            </a:r>
            <a:endParaRPr lang="zh-CN" altLang="en-US" sz="2000"/>
          </a:p>
        </p:txBody>
      </p:sp>
      <p:sp>
        <p:nvSpPr>
          <p:cNvPr id="37900" name="Text Box 16"/>
          <p:cNvSpPr txBox="1">
            <a:spLocks noChangeArrowheads="1"/>
          </p:cNvSpPr>
          <p:nvPr/>
        </p:nvSpPr>
        <p:spPr bwMode="auto">
          <a:xfrm>
            <a:off x="5940425" y="3716338"/>
            <a:ext cx="180022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buFont typeface="Arial" panose="020B0604020202020204" pitchFamily="34" charset="0"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屏幕坐标系</a:t>
            </a:r>
            <a:endParaRPr lang="zh-CN" altLang="en-US" sz="2000"/>
          </a:p>
        </p:txBody>
      </p:sp>
      <p:sp>
        <p:nvSpPr>
          <p:cNvPr id="37901" name="Text Box 17"/>
          <p:cNvSpPr txBox="1">
            <a:spLocks noChangeArrowheads="1"/>
          </p:cNvSpPr>
          <p:nvPr/>
        </p:nvSpPr>
        <p:spPr bwMode="auto">
          <a:xfrm>
            <a:off x="6804025" y="6092825"/>
            <a:ext cx="15843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buFont typeface="Arial" panose="020B0604020202020204" pitchFamily="34" charset="0"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世界坐标系</a:t>
            </a:r>
            <a:endParaRPr lang="zh-CN" altLang="en-US" sz="2000"/>
          </a:p>
        </p:txBody>
      </p:sp>
      <p:sp>
        <p:nvSpPr>
          <p:cNvPr id="37902" name="Rectangle 18"/>
          <p:cNvSpPr>
            <a:spLocks noChangeArrowheads="1"/>
          </p:cNvSpPr>
          <p:nvPr/>
        </p:nvSpPr>
        <p:spPr bwMode="auto">
          <a:xfrm>
            <a:off x="2255838" y="6237288"/>
            <a:ext cx="231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>
                <a:latin typeface="Times New Roman" panose="02020603050405020304" pitchFamily="18" charset="0"/>
              </a:rPr>
              <a:t>三维观察坐标系</a:t>
            </a:r>
            <a:endParaRPr lang="zh-CN" altLang="en-US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4"/>
          <p:cNvSpPr>
            <a:spLocks noChangeArrowheads="1"/>
          </p:cNvSpPr>
          <p:nvPr/>
        </p:nvSpPr>
        <p:spPr bwMode="auto">
          <a:xfrm>
            <a:off x="395536" y="1671756"/>
            <a:ext cx="8497639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dirty="0"/>
              <a:t>   规格化设备坐标系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独立于具体输出设备</a:t>
            </a:r>
            <a:r>
              <a:rPr lang="zh-CN" altLang="en-US" sz="2000" dirty="0"/>
              <a:t>。一旦图形变换到规格化设备坐标系中，只要作一个简单的乘法运算即可映射到具体的设备坐标系中。由于规格化设备坐标系能统一用户各种图形的显示范围，故把</a:t>
            </a:r>
            <a:r>
              <a:rPr lang="zh-CN" altLang="en-US" sz="20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用户图形变换成规格化设备坐标系</a:t>
            </a:r>
            <a:r>
              <a:rPr lang="zh-CN" altLang="en-US" sz="2000" dirty="0"/>
              <a:t>中的统一大小标准图形的过程叫作图形的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逻辑输出</a:t>
            </a:r>
            <a:r>
              <a:rPr lang="zh-CN" altLang="en-US" sz="2000" dirty="0"/>
              <a:t>。把</a:t>
            </a:r>
            <a:r>
              <a:rPr lang="zh-CN" altLang="en-US" sz="20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规格化设备坐标</a:t>
            </a:r>
            <a:r>
              <a:rPr lang="zh-CN" altLang="en-US" sz="2000" dirty="0"/>
              <a:t>系中的标准图形送到</a:t>
            </a:r>
            <a:r>
              <a:rPr lang="zh-CN" altLang="en-US" sz="20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显示设备上输出的过程</a:t>
            </a:r>
            <a:r>
              <a:rPr lang="zh-CN" altLang="en-US" sz="2000" dirty="0"/>
              <a:t>叫作图形的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物理输出</a:t>
            </a:r>
            <a:r>
              <a:rPr lang="zh-CN" altLang="en-US" sz="2000" dirty="0"/>
              <a:t>。有了规格化设备坐标系后，图形的输出可以在抽象的显示设备上进行讨论，因而这种图形学又称为与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设备无关的图形学。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4"/>
          <p:cNvSpPr>
            <a:spLocks noChangeArrowheads="1"/>
          </p:cNvSpPr>
          <p:nvPr/>
        </p:nvSpPr>
        <p:spPr bwMode="auto">
          <a:xfrm>
            <a:off x="107504" y="1040685"/>
            <a:ext cx="8857109" cy="1874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在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观察坐标系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中定义的确定显示内容的矩形区域称为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窗口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。在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屏幕坐标系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中定义的输出图形的矩形区域称为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视区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。图形输出需要进行</a:t>
            </a:r>
            <a:r>
              <a:rPr lang="zh-CN" altLang="en-US" sz="20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从窗口到视区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的变换，只有窗口内的图形才能在视区中输出，并且输出的形状要根据视区的大小进行调整，这称为窗视变换（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 Viewport Transformation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WVT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   </a:t>
            </a:r>
          </a:p>
        </p:txBody>
      </p:sp>
      <p:sp>
        <p:nvSpPr>
          <p:cNvPr id="44035" name="Rectangle 5"/>
          <p:cNvSpPr>
            <a:spLocks noChangeArrowheads="1"/>
          </p:cNvSpPr>
          <p:nvPr/>
        </p:nvSpPr>
        <p:spPr bwMode="auto">
          <a:xfrm>
            <a:off x="1258888" y="188913"/>
            <a:ext cx="3457575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5.4.2 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窗口与视区       </a:t>
            </a:r>
          </a:p>
        </p:txBody>
      </p:sp>
      <p:sp>
        <p:nvSpPr>
          <p:cNvPr id="44036" name="Rectangle 8"/>
          <p:cNvSpPr>
            <a:spLocks noChangeArrowheads="1"/>
          </p:cNvSpPr>
          <p:nvPr/>
        </p:nvSpPr>
        <p:spPr bwMode="auto">
          <a:xfrm>
            <a:off x="251520" y="3257351"/>
            <a:ext cx="8497193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在计算机图形学术语中，窗口最初是指要观察的图形区域。但是随着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的出现，窗口概念已广泛用于图形系统中，泛指任何可以移动，改变大小、激活或变为无效的屏幕上的矩形区域。在本章中，窗口回归到其的原始定义，是在观察坐标系中确定输出图形范围的矩形区域。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765175"/>
            <a:ext cx="5400675" cy="387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Rectangle 6"/>
          <p:cNvSpPr>
            <a:spLocks noChangeArrowheads="1"/>
          </p:cNvSpPr>
          <p:nvPr/>
        </p:nvSpPr>
        <p:spPr bwMode="auto">
          <a:xfrm>
            <a:off x="4356100" y="5876925"/>
            <a:ext cx="180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>
                <a:hlinkClick r:id="rId3" action="ppaction://hlinkfile"/>
              </a:rPr>
              <a:t>多视区输出 </a:t>
            </a:r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4"/>
          <p:cNvSpPr>
            <a:spLocks noChangeArrowheads="1"/>
          </p:cNvSpPr>
          <p:nvPr/>
        </p:nvSpPr>
        <p:spPr bwMode="auto">
          <a:xfrm>
            <a:off x="209609" y="169863"/>
            <a:ext cx="4033837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5.4.3 </a:t>
            </a:r>
            <a:r>
              <a:rPr lang="zh-CN" altLang="en-US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窗视变换矩阵 </a:t>
            </a:r>
          </a:p>
        </p:txBody>
      </p:sp>
      <p:sp>
        <p:nvSpPr>
          <p:cNvPr id="43011" name="Rectangle 7"/>
          <p:cNvSpPr>
            <a:spLocks noChangeArrowheads="1"/>
          </p:cNvSpPr>
          <p:nvPr/>
        </p:nvSpPr>
        <p:spPr bwMode="auto">
          <a:xfrm>
            <a:off x="0" y="2581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43012" name="Object 6"/>
          <p:cNvGraphicFramePr>
            <a:graphicFrameLocks noChangeAspect="1"/>
          </p:cNvGraphicFramePr>
          <p:nvPr/>
        </p:nvGraphicFramePr>
        <p:xfrm>
          <a:off x="1403350" y="765175"/>
          <a:ext cx="3744913" cy="227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22" r:id="rId3" imgW="5474970" imgH="3341370" progId="Visio.Drawing.11">
                  <p:embed/>
                </p:oleObj>
              </mc:Choice>
              <mc:Fallback>
                <p:oleObj r:id="rId3" imgW="5474970" imgH="3341370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765175"/>
                        <a:ext cx="3744913" cy="227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3" name="Text Box 8"/>
          <p:cNvSpPr txBox="1">
            <a:spLocks noChangeArrowheads="1"/>
          </p:cNvSpPr>
          <p:nvPr/>
        </p:nvSpPr>
        <p:spPr bwMode="auto">
          <a:xfrm>
            <a:off x="3563938" y="1700213"/>
            <a:ext cx="7207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buFont typeface="Arial" panose="020B0604020202020204" pitchFamily="34" charset="0"/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窗口</a:t>
            </a:r>
            <a:endParaRPr lang="zh-CN" altLang="en-US" sz="2000" dirty="0"/>
          </a:p>
        </p:txBody>
      </p:sp>
      <p:graphicFrame>
        <p:nvGraphicFramePr>
          <p:cNvPr id="43014" name="Object 9"/>
          <p:cNvGraphicFramePr>
            <a:graphicFrameLocks noChangeAspect="1"/>
          </p:cNvGraphicFramePr>
          <p:nvPr/>
        </p:nvGraphicFramePr>
        <p:xfrm>
          <a:off x="5435600" y="765175"/>
          <a:ext cx="3024188" cy="229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23" r:id="rId5" imgW="4402455" imgH="3341370" progId="Visio.Drawing.11">
                  <p:embed/>
                </p:oleObj>
              </mc:Choice>
              <mc:Fallback>
                <p:oleObj r:id="rId5" imgW="4402455" imgH="3341370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765175"/>
                        <a:ext cx="3024188" cy="229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5" name="Text Box 11"/>
          <p:cNvSpPr txBox="1">
            <a:spLocks noChangeArrowheads="1"/>
          </p:cNvSpPr>
          <p:nvPr/>
        </p:nvSpPr>
        <p:spPr bwMode="auto">
          <a:xfrm>
            <a:off x="6732588" y="1773238"/>
            <a:ext cx="72072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buFont typeface="Arial" panose="020B0604020202020204" pitchFamily="34" charset="0"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视区</a:t>
            </a:r>
            <a:endParaRPr lang="zh-CN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016" name="Rectangle 12"/>
              <p:cNvSpPr>
                <a:spLocks noChangeArrowheads="1"/>
              </p:cNvSpPr>
              <p:nvPr/>
            </p:nvSpPr>
            <p:spPr bwMode="auto">
              <a:xfrm>
                <a:off x="214165" y="2968055"/>
                <a:ext cx="6518423" cy="6234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/>
              <a:p>
                <a:pPr eaLnBrk="1" hangingPunct="1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）将窗口左下角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点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𝒘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𝒙𝒍</m:t>
                            </m:r>
                          </m:sub>
                        </m:s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𝒘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𝒚𝒃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平移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到观察坐标系原点。</a:t>
                </a:r>
              </a:p>
            </p:txBody>
          </p:sp>
        </mc:Choice>
        <mc:Fallback xmlns="">
          <p:sp>
            <p:nvSpPr>
              <p:cNvPr id="43016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165" y="2968055"/>
                <a:ext cx="6518423" cy="623440"/>
              </a:xfrm>
              <a:prstGeom prst="rect">
                <a:avLst/>
              </a:prstGeom>
              <a:blipFill rotWithShape="1">
                <a:blip r:embed="rId7"/>
                <a:stretch>
                  <a:fillRect l="-3" t="-10" r="5" b="9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017" name="Rectangle 14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43018" name="Rectangle 15"/>
          <p:cNvSpPr>
            <a:spLocks noChangeArrowheads="1"/>
          </p:cNvSpPr>
          <p:nvPr/>
        </p:nvSpPr>
        <p:spPr bwMode="auto">
          <a:xfrm>
            <a:off x="209609" y="4675227"/>
            <a:ext cx="846766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）对原点进行比例变换，使窗口与视区大小相等，将窗口变换为视区。</a:t>
            </a:r>
          </a:p>
        </p:txBody>
      </p:sp>
      <p:graphicFrame>
        <p:nvGraphicFramePr>
          <p:cNvPr id="43019" name="Object 11"/>
          <p:cNvGraphicFramePr>
            <a:graphicFrameLocks noChangeAspect="1"/>
          </p:cNvGraphicFramePr>
          <p:nvPr/>
        </p:nvGraphicFramePr>
        <p:xfrm>
          <a:off x="2004816" y="5408612"/>
          <a:ext cx="1800225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24" r:id="rId8" imgW="1156335" imgH="711200" progId="Equation.3">
                  <p:embed/>
                </p:oleObj>
              </mc:Choice>
              <mc:Fallback>
                <p:oleObj r:id="rId8" imgW="1156335" imgH="711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4816" y="5408612"/>
                        <a:ext cx="1800225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0" name="Object 12"/>
          <p:cNvGraphicFramePr>
            <a:graphicFrameLocks noChangeAspect="1"/>
          </p:cNvGraphicFramePr>
          <p:nvPr/>
        </p:nvGraphicFramePr>
        <p:xfrm>
          <a:off x="6300788" y="5229225"/>
          <a:ext cx="1871662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25" r:id="rId10" imgW="1016635" imgH="889635" progId="Equation.3">
                  <p:embed/>
                </p:oleObj>
              </mc:Choice>
              <mc:Fallback>
                <p:oleObj r:id="rId10" imgW="1016635" imgH="88963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5229225"/>
                        <a:ext cx="1871662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1" name="Rectangle 20"/>
          <p:cNvSpPr>
            <a:spLocks noChangeArrowheads="1"/>
          </p:cNvSpPr>
          <p:nvPr/>
        </p:nvSpPr>
        <p:spPr bwMode="auto">
          <a:xfrm>
            <a:off x="0" y="40640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22" name="Rectangle 21"/>
          <p:cNvSpPr>
            <a:spLocks noChangeArrowheads="1"/>
          </p:cNvSpPr>
          <p:nvPr/>
        </p:nvSpPr>
        <p:spPr bwMode="auto">
          <a:xfrm>
            <a:off x="4211638" y="5949950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/>
              <a:t>，其中，</a:t>
            </a:r>
          </a:p>
        </p:txBody>
      </p:sp>
      <p:sp>
        <p:nvSpPr>
          <p:cNvPr id="43023" name="Rectangle 23"/>
          <p:cNvSpPr>
            <a:spLocks noChangeArrowheads="1"/>
          </p:cNvSpPr>
          <p:nvPr/>
        </p:nvSpPr>
        <p:spPr bwMode="auto">
          <a:xfrm>
            <a:off x="0" y="30575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43024" name="Object 16"/>
          <p:cNvGraphicFramePr>
            <a:graphicFrameLocks noChangeAspect="1"/>
          </p:cNvGraphicFramePr>
          <p:nvPr/>
        </p:nvGraphicFramePr>
        <p:xfrm>
          <a:off x="3851275" y="3557588"/>
          <a:ext cx="2305050" cy="1166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26" r:id="rId12" imgW="1473835" imgH="737235" progId="Equation.3">
                  <p:embed/>
                </p:oleObj>
              </mc:Choice>
              <mc:Fallback>
                <p:oleObj r:id="rId12" imgW="1473835" imgH="73723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3557588"/>
                        <a:ext cx="2305050" cy="1166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4034" name="Rectangle 4"/>
              <p:cNvSpPr>
                <a:spLocks noChangeArrowheads="1"/>
              </p:cNvSpPr>
              <p:nvPr/>
            </p:nvSpPr>
            <p:spPr bwMode="auto">
              <a:xfrm>
                <a:off x="395536" y="285374"/>
                <a:ext cx="8569077" cy="629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/>
              <a:p>
                <a:pPr eaLnBrk="1" hangingPunct="1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）进行反平移，将视区的左下角点平移到设备坐标系的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𝒙𝒍</m:t>
                            </m:r>
                          </m:sub>
                        </m:s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𝒚𝒃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点。</a:t>
                </a:r>
              </a:p>
            </p:txBody>
          </p:sp>
        </mc:Choice>
        <mc:Fallback xmlns="">
          <p:sp>
            <p:nvSpPr>
              <p:cNvPr id="44034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536" y="285374"/>
                <a:ext cx="8569077" cy="629403"/>
              </a:xfrm>
              <a:prstGeom prst="rect">
                <a:avLst/>
              </a:prstGeom>
              <a:blipFill rotWithShape="1">
                <a:blip r:embed="rId3"/>
                <a:stretch>
                  <a:fillRect l="-7" t="-1252" r="4" b="-135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35" name="Rectangle 6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44036" name="Rectangle 9"/>
          <p:cNvSpPr>
            <a:spLocks noChangeArrowheads="1"/>
          </p:cNvSpPr>
          <p:nvPr/>
        </p:nvSpPr>
        <p:spPr bwMode="auto">
          <a:xfrm>
            <a:off x="395536" y="2367493"/>
            <a:ext cx="1723549" cy="55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窗视变换矩阵</a:t>
            </a:r>
          </a:p>
        </p:txBody>
      </p:sp>
      <p:graphicFrame>
        <p:nvGraphicFramePr>
          <p:cNvPr id="44037" name="Object 5"/>
          <p:cNvGraphicFramePr>
            <a:graphicFrameLocks noChangeAspect="1"/>
          </p:cNvGraphicFramePr>
          <p:nvPr/>
        </p:nvGraphicFramePr>
        <p:xfrm>
          <a:off x="1634715" y="3067051"/>
          <a:ext cx="6121226" cy="1171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02" r:id="rId4" imgW="3886200" imgH="736600" progId="Equation.3">
                  <p:embed/>
                </p:oleObj>
              </mc:Choice>
              <mc:Fallback>
                <p:oleObj r:id="rId4" imgW="3886200" imgH="736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4715" y="3067051"/>
                        <a:ext cx="6121226" cy="11719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8" name="Rectangle 10"/>
          <p:cNvSpPr>
            <a:spLocks noChangeArrowheads="1"/>
          </p:cNvSpPr>
          <p:nvPr/>
        </p:nvSpPr>
        <p:spPr bwMode="auto">
          <a:xfrm>
            <a:off x="395536" y="4432643"/>
            <a:ext cx="121058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窗视变换</a:t>
            </a:r>
          </a:p>
        </p:txBody>
      </p:sp>
      <p:sp>
        <p:nvSpPr>
          <p:cNvPr id="44039" name="Rectangle 12"/>
          <p:cNvSpPr>
            <a:spLocks noChangeArrowheads="1"/>
          </p:cNvSpPr>
          <p:nvPr/>
        </p:nvSpPr>
        <p:spPr bwMode="auto">
          <a:xfrm>
            <a:off x="0" y="30575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44040" name="Object 8"/>
          <p:cNvGraphicFramePr>
            <a:graphicFrameLocks noChangeAspect="1"/>
          </p:cNvGraphicFramePr>
          <p:nvPr/>
        </p:nvGraphicFramePr>
        <p:xfrm>
          <a:off x="1691555" y="5013220"/>
          <a:ext cx="6119812" cy="127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03" r:id="rId6" imgW="3581400" imgH="736600" progId="Equation.3">
                  <p:embed/>
                </p:oleObj>
              </mc:Choice>
              <mc:Fallback>
                <p:oleObj r:id="rId6" imgW="3581400" imgH="736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555" y="5013220"/>
                        <a:ext cx="6119812" cy="127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1" name="Rectangle 18"/>
          <p:cNvSpPr>
            <a:spLocks noChangeArrowheads="1"/>
          </p:cNvSpPr>
          <p:nvPr/>
        </p:nvSpPr>
        <p:spPr bwMode="auto">
          <a:xfrm>
            <a:off x="0" y="3062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44042" name="Object 10"/>
          <p:cNvGraphicFramePr>
            <a:graphicFrameLocks noChangeAspect="1"/>
          </p:cNvGraphicFramePr>
          <p:nvPr/>
        </p:nvGraphicFramePr>
        <p:xfrm>
          <a:off x="4139952" y="1086969"/>
          <a:ext cx="1827000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04" r:id="rId8" imgW="1181735" imgH="737235" progId="Equation.3">
                  <p:embed/>
                </p:oleObj>
              </mc:Choice>
              <mc:Fallback>
                <p:oleObj r:id="rId8" imgW="1181735" imgH="73723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1086969"/>
                        <a:ext cx="1827000" cy="1135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4"/>
          <p:cNvSpPr>
            <a:spLocks noChangeArrowheads="1"/>
          </p:cNvSpPr>
          <p:nvPr/>
        </p:nvSpPr>
        <p:spPr bwMode="auto">
          <a:xfrm>
            <a:off x="611560" y="189273"/>
            <a:ext cx="128592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写成方程 </a:t>
            </a:r>
          </a:p>
        </p:txBody>
      </p:sp>
      <p:sp>
        <p:nvSpPr>
          <p:cNvPr id="45059" name="Rectangle 6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45060" name="Object 4"/>
          <p:cNvGraphicFramePr>
            <a:graphicFrameLocks noChangeAspect="1"/>
          </p:cNvGraphicFramePr>
          <p:nvPr/>
        </p:nvGraphicFramePr>
        <p:xfrm>
          <a:off x="611560" y="817563"/>
          <a:ext cx="3032125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27" r:id="rId3" imgW="1524000" imgH="482600" progId="Equation.3">
                  <p:embed/>
                </p:oleObj>
              </mc:Choice>
              <mc:Fallback>
                <p:oleObj r:id="rId3" imgW="1524000" imgH="48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817563"/>
                        <a:ext cx="3032125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1" name="Rectangle 8"/>
          <p:cNvSpPr>
            <a:spLocks noChangeArrowheads="1"/>
          </p:cNvSpPr>
          <p:nvPr/>
        </p:nvSpPr>
        <p:spPr bwMode="auto">
          <a:xfrm>
            <a:off x="0" y="2581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45062" name="Object 6"/>
          <p:cNvGraphicFramePr>
            <a:graphicFrameLocks noChangeAspect="1"/>
          </p:cNvGraphicFramePr>
          <p:nvPr/>
        </p:nvGraphicFramePr>
        <p:xfrm>
          <a:off x="5364088" y="331787"/>
          <a:ext cx="2916238" cy="273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28" r:id="rId5" imgW="1270635" imgH="1448435" progId="Equation.3">
                  <p:embed/>
                </p:oleObj>
              </mc:Choice>
              <mc:Fallback>
                <p:oleObj r:id="rId5" imgW="1270635" imgH="144843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88" y="331787"/>
                        <a:ext cx="2916238" cy="2732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3" name="Rectangle 9"/>
          <p:cNvSpPr>
            <a:spLocks noChangeArrowheads="1"/>
          </p:cNvSpPr>
          <p:nvPr/>
        </p:nvSpPr>
        <p:spPr bwMode="auto">
          <a:xfrm>
            <a:off x="4427984" y="399521"/>
            <a:ext cx="516488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令 </a:t>
            </a:r>
          </a:p>
        </p:txBody>
      </p:sp>
      <p:sp>
        <p:nvSpPr>
          <p:cNvPr id="45064" name="Rectangle 11"/>
          <p:cNvSpPr>
            <a:spLocks noChangeArrowheads="1"/>
          </p:cNvSpPr>
          <p:nvPr/>
        </p:nvSpPr>
        <p:spPr bwMode="auto">
          <a:xfrm>
            <a:off x="0" y="3063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45065" name="Object 9"/>
          <p:cNvGraphicFramePr>
            <a:graphicFrameLocks noChangeAspect="1"/>
          </p:cNvGraphicFramePr>
          <p:nvPr/>
        </p:nvGraphicFramePr>
        <p:xfrm>
          <a:off x="610336" y="2868786"/>
          <a:ext cx="2509838" cy="118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29" name="公式" r:id="rId7" imgW="24688800" imgH="11582400" progId="Equation.3">
                  <p:embed/>
                </p:oleObj>
              </mc:Choice>
              <mc:Fallback>
                <p:oleObj name="公式" r:id="rId7" imgW="24688800" imgH="11582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336" y="2868786"/>
                        <a:ext cx="2509838" cy="1189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7" name="Rectangle 14"/>
          <p:cNvSpPr>
            <a:spLocks noChangeArrowheads="1"/>
          </p:cNvSpPr>
          <p:nvPr/>
        </p:nvSpPr>
        <p:spPr bwMode="auto">
          <a:xfrm>
            <a:off x="611560" y="2068551"/>
            <a:ext cx="282481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则窗视变换的展开式为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6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47107" name="Rectangle 8"/>
          <p:cNvSpPr>
            <a:spLocks noChangeArrowheads="1"/>
          </p:cNvSpPr>
          <p:nvPr/>
        </p:nvSpPr>
        <p:spPr bwMode="auto">
          <a:xfrm>
            <a:off x="0" y="2581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47108" name="Rectangle 11"/>
          <p:cNvSpPr>
            <a:spLocks noChangeArrowheads="1"/>
          </p:cNvSpPr>
          <p:nvPr/>
        </p:nvSpPr>
        <p:spPr bwMode="auto">
          <a:xfrm>
            <a:off x="0" y="3063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47109" name="AutoShape 6" descr="c:\documents and settings\administrator\application data\360se6\User Data\temp\Danny Cohen.jpg"/>
          <p:cNvSpPr>
            <a:spLocks noChangeAspect="1" noChangeArrowheads="1"/>
          </p:cNvSpPr>
          <p:nvPr/>
        </p:nvSpPr>
        <p:spPr bwMode="auto">
          <a:xfrm>
            <a:off x="187325" y="-1825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1214438" y="357188"/>
            <a:ext cx="2428875" cy="935037"/>
          </a:xfrm>
          <a:prstGeom prst="rect">
            <a:avLst/>
          </a:prstGeom>
          <a:ln>
            <a:miter lim="800000"/>
          </a:ln>
        </p:spPr>
        <p:txBody>
          <a:bodyPr anchor="ctr" anchorCtr="1"/>
          <a:lstStyle/>
          <a:p>
            <a:pPr eaLnBrk="1" hangingPunct="1">
              <a:defRPr/>
            </a:pPr>
            <a:r>
              <a:rPr lang="zh-CN" altLang="en-US" sz="4000" b="1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+mj-cs"/>
              </a:rPr>
              <a:t>裁剪分析</a:t>
            </a:r>
          </a:p>
        </p:txBody>
      </p:sp>
      <p:pic>
        <p:nvPicPr>
          <p:cNvPr id="4711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357313"/>
            <a:ext cx="6048375" cy="40862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8965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95288" y="180023"/>
            <a:ext cx="7740650" cy="935037"/>
          </a:xfrm>
          <a:prstGeom prst="rect">
            <a:avLst/>
          </a:prstGeom>
          <a:ln>
            <a:miter lim="800000"/>
          </a:ln>
        </p:spPr>
        <p:txBody>
          <a:bodyPr anchor="ctr" anchorCtr="1"/>
          <a:lstStyle/>
          <a:p>
            <a:pPr eaLnBrk="1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5.5 Cohen-Sutherland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直线裁剪算法</a:t>
            </a:r>
            <a:endParaRPr lang="zh-CN" altLang="en-US" sz="4000" dirty="0" smtClean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8131" name="Rectangle 7"/>
          <p:cNvSpPr>
            <a:spLocks noChangeArrowheads="1"/>
          </p:cNvSpPr>
          <p:nvPr/>
        </p:nvSpPr>
        <p:spPr bwMode="auto">
          <a:xfrm>
            <a:off x="323528" y="1114892"/>
            <a:ext cx="8569647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dirty="0"/>
              <a:t>      在二维观察中，需要在观察坐标系下根据窗口大小对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二维图形进行裁剪</a:t>
            </a:r>
            <a:r>
              <a:rPr lang="zh-CN" altLang="en-US" sz="2000" dirty="0"/>
              <a:t>（</a:t>
            </a:r>
            <a:r>
              <a:rPr lang="en-US" altLang="zh-CN" sz="2000" dirty="0"/>
              <a:t>clipping</a:t>
            </a:r>
            <a:r>
              <a:rPr lang="zh-CN" altLang="en-US" sz="2000" dirty="0"/>
              <a:t>），只将位于窗口内的图形变换到视区输出。</a:t>
            </a:r>
            <a:r>
              <a:rPr lang="zh-CN" altLang="en-US" sz="20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直线段裁剪是二维图形裁剪的基础</a:t>
            </a:r>
            <a:r>
              <a:rPr lang="zh-CN" altLang="en-US" sz="2000" dirty="0"/>
              <a:t>，裁剪的实质是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判断直线段是否与窗口相交，如相交则进一步确定直线段上位于窗口内的部分。</a:t>
            </a:r>
          </a:p>
        </p:txBody>
      </p:sp>
      <p:sp>
        <p:nvSpPr>
          <p:cNvPr id="49156" name="Rectangle 8"/>
          <p:cNvSpPr>
            <a:spLocks noChangeArrowheads="1"/>
          </p:cNvSpPr>
          <p:nvPr/>
        </p:nvSpPr>
        <p:spPr bwMode="auto">
          <a:xfrm>
            <a:off x="1258888" y="3357563"/>
            <a:ext cx="3240087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5.5.1 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编码原理</a:t>
            </a:r>
            <a:r>
              <a:rPr lang="zh-CN" altLang="en-US"/>
              <a:t> 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       </a:t>
            </a:r>
          </a:p>
        </p:txBody>
      </p:sp>
      <p:sp>
        <p:nvSpPr>
          <p:cNvPr id="48133" name="Rectangle 9"/>
          <p:cNvSpPr>
            <a:spLocks noChangeArrowheads="1"/>
          </p:cNvSpPr>
          <p:nvPr/>
        </p:nvSpPr>
        <p:spPr bwMode="auto">
          <a:xfrm>
            <a:off x="179512" y="4333876"/>
            <a:ext cx="8820026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000" dirty="0"/>
              <a:t>      Cohen-Sutherland</a:t>
            </a:r>
            <a:r>
              <a:rPr lang="zh-CN" altLang="en-US" sz="2000" dirty="0"/>
              <a:t>直线段裁剪算法是最早流行的编码算法。</a:t>
            </a:r>
            <a:r>
              <a:rPr lang="zh-CN" altLang="en-US" sz="20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每段直线的端点</a:t>
            </a:r>
            <a:r>
              <a:rPr lang="zh-CN" altLang="en-US" sz="2000" dirty="0"/>
              <a:t>都被赋予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一组四位二进制代码</a:t>
            </a:r>
            <a:r>
              <a:rPr lang="zh-CN" altLang="en-US" sz="2000" dirty="0"/>
              <a:t>，称为</a:t>
            </a:r>
            <a:r>
              <a:rPr lang="zh-CN" altLang="en-US" sz="2000" b="1" dirty="0">
                <a:solidFill>
                  <a:srgbClr val="0033CC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区域编码</a:t>
            </a:r>
            <a:r>
              <a:rPr lang="en-US" altLang="zh-CN" sz="2000" b="1" dirty="0">
                <a:solidFill>
                  <a:srgbClr val="0033CC"/>
                </a:solidFill>
              </a:rPr>
              <a:t>(region code</a:t>
            </a:r>
            <a:r>
              <a:rPr lang="zh-CN" altLang="en-US" sz="2000" b="1" dirty="0">
                <a:solidFill>
                  <a:srgbClr val="0033CC"/>
                </a:solidFill>
              </a:rPr>
              <a:t>，</a:t>
            </a:r>
            <a:r>
              <a:rPr lang="en-US" altLang="zh-CN" sz="2000" b="1" dirty="0">
                <a:solidFill>
                  <a:srgbClr val="0033CC"/>
                </a:solidFill>
              </a:rPr>
              <a:t>RC)</a:t>
            </a:r>
            <a:r>
              <a:rPr lang="zh-CN" altLang="en-US" sz="2000" dirty="0"/>
              <a:t>，用来标识直线段端点相对于窗口边界及其延长线的位置。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5"/>
          <p:cNvSpPr>
            <a:spLocks noChangeArrowheads="1"/>
          </p:cNvSpPr>
          <p:nvPr/>
        </p:nvSpPr>
        <p:spPr bwMode="auto">
          <a:xfrm>
            <a:off x="0" y="2643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49155" name="Object 4"/>
          <p:cNvGraphicFramePr>
            <a:graphicFrameLocks noChangeAspect="1"/>
          </p:cNvGraphicFramePr>
          <p:nvPr/>
        </p:nvGraphicFramePr>
        <p:xfrm>
          <a:off x="1258888" y="2276475"/>
          <a:ext cx="3240087" cy="209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06" r:id="rId3" imgW="4831715" imgH="3126740" progId="Visio.Drawing.11">
                  <p:embed/>
                </p:oleObj>
              </mc:Choice>
              <mc:Fallback>
                <p:oleObj r:id="rId3" imgW="4831715" imgH="312674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276475"/>
                        <a:ext cx="3240087" cy="209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6" name="Rectangle 10"/>
          <p:cNvSpPr>
            <a:spLocks noChangeArrowheads="1"/>
          </p:cNvSpPr>
          <p:nvPr/>
        </p:nvSpPr>
        <p:spPr bwMode="auto">
          <a:xfrm>
            <a:off x="2484438" y="2144713"/>
            <a:ext cx="10048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/>
              <a:t>窗口坐标</a:t>
            </a:r>
          </a:p>
        </p:txBody>
      </p:sp>
      <p:sp>
        <p:nvSpPr>
          <p:cNvPr id="49157" name="Rectangle 11"/>
          <p:cNvSpPr>
            <a:spLocks noChangeArrowheads="1"/>
          </p:cNvSpPr>
          <p:nvPr/>
        </p:nvSpPr>
        <p:spPr bwMode="auto">
          <a:xfrm>
            <a:off x="251520" y="425450"/>
            <a:ext cx="856863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2000" dirty="0"/>
              <a:t>       假设窗口是标准矩形，由上、下、左、右</a:t>
            </a:r>
            <a:r>
              <a:rPr lang="en-US" altLang="zh-CN" sz="2000" dirty="0"/>
              <a:t> 4 </a:t>
            </a:r>
            <a:r>
              <a:rPr lang="zh-CN" altLang="en-US" sz="2000" dirty="0"/>
              <a:t>条边界组成，延长窗口的</a:t>
            </a:r>
            <a:r>
              <a:rPr lang="en-US" altLang="zh-CN" sz="2000" dirty="0"/>
              <a:t>4</a:t>
            </a:r>
            <a:r>
              <a:rPr lang="zh-CN" altLang="en-US" sz="2000" dirty="0"/>
              <a:t>条边界形成 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个区域</a:t>
            </a:r>
            <a:r>
              <a:rPr lang="zh-CN" altLang="en-US" sz="2000" dirty="0"/>
              <a:t>。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这样根据直线段的任一端点 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P(</a:t>
            </a:r>
            <a:r>
              <a:rPr lang="en-US" altLang="zh-CN" sz="20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x,y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所处的窗口区域位置</a:t>
            </a:r>
            <a:r>
              <a:rPr lang="zh-CN" altLang="en-US" sz="2000" dirty="0"/>
              <a:t>，可以赋予一组</a:t>
            </a:r>
            <a:r>
              <a:rPr lang="en-US" altLang="zh-CN" sz="2000" dirty="0"/>
              <a:t>4</a:t>
            </a:r>
            <a:r>
              <a:rPr lang="zh-CN" altLang="en-US" sz="2000" dirty="0"/>
              <a:t>位二进制编码，称为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区域</a:t>
            </a:r>
            <a:r>
              <a:rPr lang="zh-CN" altLang="en-US" sz="2000" dirty="0"/>
              <a:t>码 </a:t>
            </a:r>
            <a:r>
              <a:rPr lang="en-US" altLang="zh-CN" sz="2000" dirty="0"/>
              <a:t>RC=C</a:t>
            </a:r>
            <a:r>
              <a:rPr lang="en-US" altLang="zh-CN" sz="2000" baseline="-25000" dirty="0"/>
              <a:t>3</a:t>
            </a:r>
            <a:r>
              <a:rPr lang="en-US" altLang="zh-CN" sz="2000" dirty="0"/>
              <a:t>C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C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C</a:t>
            </a:r>
            <a:r>
              <a:rPr lang="en-US" altLang="zh-CN" sz="2000" baseline="-25000" dirty="0"/>
              <a:t>0</a:t>
            </a:r>
            <a:r>
              <a:rPr lang="zh-CN" altLang="en-US" sz="2000" dirty="0"/>
              <a:t>。</a:t>
            </a:r>
            <a:r>
              <a:rPr lang="en-US" altLang="zh-CN" sz="2000" dirty="0"/>
              <a:t>C</a:t>
            </a:r>
            <a:r>
              <a:rPr lang="en-US" altLang="zh-CN" sz="2000" baseline="-25000" dirty="0"/>
              <a:t>0 </a:t>
            </a:r>
            <a:r>
              <a:rPr lang="zh-CN" altLang="en-US" sz="2000" dirty="0"/>
              <a:t>代表左边界，</a:t>
            </a:r>
            <a:r>
              <a:rPr lang="en-US" altLang="zh-CN" sz="2000" dirty="0"/>
              <a:t> C</a:t>
            </a:r>
            <a:r>
              <a:rPr lang="en-US" altLang="zh-CN" sz="2000" baseline="-25000" dirty="0"/>
              <a:t>1 </a:t>
            </a:r>
            <a:r>
              <a:rPr lang="zh-CN" altLang="en-US" sz="2000" dirty="0"/>
              <a:t>代表右边界，</a:t>
            </a:r>
            <a:r>
              <a:rPr lang="en-US" altLang="zh-CN" sz="2000" dirty="0"/>
              <a:t> C</a:t>
            </a:r>
            <a:r>
              <a:rPr lang="en-US" altLang="zh-CN" sz="2000" baseline="-25000" dirty="0"/>
              <a:t>2 </a:t>
            </a:r>
            <a:r>
              <a:rPr lang="zh-CN" altLang="en-US" sz="2000" dirty="0"/>
              <a:t>代表下边界，</a:t>
            </a:r>
            <a:r>
              <a:rPr lang="en-US" altLang="zh-CN" sz="2000" dirty="0"/>
              <a:t> C</a:t>
            </a:r>
            <a:r>
              <a:rPr lang="en-US" altLang="zh-CN" sz="2000" baseline="-25000" dirty="0"/>
              <a:t>3 </a:t>
            </a:r>
            <a:r>
              <a:rPr lang="zh-CN" altLang="en-US" sz="2000" dirty="0"/>
              <a:t>代表上边界。</a:t>
            </a:r>
          </a:p>
        </p:txBody>
      </p:sp>
      <p:grpSp>
        <p:nvGrpSpPr>
          <p:cNvPr id="49158" name="组合 6"/>
          <p:cNvGrpSpPr/>
          <p:nvPr/>
        </p:nvGrpSpPr>
        <p:grpSpPr bwMode="auto">
          <a:xfrm>
            <a:off x="4784725" y="2109788"/>
            <a:ext cx="4073525" cy="2276475"/>
            <a:chOff x="2555875" y="188914"/>
            <a:chExt cx="5644357" cy="3735009"/>
          </a:xfrm>
        </p:grpSpPr>
        <p:graphicFrame>
          <p:nvGraphicFramePr>
            <p:cNvPr id="49160" name="Object 5"/>
            <p:cNvGraphicFramePr>
              <a:graphicFrameLocks noChangeAspect="1"/>
            </p:cNvGraphicFramePr>
            <p:nvPr/>
          </p:nvGraphicFramePr>
          <p:xfrm>
            <a:off x="2555875" y="188914"/>
            <a:ext cx="5329238" cy="3181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07" r:id="rId5" imgW="5091430" imgH="3036570" progId="Visio.Drawing.11">
                    <p:embed/>
                  </p:oleObj>
                </mc:Choice>
                <mc:Fallback>
                  <p:oleObj r:id="rId5" imgW="5091430" imgH="3036570" progId="Visio.Drawing.11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5875" y="188914"/>
                          <a:ext cx="5329238" cy="3181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1" name="Rectangle 7"/>
            <p:cNvSpPr>
              <a:spLocks noChangeArrowheads="1"/>
            </p:cNvSpPr>
            <p:nvPr/>
          </p:nvSpPr>
          <p:spPr bwMode="auto">
            <a:xfrm>
              <a:off x="4510660" y="3368335"/>
              <a:ext cx="1739329" cy="555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/>
                <a:t>区域编码</a:t>
              </a:r>
              <a:r>
                <a:rPr lang="en-US" altLang="zh-CN" sz="1600"/>
                <a:t>RC</a:t>
              </a:r>
              <a:endParaRPr lang="zh-CN" altLang="en-US" sz="1600"/>
            </a:p>
          </p:txBody>
        </p:sp>
        <p:sp>
          <p:nvSpPr>
            <p:cNvPr id="49162" name="矩形 7"/>
            <p:cNvSpPr>
              <a:spLocks noChangeArrowheads="1"/>
            </p:cNvSpPr>
            <p:nvPr/>
          </p:nvSpPr>
          <p:spPr bwMode="auto">
            <a:xfrm>
              <a:off x="3543581" y="3155696"/>
              <a:ext cx="561975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000000"/>
                  </a:solidFill>
                </a:rPr>
                <a:t>w</a:t>
              </a:r>
              <a:r>
                <a:rPr lang="en-US" altLang="zh-CN" baseline="-25000">
                  <a:solidFill>
                    <a:srgbClr val="000000"/>
                  </a:solidFill>
                </a:rPr>
                <a:t>xl</a:t>
              </a:r>
              <a:endParaRPr lang="zh-CN" altLang="en-US"/>
            </a:p>
          </p:txBody>
        </p:sp>
        <p:sp>
          <p:nvSpPr>
            <p:cNvPr id="49163" name="矩形 8"/>
            <p:cNvSpPr>
              <a:spLocks noChangeArrowheads="1"/>
            </p:cNvSpPr>
            <p:nvPr/>
          </p:nvSpPr>
          <p:spPr bwMode="auto">
            <a:xfrm>
              <a:off x="7434108" y="576029"/>
              <a:ext cx="585787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000000"/>
                  </a:solidFill>
                </a:rPr>
                <a:t>w</a:t>
              </a:r>
              <a:r>
                <a:rPr lang="en-US" altLang="zh-CN" baseline="-25000">
                  <a:solidFill>
                    <a:srgbClr val="000000"/>
                  </a:solidFill>
                </a:rPr>
                <a:t>yt</a:t>
              </a:r>
              <a:endParaRPr lang="zh-CN" altLang="en-US"/>
            </a:p>
          </p:txBody>
        </p:sp>
        <p:sp>
          <p:nvSpPr>
            <p:cNvPr id="49164" name="矩形 9"/>
            <p:cNvSpPr>
              <a:spLocks noChangeArrowheads="1"/>
            </p:cNvSpPr>
            <p:nvPr/>
          </p:nvSpPr>
          <p:spPr bwMode="auto">
            <a:xfrm>
              <a:off x="6297754" y="3174942"/>
              <a:ext cx="588963" cy="4619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000000"/>
                  </a:solidFill>
                </a:rPr>
                <a:t>w</a:t>
              </a:r>
              <a:r>
                <a:rPr lang="en-US" altLang="zh-CN" baseline="-25000">
                  <a:solidFill>
                    <a:srgbClr val="000000"/>
                  </a:solidFill>
                </a:rPr>
                <a:t>xr</a:t>
              </a:r>
              <a:endParaRPr lang="zh-CN" altLang="en-US"/>
            </a:p>
          </p:txBody>
        </p:sp>
        <p:sp>
          <p:nvSpPr>
            <p:cNvPr id="49165" name="矩形 10"/>
            <p:cNvSpPr>
              <a:spLocks noChangeArrowheads="1"/>
            </p:cNvSpPr>
            <p:nvPr/>
          </p:nvSpPr>
          <p:spPr bwMode="auto">
            <a:xfrm>
              <a:off x="7569995" y="1942517"/>
              <a:ext cx="630237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000000"/>
                  </a:solidFill>
                </a:rPr>
                <a:t>w</a:t>
              </a:r>
              <a:r>
                <a:rPr lang="en-US" altLang="zh-CN" baseline="-25000">
                  <a:solidFill>
                    <a:srgbClr val="000000"/>
                  </a:solidFill>
                </a:rPr>
                <a:t>yb</a:t>
              </a:r>
              <a:endParaRPr lang="zh-CN" altLang="en-US"/>
            </a:p>
          </p:txBody>
        </p:sp>
      </p:grp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1609725" y="4611688"/>
            <a:ext cx="6778625" cy="207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67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000" dirty="0" smtClean="0"/>
              <a:t>为了保证窗口内编码为零，定义规则如下：</a:t>
            </a:r>
          </a:p>
          <a:p>
            <a:pPr marL="342900" indent="-342900" eaLnBrk="1" hangingPunct="1">
              <a:lnSpc>
                <a:spcPct val="140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8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：若端点的 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x&lt;</a:t>
            </a:r>
            <a:r>
              <a:rPr lang="en-US" altLang="zh-CN" sz="1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1800" baseline="-25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xl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，则 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8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=1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，否则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8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eaLnBrk="1" hangingPunct="1">
              <a:lnSpc>
                <a:spcPct val="140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8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：若端点的 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x&gt;</a:t>
            </a:r>
            <a:r>
              <a:rPr lang="en-US" altLang="zh-CN" sz="1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1800" baseline="-25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xr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，则 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8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=1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，否则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8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eaLnBrk="1" hangingPunct="1">
              <a:lnSpc>
                <a:spcPct val="140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8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：若端点的 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y&lt;</a:t>
            </a:r>
            <a:r>
              <a:rPr lang="en-US" altLang="zh-CN" sz="1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1800" baseline="-25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yb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，则 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8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=1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，否则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8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eaLnBrk="1" hangingPunct="1">
              <a:lnSpc>
                <a:spcPct val="140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8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：若端点的 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y&gt;</a:t>
            </a:r>
            <a:r>
              <a:rPr lang="en-US" altLang="zh-CN" sz="1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1800" baseline="-25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yt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，则 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8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=1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，否则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8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4"/>
          <p:cNvSpPr>
            <a:spLocks noChangeArrowheads="1"/>
          </p:cNvSpPr>
          <p:nvPr/>
        </p:nvSpPr>
        <p:spPr bwMode="auto">
          <a:xfrm>
            <a:off x="1331913" y="112713"/>
            <a:ext cx="3240087" cy="57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5.5.2 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裁剪步骤</a:t>
            </a:r>
            <a:r>
              <a:rPr lang="zh-CN" altLang="en-US"/>
              <a:t> 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       </a:t>
            </a:r>
          </a:p>
        </p:txBody>
      </p:sp>
      <p:sp>
        <p:nvSpPr>
          <p:cNvPr id="51203" name="Rectangle 5"/>
          <p:cNvSpPr>
            <a:spLocks noChangeArrowheads="1"/>
          </p:cNvSpPr>
          <p:nvPr/>
        </p:nvSpPr>
        <p:spPr bwMode="auto">
          <a:xfrm>
            <a:off x="251520" y="980291"/>
            <a:ext cx="8713093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40000"/>
              </a:lnSpc>
              <a:buFont typeface="Tahoma" panose="020B0604030504040204" pitchFamily="34" charset="0"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若直线段的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两个端点的区域编码都为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|RC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（二者</a:t>
            </a:r>
            <a:r>
              <a:rPr lang="zh-CN" altLang="en-US" sz="20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按位相或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的结果为零，即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说明直线段的两个端点都在窗口内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，应“简取”之（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trivally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accepted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</a:p>
          <a:p>
            <a:pPr algn="just" eaLnBrk="1" hangingPunct="1">
              <a:lnSpc>
                <a:spcPct val="140000"/>
              </a:lnSpc>
              <a:buFont typeface="Tahoma" panose="020B0604030504040204" pitchFamily="34" charset="0"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若直线段的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两个端点的区域编码都不为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，且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&amp;RC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≠0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（二者</a:t>
            </a:r>
            <a:r>
              <a:rPr lang="zh-CN" altLang="en-US" sz="20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按位相与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的结果不为零，即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≠0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RC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≠0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），说明直线段位于窗外的同一侧，或左方、或右方、或上方、或下方，应“简弃”之（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trivally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rejected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 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hangingPunct="1">
              <a:lnSpc>
                <a:spcPct val="140000"/>
              </a:lnSpc>
              <a:buFont typeface="Tahoma" panose="020B0604030504040204" pitchFamily="34" charset="0"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若直线段既不满足“</a:t>
            </a:r>
            <a:r>
              <a:rPr lang="zh-CN" altLang="en-US" sz="20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简取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”也不满足“</a:t>
            </a:r>
            <a:r>
              <a:rPr lang="zh-CN" altLang="en-US" sz="20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简弃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”的条件，则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需要与窗口进行“</a:t>
            </a:r>
            <a:r>
              <a:rPr lang="zh-CN" altLang="en-US" sz="20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求交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”判断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。这时，直线段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必然与窗口边界或窗口边界的延长线相交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，分两种情况处理。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5"/>
          <p:cNvSpPr>
            <a:spLocks noChangeArrowheads="1"/>
          </p:cNvSpPr>
          <p:nvPr/>
        </p:nvSpPr>
        <p:spPr bwMode="auto">
          <a:xfrm>
            <a:off x="323528" y="257446"/>
            <a:ext cx="1643063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3525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52227" name="Rectangle 5"/>
          <p:cNvSpPr>
            <a:spLocks noChangeArrowheads="1"/>
          </p:cNvSpPr>
          <p:nvPr/>
        </p:nvSpPr>
        <p:spPr bwMode="auto">
          <a:xfrm>
            <a:off x="4211960" y="419942"/>
            <a:ext cx="4824536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263525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点的编码为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0010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点编码为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。交点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在窗口边界上，编码为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根据编码判断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被简取。根据编码判断，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PP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永远不能被简取，怎么办？</a:t>
            </a:r>
          </a:p>
        </p:txBody>
      </p:sp>
      <p:pic>
        <p:nvPicPr>
          <p:cNvPr id="52228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011373"/>
            <a:ext cx="3582988" cy="2255838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8965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48027" y="3390901"/>
            <a:ext cx="8784976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263525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Cohen-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sutherland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算法的关键技术：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在于总是要让直线段的一个顶点处于窗口之外，例如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P0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点。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P0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点到交点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的直线段必然不可见，故可以直接抛弃。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775201"/>
            <a:ext cx="2466962" cy="155444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8965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4778901"/>
            <a:ext cx="2715240" cy="155074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8965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2413" y="4794107"/>
            <a:ext cx="2642113" cy="1553086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8965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右箭头 8"/>
          <p:cNvSpPr/>
          <p:nvPr/>
        </p:nvSpPr>
        <p:spPr bwMode="auto">
          <a:xfrm>
            <a:off x="5629890" y="5048007"/>
            <a:ext cx="615818" cy="331019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wrap="none"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17"/>
          <p:cNvSpPr>
            <a:spLocks noChangeArrowheads="1"/>
          </p:cNvSpPr>
          <p:nvPr/>
        </p:nvSpPr>
        <p:spPr bwMode="auto">
          <a:xfrm>
            <a:off x="5487040" y="5401373"/>
            <a:ext cx="127150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交换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16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</a:t>
            </a:r>
            <a:r>
              <a:rPr lang="en-US" altLang="zh-CN" sz="16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74" name="组合 2"/>
          <p:cNvGrpSpPr/>
          <p:nvPr/>
        </p:nvGrpSpPr>
        <p:grpSpPr bwMode="auto">
          <a:xfrm>
            <a:off x="4644008" y="836712"/>
            <a:ext cx="3997325" cy="2589212"/>
            <a:chOff x="4932363" y="3644900"/>
            <a:chExt cx="3997325" cy="2590105"/>
          </a:xfrm>
        </p:grpSpPr>
        <p:sp>
          <p:nvSpPr>
            <p:cNvPr id="54280" name="Text Box 6"/>
            <p:cNvSpPr txBox="1">
              <a:spLocks noChangeArrowheads="1"/>
            </p:cNvSpPr>
            <p:nvPr/>
          </p:nvSpPr>
          <p:spPr bwMode="auto">
            <a:xfrm>
              <a:off x="8497888" y="4365104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3950" tIns="26975" rIns="53950" bIns="26975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buFont typeface="Arial" panose="020B0604020202020204" pitchFamily="34" charset="0"/>
                <a:buNone/>
              </a:pPr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r>
                <a:rPr lang="en-US" altLang="zh-CN" sz="2000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54281" name="Object 8"/>
            <p:cNvGraphicFramePr>
              <a:graphicFrameLocks noChangeAspect="1"/>
            </p:cNvGraphicFramePr>
            <p:nvPr/>
          </p:nvGraphicFramePr>
          <p:xfrm>
            <a:off x="4932363" y="3644900"/>
            <a:ext cx="3636962" cy="2322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23" r:id="rId3" imgW="5091430" imgH="3262630" progId="Visio.Drawing.11">
                    <p:embed/>
                  </p:oleObj>
                </mc:Choice>
                <mc:Fallback>
                  <p:oleObj r:id="rId3" imgW="5091430" imgH="3262630" progId="Visio.Drawing.11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2363" y="3644900"/>
                          <a:ext cx="3636962" cy="2322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82" name="Text Box 10"/>
            <p:cNvSpPr txBox="1">
              <a:spLocks noChangeArrowheads="1"/>
            </p:cNvSpPr>
            <p:nvPr/>
          </p:nvSpPr>
          <p:spPr bwMode="auto">
            <a:xfrm>
              <a:off x="6748550" y="5874642"/>
              <a:ext cx="431800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3950" tIns="26975" rIns="53950" bIns="26975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buFont typeface="Arial" panose="020B0604020202020204" pitchFamily="34" charset="0"/>
                <a:buNone/>
              </a:pPr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r>
                <a:rPr lang="en-US" altLang="zh-CN" sz="2000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4275" name="组合 1"/>
          <p:cNvGrpSpPr/>
          <p:nvPr/>
        </p:nvGrpSpPr>
        <p:grpSpPr bwMode="auto">
          <a:xfrm>
            <a:off x="755576" y="948385"/>
            <a:ext cx="3600450" cy="2449513"/>
            <a:chOff x="1042988" y="3860800"/>
            <a:chExt cx="3600450" cy="2449513"/>
          </a:xfrm>
        </p:grpSpPr>
        <p:graphicFrame>
          <p:nvGraphicFramePr>
            <p:cNvPr id="54277" name="Object 4"/>
            <p:cNvGraphicFramePr>
              <a:graphicFrameLocks noChangeAspect="1"/>
            </p:cNvGraphicFramePr>
            <p:nvPr/>
          </p:nvGraphicFramePr>
          <p:xfrm>
            <a:off x="1042988" y="3860800"/>
            <a:ext cx="3600450" cy="2144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24" r:id="rId5" imgW="5091430" imgH="3036570" progId="Visio.Drawing.11">
                    <p:embed/>
                  </p:oleObj>
                </mc:Choice>
                <mc:Fallback>
                  <p:oleObj r:id="rId5" imgW="5091430" imgH="3036570" progId="Visio.Drawing.11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2988" y="3860800"/>
                          <a:ext cx="3600450" cy="21447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78" name="Text Box 7"/>
            <p:cNvSpPr txBox="1">
              <a:spLocks noChangeArrowheads="1"/>
            </p:cNvSpPr>
            <p:nvPr/>
          </p:nvSpPr>
          <p:spPr bwMode="auto">
            <a:xfrm>
              <a:off x="1692275" y="5949950"/>
              <a:ext cx="431800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3950" tIns="26975" rIns="53950" bIns="26975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buFont typeface="Arial" panose="020B0604020202020204" pitchFamily="34" charset="0"/>
                <a:buNone/>
              </a:pPr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r>
                <a:rPr lang="en-US" altLang="zh-CN" sz="2000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279" name="Text Box 11"/>
            <p:cNvSpPr txBox="1">
              <a:spLocks noChangeArrowheads="1"/>
            </p:cNvSpPr>
            <p:nvPr/>
          </p:nvSpPr>
          <p:spPr bwMode="auto">
            <a:xfrm>
              <a:off x="4140200" y="4508500"/>
              <a:ext cx="431800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3950" tIns="26975" rIns="53950" bIns="26975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buFont typeface="Arial" panose="020B0604020202020204" pitchFamily="34" charset="0"/>
                <a:buNone/>
              </a:pPr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r>
                <a:rPr lang="en-US" altLang="zh-CN" sz="2000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4276" name="矩形 9"/>
          <p:cNvSpPr>
            <a:spLocks noChangeArrowheads="1"/>
          </p:cNvSpPr>
          <p:nvPr/>
        </p:nvSpPr>
        <p:spPr bwMode="auto">
          <a:xfrm>
            <a:off x="498400" y="306064"/>
            <a:ext cx="7572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直线段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必然与</a:t>
            </a:r>
            <a:r>
              <a:rPr lang="zh-CN" altLang="en-US" sz="20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窗口边界或窗口边界的延长线相交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，分两种情况处理。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323528" y="3740798"/>
            <a:ext cx="856895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裁剪直线段时，一般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按固定顺序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20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xl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），右（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20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）、下（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y=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20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）、上（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y=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20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）求解窗口边界与直线段的交点。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5"/>
          <p:cNvSpPr>
            <a:spLocks noChangeArrowheads="1"/>
          </p:cNvSpPr>
          <p:nvPr/>
        </p:nvSpPr>
        <p:spPr bwMode="auto">
          <a:xfrm>
            <a:off x="611823" y="298450"/>
            <a:ext cx="4176712" cy="579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5.5.3 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交点计算公式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</a:p>
        </p:txBody>
      </p:sp>
      <p:sp>
        <p:nvSpPr>
          <p:cNvPr id="55300" name="Rectangle 6"/>
          <p:cNvSpPr>
            <a:spLocks noChangeArrowheads="1"/>
          </p:cNvSpPr>
          <p:nvPr/>
        </p:nvSpPr>
        <p:spPr bwMode="auto">
          <a:xfrm>
            <a:off x="611505" y="1126173"/>
            <a:ext cx="819340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对于端点坐标为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的直线段，与窗口左边界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20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xl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或右边界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20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20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交点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坐标的计算公式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</a:p>
        </p:txBody>
      </p:sp>
      <p:graphicFrame>
        <p:nvGraphicFramePr>
          <p:cNvPr id="553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108587"/>
              </p:ext>
            </p:extLst>
          </p:nvPr>
        </p:nvGraphicFramePr>
        <p:xfrm>
          <a:off x="1595438" y="2205038"/>
          <a:ext cx="28575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7" name="公式" r:id="rId3" imgW="1358640" imgH="228600" progId="Equation.3">
                  <p:embed/>
                </p:oleObj>
              </mc:Choice>
              <mc:Fallback>
                <p:oleObj name="公式" r:id="rId3" imgW="135864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5438" y="2205038"/>
                        <a:ext cx="28575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2" name="Rectangle 8"/>
          <p:cNvSpPr>
            <a:spLocks noChangeArrowheads="1"/>
          </p:cNvSpPr>
          <p:nvPr/>
        </p:nvSpPr>
        <p:spPr bwMode="auto">
          <a:xfrm>
            <a:off x="608330" y="2983625"/>
            <a:ext cx="8336915" cy="430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与窗口上边界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20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或下边界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20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yb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交点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坐标的计算公式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</a:p>
        </p:txBody>
      </p:sp>
      <p:graphicFrame>
        <p:nvGraphicFramePr>
          <p:cNvPr id="55303" name="Object 7"/>
          <p:cNvGraphicFramePr>
            <a:graphicFrameLocks noChangeAspect="1"/>
          </p:cNvGraphicFramePr>
          <p:nvPr/>
        </p:nvGraphicFramePr>
        <p:xfrm>
          <a:off x="1907540" y="3501390"/>
          <a:ext cx="1871663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8" r:id="rId5" imgW="965200" imgH="406400" progId="Equation.3">
                  <p:embed/>
                </p:oleObj>
              </mc:Choice>
              <mc:Fallback>
                <p:oleObj r:id="rId5" imgW="965200" imgH="406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540" y="3501390"/>
                        <a:ext cx="1871663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4" name="Object 9"/>
          <p:cNvGraphicFramePr>
            <a:graphicFrameLocks noChangeAspect="1"/>
          </p:cNvGraphicFramePr>
          <p:nvPr/>
        </p:nvGraphicFramePr>
        <p:xfrm>
          <a:off x="1565275" y="4641850"/>
          <a:ext cx="2555875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9" r:id="rId7" imgW="1423035" imgH="228600" progId="Equation.3">
                  <p:embed/>
                </p:oleObj>
              </mc:Choice>
              <mc:Fallback>
                <p:oleObj r:id="rId7" imgW="1423035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5275" y="4641850"/>
                        <a:ext cx="2555875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5" name="Text Box 12"/>
          <p:cNvSpPr txBox="1">
            <a:spLocks noChangeArrowheads="1"/>
          </p:cNvSpPr>
          <p:nvPr/>
        </p:nvSpPr>
        <p:spPr bwMode="auto">
          <a:xfrm>
            <a:off x="683895" y="4653280"/>
            <a:ext cx="1152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其中，</a:t>
            </a:r>
          </a:p>
        </p:txBody>
      </p:sp>
      <p:sp>
        <p:nvSpPr>
          <p:cNvPr id="55306" name="Rectangle 13"/>
          <p:cNvSpPr>
            <a:spLocks noChangeArrowheads="1"/>
          </p:cNvSpPr>
          <p:nvPr/>
        </p:nvSpPr>
        <p:spPr bwMode="auto">
          <a:xfrm>
            <a:off x="4643755" y="2205355"/>
            <a:ext cx="1439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5-13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</a:p>
        </p:txBody>
      </p:sp>
      <p:sp>
        <p:nvSpPr>
          <p:cNvPr id="55307" name="Rectangle 14"/>
          <p:cNvSpPr>
            <a:spLocks noChangeArrowheads="1"/>
          </p:cNvSpPr>
          <p:nvPr/>
        </p:nvSpPr>
        <p:spPr bwMode="auto">
          <a:xfrm>
            <a:off x="4643438" y="3668713"/>
            <a:ext cx="15684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5-14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7"/>
          <p:cNvSpPr>
            <a:spLocks noChangeArrowheads="1"/>
          </p:cNvSpPr>
          <p:nvPr/>
        </p:nvSpPr>
        <p:spPr bwMode="auto">
          <a:xfrm>
            <a:off x="0" y="3649663"/>
            <a:ext cx="2286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100"/>
              <a:t> 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23" name="Rectangle 20"/>
          <p:cNvSpPr>
            <a:spLocks noChangeArrowheads="1"/>
          </p:cNvSpPr>
          <p:nvPr/>
        </p:nvSpPr>
        <p:spPr bwMode="auto">
          <a:xfrm>
            <a:off x="0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pic>
        <p:nvPicPr>
          <p:cNvPr id="56324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620713"/>
            <a:ext cx="6192838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5" name="Text Box 24"/>
          <p:cNvSpPr txBox="1">
            <a:spLocks noChangeArrowheads="1"/>
          </p:cNvSpPr>
          <p:nvPr/>
        </p:nvSpPr>
        <p:spPr bwMode="auto">
          <a:xfrm>
            <a:off x="2843213" y="5661025"/>
            <a:ext cx="4895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>
                <a:hlinkClick r:id="rId3" action="ppaction://hlinkfile"/>
              </a:rPr>
              <a:t>Cohen-Sutherland</a:t>
            </a:r>
            <a:r>
              <a:rPr lang="zh-CN" altLang="en-US">
                <a:hlinkClick r:id="rId3" action="ppaction://hlinkfile"/>
              </a:rPr>
              <a:t>直线段裁剪算法 </a:t>
            </a:r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/>
          <p:cNvSpPr>
            <a:spLocks noChangeArrowheads="1"/>
          </p:cNvSpPr>
          <p:nvPr/>
        </p:nvSpPr>
        <p:spPr bwMode="auto">
          <a:xfrm>
            <a:off x="1149985" y="400050"/>
            <a:ext cx="7022465" cy="600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268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/>
              <a:t>#define LEFT        1    //</a:t>
            </a:r>
            <a:r>
              <a:rPr lang="zh-CN" altLang="en-US" sz="1600"/>
              <a:t>代表</a:t>
            </a:r>
            <a:r>
              <a:rPr lang="en-US" altLang="zh-CN" sz="1600"/>
              <a:t>:0001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/>
              <a:t>#define RIGHT      2    //</a:t>
            </a:r>
            <a:r>
              <a:rPr lang="zh-CN" altLang="en-US" sz="1600"/>
              <a:t>代表</a:t>
            </a:r>
            <a:r>
              <a:rPr lang="en-US" altLang="zh-CN" sz="1600"/>
              <a:t>:0010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/>
              <a:t>#define BOTTOM   4   //</a:t>
            </a:r>
            <a:r>
              <a:rPr lang="zh-CN" altLang="en-US" sz="1600"/>
              <a:t>代表</a:t>
            </a:r>
            <a:r>
              <a:rPr lang="en-US" altLang="zh-CN" sz="1600"/>
              <a:t>:0100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/>
              <a:t>#define TOP          8   //</a:t>
            </a:r>
            <a:r>
              <a:rPr lang="zh-CN" altLang="en-US" sz="1600"/>
              <a:t>代表</a:t>
            </a:r>
            <a:r>
              <a:rPr lang="en-US" altLang="zh-CN" sz="1600"/>
              <a:t>:1000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/>
              <a:t>void CTestView::EnCode(CP2 &amp;pt)//</a:t>
            </a:r>
            <a:r>
              <a:rPr lang="zh-CN" altLang="en-US" sz="1600"/>
              <a:t>编码函数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/>
              <a:t>{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/>
              <a:t>	pt.rc=0;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/>
              <a:t>	if(pt.x&lt;Wxl)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/>
              <a:t>	     pt.rc=pt.rc | LEFT;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/>
              <a:t>	else if(pt.x&gt;Wxr)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/>
              <a:t>	     pt.rc=pt.rc | RIGHT;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/>
              <a:t>	if(pt.y&lt;Wyb)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/>
              <a:t>	     pt.rc=pt.rc | BOTTOM;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/>
              <a:t>	else if(pt.y&gt;Wyt)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/>
              <a:t>	     pt.rc=pt.rc | TOP;	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/>
              <a:t>}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4"/>
          <p:cNvSpPr>
            <a:spLocks noChangeArrowheads="1"/>
          </p:cNvSpPr>
          <p:nvPr/>
        </p:nvSpPr>
        <p:spPr bwMode="auto">
          <a:xfrm>
            <a:off x="1143000" y="357188"/>
            <a:ext cx="7858125" cy="590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8605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800"/>
              <a:t>#define LEFT        0x1    //</a:t>
            </a:r>
            <a:r>
              <a:rPr lang="zh-CN" altLang="en-US" sz="1800"/>
              <a:t>代表</a:t>
            </a:r>
            <a:r>
              <a:rPr lang="en-US" altLang="zh-CN" sz="1800"/>
              <a:t>:0001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800"/>
              <a:t>#define RIGHT      0x2    //</a:t>
            </a:r>
            <a:r>
              <a:rPr lang="zh-CN" altLang="en-US" sz="1800"/>
              <a:t>代表</a:t>
            </a:r>
            <a:r>
              <a:rPr lang="en-US" altLang="zh-CN" sz="1800"/>
              <a:t>:0010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800"/>
              <a:t>#define BOTTOM   0x4   //</a:t>
            </a:r>
            <a:r>
              <a:rPr lang="zh-CN" altLang="en-US" sz="1800"/>
              <a:t>代表</a:t>
            </a:r>
            <a:r>
              <a:rPr lang="en-US" altLang="zh-CN" sz="1800"/>
              <a:t>:0100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800"/>
              <a:t>#define TOP          0x8   //</a:t>
            </a:r>
            <a:r>
              <a:rPr lang="zh-CN" altLang="en-US" sz="1800"/>
              <a:t>代表</a:t>
            </a:r>
            <a:r>
              <a:rPr lang="en-US" altLang="zh-CN" sz="1800"/>
              <a:t>:1000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sz="180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800"/>
              <a:t>int  EnCode(double x , double y , int Wxl , int Wxr , int wyb , int wyt)</a:t>
            </a:r>
            <a:endParaRPr lang="zh-CN" altLang="en-US" sz="1800"/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800"/>
              <a:t>{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800"/>
              <a:t>	rc = 0;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800"/>
              <a:t>	if(x &lt; Wxl)     rc = rc | LEFT;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800"/>
              <a:t>	if(x &gt; Wxr)     rc = rc | RIGHT;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800"/>
              <a:t>	if(y &lt; Wyb)    rc = rc | BOTTOM;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800"/>
              <a:t>	if(y &gt; Wyt)     rc = rc | TOP;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800"/>
              <a:t>         return rc	;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800"/>
              <a:t>}</a:t>
            </a:r>
          </a:p>
        </p:txBody>
      </p:sp>
      <p:sp>
        <p:nvSpPr>
          <p:cNvPr id="58371" name="TextBox 2"/>
          <p:cNvSpPr txBox="1">
            <a:spLocks noChangeArrowheads="1"/>
          </p:cNvSpPr>
          <p:nvPr/>
        </p:nvSpPr>
        <p:spPr bwMode="auto">
          <a:xfrm>
            <a:off x="5572125" y="428625"/>
            <a:ext cx="3286125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0000FF"/>
                </a:solidFill>
              </a:rPr>
              <a:t>从理解的角度，使用了返回值，可以这样编写。此时，一个点的坐标和颜色是独立的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4"/>
          <p:cNvSpPr>
            <a:spLocks noChangeArrowheads="1"/>
          </p:cNvSpPr>
          <p:nvPr/>
        </p:nvSpPr>
        <p:spPr bwMode="auto">
          <a:xfrm>
            <a:off x="827088" y="549275"/>
            <a:ext cx="7812087" cy="5507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 dirty="0"/>
              <a:t>void </a:t>
            </a:r>
            <a:r>
              <a:rPr lang="en-US" altLang="zh-CN" sz="1600" dirty="0" err="1"/>
              <a:t>CTestView</a:t>
            </a:r>
            <a:r>
              <a:rPr lang="en-US" altLang="zh-CN" sz="1600" dirty="0"/>
              <a:t>::Cohen()//Cohen-Sutherland</a:t>
            </a:r>
            <a:r>
              <a:rPr lang="zh-CN" altLang="en-US" sz="1600" dirty="0"/>
              <a:t>算法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 dirty="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 dirty="0"/>
              <a:t>	CP2 p;//</a:t>
            </a:r>
            <a:r>
              <a:rPr lang="zh-CN" altLang="en-US" sz="1600" dirty="0"/>
              <a:t>交点坐标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 dirty="0"/>
              <a:t>	</a:t>
            </a:r>
            <a:r>
              <a:rPr lang="en-US" altLang="zh-CN" sz="1600" dirty="0" err="1"/>
              <a:t>EnCode</a:t>
            </a:r>
            <a:r>
              <a:rPr lang="en-US" altLang="zh-CN" sz="1600" dirty="0"/>
              <a:t>(P[0]);//</a:t>
            </a:r>
            <a:r>
              <a:rPr lang="zh-CN" altLang="en-US" sz="1600" dirty="0"/>
              <a:t>起点编码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 dirty="0"/>
              <a:t>	</a:t>
            </a:r>
            <a:r>
              <a:rPr lang="en-US" altLang="zh-CN" sz="1600" dirty="0" err="1"/>
              <a:t>EnCode</a:t>
            </a:r>
            <a:r>
              <a:rPr lang="en-US" altLang="zh-CN" sz="1600" dirty="0"/>
              <a:t>(P[1]);//</a:t>
            </a:r>
            <a:r>
              <a:rPr lang="zh-CN" altLang="en-US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终点编码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 dirty="0"/>
              <a:t>	</a:t>
            </a:r>
            <a:r>
              <a:rPr lang="en-US" altLang="zh-CN" sz="1600" dirty="0"/>
              <a:t>while(P[0].</a:t>
            </a:r>
            <a:r>
              <a:rPr lang="en-US" altLang="zh-CN" sz="1600" dirty="0" err="1"/>
              <a:t>rc</a:t>
            </a:r>
            <a:r>
              <a:rPr lang="en-US" altLang="zh-CN" sz="1600" dirty="0"/>
              <a:t>!=0 || P[1].</a:t>
            </a:r>
            <a:r>
              <a:rPr lang="en-US" altLang="zh-CN" sz="1600" dirty="0" err="1"/>
              <a:t>rc</a:t>
            </a:r>
            <a:r>
              <a:rPr lang="en-US" altLang="zh-CN" sz="1600" dirty="0"/>
              <a:t>!=0)//</a:t>
            </a:r>
            <a:r>
              <a:rPr lang="zh-CN" altLang="en-US" sz="1600" dirty="0"/>
              <a:t>处理至少一个顶点在窗口外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 dirty="0"/>
              <a:t>	</a:t>
            </a:r>
            <a:r>
              <a:rPr lang="en-US" altLang="zh-CN" sz="1600" dirty="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 dirty="0"/>
              <a:t>		if((P[0].</a:t>
            </a:r>
            <a:r>
              <a:rPr lang="en-US" altLang="zh-CN" sz="1600" dirty="0" err="1"/>
              <a:t>rc</a:t>
            </a:r>
            <a:r>
              <a:rPr lang="en-US" altLang="zh-CN" sz="1600" dirty="0"/>
              <a:t> &amp; P[1].</a:t>
            </a:r>
            <a:r>
              <a:rPr lang="en-US" altLang="zh-CN" sz="1600" dirty="0" err="1"/>
              <a:t>rc</a:t>
            </a:r>
            <a:r>
              <a:rPr lang="en-US" altLang="zh-CN" sz="1600" dirty="0"/>
              <a:t>)!=0)//</a:t>
            </a:r>
            <a:r>
              <a:rPr lang="zh-CN" altLang="en-US" sz="1600" dirty="0"/>
              <a:t>简弃之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 dirty="0"/>
              <a:t>		</a:t>
            </a:r>
            <a:r>
              <a:rPr lang="en-US" altLang="zh-CN" sz="1600" dirty="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 dirty="0"/>
              <a:t>			</a:t>
            </a:r>
            <a:r>
              <a:rPr lang="en-US" altLang="zh-CN" sz="1600" dirty="0" err="1"/>
              <a:t>PtCount</a:t>
            </a:r>
            <a:r>
              <a:rPr lang="en-US" altLang="zh-CN" sz="1600" dirty="0"/>
              <a:t>=0;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 dirty="0"/>
              <a:t>			return;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 dirty="0"/>
              <a:t>		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 dirty="0"/>
              <a:t>		if(0==P[0].</a:t>
            </a:r>
            <a:r>
              <a:rPr lang="en-US" altLang="zh-CN" sz="1600" dirty="0" err="1"/>
              <a:t>rc</a:t>
            </a:r>
            <a:r>
              <a:rPr lang="en-US" altLang="zh-CN" sz="1600" dirty="0"/>
              <a:t>)	//</a:t>
            </a:r>
            <a:r>
              <a:rPr lang="zh-CN" altLang="en-US" sz="1600" dirty="0"/>
              <a:t>确保</a:t>
            </a:r>
            <a:r>
              <a:rPr lang="en-US" altLang="zh-CN" sz="1600" dirty="0"/>
              <a:t>P[0]</a:t>
            </a:r>
            <a:r>
              <a:rPr lang="zh-CN" altLang="en-US" sz="1600" dirty="0"/>
              <a:t>位于窗口之外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 dirty="0"/>
              <a:t>		</a:t>
            </a:r>
            <a:r>
              <a:rPr lang="en-US" altLang="zh-CN" sz="1600" dirty="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 dirty="0"/>
              <a:t>			CP2 Temp;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 dirty="0"/>
              <a:t>			Temp=P[0];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 dirty="0"/>
              <a:t>			P[0]=P[1];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 dirty="0"/>
              <a:t>			P[1]=Temp;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 dirty="0"/>
              <a:t>		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 dirty="0"/>
              <a:t>                       UINT RC=P[0].</a:t>
            </a:r>
            <a:r>
              <a:rPr lang="en-US" altLang="zh-CN" sz="1600" dirty="0" err="1"/>
              <a:t>rc</a:t>
            </a:r>
            <a:r>
              <a:rPr lang="en-US" altLang="zh-CN" sz="1600" dirty="0"/>
              <a:t>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 dirty="0"/>
              <a:t>	double k=(P[1].y-P[0].y)/(P[1].x-P[0].x);//</a:t>
            </a:r>
            <a:r>
              <a:rPr lang="zh-CN" altLang="en-US" sz="1600" dirty="0"/>
              <a:t>斜率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 dirty="0"/>
              <a:t>		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4"/>
          <p:cNvSpPr>
            <a:spLocks noChangeArrowheads="1"/>
          </p:cNvSpPr>
          <p:nvPr/>
        </p:nvSpPr>
        <p:spPr bwMode="auto">
          <a:xfrm>
            <a:off x="899160" y="476568"/>
            <a:ext cx="7812088" cy="600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if(RC &amp; LEFT)		//P[0]</a:t>
            </a:r>
            <a:r>
              <a:rPr lang="zh-CN" altLang="en-US" sz="1600"/>
              <a:t>点位于窗口的左侧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/>
              <a:t>		</a:t>
            </a:r>
            <a:r>
              <a:rPr lang="en-US" altLang="zh-CN" sz="160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	p.x=Wxl;//</a:t>
            </a:r>
            <a:r>
              <a:rPr lang="zh-CN" altLang="en-US" sz="1600"/>
              <a:t>计算交点</a:t>
            </a:r>
            <a:r>
              <a:rPr lang="en-US" altLang="zh-CN" sz="1600"/>
              <a:t>y</a:t>
            </a:r>
            <a:r>
              <a:rPr lang="zh-CN" altLang="en-US" sz="1600"/>
              <a:t>坐标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/>
              <a:t>			</a:t>
            </a:r>
            <a:r>
              <a:rPr lang="en-US" altLang="zh-CN" sz="1600"/>
              <a:t>p.y=k*(p.x-P[0].x)+P[0].y;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else if(RC &amp; RIGHT)	//P[0]</a:t>
            </a:r>
            <a:r>
              <a:rPr lang="zh-CN" altLang="en-US" sz="1600"/>
              <a:t>点位于窗口的右侧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/>
              <a:t>		</a:t>
            </a:r>
            <a:r>
              <a:rPr lang="en-US" altLang="zh-CN" sz="160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	p.x=Wxr;//</a:t>
            </a:r>
            <a:r>
              <a:rPr lang="zh-CN" altLang="en-US" sz="1600"/>
              <a:t>计算交点</a:t>
            </a:r>
            <a:r>
              <a:rPr lang="en-US" altLang="zh-CN" sz="1600"/>
              <a:t>y</a:t>
            </a:r>
            <a:r>
              <a:rPr lang="zh-CN" altLang="en-US" sz="1600"/>
              <a:t>坐标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/>
              <a:t>			</a:t>
            </a:r>
            <a:r>
              <a:rPr lang="en-US" altLang="zh-CN" sz="1600"/>
              <a:t>p.y=k*(p.x-P[0].x)+P[0].y;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else if(RC &amp; BOTTOM)	//P[0]</a:t>
            </a:r>
            <a:r>
              <a:rPr lang="zh-CN" altLang="en-US" sz="1600"/>
              <a:t>点位于窗口的下侧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/>
              <a:t>		</a:t>
            </a:r>
            <a:r>
              <a:rPr lang="en-US" altLang="zh-CN" sz="160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	p.y=Wyb;//</a:t>
            </a:r>
            <a:r>
              <a:rPr lang="zh-CN" altLang="en-US" sz="1600"/>
              <a:t>计算交点</a:t>
            </a:r>
            <a:r>
              <a:rPr lang="en-US" altLang="zh-CN" sz="1600"/>
              <a:t>x</a:t>
            </a:r>
            <a:r>
              <a:rPr lang="zh-CN" altLang="en-US" sz="1600"/>
              <a:t>坐标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/>
              <a:t>			</a:t>
            </a:r>
            <a:r>
              <a:rPr lang="en-US" altLang="zh-CN" sz="1600"/>
              <a:t>p.x=(p.y-P[0].y)/k+P[0].x;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}			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else if(RC &amp; TOP)		//P[0]</a:t>
            </a:r>
            <a:r>
              <a:rPr lang="zh-CN" altLang="en-US" sz="1600"/>
              <a:t>点位于窗口的上侧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/>
              <a:t>		</a:t>
            </a:r>
            <a:r>
              <a:rPr lang="en-US" altLang="zh-CN" sz="160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	p.y=Wyt;//</a:t>
            </a:r>
            <a:r>
              <a:rPr lang="zh-CN" altLang="en-US" sz="1600"/>
              <a:t>计算交点</a:t>
            </a:r>
            <a:r>
              <a:rPr lang="en-US" altLang="zh-CN" sz="1600"/>
              <a:t>x</a:t>
            </a:r>
            <a:r>
              <a:rPr lang="zh-CN" altLang="en-US" sz="1600"/>
              <a:t>坐标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/>
              <a:t>			</a:t>
            </a:r>
            <a:r>
              <a:rPr lang="en-US" altLang="zh-CN" sz="1600"/>
              <a:t>p.x=(p.y-P[0].y)/k+P[0].x;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                         EnCode(p);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P[0]=p;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/>
              <a:t>         ｝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/>
              <a:t>｝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4"/>
          <p:cNvSpPr>
            <a:spLocks noChangeArrowheads="1"/>
          </p:cNvSpPr>
          <p:nvPr/>
        </p:nvSpPr>
        <p:spPr bwMode="auto">
          <a:xfrm>
            <a:off x="345421" y="234663"/>
            <a:ext cx="6210354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en-US" altLang="zh-CN" sz="36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5.6 </a:t>
            </a:r>
            <a:r>
              <a:rPr lang="zh-CN" altLang="en-US" sz="36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中点</a:t>
            </a:r>
            <a:r>
              <a:rPr lang="zh-CN" alt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分割直线段裁剪算法</a:t>
            </a:r>
          </a:p>
        </p:txBody>
      </p:sp>
      <p:sp>
        <p:nvSpPr>
          <p:cNvPr id="59395" name="Rectangle 7"/>
          <p:cNvSpPr>
            <a:spLocks noChangeArrowheads="1"/>
          </p:cNvSpPr>
          <p:nvPr/>
        </p:nvSpPr>
        <p:spPr bwMode="auto">
          <a:xfrm>
            <a:off x="345421" y="1101667"/>
            <a:ext cx="5111750" cy="579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5.6.1 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中点分割算法原理   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44" name="Rectangle 8"/>
              <p:cNvSpPr>
                <a:spLocks noChangeArrowheads="1"/>
              </p:cNvSpPr>
              <p:nvPr/>
            </p:nvSpPr>
            <p:spPr bwMode="auto">
              <a:xfrm>
                <a:off x="345421" y="1734285"/>
                <a:ext cx="8497639" cy="28623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中点分割直线段裁剪算法对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Cohen-Sutherland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直线裁剪算法的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种情况做了改进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en-US" sz="2000" b="1" dirty="0">
                    <a:solidFill>
                      <a:srgbClr val="3366FF"/>
                    </a:solidFill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原理是简单地把起点为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3366FF"/>
                            </a:solidFill>
                            <a:latin typeface="Cambria Math" panose="02040503050406030204" pitchFamily="18" charset="0"/>
                            <a:ea typeface="方正粗黑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3366FF"/>
                            </a:solidFill>
                            <a:latin typeface="Cambria Math" panose="02040503050406030204" pitchFamily="18" charset="0"/>
                            <a:ea typeface="方正粗黑宋简体" panose="02000000000000000000" pitchFamily="2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3366FF"/>
                            </a:solidFill>
                            <a:latin typeface="Cambria Math" panose="02040503050406030204" pitchFamily="18" charset="0"/>
                            <a:ea typeface="方正粗黑宋简体" panose="02000000000000000000" pitchFamily="2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000" b="1" dirty="0" smtClean="0">
                    <a:solidFill>
                      <a:srgbClr val="3366FF"/>
                    </a:solidFill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，</a:t>
                </a:r>
                <a:r>
                  <a:rPr lang="zh-CN" altLang="en-US" sz="2000" b="1" dirty="0">
                    <a:solidFill>
                      <a:srgbClr val="3366FF"/>
                    </a:solidFill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终点为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3366FF"/>
                            </a:solidFill>
                            <a:latin typeface="Cambria Math" panose="02040503050406030204" pitchFamily="18" charset="0"/>
                            <a:ea typeface="方正粗黑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3366FF"/>
                            </a:solidFill>
                            <a:latin typeface="Cambria Math" panose="02040503050406030204" pitchFamily="18" charset="0"/>
                            <a:ea typeface="方正粗黑宋简体" panose="02000000000000000000" pitchFamily="2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3366FF"/>
                            </a:solidFill>
                            <a:latin typeface="Cambria Math" panose="02040503050406030204" pitchFamily="18" charset="0"/>
                            <a:ea typeface="方正粗黑宋简体" panose="02000000000000000000" pitchFamily="2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000" b="1" dirty="0" smtClean="0">
                    <a:solidFill>
                      <a:srgbClr val="3366FF"/>
                    </a:solidFill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 的</a:t>
                </a:r>
                <a:r>
                  <a:rPr lang="zh-CN" altLang="en-US" sz="2000" b="1" dirty="0">
                    <a:solidFill>
                      <a:srgbClr val="3366FF"/>
                    </a:solidFill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直线段等分为两段直线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3366FF"/>
                            </a:solidFill>
                            <a:latin typeface="Cambria Math" panose="02040503050406030204" pitchFamily="18" charset="0"/>
                            <a:ea typeface="方正粗黑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3366FF"/>
                            </a:solidFill>
                            <a:latin typeface="Cambria Math" panose="02040503050406030204" pitchFamily="18" charset="0"/>
                            <a:ea typeface="方正粗黑宋简体" panose="02000000000000000000" pitchFamily="2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3366FF"/>
                            </a:solidFill>
                            <a:latin typeface="Cambria Math" panose="02040503050406030204" pitchFamily="18" charset="0"/>
                            <a:ea typeface="方正粗黑宋简体" panose="02000000000000000000" pitchFamily="2" charset="-122"/>
                          </a:rPr>
                          <m:t>𝟎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3366FF"/>
                        </a:solidFill>
                        <a:latin typeface="Cambria Math" panose="02040503050406030204" pitchFamily="18" charset="0"/>
                        <a:ea typeface="方正粗黑宋简体" panose="02000000000000000000" pitchFamily="2" charset="-122"/>
                      </a:rPr>
                      <m:t>𝑷</m:t>
                    </m:r>
                  </m:oMath>
                </a14:m>
                <a:r>
                  <a:rPr lang="en-US" altLang="zh-CN" sz="2000" b="1" dirty="0">
                    <a:solidFill>
                      <a:srgbClr val="3366FF"/>
                    </a:solidFill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 </a:t>
                </a:r>
                <a:r>
                  <a:rPr lang="zh-CN" altLang="en-US" sz="2000" b="1" dirty="0">
                    <a:solidFill>
                      <a:srgbClr val="3366FF"/>
                    </a:solidFill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和</a:t>
                </a:r>
                <a:r>
                  <a:rPr lang="zh-CN" altLang="en-US" sz="2000" b="1" dirty="0" smtClean="0">
                    <a:solidFill>
                      <a:srgbClr val="3366FF"/>
                    </a:solidFill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3366FF"/>
                        </a:solidFill>
                        <a:latin typeface="Cambria Math" panose="02040503050406030204" pitchFamily="18" charset="0"/>
                        <a:ea typeface="方正粗黑宋简体" panose="02000000000000000000" pitchFamily="2" charset="-122"/>
                      </a:rPr>
                      <m:t>𝑷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3366FF"/>
                            </a:solidFill>
                            <a:latin typeface="Cambria Math" panose="02040503050406030204" pitchFamily="18" charset="0"/>
                            <a:ea typeface="方正粗黑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3366FF"/>
                            </a:solidFill>
                            <a:latin typeface="Cambria Math" panose="02040503050406030204" pitchFamily="18" charset="0"/>
                            <a:ea typeface="方正粗黑宋简体" panose="02000000000000000000" pitchFamily="2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3366FF"/>
                            </a:solidFill>
                            <a:latin typeface="Cambria Math" panose="02040503050406030204" pitchFamily="18" charset="0"/>
                            <a:ea typeface="方正粗黑宋简体" panose="02000000000000000000" pitchFamily="2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000" b="1" dirty="0" smtClean="0">
                    <a:solidFill>
                      <a:srgbClr val="0033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b="1" dirty="0" smtClean="0">
                    <a:solidFill>
                      <a:srgbClr val="3366FF"/>
                    </a:solidFill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（</a:t>
                </a:r>
                <a:r>
                  <a:rPr lang="en-US" altLang="zh-CN" sz="2000" b="1" dirty="0">
                    <a:solidFill>
                      <a:srgbClr val="3366FF"/>
                    </a:solidFill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P </a:t>
                </a:r>
                <a:r>
                  <a:rPr lang="zh-CN" altLang="en-US" sz="2000" b="1" dirty="0">
                    <a:solidFill>
                      <a:srgbClr val="3366FF"/>
                    </a:solidFill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为直线段中点），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对每一段直线重复</a:t>
                </a:r>
                <a:r>
                  <a:rPr lang="zh-CN" altLang="en-US" sz="2000" b="1" dirty="0">
                    <a:solidFill>
                      <a:srgbClr val="3366FF"/>
                    </a:solidFill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“简取”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zh-CN" altLang="en-US" sz="2000" b="1" dirty="0">
                    <a:solidFill>
                      <a:srgbClr val="3366FF"/>
                    </a:solidFill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“简弃”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的处理，对于不能处理的直线段再继续等分下去线，直至每一段直线完全能够被“简取”或“简弃”，也就是说直至每段直线完全位于窗口之内或完全位于窗口之外，就完成了直线段的裁剪工作。 </a:t>
                </a:r>
              </a:p>
            </p:txBody>
          </p:sp>
        </mc:Choice>
        <mc:Fallback xmlns="">
          <p:sp>
            <p:nvSpPr>
              <p:cNvPr id="61444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5421" y="1734285"/>
                <a:ext cx="8497639" cy="2862322"/>
              </a:xfrm>
              <a:prstGeom prst="rect">
                <a:avLst/>
              </a:prstGeom>
              <a:blipFill>
                <a:blip r:embed="rId3"/>
                <a:stretch>
                  <a:fillRect l="-789" r="-717" b="-148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97" name="Rectangle 9"/>
          <p:cNvSpPr>
            <a:spLocks noChangeArrowheads="1"/>
          </p:cNvSpPr>
          <p:nvPr/>
        </p:nvSpPr>
        <p:spPr bwMode="auto">
          <a:xfrm>
            <a:off x="345421" y="4895116"/>
            <a:ext cx="4103687" cy="579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5.6.2 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中点计算公式         </a:t>
            </a:r>
          </a:p>
        </p:txBody>
      </p:sp>
      <p:sp>
        <p:nvSpPr>
          <p:cNvPr id="61446" name="Rectangle 11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614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2556866"/>
              </p:ext>
            </p:extLst>
          </p:nvPr>
        </p:nvGraphicFramePr>
        <p:xfrm>
          <a:off x="2771800" y="5773063"/>
          <a:ext cx="23050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0" r:id="rId4" imgW="1003300" imgH="228600" progId="Equation.3">
                  <p:embed/>
                </p:oleObj>
              </mc:Choice>
              <mc:Fallback>
                <p:oleObj r:id="rId4" imgW="10033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5773063"/>
                        <a:ext cx="230505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8" name="Rectangle 12"/>
          <p:cNvSpPr>
            <a:spLocks noChangeArrowheads="1"/>
          </p:cNvSpPr>
          <p:nvPr/>
        </p:nvSpPr>
        <p:spPr bwMode="auto">
          <a:xfrm>
            <a:off x="6732240" y="5773063"/>
            <a:ext cx="1500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/>
              <a:t>（</a:t>
            </a:r>
            <a:r>
              <a:rPr lang="en-US" altLang="zh-CN" dirty="0"/>
              <a:t>5-15</a:t>
            </a:r>
            <a:r>
              <a:rPr lang="zh-CN" altLang="en-US" dirty="0"/>
              <a:t>）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4"/>
          <p:cNvSpPr>
            <a:spLocks noChangeArrowheads="1"/>
          </p:cNvSpPr>
          <p:nvPr/>
        </p:nvSpPr>
        <p:spPr bwMode="auto">
          <a:xfrm>
            <a:off x="2700338" y="1484313"/>
            <a:ext cx="4608512" cy="2305050"/>
          </a:xfrm>
          <a:prstGeom prst="rect">
            <a:avLst/>
          </a:prstGeom>
          <a:noFill/>
          <a:ln w="38100">
            <a:solidFill>
              <a:srgbClr val="8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60419" name="Line 5"/>
          <p:cNvSpPr>
            <a:spLocks noChangeShapeType="1"/>
          </p:cNvSpPr>
          <p:nvPr/>
        </p:nvSpPr>
        <p:spPr bwMode="auto">
          <a:xfrm>
            <a:off x="2987675" y="981075"/>
            <a:ext cx="4464050" cy="3743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0" name="Text Box 6"/>
          <p:cNvSpPr txBox="1">
            <a:spLocks noChangeArrowheads="1"/>
          </p:cNvSpPr>
          <p:nvPr/>
        </p:nvSpPr>
        <p:spPr bwMode="auto">
          <a:xfrm>
            <a:off x="2268538" y="692150"/>
            <a:ext cx="574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/>
              <a:t>P</a:t>
            </a:r>
            <a:r>
              <a:rPr lang="en-US" altLang="zh-CN" baseline="-25000"/>
              <a:t>0</a:t>
            </a:r>
          </a:p>
        </p:txBody>
      </p:sp>
      <p:sp>
        <p:nvSpPr>
          <p:cNvPr id="60421" name="Text Box 8"/>
          <p:cNvSpPr txBox="1">
            <a:spLocks noChangeArrowheads="1"/>
          </p:cNvSpPr>
          <p:nvPr/>
        </p:nvSpPr>
        <p:spPr bwMode="auto">
          <a:xfrm>
            <a:off x="7164388" y="4797425"/>
            <a:ext cx="574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/>
              <a:t>P</a:t>
            </a:r>
            <a:r>
              <a:rPr lang="en-US" altLang="zh-CN" baseline="-25000"/>
              <a:t>1</a:t>
            </a:r>
          </a:p>
        </p:txBody>
      </p:sp>
      <p:sp>
        <p:nvSpPr>
          <p:cNvPr id="60422" name="Oval 9"/>
          <p:cNvSpPr>
            <a:spLocks noChangeArrowheads="1"/>
          </p:cNvSpPr>
          <p:nvPr/>
        </p:nvSpPr>
        <p:spPr bwMode="auto">
          <a:xfrm>
            <a:off x="2916238" y="909638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60423" name="Oval 10"/>
          <p:cNvSpPr>
            <a:spLocks noChangeArrowheads="1"/>
          </p:cNvSpPr>
          <p:nvPr/>
        </p:nvSpPr>
        <p:spPr bwMode="auto">
          <a:xfrm>
            <a:off x="7381875" y="4652963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60424" name="Oval 11"/>
          <p:cNvSpPr>
            <a:spLocks noChangeArrowheads="1"/>
          </p:cNvSpPr>
          <p:nvPr/>
        </p:nvSpPr>
        <p:spPr bwMode="auto">
          <a:xfrm>
            <a:off x="5005388" y="2638425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60425" name="Text Box 12"/>
          <p:cNvSpPr txBox="1">
            <a:spLocks noChangeArrowheads="1"/>
          </p:cNvSpPr>
          <p:nvPr/>
        </p:nvSpPr>
        <p:spPr bwMode="auto">
          <a:xfrm>
            <a:off x="5292725" y="2276475"/>
            <a:ext cx="358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/>
              <a:t>P</a:t>
            </a:r>
            <a:endParaRPr lang="en-US" altLang="zh-CN" baseline="-25000"/>
          </a:p>
        </p:txBody>
      </p:sp>
      <p:sp>
        <p:nvSpPr>
          <p:cNvPr id="60426" name="Oval 13"/>
          <p:cNvSpPr>
            <a:spLocks noChangeArrowheads="1"/>
          </p:cNvSpPr>
          <p:nvPr/>
        </p:nvSpPr>
        <p:spPr bwMode="auto">
          <a:xfrm>
            <a:off x="4068763" y="1846263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60427" name="Oval 14"/>
          <p:cNvSpPr>
            <a:spLocks noChangeArrowheads="1"/>
          </p:cNvSpPr>
          <p:nvPr/>
        </p:nvSpPr>
        <p:spPr bwMode="auto">
          <a:xfrm>
            <a:off x="3492500" y="1412875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60428" name="Oval 15"/>
          <p:cNvSpPr>
            <a:spLocks noChangeArrowheads="1"/>
          </p:cNvSpPr>
          <p:nvPr/>
        </p:nvSpPr>
        <p:spPr bwMode="auto">
          <a:xfrm>
            <a:off x="6300788" y="3716338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62477" name="Text Box 16"/>
          <p:cNvSpPr txBox="1">
            <a:spLocks noChangeArrowheads="1"/>
          </p:cNvSpPr>
          <p:nvPr/>
        </p:nvSpPr>
        <p:spPr bwMode="auto">
          <a:xfrm>
            <a:off x="4140200" y="5445125"/>
            <a:ext cx="215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/>
              <a:t>中点分割算法</a:t>
            </a:r>
          </a:p>
        </p:txBody>
      </p:sp>
      <p:sp>
        <p:nvSpPr>
          <p:cNvPr id="60430" name="Oval 17"/>
          <p:cNvSpPr>
            <a:spLocks noChangeArrowheads="1"/>
          </p:cNvSpPr>
          <p:nvPr/>
        </p:nvSpPr>
        <p:spPr bwMode="auto">
          <a:xfrm>
            <a:off x="3492500" y="1412875"/>
            <a:ext cx="142875" cy="142875"/>
          </a:xfrm>
          <a:prstGeom prst="ellipse">
            <a:avLst/>
          </a:prstGeom>
          <a:solidFill>
            <a:srgbClr val="0033CC"/>
          </a:solidFill>
          <a:ln w="9525">
            <a:solidFill>
              <a:srgbClr val="A50021"/>
            </a:solidFill>
            <a:rou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60431" name="Oval 18"/>
          <p:cNvSpPr>
            <a:spLocks noChangeArrowheads="1"/>
          </p:cNvSpPr>
          <p:nvPr/>
        </p:nvSpPr>
        <p:spPr bwMode="auto">
          <a:xfrm>
            <a:off x="6300788" y="3717925"/>
            <a:ext cx="142875" cy="142875"/>
          </a:xfrm>
          <a:prstGeom prst="ellipse">
            <a:avLst/>
          </a:prstGeom>
          <a:solidFill>
            <a:srgbClr val="0033CC"/>
          </a:solidFill>
          <a:ln w="9525">
            <a:solidFill>
              <a:srgbClr val="A50021"/>
            </a:solidFill>
            <a:rou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0" grpId="0"/>
      <p:bldP spid="60421" grpId="0"/>
      <p:bldP spid="60422" grpId="0" animBg="1"/>
      <p:bldP spid="60423" grpId="0" animBg="1"/>
      <p:bldP spid="60424" grpId="0" animBg="1"/>
      <p:bldP spid="60425" grpId="0"/>
      <p:bldP spid="60426" grpId="0" animBg="1"/>
      <p:bldP spid="60427" grpId="0" animBg="1"/>
      <p:bldP spid="60428" grpId="0" animBg="1"/>
      <p:bldP spid="60430" grpId="0" animBg="1"/>
      <p:bldP spid="60430" grpId="1" animBg="1"/>
      <p:bldP spid="60431" grpId="0" animBg="1"/>
      <p:bldP spid="60431" grpId="1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5"/>
          <p:cNvSpPr>
            <a:spLocks noChangeArrowheads="1"/>
          </p:cNvSpPr>
          <p:nvPr/>
        </p:nvSpPr>
        <p:spPr bwMode="auto">
          <a:xfrm>
            <a:off x="3419475" y="5876925"/>
            <a:ext cx="414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>
                <a:hlinkClick r:id="rId2" action="ppaction://hlinkfile"/>
              </a:rPr>
              <a:t>中点分割算法裁剪金刚石图案</a:t>
            </a:r>
            <a:endParaRPr lang="zh-CN" altLang="en-US" dirty="0"/>
          </a:p>
        </p:txBody>
      </p:sp>
      <p:pic>
        <p:nvPicPr>
          <p:cNvPr id="6349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476250"/>
            <a:ext cx="6677025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4"/>
          <p:cNvSpPr>
            <a:spLocks noChangeArrowheads="1"/>
          </p:cNvSpPr>
          <p:nvPr/>
        </p:nvSpPr>
        <p:spPr bwMode="auto">
          <a:xfrm>
            <a:off x="1547813" y="260350"/>
            <a:ext cx="7345362" cy="613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BOOL </a:t>
            </a:r>
            <a:r>
              <a:rPr lang="en-US" altLang="zh-CN" sz="1800" dirty="0" err="1"/>
              <a:t>CTestView</a:t>
            </a:r>
            <a:r>
              <a:rPr lang="en-US" altLang="zh-CN" sz="1800" dirty="0"/>
              <a:t>::Cohen()//Cohen</a:t>
            </a:r>
            <a:r>
              <a:rPr lang="zh-CN" altLang="en-US" sz="1800" dirty="0"/>
              <a:t>－</a:t>
            </a:r>
            <a:r>
              <a:rPr lang="en-US" altLang="zh-CN" sz="1800" dirty="0"/>
              <a:t>Sutherland</a:t>
            </a:r>
            <a:r>
              <a:rPr lang="zh-CN" altLang="en-US" sz="1800" dirty="0"/>
              <a:t>算法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EnCode</a:t>
            </a:r>
            <a:r>
              <a:rPr lang="en-US" altLang="zh-CN" sz="1800" dirty="0"/>
              <a:t>(P[0]);	//</a:t>
            </a:r>
            <a:r>
              <a:rPr lang="zh-CN" altLang="en-US" sz="1800" dirty="0" smtClean="0"/>
              <a:t>起点的区域编码</a:t>
            </a:r>
            <a:endParaRPr lang="zh-CN" altLang="en-US" sz="1800" dirty="0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800" dirty="0"/>
              <a:t>	</a:t>
            </a:r>
            <a:r>
              <a:rPr lang="en-US" altLang="zh-CN" sz="1800" dirty="0" err="1"/>
              <a:t>EnCode</a:t>
            </a:r>
            <a:r>
              <a:rPr lang="en-US" altLang="zh-CN" sz="1800" dirty="0"/>
              <a:t>(P[1]);	//</a:t>
            </a:r>
            <a:r>
              <a:rPr lang="zh-CN" altLang="en-US" sz="1800" dirty="0" smtClean="0"/>
              <a:t>终点的区域</a:t>
            </a:r>
            <a:r>
              <a:rPr lang="zh-CN" altLang="en-US" sz="1800" dirty="0"/>
              <a:t>编码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800" dirty="0"/>
              <a:t>	</a:t>
            </a:r>
            <a:r>
              <a:rPr lang="en-US" altLang="zh-CN" sz="1800" dirty="0"/>
              <a:t>while(P[0].</a:t>
            </a:r>
            <a:r>
              <a:rPr lang="en-US" altLang="zh-CN" sz="1800" dirty="0" err="1"/>
              <a:t>rc</a:t>
            </a:r>
            <a:r>
              <a:rPr lang="en-US" altLang="zh-CN" sz="1800" dirty="0"/>
              <a:t>!=0 || P[1].</a:t>
            </a:r>
            <a:r>
              <a:rPr lang="en-US" altLang="zh-CN" sz="1800" dirty="0" err="1"/>
              <a:t>rc</a:t>
            </a:r>
            <a:r>
              <a:rPr lang="en-US" altLang="zh-CN" sz="1800" dirty="0"/>
              <a:t>!=0)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             {//</a:t>
            </a:r>
            <a:r>
              <a:rPr lang="zh-CN" altLang="en-US" sz="1800" dirty="0"/>
              <a:t>处理至少一个顶点在窗口之外的情况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800" dirty="0"/>
              <a:t>		</a:t>
            </a:r>
            <a:r>
              <a:rPr lang="en-US" altLang="zh-CN" sz="1800" dirty="0"/>
              <a:t>if</a:t>
            </a:r>
            <a:r>
              <a:rPr lang="en-US" altLang="zh-CN" sz="1800" dirty="0" smtClean="0"/>
              <a:t>((P[0].</a:t>
            </a:r>
            <a:r>
              <a:rPr lang="en-US" altLang="zh-CN" sz="1800" dirty="0" err="1" smtClean="0"/>
              <a:t>rc</a:t>
            </a:r>
            <a:r>
              <a:rPr lang="en-US" altLang="zh-CN" sz="1800" dirty="0" smtClean="0"/>
              <a:t> &amp; P[1].</a:t>
            </a:r>
            <a:r>
              <a:rPr lang="en-US" altLang="zh-CN" sz="1800" dirty="0" err="1" smtClean="0"/>
              <a:t>rc</a:t>
            </a:r>
            <a:r>
              <a:rPr lang="en-US" altLang="zh-CN" sz="1800" dirty="0" smtClean="0"/>
              <a:t>)!=0)</a:t>
            </a:r>
            <a:r>
              <a:rPr lang="en-US" altLang="zh-CN" sz="1800" dirty="0"/>
              <a:t>	//</a:t>
            </a:r>
            <a:r>
              <a:rPr lang="zh-CN" altLang="en-US" sz="1800" dirty="0"/>
              <a:t>简弃之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800" dirty="0"/>
              <a:t>		</a:t>
            </a:r>
            <a:r>
              <a:rPr lang="en-US" altLang="zh-CN" sz="1800" dirty="0" smtClean="0"/>
              <a:t>{</a:t>
            </a:r>
            <a:endParaRPr lang="en-US" altLang="zh-CN" sz="1800" dirty="0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		</a:t>
            </a:r>
            <a:r>
              <a:rPr lang="en-US" altLang="zh-CN" sz="1800" dirty="0" err="1"/>
              <a:t>PtCount</a:t>
            </a:r>
            <a:r>
              <a:rPr lang="en-US" altLang="zh-CN" sz="1800" dirty="0"/>
              <a:t>=0;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		return FALSE;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	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	if(0==P[0].</a:t>
            </a:r>
            <a:r>
              <a:rPr lang="en-US" altLang="zh-CN" sz="1800" dirty="0" err="1"/>
              <a:t>rc</a:t>
            </a:r>
            <a:r>
              <a:rPr lang="en-US" altLang="zh-CN" sz="1800" dirty="0"/>
              <a:t>)		//</a:t>
            </a:r>
            <a:r>
              <a:rPr lang="zh-CN" altLang="en-US" sz="1800" dirty="0"/>
              <a:t>确保</a:t>
            </a:r>
            <a:r>
              <a:rPr lang="en-US" altLang="zh-CN" sz="1800" dirty="0"/>
              <a:t>P[0]</a:t>
            </a:r>
            <a:r>
              <a:rPr lang="zh-CN" altLang="en-US" sz="1800" dirty="0"/>
              <a:t>位于窗口之外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800" dirty="0"/>
              <a:t>		</a:t>
            </a:r>
            <a:r>
              <a:rPr lang="en-US" altLang="zh-CN" sz="1800" dirty="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		CP2 Temp;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		Temp=P[0];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		P[0]=P[1];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		P[1]=Temp;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	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	</a:t>
            </a:r>
            <a:r>
              <a:rPr lang="en-US" altLang="zh-CN" sz="1800" b="1" dirty="0" err="1">
                <a:solidFill>
                  <a:srgbClr val="FF0000"/>
                </a:solidFill>
              </a:rPr>
              <a:t>MidClip</a:t>
            </a:r>
            <a:r>
              <a:rPr lang="en-US" altLang="zh-CN" sz="1800" dirty="0"/>
              <a:t>(P[0],P[1]);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	return TRUE;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 dirty="0"/>
              <a:t>}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4"/>
          <p:cNvSpPr>
            <a:spLocks noChangeArrowheads="1"/>
          </p:cNvSpPr>
          <p:nvPr/>
        </p:nvSpPr>
        <p:spPr bwMode="auto">
          <a:xfrm>
            <a:off x="1187450" y="404813"/>
            <a:ext cx="795655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 dirty="0"/>
              <a:t>void </a:t>
            </a:r>
            <a:r>
              <a:rPr lang="en-US" altLang="zh-CN" sz="2000" dirty="0" err="1"/>
              <a:t>CTestView</a:t>
            </a:r>
            <a:r>
              <a:rPr lang="en-US" altLang="zh-CN" sz="2000" dirty="0"/>
              <a:t>::</a:t>
            </a:r>
            <a:r>
              <a:rPr lang="en-US" altLang="zh-CN" sz="2000" b="1" dirty="0" err="1">
                <a:solidFill>
                  <a:srgbClr val="FF0000"/>
                </a:solidFill>
              </a:rPr>
              <a:t>MidClip</a:t>
            </a:r>
            <a:r>
              <a:rPr lang="en-US" altLang="zh-CN" sz="2000" dirty="0"/>
              <a:t>(CP2 p0,CP2 p1)//</a:t>
            </a:r>
            <a:r>
              <a:rPr lang="zh-CN" altLang="en-US" sz="2000" dirty="0"/>
              <a:t>中点分割算法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 dirty="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 dirty="0"/>
              <a:t>	CP2 p;		//</a:t>
            </a:r>
            <a:r>
              <a:rPr lang="zh-CN" altLang="en-US" sz="2000" dirty="0"/>
              <a:t>中点坐标	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dirty="0"/>
              <a:t>	</a:t>
            </a:r>
            <a:r>
              <a:rPr lang="en-US" altLang="zh-CN" sz="2000" dirty="0" err="1"/>
              <a:t>p.x</a:t>
            </a:r>
            <a:r>
              <a:rPr lang="en-US" altLang="zh-CN" sz="2000" dirty="0"/>
              <a:t>=(p0.x+p1.x)/2</a:t>
            </a:r>
            <a:r>
              <a:rPr lang="en-US" altLang="zh-CN" sz="2000" dirty="0" smtClean="0"/>
              <a:t>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 dirty="0"/>
              <a:t>	</a:t>
            </a:r>
            <a:r>
              <a:rPr lang="en-US" altLang="zh-CN" sz="2000" dirty="0" err="1" smtClean="0"/>
              <a:t>p.y</a:t>
            </a:r>
            <a:r>
              <a:rPr lang="en-US" altLang="zh-CN" sz="2000" dirty="0"/>
              <a:t>=(p0.y+p1.y)/2</a:t>
            </a:r>
            <a:r>
              <a:rPr lang="en-US" altLang="zh-CN" sz="2000" dirty="0" smtClean="0"/>
              <a:t>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 dirty="0"/>
              <a:t>	</a:t>
            </a:r>
            <a:r>
              <a:rPr lang="en-US" altLang="zh-CN" sz="2000" dirty="0" err="1" smtClean="0"/>
              <a:t>EnCode</a:t>
            </a:r>
            <a:r>
              <a:rPr lang="en-US" altLang="zh-CN" sz="2000" dirty="0"/>
              <a:t>(p); </a:t>
            </a:r>
            <a:r>
              <a:rPr lang="en-US" altLang="zh-CN" sz="2000" dirty="0" smtClean="0"/>
              <a:t>	//</a:t>
            </a:r>
            <a:r>
              <a:rPr lang="zh-CN" altLang="en-US" sz="2000" dirty="0" smtClean="0"/>
              <a:t>中点的区域编码</a:t>
            </a:r>
            <a:endParaRPr lang="en-US" altLang="zh-CN" sz="2000" dirty="0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 dirty="0"/>
              <a:t>	while(</a:t>
            </a:r>
            <a:r>
              <a:rPr lang="en-US" altLang="zh-CN" sz="2000" dirty="0" err="1"/>
              <a:t>fabs</a:t>
            </a:r>
            <a:r>
              <a:rPr lang="en-US" altLang="zh-CN" sz="2000" dirty="0"/>
              <a:t>(p.x-p0.x)&gt;1e-6||</a:t>
            </a:r>
            <a:r>
              <a:rPr lang="en-US" altLang="zh-CN" sz="2000" dirty="0" err="1"/>
              <a:t>fabs</a:t>
            </a:r>
            <a:r>
              <a:rPr lang="en-US" altLang="zh-CN" sz="2000" dirty="0"/>
              <a:t>(p.y-p0.y)&gt;1e-6)//</a:t>
            </a:r>
            <a:r>
              <a:rPr lang="zh-CN" altLang="en-US" sz="2000" dirty="0"/>
              <a:t>判断结束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dirty="0"/>
              <a:t>	</a:t>
            </a:r>
            <a:r>
              <a:rPr lang="en-US" altLang="zh-CN" sz="2000" dirty="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 dirty="0"/>
              <a:t>		if(0==</a:t>
            </a:r>
            <a:r>
              <a:rPr lang="en-US" altLang="zh-CN" sz="2000" dirty="0" err="1"/>
              <a:t>p.rc</a:t>
            </a:r>
            <a:r>
              <a:rPr lang="en-US" altLang="zh-CN" sz="2000" dirty="0"/>
              <a:t>)	//</a:t>
            </a:r>
            <a:r>
              <a:rPr lang="zh-CN" altLang="en-US" sz="2000" dirty="0"/>
              <a:t>中点也在窗口内，则舍弃</a:t>
            </a:r>
            <a:r>
              <a:rPr lang="en-US" altLang="zh-CN" sz="2000" dirty="0"/>
              <a:t>P0</a:t>
            </a:r>
            <a:r>
              <a:rPr lang="zh-CN" altLang="en-US" sz="2000" dirty="0"/>
              <a:t>点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dirty="0"/>
              <a:t>		      </a:t>
            </a:r>
            <a:r>
              <a:rPr lang="en-US" altLang="zh-CN" sz="2000" dirty="0"/>
              <a:t>p1=p;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 dirty="0"/>
              <a:t>		else		//</a:t>
            </a:r>
            <a:r>
              <a:rPr lang="zh-CN" altLang="en-US" sz="2000" dirty="0"/>
              <a:t>否则舍弃</a:t>
            </a:r>
            <a:r>
              <a:rPr lang="en-US" altLang="zh-CN" sz="2000" dirty="0"/>
              <a:t>P1</a:t>
            </a:r>
            <a:r>
              <a:rPr lang="zh-CN" altLang="en-US" sz="2000" dirty="0"/>
              <a:t>点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dirty="0"/>
              <a:t>		       </a:t>
            </a:r>
            <a:r>
              <a:rPr lang="en-US" altLang="zh-CN" sz="2000" dirty="0"/>
              <a:t>p0=p;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 dirty="0"/>
              <a:t>		</a:t>
            </a:r>
            <a:r>
              <a:rPr lang="en-US" altLang="zh-CN" sz="2000" dirty="0" err="1"/>
              <a:t>p.x</a:t>
            </a:r>
            <a:r>
              <a:rPr lang="en-US" altLang="zh-CN" sz="2000" dirty="0"/>
              <a:t>=(p0.x+p1.x)/2;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 dirty="0"/>
              <a:t>                       </a:t>
            </a:r>
            <a:r>
              <a:rPr lang="en-US" altLang="zh-CN" sz="2000" dirty="0" err="1"/>
              <a:t>p.y</a:t>
            </a:r>
            <a:r>
              <a:rPr lang="en-US" altLang="zh-CN" sz="2000" dirty="0"/>
              <a:t>=(p0.y+p1.y)/2;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 dirty="0"/>
              <a:t>                       </a:t>
            </a:r>
            <a:r>
              <a:rPr lang="en-US" altLang="zh-CN" sz="2000" dirty="0" err="1"/>
              <a:t>EnCode</a:t>
            </a:r>
            <a:r>
              <a:rPr lang="en-US" altLang="zh-CN" sz="2000" dirty="0"/>
              <a:t>(p);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 dirty="0"/>
              <a:t>	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 dirty="0"/>
              <a:t>	P[0]=p;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 dirty="0"/>
              <a:t>}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ChangeArrowheads="1"/>
          </p:cNvSpPr>
          <p:nvPr/>
        </p:nvSpPr>
        <p:spPr bwMode="auto">
          <a:xfrm>
            <a:off x="1042988" y="260350"/>
            <a:ext cx="7632700" cy="641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rgbClr val="3366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5.7 Liang-</a:t>
            </a:r>
            <a:r>
              <a:rPr lang="en-US" altLang="zh-CN" sz="36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Barsky</a:t>
            </a:r>
            <a:r>
              <a:rPr lang="zh-CN" alt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直线段裁剪算法</a:t>
            </a:r>
          </a:p>
        </p:txBody>
      </p:sp>
      <p:sp>
        <p:nvSpPr>
          <p:cNvPr id="66563" name="Rectangle 7"/>
          <p:cNvSpPr>
            <a:spLocks noChangeArrowheads="1"/>
          </p:cNvSpPr>
          <p:nvPr/>
        </p:nvSpPr>
        <p:spPr bwMode="auto">
          <a:xfrm>
            <a:off x="394903" y="1124744"/>
            <a:ext cx="8354194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 梁友栋先生出生于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1935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月，福建福州人。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1956-1960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年于复旦大学作为研究生师从苏步青先生学习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几何理论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1960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年研究生毕业后任教于浙江大学数学系，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1984-1990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年任数学系主任。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年代初梁友栋先生提出了著名的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Liang-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Barsky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裁剪算法，通过</a:t>
            </a:r>
            <a:r>
              <a:rPr lang="zh-CN" altLang="en-US" sz="20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线段的参数化表示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实现快速裁剪，至今仍是计算机图形学中最经典的算法之一。 </a:t>
            </a:r>
          </a:p>
        </p:txBody>
      </p:sp>
      <p:sp>
        <p:nvSpPr>
          <p:cNvPr id="66564" name="Rectangle 10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394903" y="3721924"/>
            <a:ext cx="828078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梁友栋与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Barsky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提出了比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Cohen-Sutherland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裁剪算法速度更快的直线段裁剪算法。该算法是以</a:t>
            </a:r>
            <a:r>
              <a:rPr lang="zh-CN" altLang="en-US" sz="20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直线的参数方程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为基础设计的，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把判断直线与窗口边界求交的二维裁剪问题转化为</a:t>
            </a:r>
            <a:r>
              <a:rPr lang="zh-CN" altLang="en-US" sz="20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求解一组不等式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，确定</a:t>
            </a:r>
            <a:r>
              <a:rPr lang="zh-CN" altLang="en-US" sz="2000" b="1" dirty="0">
                <a:solidFill>
                  <a:srgbClr val="3366FF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直线参数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的一维裁剪问题。 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6"/>
          <p:cNvSpPr>
            <a:spLocks noChangeArrowheads="1"/>
          </p:cNvSpPr>
          <p:nvPr/>
        </p:nvSpPr>
        <p:spPr bwMode="auto">
          <a:xfrm>
            <a:off x="457087" y="174855"/>
            <a:ext cx="6335712" cy="579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5.7.1 Liang-</a:t>
            </a:r>
            <a:r>
              <a:rPr lang="en-US" altLang="zh-CN" sz="32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Barsky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裁剪算法原理</a:t>
            </a:r>
            <a:r>
              <a:rPr lang="zh-CN" altLang="en-US" dirty="0"/>
              <a:t> 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   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588" name="Rectangle 8"/>
              <p:cNvSpPr>
                <a:spLocks noChangeArrowheads="1"/>
              </p:cNvSpPr>
              <p:nvPr/>
            </p:nvSpPr>
            <p:spPr bwMode="auto">
              <a:xfrm>
                <a:off x="611560" y="937163"/>
                <a:ext cx="74168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设起点为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𝑃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终点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𝑃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直线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的参数方程为</a:t>
                </a:r>
              </a:p>
            </p:txBody>
          </p:sp>
        </mc:Choice>
        <mc:Fallback xmlns="">
          <p:sp>
            <p:nvSpPr>
              <p:cNvPr id="67588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937163"/>
                <a:ext cx="7416800" cy="461665"/>
              </a:xfrm>
              <a:prstGeom prst="rect">
                <a:avLst/>
              </a:prstGeom>
              <a:blipFill>
                <a:blip r:embed="rId3"/>
                <a:stretch>
                  <a:fillRect l="-822" b="-173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589" name="Rectangle 10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6759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6348541"/>
              </p:ext>
            </p:extLst>
          </p:nvPr>
        </p:nvGraphicFramePr>
        <p:xfrm>
          <a:off x="859833" y="1608513"/>
          <a:ext cx="342582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38" name="公式" r:id="rId4" imgW="1688760" imgH="482400" progId="Equation.3">
                  <p:embed/>
                </p:oleObj>
              </mc:Choice>
              <mc:Fallback>
                <p:oleObj name="公式" r:id="rId4" imgW="1688760" imgH="482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833" y="1608513"/>
                        <a:ext cx="3425825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1" name="Rectangle 12"/>
          <p:cNvSpPr>
            <a:spLocks noChangeArrowheads="1"/>
          </p:cNvSpPr>
          <p:nvPr/>
        </p:nvSpPr>
        <p:spPr bwMode="auto">
          <a:xfrm>
            <a:off x="7092280" y="2028825"/>
            <a:ext cx="1404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/>
              <a:t>（</a:t>
            </a:r>
            <a:r>
              <a:rPr lang="en-US" altLang="zh-CN" dirty="0"/>
              <a:t>5-16</a:t>
            </a:r>
            <a:r>
              <a:rPr lang="zh-CN" altLang="en-US" dirty="0"/>
              <a:t>）</a:t>
            </a:r>
          </a:p>
        </p:txBody>
      </p:sp>
      <p:sp>
        <p:nvSpPr>
          <p:cNvPr id="67592" name="Rectangle 15"/>
          <p:cNvSpPr>
            <a:spLocks noChangeArrowheads="1"/>
          </p:cNvSpPr>
          <p:nvPr/>
        </p:nvSpPr>
        <p:spPr bwMode="auto">
          <a:xfrm>
            <a:off x="4271776" y="1809025"/>
            <a:ext cx="231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>
                <a:latin typeface="楷体_GB2312" pitchFamily="49" charset="-122"/>
              </a:rPr>
              <a:t> 式中，</a:t>
            </a:r>
            <a:r>
              <a:rPr lang="en-US" altLang="zh-CN" dirty="0">
                <a:latin typeface="楷体_GB2312" pitchFamily="49" charset="-122"/>
              </a:rPr>
              <a:t>0≤t≤1</a:t>
            </a:r>
            <a:endParaRPr lang="zh-CN" altLang="en-US" dirty="0">
              <a:latin typeface="楷体_GB2312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697570" y="2734416"/>
                <a:ext cx="7632700" cy="4993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对于坐标为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𝑥𝑙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𝑦𝑡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𝑟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𝑏</m:t>
                            </m:r>
                          </m:sub>
                        </m:sSub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裁剪窗口，直线段裁剪条件为：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7570" y="2734416"/>
                <a:ext cx="7632700" cy="499304"/>
              </a:xfrm>
              <a:prstGeom prst="rect">
                <a:avLst/>
              </a:prstGeom>
              <a:blipFill>
                <a:blip r:embed="rId6"/>
                <a:stretch>
                  <a:fillRect l="-798" r="-4070" b="-1604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6288129" y="3505648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>
                <a:latin typeface="楷体_GB2312" pitchFamily="49" charset="-122"/>
              </a:rPr>
              <a:t>（</a:t>
            </a:r>
            <a:r>
              <a:rPr lang="en-US" altLang="zh-CN" dirty="0">
                <a:latin typeface="楷体_GB2312" pitchFamily="49" charset="-122"/>
              </a:rPr>
              <a:t>5-17</a:t>
            </a:r>
            <a:r>
              <a:rPr lang="zh-CN" altLang="en-US" dirty="0">
                <a:latin typeface="楷体_GB2312" pitchFamily="49" charset="-122"/>
              </a:rPr>
              <a:t>）</a:t>
            </a:r>
            <a:endParaRPr lang="zh-CN" altLang="en-US" dirty="0"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2161446"/>
              </p:ext>
            </p:extLst>
          </p:nvPr>
        </p:nvGraphicFramePr>
        <p:xfrm>
          <a:off x="2064407" y="3271465"/>
          <a:ext cx="3384550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39" r:id="rId7" imgW="1664335" imgH="457200" progId="Equation.3">
                  <p:embed/>
                </p:oleObj>
              </mc:Choice>
              <mc:Fallback>
                <p:oleObj r:id="rId7" imgW="1664335" imgH="457200" progId="Equation.3">
                  <p:embed/>
                  <p:pic>
                    <p:nvPicPr>
                      <p:cNvPr id="686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4407" y="3271465"/>
                        <a:ext cx="3384550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541070"/>
              </p:ext>
            </p:extLst>
          </p:nvPr>
        </p:nvGraphicFramePr>
        <p:xfrm>
          <a:off x="2431069" y="4599552"/>
          <a:ext cx="3024187" cy="203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0" r:id="rId9" imgW="1397635" imgH="940435" progId="Equation.3">
                  <p:embed/>
                </p:oleObj>
              </mc:Choice>
              <mc:Fallback>
                <p:oleObj r:id="rId9" imgW="1397635" imgH="940435" progId="Equation.3">
                  <p:embed/>
                  <p:pic>
                    <p:nvPicPr>
                      <p:cNvPr id="686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1069" y="4599552"/>
                        <a:ext cx="3024187" cy="203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801649" y="4359623"/>
            <a:ext cx="14670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分解后有：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6084168" y="5516129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>
                <a:latin typeface="楷体_GB2312" pitchFamily="49" charset="-122"/>
              </a:rPr>
              <a:t>（</a:t>
            </a:r>
            <a:r>
              <a:rPr lang="en-US" altLang="zh-CN" dirty="0">
                <a:latin typeface="楷体_GB2312" pitchFamily="49" charset="-122"/>
              </a:rPr>
              <a:t>5-18</a:t>
            </a:r>
            <a:r>
              <a:rPr lang="zh-CN" altLang="en-US" dirty="0">
                <a:latin typeface="楷体_GB2312" pitchFamily="49" charset="-122"/>
              </a:rPr>
              <a:t>）</a:t>
            </a:r>
            <a:endParaRPr lang="zh-CN" altLang="en-US" dirty="0">
              <a:latin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Rectangle 10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65546" name="Rectangle 15"/>
          <p:cNvSpPr>
            <a:spLocks noChangeArrowheads="1"/>
          </p:cNvSpPr>
          <p:nvPr/>
        </p:nvSpPr>
        <p:spPr bwMode="auto">
          <a:xfrm>
            <a:off x="755179" y="431278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令：</a:t>
            </a:r>
            <a:endParaRPr lang="zh-CN" altLang="en-US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86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5956165"/>
              </p:ext>
            </p:extLst>
          </p:nvPr>
        </p:nvGraphicFramePr>
        <p:xfrm>
          <a:off x="1907704" y="431278"/>
          <a:ext cx="316865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92" r:id="rId3" imgW="1613535" imgH="228600" progId="Equation.3">
                  <p:embed/>
                </p:oleObj>
              </mc:Choice>
              <mc:Fallback>
                <p:oleObj r:id="rId3" imgW="1613535" imgH="228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431278"/>
                        <a:ext cx="3168650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755179" y="2223759"/>
            <a:ext cx="53721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dirty="0">
                <a:latin typeface="楷体_GB2312" pitchFamily="49" charset="-122"/>
              </a:rPr>
              <a:t>则（</a:t>
            </a:r>
            <a:r>
              <a:rPr lang="en-US" altLang="zh-CN" sz="2000" dirty="0">
                <a:latin typeface="楷体_GB2312" pitchFamily="49" charset="-122"/>
              </a:rPr>
              <a:t>5-18</a:t>
            </a:r>
            <a:r>
              <a:rPr lang="zh-CN" altLang="en-US" sz="2000" dirty="0">
                <a:latin typeface="楷体_GB2312" pitchFamily="49" charset="-122"/>
              </a:rPr>
              <a:t>）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统一表示</a:t>
            </a:r>
            <a:r>
              <a:rPr lang="zh-CN" altLang="en-US" sz="2000" dirty="0">
                <a:latin typeface="楷体_GB2312" pitchFamily="49" charset="-122"/>
              </a:rPr>
              <a:t>为：</a:t>
            </a:r>
            <a:endParaRPr lang="zh-CN" altLang="en-US" sz="2000" dirty="0">
              <a:latin typeface="楷体_GB2312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4"/>
              <p:cNvSpPr>
                <a:spLocks noChangeArrowheads="1"/>
              </p:cNvSpPr>
              <p:nvPr/>
            </p:nvSpPr>
            <p:spPr bwMode="auto">
              <a:xfrm>
                <a:off x="395536" y="3730733"/>
                <a:ext cx="8496943" cy="27699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 indent="2667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9pPr>
              </a:lstStyle>
              <a:p>
                <a:pPr indent="0" eaLnBrk="1" hangingPunct="1">
                  <a:lnSpc>
                    <a:spcPct val="15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代表直线段裁剪时，窗口的边界顺序，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＝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表示左边界；</a:t>
                </a:r>
                <a:r>
                  <a:rPr lang="en-US" altLang="zh-CN" sz="20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＝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 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表示右边界；</a:t>
                </a:r>
                <a:r>
                  <a:rPr lang="en-US" altLang="zh-CN" sz="20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＝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表示下边界；</a:t>
                </a:r>
                <a:r>
                  <a:rPr lang="en-US" altLang="zh-CN" sz="20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＝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 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表示上边界。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indent="0" eaLnBrk="1" hangingPunct="1">
                  <a:lnSpc>
                    <a:spcPct val="150000"/>
                  </a:lnSpc>
                  <a:defRPr/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公式（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5-19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）给出了直线段的参数方程裁剪条件。</a:t>
                </a:r>
              </a:p>
              <a:p>
                <a:pPr eaLnBrk="1" hangingPunct="1">
                  <a:lnSpc>
                    <a:spcPct val="140000"/>
                  </a:lnSpc>
                  <a:defRPr/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从式（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5-18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）可以知道，</a:t>
                </a:r>
                <a:r>
                  <a:rPr lang="en-US" altLang="zh-CN" sz="20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baseline="-25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，这意味着直线段不和窗口的任何边界平行，</a:t>
                </a:r>
                <a:r>
                  <a:rPr lang="zh-CN" altLang="en-US" sz="2000" b="1" dirty="0" smtClean="0">
                    <a:solidFill>
                      <a:srgbClr val="FF0000"/>
                    </a:solidFill>
                    <a:latin typeface="华文琥珀" panose="02010800040101010101" pitchFamily="2" charset="-122"/>
                    <a:ea typeface="华文琥珀" panose="02010800040101010101" pitchFamily="2" charset="-122"/>
                  </a:rPr>
                  <a:t>直线段及其延长线和窗口边界及其延长线必定相交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，可以采用参数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𝑡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对直线进行裁剪。</a:t>
                </a:r>
                <a:endPara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536" y="3730733"/>
                <a:ext cx="8496943" cy="2769989"/>
              </a:xfrm>
              <a:prstGeom prst="rect">
                <a:avLst/>
              </a:prstGeom>
              <a:blipFill>
                <a:blip r:embed="rId5"/>
                <a:stretch>
                  <a:fillRect l="-789" r="-1506" b="-198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5"/>
              <p:cNvSpPr>
                <a:spLocks noChangeArrowheads="1"/>
              </p:cNvSpPr>
              <p:nvPr/>
            </p:nvSpPr>
            <p:spPr bwMode="auto">
              <a:xfrm>
                <a:off x="755179" y="3186113"/>
                <a:ext cx="242662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=1,2,3,4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20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179" y="3186113"/>
                <a:ext cx="2426626" cy="400110"/>
              </a:xfrm>
              <a:prstGeom prst="rect">
                <a:avLst/>
              </a:prstGeom>
              <a:blipFill>
                <a:blip r:embed="rId6"/>
                <a:stretch>
                  <a:fillRect l="-2764" t="-9231" r="-2010" b="-2769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6"/>
          <p:cNvSpPr>
            <a:spLocks noChangeArrowheads="1"/>
          </p:cNvSpPr>
          <p:nvPr/>
        </p:nvSpPr>
        <p:spPr bwMode="auto">
          <a:xfrm>
            <a:off x="6536454" y="2728913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>
                <a:latin typeface="楷体_GB2312" pitchFamily="49" charset="-122"/>
              </a:rPr>
              <a:t>（</a:t>
            </a:r>
            <a:r>
              <a:rPr lang="en-US" altLang="zh-CN" dirty="0">
                <a:latin typeface="楷体_GB2312" pitchFamily="49" charset="-122"/>
              </a:rPr>
              <a:t>5-19</a:t>
            </a:r>
            <a:r>
              <a:rPr lang="zh-CN" altLang="en-US" dirty="0">
                <a:latin typeface="楷体_GB2312" pitchFamily="49" charset="-122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3500602" y="2594225"/>
                <a:ext cx="157575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602" y="2594225"/>
                <a:ext cx="1575752" cy="461665"/>
              </a:xfrm>
              <a:prstGeom prst="rect">
                <a:avLst/>
              </a:prstGeom>
              <a:blipFill>
                <a:blip r:embed="rId7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755179" y="1025050"/>
                <a:ext cx="538019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4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altLang="zh-CN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179" y="1025050"/>
                <a:ext cx="5380191" cy="461665"/>
              </a:xfrm>
              <a:prstGeom prst="rect">
                <a:avLst/>
              </a:prstGeom>
              <a:blipFill>
                <a:blip r:embed="rId8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792138" y="1486715"/>
                <a:ext cx="8184164" cy="4908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𝑥𝑙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𝑟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𝑦𝑏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4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𝑦𝑡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138" y="1486715"/>
                <a:ext cx="8184164" cy="490840"/>
              </a:xfrm>
              <a:prstGeom prst="rect">
                <a:avLst/>
              </a:prstGeom>
              <a:blipFill>
                <a:blip r:embed="rId9"/>
                <a:stretch>
                  <a:fillRect b="-1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12" name="Rectangle 8"/>
          <p:cNvSpPr>
            <a:spLocks noChangeArrowheads="1"/>
          </p:cNvSpPr>
          <p:nvPr/>
        </p:nvSpPr>
        <p:spPr bwMode="auto">
          <a:xfrm>
            <a:off x="0" y="2644775"/>
            <a:ext cx="184150" cy="461963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17961" dir="2700000" algn="ctr" rotWithShape="0">
              <a:schemeClr val="accent1">
                <a:gamma/>
                <a:shade val="60000"/>
                <a:invGamma/>
              </a:schemeClr>
            </a:outerShdw>
          </a:effectLst>
        </p:spPr>
        <p:txBody>
          <a:bodyPr wrap="none" anchor="ctr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424000"/>
              </a:solidFill>
            </a:endParaRPr>
          </a:p>
        </p:txBody>
      </p:sp>
      <p:graphicFrame>
        <p:nvGraphicFramePr>
          <p:cNvPr id="706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7420595"/>
              </p:ext>
            </p:extLst>
          </p:nvPr>
        </p:nvGraphicFramePr>
        <p:xfrm>
          <a:off x="1403648" y="2111424"/>
          <a:ext cx="6670675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84" r:id="rId3" imgW="7742555" imgH="1911985" progId="Visio.Drawing.11">
                  <p:embed/>
                </p:oleObj>
              </mc:Choice>
              <mc:Fallback>
                <p:oleObj r:id="rId3" imgW="7742555" imgH="1911985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2111424"/>
                        <a:ext cx="6670675" cy="164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0" name="Rectangle 4"/>
          <p:cNvSpPr>
            <a:spLocks noChangeArrowheads="1"/>
          </p:cNvSpPr>
          <p:nvPr/>
        </p:nvSpPr>
        <p:spPr bwMode="auto">
          <a:xfrm>
            <a:off x="395536" y="548680"/>
            <a:ext cx="8416677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裁剪窗口的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每条边界线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将平面分为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两个区域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。定义裁剪窗口所在侧为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可见侧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visible side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），另一侧为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不可见侧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invisible side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），图中阴影线所示为边界线的可见侧。这样，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裁剪窗口也可以定义为所有边界线的可见侧。</a:t>
            </a:r>
          </a:p>
        </p:txBody>
      </p:sp>
      <p:sp>
        <p:nvSpPr>
          <p:cNvPr id="70661" name="Rectangle 4"/>
          <p:cNvSpPr>
            <a:spLocks noChangeArrowheads="1"/>
          </p:cNvSpPr>
          <p:nvPr/>
        </p:nvSpPr>
        <p:spPr bwMode="auto">
          <a:xfrm>
            <a:off x="0" y="3845659"/>
            <a:ext cx="88769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26543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边界线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的可见侧与不可见</a:t>
            </a:r>
            <a:r>
              <a:rPr lang="zh-CN" altLang="en-US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侧。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（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）左边界  （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）左边界 （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边界</a:t>
            </a:r>
            <a:r>
              <a:rPr lang="zh-CN" altLang="en-US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zh-CN" altLang="en-US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）上边界</a:t>
            </a:r>
            <a:endParaRPr lang="zh-CN" altLang="en-US" sz="1800" dirty="0">
              <a:latin typeface="楷体_GB2312" pitchFamily="49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11"/>
          <p:cNvSpPr>
            <a:spLocks noChangeArrowheads="1"/>
          </p:cNvSpPr>
          <p:nvPr/>
        </p:nvSpPr>
        <p:spPr bwMode="auto">
          <a:xfrm>
            <a:off x="1614488" y="1681163"/>
            <a:ext cx="7537450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1685" name="Rectangle 14"/>
          <p:cNvSpPr>
            <a:spLocks noChangeArrowheads="1"/>
          </p:cNvSpPr>
          <p:nvPr/>
        </p:nvSpPr>
        <p:spPr bwMode="auto">
          <a:xfrm>
            <a:off x="0" y="2955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74760" name="Rectangle 1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331640" y="95836"/>
            <a:ext cx="7560741" cy="2862322"/>
          </a:xfrm>
          <a:prstGeom prst="rect">
            <a:avLst/>
          </a:prstGeom>
          <a:blipFill>
            <a:blip r:embed="rId3"/>
            <a:stretch>
              <a:fillRect l="-725" r="-806" b="-1493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71687" name="Object 17"/>
          <p:cNvGraphicFramePr>
            <a:graphicFrameLocks noGrp="1" noChangeAspect="1"/>
          </p:cNvGraphicFramePr>
          <p:nvPr>
            <p:ph idx="4294967295"/>
          </p:nvPr>
        </p:nvGraphicFramePr>
        <p:xfrm>
          <a:off x="2987675" y="2955925"/>
          <a:ext cx="4537075" cy="323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2" r:id="rId4" imgW="7600315" imgH="5426710" progId="Visio.Drawing.11">
                  <p:embed/>
                </p:oleObj>
              </mc:Choice>
              <mc:Fallback>
                <p:oleObj r:id="rId4" imgW="7600315" imgH="5426710" progId="Visio.Drawing.11">
                  <p:embed/>
                  <p:pic>
                    <p:nvPicPr>
                      <p:cNvPr id="0" name="Object 1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4237"/>
                      <a:stretch>
                        <a:fillRect/>
                      </a:stretch>
                    </p:blipFill>
                    <p:spPr bwMode="auto">
                      <a:xfrm>
                        <a:off x="2987675" y="2955925"/>
                        <a:ext cx="4537075" cy="323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8" name="Rectangle 19"/>
          <p:cNvSpPr>
            <a:spLocks noChangeArrowheads="1"/>
          </p:cNvSpPr>
          <p:nvPr/>
        </p:nvSpPr>
        <p:spPr bwMode="auto">
          <a:xfrm>
            <a:off x="2771775" y="6223000"/>
            <a:ext cx="4824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000">
                <a:latin typeface="楷体_GB2312" pitchFamily="49" charset="-122"/>
              </a:rPr>
              <a:t>直线段与窗口的相对位置</a:t>
            </a:r>
            <a:endParaRPr lang="zh-CN" altLang="en-US" sz="2000">
              <a:latin typeface="楷体_GB2312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>
            <a:spLocks noChangeArrowheads="1"/>
          </p:cNvSpPr>
          <p:nvPr/>
        </p:nvSpPr>
        <p:spPr bwMode="auto">
          <a:xfrm>
            <a:off x="0" y="2997200"/>
            <a:ext cx="184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 sz="2000"/>
          </a:p>
        </p:txBody>
      </p:sp>
      <p:sp>
        <p:nvSpPr>
          <p:cNvPr id="75781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331912" y="161571"/>
            <a:ext cx="7650509" cy="3785652"/>
          </a:xfrm>
          <a:prstGeom prst="rect">
            <a:avLst/>
          </a:prstGeom>
          <a:blipFill>
            <a:blip r:embed="rId3"/>
            <a:stretch>
              <a:fillRect r="-876" b="-483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72708" name="Rectangle 7"/>
          <p:cNvSpPr>
            <a:spLocks noChangeArrowheads="1"/>
          </p:cNvSpPr>
          <p:nvPr/>
        </p:nvSpPr>
        <p:spPr bwMode="auto">
          <a:xfrm>
            <a:off x="0" y="2997200"/>
            <a:ext cx="184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 sz="2000"/>
          </a:p>
        </p:txBody>
      </p:sp>
      <p:sp>
        <p:nvSpPr>
          <p:cNvPr id="2" name="矩形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655811" y="3947223"/>
            <a:ext cx="6840760" cy="961289"/>
          </a:xfrm>
          <a:prstGeom prst="rect">
            <a:avLst/>
          </a:prstGeom>
          <a:blipFill>
            <a:blip r:embed="rId4"/>
            <a:stretch>
              <a:fillRect l="-802" b="-10828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72710" name="Object 4"/>
          <p:cNvGraphicFramePr>
            <a:graphicFrameLocks noChangeAspect="1"/>
          </p:cNvGraphicFramePr>
          <p:nvPr/>
        </p:nvGraphicFramePr>
        <p:xfrm>
          <a:off x="5813425" y="3946525"/>
          <a:ext cx="316865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36" r:id="rId5" imgW="1600835" imgH="482600" progId="Equation.3">
                  <p:embed/>
                </p:oleObj>
              </mc:Choice>
              <mc:Fallback>
                <p:oleObj r:id="rId5" imgW="1600835" imgH="48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3425" y="3946525"/>
                        <a:ext cx="3168650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1" name="Rectangle 12"/>
          <p:cNvSpPr>
            <a:spLocks noChangeArrowheads="1"/>
          </p:cNvSpPr>
          <p:nvPr/>
        </p:nvSpPr>
        <p:spPr bwMode="auto">
          <a:xfrm>
            <a:off x="7235825" y="4916488"/>
            <a:ext cx="1404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/>
              <a:t>（</a:t>
            </a:r>
            <a:r>
              <a:rPr lang="en-US" altLang="zh-CN"/>
              <a:t>5-22</a:t>
            </a:r>
            <a:r>
              <a:rPr lang="zh-CN" altLang="en-US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712" name="Rectangle 10"/>
              <p:cNvSpPr>
                <a:spLocks noChangeArrowheads="1"/>
              </p:cNvSpPr>
              <p:nvPr/>
            </p:nvSpPr>
            <p:spPr bwMode="auto">
              <a:xfrm>
                <a:off x="395536" y="5300982"/>
                <a:ext cx="8764339" cy="14773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可见，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对于直线段的起点，使用参数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000" b="1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判断，取其最大值；对于直线段的终点，使用参数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altLang="zh-CN" sz="2000" b="1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b="1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判断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，取其最小值。</a:t>
                </a:r>
                <a:endParaRPr lang="en-US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 eaLnBrk="1" hangingPunct="1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直线段位于窗口内的参数条件是：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  <m:sub>
                        <m:r>
                          <a:rPr lang="en-US" altLang="zh-CN" sz="2000" b="1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𝐦𝐚𝐱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  <m:sub>
                        <m:r>
                          <a:rPr lang="en-US" altLang="zh-CN" sz="2000" b="1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𝐦</m:t>
                        </m:r>
                        <m:r>
                          <a:rPr lang="en-US" altLang="zh-CN" sz="2000" b="1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𝐢𝐧</m:t>
                        </m:r>
                      </m:sub>
                    </m:sSub>
                  </m:oMath>
                </a14:m>
                <a:endPara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2712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536" y="5300982"/>
                <a:ext cx="8764339" cy="1477328"/>
              </a:xfrm>
              <a:prstGeom prst="rect">
                <a:avLst/>
              </a:prstGeom>
              <a:blipFill>
                <a:blip r:embed="rId7"/>
                <a:stretch>
                  <a:fillRect l="-765" r="-695" b="-330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730" name="Object 2"/>
          <p:cNvGraphicFramePr>
            <a:graphicFrameLocks noChangeAspect="1"/>
          </p:cNvGraphicFramePr>
          <p:nvPr/>
        </p:nvGraphicFramePr>
        <p:xfrm>
          <a:off x="2700338" y="5222875"/>
          <a:ext cx="2722562" cy="157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73" r:id="rId3" imgW="4617085" imgH="2675255" progId="Visio.Drawing.11">
                  <p:embed/>
                </p:oleObj>
              </mc:Choice>
              <mc:Fallback>
                <p:oleObj r:id="rId3" imgW="4617085" imgH="2675255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5222875"/>
                        <a:ext cx="2722562" cy="157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1" name="Rectangle 4"/>
          <p:cNvSpPr>
            <a:spLocks noChangeArrowheads="1"/>
          </p:cNvSpPr>
          <p:nvPr/>
        </p:nvSpPr>
        <p:spPr bwMode="auto">
          <a:xfrm>
            <a:off x="0" y="1893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73732" name="Rectangle 6"/>
          <p:cNvSpPr>
            <a:spLocks noChangeArrowheads="1"/>
          </p:cNvSpPr>
          <p:nvPr/>
        </p:nvSpPr>
        <p:spPr bwMode="auto">
          <a:xfrm>
            <a:off x="6329363" y="5589588"/>
            <a:ext cx="170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>
                <a:latin typeface="楷体_GB2312" pitchFamily="49" charset="-122"/>
              </a:rPr>
              <a:t>垂直直线段</a:t>
            </a:r>
            <a:endParaRPr lang="zh-CN" altLang="en-US">
              <a:latin typeface="楷体_GB2312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733" name="Rectangle 7"/>
              <p:cNvSpPr>
                <a:spLocks noChangeArrowheads="1"/>
              </p:cNvSpPr>
              <p:nvPr/>
            </p:nvSpPr>
            <p:spPr bwMode="auto">
              <a:xfrm>
                <a:off x="251520" y="284858"/>
                <a:ext cx="8748018" cy="2308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 marL="342900" indent="-3429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𝟒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，表示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是平行于窗口左右边界的垂线。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 eaLnBrk="1" hangingPunct="1">
                  <a:lnSpc>
                    <a:spcPct val="12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&lt;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&lt;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，则相应有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&lt;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𝒙𝒍</m:t>
                        </m:r>
                      </m:sub>
                    </m:sSub>
                  </m:oMath>
                </a14:m>
                <a:r>
                  <a:rPr lang="en-US" altLang="zh-CN" sz="2000" baseline="-25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≥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𝒓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可以判断直线段位于窗口左右边界之外，可删除；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 eaLnBrk="1" hangingPunct="1">
                  <a:lnSpc>
                    <a:spcPct val="12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≥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≥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，在水平方向上直线段位于窗口左右边界或其内部，仅需要判断该直线段在垂直方向是否位于窗口上下边界之内。 </a:t>
                </a:r>
              </a:p>
            </p:txBody>
          </p:sp>
        </mc:Choice>
        <mc:Fallback xmlns="">
          <p:sp>
            <p:nvSpPr>
              <p:cNvPr id="73733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284858"/>
                <a:ext cx="8748018" cy="2308324"/>
              </a:xfrm>
              <a:prstGeom prst="rect">
                <a:avLst/>
              </a:prstGeom>
              <a:blipFill>
                <a:blip r:embed="rId5"/>
                <a:stretch>
                  <a:fillRect l="-627" r="-3624" b="-317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737" name="Rectangle 11"/>
              <p:cNvSpPr>
                <a:spLocks noChangeArrowheads="1"/>
              </p:cNvSpPr>
              <p:nvPr/>
            </p:nvSpPr>
            <p:spPr bwMode="auto">
              <a:xfrm>
                <a:off x="467545" y="3682524"/>
                <a:ext cx="8531994" cy="14773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使用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式（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5-22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）计算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  <m:sub>
                        <m:r>
                          <a:rPr lang="en-US" altLang="zh-CN" sz="20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𝐦𝐚𝐱</m:t>
                        </m:r>
                      </m:sub>
                    </m:sSub>
                  </m:oMath>
                </a14:m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  <m:sub>
                        <m:r>
                          <a:rPr lang="en-US" altLang="zh-CN" sz="20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𝐦</m:t>
                        </m:r>
                        <m:r>
                          <a:rPr lang="en-US" altLang="zh-CN" sz="20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𝐢𝐧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𝐦𝐚𝐱</m:t>
                        </m:r>
                      </m:sub>
                    </m:sSub>
                  </m:oMath>
                </a14:m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𝐦𝐢𝐧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则直线段在窗口外，删除该直线。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𝐦𝐚𝐱</m:t>
                        </m:r>
                      </m:sub>
                    </m:sSub>
                    <m:r>
                      <a:rPr lang="en-US" altLang="zh-CN" sz="2000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≤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𝐦𝐢𝐧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，将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𝐦𝐚𝐱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𝐦𝐢𝐧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代入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式（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5-16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），可以计算直线段与窗口上下边界的交点。</a:t>
                </a:r>
              </a:p>
            </p:txBody>
          </p:sp>
        </mc:Choice>
        <mc:Fallback xmlns="">
          <p:sp>
            <p:nvSpPr>
              <p:cNvPr id="73737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545" y="3682524"/>
                <a:ext cx="8531994" cy="1477328"/>
              </a:xfrm>
              <a:prstGeom prst="rect">
                <a:avLst/>
              </a:prstGeom>
              <a:blipFill>
                <a:blip r:embed="rId6"/>
                <a:stretch>
                  <a:fillRect l="-786" r="-786" b="-330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976609" y="2707880"/>
                <a:ext cx="4033732" cy="79233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𝒏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b>
                          </m:sSub>
                        </m:den>
                      </m:f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  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b>
                          </m:sSub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6609" y="2707880"/>
                <a:ext cx="4033732" cy="7923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754" name="Object 4"/>
          <p:cNvGraphicFramePr>
            <a:graphicFrameLocks noChangeAspect="1"/>
          </p:cNvGraphicFramePr>
          <p:nvPr/>
        </p:nvGraphicFramePr>
        <p:xfrm>
          <a:off x="3132138" y="5013325"/>
          <a:ext cx="2740025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99" r:id="rId3" imgW="3950970" imgH="2404745" progId="Visio.Drawing.11">
                  <p:embed/>
                </p:oleObj>
              </mc:Choice>
              <mc:Fallback>
                <p:oleObj r:id="rId3" imgW="3950970" imgH="2404745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5013325"/>
                        <a:ext cx="2740025" cy="167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5" name="Rectangle 6"/>
          <p:cNvSpPr>
            <a:spLocks noChangeArrowheads="1"/>
          </p:cNvSpPr>
          <p:nvPr/>
        </p:nvSpPr>
        <p:spPr bwMode="auto">
          <a:xfrm>
            <a:off x="0" y="1893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74756" name="Rectangle 7"/>
          <p:cNvSpPr>
            <a:spLocks noChangeArrowheads="1"/>
          </p:cNvSpPr>
          <p:nvPr/>
        </p:nvSpPr>
        <p:spPr bwMode="auto">
          <a:xfrm>
            <a:off x="4986338" y="4714875"/>
            <a:ext cx="3937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500">
                <a:latin typeface="Arial" panose="020B0604020202020204" pitchFamily="34" charset="0"/>
                <a:ea typeface="黑体" panose="02010609060101010101" pitchFamily="49" charset="-122"/>
              </a:rPr>
              <a:t>    </a:t>
            </a: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4757" name="Rectangle 8"/>
          <p:cNvSpPr>
            <a:spLocks noChangeArrowheads="1"/>
          </p:cNvSpPr>
          <p:nvPr/>
        </p:nvSpPr>
        <p:spPr bwMode="auto">
          <a:xfrm>
            <a:off x="6753225" y="5805488"/>
            <a:ext cx="170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>
                <a:latin typeface="楷体_GB2312" pitchFamily="49" charset="-122"/>
              </a:rPr>
              <a:t>水平直线段</a:t>
            </a:r>
            <a:endParaRPr lang="zh-CN" altLang="en-US">
              <a:latin typeface="楷体_GB2312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758" name="Rectangle 9"/>
              <p:cNvSpPr>
                <a:spLocks noChangeArrowheads="1"/>
              </p:cNvSpPr>
              <p:nvPr/>
            </p:nvSpPr>
            <p:spPr bwMode="auto">
              <a:xfrm>
                <a:off x="323528" y="395238"/>
                <a:ext cx="8641085" cy="2308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 marL="342900" indent="-3429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同理，如果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𝟒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是平行于窗口上下边界的水平线。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 eaLnBrk="1" hangingPunct="1">
                  <a:lnSpc>
                    <a:spcPct val="12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满足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&lt;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𝟒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&lt;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，则相应有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&lt;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𝒚𝒃</m:t>
                        </m:r>
                      </m:sub>
                    </m:sSub>
                  </m:oMath>
                </a14:m>
                <a:r>
                  <a:rPr lang="en-US" altLang="zh-CN" sz="200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≥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𝒘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𝒚𝒕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直线段位于窗口上下边界之外，可删除；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 eaLnBrk="1" hangingPunct="1">
                  <a:lnSpc>
                    <a:spcPct val="12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≥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𝒗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𝟒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≥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，在垂直方向上直线段位于窗口上下边界或其内部，仅需要判断该直线段在水平方向是否位于窗口左右边界之内。 </a:t>
                </a:r>
              </a:p>
            </p:txBody>
          </p:sp>
        </mc:Choice>
        <mc:Fallback xmlns="">
          <p:sp>
            <p:nvSpPr>
              <p:cNvPr id="74758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528" y="395238"/>
                <a:ext cx="8641085" cy="2308324"/>
              </a:xfrm>
              <a:prstGeom prst="rect">
                <a:avLst/>
              </a:prstGeom>
              <a:blipFill>
                <a:blip r:embed="rId5"/>
                <a:stretch>
                  <a:fillRect l="-635" t="-529" r="-3667" b="-370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762" name="Rectangle 15"/>
              <p:cNvSpPr>
                <a:spLocks noChangeArrowheads="1"/>
              </p:cNvSpPr>
              <p:nvPr/>
            </p:nvSpPr>
            <p:spPr bwMode="auto">
              <a:xfrm>
                <a:off x="323528" y="3617605"/>
                <a:ext cx="8712522" cy="14773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使用式（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5-22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）计算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𝐦𝐚𝐱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𝐦𝐢𝐧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。如果如果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𝐦𝐚𝐱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𝐦𝐢𝐧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，则直线段在窗口外，删除该直线。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𝐦𝐚𝐱</m:t>
                        </m:r>
                      </m:sub>
                    </m:sSub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≤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𝐦𝐢𝐧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，将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𝐦𝐚𝐱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𝐦𝐢𝐧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代入式（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5-16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），可以计算直线段与窗口左右边界的交点。</a:t>
                </a:r>
              </a:p>
            </p:txBody>
          </p:sp>
        </mc:Choice>
        <mc:Fallback xmlns="">
          <p:sp>
            <p:nvSpPr>
              <p:cNvPr id="74762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528" y="3617605"/>
                <a:ext cx="8712522" cy="1477328"/>
              </a:xfrm>
              <a:prstGeom prst="rect">
                <a:avLst/>
              </a:prstGeom>
              <a:blipFill>
                <a:blip r:embed="rId6"/>
                <a:stretch>
                  <a:fillRect l="-700" r="-3639" b="-329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2267744" y="2769309"/>
                <a:ext cx="3972819" cy="79233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𝒏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b>
                          </m:sSub>
                        </m:den>
                      </m:f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  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b>
                          </m:sSub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744" y="2769309"/>
                <a:ext cx="3972819" cy="7923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333375"/>
            <a:ext cx="6656388" cy="482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79" name="Text Box 6">
            <a:hlinkClick r:id="rId3" action="ppaction://hlinkfile"/>
          </p:cNvPr>
          <p:cNvSpPr txBox="1">
            <a:spLocks noChangeArrowheads="1"/>
          </p:cNvSpPr>
          <p:nvPr/>
        </p:nvSpPr>
        <p:spPr bwMode="auto">
          <a:xfrm>
            <a:off x="4140200" y="5734050"/>
            <a:ext cx="2881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/>
              <a:t>Liang-Barsky</a:t>
            </a:r>
            <a:r>
              <a:rPr lang="zh-CN" altLang="en-US">
                <a:hlinkClick r:id="rId3" action="ppaction://hlinkfile"/>
              </a:rPr>
              <a:t>放大镜</a:t>
            </a:r>
            <a:endParaRPr lang="zh-CN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4"/>
          <p:cNvSpPr>
            <a:spLocks noChangeArrowheads="1"/>
          </p:cNvSpPr>
          <p:nvPr/>
        </p:nvSpPr>
        <p:spPr bwMode="auto">
          <a:xfrm>
            <a:off x="1258888" y="0"/>
            <a:ext cx="7559675" cy="689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void </a:t>
            </a:r>
            <a:r>
              <a:rPr lang="en-US" altLang="zh-CN" sz="1400" dirty="0" err="1"/>
              <a:t>CTestView</a:t>
            </a:r>
            <a:r>
              <a:rPr lang="en-US" altLang="zh-CN" sz="1400" dirty="0"/>
              <a:t>::</a:t>
            </a:r>
            <a:r>
              <a:rPr lang="en-US" altLang="zh-CN" sz="1400" dirty="0" err="1"/>
              <a:t>LBLineClip</a:t>
            </a:r>
            <a:r>
              <a:rPr lang="en-US" altLang="zh-CN" sz="1400" dirty="0"/>
              <a:t>()//Liang-</a:t>
            </a:r>
            <a:r>
              <a:rPr lang="en-US" altLang="zh-CN" sz="1400" dirty="0" err="1"/>
              <a:t>Barsky</a:t>
            </a:r>
            <a:r>
              <a:rPr lang="zh-CN" altLang="en-US" sz="1400" dirty="0"/>
              <a:t>裁剪函数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double </a:t>
            </a:r>
            <a:r>
              <a:rPr lang="en-US" altLang="zh-CN" sz="1400" dirty="0" err="1"/>
              <a:t>tmax,tmin,dx,dy</a:t>
            </a:r>
            <a:r>
              <a:rPr lang="en-US" altLang="zh-CN" sz="1400" dirty="0"/>
              <a:t>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dx=P[1].x-P[0].</a:t>
            </a:r>
            <a:r>
              <a:rPr lang="en-US" altLang="zh-CN" sz="1400" dirty="0" err="1"/>
              <a:t>x;dy</a:t>
            </a:r>
            <a:r>
              <a:rPr lang="en-US" altLang="zh-CN" sz="1400" dirty="0"/>
              <a:t>=P[1].y-P[0].</a:t>
            </a:r>
            <a:r>
              <a:rPr lang="en-US" altLang="zh-CN" sz="1400" dirty="0" err="1"/>
              <a:t>y;tmax</a:t>
            </a:r>
            <a:r>
              <a:rPr lang="en-US" altLang="zh-CN" sz="1400" dirty="0"/>
              <a:t>=0.0,tmin=1.0;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if(</a:t>
            </a:r>
            <a:r>
              <a:rPr lang="en-US" altLang="zh-CN" sz="1400" dirty="0" err="1"/>
              <a:t>ClipTest</a:t>
            </a:r>
            <a:r>
              <a:rPr lang="en-US" altLang="zh-CN" sz="1400" dirty="0"/>
              <a:t>(-</a:t>
            </a:r>
            <a:r>
              <a:rPr lang="en-US" altLang="zh-CN" sz="1400" dirty="0" err="1"/>
              <a:t>dx,P</a:t>
            </a:r>
            <a:r>
              <a:rPr lang="en-US" altLang="zh-CN" sz="1400" dirty="0"/>
              <a:t>[0].x-</a:t>
            </a:r>
            <a:r>
              <a:rPr lang="en-US" altLang="zh-CN" sz="1400" dirty="0" err="1"/>
              <a:t>wxl,tmax,tmin</a:t>
            </a:r>
            <a:r>
              <a:rPr lang="en-US" altLang="zh-CN" sz="1400" dirty="0"/>
              <a:t>)) //</a:t>
            </a:r>
            <a:r>
              <a:rPr lang="zh-CN" altLang="en-US" sz="1400" dirty="0"/>
              <a:t>窗口边界的左、右、下、上顺序裁剪直线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400" dirty="0"/>
              <a:t>	</a:t>
            </a:r>
            <a:r>
              <a:rPr lang="en-US" altLang="zh-CN" sz="1400" dirty="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	if(</a:t>
            </a:r>
            <a:r>
              <a:rPr lang="en-US" altLang="zh-CN" sz="1400" dirty="0" err="1"/>
              <a:t>ClipTest</a:t>
            </a:r>
            <a:r>
              <a:rPr lang="en-US" altLang="zh-CN" sz="1400" dirty="0"/>
              <a:t>(</a:t>
            </a:r>
            <a:r>
              <a:rPr lang="en-US" altLang="zh-CN" sz="1400" dirty="0" err="1"/>
              <a:t>dx,wxr</a:t>
            </a:r>
            <a:r>
              <a:rPr lang="en-US" altLang="zh-CN" sz="1400" dirty="0"/>
              <a:t>-P[0].</a:t>
            </a:r>
            <a:r>
              <a:rPr lang="en-US" altLang="zh-CN" sz="1400" dirty="0" err="1"/>
              <a:t>x,tmax,tmin</a:t>
            </a:r>
            <a:r>
              <a:rPr lang="en-US" altLang="zh-CN" sz="1400" dirty="0"/>
              <a:t>))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	{			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		if(</a:t>
            </a:r>
            <a:r>
              <a:rPr lang="en-US" altLang="zh-CN" sz="1400" dirty="0" err="1"/>
              <a:t>ClipTest</a:t>
            </a:r>
            <a:r>
              <a:rPr lang="en-US" altLang="zh-CN" sz="1400" dirty="0"/>
              <a:t>(-</a:t>
            </a:r>
            <a:r>
              <a:rPr lang="en-US" altLang="zh-CN" sz="1400" dirty="0" err="1"/>
              <a:t>dy,P</a:t>
            </a:r>
            <a:r>
              <a:rPr lang="en-US" altLang="zh-CN" sz="1400" dirty="0"/>
              <a:t>[0].y-</a:t>
            </a:r>
            <a:r>
              <a:rPr lang="en-US" altLang="zh-CN" sz="1400" dirty="0" err="1"/>
              <a:t>wyb,tmax,tmin</a:t>
            </a:r>
            <a:r>
              <a:rPr lang="en-US" altLang="zh-CN" sz="1400" dirty="0"/>
              <a:t>))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		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			if(</a:t>
            </a:r>
            <a:r>
              <a:rPr lang="en-US" altLang="zh-CN" sz="1400" dirty="0" err="1"/>
              <a:t>ClipTest</a:t>
            </a:r>
            <a:r>
              <a:rPr lang="en-US" altLang="zh-CN" sz="1400" dirty="0"/>
              <a:t>(</a:t>
            </a:r>
            <a:r>
              <a:rPr lang="en-US" altLang="zh-CN" sz="1400" dirty="0" err="1"/>
              <a:t>dy,wyt</a:t>
            </a:r>
            <a:r>
              <a:rPr lang="en-US" altLang="zh-CN" sz="1400" dirty="0"/>
              <a:t>-P[0].</a:t>
            </a:r>
            <a:r>
              <a:rPr lang="en-US" altLang="zh-CN" sz="1400" dirty="0" err="1"/>
              <a:t>y,tmax,tmin</a:t>
            </a:r>
            <a:r>
              <a:rPr lang="en-US" altLang="zh-CN" sz="1400" dirty="0"/>
              <a:t>))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			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				if(</a:t>
            </a:r>
            <a:r>
              <a:rPr lang="en-US" altLang="zh-CN" sz="1400" dirty="0" err="1"/>
              <a:t>tmin</a:t>
            </a:r>
            <a:r>
              <a:rPr lang="en-US" altLang="zh-CN" sz="1400" dirty="0"/>
              <a:t>&lt;1.0)//</a:t>
            </a:r>
            <a:r>
              <a:rPr lang="zh-CN" altLang="en-US" sz="1400" dirty="0"/>
              <a:t>判断直线终点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400" dirty="0"/>
              <a:t>					</a:t>
            </a:r>
            <a:r>
              <a:rPr lang="en-US" altLang="zh-CN" sz="1400" dirty="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					     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                                                                                            P[1].x=P[0].</a:t>
            </a:r>
            <a:r>
              <a:rPr lang="en-US" altLang="zh-CN" sz="1400" dirty="0" err="1"/>
              <a:t>x+tmin</a:t>
            </a:r>
            <a:r>
              <a:rPr lang="en-US" altLang="zh-CN" sz="1400" dirty="0"/>
              <a:t>*dx;</a:t>
            </a:r>
            <a:endParaRPr lang="zh-CN" altLang="en-US" sz="1400" dirty="0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400" dirty="0"/>
              <a:t>						 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                                                                                            P[1].y=P[0].</a:t>
            </a:r>
            <a:r>
              <a:rPr lang="en-US" altLang="zh-CN" sz="1400" dirty="0" err="1"/>
              <a:t>y+tmin</a:t>
            </a:r>
            <a:r>
              <a:rPr lang="en-US" altLang="zh-CN" sz="1400" dirty="0"/>
              <a:t>*</a:t>
            </a:r>
            <a:r>
              <a:rPr lang="en-US" altLang="zh-CN" sz="1400" dirty="0" err="1"/>
              <a:t>dy</a:t>
            </a:r>
            <a:endParaRPr lang="zh-CN" altLang="en-US" sz="1400" dirty="0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400" dirty="0"/>
              <a:t>					</a:t>
            </a:r>
            <a:r>
              <a:rPr lang="en-US" altLang="zh-CN" sz="1400" dirty="0"/>
              <a:t>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				if(</a:t>
            </a:r>
            <a:r>
              <a:rPr lang="en-US" altLang="zh-CN" sz="1400" dirty="0" err="1"/>
              <a:t>tmax</a:t>
            </a:r>
            <a:r>
              <a:rPr lang="en-US" altLang="zh-CN" sz="1400" dirty="0"/>
              <a:t>&gt;0.0)//</a:t>
            </a:r>
            <a:r>
              <a:rPr lang="zh-CN" altLang="en-US" sz="1400" dirty="0"/>
              <a:t>判断直线的起点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400" dirty="0"/>
              <a:t>					</a:t>
            </a:r>
            <a:r>
              <a:rPr lang="en-US" altLang="zh-CN" sz="1400" dirty="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					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                                                                                          P[0].x=P[0].</a:t>
            </a:r>
            <a:r>
              <a:rPr lang="en-US" altLang="zh-CN" sz="1400" dirty="0" err="1"/>
              <a:t>x+tmax</a:t>
            </a:r>
            <a:r>
              <a:rPr lang="en-US" altLang="zh-CN" sz="1400" dirty="0"/>
              <a:t>*dx;</a:t>
            </a:r>
            <a:endParaRPr lang="zh-CN" altLang="en-US" sz="1400" dirty="0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400" dirty="0"/>
              <a:t>						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                                                                                          P[0].y=P[0].</a:t>
            </a:r>
            <a:r>
              <a:rPr lang="en-US" altLang="zh-CN" sz="1400" dirty="0" err="1"/>
              <a:t>y+tmax</a:t>
            </a:r>
            <a:r>
              <a:rPr lang="en-US" altLang="zh-CN" sz="1400" dirty="0"/>
              <a:t>*</a:t>
            </a:r>
            <a:r>
              <a:rPr lang="en-US" altLang="zh-CN" sz="1400" dirty="0" err="1"/>
              <a:t>dy</a:t>
            </a:r>
            <a:r>
              <a:rPr lang="en-US" altLang="zh-CN" sz="1400" dirty="0"/>
              <a:t>;</a:t>
            </a:r>
            <a:endParaRPr lang="zh-CN" altLang="en-US" sz="1400" dirty="0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400" dirty="0"/>
              <a:t>					</a:t>
            </a:r>
            <a:r>
              <a:rPr lang="en-US" altLang="zh-CN" sz="1400" dirty="0"/>
              <a:t>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                  									                                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		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	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}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ChangeArrowheads="1"/>
          </p:cNvSpPr>
          <p:nvPr/>
        </p:nvSpPr>
        <p:spPr bwMode="auto">
          <a:xfrm>
            <a:off x="1258888" y="195263"/>
            <a:ext cx="7848600" cy="647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BOOL </a:t>
            </a:r>
            <a:r>
              <a:rPr lang="en-US" altLang="zh-CN" sz="1400" dirty="0" err="1"/>
              <a:t>CTestView</a:t>
            </a:r>
            <a:r>
              <a:rPr lang="en-US" altLang="zh-CN" sz="1400" dirty="0"/>
              <a:t>::</a:t>
            </a:r>
            <a:r>
              <a:rPr lang="en-US" altLang="zh-CN" sz="1400" dirty="0" err="1"/>
              <a:t>ClipTest</a:t>
            </a:r>
            <a:r>
              <a:rPr lang="en-US" altLang="zh-CN" sz="1400" dirty="0"/>
              <a:t>(double </a:t>
            </a:r>
            <a:r>
              <a:rPr lang="en-US" altLang="zh-CN" sz="1400" dirty="0" err="1"/>
              <a:t>u,double</a:t>
            </a:r>
            <a:r>
              <a:rPr lang="en-US" altLang="zh-CN" sz="1400" dirty="0"/>
              <a:t> </a:t>
            </a:r>
            <a:r>
              <a:rPr lang="en-US" altLang="zh-CN" sz="1400" dirty="0" err="1"/>
              <a:t>v,double</a:t>
            </a:r>
            <a:r>
              <a:rPr lang="en-US" altLang="zh-CN" sz="1400" dirty="0"/>
              <a:t> &amp;</a:t>
            </a:r>
            <a:r>
              <a:rPr lang="en-US" altLang="zh-CN" sz="1400" dirty="0" err="1"/>
              <a:t>tmax,double</a:t>
            </a:r>
            <a:r>
              <a:rPr lang="en-US" altLang="zh-CN" sz="1400" dirty="0"/>
              <a:t> &amp;</a:t>
            </a:r>
            <a:r>
              <a:rPr lang="en-US" altLang="zh-CN" sz="1400" dirty="0" err="1"/>
              <a:t>tmin</a:t>
            </a:r>
            <a:r>
              <a:rPr lang="en-US" altLang="zh-CN" sz="1400" dirty="0"/>
              <a:t>)//</a:t>
            </a:r>
            <a:r>
              <a:rPr lang="zh-CN" altLang="en-US" sz="1400" dirty="0"/>
              <a:t>裁剪测试函数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double t;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BOOL </a:t>
            </a:r>
            <a:r>
              <a:rPr lang="en-US" altLang="zh-CN" sz="1400" dirty="0" err="1"/>
              <a:t>ReturnValue</a:t>
            </a:r>
            <a:r>
              <a:rPr lang="en-US" altLang="zh-CN" sz="1400" dirty="0"/>
              <a:t>=TRUE;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if(u&lt;0.0)//</a:t>
            </a:r>
            <a:r>
              <a:rPr lang="zh-CN" altLang="en-US" sz="1400" dirty="0"/>
              <a:t>从裁剪窗口的外部到内部</a:t>
            </a:r>
            <a:r>
              <a:rPr lang="en-US" altLang="zh-CN" sz="1400" dirty="0"/>
              <a:t>,</a:t>
            </a:r>
            <a:r>
              <a:rPr lang="zh-CN" altLang="en-US" sz="1400" dirty="0"/>
              <a:t>计算起点处的</a:t>
            </a:r>
            <a:r>
              <a:rPr lang="en-US" altLang="zh-CN" sz="1400" dirty="0" err="1"/>
              <a:t>tmax</a:t>
            </a:r>
            <a:endParaRPr lang="en-US" altLang="zh-CN" sz="1400" dirty="0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	t=v/u;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	if(t&gt;</a:t>
            </a:r>
            <a:r>
              <a:rPr lang="en-US" altLang="zh-CN" sz="1400" dirty="0" err="1"/>
              <a:t>tmin</a:t>
            </a:r>
            <a:r>
              <a:rPr lang="en-US" altLang="zh-CN" sz="1400" dirty="0"/>
              <a:t>)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		</a:t>
            </a:r>
            <a:r>
              <a:rPr lang="en-US" altLang="zh-CN" sz="1400" dirty="0" err="1"/>
              <a:t>ReturnValue</a:t>
            </a:r>
            <a:r>
              <a:rPr lang="en-US" altLang="zh-CN" sz="1400" dirty="0"/>
              <a:t>=FALSE;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	else if(t&gt;</a:t>
            </a:r>
            <a:r>
              <a:rPr lang="en-US" altLang="zh-CN" sz="1400" dirty="0" err="1"/>
              <a:t>tmax</a:t>
            </a:r>
            <a:r>
              <a:rPr lang="en-US" altLang="zh-CN" sz="1400" dirty="0"/>
              <a:t>)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		</a:t>
            </a:r>
            <a:r>
              <a:rPr lang="en-US" altLang="zh-CN" sz="1400" dirty="0" err="1"/>
              <a:t>tmax</a:t>
            </a:r>
            <a:r>
              <a:rPr lang="en-US" altLang="zh-CN" sz="1400" dirty="0"/>
              <a:t>=t;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else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	if(u&gt;0.0)//</a:t>
            </a:r>
            <a:r>
              <a:rPr lang="zh-CN" altLang="en-US" sz="1400" dirty="0"/>
              <a:t>从裁剪窗口的内部到外部，计算终点处的</a:t>
            </a:r>
            <a:r>
              <a:rPr lang="en-US" altLang="zh-CN" sz="1400" dirty="0" err="1"/>
              <a:t>tmin</a:t>
            </a:r>
            <a:endParaRPr lang="en-US" altLang="zh-CN" sz="1400" dirty="0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	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		t=v/u;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		if(t&lt;</a:t>
            </a:r>
            <a:r>
              <a:rPr lang="en-US" altLang="zh-CN" sz="1400" dirty="0" err="1"/>
              <a:t>tmax</a:t>
            </a:r>
            <a:r>
              <a:rPr lang="en-US" altLang="zh-CN" sz="1400" dirty="0"/>
              <a:t>)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			</a:t>
            </a:r>
            <a:r>
              <a:rPr lang="en-US" altLang="zh-CN" sz="1400" dirty="0" err="1"/>
              <a:t>ReturnValue</a:t>
            </a:r>
            <a:r>
              <a:rPr lang="en-US" altLang="zh-CN" sz="1400" dirty="0"/>
              <a:t>=FALSE;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		else if(t&lt;</a:t>
            </a:r>
            <a:r>
              <a:rPr lang="en-US" altLang="zh-CN" sz="1400" dirty="0" err="1"/>
              <a:t>tmin</a:t>
            </a:r>
            <a:r>
              <a:rPr lang="en-US" altLang="zh-CN" sz="1400" dirty="0"/>
              <a:t>)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			</a:t>
            </a:r>
            <a:r>
              <a:rPr lang="en-US" altLang="zh-CN" sz="1400" dirty="0" err="1"/>
              <a:t>tmin</a:t>
            </a:r>
            <a:r>
              <a:rPr lang="en-US" altLang="zh-CN" sz="1400" dirty="0"/>
              <a:t>=t;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	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	else//</a:t>
            </a:r>
            <a:r>
              <a:rPr lang="zh-CN" altLang="en-US" sz="1400" dirty="0"/>
              <a:t>平行于窗口边界的直线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400" dirty="0"/>
              <a:t>		</a:t>
            </a:r>
            <a:r>
              <a:rPr lang="en-US" altLang="zh-CN" sz="1400" dirty="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		if(v&lt;0.0)//</a:t>
            </a:r>
            <a:r>
              <a:rPr lang="zh-CN" altLang="en-US" sz="1400" dirty="0"/>
              <a:t>直线在窗口外可直接删除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400" dirty="0"/>
              <a:t>				</a:t>
            </a:r>
            <a:r>
              <a:rPr lang="en-US" altLang="zh-CN" sz="1400" dirty="0" err="1"/>
              <a:t>ReturnValue</a:t>
            </a:r>
            <a:r>
              <a:rPr lang="en-US" altLang="zh-CN" sz="1400" dirty="0"/>
              <a:t>=FALSE;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	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	return(</a:t>
            </a:r>
            <a:r>
              <a:rPr lang="en-US" altLang="zh-CN" sz="1400" dirty="0" err="1"/>
              <a:t>ReturnValue</a:t>
            </a:r>
            <a:r>
              <a:rPr lang="en-US" altLang="zh-CN" sz="1400" dirty="0"/>
              <a:t>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400" dirty="0"/>
              <a:t>}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3"/>
          <p:cNvSpPr>
            <a:spLocks noChangeArrowheads="1"/>
          </p:cNvSpPr>
          <p:nvPr/>
        </p:nvSpPr>
        <p:spPr bwMode="auto">
          <a:xfrm>
            <a:off x="1547813" y="260350"/>
            <a:ext cx="4681537" cy="641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3366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36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5.8 </a:t>
            </a:r>
            <a:r>
              <a:rPr lang="zh-CN" altLang="en-US" sz="36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多边形裁剪算法</a:t>
            </a:r>
          </a:p>
        </p:txBody>
      </p:sp>
      <p:sp>
        <p:nvSpPr>
          <p:cNvPr id="78851" name="Rectangle 24"/>
          <p:cNvSpPr>
            <a:spLocks noChangeArrowheads="1"/>
          </p:cNvSpPr>
          <p:nvPr/>
        </p:nvSpPr>
        <p:spPr bwMode="auto">
          <a:xfrm>
            <a:off x="467544" y="1094165"/>
            <a:ext cx="835260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dirty="0"/>
              <a:t>    Sutherland-</a:t>
            </a:r>
            <a:r>
              <a:rPr lang="en-US" altLang="zh-CN" dirty="0" err="1"/>
              <a:t>Hodgman</a:t>
            </a:r>
            <a:r>
              <a:rPr lang="zh-CN" altLang="en-US" dirty="0"/>
              <a:t>裁剪算法又称为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逐边裁剪算法</a:t>
            </a:r>
            <a:r>
              <a:rPr lang="zh-CN" altLang="en-US" dirty="0"/>
              <a:t>，基本思想是用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裁剪窗口的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条边依次对多边形进行裁剪</a:t>
            </a:r>
            <a:r>
              <a:rPr lang="zh-CN" altLang="en-US" dirty="0"/>
              <a:t>。窗口边界的裁剪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顺序无关紧要</a:t>
            </a:r>
            <a:r>
              <a:rPr lang="zh-CN" altLang="en-US" dirty="0"/>
              <a:t>，这里采用左、右、下、上的顺序。多边形裁剪算法的输出结果为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裁剪后的多边形顶点序列</a:t>
            </a:r>
            <a:r>
              <a:rPr lang="zh-CN" altLang="en-US" dirty="0"/>
              <a:t>。</a:t>
            </a:r>
          </a:p>
        </p:txBody>
      </p:sp>
      <p:sp>
        <p:nvSpPr>
          <p:cNvPr id="78852" name="Rectangle 26"/>
          <p:cNvSpPr>
            <a:spLocks noChangeArrowheads="1"/>
          </p:cNvSpPr>
          <p:nvPr/>
        </p:nvSpPr>
        <p:spPr bwMode="auto">
          <a:xfrm>
            <a:off x="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78853" name="Object 25"/>
          <p:cNvGraphicFramePr>
            <a:graphicFrameLocks noChangeAspect="1"/>
          </p:cNvGraphicFramePr>
          <p:nvPr/>
        </p:nvGraphicFramePr>
        <p:xfrm>
          <a:off x="2124075" y="2852738"/>
          <a:ext cx="2166938" cy="230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22" r:id="rId3" imgW="5655945" imgH="6017260" progId="Visio.Drawing.11">
                  <p:embed/>
                </p:oleObj>
              </mc:Choice>
              <mc:Fallback>
                <p:oleObj r:id="rId3" imgW="5655945" imgH="6017260" progId="Visio.Drawing.11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852738"/>
                        <a:ext cx="2166938" cy="230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4" name="Rectangle 28"/>
          <p:cNvSpPr>
            <a:spLocks noChangeArrowheads="1"/>
          </p:cNvSpPr>
          <p:nvPr/>
        </p:nvSpPr>
        <p:spPr bwMode="auto">
          <a:xfrm>
            <a:off x="0" y="30289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78855" name="Object 27"/>
          <p:cNvGraphicFramePr>
            <a:graphicFrameLocks noChangeAspect="1"/>
          </p:cNvGraphicFramePr>
          <p:nvPr/>
        </p:nvGraphicFramePr>
        <p:xfrm>
          <a:off x="5364163" y="3141663"/>
          <a:ext cx="2663825" cy="1347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23" r:id="rId5" imgW="5747385" imgH="2897505" progId="Visio.Drawing.11">
                  <p:embed/>
                </p:oleObj>
              </mc:Choice>
              <mc:Fallback>
                <p:oleObj r:id="rId5" imgW="5747385" imgH="2897505" progId="Visio.Drawing.11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3141663"/>
                        <a:ext cx="2663825" cy="1347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6" name="Rectangle 30"/>
          <p:cNvSpPr>
            <a:spLocks noChangeArrowheads="1"/>
          </p:cNvSpPr>
          <p:nvPr/>
        </p:nvSpPr>
        <p:spPr bwMode="auto">
          <a:xfrm>
            <a:off x="0" y="3038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78857" name="Object 29"/>
          <p:cNvGraphicFramePr>
            <a:graphicFrameLocks noChangeAspect="1"/>
          </p:cNvGraphicFramePr>
          <p:nvPr/>
        </p:nvGraphicFramePr>
        <p:xfrm>
          <a:off x="3779838" y="5084763"/>
          <a:ext cx="2665412" cy="1341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24" r:id="rId7" imgW="5747385" imgH="2897505" progId="Visio.Drawing.11">
                  <p:embed/>
                </p:oleObj>
              </mc:Choice>
              <mc:Fallback>
                <p:oleObj r:id="rId7" imgW="5747385" imgH="2897505" progId="Visio.Drawing.11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5084763"/>
                        <a:ext cx="2665412" cy="1341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8" name="Rectangle 31"/>
          <p:cNvSpPr>
            <a:spLocks noChangeArrowheads="1"/>
          </p:cNvSpPr>
          <p:nvPr/>
        </p:nvSpPr>
        <p:spPr bwMode="auto">
          <a:xfrm>
            <a:off x="5940425" y="4581525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/>
              <a:t>错误结果</a:t>
            </a:r>
          </a:p>
        </p:txBody>
      </p:sp>
      <p:sp>
        <p:nvSpPr>
          <p:cNvPr id="78859" name="Rectangle 32"/>
          <p:cNvSpPr>
            <a:spLocks noChangeArrowheads="1"/>
          </p:cNvSpPr>
          <p:nvPr/>
        </p:nvSpPr>
        <p:spPr bwMode="auto">
          <a:xfrm>
            <a:off x="4284663" y="6400800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/>
              <a:t>正确结果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874" name="Object 5"/>
          <p:cNvGraphicFramePr>
            <a:graphicFrameLocks noChangeAspect="1"/>
          </p:cNvGraphicFramePr>
          <p:nvPr/>
        </p:nvGraphicFramePr>
        <p:xfrm>
          <a:off x="2268538" y="260350"/>
          <a:ext cx="2005012" cy="230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57" r:id="rId3" imgW="4001770" imgH="4607560" progId="Visio.Drawing.11">
                  <p:embed/>
                </p:oleObj>
              </mc:Choice>
              <mc:Fallback>
                <p:oleObj r:id="rId3" imgW="4001770" imgH="460756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60350"/>
                        <a:ext cx="2005012" cy="230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5" name="Object 4"/>
          <p:cNvGraphicFramePr>
            <a:graphicFrameLocks noChangeAspect="1"/>
          </p:cNvGraphicFramePr>
          <p:nvPr/>
        </p:nvGraphicFramePr>
        <p:xfrm>
          <a:off x="5724525" y="333375"/>
          <a:ext cx="1905000" cy="237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58" r:id="rId5" imgW="3499485" imgH="4380230" progId="Visio.Drawing.11">
                  <p:embed/>
                </p:oleObj>
              </mc:Choice>
              <mc:Fallback>
                <p:oleObj r:id="rId5" imgW="3499485" imgH="438023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333375"/>
                        <a:ext cx="1905000" cy="237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6" name="Object 3"/>
          <p:cNvGraphicFramePr>
            <a:graphicFrameLocks noChangeAspect="1"/>
          </p:cNvGraphicFramePr>
          <p:nvPr/>
        </p:nvGraphicFramePr>
        <p:xfrm>
          <a:off x="2411413" y="3573463"/>
          <a:ext cx="2266950" cy="266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59" r:id="rId7" imgW="3714115" imgH="4380230" progId="Visio.Drawing.11">
                  <p:embed/>
                </p:oleObj>
              </mc:Choice>
              <mc:Fallback>
                <p:oleObj r:id="rId7" imgW="3714115" imgH="438023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573463"/>
                        <a:ext cx="2266950" cy="2665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7" name="Object 2"/>
          <p:cNvGraphicFramePr>
            <a:graphicFrameLocks noChangeAspect="1"/>
          </p:cNvGraphicFramePr>
          <p:nvPr/>
        </p:nvGraphicFramePr>
        <p:xfrm>
          <a:off x="5610225" y="3644900"/>
          <a:ext cx="2057400" cy="244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60" r:id="rId9" imgW="3691255" imgH="4380230" progId="Visio.Drawing.11">
                  <p:embed/>
                </p:oleObj>
              </mc:Choice>
              <mc:Fallback>
                <p:oleObj r:id="rId9" imgW="3691255" imgH="438023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0225" y="3644900"/>
                        <a:ext cx="2057400" cy="244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8" name="Rectangle 6"/>
          <p:cNvSpPr>
            <a:spLocks noChangeArrowheads="1"/>
          </p:cNvSpPr>
          <p:nvPr/>
        </p:nvSpPr>
        <p:spPr bwMode="auto">
          <a:xfrm>
            <a:off x="0" y="-855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79879" name="Rectangle 7"/>
          <p:cNvSpPr>
            <a:spLocks noChangeArrowheads="1"/>
          </p:cNvSpPr>
          <p:nvPr/>
        </p:nvSpPr>
        <p:spPr bwMode="auto">
          <a:xfrm>
            <a:off x="4337050" y="752475"/>
            <a:ext cx="4699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000"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80" name="Rectangle 8"/>
          <p:cNvSpPr>
            <a:spLocks noChangeArrowheads="1"/>
          </p:cNvSpPr>
          <p:nvPr/>
        </p:nvSpPr>
        <p:spPr bwMode="auto">
          <a:xfrm>
            <a:off x="2051050" y="2997200"/>
            <a:ext cx="665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>
                <a:latin typeface="楷体_GB2312" pitchFamily="49" charset="-122"/>
              </a:rPr>
              <a:t>（</a:t>
            </a:r>
            <a:r>
              <a:rPr lang="en-US" altLang="zh-CN" sz="2000">
                <a:latin typeface="楷体_GB2312" pitchFamily="49" charset="-122"/>
              </a:rPr>
              <a:t>a</a:t>
            </a:r>
            <a:r>
              <a:rPr lang="zh-CN" altLang="en-US" sz="2000">
                <a:latin typeface="楷体_GB2312" pitchFamily="49" charset="-122"/>
              </a:rPr>
              <a:t>） 外→内，保存</a:t>
            </a:r>
            <a:r>
              <a:rPr lang="en-US" altLang="zh-CN" sz="2000">
                <a:latin typeface="楷体_GB2312" pitchFamily="49" charset="-122"/>
              </a:rPr>
              <a:t>P</a:t>
            </a:r>
            <a:r>
              <a:rPr lang="zh-CN" altLang="en-US" sz="2000">
                <a:latin typeface="楷体_GB2312" pitchFamily="49" charset="-122"/>
              </a:rPr>
              <a:t>和</a:t>
            </a:r>
            <a:r>
              <a:rPr lang="en-US" altLang="zh-CN" sz="2000">
                <a:latin typeface="楷体_GB2312" pitchFamily="49" charset="-122"/>
              </a:rPr>
              <a:t>P</a:t>
            </a:r>
            <a:r>
              <a:rPr lang="en-US" altLang="zh-CN" sz="2000" baseline="-30000">
                <a:latin typeface="楷体_GB2312" pitchFamily="49" charset="-122"/>
              </a:rPr>
              <a:t>1 </a:t>
            </a:r>
            <a:r>
              <a:rPr lang="en-US" altLang="zh-CN" sz="2000">
                <a:latin typeface="楷体_GB2312" pitchFamily="49" charset="-122"/>
              </a:rPr>
              <a:t>       </a:t>
            </a:r>
            <a:r>
              <a:rPr lang="zh-CN" altLang="en-US" sz="2000">
                <a:latin typeface="楷体_GB2312" pitchFamily="49" charset="-122"/>
              </a:rPr>
              <a:t>（</a:t>
            </a:r>
            <a:r>
              <a:rPr lang="en-US" altLang="zh-CN" sz="2000">
                <a:latin typeface="楷体_GB2312" pitchFamily="49" charset="-122"/>
              </a:rPr>
              <a:t>b</a:t>
            </a:r>
            <a:r>
              <a:rPr lang="zh-CN" altLang="en-US" sz="2000">
                <a:latin typeface="楷体_GB2312" pitchFamily="49" charset="-122"/>
              </a:rPr>
              <a:t>）内→内，保存</a:t>
            </a:r>
            <a:r>
              <a:rPr lang="en-US" altLang="zh-CN" sz="2000">
                <a:latin typeface="楷体_GB2312" pitchFamily="49" charset="-122"/>
              </a:rPr>
              <a:t>P</a:t>
            </a:r>
            <a:r>
              <a:rPr lang="en-US" altLang="zh-CN" sz="2000" baseline="-30000">
                <a:latin typeface="楷体_GB2312" pitchFamily="49" charset="-122"/>
              </a:rPr>
              <a:t>1</a:t>
            </a:r>
            <a:r>
              <a:rPr lang="en-US" altLang="zh-CN" sz="2000">
                <a:latin typeface="楷体_GB2312" pitchFamily="49" charset="-122"/>
              </a:rPr>
              <a:t>  </a:t>
            </a:r>
            <a:endParaRPr lang="en-US" altLang="zh-CN" sz="2000"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79881" name="Rectangle 9"/>
          <p:cNvSpPr>
            <a:spLocks noChangeArrowheads="1"/>
          </p:cNvSpPr>
          <p:nvPr/>
        </p:nvSpPr>
        <p:spPr bwMode="auto">
          <a:xfrm>
            <a:off x="4337050" y="5378450"/>
            <a:ext cx="4699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000"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82" name="Rectangle 11"/>
          <p:cNvSpPr>
            <a:spLocks noChangeArrowheads="1"/>
          </p:cNvSpPr>
          <p:nvPr/>
        </p:nvSpPr>
        <p:spPr bwMode="auto">
          <a:xfrm>
            <a:off x="2684463" y="6308725"/>
            <a:ext cx="5454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000"/>
              <a:t>（</a:t>
            </a:r>
            <a:r>
              <a:rPr lang="en-US" altLang="zh-CN" sz="2000"/>
              <a:t>c</a:t>
            </a:r>
            <a:r>
              <a:rPr lang="zh-CN" altLang="en-US" sz="2000"/>
              <a:t>）内→外，保存</a:t>
            </a:r>
            <a:r>
              <a:rPr lang="en-US" altLang="zh-CN" sz="2000"/>
              <a:t>P       </a:t>
            </a:r>
            <a:r>
              <a:rPr lang="zh-CN" altLang="en-US" sz="2000"/>
              <a:t>（</a:t>
            </a:r>
            <a:r>
              <a:rPr lang="en-US" altLang="zh-CN" sz="2000"/>
              <a:t>d</a:t>
            </a:r>
            <a:r>
              <a:rPr lang="zh-CN" altLang="en-US" sz="2000"/>
              <a:t>）外→外，不保存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5"/>
          <p:cNvSpPr>
            <a:spLocks noChangeArrowheads="1"/>
          </p:cNvSpPr>
          <p:nvPr/>
        </p:nvSpPr>
        <p:spPr bwMode="auto">
          <a:xfrm>
            <a:off x="0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80899" name="Object 4"/>
          <p:cNvGraphicFramePr>
            <a:graphicFrameLocks noChangeAspect="1"/>
          </p:cNvGraphicFramePr>
          <p:nvPr/>
        </p:nvGraphicFramePr>
        <p:xfrm>
          <a:off x="1547813" y="260350"/>
          <a:ext cx="3455987" cy="274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65" r:id="rId3" imgW="6757035" imgH="5415280" progId="Visio.Drawing.11">
                  <p:embed/>
                </p:oleObj>
              </mc:Choice>
              <mc:Fallback>
                <p:oleObj r:id="rId3" imgW="6757035" imgH="541528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60350"/>
                        <a:ext cx="3455987" cy="2747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0" name="Rectangle 7"/>
          <p:cNvSpPr>
            <a:spLocks noChangeArrowheads="1"/>
          </p:cNvSpPr>
          <p:nvPr/>
        </p:nvSpPr>
        <p:spPr bwMode="auto">
          <a:xfrm>
            <a:off x="0" y="2366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80901" name="Object 6"/>
          <p:cNvGraphicFramePr>
            <a:graphicFrameLocks noChangeAspect="1"/>
          </p:cNvGraphicFramePr>
          <p:nvPr/>
        </p:nvGraphicFramePr>
        <p:xfrm>
          <a:off x="5435600" y="260350"/>
          <a:ext cx="2952750" cy="269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66" r:id="rId5" imgW="5633085" imgH="5147945" progId="Visio.Drawing.11">
                  <p:embed/>
                </p:oleObj>
              </mc:Choice>
              <mc:Fallback>
                <p:oleObj r:id="rId5" imgW="5633085" imgH="5147945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260350"/>
                        <a:ext cx="2952750" cy="269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0902" name="Rectangle 8"/>
              <p:cNvSpPr>
                <a:spLocks noChangeArrowheads="1"/>
              </p:cNvSpPr>
              <p:nvPr/>
            </p:nvSpPr>
            <p:spPr bwMode="auto">
              <a:xfrm>
                <a:off x="4969647" y="2868559"/>
                <a:ext cx="3749744" cy="1159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indent="777875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𝒑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𝒑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𝒑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𝒑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b>
                    </m:sSub>
                  </m:oMath>
                </a14:m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eaLnBrk="1" hangingPunct="1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𝒑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𝒑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𝒑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b>
                    </m:sSub>
                  </m:oMath>
                </a14:m>
                <a:endPara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eaLnBrk="1" hangingPunct="1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 用窗口左边界裁剪</a:t>
                </a:r>
              </a:p>
            </p:txBody>
          </p:sp>
        </mc:Choice>
        <mc:Fallback xmlns="">
          <p:sp>
            <p:nvSpPr>
              <p:cNvPr id="80902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69647" y="2868559"/>
                <a:ext cx="3749744" cy="1159100"/>
              </a:xfrm>
              <a:prstGeom prst="rect">
                <a:avLst/>
              </a:prstGeom>
              <a:blipFill>
                <a:blip r:embed="rId7"/>
                <a:stretch>
                  <a:fillRect t="-1579" r="-1301" b="-78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903" name="Rectangle 10"/>
          <p:cNvSpPr>
            <a:spLocks noChangeArrowheads="1"/>
          </p:cNvSpPr>
          <p:nvPr/>
        </p:nvSpPr>
        <p:spPr bwMode="auto">
          <a:xfrm>
            <a:off x="0" y="2347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80904" name="Object 9"/>
          <p:cNvGraphicFramePr>
            <a:graphicFrameLocks noChangeAspect="1"/>
          </p:cNvGraphicFramePr>
          <p:nvPr/>
        </p:nvGraphicFramePr>
        <p:xfrm>
          <a:off x="2124075" y="3284538"/>
          <a:ext cx="3097213" cy="324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67" r:id="rId8" imgW="4910455" imgH="5147945" progId="Visio.Drawing.11">
                  <p:embed/>
                </p:oleObj>
              </mc:Choice>
              <mc:Fallback>
                <p:oleObj r:id="rId8" imgW="4910455" imgH="5147945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3284538"/>
                        <a:ext cx="3097213" cy="324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0905" name="Rectangle 11"/>
              <p:cNvSpPr>
                <a:spLocks noChangeArrowheads="1"/>
              </p:cNvSpPr>
              <p:nvPr/>
            </p:nvSpPr>
            <p:spPr bwMode="auto">
              <a:xfrm>
                <a:off x="5221289" y="4863215"/>
                <a:ext cx="3836954" cy="1200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/>
              <a:p>
                <a:pPr indent="777875" eaLnBrk="1" hangingPunct="1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𝒑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𝒑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𝒑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b>
                    </m:sSub>
                  </m:oMath>
                </a14:m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indent="777875" eaLnBrk="1" hangingPunct="1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𝒑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𝒑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b>
                    </m:sSub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indent="777875" eaLnBrk="1" hangingPunct="1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）用窗口右边界裁剪</a:t>
                </a:r>
              </a:p>
            </p:txBody>
          </p:sp>
        </mc:Choice>
        <mc:Fallback xmlns="">
          <p:sp>
            <p:nvSpPr>
              <p:cNvPr id="80905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21289" y="4863215"/>
                <a:ext cx="3836954" cy="1200329"/>
              </a:xfrm>
              <a:prstGeom prst="rect">
                <a:avLst/>
              </a:prstGeom>
              <a:blipFill>
                <a:blip r:embed="rId10"/>
                <a:stretch>
                  <a:fillRect b="-609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0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81923" name="Rectangle 4"/>
          <p:cNvSpPr>
            <a:spLocks noChangeArrowheads="1"/>
          </p:cNvSpPr>
          <p:nvPr/>
        </p:nvSpPr>
        <p:spPr bwMode="auto">
          <a:xfrm>
            <a:off x="0" y="2366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81924" name="Rectangle 7"/>
          <p:cNvSpPr>
            <a:spLocks noChangeArrowheads="1"/>
          </p:cNvSpPr>
          <p:nvPr/>
        </p:nvSpPr>
        <p:spPr bwMode="auto">
          <a:xfrm>
            <a:off x="0" y="2347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25" name="Rectangle 9"/>
              <p:cNvSpPr>
                <a:spLocks noChangeArrowheads="1"/>
              </p:cNvSpPr>
              <p:nvPr/>
            </p:nvSpPr>
            <p:spPr bwMode="auto">
              <a:xfrm>
                <a:off x="4825002" y="4307591"/>
                <a:ext cx="4200189" cy="1200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/>
              <a:p>
                <a:pPr indent="777875" eaLnBrk="1" hangingPunct="1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𝟓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𝒑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𝟒</m:t>
                        </m:r>
                      </m:sub>
                    </m:sSub>
                  </m:oMath>
                </a14:m>
                <a:endPara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indent="777875" eaLnBrk="1" hangingPunct="1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𝟓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7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𝟒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5</m:t>
                        </m:r>
                      </m:sub>
                    </m:sSub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indent="777875" eaLnBrk="1" hangingPunct="1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）用窗口右边界裁剪</a:t>
                </a:r>
              </a:p>
            </p:txBody>
          </p:sp>
        </mc:Choice>
        <mc:Fallback xmlns="">
          <p:sp>
            <p:nvSpPr>
              <p:cNvPr id="81925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25002" y="4307591"/>
                <a:ext cx="4200189" cy="1200329"/>
              </a:xfrm>
              <a:prstGeom prst="rect">
                <a:avLst/>
              </a:prstGeom>
              <a:blipFill>
                <a:blip r:embed="rId3"/>
                <a:stretch>
                  <a:fillRect b="-609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26" name="Rectangle 11"/>
          <p:cNvSpPr>
            <a:spLocks noChangeArrowheads="1"/>
          </p:cNvSpPr>
          <p:nvPr/>
        </p:nvSpPr>
        <p:spPr bwMode="auto">
          <a:xfrm>
            <a:off x="0" y="2628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81927" name="Object 10"/>
          <p:cNvGraphicFramePr>
            <a:graphicFrameLocks noChangeAspect="1"/>
          </p:cNvGraphicFramePr>
          <p:nvPr/>
        </p:nvGraphicFramePr>
        <p:xfrm>
          <a:off x="1763713" y="333375"/>
          <a:ext cx="3024187" cy="270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3" r:id="rId4" imgW="4910455" imgH="4380230" progId="Visio.Drawing.11">
                  <p:embed/>
                </p:oleObj>
              </mc:Choice>
              <mc:Fallback>
                <p:oleObj r:id="rId4" imgW="4910455" imgH="4380230" progId="Visio.Drawing.11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333375"/>
                        <a:ext cx="3024187" cy="270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1928" name="Rectangle 12"/>
              <p:cNvSpPr>
                <a:spLocks noChangeArrowheads="1"/>
              </p:cNvSpPr>
              <p:nvPr/>
            </p:nvSpPr>
            <p:spPr bwMode="auto">
              <a:xfrm>
                <a:off x="4703467" y="1138941"/>
                <a:ext cx="3663182" cy="1200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/>
              <a:p>
                <a:pPr indent="777875" eaLnBrk="1" hangingPunct="1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𝒑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𝒑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b>
                    </m:sSub>
                  </m:oMath>
                </a14:m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indent="777875" eaLnBrk="1" hangingPunct="1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𝟓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𝒑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  <m:sub>
                        <m: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𝟒</m:t>
                        </m:r>
                      </m:sub>
                    </m:sSub>
                  </m:oMath>
                </a14:m>
                <a:endPara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indent="777875" eaLnBrk="1" hangingPunct="1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）用窗口下边界裁剪</a:t>
                </a:r>
              </a:p>
            </p:txBody>
          </p:sp>
        </mc:Choice>
        <mc:Fallback xmlns="">
          <p:sp>
            <p:nvSpPr>
              <p:cNvPr id="81928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03467" y="1138941"/>
                <a:ext cx="3663182" cy="1200329"/>
              </a:xfrm>
              <a:prstGeom prst="rect">
                <a:avLst/>
              </a:prstGeom>
              <a:blipFill>
                <a:blip r:embed="rId6"/>
                <a:stretch>
                  <a:fillRect r="-1333" b="-609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29" name="Rectangle 14"/>
          <p:cNvSpPr>
            <a:spLocks noChangeArrowheads="1"/>
          </p:cNvSpPr>
          <p:nvPr/>
        </p:nvSpPr>
        <p:spPr bwMode="auto">
          <a:xfrm>
            <a:off x="0" y="2624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81930" name="Object 13"/>
          <p:cNvGraphicFramePr>
            <a:graphicFrameLocks noChangeAspect="1"/>
          </p:cNvGraphicFramePr>
          <p:nvPr/>
        </p:nvGraphicFramePr>
        <p:xfrm>
          <a:off x="1763713" y="3789363"/>
          <a:ext cx="3095625" cy="232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4" r:id="rId7" imgW="4910455" imgH="3691255" progId="Visio.Drawing.11">
                  <p:embed/>
                </p:oleObj>
              </mc:Choice>
              <mc:Fallback>
                <p:oleObj r:id="rId7" imgW="4910455" imgH="3691255" progId="Visio.Drawing.11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3789363"/>
                        <a:ext cx="3095625" cy="2325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0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82947" name="Rectangle 3"/>
          <p:cNvSpPr>
            <a:spLocks noChangeArrowheads="1"/>
          </p:cNvSpPr>
          <p:nvPr/>
        </p:nvSpPr>
        <p:spPr bwMode="auto">
          <a:xfrm>
            <a:off x="0" y="2366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0" y="2347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82949" name="Rectangle 6"/>
          <p:cNvSpPr>
            <a:spLocks noChangeArrowheads="1"/>
          </p:cNvSpPr>
          <p:nvPr/>
        </p:nvSpPr>
        <p:spPr bwMode="auto">
          <a:xfrm>
            <a:off x="0" y="2628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82950" name="Rectangle 9"/>
          <p:cNvSpPr>
            <a:spLocks noChangeArrowheads="1"/>
          </p:cNvSpPr>
          <p:nvPr/>
        </p:nvSpPr>
        <p:spPr bwMode="auto">
          <a:xfrm>
            <a:off x="0" y="2624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82951" name="Rectangle 11"/>
          <p:cNvSpPr>
            <a:spLocks noChangeArrowheads="1"/>
          </p:cNvSpPr>
          <p:nvPr/>
        </p:nvSpPr>
        <p:spPr bwMode="auto">
          <a:xfrm>
            <a:off x="341945" y="368398"/>
            <a:ext cx="846011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示例凹多边形使用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Sutherland-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Hodgman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裁剪算法裁剪后，输出结果为两个不连通的三角形，窗口的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边界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AB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为了多余线段 。为了正确地裁剪凹多边形，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一种方法是先将凹多边形分割为两个或更多的凸多边形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，然后分别使用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Sutherland-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Hodgman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裁剪算法裁剪。另一种方法是使用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Weiler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-Atherton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裁剪算法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。该算法适用于任何凸的、凹的带内孔的多边形裁剪，但计算工作量很大。</a:t>
            </a:r>
          </a:p>
        </p:txBody>
      </p:sp>
      <p:graphicFrame>
        <p:nvGraphicFramePr>
          <p:cNvPr id="82952" name="Object 13"/>
          <p:cNvGraphicFramePr>
            <a:graphicFrameLocks noChangeAspect="1"/>
          </p:cNvGraphicFramePr>
          <p:nvPr/>
        </p:nvGraphicFramePr>
        <p:xfrm>
          <a:off x="1908175" y="3789363"/>
          <a:ext cx="2590800" cy="237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99" r:id="rId3" imgW="5441315" imgH="4978400" progId="Visio.Drawing.11">
                  <p:embed/>
                </p:oleObj>
              </mc:Choice>
              <mc:Fallback>
                <p:oleObj r:id="rId3" imgW="5441315" imgH="4978400" progId="Visio.Drawing.11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789363"/>
                        <a:ext cx="2590800" cy="237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3" name="Object 12"/>
          <p:cNvGraphicFramePr>
            <a:graphicFrameLocks noChangeAspect="1"/>
          </p:cNvGraphicFramePr>
          <p:nvPr/>
        </p:nvGraphicFramePr>
        <p:xfrm>
          <a:off x="6156325" y="5229225"/>
          <a:ext cx="2016125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00" r:id="rId5" imgW="3251200" imgH="1772285" progId="Visio.Drawing.11">
                  <p:embed/>
                </p:oleObj>
              </mc:Choice>
              <mc:Fallback>
                <p:oleObj r:id="rId5" imgW="3251200" imgH="1772285" progId="Visio.Drawing.11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5229225"/>
                        <a:ext cx="2016125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4" name="Rectangle 14"/>
          <p:cNvSpPr>
            <a:spLocks noChangeArrowheads="1"/>
          </p:cNvSpPr>
          <p:nvPr/>
        </p:nvSpPr>
        <p:spPr bwMode="auto">
          <a:xfrm>
            <a:off x="0" y="21415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82955" name="Rectangle 15"/>
          <p:cNvSpPr>
            <a:spLocks noChangeArrowheads="1"/>
          </p:cNvSpPr>
          <p:nvPr/>
        </p:nvSpPr>
        <p:spPr bwMode="auto">
          <a:xfrm>
            <a:off x="4146550" y="3389313"/>
            <a:ext cx="8509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00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56" name="Rectangle 16"/>
          <p:cNvSpPr>
            <a:spLocks noChangeArrowheads="1"/>
          </p:cNvSpPr>
          <p:nvPr/>
        </p:nvSpPr>
        <p:spPr bwMode="auto">
          <a:xfrm>
            <a:off x="2116138" y="6275388"/>
            <a:ext cx="5632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>
                <a:latin typeface="楷体_GB2312" pitchFamily="49" charset="-122"/>
              </a:rPr>
              <a:t>凹多边形裁剪       错误的输出结果 </a:t>
            </a:r>
            <a:endParaRPr lang="zh-CN" altLang="en-US">
              <a:latin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4"/>
          <p:cNvSpPr>
            <a:spLocks noChangeArrowheads="1"/>
          </p:cNvSpPr>
          <p:nvPr/>
        </p:nvSpPr>
        <p:spPr bwMode="auto">
          <a:xfrm>
            <a:off x="1366838" y="266700"/>
            <a:ext cx="7526337" cy="644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void CTestView::ClipPolygon(CP2 *out,int Length,UINT Boundary)</a:t>
            </a:r>
            <a:endParaRPr lang="zh-CN" altLang="en-US" sz="1600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CP2 *pTemp=new CP2[Length];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for(int i=0;i&lt;Length;i++)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pTemp[i]=out[i];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CP2 p0,p1,p;//p0-</a:t>
            </a:r>
            <a:r>
              <a:rPr lang="zh-CN" altLang="en-US" sz="1600"/>
              <a:t>起点，</a:t>
            </a:r>
            <a:r>
              <a:rPr lang="en-US" altLang="zh-CN" sz="1600"/>
              <a:t>p1-</a:t>
            </a:r>
            <a:r>
              <a:rPr lang="zh-CN" altLang="en-US" sz="1600"/>
              <a:t>终点，</a:t>
            </a:r>
            <a:r>
              <a:rPr lang="en-US" altLang="zh-CN" sz="1600"/>
              <a:t>p-</a:t>
            </a:r>
            <a:r>
              <a:rPr lang="zh-CN" altLang="en-US" sz="1600"/>
              <a:t>交点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/>
              <a:t>	</a:t>
            </a:r>
            <a:r>
              <a:rPr lang="en-US" altLang="zh-CN" sz="1600"/>
              <a:t>OutCount=0;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p0=pTemp[Length-1];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for(i=0;i&lt;Length;i++)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p1=pTemp[i];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if(Inside(p0,Boundary))//</a:t>
            </a:r>
            <a:r>
              <a:rPr lang="zh-CN" altLang="en-US" sz="1600"/>
              <a:t>起点在窗口内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/>
              <a:t>		</a:t>
            </a:r>
            <a:r>
              <a:rPr lang="en-US" altLang="zh-CN" sz="160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	if(Inside(p1,Boundary))//</a:t>
            </a:r>
            <a:r>
              <a:rPr lang="zh-CN" altLang="en-US" sz="1600"/>
              <a:t>终点在窗口内</a:t>
            </a:r>
            <a:r>
              <a:rPr lang="en-US" altLang="zh-CN" sz="1600"/>
              <a:t>,</a:t>
            </a:r>
            <a:r>
              <a:rPr lang="zh-CN" altLang="en-US" sz="1600"/>
              <a:t>属于内→内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/>
              <a:t>			</a:t>
            </a:r>
            <a:r>
              <a:rPr lang="en-US" altLang="zh-CN" sz="160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		Out[OutCount]=p1;//</a:t>
            </a:r>
            <a:r>
              <a:rPr lang="zh-CN" altLang="en-US" sz="1600"/>
              <a:t>终点在窗口内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/>
              <a:t>				</a:t>
            </a:r>
            <a:r>
              <a:rPr lang="en-US" altLang="zh-CN" sz="1600"/>
              <a:t>OutCount++;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	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	else//</a:t>
            </a:r>
            <a:r>
              <a:rPr lang="zh-CN" altLang="en-US" sz="1600"/>
              <a:t>属于内→外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/>
              <a:t>			</a:t>
            </a:r>
            <a:r>
              <a:rPr lang="en-US" altLang="zh-CN" sz="160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		p=Intersect(p0,p1,Boundary);//</a:t>
            </a:r>
            <a:r>
              <a:rPr lang="zh-CN" altLang="en-US" sz="1600"/>
              <a:t>求交点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/>
              <a:t>				</a:t>
            </a:r>
            <a:r>
              <a:rPr lang="en-US" altLang="zh-CN" sz="1600"/>
              <a:t>Out[OutCount]=p;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		OutCount++;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	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1366838" y="333375"/>
            <a:ext cx="7453312" cy="302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else if(Inside(p1,Boundary))//</a:t>
            </a:r>
            <a:r>
              <a:rPr lang="zh-CN" altLang="en-US" sz="1600"/>
              <a:t>终点在窗口内</a:t>
            </a:r>
            <a:r>
              <a:rPr lang="en-US" altLang="zh-CN" sz="1600"/>
              <a:t>,</a:t>
            </a:r>
            <a:r>
              <a:rPr lang="zh-CN" altLang="en-US" sz="1600"/>
              <a:t>属于外→内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/>
              <a:t>		</a:t>
            </a:r>
            <a:r>
              <a:rPr lang="en-US" altLang="zh-CN" sz="1600"/>
              <a:t>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	p=Intersect(p0,p1,Boundary);//</a:t>
            </a:r>
            <a:r>
              <a:rPr lang="zh-CN" altLang="en-US" sz="1600"/>
              <a:t>求交点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/>
              <a:t>			</a:t>
            </a:r>
            <a:r>
              <a:rPr lang="en-US" altLang="zh-CN" sz="1600"/>
              <a:t>Out[OutCount]=p;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	OutCount++;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	Out[OutCount]=p1;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	OutCount++;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	p0=p1;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}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	delete[] pTemp;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/>
              <a:t>}</a:t>
            </a:r>
          </a:p>
        </p:txBody>
      </p:sp>
      <p:pic>
        <p:nvPicPr>
          <p:cNvPr id="8499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2708275"/>
            <a:ext cx="3797300" cy="275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6" name="Text Box 5"/>
          <p:cNvSpPr txBox="1">
            <a:spLocks noChangeArrowheads="1"/>
          </p:cNvSpPr>
          <p:nvPr/>
        </p:nvSpPr>
        <p:spPr bwMode="auto">
          <a:xfrm>
            <a:off x="5435600" y="5949950"/>
            <a:ext cx="2376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>
                <a:hlinkClick r:id="rId3" action="ppaction://hlinkfile"/>
              </a:rPr>
              <a:t>多边形裁剪算法</a:t>
            </a:r>
            <a:endParaRPr lang="zh-CN" alt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2700338" y="260350"/>
            <a:ext cx="4392612" cy="774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en-US" altLang="zh-CN" sz="36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5.7 </a:t>
            </a:r>
            <a:r>
              <a:rPr lang="zh-CN" altLang="en-US" sz="36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本章小结</a:t>
            </a:r>
          </a:p>
        </p:txBody>
      </p:sp>
      <p:sp>
        <p:nvSpPr>
          <p:cNvPr id="82947" name="Text Box 4"/>
          <p:cNvSpPr txBox="1">
            <a:spLocks noChangeArrowheads="1"/>
          </p:cNvSpPr>
          <p:nvPr/>
        </p:nvSpPr>
        <p:spPr bwMode="auto">
          <a:xfrm>
            <a:off x="539552" y="1035050"/>
            <a:ext cx="8064896" cy="24006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Ctr="1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二维变换需要读者掌握基本几何变换矩阵。二维图形基本几何变换的平移、比例、旋转、反射和错切是仿射变换的特例，反过来，任何仿射变换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endParaRPr lang="zh-CN" alt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endParaRPr lang="zh-CN" altLang="en-US" sz="2000" dirty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总可以表示为这五种变换的组合。 </a:t>
            </a:r>
          </a:p>
        </p:txBody>
      </p:sp>
      <p:sp>
        <p:nvSpPr>
          <p:cNvPr id="8602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860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639009"/>
              </p:ext>
            </p:extLst>
          </p:nvPr>
        </p:nvGraphicFramePr>
        <p:xfrm>
          <a:off x="3239294" y="1827895"/>
          <a:ext cx="2916882" cy="959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44" r:id="rId3" imgW="1473835" imgH="482600" progId="Equation.3">
                  <p:embed/>
                </p:oleObj>
              </mc:Choice>
              <mc:Fallback>
                <p:oleObj r:id="rId3" imgW="1473835" imgH="482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9294" y="1827895"/>
                        <a:ext cx="2916882" cy="9597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0" name="Rectangle 9"/>
          <p:cNvSpPr>
            <a:spLocks noChangeArrowheads="1"/>
          </p:cNvSpPr>
          <p:nvPr/>
        </p:nvSpPr>
        <p:spPr bwMode="auto">
          <a:xfrm>
            <a:off x="395536" y="3645024"/>
            <a:ext cx="8352928" cy="264412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本章给出了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种直线段裁剪算法，</a:t>
            </a:r>
            <a:r>
              <a:rPr lang="zh-CN" altLang="en-US" sz="2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其中</a:t>
            </a:r>
            <a:endParaRPr lang="en-US" altLang="zh-CN" sz="2000" dirty="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42900" indent="-342900" algn="just"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n"/>
              <a:defRPr/>
            </a:pPr>
            <a:r>
              <a:rPr lang="en-US" altLang="zh-CN" sz="2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Cohen-Sutherland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裁剪算法是最为着名，创新性地提出了直线段端点的编码规则，但这种裁剪算法需要计算直线段与窗口的交点</a:t>
            </a:r>
            <a:r>
              <a:rPr lang="zh-CN" altLang="en-US" sz="2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；</a:t>
            </a:r>
            <a:endParaRPr lang="en-US" altLang="zh-CN" sz="2000" dirty="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42900" indent="-342900" algn="just"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中点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分割裁剪算法避免了求解直线段和窗口边界的交点，只需计算直线段中点坐标就可以完成直线段的裁剪，但迭代计算工作量较大。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3970" name="Rectangle 5"/>
              <p:cNvSpPr>
                <a:spLocks noChangeArrowheads="1"/>
              </p:cNvSpPr>
              <p:nvPr/>
            </p:nvSpPr>
            <p:spPr bwMode="auto">
              <a:xfrm>
                <a:off x="467545" y="347663"/>
                <a:ext cx="8352606" cy="240065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algn="just" eaLnBrk="1" hangingPunct="1">
                  <a:lnSpc>
                    <a:spcPct val="150000"/>
                  </a:lnSpc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000" dirty="0" smtClean="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     Liang-</a:t>
                </a:r>
                <a:r>
                  <a:rPr lang="en-US" altLang="zh-CN" sz="2000" dirty="0" err="1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Barsky</a:t>
                </a:r>
                <a:r>
                  <a:rPr lang="zh-CN" altLang="en-US" sz="2000" dirty="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裁剪算法是这</a:t>
                </a:r>
                <a:r>
                  <a:rPr lang="en-US" altLang="zh-CN" sz="2000" dirty="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3</a:t>
                </a:r>
                <a:r>
                  <a:rPr lang="zh-CN" altLang="en-US" sz="2000" dirty="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种算法中效率最高的算法，通过计算</a:t>
                </a:r>
                <a:r>
                  <a:rPr lang="zh-CN" altLang="en-US" sz="2000" dirty="0" smtClean="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参数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𝑡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2000" dirty="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，把二维裁剪问题转化成一维裁剪问题，直线段的裁剪转化为求解一组不等式的问题。二维裁剪属于二维观察的内容。窗口建立在观察坐标系、视区建立在屏幕坐标系。为了减少窗视变换的计算量，本教材中假定窗口与视区的大小一致。</a:t>
                </a:r>
              </a:p>
            </p:txBody>
          </p:sp>
        </mc:Choice>
        <mc:Fallback xmlns="">
          <p:sp>
            <p:nvSpPr>
              <p:cNvPr id="83970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545" y="347663"/>
                <a:ext cx="8352606" cy="2400657"/>
              </a:xfrm>
              <a:prstGeom prst="rect">
                <a:avLst/>
              </a:prstGeom>
              <a:blipFill>
                <a:blip r:embed="rId2"/>
                <a:stretch>
                  <a:fillRect l="-876" r="-1095" b="-1777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1619250" y="260350"/>
            <a:ext cx="7113588" cy="7921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en-US" altLang="zh-CN" sz="36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5.8 </a:t>
            </a:r>
            <a:r>
              <a:rPr lang="zh-CN" altLang="en-US" sz="36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习题</a:t>
            </a:r>
            <a:r>
              <a:rPr lang="zh-CN" altLang="en-US" sz="36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88067" name="Rectangle 14"/>
          <p:cNvSpPr>
            <a:spLocks noChangeArrowheads="1"/>
          </p:cNvSpPr>
          <p:nvPr/>
        </p:nvSpPr>
        <p:spPr bwMode="auto">
          <a:xfrm>
            <a:off x="1403350" y="1341438"/>
            <a:ext cx="74168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AutoNum type="arabicPeriod"/>
            </a:pPr>
            <a:r>
              <a:rPr lang="zh-CN" altLang="en-US" sz="2800">
                <a:latin typeface="楷体_GB2312" pitchFamily="49" charset="-122"/>
              </a:rPr>
              <a:t>如图</a:t>
            </a:r>
            <a:r>
              <a:rPr lang="en-US" altLang="zh-CN" sz="2800">
                <a:latin typeface="楷体_GB2312" pitchFamily="49" charset="-122"/>
              </a:rPr>
              <a:t>5-51</a:t>
            </a:r>
            <a:r>
              <a:rPr lang="zh-CN" altLang="en-US" sz="2800">
                <a:latin typeface="楷体_GB2312" pitchFamily="49" charset="-122"/>
              </a:rPr>
              <a:t>所示，求</a:t>
            </a:r>
            <a:r>
              <a:rPr lang="en-US" altLang="zh-CN" sz="2800">
                <a:latin typeface="楷体_GB2312" pitchFamily="49" charset="-122"/>
              </a:rPr>
              <a:t>P</a:t>
            </a:r>
            <a:r>
              <a:rPr lang="en-US" altLang="zh-CN" sz="2800" baseline="-25000">
                <a:latin typeface="楷体_GB2312" pitchFamily="49" charset="-122"/>
              </a:rPr>
              <a:t>0</a:t>
            </a:r>
            <a:r>
              <a:rPr lang="en-US" altLang="zh-CN" sz="2800">
                <a:latin typeface="楷体_GB2312" pitchFamily="49" charset="-122"/>
              </a:rPr>
              <a:t>(4,1)</a:t>
            </a:r>
            <a:r>
              <a:rPr lang="zh-CN" altLang="en-US" sz="2800">
                <a:latin typeface="楷体_GB2312" pitchFamily="49" charset="-122"/>
              </a:rPr>
              <a:t>、</a:t>
            </a:r>
            <a:r>
              <a:rPr lang="en-US" altLang="zh-CN"/>
              <a:t>P</a:t>
            </a:r>
            <a:r>
              <a:rPr lang="en-US" altLang="zh-CN" sz="2800" baseline="-25000">
                <a:latin typeface="楷体_GB2312" pitchFamily="49" charset="-122"/>
              </a:rPr>
              <a:t>1</a:t>
            </a:r>
            <a:r>
              <a:rPr lang="zh-CN" altLang="en-US" sz="2800">
                <a:latin typeface="楷体_GB2312" pitchFamily="49" charset="-122"/>
              </a:rPr>
              <a:t>（</a:t>
            </a:r>
            <a:r>
              <a:rPr lang="en-US" altLang="zh-CN" sz="2800">
                <a:latin typeface="楷体_GB2312" pitchFamily="49" charset="-122"/>
              </a:rPr>
              <a:t>7,3</a:t>
            </a:r>
            <a:r>
              <a:rPr lang="zh-CN" altLang="en-US" sz="2800">
                <a:latin typeface="楷体_GB2312" pitchFamily="49" charset="-122"/>
              </a:rPr>
              <a:t>）、</a:t>
            </a:r>
            <a:r>
              <a:rPr lang="en-US" altLang="zh-CN"/>
              <a:t>P</a:t>
            </a:r>
            <a:r>
              <a:rPr lang="en-US" altLang="zh-CN" sz="2800" baseline="-25000">
                <a:latin typeface="楷体_GB2312" pitchFamily="49" charset="-122"/>
              </a:rPr>
              <a:t>2</a:t>
            </a:r>
            <a:r>
              <a:rPr lang="zh-CN" altLang="en-US" sz="2800">
                <a:latin typeface="楷体_GB2312" pitchFamily="49" charset="-122"/>
              </a:rPr>
              <a:t>（</a:t>
            </a:r>
            <a:r>
              <a:rPr lang="en-US" altLang="zh-CN" sz="2800">
                <a:latin typeface="楷体_GB2312" pitchFamily="49" charset="-122"/>
              </a:rPr>
              <a:t>7,7</a:t>
            </a:r>
            <a:r>
              <a:rPr lang="zh-CN" altLang="en-US" sz="2800">
                <a:latin typeface="楷体_GB2312" pitchFamily="49" charset="-122"/>
              </a:rPr>
              <a:t>）、</a:t>
            </a:r>
            <a:r>
              <a:rPr lang="en-US" altLang="zh-CN"/>
              <a:t>P</a:t>
            </a:r>
            <a:r>
              <a:rPr lang="en-US" altLang="zh-CN" sz="2800" baseline="-25000">
                <a:latin typeface="楷体_GB2312" pitchFamily="49" charset="-122"/>
              </a:rPr>
              <a:t>3</a:t>
            </a:r>
            <a:r>
              <a:rPr lang="zh-CN" altLang="en-US" sz="2800">
                <a:latin typeface="楷体_GB2312" pitchFamily="49" charset="-122"/>
              </a:rPr>
              <a:t>（</a:t>
            </a:r>
            <a:r>
              <a:rPr lang="en-US" altLang="zh-CN" sz="2800">
                <a:latin typeface="楷体_GB2312" pitchFamily="49" charset="-122"/>
              </a:rPr>
              <a:t>1,4</a:t>
            </a:r>
            <a:r>
              <a:rPr lang="zh-CN" altLang="en-US" sz="2800">
                <a:latin typeface="楷体_GB2312" pitchFamily="49" charset="-122"/>
              </a:rPr>
              <a:t>）构成的四边形绕 </a:t>
            </a:r>
            <a:r>
              <a:rPr lang="en-US" altLang="zh-CN" sz="2800">
                <a:latin typeface="楷体_GB2312" pitchFamily="49" charset="-122"/>
              </a:rPr>
              <a:t>Q(5,4)</a:t>
            </a:r>
            <a:r>
              <a:rPr lang="zh-CN" altLang="en-US" sz="2800">
                <a:latin typeface="楷体_GB2312" pitchFamily="49" charset="-122"/>
              </a:rPr>
              <a:t>逆时针旋转</a:t>
            </a:r>
            <a:r>
              <a:rPr lang="en-US" altLang="zh-CN" sz="2800">
                <a:latin typeface="楷体_GB2312" pitchFamily="49" charset="-122"/>
              </a:rPr>
              <a:t>45°</a:t>
            </a:r>
            <a:r>
              <a:rPr lang="zh-CN" altLang="en-US" sz="2800">
                <a:latin typeface="楷体_GB2312" pitchFamily="49" charset="-122"/>
              </a:rPr>
              <a:t>的变换矩阵和变换后图形的顶点坐标。</a:t>
            </a:r>
          </a:p>
        </p:txBody>
      </p:sp>
      <p:sp>
        <p:nvSpPr>
          <p:cNvPr id="88068" name="Rectangle 16"/>
          <p:cNvSpPr>
            <a:spLocks noChangeArrowheads="1"/>
          </p:cNvSpPr>
          <p:nvPr/>
        </p:nvSpPr>
        <p:spPr bwMode="auto">
          <a:xfrm>
            <a:off x="0" y="23717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88069" name="Object 15"/>
          <p:cNvGraphicFramePr>
            <a:graphicFrameLocks noChangeAspect="1"/>
          </p:cNvGraphicFramePr>
          <p:nvPr/>
        </p:nvGraphicFramePr>
        <p:xfrm>
          <a:off x="3708400" y="2781300"/>
          <a:ext cx="3240088" cy="324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97" r:id="rId3" imgW="5529580" imgH="4615180" progId="Visio.Drawing.11">
                  <p:embed/>
                </p:oleObj>
              </mc:Choice>
              <mc:Fallback>
                <p:oleObj r:id="rId3" imgW="5529580" imgH="4615180" progId="Visio.Drawing.11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1293" t="5171" r="12280" b="3239"/>
                      <a:stretch>
                        <a:fillRect/>
                      </a:stretch>
                    </p:blipFill>
                    <p:spPr bwMode="auto">
                      <a:xfrm>
                        <a:off x="3708400" y="2781300"/>
                        <a:ext cx="3240088" cy="324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0" name="Text Box 17"/>
          <p:cNvSpPr txBox="1">
            <a:spLocks noChangeArrowheads="1"/>
          </p:cNvSpPr>
          <p:nvPr/>
        </p:nvSpPr>
        <p:spPr bwMode="auto">
          <a:xfrm>
            <a:off x="5003800" y="5445125"/>
            <a:ext cx="2889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楷体_GB2312" pitchFamily="49" charset="-122"/>
              </a:rPr>
              <a:t>P</a:t>
            </a:r>
            <a:r>
              <a:rPr lang="en-US" altLang="zh-CN" sz="2000" baseline="-25000">
                <a:latin typeface="楷体_GB2312" pitchFamily="49" charset="-122"/>
              </a:rPr>
              <a:t>0</a:t>
            </a:r>
          </a:p>
        </p:txBody>
      </p:sp>
      <p:sp>
        <p:nvSpPr>
          <p:cNvPr id="88071" name="Text Box 18"/>
          <p:cNvSpPr txBox="1">
            <a:spLocks noChangeArrowheads="1"/>
          </p:cNvSpPr>
          <p:nvPr/>
        </p:nvSpPr>
        <p:spPr bwMode="auto">
          <a:xfrm>
            <a:off x="6227763" y="4797425"/>
            <a:ext cx="360362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楷体_GB2312" pitchFamily="49" charset="-122"/>
              </a:rPr>
              <a:t>P</a:t>
            </a:r>
            <a:r>
              <a:rPr lang="en-US" altLang="zh-CN" sz="2000" baseline="-25000">
                <a:latin typeface="楷体_GB2312" pitchFamily="49" charset="-122"/>
              </a:rPr>
              <a:t>1</a:t>
            </a:r>
          </a:p>
        </p:txBody>
      </p:sp>
      <p:sp>
        <p:nvSpPr>
          <p:cNvPr id="88072" name="Text Box 19"/>
          <p:cNvSpPr txBox="1">
            <a:spLocks noChangeArrowheads="1"/>
          </p:cNvSpPr>
          <p:nvPr/>
        </p:nvSpPr>
        <p:spPr bwMode="auto">
          <a:xfrm>
            <a:off x="6227763" y="3213100"/>
            <a:ext cx="36036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楷体_GB2312" pitchFamily="49" charset="-122"/>
              </a:rPr>
              <a:t>P</a:t>
            </a:r>
            <a:r>
              <a:rPr lang="en-US" altLang="zh-CN" sz="2000" baseline="-25000">
                <a:latin typeface="楷体_GB2312" pitchFamily="49" charset="-122"/>
              </a:rPr>
              <a:t>2</a:t>
            </a:r>
          </a:p>
        </p:txBody>
      </p:sp>
      <p:sp>
        <p:nvSpPr>
          <p:cNvPr id="88073" name="Text Box 20"/>
          <p:cNvSpPr txBox="1">
            <a:spLocks noChangeArrowheads="1"/>
          </p:cNvSpPr>
          <p:nvPr/>
        </p:nvSpPr>
        <p:spPr bwMode="auto">
          <a:xfrm>
            <a:off x="4067175" y="4149725"/>
            <a:ext cx="28575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zh-CN" sz="2000"/>
              <a:t>P</a:t>
            </a:r>
            <a:r>
              <a:rPr lang="en-US" altLang="zh-CN" sz="2000" baseline="-25000"/>
              <a:t>3</a:t>
            </a:r>
          </a:p>
        </p:txBody>
      </p:sp>
      <p:sp>
        <p:nvSpPr>
          <p:cNvPr id="88074" name="Text Box 21"/>
          <p:cNvSpPr txBox="1">
            <a:spLocks noChangeArrowheads="1"/>
          </p:cNvSpPr>
          <p:nvPr/>
        </p:nvSpPr>
        <p:spPr bwMode="auto">
          <a:xfrm>
            <a:off x="5221288" y="4510088"/>
            <a:ext cx="28733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楷体_GB2312" pitchFamily="49" charset="-122"/>
              </a:rPr>
              <a:t>Q</a:t>
            </a:r>
          </a:p>
        </p:txBody>
      </p:sp>
      <p:sp>
        <p:nvSpPr>
          <p:cNvPr id="88075" name="Rectangle 23"/>
          <p:cNvSpPr>
            <a:spLocks noChangeArrowheads="1"/>
          </p:cNvSpPr>
          <p:nvPr/>
        </p:nvSpPr>
        <p:spPr bwMode="auto">
          <a:xfrm>
            <a:off x="3552825" y="2759075"/>
            <a:ext cx="2476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00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8076" name="Rectangle 30"/>
          <p:cNvSpPr>
            <a:spLocks noChangeArrowheads="1"/>
          </p:cNvSpPr>
          <p:nvPr/>
        </p:nvSpPr>
        <p:spPr bwMode="auto">
          <a:xfrm>
            <a:off x="3748088" y="6165850"/>
            <a:ext cx="2774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>
                <a:latin typeface="楷体_GB2312" pitchFamily="49" charset="-122"/>
              </a:rPr>
              <a:t>图</a:t>
            </a:r>
            <a:r>
              <a:rPr lang="en-US" altLang="zh-CN">
                <a:latin typeface="楷体_GB2312" pitchFamily="49" charset="-122"/>
              </a:rPr>
              <a:t>5-51 </a:t>
            </a:r>
            <a:r>
              <a:rPr lang="zh-CN" altLang="en-US">
                <a:latin typeface="楷体_GB2312" pitchFamily="49" charset="-122"/>
              </a:rPr>
              <a:t>四边形旋转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4"/>
          <p:cNvSpPr>
            <a:spLocks noChangeArrowheads="1"/>
          </p:cNvSpPr>
          <p:nvPr/>
        </p:nvSpPr>
        <p:spPr bwMode="auto">
          <a:xfrm>
            <a:off x="1331913" y="260350"/>
            <a:ext cx="7488237" cy="234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>
                <a:latin typeface="楷体_GB2312" pitchFamily="49" charset="-122"/>
              </a:rPr>
              <a:t>2.</a:t>
            </a:r>
            <a:r>
              <a:rPr lang="zh-CN" altLang="en-US"/>
              <a:t>屏幕客户区</a:t>
            </a:r>
            <a:r>
              <a:rPr lang="en-US" altLang="zh-CN"/>
              <a:t>xOy</a:t>
            </a:r>
            <a:r>
              <a:rPr lang="zh-CN" altLang="en-US"/>
              <a:t>坐标系的原点位于左上角，</a:t>
            </a:r>
            <a:r>
              <a:rPr lang="en-US" altLang="zh-CN"/>
              <a:t>x</a:t>
            </a:r>
            <a:r>
              <a:rPr lang="zh-CN" altLang="en-US"/>
              <a:t>轴水平向右，最大值为</a:t>
            </a:r>
            <a:r>
              <a:rPr lang="en-US" altLang="zh-CN"/>
              <a:t>MaxX</a:t>
            </a:r>
            <a:r>
              <a:rPr lang="zh-CN" altLang="en-US"/>
              <a:t>，</a:t>
            </a:r>
            <a:r>
              <a:rPr lang="en-US" altLang="zh-CN"/>
              <a:t>y</a:t>
            </a:r>
            <a:r>
              <a:rPr lang="zh-CN" altLang="en-US"/>
              <a:t>轴垂直向下，最大值为</a:t>
            </a:r>
            <a:r>
              <a:rPr lang="en-US" altLang="zh-CN"/>
              <a:t>MaxY</a:t>
            </a:r>
            <a:r>
              <a:rPr lang="zh-CN" altLang="en-US"/>
              <a:t>。建立新坐标系</a:t>
            </a:r>
            <a:r>
              <a:rPr lang="en-US" altLang="zh-CN"/>
              <a:t>x’O’y’</a:t>
            </a:r>
            <a:r>
              <a:rPr lang="zh-CN" altLang="en-US"/>
              <a:t>，原点位于屏幕客户区中心（</a:t>
            </a:r>
            <a:r>
              <a:rPr lang="en-US" altLang="zh-CN"/>
              <a:t>MaxX/2</a:t>
            </a:r>
            <a:r>
              <a:rPr lang="zh-CN" altLang="en-US"/>
              <a:t>，</a:t>
            </a:r>
            <a:r>
              <a:rPr lang="en-US" altLang="zh-CN"/>
              <a:t>MaxY/2</a:t>
            </a:r>
            <a:r>
              <a:rPr lang="zh-CN" altLang="en-US"/>
              <a:t>），</a:t>
            </a:r>
            <a:r>
              <a:rPr lang="en-US" altLang="zh-CN"/>
              <a:t>x’</a:t>
            </a:r>
            <a:r>
              <a:rPr lang="zh-CN" altLang="en-US"/>
              <a:t>轴水平向右，</a:t>
            </a:r>
            <a:r>
              <a:rPr lang="en-US" altLang="zh-CN"/>
              <a:t>y’</a:t>
            </a:r>
            <a:r>
              <a:rPr lang="zh-CN" altLang="en-US"/>
              <a:t>轴垂直向上，如图</a:t>
            </a:r>
            <a:r>
              <a:rPr lang="en-US" altLang="zh-CN"/>
              <a:t>5-52</a:t>
            </a:r>
            <a:r>
              <a:rPr lang="zh-CN" altLang="en-US"/>
              <a:t>所示。要求使用变换矩阵求解这两个坐标系之间的转换关系。</a:t>
            </a:r>
          </a:p>
        </p:txBody>
      </p:sp>
      <p:sp>
        <p:nvSpPr>
          <p:cNvPr id="89091" name="Rectangle 7"/>
          <p:cNvSpPr>
            <a:spLocks noChangeArrowheads="1"/>
          </p:cNvSpPr>
          <p:nvPr/>
        </p:nvSpPr>
        <p:spPr bwMode="auto">
          <a:xfrm>
            <a:off x="0" y="2881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aphicFrame>
        <p:nvGraphicFramePr>
          <p:cNvPr id="89092" name="Object 6"/>
          <p:cNvGraphicFramePr>
            <a:graphicFrameLocks noChangeAspect="1"/>
          </p:cNvGraphicFramePr>
          <p:nvPr/>
        </p:nvGraphicFramePr>
        <p:xfrm>
          <a:off x="2987675" y="3500438"/>
          <a:ext cx="4681538" cy="2516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20" r:id="rId3" imgW="7405370" imgH="3996055" progId="Visio.Drawing.11">
                  <p:embed/>
                </p:oleObj>
              </mc:Choice>
              <mc:Fallback>
                <p:oleObj r:id="rId3" imgW="7405370" imgH="3996055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3500438"/>
                        <a:ext cx="4681538" cy="2516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3" name="Text Box 8"/>
          <p:cNvSpPr txBox="1">
            <a:spLocks noChangeArrowheads="1"/>
          </p:cNvSpPr>
          <p:nvPr/>
        </p:nvSpPr>
        <p:spPr bwMode="auto">
          <a:xfrm>
            <a:off x="4500563" y="3068638"/>
            <a:ext cx="4318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y’</a:t>
            </a:r>
            <a:endParaRPr lang="en-US" altLang="zh-CN" sz="2000"/>
          </a:p>
        </p:txBody>
      </p:sp>
      <p:sp>
        <p:nvSpPr>
          <p:cNvPr id="89094" name="Text Box 9"/>
          <p:cNvSpPr txBox="1">
            <a:spLocks noChangeArrowheads="1"/>
          </p:cNvSpPr>
          <p:nvPr/>
        </p:nvSpPr>
        <p:spPr bwMode="auto">
          <a:xfrm>
            <a:off x="3276600" y="3789363"/>
            <a:ext cx="4318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zh-CN" sz="2000"/>
              <a:t>O</a:t>
            </a:r>
          </a:p>
        </p:txBody>
      </p:sp>
      <p:sp>
        <p:nvSpPr>
          <p:cNvPr id="89095" name="Text Box 10"/>
          <p:cNvSpPr txBox="1">
            <a:spLocks noChangeArrowheads="1"/>
          </p:cNvSpPr>
          <p:nvPr/>
        </p:nvSpPr>
        <p:spPr bwMode="auto">
          <a:xfrm>
            <a:off x="4427538" y="4581525"/>
            <a:ext cx="4318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O’</a:t>
            </a:r>
            <a:endParaRPr lang="en-US" altLang="zh-CN" sz="2000"/>
          </a:p>
        </p:txBody>
      </p:sp>
      <p:sp>
        <p:nvSpPr>
          <p:cNvPr id="89096" name="Text Box 11"/>
          <p:cNvSpPr txBox="1">
            <a:spLocks noChangeArrowheads="1"/>
          </p:cNvSpPr>
          <p:nvPr/>
        </p:nvSpPr>
        <p:spPr bwMode="auto">
          <a:xfrm>
            <a:off x="7308850" y="4365625"/>
            <a:ext cx="4318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x’</a:t>
            </a:r>
            <a:endParaRPr lang="en-US" altLang="zh-CN" sz="2000"/>
          </a:p>
        </p:txBody>
      </p:sp>
      <p:sp>
        <p:nvSpPr>
          <p:cNvPr id="89097" name="Text Box 12"/>
          <p:cNvSpPr txBox="1">
            <a:spLocks noChangeArrowheads="1"/>
          </p:cNvSpPr>
          <p:nvPr/>
        </p:nvSpPr>
        <p:spPr bwMode="auto">
          <a:xfrm>
            <a:off x="7667625" y="3357563"/>
            <a:ext cx="4318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endParaRPr lang="en-US" altLang="zh-CN" sz="2000"/>
          </a:p>
        </p:txBody>
      </p:sp>
      <p:sp>
        <p:nvSpPr>
          <p:cNvPr id="89098" name="Text Box 13"/>
          <p:cNvSpPr txBox="1">
            <a:spLocks noChangeArrowheads="1"/>
          </p:cNvSpPr>
          <p:nvPr/>
        </p:nvSpPr>
        <p:spPr bwMode="auto">
          <a:xfrm>
            <a:off x="2268538" y="5300663"/>
            <a:ext cx="4318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lang="en-US" altLang="zh-CN" sz="2000"/>
          </a:p>
        </p:txBody>
      </p:sp>
      <p:sp>
        <p:nvSpPr>
          <p:cNvPr id="89099" name="Rectangle 14"/>
          <p:cNvSpPr>
            <a:spLocks noChangeArrowheads="1"/>
          </p:cNvSpPr>
          <p:nvPr/>
        </p:nvSpPr>
        <p:spPr bwMode="auto">
          <a:xfrm>
            <a:off x="3995738" y="5805488"/>
            <a:ext cx="2814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/>
              <a:t>图</a:t>
            </a:r>
            <a:r>
              <a:rPr lang="en-US" altLang="zh-CN"/>
              <a:t>5-52 </a:t>
            </a:r>
            <a:r>
              <a:rPr lang="zh-CN" altLang="en-US"/>
              <a:t>坐标系变换 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4"/>
          <p:cNvSpPr>
            <a:spLocks noChangeArrowheads="1"/>
          </p:cNvSpPr>
          <p:nvPr/>
        </p:nvSpPr>
        <p:spPr bwMode="auto">
          <a:xfrm>
            <a:off x="0" y="23907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pic>
        <p:nvPicPr>
          <p:cNvPr id="901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2781300"/>
            <a:ext cx="3887787" cy="280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6" name="Rectangle 5"/>
          <p:cNvSpPr>
            <a:spLocks noChangeArrowheads="1"/>
          </p:cNvSpPr>
          <p:nvPr/>
        </p:nvSpPr>
        <p:spPr bwMode="auto">
          <a:xfrm>
            <a:off x="3563938" y="5876925"/>
            <a:ext cx="307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>
                <a:latin typeface="楷体_GB2312" pitchFamily="49" charset="-122"/>
              </a:rPr>
              <a:t>图</a:t>
            </a:r>
            <a:r>
              <a:rPr lang="en-US" altLang="zh-CN">
                <a:latin typeface="楷体_GB2312" pitchFamily="49" charset="-122"/>
              </a:rPr>
              <a:t>5-53 </a:t>
            </a:r>
            <a:r>
              <a:rPr lang="zh-CN" altLang="en-US">
                <a:latin typeface="楷体_GB2312" pitchFamily="49" charset="-122"/>
              </a:rPr>
              <a:t>复合旋转变换</a:t>
            </a:r>
          </a:p>
        </p:txBody>
      </p:sp>
      <p:sp>
        <p:nvSpPr>
          <p:cNvPr id="90117" name="Rectangle 7"/>
          <p:cNvSpPr>
            <a:spLocks noChangeArrowheads="1"/>
          </p:cNvSpPr>
          <p:nvPr/>
        </p:nvSpPr>
        <p:spPr bwMode="auto">
          <a:xfrm>
            <a:off x="1331913" y="476250"/>
            <a:ext cx="7488237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>
                <a:latin typeface="楷体_GB2312" pitchFamily="49" charset="-122"/>
              </a:rPr>
              <a:t>3.</a:t>
            </a:r>
            <a:r>
              <a:rPr lang="zh-CN" altLang="en-US">
                <a:latin typeface="楷体_GB2312" pitchFamily="49" charset="-122"/>
              </a:rPr>
              <a:t>建立坐标系</a:t>
            </a:r>
            <a:r>
              <a:rPr lang="en-US" altLang="zh-CN">
                <a:latin typeface="楷体_GB2312" pitchFamily="49" charset="-122"/>
              </a:rPr>
              <a:t>xOy</a:t>
            </a:r>
            <a:r>
              <a:rPr lang="zh-CN" altLang="en-US">
                <a:latin typeface="楷体_GB2312" pitchFamily="49" charset="-122"/>
              </a:rPr>
              <a:t>，原点</a:t>
            </a:r>
            <a:r>
              <a:rPr lang="en-US" altLang="zh-CN">
                <a:latin typeface="楷体_GB2312" pitchFamily="49" charset="-122"/>
              </a:rPr>
              <a:t>O</a:t>
            </a:r>
            <a:r>
              <a:rPr lang="zh-CN" altLang="en-US">
                <a:latin typeface="楷体_GB2312" pitchFamily="49" charset="-122"/>
              </a:rPr>
              <a:t>位于屏幕客户区中心，</a:t>
            </a:r>
            <a:r>
              <a:rPr lang="en-US" altLang="zh-CN">
                <a:latin typeface="楷体_GB2312" pitchFamily="49" charset="-122"/>
              </a:rPr>
              <a:t>x</a:t>
            </a:r>
            <a:r>
              <a:rPr lang="zh-CN" altLang="en-US">
                <a:latin typeface="楷体_GB2312" pitchFamily="49" charset="-122"/>
              </a:rPr>
              <a:t>轴水平向右，</a:t>
            </a:r>
            <a:r>
              <a:rPr lang="en-US" altLang="zh-CN">
                <a:latin typeface="楷体_GB2312" pitchFamily="49" charset="-122"/>
              </a:rPr>
              <a:t>y</a:t>
            </a:r>
            <a:r>
              <a:rPr lang="zh-CN" altLang="en-US">
                <a:latin typeface="楷体_GB2312" pitchFamily="49" charset="-122"/>
              </a:rPr>
              <a:t>轴垂直向上。以（</a:t>
            </a:r>
            <a:r>
              <a:rPr lang="en-US" altLang="zh-CN">
                <a:latin typeface="楷体_GB2312" pitchFamily="49" charset="-122"/>
              </a:rPr>
              <a:t>0,-b</a:t>
            </a:r>
            <a:r>
              <a:rPr lang="zh-CN" altLang="en-US">
                <a:latin typeface="楷体_GB2312" pitchFamily="49" charset="-122"/>
              </a:rPr>
              <a:t>）点为中心，悬挂一边长为</a:t>
            </a:r>
            <a:r>
              <a:rPr lang="en-US" altLang="zh-CN">
                <a:latin typeface="楷体_GB2312" pitchFamily="49" charset="-122"/>
              </a:rPr>
              <a:t>a</a:t>
            </a:r>
            <a:r>
              <a:rPr lang="zh-CN" altLang="en-US">
                <a:latin typeface="楷体_GB2312" pitchFamily="49" charset="-122"/>
              </a:rPr>
              <a:t>（      </a:t>
            </a:r>
            <a:r>
              <a:rPr lang="zh-CN" altLang="en-US"/>
              <a:t>）的正方形，如图</a:t>
            </a:r>
            <a:r>
              <a:rPr lang="en-US" altLang="zh-CN"/>
              <a:t>5-53</a:t>
            </a:r>
            <a:r>
              <a:rPr lang="zh-CN" altLang="en-US"/>
              <a:t>所示。要求按下“动画”按钮时启动定时器，正方形按逆时针方向绕自身中心（</a:t>
            </a:r>
            <a:r>
              <a:rPr lang="en-US" altLang="zh-CN"/>
              <a:t>b</a:t>
            </a:r>
            <a:r>
              <a:rPr lang="zh-CN" altLang="en-US"/>
              <a:t>点）匀速旋转，请编程实现。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0118" name="Object 6"/>
          <p:cNvGraphicFramePr>
            <a:graphicFrameLocks noChangeAspect="1"/>
          </p:cNvGraphicFramePr>
          <p:nvPr/>
        </p:nvGraphicFramePr>
        <p:xfrm>
          <a:off x="2843213" y="1196975"/>
          <a:ext cx="8636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42" r:id="rId4" imgW="723900" imgH="431800" progId="Equation.3">
                  <p:embed/>
                </p:oleObj>
              </mc:Choice>
              <mc:Fallback>
                <p:oleObj r:id="rId4" imgW="723900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1196975"/>
                        <a:ext cx="8636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9" name="Text Box 9"/>
          <p:cNvSpPr txBox="1">
            <a:spLocks noChangeArrowheads="1"/>
          </p:cNvSpPr>
          <p:nvPr/>
        </p:nvSpPr>
        <p:spPr bwMode="auto">
          <a:xfrm>
            <a:off x="5003800" y="3860800"/>
            <a:ext cx="36036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zh-CN" sz="2000"/>
          </a:p>
        </p:txBody>
      </p:sp>
      <p:sp>
        <p:nvSpPr>
          <p:cNvPr id="90120" name="Text Box 10"/>
          <p:cNvSpPr txBox="1">
            <a:spLocks noChangeArrowheads="1"/>
          </p:cNvSpPr>
          <p:nvPr/>
        </p:nvSpPr>
        <p:spPr bwMode="auto">
          <a:xfrm>
            <a:off x="4500563" y="4868863"/>
            <a:ext cx="360362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2000"/>
          </a:p>
        </p:txBody>
      </p:sp>
      <p:sp>
        <p:nvSpPr>
          <p:cNvPr id="90121" name="Text Box 11"/>
          <p:cNvSpPr txBox="1">
            <a:spLocks noChangeArrowheads="1"/>
          </p:cNvSpPr>
          <p:nvPr/>
        </p:nvSpPr>
        <p:spPr bwMode="auto">
          <a:xfrm>
            <a:off x="5148263" y="4941888"/>
            <a:ext cx="360362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20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ChangeArrowheads="1"/>
          </p:cNvSpPr>
          <p:nvPr/>
        </p:nvSpPr>
        <p:spPr bwMode="auto">
          <a:xfrm>
            <a:off x="1258888" y="260350"/>
            <a:ext cx="7524750" cy="272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>
                <a:latin typeface="楷体_GB2312" pitchFamily="49" charset="-122"/>
              </a:rPr>
              <a:t>4.</a:t>
            </a:r>
            <a:r>
              <a:rPr lang="zh-CN" altLang="en-US">
                <a:latin typeface="楷体_GB2312" pitchFamily="49" charset="-122"/>
              </a:rPr>
              <a:t>用编码裁剪算法裁剪线段</a:t>
            </a:r>
            <a:r>
              <a:rPr lang="en-US" altLang="zh-CN">
                <a:latin typeface="楷体_GB2312" pitchFamily="49" charset="-122"/>
              </a:rPr>
              <a:t>P</a:t>
            </a:r>
            <a:r>
              <a:rPr lang="en-US" altLang="zh-CN" baseline="-25000">
                <a:latin typeface="楷体_GB2312" pitchFamily="49" charset="-122"/>
              </a:rPr>
              <a:t>0</a:t>
            </a:r>
            <a:r>
              <a:rPr lang="en-US" altLang="zh-CN">
                <a:latin typeface="楷体_GB2312" pitchFamily="49" charset="-122"/>
              </a:rPr>
              <a:t>(0,2)</a:t>
            </a:r>
            <a:r>
              <a:rPr lang="zh-CN" altLang="en-US">
                <a:latin typeface="楷体_GB2312" pitchFamily="49" charset="-122"/>
              </a:rPr>
              <a:t>，</a:t>
            </a:r>
            <a:r>
              <a:rPr lang="en-US" altLang="zh-CN">
                <a:latin typeface="楷体_GB2312" pitchFamily="49" charset="-122"/>
              </a:rPr>
              <a:t>P</a:t>
            </a:r>
            <a:r>
              <a:rPr lang="en-US" altLang="zh-CN" baseline="-25000">
                <a:latin typeface="楷体_GB2312" pitchFamily="49" charset="-122"/>
              </a:rPr>
              <a:t>1</a:t>
            </a:r>
            <a:r>
              <a:rPr lang="en-US" altLang="zh-CN">
                <a:latin typeface="楷体_GB2312" pitchFamily="49" charset="-122"/>
              </a:rPr>
              <a:t>(3,3)</a:t>
            </a:r>
            <a:r>
              <a:rPr lang="zh-CN" altLang="en-US">
                <a:latin typeface="楷体_GB2312" pitchFamily="49" charset="-122"/>
              </a:rPr>
              <a:t>，裁剪窗口为</a:t>
            </a:r>
            <a:r>
              <a:rPr lang="en-US" altLang="zh-CN">
                <a:latin typeface="楷体_GB2312" pitchFamily="49" charset="-122"/>
              </a:rPr>
              <a:t>w</a:t>
            </a:r>
            <a:r>
              <a:rPr lang="en-US" altLang="zh-CN" baseline="-25000">
                <a:latin typeface="楷体_GB2312" pitchFamily="49" charset="-122"/>
              </a:rPr>
              <a:t>xl</a:t>
            </a:r>
            <a:r>
              <a:rPr lang="en-US" altLang="zh-CN">
                <a:latin typeface="楷体_GB2312" pitchFamily="49" charset="-122"/>
              </a:rPr>
              <a:t>=1</a:t>
            </a:r>
            <a:r>
              <a:rPr lang="zh-CN" altLang="en-US">
                <a:latin typeface="楷体_GB2312" pitchFamily="49" charset="-122"/>
              </a:rPr>
              <a:t>，</a:t>
            </a:r>
            <a:r>
              <a:rPr lang="en-US" altLang="zh-CN">
                <a:latin typeface="楷体_GB2312" pitchFamily="49" charset="-122"/>
              </a:rPr>
              <a:t>w</a:t>
            </a:r>
            <a:r>
              <a:rPr lang="en-US" altLang="zh-CN" baseline="-25000">
                <a:latin typeface="楷体_GB2312" pitchFamily="49" charset="-122"/>
              </a:rPr>
              <a:t>xr</a:t>
            </a:r>
            <a:r>
              <a:rPr lang="en-US" altLang="zh-CN">
                <a:latin typeface="楷体_GB2312" pitchFamily="49" charset="-122"/>
              </a:rPr>
              <a:t>=6</a:t>
            </a:r>
            <a:r>
              <a:rPr lang="zh-CN" altLang="en-US">
                <a:latin typeface="楷体_GB2312" pitchFamily="49" charset="-122"/>
              </a:rPr>
              <a:t>，</a:t>
            </a:r>
            <a:r>
              <a:rPr lang="en-US" altLang="zh-CN">
                <a:latin typeface="楷体_GB2312" pitchFamily="49" charset="-122"/>
              </a:rPr>
              <a:t>w</a:t>
            </a:r>
            <a:r>
              <a:rPr lang="en-US" altLang="zh-CN" baseline="-25000">
                <a:latin typeface="楷体_GB2312" pitchFamily="49" charset="-122"/>
              </a:rPr>
              <a:t>yb</a:t>
            </a:r>
            <a:r>
              <a:rPr lang="en-US" altLang="zh-CN">
                <a:latin typeface="楷体_GB2312" pitchFamily="49" charset="-122"/>
              </a:rPr>
              <a:t>=1</a:t>
            </a:r>
            <a:r>
              <a:rPr lang="zh-CN" altLang="en-US">
                <a:latin typeface="楷体_GB2312" pitchFamily="49" charset="-122"/>
              </a:rPr>
              <a:t>，</a:t>
            </a:r>
            <a:r>
              <a:rPr lang="en-US" altLang="zh-CN">
                <a:latin typeface="楷体_GB2312" pitchFamily="49" charset="-122"/>
              </a:rPr>
              <a:t>w</a:t>
            </a:r>
            <a:r>
              <a:rPr lang="en-US" altLang="zh-CN" baseline="-25000">
                <a:latin typeface="楷体_GB2312" pitchFamily="49" charset="-122"/>
              </a:rPr>
              <a:t>yt</a:t>
            </a:r>
            <a:r>
              <a:rPr lang="en-US" altLang="zh-CN">
                <a:latin typeface="楷体_GB2312" pitchFamily="49" charset="-122"/>
              </a:rPr>
              <a:t>=5</a:t>
            </a:r>
            <a:r>
              <a:rPr lang="zh-CN" altLang="en-US">
                <a:latin typeface="楷体_GB2312" pitchFamily="49" charset="-122"/>
              </a:rPr>
              <a:t>，如图</a:t>
            </a:r>
            <a:r>
              <a:rPr lang="en-US" altLang="zh-CN">
                <a:latin typeface="楷体_GB2312" pitchFamily="49" charset="-122"/>
              </a:rPr>
              <a:t>5-54</a:t>
            </a:r>
            <a:r>
              <a:rPr lang="zh-CN" altLang="en-US">
                <a:latin typeface="楷体_GB2312" pitchFamily="49" charset="-122"/>
              </a:rPr>
              <a:t>所示。要求写出：（</a:t>
            </a:r>
            <a:r>
              <a:rPr lang="en-US" altLang="zh-CN">
                <a:latin typeface="楷体_GB2312" pitchFamily="49" charset="-122"/>
              </a:rPr>
              <a:t>1</a:t>
            </a:r>
            <a:r>
              <a:rPr lang="zh-CN" altLang="en-US">
                <a:latin typeface="楷体_GB2312" pitchFamily="49" charset="-122"/>
              </a:rPr>
              <a:t>）窗口边界划分的</a:t>
            </a:r>
            <a:r>
              <a:rPr lang="en-US" altLang="zh-CN">
                <a:latin typeface="楷体_GB2312" pitchFamily="49" charset="-122"/>
              </a:rPr>
              <a:t>9</a:t>
            </a:r>
            <a:r>
              <a:rPr lang="zh-CN" altLang="en-US">
                <a:latin typeface="楷体_GB2312" pitchFamily="49" charset="-122"/>
              </a:rPr>
              <a:t>个区间的编码原则。   </a:t>
            </a: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>
                <a:latin typeface="楷体_GB2312" pitchFamily="49" charset="-122"/>
              </a:rPr>
              <a:t>      （</a:t>
            </a:r>
            <a:r>
              <a:rPr lang="en-US" altLang="zh-CN">
                <a:latin typeface="楷体_GB2312" pitchFamily="49" charset="-122"/>
              </a:rPr>
              <a:t>2</a:t>
            </a:r>
            <a:r>
              <a:rPr lang="zh-CN" altLang="en-US">
                <a:latin typeface="楷体_GB2312" pitchFamily="49" charset="-122"/>
              </a:rPr>
              <a:t>）线段端点的编码。</a:t>
            </a: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>
                <a:latin typeface="楷体_GB2312" pitchFamily="49" charset="-122"/>
              </a:rPr>
              <a:t>      （</a:t>
            </a:r>
            <a:r>
              <a:rPr lang="en-US" altLang="zh-CN">
                <a:latin typeface="楷体_GB2312" pitchFamily="49" charset="-122"/>
              </a:rPr>
              <a:t>3</a:t>
            </a:r>
            <a:r>
              <a:rPr lang="zh-CN" altLang="en-US">
                <a:latin typeface="楷体_GB2312" pitchFamily="49" charset="-122"/>
              </a:rPr>
              <a:t>）裁剪的主要步骤。</a:t>
            </a: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>
                <a:latin typeface="楷体_GB2312" pitchFamily="49" charset="-122"/>
              </a:rPr>
              <a:t>      （</a:t>
            </a:r>
            <a:r>
              <a:rPr lang="en-US" altLang="zh-CN">
                <a:latin typeface="楷体_GB2312" pitchFamily="49" charset="-122"/>
              </a:rPr>
              <a:t>4</a:t>
            </a:r>
            <a:r>
              <a:rPr lang="zh-CN" altLang="en-US">
                <a:latin typeface="楷体_GB2312" pitchFamily="49" charset="-122"/>
              </a:rPr>
              <a:t>）裁剪后窗口内直线段的端点坐标。</a:t>
            </a:r>
          </a:p>
        </p:txBody>
      </p:sp>
      <p:graphicFrame>
        <p:nvGraphicFramePr>
          <p:cNvPr id="91139" name="Object 3"/>
          <p:cNvGraphicFramePr>
            <a:graphicFrameLocks noChangeAspect="1"/>
          </p:cNvGraphicFramePr>
          <p:nvPr/>
        </p:nvGraphicFramePr>
        <p:xfrm>
          <a:off x="2987675" y="2852738"/>
          <a:ext cx="3455988" cy="341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65" r:id="rId3" imgW="5002530" imgH="4733290" progId="Visio.Drawing.11">
                  <p:embed/>
                </p:oleObj>
              </mc:Choice>
              <mc:Fallback>
                <p:oleObj r:id="rId3" imgW="5002530" imgH="473329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147" t="24176" r="14224"/>
                      <a:stretch>
                        <a:fillRect/>
                      </a:stretch>
                    </p:blipFill>
                    <p:spPr bwMode="auto">
                      <a:xfrm>
                        <a:off x="2987675" y="2852738"/>
                        <a:ext cx="3455988" cy="341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0" name="Text Box 4"/>
          <p:cNvSpPr txBox="1">
            <a:spLocks noChangeArrowheads="1"/>
          </p:cNvSpPr>
          <p:nvPr/>
        </p:nvSpPr>
        <p:spPr bwMode="auto">
          <a:xfrm>
            <a:off x="3421063" y="4932363"/>
            <a:ext cx="358775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>
                <a:latin typeface="楷体_GB2312" pitchFamily="49" charset="-122"/>
              </a:rPr>
              <a:t>P</a:t>
            </a:r>
            <a:r>
              <a:rPr lang="en-US" altLang="zh-CN" sz="1800" baseline="-30000">
                <a:latin typeface="楷体_GB2312" pitchFamily="49" charset="-122"/>
              </a:rPr>
              <a:t>0</a:t>
            </a:r>
            <a:endParaRPr lang="en-US" altLang="zh-CN" sz="1800"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141" name="Text Box 5"/>
          <p:cNvSpPr txBox="1">
            <a:spLocks noChangeArrowheads="1"/>
          </p:cNvSpPr>
          <p:nvPr/>
        </p:nvSpPr>
        <p:spPr bwMode="auto">
          <a:xfrm>
            <a:off x="4572000" y="4149725"/>
            <a:ext cx="2873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800">
                <a:latin typeface="楷体_GB2312" pitchFamily="49" charset="-122"/>
              </a:rPr>
              <a:t>P</a:t>
            </a:r>
            <a:r>
              <a:rPr lang="en-US" altLang="zh-CN" sz="1800" baseline="-30000">
                <a:latin typeface="楷体_GB2312" pitchFamily="49" charset="-122"/>
              </a:rPr>
              <a:t>1</a:t>
            </a:r>
            <a:endParaRPr lang="en-US" altLang="zh-CN" sz="1800"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142" name="Rectangle 6"/>
          <p:cNvSpPr>
            <a:spLocks noChangeArrowheads="1"/>
          </p:cNvSpPr>
          <p:nvPr/>
        </p:nvSpPr>
        <p:spPr bwMode="auto">
          <a:xfrm>
            <a:off x="0" y="21812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91143" name="Rectangle 7"/>
          <p:cNvSpPr>
            <a:spLocks noChangeArrowheads="1"/>
          </p:cNvSpPr>
          <p:nvPr/>
        </p:nvSpPr>
        <p:spPr bwMode="auto">
          <a:xfrm>
            <a:off x="0" y="21812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91144" name="Rectangle 8"/>
          <p:cNvSpPr>
            <a:spLocks noChangeArrowheads="1"/>
          </p:cNvSpPr>
          <p:nvPr/>
        </p:nvSpPr>
        <p:spPr bwMode="auto">
          <a:xfrm>
            <a:off x="3392488" y="6237288"/>
            <a:ext cx="2774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>
                <a:latin typeface="楷体_GB2312" pitchFamily="49" charset="-122"/>
              </a:rPr>
              <a:t>图</a:t>
            </a:r>
            <a:r>
              <a:rPr lang="en-US" altLang="zh-CN">
                <a:latin typeface="楷体_GB2312" pitchFamily="49" charset="-122"/>
              </a:rPr>
              <a:t>5-54 </a:t>
            </a:r>
            <a:r>
              <a:rPr lang="zh-CN" altLang="en-US">
                <a:latin typeface="楷体_GB2312" pitchFamily="49" charset="-122"/>
              </a:rPr>
              <a:t>直线段裁剪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1403350" y="333375"/>
            <a:ext cx="7416800" cy="213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>
                <a:latin typeface="楷体_GB2312" pitchFamily="49" charset="-122"/>
              </a:rPr>
              <a:t>5.</a:t>
            </a:r>
            <a:r>
              <a:rPr lang="zh-CN" altLang="en-US">
                <a:latin typeface="楷体_GB2312" pitchFamily="49" charset="-122"/>
              </a:rPr>
              <a:t>窗视变换公式也可以使用窗口和视区的相似原理进行推导，但要求点</a:t>
            </a:r>
            <a:r>
              <a:rPr lang="en-US" altLang="zh-CN">
                <a:latin typeface="楷体_GB2312" pitchFamily="49" charset="-122"/>
              </a:rPr>
              <a:t>P(x</a:t>
            </a:r>
            <a:r>
              <a:rPr lang="en-US" altLang="zh-CN" baseline="-25000">
                <a:latin typeface="楷体_GB2312" pitchFamily="49" charset="-122"/>
              </a:rPr>
              <a:t>w</a:t>
            </a:r>
            <a:r>
              <a:rPr lang="en-US" altLang="zh-CN">
                <a:latin typeface="楷体_GB2312" pitchFamily="49" charset="-122"/>
              </a:rPr>
              <a:t>,y</a:t>
            </a:r>
            <a:r>
              <a:rPr lang="en-US" altLang="zh-CN" baseline="-25000">
                <a:latin typeface="楷体_GB2312" pitchFamily="49" charset="-122"/>
              </a:rPr>
              <a:t>w</a:t>
            </a:r>
            <a:r>
              <a:rPr lang="en-US" altLang="zh-CN">
                <a:latin typeface="楷体_GB2312" pitchFamily="49" charset="-122"/>
              </a:rPr>
              <a:t>)</a:t>
            </a:r>
            <a:r>
              <a:rPr lang="zh-CN" altLang="en-US">
                <a:latin typeface="楷体_GB2312" pitchFamily="49" charset="-122"/>
              </a:rPr>
              <a:t>在窗口中的相对位置等于点</a:t>
            </a:r>
            <a:r>
              <a:rPr lang="en-US" altLang="zh-CN">
                <a:latin typeface="楷体_GB2312" pitchFamily="49" charset="-122"/>
              </a:rPr>
              <a:t>P</a:t>
            </a:r>
            <a:r>
              <a:rPr lang="en-US" altLang="zh-CN"/>
              <a:t>’</a:t>
            </a:r>
            <a:r>
              <a:rPr lang="en-US" altLang="zh-CN">
                <a:latin typeface="楷体_GB2312" pitchFamily="49" charset="-122"/>
              </a:rPr>
              <a:t>( x</a:t>
            </a:r>
            <a:r>
              <a:rPr lang="en-US" altLang="zh-CN" baseline="-25000">
                <a:latin typeface="楷体_GB2312" pitchFamily="49" charset="-122"/>
              </a:rPr>
              <a:t>v</a:t>
            </a:r>
            <a:r>
              <a:rPr lang="en-US" altLang="zh-CN">
                <a:latin typeface="楷体_GB2312" pitchFamily="49" charset="-122"/>
              </a:rPr>
              <a:t>,y</a:t>
            </a:r>
            <a:r>
              <a:rPr lang="en-US" altLang="zh-CN" baseline="-25000">
                <a:latin typeface="楷体_GB2312" pitchFamily="49" charset="-122"/>
              </a:rPr>
              <a:t>v</a:t>
            </a:r>
            <a:r>
              <a:rPr lang="en-US" altLang="zh-CN">
                <a:latin typeface="楷体_GB2312" pitchFamily="49" charset="-122"/>
              </a:rPr>
              <a:t>)</a:t>
            </a:r>
            <a:r>
              <a:rPr lang="zh-CN" altLang="en-US">
                <a:latin typeface="楷体_GB2312" pitchFamily="49" charset="-122"/>
              </a:rPr>
              <a:t>在视区中的相对位置，请推导以下的窗视变换公式：</a:t>
            </a:r>
          </a:p>
        </p:txBody>
      </p:sp>
      <p:graphicFrame>
        <p:nvGraphicFramePr>
          <p:cNvPr id="92163" name="Object 3"/>
          <p:cNvGraphicFramePr>
            <a:graphicFrameLocks noChangeAspect="1"/>
          </p:cNvGraphicFramePr>
          <p:nvPr/>
        </p:nvGraphicFramePr>
        <p:xfrm>
          <a:off x="1619250" y="3644900"/>
          <a:ext cx="2374900" cy="1211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6" r:id="rId3" imgW="952500" imgH="482600" progId="Equation.DSMT4">
                  <p:embed/>
                </p:oleObj>
              </mc:Choice>
              <mc:Fallback>
                <p:oleObj r:id="rId3" imgW="952500" imgH="482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644900"/>
                        <a:ext cx="2374900" cy="1211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4" name="Object 4"/>
          <p:cNvGraphicFramePr>
            <a:graphicFrameLocks noChangeAspect="1"/>
          </p:cNvGraphicFramePr>
          <p:nvPr/>
        </p:nvGraphicFramePr>
        <p:xfrm>
          <a:off x="6227763" y="2924175"/>
          <a:ext cx="2492375" cy="256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7" r:id="rId5" imgW="1283335" imgH="1321435" progId="Equation.DSMT4">
                  <p:embed/>
                </p:oleObj>
              </mc:Choice>
              <mc:Fallback>
                <p:oleObj r:id="rId5" imgW="1283335" imgH="132143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2924175"/>
                        <a:ext cx="2492375" cy="256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5" name="Rectangle 5"/>
          <p:cNvSpPr>
            <a:spLocks noChangeArrowheads="1"/>
          </p:cNvSpPr>
          <p:nvPr/>
        </p:nvSpPr>
        <p:spPr bwMode="auto">
          <a:xfrm>
            <a:off x="0" y="2492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92166" name="Rectangle 6"/>
          <p:cNvSpPr>
            <a:spLocks noChangeArrowheads="1"/>
          </p:cNvSpPr>
          <p:nvPr/>
        </p:nvSpPr>
        <p:spPr bwMode="auto">
          <a:xfrm>
            <a:off x="3851275" y="3068638"/>
            <a:ext cx="1260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33CC"/>
                </a:solidFill>
                <a:latin typeface="楷体_GB2312" pitchFamily="49" charset="-122"/>
              </a:rPr>
              <a:t>      </a:t>
            </a:r>
            <a:endParaRPr lang="zh-CN" altLang="en-US" sz="2800" b="1">
              <a:solidFill>
                <a:srgbClr val="0033CC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167" name="Rectangle 7"/>
          <p:cNvSpPr>
            <a:spLocks noChangeArrowheads="1"/>
          </p:cNvSpPr>
          <p:nvPr/>
        </p:nvSpPr>
        <p:spPr bwMode="auto">
          <a:xfrm>
            <a:off x="4211638" y="3860800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/>
              <a:t>变换系数为：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1331913" y="304800"/>
            <a:ext cx="7667625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>
                <a:latin typeface="楷体_GB2312" pitchFamily="49" charset="-122"/>
              </a:rPr>
              <a:t>6.</a:t>
            </a:r>
            <a:r>
              <a:rPr lang="zh-CN" altLang="en-US">
                <a:latin typeface="楷体_GB2312" pitchFamily="49" charset="-122"/>
              </a:rPr>
              <a:t>请按照图</a:t>
            </a:r>
            <a:r>
              <a:rPr lang="en-US" altLang="zh-CN">
                <a:latin typeface="楷体_GB2312" pitchFamily="49" charset="-122"/>
              </a:rPr>
              <a:t>5-55</a:t>
            </a:r>
            <a:r>
              <a:rPr lang="zh-CN" altLang="en-US">
                <a:latin typeface="楷体_GB2312" pitchFamily="49" charset="-122"/>
              </a:rPr>
              <a:t>所示，使用对话框输入直线段的起点和终点坐标。在屏幕客户区左侧区域绘制输入直线段和</a:t>
            </a:r>
            <a:r>
              <a:rPr lang="zh-CN" altLang="en-US"/>
              <a:t>“</a:t>
            </a:r>
            <a:r>
              <a:rPr lang="zh-CN" altLang="en-US">
                <a:latin typeface="楷体_GB2312" pitchFamily="49" charset="-122"/>
              </a:rPr>
              <a:t>窗口</a:t>
            </a:r>
            <a:r>
              <a:rPr lang="zh-CN" altLang="en-US"/>
              <a:t>”</a:t>
            </a:r>
            <a:r>
              <a:rPr lang="zh-CN" altLang="en-US">
                <a:latin typeface="楷体_GB2312" pitchFamily="49" charset="-122"/>
              </a:rPr>
              <a:t>，在屏幕客户区右侧区域绘制</a:t>
            </a:r>
            <a:r>
              <a:rPr lang="zh-CN" altLang="en-US"/>
              <a:t>“</a:t>
            </a:r>
            <a:r>
              <a:rPr lang="zh-CN" altLang="en-US">
                <a:latin typeface="楷体_GB2312" pitchFamily="49" charset="-122"/>
              </a:rPr>
              <a:t>视区</a:t>
            </a:r>
            <a:r>
              <a:rPr lang="zh-CN" altLang="en-US"/>
              <a:t>”</a:t>
            </a:r>
            <a:r>
              <a:rPr lang="zh-CN" altLang="en-US">
                <a:latin typeface="楷体_GB2312" pitchFamily="49" charset="-122"/>
              </a:rPr>
              <a:t>并输出裁剪结果。这里需要用到窗视变换公式。请使用</a:t>
            </a:r>
            <a:r>
              <a:rPr lang="en-US" altLang="zh-CN">
                <a:latin typeface="楷体_GB2312" pitchFamily="49" charset="-122"/>
              </a:rPr>
              <a:t>Cohen-Sutherland</a:t>
            </a:r>
            <a:r>
              <a:rPr lang="zh-CN" altLang="en-US">
                <a:latin typeface="楷体_GB2312" pitchFamily="49" charset="-122"/>
              </a:rPr>
              <a:t>算法编程实现。</a:t>
            </a:r>
          </a:p>
        </p:txBody>
      </p:sp>
      <p:pic>
        <p:nvPicPr>
          <p:cNvPr id="9318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3573463"/>
            <a:ext cx="3311525" cy="193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88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3213100"/>
            <a:ext cx="3671888" cy="265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189" name="Rectangle 5"/>
          <p:cNvSpPr>
            <a:spLocks noChangeArrowheads="1"/>
          </p:cNvSpPr>
          <p:nvPr/>
        </p:nvSpPr>
        <p:spPr bwMode="auto">
          <a:xfrm>
            <a:off x="0" y="193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93190" name="Rectangle 6"/>
          <p:cNvSpPr>
            <a:spLocks noChangeArrowheads="1"/>
          </p:cNvSpPr>
          <p:nvPr/>
        </p:nvSpPr>
        <p:spPr bwMode="auto">
          <a:xfrm>
            <a:off x="0" y="3082925"/>
            <a:ext cx="3429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00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3191" name="Rectangle 7"/>
          <p:cNvSpPr>
            <a:spLocks noChangeArrowheads="1"/>
          </p:cNvSpPr>
          <p:nvPr/>
        </p:nvSpPr>
        <p:spPr bwMode="auto">
          <a:xfrm>
            <a:off x="2109788" y="6092825"/>
            <a:ext cx="551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>
                <a:latin typeface="楷体_GB2312" pitchFamily="49" charset="-122"/>
              </a:rPr>
              <a:t>图</a:t>
            </a:r>
            <a:r>
              <a:rPr lang="en-US" altLang="zh-CN">
                <a:latin typeface="楷体_GB2312" pitchFamily="49" charset="-122"/>
              </a:rPr>
              <a:t>5-55 </a:t>
            </a:r>
            <a:r>
              <a:rPr lang="zh-CN" altLang="en-US">
                <a:latin typeface="楷体_GB2312" pitchFamily="49" charset="-122"/>
              </a:rPr>
              <a:t>含窗视变换的直线段裁剪效果图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ChangeArrowheads="1"/>
          </p:cNvSpPr>
          <p:nvPr/>
        </p:nvSpPr>
        <p:spPr bwMode="auto">
          <a:xfrm>
            <a:off x="1258888" y="333375"/>
            <a:ext cx="7488237" cy="246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>
                <a:latin typeface="楷体_GB2312" pitchFamily="49" charset="-122"/>
              </a:rPr>
              <a:t>7.*</a:t>
            </a:r>
            <a:r>
              <a:rPr lang="zh-CN" altLang="en-US">
                <a:latin typeface="楷体_GB2312" pitchFamily="49" charset="-122"/>
              </a:rPr>
              <a:t>已知裁剪窗口为</a:t>
            </a:r>
            <a:r>
              <a:rPr lang="en-US" altLang="zh-CN">
                <a:latin typeface="楷体_GB2312" pitchFamily="49" charset="-122"/>
              </a:rPr>
              <a:t>w</a:t>
            </a:r>
            <a:r>
              <a:rPr lang="en-US" altLang="zh-CN" baseline="-25000">
                <a:latin typeface="楷体_GB2312" pitchFamily="49" charset="-122"/>
              </a:rPr>
              <a:t>xl</a:t>
            </a:r>
            <a:r>
              <a:rPr lang="en-US" altLang="zh-CN">
                <a:latin typeface="楷体_GB2312" pitchFamily="49" charset="-122"/>
              </a:rPr>
              <a:t>=0</a:t>
            </a:r>
            <a:r>
              <a:rPr lang="zh-CN" altLang="en-US">
                <a:latin typeface="楷体_GB2312" pitchFamily="49" charset="-122"/>
              </a:rPr>
              <a:t>，</a:t>
            </a:r>
            <a:r>
              <a:rPr lang="en-US" altLang="zh-CN">
                <a:latin typeface="楷体_GB2312" pitchFamily="49" charset="-122"/>
              </a:rPr>
              <a:t>w</a:t>
            </a:r>
            <a:r>
              <a:rPr lang="en-US" altLang="zh-CN" baseline="-25000">
                <a:latin typeface="楷体_GB2312" pitchFamily="49" charset="-122"/>
              </a:rPr>
              <a:t>xr</a:t>
            </a:r>
            <a:r>
              <a:rPr lang="en-US" altLang="zh-CN">
                <a:latin typeface="楷体_GB2312" pitchFamily="49" charset="-122"/>
              </a:rPr>
              <a:t>=2</a:t>
            </a:r>
            <a:r>
              <a:rPr lang="zh-CN" altLang="en-US">
                <a:latin typeface="楷体_GB2312" pitchFamily="49" charset="-122"/>
              </a:rPr>
              <a:t>，</a:t>
            </a:r>
            <a:r>
              <a:rPr lang="en-US" altLang="zh-CN">
                <a:latin typeface="楷体_GB2312" pitchFamily="49" charset="-122"/>
              </a:rPr>
              <a:t>w</a:t>
            </a:r>
            <a:r>
              <a:rPr lang="en-US" altLang="zh-CN" baseline="-25000">
                <a:latin typeface="楷体_GB2312" pitchFamily="49" charset="-122"/>
              </a:rPr>
              <a:t>yb</a:t>
            </a:r>
            <a:r>
              <a:rPr lang="en-US" altLang="zh-CN">
                <a:latin typeface="楷体_GB2312" pitchFamily="49" charset="-122"/>
              </a:rPr>
              <a:t>=0</a:t>
            </a:r>
            <a:r>
              <a:rPr lang="zh-CN" altLang="en-US">
                <a:latin typeface="楷体_GB2312" pitchFamily="49" charset="-122"/>
              </a:rPr>
              <a:t>，</a:t>
            </a:r>
            <a:r>
              <a:rPr lang="en-US" altLang="zh-CN">
                <a:latin typeface="楷体_GB2312" pitchFamily="49" charset="-122"/>
              </a:rPr>
              <a:t>w</a:t>
            </a:r>
            <a:r>
              <a:rPr lang="en-US" altLang="zh-CN" baseline="-25000">
                <a:latin typeface="楷体_GB2312" pitchFamily="49" charset="-122"/>
              </a:rPr>
              <a:t>yt</a:t>
            </a:r>
            <a:r>
              <a:rPr lang="en-US" altLang="zh-CN">
                <a:latin typeface="楷体_GB2312" pitchFamily="49" charset="-122"/>
              </a:rPr>
              <a:t>=2</a:t>
            </a:r>
            <a:r>
              <a:rPr lang="zh-CN" altLang="en-US">
                <a:latin typeface="楷体_GB2312" pitchFamily="49" charset="-122"/>
              </a:rPr>
              <a:t>，直线段的起点坐标为</a:t>
            </a:r>
            <a:r>
              <a:rPr lang="en-US" altLang="zh-CN">
                <a:latin typeface="楷体_GB2312" pitchFamily="49" charset="-122"/>
              </a:rPr>
              <a:t>P</a:t>
            </a:r>
            <a:r>
              <a:rPr lang="en-US" altLang="zh-CN" baseline="-25000">
                <a:latin typeface="楷体_GB2312" pitchFamily="49" charset="-122"/>
              </a:rPr>
              <a:t>1</a:t>
            </a:r>
            <a:r>
              <a:rPr lang="en-US" altLang="zh-CN">
                <a:latin typeface="楷体_GB2312" pitchFamily="49" charset="-122"/>
              </a:rPr>
              <a:t>(3,3)</a:t>
            </a:r>
            <a:r>
              <a:rPr lang="zh-CN" altLang="en-US">
                <a:latin typeface="楷体_GB2312" pitchFamily="49" charset="-122"/>
              </a:rPr>
              <a:t>终点坐标为</a:t>
            </a:r>
            <a:r>
              <a:rPr lang="en-US" altLang="zh-CN">
                <a:latin typeface="楷体_GB2312" pitchFamily="49" charset="-122"/>
              </a:rPr>
              <a:t>P</a:t>
            </a:r>
            <a:r>
              <a:rPr lang="en-US" altLang="zh-CN" baseline="-25000">
                <a:latin typeface="楷体_GB2312" pitchFamily="49" charset="-122"/>
              </a:rPr>
              <a:t>2</a:t>
            </a:r>
            <a:r>
              <a:rPr lang="en-US" altLang="zh-CN">
                <a:latin typeface="楷体_GB2312" pitchFamily="49" charset="-122"/>
              </a:rPr>
              <a:t>(-2,-1)</a:t>
            </a:r>
            <a:r>
              <a:rPr lang="zh-CN" altLang="en-US">
                <a:latin typeface="楷体_GB2312" pitchFamily="49" charset="-122"/>
              </a:rPr>
              <a:t>，如图</a:t>
            </a:r>
            <a:r>
              <a:rPr lang="en-US" altLang="zh-CN">
                <a:latin typeface="楷体_GB2312" pitchFamily="49" charset="-122"/>
              </a:rPr>
              <a:t>5-33</a:t>
            </a:r>
            <a:r>
              <a:rPr lang="zh-CN" altLang="en-US">
                <a:latin typeface="楷体_GB2312" pitchFamily="49" charset="-122"/>
              </a:rPr>
              <a:t>所示。请用</a:t>
            </a:r>
            <a:r>
              <a:rPr lang="en-US" altLang="zh-CN"/>
              <a:t>Liang </a:t>
            </a:r>
            <a:r>
              <a:rPr lang="zh-CN" altLang="en-US">
                <a:latin typeface="楷体_GB2312" pitchFamily="49" charset="-122"/>
              </a:rPr>
              <a:t>－</a:t>
            </a:r>
            <a:r>
              <a:rPr lang="en-US" altLang="zh-CN">
                <a:latin typeface="楷体_GB2312" pitchFamily="49" charset="-122"/>
              </a:rPr>
              <a:t>Barsky</a:t>
            </a:r>
            <a:r>
              <a:rPr lang="zh-CN" altLang="en-US">
                <a:latin typeface="楷体_GB2312" pitchFamily="49" charset="-122"/>
              </a:rPr>
              <a:t>直线段裁剪算法分步说明裁剪过程，并求出直线在窗口内部分的端点</a:t>
            </a:r>
            <a:r>
              <a:rPr lang="en-US" altLang="zh-CN">
                <a:latin typeface="楷体_GB2312" pitchFamily="49" charset="-122"/>
              </a:rPr>
              <a:t>C</a:t>
            </a:r>
            <a:r>
              <a:rPr lang="zh-CN" altLang="en-US">
                <a:latin typeface="楷体_GB2312" pitchFamily="49" charset="-122"/>
              </a:rPr>
              <a:t>和</a:t>
            </a:r>
            <a:r>
              <a:rPr lang="en-US" altLang="zh-CN">
                <a:latin typeface="楷体_GB2312" pitchFamily="49" charset="-122"/>
              </a:rPr>
              <a:t>D</a:t>
            </a:r>
            <a:r>
              <a:rPr lang="zh-CN" altLang="en-US">
                <a:latin typeface="楷体_GB2312" pitchFamily="49" charset="-122"/>
              </a:rPr>
              <a:t>的坐标值。</a:t>
            </a:r>
          </a:p>
        </p:txBody>
      </p:sp>
      <p:graphicFrame>
        <p:nvGraphicFramePr>
          <p:cNvPr id="94211" name="Object 3"/>
          <p:cNvGraphicFramePr>
            <a:graphicFrameLocks noChangeAspect="1"/>
          </p:cNvGraphicFramePr>
          <p:nvPr/>
        </p:nvGraphicFramePr>
        <p:xfrm>
          <a:off x="3059113" y="2420938"/>
          <a:ext cx="3600450" cy="356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39" r:id="rId3" imgW="4518025" imgH="4227830" progId="Visio.Drawing.11">
                  <p:embed/>
                </p:oleObj>
              </mc:Choice>
              <mc:Fallback>
                <p:oleObj r:id="rId3" imgW="4518025" imgH="422783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9531" t="18657" r="13603"/>
                      <a:stretch>
                        <a:fillRect/>
                      </a:stretch>
                    </p:blipFill>
                    <p:spPr bwMode="auto">
                      <a:xfrm>
                        <a:off x="3059113" y="2420938"/>
                        <a:ext cx="3600450" cy="3567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2" name="Text Box 5"/>
          <p:cNvSpPr txBox="1">
            <a:spLocks noChangeArrowheads="1"/>
          </p:cNvSpPr>
          <p:nvPr/>
        </p:nvSpPr>
        <p:spPr bwMode="auto">
          <a:xfrm>
            <a:off x="3203575" y="5013325"/>
            <a:ext cx="341313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000" baseline="-30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4213" name="Text Box 4"/>
          <p:cNvSpPr txBox="1">
            <a:spLocks noChangeArrowheads="1"/>
          </p:cNvSpPr>
          <p:nvPr/>
        </p:nvSpPr>
        <p:spPr bwMode="auto">
          <a:xfrm>
            <a:off x="5435600" y="2925763"/>
            <a:ext cx="36036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000" baseline="-30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4214" name="Text Box 6"/>
          <p:cNvSpPr txBox="1">
            <a:spLocks noChangeArrowheads="1"/>
          </p:cNvSpPr>
          <p:nvPr/>
        </p:nvSpPr>
        <p:spPr bwMode="auto">
          <a:xfrm>
            <a:off x="4932363" y="3357563"/>
            <a:ext cx="360362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4215" name="Text Box 7"/>
          <p:cNvSpPr txBox="1">
            <a:spLocks noChangeArrowheads="1"/>
          </p:cNvSpPr>
          <p:nvPr/>
        </p:nvSpPr>
        <p:spPr bwMode="auto">
          <a:xfrm>
            <a:off x="3924300" y="4221163"/>
            <a:ext cx="36036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4216" name="Rectangle 8"/>
          <p:cNvSpPr>
            <a:spLocks noChangeArrowheads="1"/>
          </p:cNvSpPr>
          <p:nvPr/>
        </p:nvSpPr>
        <p:spPr bwMode="auto">
          <a:xfrm>
            <a:off x="0" y="19097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94217" name="Rectangle 9"/>
          <p:cNvSpPr>
            <a:spLocks noChangeArrowheads="1"/>
          </p:cNvSpPr>
          <p:nvPr/>
        </p:nvSpPr>
        <p:spPr bwMode="auto">
          <a:xfrm>
            <a:off x="0" y="19097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94218" name="Rectangle 10"/>
          <p:cNvSpPr>
            <a:spLocks noChangeArrowheads="1"/>
          </p:cNvSpPr>
          <p:nvPr/>
        </p:nvSpPr>
        <p:spPr bwMode="auto">
          <a:xfrm>
            <a:off x="3419475" y="6165850"/>
            <a:ext cx="2792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>
                <a:latin typeface="楷体_GB2312" pitchFamily="49" charset="-122"/>
              </a:rPr>
              <a:t>图</a:t>
            </a:r>
            <a:r>
              <a:rPr lang="en-US" altLang="zh-CN" b="1">
                <a:latin typeface="楷体_GB2312" pitchFamily="49" charset="-122"/>
              </a:rPr>
              <a:t>5-57 </a:t>
            </a:r>
            <a:r>
              <a:rPr lang="zh-CN" altLang="en-US" b="1">
                <a:latin typeface="楷体_GB2312" pitchFamily="49" charset="-122"/>
              </a:rPr>
              <a:t>直线段裁剪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ChangeArrowheads="1"/>
          </p:cNvSpPr>
          <p:nvPr/>
        </p:nvSpPr>
        <p:spPr bwMode="auto">
          <a:xfrm>
            <a:off x="1187450" y="188913"/>
            <a:ext cx="7488238" cy="341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7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>
                <a:latin typeface="楷体_GB2312" pitchFamily="49" charset="-122"/>
              </a:rPr>
              <a:t>8</a:t>
            </a:r>
            <a:r>
              <a:rPr lang="en-US" altLang="zh-CN"/>
              <a:t>*</a:t>
            </a:r>
            <a:r>
              <a:rPr lang="zh-CN" altLang="en-US"/>
              <a:t>在屏幕客户区中心绘制金刚石图案。使用鼠标移动正方形代表的放大镜（鼠标指针位于放大镜中心）对金刚石图案使用</a:t>
            </a:r>
            <a:r>
              <a:rPr lang="en-US" altLang="zh-CN"/>
              <a:t>Cohen-Sutherland</a:t>
            </a:r>
            <a:r>
              <a:rPr lang="zh-CN" altLang="en-US"/>
              <a:t>裁剪算法进行动态裁剪，并在放大镜内绘制被裁剪金刚石图案的放大部分。请使用</a:t>
            </a:r>
            <a:r>
              <a:rPr lang="en-US" altLang="zh-CN"/>
              <a:t>MFC</a:t>
            </a:r>
            <a:r>
              <a:rPr lang="zh-CN" altLang="en-US"/>
              <a:t>编程实现，要求放大倍数可以使用工具栏的按钮或鼠标左右键进行调整。正方形放大镜裁剪效果如图</a:t>
            </a:r>
            <a:r>
              <a:rPr lang="en-US" altLang="zh-CN"/>
              <a:t>5-58</a:t>
            </a:r>
            <a:r>
              <a:rPr lang="zh-CN" altLang="en-US"/>
              <a:t>所示。</a:t>
            </a:r>
          </a:p>
        </p:txBody>
      </p:sp>
      <p:sp>
        <p:nvSpPr>
          <p:cNvPr id="95235" name="Rectangle 8"/>
          <p:cNvSpPr>
            <a:spLocks noChangeArrowheads="1"/>
          </p:cNvSpPr>
          <p:nvPr/>
        </p:nvSpPr>
        <p:spPr bwMode="auto">
          <a:xfrm>
            <a:off x="0" y="19097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95236" name="Rectangle 9"/>
          <p:cNvSpPr>
            <a:spLocks noChangeArrowheads="1"/>
          </p:cNvSpPr>
          <p:nvPr/>
        </p:nvSpPr>
        <p:spPr bwMode="auto">
          <a:xfrm>
            <a:off x="0" y="19097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pic>
        <p:nvPicPr>
          <p:cNvPr id="95237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3860800"/>
            <a:ext cx="241935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5238" name="Picture 1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3789363"/>
            <a:ext cx="241935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9" name="Rectangle 13"/>
          <p:cNvSpPr>
            <a:spLocks noChangeArrowheads="1"/>
          </p:cNvSpPr>
          <p:nvPr/>
        </p:nvSpPr>
        <p:spPr bwMode="auto">
          <a:xfrm>
            <a:off x="0" y="1436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95240" name="Rectangle 14"/>
          <p:cNvSpPr>
            <a:spLocks noChangeArrowheads="1"/>
          </p:cNvSpPr>
          <p:nvPr/>
        </p:nvSpPr>
        <p:spPr bwMode="auto">
          <a:xfrm>
            <a:off x="4462463" y="3189288"/>
            <a:ext cx="2159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5241" name="Rectangle 15"/>
          <p:cNvSpPr>
            <a:spLocks noChangeArrowheads="1"/>
          </p:cNvSpPr>
          <p:nvPr/>
        </p:nvSpPr>
        <p:spPr bwMode="auto">
          <a:xfrm>
            <a:off x="2254250" y="5843588"/>
            <a:ext cx="582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>
                <a:latin typeface="楷体_GB2312" pitchFamily="49" charset="-122"/>
              </a:rPr>
              <a:t>图</a:t>
            </a:r>
            <a:r>
              <a:rPr lang="en-US" altLang="zh-CN">
                <a:latin typeface="楷体_GB2312" pitchFamily="49" charset="-122"/>
              </a:rPr>
              <a:t>5-58 </a:t>
            </a:r>
            <a:r>
              <a:rPr lang="zh-CN" altLang="en-US">
                <a:latin typeface="楷体_GB2312" pitchFamily="49" charset="-122"/>
              </a:rPr>
              <a:t>正方形放大镜动态裁剪金刚石图案</a:t>
            </a:r>
            <a:endParaRPr lang="zh-CN" altLang="en-US">
              <a:latin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a_9_p2">
  <a:themeElements>
    <a:clrScheme name="oa_9_p2 8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3333CC"/>
      </a:hlink>
      <a:folHlink>
        <a:srgbClr val="3333CC"/>
      </a:folHlink>
    </a:clrScheme>
    <a:fontScheme name="oa_9_p2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oa_9_p2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a_9_p2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a_9_p2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a_9_p2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a_9_p2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a_9_p2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a_9_p2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a_9_p2 8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3333CC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a_9_p2">
  <a:themeElements>
    <a:clrScheme name="1_oa_9_p2 8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3333CC"/>
      </a:hlink>
      <a:folHlink>
        <a:srgbClr val="3333CC"/>
      </a:folHlink>
    </a:clrScheme>
    <a:fontScheme name="1_oa_9_p2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1_oa_9_p2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a_9_p2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a_9_p2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a_9_p2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a_9_p2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a_9_p2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a_9_p2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a_9_p2 8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3333CC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C:\WINDOWS\Application Data\Microsoft\Templates\oa_9_p2.pot</Template>
  <TotalTime>252</TotalTime>
  <Words>4142</Words>
  <Application>Microsoft Office PowerPoint</Application>
  <PresentationFormat>全屏显示(4:3)</PresentationFormat>
  <Paragraphs>675</Paragraphs>
  <Slides>82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82</vt:i4>
      </vt:variant>
    </vt:vector>
  </HeadingPairs>
  <TitlesOfParts>
    <vt:vector size="101" baseType="lpstr">
      <vt:lpstr>方正粗黑宋简体</vt:lpstr>
      <vt:lpstr>黑体</vt:lpstr>
      <vt:lpstr>华文琥珀</vt:lpstr>
      <vt:lpstr>楷体_GB2312</vt:lpstr>
      <vt:lpstr>隶书</vt:lpstr>
      <vt:lpstr>宋体</vt:lpstr>
      <vt:lpstr>微软雅黑</vt:lpstr>
      <vt:lpstr>幼圆</vt:lpstr>
      <vt:lpstr>Arial</vt:lpstr>
      <vt:lpstr>Cambria Math</vt:lpstr>
      <vt:lpstr>Tahoma</vt:lpstr>
      <vt:lpstr>Times New Roman</vt:lpstr>
      <vt:lpstr>Wingdings</vt:lpstr>
      <vt:lpstr>oa_9_p2</vt:lpstr>
      <vt:lpstr>1_oa_9_p2</vt:lpstr>
      <vt:lpstr>Visio.Drawing.11</vt:lpstr>
      <vt:lpstr>公式</vt:lpstr>
      <vt:lpstr>Microsoft 公式 3.0</vt:lpstr>
      <vt:lpstr>Equation.DSMT4</vt:lpstr>
      <vt:lpstr>PowerPoint 演示文稿</vt:lpstr>
      <vt:lpstr>PowerPoint 演示文稿</vt:lpstr>
      <vt:lpstr>PowerPoint 演示文稿</vt:lpstr>
      <vt:lpstr>5.1图形几何变换基础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5.5 Cohen-Sutherland直线裁剪算法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LZQ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计算机图形学</dc:title>
  <dc:subject>太原工业学院</dc:subject>
  <dc:creator>孔令德</dc:creator>
  <cp:lastModifiedBy>DELL</cp:lastModifiedBy>
  <cp:revision>483</cp:revision>
  <dcterms:created xsi:type="dcterms:W3CDTF">2001-04-17T13:25:00Z</dcterms:created>
  <dcterms:modified xsi:type="dcterms:W3CDTF">2025-11-08T08:14:41Z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E236B8C8242E4A46B9FC34A2000FD8C3_12</vt:lpwstr>
  </property>
</Properties>
</file>