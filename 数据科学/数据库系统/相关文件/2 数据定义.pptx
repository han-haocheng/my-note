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5" r:id="rId4"/>
    <p:sldMasterId id="2147483688" r:id="rId5"/>
  </p:sldMasterIdLst>
  <p:sldIdLst>
    <p:sldId id="256" r:id="rId6"/>
    <p:sldId id="2003" r:id="rId7"/>
    <p:sldId id="2004" r:id="rId8"/>
    <p:sldId id="2005" r:id="rId9"/>
    <p:sldId id="2006" r:id="rId10"/>
    <p:sldId id="257" r:id="rId11"/>
    <p:sldId id="260" r:id="rId12"/>
    <p:sldId id="266" r:id="rId13"/>
    <p:sldId id="274" r:id="rId14"/>
    <p:sldId id="1431" r:id="rId15"/>
    <p:sldId id="279" r:id="rId16"/>
    <p:sldId id="284" r:id="rId17"/>
    <p:sldId id="291" r:id="rId18"/>
    <p:sldId id="1432" r:id="rId19"/>
    <p:sldId id="295" r:id="rId20"/>
    <p:sldId id="301" r:id="rId21"/>
    <p:sldId id="306" r:id="rId22"/>
    <p:sldId id="309" r:id="rId23"/>
    <p:sldId id="314" r:id="rId24"/>
    <p:sldId id="318" r:id="rId25"/>
    <p:sldId id="323" r:id="rId26"/>
    <p:sldId id="335" r:id="rId27"/>
    <p:sldId id="342" r:id="rId28"/>
    <p:sldId id="1433" r:id="rId29"/>
    <p:sldId id="350" r:id="rId30"/>
    <p:sldId id="355" r:id="rId31"/>
    <p:sldId id="362" r:id="rId32"/>
    <p:sldId id="369" r:id="rId33"/>
    <p:sldId id="373" r:id="rId34"/>
    <p:sldId id="376" r:id="rId35"/>
    <p:sldId id="387" r:id="rId36"/>
    <p:sldId id="1649" r:id="rId37"/>
    <p:sldId id="1650" r:id="rId38"/>
    <p:sldId id="1651" r:id="rId39"/>
    <p:sldId id="391" r:id="rId40"/>
    <p:sldId id="1434" r:id="rId41"/>
    <p:sldId id="396" r:id="rId42"/>
    <p:sldId id="400" r:id="rId43"/>
    <p:sldId id="405" r:id="rId44"/>
    <p:sldId id="418" r:id="rId45"/>
    <p:sldId id="409" r:id="rId46"/>
    <p:sldId id="422" r:id="rId47"/>
    <p:sldId id="2007" r:id="rId48"/>
    <p:sldId id="436" r:id="rId49"/>
    <p:sldId id="1435" r:id="rId50"/>
    <p:sldId id="440" r:id="rId51"/>
    <p:sldId id="446" r:id="rId52"/>
    <p:sldId id="2009" r:id="rId53"/>
    <p:sldId id="451" r:id="rId54"/>
    <p:sldId id="2008" r:id="rId55"/>
    <p:sldId id="461" r:id="rId56"/>
    <p:sldId id="471" r:id="rId57"/>
    <p:sldId id="483" r:id="rId58"/>
    <p:sldId id="499" r:id="rId59"/>
    <p:sldId id="1436" r:id="rId60"/>
    <p:sldId id="506" r:id="rId61"/>
    <p:sldId id="509" r:id="rId62"/>
    <p:sldId id="515" r:id="rId63"/>
    <p:sldId id="518" r:id="rId64"/>
    <p:sldId id="524" r:id="rId65"/>
    <p:sldId id="1437" r:id="rId66"/>
    <p:sldId id="528" r:id="rId67"/>
    <p:sldId id="531" r:id="rId68"/>
    <p:sldId id="535" r:id="rId69"/>
    <p:sldId id="537" r:id="rId70"/>
    <p:sldId id="540" r:id="rId71"/>
    <p:sldId id="548" r:id="rId72"/>
    <p:sldId id="551" r:id="rId73"/>
    <p:sldId id="553" r:id="rId74"/>
    <p:sldId id="556" r:id="rId75"/>
    <p:sldId id="560" r:id="rId76"/>
    <p:sldId id="572" r:id="rId77"/>
    <p:sldId id="579" r:id="rId78"/>
    <p:sldId id="583" r:id="rId79"/>
    <p:sldId id="586" r:id="rId80"/>
    <p:sldId id="589" r:id="rId81"/>
    <p:sldId id="1848" r:id="rId82"/>
    <p:sldId id="1849" r:id="rId83"/>
    <p:sldId id="1850" r:id="rId84"/>
    <p:sldId id="606" r:id="rId85"/>
    <p:sldId id="604" r:id="rId86"/>
    <p:sldId id="613" r:id="rId87"/>
    <p:sldId id="625" r:id="rId88"/>
    <p:sldId id="636" r:id="rId89"/>
    <p:sldId id="642" r:id="rId90"/>
    <p:sldId id="646" r:id="rId91"/>
    <p:sldId id="652" r:id="rId92"/>
    <p:sldId id="664" r:id="rId93"/>
    <p:sldId id="669" r:id="rId94"/>
    <p:sldId id="674" r:id="rId95"/>
    <p:sldId id="687" r:id="rId96"/>
    <p:sldId id="691" r:id="rId97"/>
    <p:sldId id="696" r:id="rId98"/>
    <p:sldId id="1438" r:id="rId99"/>
    <p:sldId id="703" r:id="rId100"/>
    <p:sldId id="709" r:id="rId101"/>
    <p:sldId id="716" r:id="rId102"/>
    <p:sldId id="717" r:id="rId103"/>
    <p:sldId id="724" r:id="rId104"/>
    <p:sldId id="730" r:id="rId105"/>
    <p:sldId id="737" r:id="rId106"/>
    <p:sldId id="750" r:id="rId107"/>
    <p:sldId id="756" r:id="rId108"/>
    <p:sldId id="763" r:id="rId109"/>
    <p:sldId id="768" r:id="rId110"/>
    <p:sldId id="1439" r:id="rId111"/>
    <p:sldId id="775" r:id="rId112"/>
    <p:sldId id="788" r:id="rId113"/>
    <p:sldId id="793" r:id="rId114"/>
    <p:sldId id="1440" r:id="rId115"/>
    <p:sldId id="800" r:id="rId116"/>
    <p:sldId id="1441" r:id="rId117"/>
    <p:sldId id="819" r:id="rId118"/>
    <p:sldId id="2002" r:id="rId119"/>
    <p:sldId id="1442" r:id="rId120"/>
    <p:sldId id="834" r:id="rId121"/>
    <p:sldId id="840" r:id="rId122"/>
    <p:sldId id="846" r:id="rId123"/>
    <p:sldId id="1444" r:id="rId124"/>
    <p:sldId id="1443" r:id="rId125"/>
    <p:sldId id="1445" r:id="rId126"/>
    <p:sldId id="854" r:id="rId127"/>
    <p:sldId id="857" r:id="rId128"/>
    <p:sldId id="863" r:id="rId129"/>
    <p:sldId id="868" r:id="rId130"/>
    <p:sldId id="873" r:id="rId131"/>
    <p:sldId id="877" r:id="rId132"/>
    <p:sldId id="884" r:id="rId133"/>
    <p:sldId id="887" r:id="rId134"/>
    <p:sldId id="1446" r:id="rId135"/>
    <p:sldId id="893" r:id="rId136"/>
    <p:sldId id="898" r:id="rId137"/>
    <p:sldId id="901" r:id="rId138"/>
    <p:sldId id="1447" r:id="rId139"/>
    <p:sldId id="905" r:id="rId140"/>
    <p:sldId id="909" r:id="rId141"/>
    <p:sldId id="914" r:id="rId142"/>
    <p:sldId id="1448" r:id="rId143"/>
    <p:sldId id="920" r:id="rId144"/>
    <p:sldId id="924" r:id="rId145"/>
    <p:sldId id="1453" r:id="rId146"/>
    <p:sldId id="1452" r:id="rId147"/>
    <p:sldId id="927" r:id="rId148"/>
    <p:sldId id="942" r:id="rId149"/>
    <p:sldId id="1449" r:id="rId150"/>
    <p:sldId id="944" r:id="rId151"/>
    <p:sldId id="947" r:id="rId152"/>
    <p:sldId id="1450" r:id="rId153"/>
    <p:sldId id="956" r:id="rId154"/>
    <p:sldId id="963" r:id="rId155"/>
    <p:sldId id="968" r:id="rId156"/>
    <p:sldId id="973" r:id="rId157"/>
    <p:sldId id="981" r:id="rId158"/>
    <p:sldId id="984" r:id="rId159"/>
    <p:sldId id="1000" r:id="rId160"/>
    <p:sldId id="1004" r:id="rId161"/>
    <p:sldId id="1009" r:id="rId162"/>
    <p:sldId id="1018" r:id="rId163"/>
    <p:sldId id="1032" r:id="rId164"/>
    <p:sldId id="1035" r:id="rId165"/>
    <p:sldId id="1049" r:id="rId166"/>
    <p:sldId id="1454" r:id="rId167"/>
    <p:sldId id="1055" r:id="rId168"/>
    <p:sldId id="1461" r:id="rId169"/>
    <p:sldId id="1058" r:id="rId170"/>
    <p:sldId id="1062" r:id="rId171"/>
    <p:sldId id="1455" r:id="rId172"/>
    <p:sldId id="1068" r:id="rId173"/>
    <p:sldId id="1073" r:id="rId174"/>
    <p:sldId id="1077" r:id="rId175"/>
    <p:sldId id="1456" r:id="rId176"/>
    <p:sldId id="1082" r:id="rId177"/>
    <p:sldId id="1086" r:id="rId178"/>
    <p:sldId id="1093" r:id="rId179"/>
    <p:sldId id="1457" r:id="rId180"/>
    <p:sldId id="1108" r:id="rId181"/>
    <p:sldId id="1458" r:id="rId182"/>
    <p:sldId id="1112" r:id="rId183"/>
    <p:sldId id="1459" r:id="rId184"/>
    <p:sldId id="1129" r:id="rId185"/>
    <p:sldId id="1132" r:id="rId186"/>
    <p:sldId id="2001" r:id="rId187"/>
    <p:sldId id="1134" r:id="rId188"/>
    <p:sldId id="1138" r:id="rId189"/>
    <p:sldId id="1141" r:id="rId190"/>
    <p:sldId id="1144" r:id="rId191"/>
    <p:sldId id="1460" r:id="rId192"/>
    <p:sldId id="1164" r:id="rId193"/>
    <p:sldId id="1167" r:id="rId194"/>
    <p:sldId id="1171" r:id="rId195"/>
    <p:sldId id="1176" r:id="rId196"/>
    <p:sldId id="1180" r:id="rId197"/>
    <p:sldId id="1183" r:id="rId198"/>
    <p:sldId id="1462" r:id="rId199"/>
    <p:sldId id="1188" r:id="rId200"/>
    <p:sldId id="1192" r:id="rId201"/>
    <p:sldId id="1194" r:id="rId202"/>
    <p:sldId id="1199" r:id="rId203"/>
    <p:sldId id="1211" r:id="rId204"/>
    <p:sldId id="1463" r:id="rId205"/>
    <p:sldId id="1230" r:id="rId206"/>
    <p:sldId id="1232" r:id="rId207"/>
    <p:sldId id="1238" r:id="rId208"/>
    <p:sldId id="1464" r:id="rId209"/>
    <p:sldId id="1256" r:id="rId210"/>
    <p:sldId id="1263" r:id="rId211"/>
    <p:sldId id="1267" r:id="rId212"/>
    <p:sldId id="1465" r:id="rId213"/>
    <p:sldId id="1273" r:id="rId214"/>
    <p:sldId id="1279" r:id="rId215"/>
    <p:sldId id="1296" r:id="rId216"/>
    <p:sldId id="1301" r:id="rId217"/>
    <p:sldId id="1305" r:id="rId218"/>
    <p:sldId id="1311" r:id="rId219"/>
    <p:sldId id="1315" r:id="rId220"/>
    <p:sldId id="1320" r:id="rId221"/>
    <p:sldId id="1325" r:id="rId222"/>
    <p:sldId id="1331" r:id="rId223"/>
    <p:sldId id="1466" r:id="rId224"/>
    <p:sldId id="1468" r:id="rId225"/>
    <p:sldId id="1336" r:id="rId226"/>
    <p:sldId id="1340" r:id="rId227"/>
    <p:sldId id="1347" r:id="rId228"/>
    <p:sldId id="1352" r:id="rId229"/>
    <p:sldId id="1359" r:id="rId230"/>
    <p:sldId id="1365" r:id="rId231"/>
    <p:sldId id="1370" r:id="rId232"/>
    <p:sldId id="1374" r:id="rId233"/>
    <p:sldId id="1377" r:id="rId234"/>
    <p:sldId id="1425" r:id="rId235"/>
    <p:sldId id="1430" r:id="rId236"/>
  </p:sldIdLst>
  <p:sldSz cx="9144000" cy="6858000" type="screen4x3"/>
  <p:notesSz cx="6858000" cy="9144000"/>
  <p:custDataLst>
    <p:tags r:id="rId24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99FFCC"/>
    <a:srgbClr val="FF3300"/>
    <a:srgbClr val="660033"/>
    <a:srgbClr val="FFFF99"/>
    <a:srgbClr val="111111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976"/>
    <p:restoredTop sz="94607"/>
  </p:normalViewPr>
  <p:slideViewPr>
    <p:cSldViewPr showGuides="1">
      <p:cViewPr varScale="1">
        <p:scale>
          <a:sx n="61" d="100"/>
          <a:sy n="61" d="100"/>
        </p:scale>
        <p:origin x="84" y="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" Type="http://schemas.openxmlformats.org/officeDocument/2006/relationships/slide" Target="slides/slide4.xml"/><Relationship Id="rId89" Type="http://schemas.openxmlformats.org/officeDocument/2006/relationships/slide" Target="slides/slide84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80" Type="http://schemas.openxmlformats.org/officeDocument/2006/relationships/slide" Target="slides/slide75.xml"/><Relationship Id="rId8" Type="http://schemas.openxmlformats.org/officeDocument/2006/relationships/slide" Target="slides/slide3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7" Type="http://schemas.openxmlformats.org/officeDocument/2006/relationships/slide" Target="slides/slide2.xml"/><Relationship Id="rId69" Type="http://schemas.openxmlformats.org/officeDocument/2006/relationships/slide" Target="slides/slide64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slide" Target="slides/slide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0" Type="http://schemas.openxmlformats.org/officeDocument/2006/relationships/tags" Target="tags/tag26.xml"/><Relationship Id="rId24" Type="http://schemas.openxmlformats.org/officeDocument/2006/relationships/slide" Target="slides/slide19.xml"/><Relationship Id="rId239" Type="http://schemas.openxmlformats.org/officeDocument/2006/relationships/tableStyles" Target="tableStyles.xml"/><Relationship Id="rId238" Type="http://schemas.openxmlformats.org/officeDocument/2006/relationships/viewProps" Target="viewProps.xml"/><Relationship Id="rId237" Type="http://schemas.openxmlformats.org/officeDocument/2006/relationships/presProps" Target="presProps.xml"/><Relationship Id="rId236" Type="http://schemas.openxmlformats.org/officeDocument/2006/relationships/slide" Target="slides/slide231.xml"/><Relationship Id="rId235" Type="http://schemas.openxmlformats.org/officeDocument/2006/relationships/slide" Target="slides/slide230.xml"/><Relationship Id="rId234" Type="http://schemas.openxmlformats.org/officeDocument/2006/relationships/slide" Target="slides/slide229.xml"/><Relationship Id="rId233" Type="http://schemas.openxmlformats.org/officeDocument/2006/relationships/slide" Target="slides/slide228.xml"/><Relationship Id="rId232" Type="http://schemas.openxmlformats.org/officeDocument/2006/relationships/slide" Target="slides/slide227.xml"/><Relationship Id="rId231" Type="http://schemas.openxmlformats.org/officeDocument/2006/relationships/slide" Target="slides/slide226.xml"/><Relationship Id="rId230" Type="http://schemas.openxmlformats.org/officeDocument/2006/relationships/slide" Target="slides/slide225.xml"/><Relationship Id="rId23" Type="http://schemas.openxmlformats.org/officeDocument/2006/relationships/slide" Target="slides/slide18.xml"/><Relationship Id="rId229" Type="http://schemas.openxmlformats.org/officeDocument/2006/relationships/slide" Target="slides/slide224.xml"/><Relationship Id="rId228" Type="http://schemas.openxmlformats.org/officeDocument/2006/relationships/slide" Target="slides/slide223.xml"/><Relationship Id="rId227" Type="http://schemas.openxmlformats.org/officeDocument/2006/relationships/slide" Target="slides/slide222.xml"/><Relationship Id="rId226" Type="http://schemas.openxmlformats.org/officeDocument/2006/relationships/slide" Target="slides/slide221.xml"/><Relationship Id="rId225" Type="http://schemas.openxmlformats.org/officeDocument/2006/relationships/slide" Target="slides/slide220.xml"/><Relationship Id="rId224" Type="http://schemas.openxmlformats.org/officeDocument/2006/relationships/slide" Target="slides/slide219.xml"/><Relationship Id="rId223" Type="http://schemas.openxmlformats.org/officeDocument/2006/relationships/slide" Target="slides/slide218.xml"/><Relationship Id="rId222" Type="http://schemas.openxmlformats.org/officeDocument/2006/relationships/slide" Target="slides/slide217.xml"/><Relationship Id="rId221" Type="http://schemas.openxmlformats.org/officeDocument/2006/relationships/slide" Target="slides/slide216.xml"/><Relationship Id="rId220" Type="http://schemas.openxmlformats.org/officeDocument/2006/relationships/slide" Target="slides/slide215.xml"/><Relationship Id="rId22" Type="http://schemas.openxmlformats.org/officeDocument/2006/relationships/slide" Target="slides/slide17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21" Type="http://schemas.openxmlformats.org/officeDocument/2006/relationships/slide" Target="slides/slide16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9" Type="http://schemas.openxmlformats.org/officeDocument/2006/relationships/slide" Target="slides/slide194.xml"/><Relationship Id="rId198" Type="http://schemas.openxmlformats.org/officeDocument/2006/relationships/slide" Target="slides/slide193.xml"/><Relationship Id="rId197" Type="http://schemas.openxmlformats.org/officeDocument/2006/relationships/slide" Target="slides/slide192.xml"/><Relationship Id="rId196" Type="http://schemas.openxmlformats.org/officeDocument/2006/relationships/slide" Target="slides/slide191.xml"/><Relationship Id="rId195" Type="http://schemas.openxmlformats.org/officeDocument/2006/relationships/slide" Target="slides/slide190.xml"/><Relationship Id="rId194" Type="http://schemas.openxmlformats.org/officeDocument/2006/relationships/slide" Target="slides/slide189.xml"/><Relationship Id="rId193" Type="http://schemas.openxmlformats.org/officeDocument/2006/relationships/slide" Target="slides/slide188.xml"/><Relationship Id="rId192" Type="http://schemas.openxmlformats.org/officeDocument/2006/relationships/slide" Target="slides/slide187.xml"/><Relationship Id="rId191" Type="http://schemas.openxmlformats.org/officeDocument/2006/relationships/slide" Target="slides/slide186.xml"/><Relationship Id="rId190" Type="http://schemas.openxmlformats.org/officeDocument/2006/relationships/slide" Target="slides/slide185.xml"/><Relationship Id="rId19" Type="http://schemas.openxmlformats.org/officeDocument/2006/relationships/slide" Target="slides/slide14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187" Type="http://schemas.openxmlformats.org/officeDocument/2006/relationships/slide" Target="slides/slide18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184" Type="http://schemas.openxmlformats.org/officeDocument/2006/relationships/slide" Target="slides/slide179.xml"/><Relationship Id="rId183" Type="http://schemas.openxmlformats.org/officeDocument/2006/relationships/slide" Target="slides/slide178.xml"/><Relationship Id="rId182" Type="http://schemas.openxmlformats.org/officeDocument/2006/relationships/slide" Target="slides/slide177.xml"/><Relationship Id="rId181" Type="http://schemas.openxmlformats.org/officeDocument/2006/relationships/slide" Target="slides/slide176.xml"/><Relationship Id="rId180" Type="http://schemas.openxmlformats.org/officeDocument/2006/relationships/slide" Target="slides/slide175.xml"/><Relationship Id="rId18" Type="http://schemas.openxmlformats.org/officeDocument/2006/relationships/slide" Target="slides/slide13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176" Type="http://schemas.openxmlformats.org/officeDocument/2006/relationships/slide" Target="slides/slide171.xml"/><Relationship Id="rId175" Type="http://schemas.openxmlformats.org/officeDocument/2006/relationships/slide" Target="slides/slide170.xml"/><Relationship Id="rId174" Type="http://schemas.openxmlformats.org/officeDocument/2006/relationships/slide" Target="slides/slide169.xml"/><Relationship Id="rId173" Type="http://schemas.openxmlformats.org/officeDocument/2006/relationships/slide" Target="slides/slide168.xml"/><Relationship Id="rId172" Type="http://schemas.openxmlformats.org/officeDocument/2006/relationships/slide" Target="slides/slide167.xml"/><Relationship Id="rId171" Type="http://schemas.openxmlformats.org/officeDocument/2006/relationships/slide" Target="slides/slide166.xml"/><Relationship Id="rId170" Type="http://schemas.openxmlformats.org/officeDocument/2006/relationships/slide" Target="slides/slide165.xml"/><Relationship Id="rId17" Type="http://schemas.openxmlformats.org/officeDocument/2006/relationships/slide" Target="slides/slide12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165" Type="http://schemas.openxmlformats.org/officeDocument/2006/relationships/slide" Target="slides/slide160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1" Type="http://schemas.openxmlformats.org/officeDocument/2006/relationships/slide" Target="slides/slide156.xml"/><Relationship Id="rId160" Type="http://schemas.openxmlformats.org/officeDocument/2006/relationships/slide" Target="slides/slide155.xml"/><Relationship Id="rId16" Type="http://schemas.openxmlformats.org/officeDocument/2006/relationships/slide" Target="slides/slide11.xml"/><Relationship Id="rId159" Type="http://schemas.openxmlformats.org/officeDocument/2006/relationships/slide" Target="slides/slide154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54" Type="http://schemas.openxmlformats.org/officeDocument/2006/relationships/slide" Target="slides/slide149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0" Type="http://schemas.openxmlformats.org/officeDocument/2006/relationships/slide" Target="slides/slide145.xml"/><Relationship Id="rId15" Type="http://schemas.openxmlformats.org/officeDocument/2006/relationships/slide" Target="slides/slide10.xml"/><Relationship Id="rId149" Type="http://schemas.openxmlformats.org/officeDocument/2006/relationships/slide" Target="slides/slide144.xml"/><Relationship Id="rId148" Type="http://schemas.openxmlformats.org/officeDocument/2006/relationships/slide" Target="slides/slide143.xml"/><Relationship Id="rId147" Type="http://schemas.openxmlformats.org/officeDocument/2006/relationships/slide" Target="slides/slide142.xml"/><Relationship Id="rId146" Type="http://schemas.openxmlformats.org/officeDocument/2006/relationships/slide" Target="slides/slide141.xml"/><Relationship Id="rId145" Type="http://schemas.openxmlformats.org/officeDocument/2006/relationships/slide" Target="slides/slide140.xml"/><Relationship Id="rId144" Type="http://schemas.openxmlformats.org/officeDocument/2006/relationships/slide" Target="slides/slide139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14" Type="http://schemas.openxmlformats.org/officeDocument/2006/relationships/slide" Target="slides/slide9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" Type="http://schemas.openxmlformats.org/officeDocument/2006/relationships/slide" Target="slides/slide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" Type="http://schemas.openxmlformats.org/officeDocument/2006/relationships/slide" Target="slides/slide7.xml"/><Relationship Id="rId119" Type="http://schemas.openxmlformats.org/officeDocument/2006/relationships/slide" Target="slides/slide114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110" Type="http://schemas.openxmlformats.org/officeDocument/2006/relationships/slide" Target="slides/slide105.xml"/><Relationship Id="rId11" Type="http://schemas.openxmlformats.org/officeDocument/2006/relationships/slide" Target="slides/slide6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219200"/>
            <a:ext cx="7721600" cy="1143000"/>
          </a:xfrm>
        </p:spPr>
        <p:txBody>
          <a:bodyPr wrap="square" lIns="91440" tIns="45720" rIns="91440" bIns="45720" anchor="b"/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defRPr sz="4800">
                <a:latin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zh-CN" noProof="1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352800"/>
            <a:ext cx="7620000" cy="2305050"/>
          </a:xfrm>
        </p:spPr>
        <p:txBody>
          <a:bodyPr/>
          <a:lstStyle>
            <a:lvl1pPr marL="0" indent="0" algn="ctr">
              <a:spcAft>
                <a:spcPct val="20000"/>
              </a:spcAft>
              <a:buFont typeface="Wingdings" panose="05000000000000000000" pitchFamily="2" charset="2"/>
              <a:buNone/>
              <a:defRPr sz="440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44450"/>
            <a:ext cx="2195513" cy="66246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437312" cy="66246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0"/>
            <a:ext cx="9144000" cy="812800"/>
          </a:xfrm>
          <a:prstGeom prst="rect">
            <a:avLst/>
          </a:prstGeom>
          <a:solidFill>
            <a:srgbClr val="2975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1219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6" name="爆炸形: 8 pt  5"/>
          <p:cNvSpPr/>
          <p:nvPr userDrawn="1"/>
        </p:nvSpPr>
        <p:spPr>
          <a:xfrm>
            <a:off x="152400" y="61701"/>
            <a:ext cx="311476" cy="556366"/>
          </a:xfrm>
          <a:prstGeom prst="irregularSeal1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5" tIns="34287" rIns="68575" bIns="34287" rtlCol="0" anchor="ctr"/>
          <a:lstStyle/>
          <a:p>
            <a:pPr algn="ctr" defTabSz="914400"/>
            <a:endParaRPr lang="zh-CN" altLang="en-US" sz="1400">
              <a:solidFill>
                <a:srgbClr val="E7E6E6">
                  <a:lumMod val="50000"/>
                </a:srgb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直接连接符 11"/>
          <p:cNvSpPr>
            <a:spLocks noChangeShapeType="1"/>
          </p:cNvSpPr>
          <p:nvPr userDrawn="1"/>
        </p:nvSpPr>
        <p:spPr bwMode="auto">
          <a:xfrm>
            <a:off x="0" y="618067"/>
            <a:ext cx="4365971" cy="0"/>
          </a:xfrm>
          <a:prstGeom prst="line">
            <a:avLst/>
          </a:prstGeom>
          <a:noFill/>
          <a:ln w="28575" cap="flat" cmpd="sng">
            <a:solidFill>
              <a:schemeClr val="bg1">
                <a:lumMod val="85000"/>
              </a:schemeClr>
            </a:solidFill>
            <a:prstDash val="solid"/>
            <a:bevel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5">
              <a:solidFill>
                <a:schemeClr val="accent1"/>
              </a:solidFill>
            </a:endParaRPr>
          </a:p>
        </p:txBody>
      </p:sp>
      <p:pic>
        <p:nvPicPr>
          <p:cNvPr id="16" name="图片 7" descr="背景图案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15000"/>
          </a:blip>
          <a:srcRect l="67931"/>
          <a:stretch>
            <a:fillRect/>
          </a:stretch>
        </p:blipFill>
        <p:spPr>
          <a:xfrm>
            <a:off x="6479887" y="1215545"/>
            <a:ext cx="2571750" cy="514350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</p:spPr>
      </p:pic>
    </p:spTree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219200"/>
            <a:ext cx="7721600" cy="1143000"/>
          </a:xfrm>
        </p:spPr>
        <p:txBody>
          <a:bodyPr wrap="square" lIns="91440" tIns="45720" rIns="91440" bIns="45720" anchor="b"/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defRPr sz="4800">
                <a:latin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zh-CN" noProof="1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352800"/>
            <a:ext cx="7620000" cy="2305050"/>
          </a:xfrm>
        </p:spPr>
        <p:txBody>
          <a:bodyPr/>
          <a:lstStyle>
            <a:lvl1pPr marL="0" indent="0" algn="ctr">
              <a:spcAft>
                <a:spcPct val="20000"/>
              </a:spcAft>
              <a:buFont typeface="Wingdings" panose="05000000000000000000" pitchFamily="2" charset="2"/>
              <a:buNone/>
              <a:defRPr sz="440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44450"/>
            <a:ext cx="2195513" cy="66246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437312" cy="66246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219200"/>
            <a:ext cx="7721600" cy="1143000"/>
          </a:xfrm>
        </p:spPr>
        <p:txBody>
          <a:bodyPr wrap="square" lIns="91440" tIns="45720" rIns="91440" bIns="45720" anchor="b"/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defRPr sz="4800">
                <a:latin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zh-CN" noProof="1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352800"/>
            <a:ext cx="7620000" cy="2305050"/>
          </a:xfrm>
        </p:spPr>
        <p:txBody>
          <a:bodyPr/>
          <a:lstStyle>
            <a:lvl1pPr marL="0" indent="0" algn="ctr">
              <a:spcAft>
                <a:spcPct val="20000"/>
              </a:spcAft>
              <a:buFont typeface="Wingdings" panose="05000000000000000000" pitchFamily="2" charset="2"/>
              <a:buNone/>
              <a:defRPr sz="440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44450"/>
            <a:ext cx="2195513" cy="66246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437312" cy="66246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219200"/>
            <a:ext cx="7721600" cy="1143000"/>
          </a:xfrm>
        </p:spPr>
        <p:txBody>
          <a:bodyPr wrap="square" lIns="91440" tIns="45720" rIns="91440" bIns="45720" anchor="b"/>
          <a:lstStyle>
            <a:lvl1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defRPr sz="4800">
                <a:latin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zh-CN" noProof="1"/>
          </a:p>
        </p:txBody>
      </p:sp>
      <p:sp>
        <p:nvSpPr>
          <p:cNvPr id="1216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352800"/>
            <a:ext cx="7620000" cy="2305050"/>
          </a:xfrm>
        </p:spPr>
        <p:txBody>
          <a:bodyPr/>
          <a:lstStyle>
            <a:lvl1pPr marL="0" indent="0" algn="ctr">
              <a:spcAft>
                <a:spcPct val="20000"/>
              </a:spcAft>
              <a:buFont typeface="Wingdings" panose="05000000000000000000" pitchFamily="2" charset="2"/>
              <a:buNone/>
              <a:defRPr sz="440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defRPr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44450"/>
            <a:ext cx="2195513" cy="66246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437312" cy="66246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692150"/>
            <a:ext cx="4316412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692150"/>
            <a:ext cx="4316413" cy="59769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4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4" Type="http://schemas.openxmlformats.org/officeDocument/2006/relationships/image" Target="../media/image4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5" Type="http://schemas.openxmlformats.org/officeDocument/2006/relationships/theme" Target="../theme/theme4.xml"/><Relationship Id="rId14" Type="http://schemas.openxmlformats.org/officeDocument/2006/relationships/image" Target="../media/image4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179388" y="692150"/>
            <a:ext cx="8785225" cy="59769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 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 第二级</a:t>
            </a:r>
            <a:endParaRPr lang="zh-CN" altLang="en-US" dirty="0"/>
          </a:p>
          <a:p>
            <a:pPr lvl="2"/>
            <a:r>
              <a:rPr lang="zh-CN" altLang="en-US" dirty="0"/>
              <a:t> 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1028" name="Picture 4" descr="BD21309_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549275"/>
            <a:ext cx="9144000" cy="73025"/>
          </a:xfrm>
          <a:prstGeom prst="rect">
            <a:avLst/>
          </a:prstGeom>
          <a:noFill/>
          <a:ln w="9525">
            <a:noFill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sldNum="0" hdr="0" ft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2pPr>
      <a:lvl3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3pPr>
      <a:lvl4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4pPr>
      <a:lvl5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5pPr>
      <a:lvl6pPr marL="4572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6pPr>
      <a:lvl7pPr marL="9144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7pPr>
      <a:lvl8pPr marL="13716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8pPr>
      <a:lvl9pPr marL="18288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SzPct val="70000"/>
        <a:buFont typeface="Wingdings" panose="05000000000000000000" pitchFamily="2" charset="2"/>
        <a:buChar char="n"/>
        <a:defRPr sz="3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D60093"/>
        </a:buClr>
        <a:buSzPct val="80000"/>
        <a:buFont typeface="Wingdings" panose="05000000000000000000" pitchFamily="2" charset="2"/>
        <a:buChar char="l"/>
        <a:defRPr sz="32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60000"/>
        <a:buFont typeface="Wingdings" panose="05000000000000000000" pitchFamily="2" charset="2"/>
        <a:buChar char="u"/>
        <a:defRPr sz="3000" b="1">
          <a:solidFill>
            <a:schemeClr val="hlink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179388" y="692150"/>
            <a:ext cx="8785225" cy="59769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 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 第二级</a:t>
            </a:r>
            <a:endParaRPr lang="zh-CN" altLang="en-US" dirty="0"/>
          </a:p>
          <a:p>
            <a:pPr lvl="2"/>
            <a:r>
              <a:rPr lang="zh-CN" altLang="en-US" dirty="0"/>
              <a:t> 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2052" name="Picture 4" descr="BD21309_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549275"/>
            <a:ext cx="9144000" cy="73025"/>
          </a:xfrm>
          <a:prstGeom prst="rect">
            <a:avLst/>
          </a:prstGeom>
          <a:noFill/>
          <a:ln w="9525">
            <a:noFill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ransition>
    <p:random/>
  </p:transition>
  <p:hf sldNum="0" hdr="0" ft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2pPr>
      <a:lvl3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3pPr>
      <a:lvl4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4pPr>
      <a:lvl5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5pPr>
      <a:lvl6pPr marL="4572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6pPr>
      <a:lvl7pPr marL="9144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7pPr>
      <a:lvl8pPr marL="13716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8pPr>
      <a:lvl9pPr marL="18288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SzPct val="70000"/>
        <a:buFont typeface="Wingdings" panose="05000000000000000000" pitchFamily="2" charset="2"/>
        <a:buChar char="n"/>
        <a:defRPr sz="3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D60093"/>
        </a:buClr>
        <a:buSzPct val="80000"/>
        <a:buFont typeface="Wingdings" panose="05000000000000000000" pitchFamily="2" charset="2"/>
        <a:buChar char="l"/>
        <a:defRPr sz="32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60000"/>
        <a:buFont typeface="Wingdings" panose="05000000000000000000" pitchFamily="2" charset="2"/>
        <a:buChar char="u"/>
        <a:defRPr sz="3000" b="1">
          <a:solidFill>
            <a:schemeClr val="hlink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/>
          </p:cNvSpPr>
          <p:nvPr>
            <p:ph type="body"/>
          </p:nvPr>
        </p:nvSpPr>
        <p:spPr>
          <a:xfrm>
            <a:off x="179388" y="692150"/>
            <a:ext cx="8785225" cy="59769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 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 第二级</a:t>
            </a:r>
            <a:endParaRPr lang="zh-CN" altLang="en-US" dirty="0"/>
          </a:p>
          <a:p>
            <a:pPr lvl="2"/>
            <a:r>
              <a:rPr lang="zh-CN" altLang="en-US" dirty="0"/>
              <a:t> 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3076" name="Picture 4" descr="BD21309_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549275"/>
            <a:ext cx="9144000" cy="73025"/>
          </a:xfrm>
          <a:prstGeom prst="rect">
            <a:avLst/>
          </a:prstGeom>
          <a:noFill/>
          <a:ln w="9525">
            <a:noFill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ransition>
    <p:random/>
  </p:transition>
  <p:hf sldNum="0" hdr="0" ft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2pPr>
      <a:lvl3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3pPr>
      <a:lvl4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4pPr>
      <a:lvl5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5pPr>
      <a:lvl6pPr marL="4572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6pPr>
      <a:lvl7pPr marL="9144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7pPr>
      <a:lvl8pPr marL="13716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8pPr>
      <a:lvl9pPr marL="18288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SzPct val="70000"/>
        <a:buFont typeface="Wingdings" panose="05000000000000000000" pitchFamily="2" charset="2"/>
        <a:buChar char="n"/>
        <a:defRPr sz="3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D60093"/>
        </a:buClr>
        <a:buSzPct val="80000"/>
        <a:buFont typeface="Wingdings" panose="05000000000000000000" pitchFamily="2" charset="2"/>
        <a:buChar char="l"/>
        <a:defRPr sz="32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60000"/>
        <a:buFont typeface="Wingdings" panose="05000000000000000000" pitchFamily="2" charset="2"/>
        <a:buChar char="u"/>
        <a:defRPr sz="3000" b="1">
          <a:solidFill>
            <a:schemeClr val="hlink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250825" y="44450"/>
            <a:ext cx="8642350" cy="5048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179388" y="692150"/>
            <a:ext cx="8785225" cy="59769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 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 第二级</a:t>
            </a:r>
            <a:endParaRPr lang="zh-CN" altLang="en-US" dirty="0"/>
          </a:p>
          <a:p>
            <a:pPr lvl="2"/>
            <a:r>
              <a:rPr lang="zh-CN" altLang="en-US" dirty="0"/>
              <a:t> 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4100" name="Picture 4" descr="BD21309_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549275"/>
            <a:ext cx="9144000" cy="73025"/>
          </a:xfrm>
          <a:prstGeom prst="rect">
            <a:avLst/>
          </a:prstGeom>
          <a:noFill/>
          <a:ln w="9525">
            <a:noFill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ransition>
    <p:random/>
  </p:transition>
  <p:hf sldNum="0" hdr="0" ftr="0" dt="0"/>
  <p:txStyles>
    <p:titleStyle>
      <a:lvl1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2pPr>
      <a:lvl3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3pPr>
      <a:lvl4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4pPr>
      <a:lvl5pPr algn="ctr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5pPr>
      <a:lvl6pPr marL="4572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6pPr>
      <a:lvl7pPr marL="9144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7pPr>
      <a:lvl8pPr marL="13716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8pPr>
      <a:lvl9pPr marL="1828800" algn="ctr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隶书" pitchFamily="49" charset="-122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SzPct val="70000"/>
        <a:buFont typeface="Wingdings" panose="05000000000000000000" pitchFamily="2" charset="2"/>
        <a:buChar char="n"/>
        <a:defRPr sz="3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D60093"/>
        </a:buClr>
        <a:buSzPct val="80000"/>
        <a:buFont typeface="Wingdings" panose="05000000000000000000" pitchFamily="2" charset="2"/>
        <a:buChar char="l"/>
        <a:defRPr sz="32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60000"/>
        <a:buFont typeface="Wingdings" panose="05000000000000000000" pitchFamily="2" charset="2"/>
        <a:buChar char="u"/>
        <a:defRPr sz="3000" b="1">
          <a:solidFill>
            <a:schemeClr val="hlink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image" Target="../media/image5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image" Target="../media/image5.png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image" Target="../media/image5.png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1" Type="http://schemas.openxmlformats.org/officeDocument/2006/relationships/tags" Target="../tags/tag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2924175"/>
            <a:ext cx="7721600" cy="100965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第三章 数据定义</a:t>
            </a:r>
            <a:endParaRPr kumimoji="0" lang="zh-CN" altLang="en-US" sz="5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900113" y="1268413"/>
            <a:ext cx="7721600" cy="1008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宋体" panose="02010600030101010101" pitchFamily="2" charset="-122"/>
                <a:ea typeface="隶书" pitchFamily="49" charset="-122"/>
                <a:cs typeface="+mn-cs"/>
              </a:rPr>
              <a:t>MySQL </a:t>
            </a:r>
            <a:r>
              <a:rPr kumimoji="0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宋体" panose="02010600030101010101" pitchFamily="2" charset="-122"/>
                <a:ea typeface="隶书" pitchFamily="49" charset="-122"/>
                <a:cs typeface="+mn-cs"/>
              </a:rPr>
              <a:t>数据库程序设计</a:t>
            </a:r>
            <a:endParaRPr kumimoji="0" lang="zh-CN" altLang="en-US" sz="54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宋体" panose="02010600030101010101" pitchFamily="2" charset="-122"/>
              <a:ea typeface="隶书" pitchFamily="49" charset="-122"/>
              <a:cs typeface="+mn-cs"/>
            </a:endParaRP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2341563" y="5876925"/>
            <a:ext cx="4627563" cy="58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数据科学与计算机学院</a:t>
            </a:r>
            <a:endParaRPr kumimoji="0" lang="zh-CN" altLang="en-US" sz="3200" b="1" kern="1200" cap="none" spc="0" normalizeH="0" baseline="0" noProof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>
              <a:buNone/>
            </a:pPr>
            <a:endParaRPr lang="zh-CN" altLang="en-US" dirty="0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、删除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student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表中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sname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的唯一性约束。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grpSp>
        <p:nvGrpSpPr>
          <p:cNvPr id="11268" name="组合 1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272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273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1269" name="图片 3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文本框 2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、删除学生表中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sage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属性。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grpSp>
        <p:nvGrpSpPr>
          <p:cNvPr id="12292" name="组合 8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296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2297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2293" name="图片 1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文本框 2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1" hangingPunct="1"/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、给课程表添加自增加属性。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  <a:endParaRPr kumimoji="0" lang="zh-CN" altLang="en-US" sz="16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grpSp>
        <p:nvGrpSpPr>
          <p:cNvPr id="13316" name="组合 8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20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321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13317" name="图片 1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9"/>
    </p:custData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数据定义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可看作是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一个专门存储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对象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的容器。</a:t>
            </a:r>
            <a:endParaRPr kumimoji="0" lang="zh-CN" altLang="en-US" sz="3400" b="1" i="0" u="sng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这里的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对象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包括表、视图、触发器、存储过程等，其中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是最基本的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对象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中，必须首先创建好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，然后才能创建存放于数据库中的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对象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本章主要介绍在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中通过使用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语句创建和操作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的方法。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定义数据库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安装好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后，用户通过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客户端工具连接并登录到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服务器，就可以开始创建和使用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这其中会涉及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的创建、选择、查看、修改和删除等操作。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3.1.1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创建数据库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创建数据库是在系统磁盘上划分一块区域用于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管理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中创建数据库的基本语法格式是：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CREATE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{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DATABASE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SCHEMA }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IF NOT EXISTS]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db_name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[ DEFAULT]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CHARACTER SET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= 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charset_name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[ DEFAULT]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COLLATE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= 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collation</a:t>
            </a:r>
            <a:r>
              <a:rPr kumimoji="0" lang="en-US" altLang="zh-CN" sz="3200" b="1" i="0" u="sng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语法说明如下：语句中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[ ]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内为可选项。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语句中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|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用于分隔选择项，表示可任选其中一项，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的含义。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db_name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：数据库名。在文件系统中，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的数据存储区将以目录方式表示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数据文件的默认目录为：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C:\Documents and Settings\All Users\Application Data\MySQL\MySQL Server 5.5\data\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MySQL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命令中的数据库名字必须符合操作系统文件夹命名规则，而在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中不区分大小。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</a:t>
            </a:r>
            <a:endParaRPr lang="zh-CN" altLang="en-US" dirty="0"/>
          </a:p>
        </p:txBody>
      </p:sp>
      <p:sp>
        <p:nvSpPr>
          <p:cNvPr id="12195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IF NOT EXISTS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：该选项在创建数据库前进行判断，只有该数据库目前尚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不存在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时才执行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DATABASE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用此选项可以避免出现数据库已经存在而再新建的错误。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CHARACTER SET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：用于指定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字符集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(Charset)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charset_name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为字符集名称。简体中文字符集名称为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GB2312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 如：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DEFAULT CHARACTER SET GB2312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COLLATE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：用于指定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字符集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校对规则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collation_name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为校对规则的名称。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简体中文字符集的校对规则为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GB2312_chinese_ci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DEFAULT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：指定默认的数据库字符集和字符集的校对规则。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字符集：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utf8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校对规则：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utf8_general_ci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11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20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 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中创建一个名为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的数据库，输入语句如下：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CREATE DATABASE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 Rounded MT Bold" pitchFamily="34" charset="0"/>
                <a:ea typeface="黑体" panose="02010609060101010101" pitchFamily="49" charset="-122"/>
                <a:cs typeface="+mn-ea"/>
              </a:rPr>
              <a:t>db_school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 Rounded MT Bold" pitchFamily="34" charset="0"/>
              <a:ea typeface="黑体" panose="02010609060101010101" pitchFamily="49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CHARACTER SET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COLLATE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GB2312_chinese_ci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 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Qucry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 row affected (0.01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（注：教材例子都将基于这里创建的数据库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黑体" panose="02010609060101010101" pitchFamily="49" charset="-122"/>
                <a:cs typeface="+mn-cs"/>
              </a:rPr>
              <a:t>db_school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。）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上述命令执行成功后，系统会自动在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的缺省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安装路径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C:\Documents and Settings\All Users\Application Data\MySQL\MySQL Server 5.5\data\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C:\wamp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\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bin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\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\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mysql5.6.12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\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路径下创建一个与数据库名称相同的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文件夹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/>
          </a:p>
        </p:txBody>
      </p:sp>
      <p:sp>
        <p:nvSpPr>
          <p:cNvPr id="12216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其中包含一个名称为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db.opt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的文件，用于存储所创建数据库的全局特性，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如缺省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字符集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和缺省字符集的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校对规则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等。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若再次输入上述语句，系统会提示错误信息，如下所示：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CREATE DATABASE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db_school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CHARACTER SET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COLLATE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GB2312_chinese_ci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 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ERROR 1007 (HY000) : Can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 create dalabase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‘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db_school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; database exists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无法创建数据库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'db_school'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；数据库存在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由此可见，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不允许在同一系统中存在相同名称的数据库。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若在该数据库创建命令中加上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NOT EXISTS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子句，就可以避免系统报错。例如：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CREATE DATABASE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IF NOT EXISTS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db_school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CHARACTER SET GB2312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COLLATE GB2312_chinese_ci; 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系统显示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Query OK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 row affected (0.01 sec)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，表示新建数据库成功；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系统若显示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Query OK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 row affected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warning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(0.01 sec)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，表示该数据库已经经存在。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此外，用户在使用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DATABASE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SCHEMA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命令创建数据库时，必须获得相应的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权限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选择与查看数据库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3.1.2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选择与查看数据库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语句创建好数据库之后，可以选择某个数据库为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当前数据库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正在使用的数据库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，也可以查看当前可用的数据库列表。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选择数据库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USE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命令可以从当前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转到另一个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选择数据库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DATABASE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语句创建了数据库之后，该数据库不会自动成为当前数据库，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可使用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 Rounded MT Bold" pitchFamily="34" charset="0"/>
                <a:ea typeface="+mn-ea"/>
                <a:cs typeface="+mn-cs"/>
              </a:rPr>
              <a:t>USE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命令指定一个数据库为当前数据库，其语法格式是：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USE db_name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；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只有使用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命令指定某个数据库为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当前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之后，才能对该数据库及其存储的数据对象执行各种操作。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查看数据库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中，可使用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DATABASES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SCHEMAS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语句查看当前可用的数据库列表，其语法格式是：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SHOW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DATABASES | SCHEMAS };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SHOW DATABASES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SHOW SCHEMAS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命令，只会列出当前用户权限范围内所能查看到的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名称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dirty="0"/>
              <a:t> </a:t>
            </a:r>
            <a:r>
              <a:rPr lang="zh-CN" altLang="en-US" dirty="0"/>
              <a:t>例</a:t>
            </a:r>
            <a:r>
              <a:rPr lang="en-US" altLang="zh-CN" dirty="0"/>
              <a:t>3.2 </a:t>
            </a:r>
            <a:r>
              <a:rPr lang="zh-CN" altLang="en-US" dirty="0"/>
              <a:t>查看当前用户</a:t>
            </a:r>
            <a:r>
              <a:rPr lang="en-US" altLang="zh-CN" dirty="0"/>
              <a:t>(root)</a:t>
            </a:r>
            <a:r>
              <a:rPr lang="zh-CN" altLang="en-US" dirty="0"/>
              <a:t>可查看的数据库列表。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 在当前用户的</a:t>
            </a:r>
            <a:r>
              <a:rPr lang="en-US" altLang="zh-CN" dirty="0"/>
              <a:t>MySQL</a:t>
            </a:r>
            <a:r>
              <a:rPr lang="zh-CN" altLang="en-US" dirty="0"/>
              <a:t>命令行客户端输入如下语句：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111111"/>
                </a:solidFill>
              </a:rPr>
              <a:t>mysql&gt;</a:t>
            </a:r>
            <a:r>
              <a:rPr lang="en-US" altLang="zh-CN" dirty="0"/>
              <a:t> SHOW DATABASES;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dirty="0"/>
              <a:t> </a:t>
            </a:r>
            <a:r>
              <a:rPr lang="zh-CN" altLang="en-US" dirty="0"/>
              <a:t>其执行结果为：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660" name="矩形 170"/>
          <p:cNvSpPr/>
          <p:nvPr/>
        </p:nvSpPr>
        <p:spPr>
          <a:xfrm>
            <a:off x="5003800" y="3860800"/>
            <a:ext cx="3816350" cy="2857500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|  Databases                          |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|   </a:t>
            </a:r>
            <a:r>
              <a:rPr lang="de-DE" altLang="zh-CN" sz="2000" b="1" dirty="0">
                <a:latin typeface="Arial" panose="020B0604020202020204" pitchFamily="34" charset="0"/>
              </a:rPr>
              <a:t>Information_schema       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|</a:t>
            </a:r>
            <a:r>
              <a:rPr lang="de-DE" altLang="zh-CN" sz="2000" b="1" dirty="0">
                <a:latin typeface="Arial" panose="020B0604020202020204" pitchFamily="34" charset="0"/>
              </a:rPr>
              <a:t>    </a:t>
            </a:r>
            <a:endParaRPr lang="de-DE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|</a:t>
            </a: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de-DE" altLang="zh-CN" sz="2000" b="1" dirty="0">
                <a:latin typeface="Arial" panose="020B0604020202020204" pitchFamily="34" charset="0"/>
              </a:rPr>
              <a:t>db_school</a:t>
            </a:r>
            <a:r>
              <a:rPr lang="en-US" altLang="zh-CN" sz="2000" dirty="0">
                <a:latin typeface="Arial" panose="020B0604020202020204" pitchFamily="34" charset="0"/>
              </a:rPr>
              <a:t>                        </a:t>
            </a:r>
            <a:r>
              <a:rPr lang="en-US" altLang="zh-CN" sz="2000" b="1" dirty="0">
                <a:latin typeface="Arial" panose="020B0604020202020204" pitchFamily="34" charset="0"/>
              </a:rPr>
              <a:t>|</a:t>
            </a:r>
            <a:endParaRPr lang="de-DE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|</a:t>
            </a: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de-DE" altLang="zh-CN" sz="2000" b="1" dirty="0">
                <a:latin typeface="Arial" panose="020B0604020202020204" pitchFamily="34" charset="0"/>
              </a:rPr>
              <a:t>mysql                                </a:t>
            </a:r>
            <a:r>
              <a:rPr lang="en-US" altLang="zh-CN" sz="2000" b="1" dirty="0">
                <a:latin typeface="Arial" panose="020B0604020202020204" pitchFamily="34" charset="0"/>
              </a:rPr>
              <a:t>|</a:t>
            </a:r>
            <a:endParaRPr lang="de-DE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|</a:t>
            </a: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de-DE" altLang="zh-CN" sz="2000" b="1" dirty="0">
                <a:latin typeface="Arial" panose="020B0604020202020204" pitchFamily="34" charset="0"/>
              </a:rPr>
              <a:t>performance_schema     </a:t>
            </a:r>
            <a:r>
              <a:rPr lang="en-US" altLang="zh-CN" sz="2000" b="1" dirty="0">
                <a:latin typeface="Arial" panose="020B0604020202020204" pitchFamily="34" charset="0"/>
              </a:rPr>
              <a:t>|</a:t>
            </a:r>
            <a:endParaRPr lang="de-DE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</a:rPr>
              <a:t>|</a:t>
            </a: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de-DE" altLang="zh-CN" sz="2000" b="1" dirty="0">
                <a:latin typeface="Arial" panose="020B0604020202020204" pitchFamily="34" charset="0"/>
              </a:rPr>
              <a:t>tes</a:t>
            </a:r>
            <a:r>
              <a:rPr lang="en-US" altLang="zh-CN" sz="2000" b="1" dirty="0">
                <a:latin typeface="Arial" panose="020B0604020202020204" pitchFamily="34" charset="0"/>
              </a:rPr>
              <a:t>                                     |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1 row in set &lt;0.00 sec&gt;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395288" y="4365625"/>
            <a:ext cx="4321175" cy="1844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  <a:defRPr/>
            </a:pPr>
            <a:r>
              <a:rPr kumimoji="0" lang="zh-CN" altLang="en-US" sz="3200" b="1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可以看到，数据库列表中包含了刚才创建的数据库</a:t>
            </a:r>
            <a:r>
              <a:rPr kumimoji="0" lang="en-US" altLang="zh-CN" sz="3200" b="1" kern="1200" cap="none" spc="0" normalizeH="0" baseline="0" noProof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db_school</a:t>
            </a:r>
            <a:r>
              <a:rPr kumimoji="0" lang="zh-CN" altLang="en-US" sz="3200" b="1" kern="1200" cap="none" spc="0" normalizeH="0" baseline="0" noProof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  </a:t>
            </a:r>
            <a:endParaRPr kumimoji="0" lang="zh-CN" altLang="en-US" sz="3200" b="1" kern="1200" cap="none" spc="0" normalizeH="0" baseline="0" noProof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6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4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660">
                                            <p:txEl>
                                              <p:charRg st="41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82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660">
                                            <p:txEl>
                                              <p:charRg st="82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23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660">
                                            <p:txEl>
                                              <p:charRg st="123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60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660">
                                            <p:txEl>
                                              <p:charRg st="160" end="2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01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660">
                                            <p:txEl>
                                              <p:charRg st="201" end="2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46" end="2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660">
                                            <p:txEl>
                                              <p:charRg st="246" end="2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77" end="3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660">
                                            <p:txEl>
                                              <p:charRg st="277" end="3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325" end="3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660">
                                            <p:txEl>
                                              <p:charRg st="325" end="3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366" end="3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660">
                                            <p:txEl>
                                              <p:charRg st="366" end="3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看到的其他数据库为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安装时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系统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自动创建的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，各数据库的作用如下表所示。    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82990" name="Group 46"/>
          <p:cNvGraphicFramePr>
            <a:graphicFrameLocks noGrp="1"/>
          </p:cNvGraphicFramePr>
          <p:nvPr/>
        </p:nvGraphicFramePr>
        <p:xfrm>
          <a:off x="179388" y="2205038"/>
          <a:ext cx="8785225" cy="4425950"/>
        </p:xfrm>
        <a:graphic>
          <a:graphicData uri="http://schemas.openxmlformats.org/drawingml/2006/table">
            <a:tbl>
              <a:tblPr/>
              <a:tblGrid>
                <a:gridCol w="3529012"/>
                <a:gridCol w="5256213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数据库名称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数据库作用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mysql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描述用户访问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权限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1798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information_schema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保存关于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MySQL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服务器所维护的所有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其他数据库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信息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如数据库名、数据库的表、表字段的数据类型与访问权限等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performance_schema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主要用于收集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数据库服务器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性能参数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test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用户利用该数据库进行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测试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工作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3.1.3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修改数据库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中，数据库的默认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字符集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latinl (</a:t>
            </a:r>
            <a:r>
              <a:rPr kumimoji="0" lang="en-US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拉丁语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),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默认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校对规则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latin1_swedish_ci</a:t>
            </a:r>
            <a:r>
              <a:rPr kumimoji="0" lang="zh-CN" altLang="en-US" sz="3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我国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字符集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GB2312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校对规则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GB2312_chinese_ci </a:t>
            </a:r>
            <a:r>
              <a:rPr kumimoji="0" lang="zh-CN" altLang="en-US" sz="30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0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DATABASE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SCHEMA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语句可以修改数据库的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默认字符集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和字符集的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校对规则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，其语法格式如下：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修改数据库 </a:t>
            </a:r>
            <a:endParaRPr lang="zh-CN" altLang="en-US" dirty="0"/>
          </a:p>
        </p:txBody>
      </p:sp>
      <p:sp>
        <p:nvSpPr>
          <p:cNvPr id="12226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ALTER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DATABASE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SCHEMA } [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db_name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]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[DEFAULT]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CHARACTE SET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= 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charset_name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[DEFAULT]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COLLATE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= 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collation</a:t>
            </a:r>
            <a:r>
              <a:rPr kumimoji="0" lang="en-US" altLang="zh-CN" sz="3200" b="1" i="0" u="sng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这个语句的语法要素与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DATABASE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语句类似，其使用说明如下：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DATABASE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SCHEMA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命令可用于更改数据库的全局特性，这些特性储存在数据库目录中的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db.opt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文件中。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使用该命令时，用户必须具有对数据库进行修改的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权限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数据库的名称可以被省略，表示修改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当前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默认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选项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CHARACTER SET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COLLATE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与创建数据库语句相同。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修改已有数据库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的默认字符集和校对规则。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DATABASE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db_school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CHARACTER SET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DEFAULT COLLATE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gb2312_chinese_ci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Qucry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 row affected (0.00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3.1.4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删除数据库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是将已创建的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数据库文件夹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从磁盘空间上清除，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中的所有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也将同时被删除。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中删除数据库的基本语法格式是：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DROP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DATABASE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SCHEMA } [ IF EXISTS 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db_name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其使用说明如下：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为指定要删除的数据库名称。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DATABASE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DROP SCHEMA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命令会删除指定的整个数据库，该数据库中的所有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包括其中的数据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也将被永久删除，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使用该语句时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不会给出任何提醒确认信息，因而尤其要小心，以免错误删除。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另外，对该命令的使用需要用户具有相应的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权限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当某个数据库被删除之后，该数据库上的用户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权限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被删除，为了方便数据库的维护，应手动删除它们。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可选项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EXISTS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子句可以避免删除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不存在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的数据库时出现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错误信息。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删除数据库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，输入语句如下：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DROP DATABASE db_school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Qucry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 (0.01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DATABASES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查看数据库，如下所示：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4932" name="矩形 170"/>
          <p:cNvSpPr/>
          <p:nvPr/>
        </p:nvSpPr>
        <p:spPr>
          <a:xfrm>
            <a:off x="1547813" y="3357563"/>
            <a:ext cx="5688012" cy="3079750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|   Databases                         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|   </a:t>
            </a:r>
            <a:r>
              <a:rPr lang="de-DE" altLang="zh-CN" sz="2400" b="1" dirty="0">
                <a:latin typeface="Arial" panose="020B0604020202020204" pitchFamily="34" charset="0"/>
              </a:rPr>
              <a:t>Information_schema      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r>
              <a:rPr lang="de-DE" altLang="zh-CN" sz="2400" b="1" dirty="0">
                <a:latin typeface="Arial" panose="020B0604020202020204" pitchFamily="34" charset="0"/>
              </a:rPr>
              <a:t>    </a:t>
            </a:r>
            <a:endParaRPr lang="de-DE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r>
              <a:rPr lang="en-US" altLang="zh-CN" sz="2400" dirty="0">
                <a:latin typeface="Arial" panose="020B0604020202020204" pitchFamily="34" charset="0"/>
              </a:rPr>
              <a:t>   </a:t>
            </a:r>
            <a:r>
              <a:rPr lang="de-DE" altLang="zh-CN" sz="2400" b="1" dirty="0">
                <a:latin typeface="Arial" panose="020B0604020202020204" pitchFamily="34" charset="0"/>
              </a:rPr>
              <a:t>mysql                               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endParaRPr lang="de-DE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r>
              <a:rPr lang="en-US" altLang="zh-CN" sz="2400" dirty="0">
                <a:latin typeface="Arial" panose="020B0604020202020204" pitchFamily="34" charset="0"/>
              </a:rPr>
              <a:t>   </a:t>
            </a:r>
            <a:r>
              <a:rPr lang="de-DE" altLang="zh-CN" sz="2400" b="1" dirty="0">
                <a:latin typeface="Arial" panose="020B0604020202020204" pitchFamily="34" charset="0"/>
              </a:rPr>
              <a:t>performance_schema    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endParaRPr lang="de-DE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r>
              <a:rPr lang="en-US" altLang="zh-CN" sz="2400" dirty="0">
                <a:latin typeface="Arial" panose="020B0604020202020204" pitchFamily="34" charset="0"/>
              </a:rPr>
              <a:t>   </a:t>
            </a:r>
            <a:r>
              <a:rPr lang="de-DE" altLang="zh-CN" sz="2400" b="1" dirty="0">
                <a:latin typeface="Arial" panose="020B0604020202020204" pitchFamily="34" charset="0"/>
              </a:rPr>
              <a:t>tes</a:t>
            </a:r>
            <a:r>
              <a:rPr lang="en-US" altLang="de-DE" sz="2400" b="1" dirty="0">
                <a:latin typeface="Arial" panose="020B0604020202020204" pitchFamily="34" charset="0"/>
              </a:rPr>
              <a:t>t</a:t>
            </a:r>
            <a:r>
              <a:rPr lang="en-US" altLang="zh-CN" sz="2400" b="1" dirty="0">
                <a:latin typeface="Arial" panose="020B0604020202020204" pitchFamily="34" charset="0"/>
              </a:rPr>
              <a:t>                                     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1 row in set &lt;0.00 sec&gt;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932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4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932">
                                            <p:txEl>
                                              <p:charRg st="41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82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4932">
                                            <p:txEl>
                                              <p:charRg st="82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123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932">
                                            <p:txEl>
                                              <p:charRg st="123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160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932">
                                            <p:txEl>
                                              <p:charRg st="160" end="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204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932">
                                            <p:txEl>
                                              <p:charRg st="204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234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932">
                                            <p:txEl>
                                              <p:charRg st="234" end="2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281" end="3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932">
                                            <p:txEl>
                                              <p:charRg st="281" end="3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>
                                            <p:txEl>
                                              <p:charRg st="322" end="3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932">
                                            <p:txEl>
                                              <p:charRg st="322" end="3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删除数据库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可以看到，数据库列表中名称为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的数据库已删除，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缺省安装路径下的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文件夹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也被删除了。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注意：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安装后，系统会自动地创建名为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information_schema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performance_schema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等系统数据库，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把与数据库相关的信息存储在这些系统数据库中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如果删除了这些数据库，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不能正常工作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en-US" altLang="zh-CN" dirty="0"/>
              <a:t>MySQL</a:t>
            </a:r>
            <a:r>
              <a:rPr lang="zh-CN" altLang="en-US" dirty="0"/>
              <a:t>查看字符集的方式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403225" y="701675"/>
            <a:ext cx="8337550" cy="597693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一、查看MySQL数据库服务器和数据库字符集。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mysql&gt; show variables like '%char%';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40964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63625" y="2921000"/>
            <a:ext cx="6584950" cy="3270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en-US" altLang="zh-CN" dirty="0"/>
              <a:t>MySQL</a:t>
            </a:r>
            <a:r>
              <a:rPr lang="zh-CN" altLang="en-US" dirty="0"/>
              <a:t>查看字符集的方式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403225" y="701675"/>
            <a:ext cx="8636000" cy="597693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二、查看数据表（table）的MySQL字符集。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mysql&gt; show table status from sqlstudy_db like '%cou%';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4198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025" y="3070225"/>
            <a:ext cx="8489950" cy="2744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en-US" altLang="zh-CN" dirty="0"/>
              <a:t>MySQL</a:t>
            </a:r>
            <a:r>
              <a:rPr lang="zh-CN" altLang="en-US" dirty="0"/>
              <a:t>查看字符集的方式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328613" y="731838"/>
            <a:ext cx="8258175" cy="5957887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三、查看数据列（column）的MySQL字符集。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mysql&gt;  show full columns from countries;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4301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2924175"/>
            <a:ext cx="8101012" cy="3168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定义表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创建数据库后，就可以在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中创建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是数据库中最重要、最基本的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对象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，是数据存储的基本单位，若没有表，数据库中其他的数据对象就没有意义。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45058" name="Rectangle 79"/>
          <p:cNvSpPr/>
          <p:nvPr/>
        </p:nvSpPr>
        <p:spPr>
          <a:xfrm>
            <a:off x="0" y="333375"/>
            <a:ext cx="9144000" cy="287338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24706" name="Group 2"/>
          <p:cNvGraphicFramePr>
            <a:graphicFrameLocks noGrp="1"/>
          </p:cNvGraphicFramePr>
          <p:nvPr>
            <p:ph sz="half" idx="4294967295"/>
          </p:nvPr>
        </p:nvGraphicFramePr>
        <p:xfrm>
          <a:off x="2773363" y="911225"/>
          <a:ext cx="5975350" cy="2155825"/>
        </p:xfrm>
        <a:graphic>
          <a:graphicData uri="http://schemas.openxmlformats.org/drawingml/2006/table">
            <a:tbl>
              <a:tblPr/>
              <a:tblGrid>
                <a:gridCol w="1655762"/>
                <a:gridCol w="1584325"/>
                <a:gridCol w="1243013"/>
                <a:gridCol w="1492250"/>
              </a:tblGrid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性别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成绩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40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2007001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韩向东 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40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2007002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刘玲玲 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40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2007003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王兴冬 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24733" name="Group 29"/>
          <p:cNvGraphicFramePr>
            <a:graphicFrameLocks noGrp="1"/>
          </p:cNvGraphicFramePr>
          <p:nvPr/>
        </p:nvGraphicFramePr>
        <p:xfrm>
          <a:off x="2700338" y="4248150"/>
          <a:ext cx="5975350" cy="2133600"/>
        </p:xfrm>
        <a:graphic>
          <a:graphicData uri="http://schemas.openxmlformats.org/drawingml/2006/table">
            <a:tbl>
              <a:tblPr/>
              <a:tblGrid>
                <a:gridCol w="1655762"/>
                <a:gridCol w="1584325"/>
                <a:gridCol w="1243013"/>
                <a:gridCol w="1492250"/>
              </a:tblGrid>
              <a:tr h="4875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学号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性别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成绩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2007001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韩向东 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5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2007002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刘玲玲 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91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2007003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王兴冬 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693" marB="456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13" name="Rectangle 56"/>
          <p:cNvSpPr>
            <a:spLocks noGrp="1"/>
          </p:cNvSpPr>
          <p:nvPr>
            <p:ph type="title"/>
          </p:nvPr>
        </p:nvSpPr>
        <p:spPr>
          <a:xfrm>
            <a:off x="3995738" y="241300"/>
            <a:ext cx="2808287" cy="595313"/>
          </a:xfrm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关系模型</a:t>
            </a:r>
            <a:endParaRPr lang="zh-CN" altLang="en-US" dirty="0"/>
          </a:p>
        </p:txBody>
      </p:sp>
      <p:grpSp>
        <p:nvGrpSpPr>
          <p:cNvPr id="45114" name="Group 57"/>
          <p:cNvGrpSpPr/>
          <p:nvPr/>
        </p:nvGrpSpPr>
        <p:grpSpPr>
          <a:xfrm>
            <a:off x="971550" y="333375"/>
            <a:ext cx="7848600" cy="6048375"/>
            <a:chOff x="612" y="255"/>
            <a:chExt cx="4944" cy="3810"/>
          </a:xfrm>
        </p:grpSpPr>
        <p:sp>
          <p:nvSpPr>
            <p:cNvPr id="45116" name="AutoShape 58"/>
            <p:cNvSpPr/>
            <p:nvPr/>
          </p:nvSpPr>
          <p:spPr>
            <a:xfrm>
              <a:off x="711" y="2750"/>
              <a:ext cx="860" cy="318"/>
            </a:xfrm>
            <a:prstGeom prst="wedgeRoundRectCallout">
              <a:avLst>
                <a:gd name="adj1" fmla="val 85000"/>
                <a:gd name="adj2" fmla="val -8176"/>
                <a:gd name="adj3" fmla="val 16667"/>
              </a:avLst>
            </a:prstGeom>
            <a:solidFill>
              <a:srgbClr val="CCFFCC"/>
            </a:solidFill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spcBef>
                  <a:spcPct val="20000"/>
                </a:spcBef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字段名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5117" name="Rectangle 59"/>
            <p:cNvSpPr/>
            <p:nvPr/>
          </p:nvSpPr>
          <p:spPr>
            <a:xfrm>
              <a:off x="1664" y="2614"/>
              <a:ext cx="1131" cy="1451"/>
            </a:xfrm>
            <a:prstGeom prst="rect">
              <a:avLst/>
            </a:prstGeom>
            <a:solidFill>
              <a:srgbClr val="CCFFCC">
                <a:alpha val="45882"/>
              </a:srgbClr>
            </a:solidFill>
            <a:ln w="25400" cap="flat" cmpd="sng">
              <a:solidFill>
                <a:srgbClr val="FF33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8" name="Rectangle 60"/>
            <p:cNvSpPr/>
            <p:nvPr/>
          </p:nvSpPr>
          <p:spPr>
            <a:xfrm>
              <a:off x="1709" y="527"/>
              <a:ext cx="1131" cy="1497"/>
            </a:xfrm>
            <a:prstGeom prst="rect">
              <a:avLst/>
            </a:prstGeom>
            <a:solidFill>
              <a:srgbClr val="CCFFCC">
                <a:alpha val="45882"/>
              </a:srgbClr>
            </a:solidFill>
            <a:ln w="25400" cap="flat" cmpd="sng">
              <a:solidFill>
                <a:srgbClr val="FF33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19" name="AutoShape 61"/>
            <p:cNvSpPr/>
            <p:nvPr/>
          </p:nvSpPr>
          <p:spPr>
            <a:xfrm>
              <a:off x="711" y="1707"/>
              <a:ext cx="634" cy="317"/>
            </a:xfrm>
            <a:prstGeom prst="wedgeRoundRectCallout">
              <a:avLst>
                <a:gd name="adj1" fmla="val 111042"/>
                <a:gd name="adj2" fmla="val -12144"/>
                <a:gd name="adj3" fmla="val 16667"/>
              </a:avLst>
            </a:prstGeom>
            <a:solidFill>
              <a:srgbClr val="FFFF99"/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spcBef>
                  <a:spcPct val="20000"/>
                </a:spcBef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元组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5120" name="AutoShape 62"/>
            <p:cNvSpPr/>
            <p:nvPr/>
          </p:nvSpPr>
          <p:spPr>
            <a:xfrm>
              <a:off x="620" y="709"/>
              <a:ext cx="950" cy="318"/>
            </a:xfrm>
            <a:prstGeom prst="wedgeRoundRectCallout">
              <a:avLst>
                <a:gd name="adj1" fmla="val 82736"/>
                <a:gd name="adj2" fmla="val -10690"/>
                <a:gd name="adj3" fmla="val 16667"/>
              </a:avLst>
            </a:prstGeom>
            <a:solidFill>
              <a:srgbClr val="FFFF99"/>
            </a:solidFill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spcBef>
                  <a:spcPct val="20000"/>
                </a:spcBef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属性名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5121" name="Rectangle 63"/>
            <p:cNvSpPr/>
            <p:nvPr/>
          </p:nvSpPr>
          <p:spPr>
            <a:xfrm>
              <a:off x="1845" y="663"/>
              <a:ext cx="905" cy="227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2" name="AutoShape 64"/>
            <p:cNvSpPr/>
            <p:nvPr/>
          </p:nvSpPr>
          <p:spPr>
            <a:xfrm>
              <a:off x="666" y="1253"/>
              <a:ext cx="860" cy="317"/>
            </a:xfrm>
            <a:prstGeom prst="wedgeRoundRectCallout">
              <a:avLst>
                <a:gd name="adj1" fmla="val 90463"/>
                <a:gd name="adj2" fmla="val 35806"/>
                <a:gd name="adj3" fmla="val 16667"/>
              </a:avLst>
            </a:prstGeom>
            <a:solidFill>
              <a:srgbClr val="FFFF99"/>
            </a:solidFill>
            <a:ln w="25400" cap="flat" cmpd="sng">
              <a:solidFill>
                <a:srgbClr val="33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spcBef>
                  <a:spcPct val="20000"/>
                </a:spcBef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属性值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5123" name="Rectangle 65"/>
            <p:cNvSpPr/>
            <p:nvPr/>
          </p:nvSpPr>
          <p:spPr>
            <a:xfrm>
              <a:off x="1800" y="981"/>
              <a:ext cx="950" cy="907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4" name="Rectangle 66"/>
            <p:cNvSpPr/>
            <p:nvPr/>
          </p:nvSpPr>
          <p:spPr>
            <a:xfrm>
              <a:off x="1663" y="1661"/>
              <a:ext cx="3893" cy="273"/>
            </a:xfrm>
            <a:prstGeom prst="rect">
              <a:avLst/>
            </a:prstGeom>
            <a:solidFill>
              <a:srgbClr val="FF99CC">
                <a:alpha val="38823"/>
              </a:srgbClr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5" name="AutoShape 67"/>
            <p:cNvSpPr/>
            <p:nvPr/>
          </p:nvSpPr>
          <p:spPr>
            <a:xfrm>
              <a:off x="756" y="255"/>
              <a:ext cx="589" cy="318"/>
            </a:xfrm>
            <a:prstGeom prst="wedgeRoundRectCallout">
              <a:avLst>
                <a:gd name="adj1" fmla="val 152718"/>
                <a:gd name="adj2" fmla="val 63838"/>
                <a:gd name="adj3" fmla="val 16667"/>
              </a:avLst>
            </a:prstGeom>
            <a:solidFill>
              <a:srgbClr val="FFFF99"/>
            </a:solidFill>
            <a:ln w="25400" cap="flat" cmpd="sng">
              <a:solidFill>
                <a:srgbClr val="FF33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spcBef>
                  <a:spcPct val="20000"/>
                </a:spcBef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属性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5126" name="AutoShape 68"/>
            <p:cNvSpPr/>
            <p:nvPr/>
          </p:nvSpPr>
          <p:spPr>
            <a:xfrm>
              <a:off x="757" y="3748"/>
              <a:ext cx="634" cy="272"/>
            </a:xfrm>
            <a:prstGeom prst="wedgeRoundRectCallout">
              <a:avLst>
                <a:gd name="adj1" fmla="val 103944"/>
                <a:gd name="adj2" fmla="val -25000"/>
                <a:gd name="adj3" fmla="val 16667"/>
              </a:avLst>
            </a:prstGeom>
            <a:solidFill>
              <a:srgbClr val="CCFFCC"/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lnSpc>
                  <a:spcPct val="80000"/>
                </a:lnSpc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记录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5127" name="Rectangle 69"/>
            <p:cNvSpPr/>
            <p:nvPr/>
          </p:nvSpPr>
          <p:spPr>
            <a:xfrm>
              <a:off x="1845" y="2720"/>
              <a:ext cx="769" cy="227"/>
            </a:xfrm>
            <a:prstGeom prst="rect">
              <a:avLst/>
            </a:prstGeom>
            <a:noFill/>
            <a:ln w="2540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28" name="AutoShape 70"/>
            <p:cNvSpPr/>
            <p:nvPr/>
          </p:nvSpPr>
          <p:spPr>
            <a:xfrm>
              <a:off x="711" y="3295"/>
              <a:ext cx="860" cy="317"/>
            </a:xfrm>
            <a:prstGeom prst="wedgeRoundRectCallout">
              <a:avLst>
                <a:gd name="adj1" fmla="val 86162"/>
                <a:gd name="adj2" fmla="val 33282"/>
                <a:gd name="adj3" fmla="val 16667"/>
              </a:avLst>
            </a:prstGeom>
            <a:solidFill>
              <a:srgbClr val="CCFFCC"/>
            </a:solidFill>
            <a:ln w="25400" cap="flat" cmpd="sng">
              <a:solidFill>
                <a:srgbClr val="33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spcBef>
                  <a:spcPct val="20000"/>
                </a:spcBef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字段值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5129" name="Rectangle 71"/>
            <p:cNvSpPr/>
            <p:nvPr/>
          </p:nvSpPr>
          <p:spPr>
            <a:xfrm>
              <a:off x="1754" y="3022"/>
              <a:ext cx="951" cy="953"/>
            </a:xfrm>
            <a:prstGeom prst="rect">
              <a:avLst/>
            </a:prstGeom>
            <a:noFill/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130" name="AutoShape 72"/>
            <p:cNvSpPr/>
            <p:nvPr/>
          </p:nvSpPr>
          <p:spPr>
            <a:xfrm>
              <a:off x="757" y="2296"/>
              <a:ext cx="589" cy="318"/>
            </a:xfrm>
            <a:prstGeom prst="wedgeRoundRectCallout">
              <a:avLst>
                <a:gd name="adj1" fmla="val 150509"/>
                <a:gd name="adj2" fmla="val 64468"/>
                <a:gd name="adj3" fmla="val 16667"/>
              </a:avLst>
            </a:prstGeom>
            <a:solidFill>
              <a:srgbClr val="CCFFCC"/>
            </a:solidFill>
            <a:ln w="25400" cap="flat" cmpd="sng">
              <a:solidFill>
                <a:srgbClr val="FF33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 eaLnBrk="1" hangingPunct="1">
                <a:spcBef>
                  <a:spcPct val="20000"/>
                </a:spcBef>
                <a:buClr>
                  <a:srgbClr val="FFCC00"/>
                </a:buClr>
                <a:buFont typeface="Arial Unicode MS" charset="-122"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字段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131" name="AutoShape 73"/>
            <p:cNvCxnSpPr>
              <a:stCxn id="45119" idx="1"/>
              <a:endCxn id="45126" idx="1"/>
            </p:cNvCxnSpPr>
            <p:nvPr/>
          </p:nvCxnSpPr>
          <p:spPr>
            <a:xfrm rot="10800000" flipH="1" flipV="1">
              <a:off x="703" y="1866"/>
              <a:ext cx="46" cy="2018"/>
            </a:xfrm>
            <a:prstGeom prst="curvedConnector3">
              <a:avLst>
                <a:gd name="adj1" fmla="val -295653"/>
              </a:avLst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5132" name="AutoShape 74"/>
            <p:cNvCxnSpPr>
              <a:stCxn id="45122" idx="1"/>
              <a:endCxn id="45128" idx="1"/>
            </p:cNvCxnSpPr>
            <p:nvPr/>
          </p:nvCxnSpPr>
          <p:spPr>
            <a:xfrm rot="10800000" flipH="1" flipV="1">
              <a:off x="658" y="1412"/>
              <a:ext cx="45" cy="2042"/>
            </a:xfrm>
            <a:prstGeom prst="curvedConnector3">
              <a:avLst>
                <a:gd name="adj1" fmla="val -302222"/>
              </a:avLst>
            </a:prstGeom>
            <a:ln w="25400" cap="flat" cmpd="sng">
              <a:solidFill>
                <a:srgbClr val="336600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5133" name="AutoShape 75"/>
            <p:cNvCxnSpPr>
              <a:stCxn id="45120" idx="1"/>
              <a:endCxn id="45116" idx="1"/>
            </p:cNvCxnSpPr>
            <p:nvPr/>
          </p:nvCxnSpPr>
          <p:spPr>
            <a:xfrm rot="10800000" flipH="1" flipV="1">
              <a:off x="612" y="868"/>
              <a:ext cx="91" cy="2041"/>
            </a:xfrm>
            <a:prstGeom prst="curvedConnector3">
              <a:avLst>
                <a:gd name="adj1" fmla="val -149449"/>
              </a:avLst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45134" name="AutoShape 76"/>
            <p:cNvCxnSpPr>
              <a:stCxn id="45125" idx="1"/>
              <a:endCxn id="45130" idx="1"/>
            </p:cNvCxnSpPr>
            <p:nvPr/>
          </p:nvCxnSpPr>
          <p:spPr>
            <a:xfrm rot="10800000" flipH="1" flipV="1">
              <a:off x="748" y="414"/>
              <a:ext cx="1" cy="2041"/>
            </a:xfrm>
            <a:prstGeom prst="curvedConnector3">
              <a:avLst>
                <a:gd name="adj1" fmla="val -13600005"/>
              </a:avLst>
            </a:prstGeom>
            <a:ln w="25400" cap="flat" cmpd="sng">
              <a:solidFill>
                <a:srgbClr val="FF33CC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45135" name="Rectangle 77"/>
            <p:cNvSpPr/>
            <p:nvPr/>
          </p:nvSpPr>
          <p:spPr>
            <a:xfrm>
              <a:off x="1617" y="3702"/>
              <a:ext cx="3893" cy="273"/>
            </a:xfrm>
            <a:prstGeom prst="rect">
              <a:avLst/>
            </a:prstGeom>
            <a:solidFill>
              <a:srgbClr val="FF99CC">
                <a:alpha val="38823"/>
              </a:srgbClr>
            </a:solidFill>
            <a:ln w="254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5115" name="Rectangle 78"/>
          <p:cNvSpPr/>
          <p:nvPr/>
        </p:nvSpPr>
        <p:spPr>
          <a:xfrm>
            <a:off x="4067175" y="3573463"/>
            <a:ext cx="2808288" cy="5953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>
              <a:lnSpc>
                <a:spcPct val="80000"/>
              </a:lnSpc>
            </a:pPr>
            <a:r>
              <a:rPr lang="zh-CN" altLang="en-US" sz="3600" b="1" dirty="0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数据表</a:t>
            </a:r>
            <a:endParaRPr lang="zh-CN" altLang="en-US" sz="3600" b="1" dirty="0">
              <a:solidFill>
                <a:schemeClr val="tx2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被定义为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的集合，数据在表中是按照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的格式来存储的，每一行代表一条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，每一列代表记录中一个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取值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创建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的过程是定义每个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的过程，同时也是实施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的过程。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确定表中每个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是创建表的重要步骤。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就是定义该字段所能存放的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en-US" altLang="zh-CN" dirty="0"/>
              <a:t>MySQL</a:t>
            </a:r>
            <a:r>
              <a:rPr lang="zh-CN" altLang="en-US" dirty="0"/>
              <a:t>常用的数据类型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3.2.1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常用的数据类型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(data type)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是指系统中所允许的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中每个字段都有适当的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，用于限制或允许该字段中存储的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例如，如果字段中存储的值为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，则相应的数据类型应该为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数值类型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；如果字段中存储的是日期、文本、金额等，则应该分别给它们定义恰当的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数值类型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en-US" altLang="zh-CN" dirty="0"/>
              <a:t>MySQL</a:t>
            </a:r>
            <a:r>
              <a:rPr lang="zh-CN" altLang="en-US" dirty="0"/>
              <a:t>常用的数据类型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可帮助正确地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排序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数据，并在优化磁盘使用方面起着重要的作用。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因此，在创建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时必须为表的每个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指定正确的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及可能的数据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长度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的常用数据类型主要有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数值类型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日期和时间类型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字符串类型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下面介绍主要常用数据类型。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数值类型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数值类型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TINYINT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[(M)] [UNSIGNED] [ZEROFILL]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很小整数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表示数值的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位数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[UNSIGNED]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指定无符号正值；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[ZEROFILL]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填充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带符号的范围是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-128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～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127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，无符号的范围是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～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255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 tinyint (3)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en-US" altLang="zh-CN" dirty="0"/>
              <a:t>MySQL</a:t>
            </a:r>
            <a:r>
              <a:rPr lang="zh-CN" altLang="en-US" dirty="0"/>
              <a:t>常用的数据类型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[(M)]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普通大小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整数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带符号的范围是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-2 147 483 648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～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2147483 647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，（-2^31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—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2^31-1）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无符号的范围是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～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4 294967295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INTEGER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[(M)]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的同义词。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数值类型 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(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略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) 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DOUBLE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[(M,D)]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：普通大小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双精度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浮点数。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略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)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chemeClr val="fol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M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是小数总位数，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是小数点后面的位数。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允许的值是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-1.7976931348623157E+308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～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-2.2250738585072014E-308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2.2250738585072014E-308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～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1.7976931348623157E+308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双精度浮点数精确到大约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位小数位。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86641" y="1649095"/>
            <a:ext cx="8193233" cy="43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500" b="1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 </a:t>
            </a:r>
            <a:r>
              <a:rPr lang="zh-CN" altLang="en-US" sz="1500" b="1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浮点数类型</a:t>
            </a:r>
            <a:endParaRPr lang="zh-CN" altLang="zh-CN" sz="1500" b="1" kern="10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91" y="2129087"/>
            <a:ext cx="7905273" cy="24933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1744" y="4675370"/>
            <a:ext cx="8132619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zh-CN" altLang="en-US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DECIMAL类型的有效取值范围是由M和D决定的，其中，M表示的是数据的长度，D表示的是小数点后的长度。</a:t>
            </a:r>
            <a:endParaRPr lang="zh-CN" altLang="en-US" sz="1500" kern="1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589091" y="974912"/>
            <a:ext cx="3421802" cy="317522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7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3.2.1 </a:t>
            </a:r>
            <a:r>
              <a:rPr lang="zh-CN" altLang="en-US" sz="21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数值类型</a:t>
            </a:r>
            <a:endParaRPr lang="zh-CN" altLang="en-US" sz="21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日期和时间类型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日期和时间类型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DATE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：日期型。支持的范围为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1000-01-01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9999-12-31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YYYY-MM-DD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格式显示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DATE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值，但允许使用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字符串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DATE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列分配值。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TIME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：时间型。范围是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-838:59:59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838:59:59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HH:MM:SS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格式显示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值，但允许使用字符串或数字为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列分配值。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日期和时间类型 </a:t>
            </a:r>
            <a:endParaRPr lang="zh-CN" altLang="en-US" dirty="0"/>
          </a:p>
        </p:txBody>
      </p:sp>
      <p:sp>
        <p:nvSpPr>
          <p:cNvPr id="1227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DATETIME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：日期和时间的组合。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支持的范围是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1000-01-01 00:00:00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9999-12-31 23:59:59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YYYY-MM-DD HH:MM:SS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格式显示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DATETIME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允许使用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字符串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DATETIME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列分配值。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日期和时间类型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04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TIMESTAMP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[(M)]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：时间戳。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时间戳用于表示数据在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特定时间点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已经存在并可验证，以证明用户的某些数据的产生时间。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范围是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1970-01-01 00:00:00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2037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TIMESTAMP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列用于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UPDATE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操作时记录日期和时间。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日期和时间类型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YEAR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[(2|4)]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：两位或四位格式的年。默认是四位格式。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四位格式，允许的值是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1901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～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2155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0000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。在两位格式中，允许的值是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70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～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69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，表示从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1970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年～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2069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YYYY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格式显示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YEAR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值，允许使用字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符串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YEAR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列分配值。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1744" y="4862656"/>
            <a:ext cx="8132619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lnSpc>
                <a:spcPct val="150000"/>
              </a:lnSpc>
            </a:pPr>
            <a:r>
              <a:rPr lang="zh-CN" altLang="en-US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需要注意的是，如果插入的数值不合法，系统会自动将对应的零值插入数据库中。日期型常量用引号括起来，例如</a:t>
            </a:r>
            <a:r>
              <a:rPr lang="en-US" altLang="zh-CN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“2000-01-01”</a:t>
            </a:r>
            <a:r>
              <a:rPr lang="zh-CN" altLang="en-US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1500" kern="10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589091" y="974912"/>
            <a:ext cx="3421802" cy="317522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7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3.2.3 </a:t>
            </a:r>
            <a:r>
              <a:rPr lang="zh-CN" altLang="en-US" sz="21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日期与时间类型</a:t>
            </a:r>
            <a:endParaRPr lang="zh-CN" altLang="en-US" sz="21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90" y="1612324"/>
            <a:ext cx="7985465" cy="272934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字符串类型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．字符串类型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CHAR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[(M)]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CHARACTER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[(M)]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固定长度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字符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数据类型，用于保存以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文本格式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存储的信息。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表示列长度，其范围是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～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255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个字符。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VARCHAR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[(M)]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可变长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字符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数据类型，用于保存以文本格式存储的信息。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表示最大列长度，其范围是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～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65535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88768" y="1485341"/>
            <a:ext cx="8156863" cy="1129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en-US" altLang="zh-CN" sz="1500" b="1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1.CHAR</a:t>
            </a:r>
            <a:r>
              <a:rPr lang="zh-CN" altLang="en-US" sz="1500" b="1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1500" b="1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VARCHAR</a:t>
            </a:r>
            <a:r>
              <a:rPr lang="zh-CN" altLang="en-US" sz="1500" b="1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类型</a:t>
            </a:r>
            <a:endParaRPr lang="zh-CN" altLang="en-US" sz="1500" b="1" kern="10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CHAR</a:t>
            </a:r>
            <a:r>
              <a:rPr lang="zh-CN" altLang="en-US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en-US" altLang="zh-CN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VARCHAR</a:t>
            </a:r>
            <a:r>
              <a:rPr lang="zh-CN" altLang="en-US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类型都用来表示字符串数据，不同的是，</a:t>
            </a:r>
            <a:r>
              <a:rPr lang="en-US" altLang="zh-CN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VARCHAR</a:t>
            </a:r>
            <a:r>
              <a:rPr lang="zh-CN" altLang="en-US" sz="15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可以存储可变长度的字符串。表示方式：</a:t>
            </a:r>
            <a:r>
              <a:rPr lang="fr-FR" altLang="zh-CN" sz="1500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CHAR(M)</a:t>
            </a:r>
            <a:r>
              <a:rPr lang="zh-CN" altLang="fr-FR" sz="1500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或</a:t>
            </a:r>
            <a:r>
              <a:rPr lang="fr-FR" altLang="zh-CN" sz="1500" kern="1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VARCHAR(M)	</a:t>
            </a:r>
            <a:endParaRPr lang="en-US" altLang="zh-CN" sz="1500" kern="10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68" y="2476212"/>
            <a:ext cx="8645078" cy="24265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0218" y="5012248"/>
            <a:ext cx="8295273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267970" algn="just">
              <a:lnSpc>
                <a:spcPct val="150000"/>
              </a:lnSpc>
              <a:defRPr sz="2000" kern="1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500"/>
              <a:t>当数据为CHAR(4)类型时，不管插入值的长度是多少，所占用的存储空间都是4个字节。而VARCHAR(4)所对应的数据所占用的字节数为实际长度加1。</a:t>
            </a:r>
            <a:endParaRPr lang="zh-CN" altLang="en-US" sz="1500"/>
          </a:p>
        </p:txBody>
      </p:sp>
      <p:sp>
        <p:nvSpPr>
          <p:cNvPr id="9" name="标题 1"/>
          <p:cNvSpPr txBox="1"/>
          <p:nvPr/>
        </p:nvSpPr>
        <p:spPr>
          <a:xfrm>
            <a:off x="589091" y="974912"/>
            <a:ext cx="3421802" cy="317522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7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1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3.2.2</a:t>
            </a:r>
            <a:r>
              <a:rPr lang="zh-CN" altLang="en-US" sz="21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字符串类型</a:t>
            </a:r>
            <a:endParaRPr lang="zh-CN" altLang="en-US" sz="21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3.2.2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创建表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中，创建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语句，其基本的语法格式为：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CREATE TABLE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tbl_name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字段名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660033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数据类型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列级完整性约束条件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][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默认值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[,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字段名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2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660033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数据类型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列级完整性约束条件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 [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默认值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]] [,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……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[,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表级完整性约束条件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]) 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 ENGINE =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引擎类型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58370" name="Rectangle 53"/>
          <p:cNvSpPr/>
          <p:nvPr/>
        </p:nvSpPr>
        <p:spPr>
          <a:xfrm>
            <a:off x="-3175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88913"/>
            <a:ext cx="8785225" cy="6480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3.5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在已有数据库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Lucida Sans" pitchFamily="34" charset="0"/>
                <a:ea typeface="+mn-ea"/>
                <a:cs typeface="+mn-cs"/>
              </a:rPr>
              <a:t>db_school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中定义学生表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Lucida Sans" pitchFamily="34" charset="0"/>
                <a:ea typeface="+mn-ea"/>
                <a:cs typeface="+mn-cs"/>
              </a:rPr>
              <a:t>tb_student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，其结构如表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所示，并要求使用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InnoDB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引擎存储表数据。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5060" name="表格 45059"/>
          <p:cNvGraphicFramePr/>
          <p:nvPr/>
        </p:nvGraphicFramePr>
        <p:xfrm>
          <a:off x="611188" y="2349500"/>
          <a:ext cx="7848600" cy="4402138"/>
        </p:xfrm>
        <a:graphic>
          <a:graphicData uri="http://schemas.openxmlformats.org/drawingml/2006/table">
            <a:tbl>
              <a:tblPr/>
              <a:tblGrid>
                <a:gridCol w="1871663"/>
                <a:gridCol w="2447925"/>
                <a:gridCol w="1871662"/>
                <a:gridCol w="1657350"/>
              </a:tblGrid>
              <a:tr h="5493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含义</a:t>
                      </a:r>
                      <a:endParaRPr lang="zh-CN" altLang="en-US" sz="30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字段名</a:t>
                      </a:r>
                      <a:endParaRPr lang="zh-CN" altLang="en-US" sz="30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数据类型</a:t>
                      </a:r>
                      <a:endParaRPr lang="zh-CN" altLang="en-US" sz="30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宽度</a:t>
                      </a:r>
                      <a:endParaRPr lang="zh-CN" altLang="en-US" sz="30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</a:tr>
              <a:tr h="5486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学号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studentNo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10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93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姓名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studentName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20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86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性别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sex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2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93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出生期日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birthday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日期型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lang="zh-CN" altLang="zh-CN" sz="28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93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籍贯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native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20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86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民族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nation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30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588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所属班级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classNo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6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59394" name="Rectangle 5"/>
          <p:cNvSpPr/>
          <p:nvPr/>
        </p:nvSpPr>
        <p:spPr>
          <a:xfrm>
            <a:off x="-3175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type="body" idx="4294967295"/>
          </p:nvPr>
        </p:nvSpPr>
        <p:spPr>
          <a:xfrm>
            <a:off x="71438" y="115888"/>
            <a:ext cx="8964612" cy="66262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en-US" sz="3200" dirty="0"/>
              <a:t>在</a:t>
            </a:r>
            <a:r>
              <a:rPr lang="en-US" altLang="zh-CN" sz="3200" dirty="0"/>
              <a:t>MySQL</a:t>
            </a:r>
            <a:r>
              <a:rPr lang="zh-CN" altLang="en-US" sz="3200" dirty="0"/>
              <a:t>命令行客户端输入如下</a:t>
            </a:r>
            <a:r>
              <a:rPr lang="en-US" altLang="zh-CN" sz="3200" dirty="0"/>
              <a:t>SQL</a:t>
            </a:r>
            <a:r>
              <a:rPr lang="zh-CN" altLang="en-US" sz="3200" dirty="0"/>
              <a:t>语句：</a:t>
            </a:r>
            <a:endParaRPr lang="zh-CN" altLang="en-US" sz="32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111111"/>
                </a:solidFill>
              </a:rPr>
              <a:t>mysql&gt;</a:t>
            </a:r>
            <a:r>
              <a:rPr lang="en-US" altLang="zh-CN" dirty="0"/>
              <a:t> USE db_school;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Databasc changed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rgbClr val="111111"/>
                </a:solidFill>
              </a:rPr>
              <a:t>mysql&gt;</a:t>
            </a:r>
            <a:r>
              <a:rPr lang="en-US" altLang="zh-CN" dirty="0"/>
              <a:t> CREATE TABLE tb_student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( studentNo CHAR(10) NOT NULL UNIQUE,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 studentName VARCHAR(20) NOT NULL,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 sex CHAR(2),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 birthday DATE,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 native VARCHAR(20),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 nation VARCHAR(10),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 classNo CHAR(6) )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111111"/>
                </a:solidFill>
              </a:rPr>
              <a:t>-&gt;</a:t>
            </a:r>
            <a:r>
              <a:rPr lang="en-US" altLang="zh-CN" dirty="0"/>
              <a:t> ENGINE=InnoDB;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Qucry OK, 0 rows affected(0.73 sec)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语句创建表时的主要语法说明如下。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指定表名和字段名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命令创建表时，必须指定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3.5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tbl_name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之后，且必须符合标识符的命名规则。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 </a:t>
            </a:r>
            <a:endParaRPr lang="zh-CN" altLang="en-US" dirty="0"/>
          </a:p>
        </p:txBody>
      </p:sp>
      <p:sp>
        <p:nvSpPr>
          <p:cNvPr id="12298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需要首先选定当前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如，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USE db_school;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也可以在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表名称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前引用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格式为：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db_name.tbl_name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这样则在特定的数据库中创建表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而不论是否有当前数据库，都可以通过这种方式来创建表。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时，如果标识名使用引号，则对数据库和表名称要单独分别加引号。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例如，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mydb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mytbl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是合法的，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但是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mydb.mytbl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’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不合法。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student.`s#`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另外，创建者必须拥有表的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权限。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表中每个字段的定义是以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开始，后跟字段的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以及可选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如果创建多个字段，则需要用逗号分隔。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字段名在该表中必须唯一。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完整性约束条件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11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完整性约束条件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语句创建数据表的同时，可以定义该表的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包括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实体完整性约束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(PRIMARY KEY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UNIQUE)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、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参照完整性约束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(FOREIGN KEY)(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外键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用户自定义约束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(NOT NULL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DEFAULT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、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CHECK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约束等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候选键：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not null unique;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72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后，当用户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操作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表中的数据时，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DBMS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会自动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检查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该操作是否遵循定义的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可以为多个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Lucida Sans" pitchFamily="34" charset="0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分别定义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条件，也可以定义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一级的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有关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的内容将在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节详细介绍。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NULL</a:t>
            </a:r>
            <a:r>
              <a:rPr lang="zh-CN" altLang="en-US" dirty="0"/>
              <a:t>与</a:t>
            </a:r>
            <a:r>
              <a:rPr lang="en-US" altLang="zh-CN" dirty="0"/>
              <a:t>NOT NULL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NOT NULL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创建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关键字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NOT 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就是没有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空缺。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允许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的列可允许在插入记录时不给出该列的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定义了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NOT 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，则表的记录该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必须含有值，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也就是在插入或更新数据时，该列必须要有值。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NULL</a:t>
            </a:r>
            <a:r>
              <a:rPr lang="zh-CN" altLang="en-US" dirty="0"/>
              <a:t>与</a:t>
            </a:r>
            <a:r>
              <a:rPr lang="en-US" altLang="zh-CN" dirty="0"/>
              <a:t>NOT NULL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764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中，创建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时可以指定每个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的取值是否允许为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即要么是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NULL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要么是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NOT NULL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为默认设置，如果不指定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 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则认为指定的是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NULL</a:t>
            </a:r>
            <a:r>
              <a:rPr lang="zh-CN" altLang="en-US" dirty="0"/>
              <a:t>与</a:t>
            </a:r>
            <a:r>
              <a:rPr lang="en-US" altLang="zh-CN" dirty="0"/>
              <a:t>NOT NULL </a:t>
            </a:r>
            <a:endParaRPr lang="en-US" altLang="zh-CN" dirty="0"/>
          </a:p>
        </p:txBody>
      </p:sp>
      <p:sp>
        <p:nvSpPr>
          <p:cNvPr id="12328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3.5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定义学生表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Lucida Sans" pitchFamily="34" charset="0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，为表中的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字段指定了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 NULL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这将会阻止在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字段中插入没有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的记录，否则会返回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错误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和插入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失败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的信息。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注意：不要将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值与空串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‘’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相混淆，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值是没有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，而不是空串。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NULL</a:t>
            </a:r>
            <a:r>
              <a:rPr lang="zh-CN" altLang="en-US" dirty="0"/>
              <a:t>与</a:t>
            </a:r>
            <a:r>
              <a:rPr lang="en-US" altLang="zh-CN" dirty="0"/>
              <a:t>NOT NULL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如果指定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空串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‘’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两个单引号，其间没有字符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 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列中是允许的，因为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空串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是一个有效的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，它不是无值，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所以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NULL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值用关键字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NULL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指定，而不是用空串指定。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AUTO_INCREMENT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4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AUTO_INCREMENT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将字段设置为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自增属性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，可以给记录定义一个唯一而又容易确定的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号，该字段可以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唯一标识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表中的每条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记录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中，使用关键字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AUTO_INCREMENT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为列设置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自增属性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只有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整型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列才能设置此属性。</a:t>
            </a:r>
            <a:endParaRPr kumimoji="0" lang="zh-CN" altLang="en-US" sz="3400" b="1" i="0" u="sng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AUTO_INCREMENT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77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AUTO_INCREMENT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默认的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当向一个定义为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AUTO_INCREMENT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的列中插入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值或数字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该列的值会被设置为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value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+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默认为加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递增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其中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value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是当前表中该列的最大值。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AUTO_INCREMENT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每个表只能定义一个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AUTO_INCREMENT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列，并且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必须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在该列上定义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(PRIMARY KEY)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(UNIQUE)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3.5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中定义学生表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Lucida Sans" pitchFamily="34" charset="0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时，如果要定义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学号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为自动增加，则学号的数据类型必须定义为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整数类型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，而且必须在学号上定义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UNIQUE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；其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AUTO_INCREMENT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928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CREATE TABLE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tb_student1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hlink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(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660033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studcntNo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INT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(10) NOT NULL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UNIQUE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AUTO_INCREMENT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,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studentName VARCHAR(20) NOT NULL,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sex CHAR(2), birthday DATE, native VARCHAR(20),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nation VARCHAR(10), classNo CHAR(6) 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ENGINE=InnoDB;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Qucry OK, 0 rows affected(0.01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AUTO_INCREMENT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上述语句执行成功后，会创建一个名为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的数据表。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当向表中插入记录时，字段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的值会自动增加，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，每插入一条新记录，该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AUTO_INCREMENT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041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注意：当一个字段被指定为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AUTO_INCREMENT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后，其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可以被覆盖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的，即可以简单地在数据插入语句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INSERT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中为该列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指定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只要该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是唯一的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至今尚未使用过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，那么这个值将被用来替代系统自动生成的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并且后续的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增量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将基于该手工插入的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值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DEFAULT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5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DEFAULT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是指在向数据表中插入数据时，如果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没有明确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给出某个字段所对应的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DBMS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将为该字段指定这个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例如，如果汉族同学比较多，那么在学生表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中可将字段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民族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设置默认值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DEFAULT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092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当插入一条新的记录时，如没有给这个字段赋值，那么系统会自动给该字段赋值为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中，字段默认值使用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DEFAULT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关键字来指定。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3.5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学生表的定义中，若要给字段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民族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nation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，创建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数据表对应的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DEFAULT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133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mysql&gt;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CREATE TABLE tb_student2</a:t>
            </a:r>
            <a:endParaRPr kumimoji="0" lang="en-US" altLang="zh-CN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( studentNo CHAR(10) NOT NULL UNIQUE,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udcntName VARCHAR(20) NOT NULL,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sex CHAR(2), birthday DATE, nutive VARCHAR(20),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nation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VARCHAR(10) DEFAULT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‘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汉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’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,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classNo CHAR(6) 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ENGINE=InnoDB;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Qucry OK, 0 rows affected(0.01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DEFAULT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上述语句执行成功后，表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nation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字段则拥有了一个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新插入的记录如果没有指定学生的民族，则该字段的值将默认为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族。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存储引擎类型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6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存储引擎类型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存储引擎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就是</a:t>
            </a:r>
            <a:r>
              <a:rPr kumimoji="0" lang="en-US" altLang="zh-CN" sz="34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如何存储数据、如何为存储的数据建立索引和如何更新、查询数据等技术的实现方法。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因为在关系数据库中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的形式存储的，所以存储引擎实际就是指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存储引擎类型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存储引擎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决定了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在计算机中的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存储方式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中，可以在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ENGINE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存储引擎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选项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为新建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指定数据库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存储引擎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如在例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3.5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中，语句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ENGINE=InnoDB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指定了存储引擎类型为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InnoDB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的引擎。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存储引擎类型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39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数据库提供了多种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存储引擎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，用户可以根据不同的需求为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选择不同的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存储引擎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的核心就是存储引擎。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存储引擎类型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304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692150"/>
            <a:ext cx="8785225" cy="13684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ENGINES;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语句可以查看系统所支持的引擎类型和默认引擎，如下所示。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3044" name="矩形 170"/>
          <p:cNvSpPr/>
          <p:nvPr/>
        </p:nvSpPr>
        <p:spPr>
          <a:xfrm>
            <a:off x="106363" y="2133600"/>
            <a:ext cx="8929687" cy="453707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------------------</a:t>
            </a:r>
            <a:r>
              <a:rPr lang="en-US" altLang="zh-CN" b="1" dirty="0">
                <a:latin typeface="Arial" panose="020B0604020202020204" pitchFamily="34" charset="0"/>
              </a:rPr>
              <a:t>+---------+</a:t>
            </a:r>
            <a:r>
              <a:rPr lang="en-US" altLang="zh-CN" dirty="0">
                <a:latin typeface="Arial" panose="020B0604020202020204" pitchFamily="34" charset="0"/>
              </a:rPr>
              <a:t>------------------------------------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---------------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--------------------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endParaRPr lang="en-US" altLang="zh-CN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|  Enginc</a:t>
            </a:r>
            <a:r>
              <a:rPr lang="en-US" altLang="zh-CN" dirty="0">
                <a:latin typeface="Arial" panose="020B0604020202020204" pitchFamily="34" charset="0"/>
              </a:rPr>
              <a:t>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sz="1600" b="1" dirty="0">
                <a:latin typeface="Arial" panose="020B0604020202020204" pitchFamily="34" charset="0"/>
              </a:rPr>
              <a:t>Support</a:t>
            </a:r>
            <a:r>
              <a:rPr lang="en-US" altLang="zh-CN" b="1" dirty="0">
                <a:latin typeface="Arial" panose="020B0604020202020204" pitchFamily="34" charset="0"/>
              </a:rPr>
              <a:t>| Comment                           |</a:t>
            </a:r>
            <a:r>
              <a:rPr lang="en-US" altLang="zh-CN" sz="1600" b="1" dirty="0">
                <a:latin typeface="Arial" panose="020B0604020202020204" pitchFamily="34" charset="0"/>
              </a:rPr>
              <a:t>Transactions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de-DE" altLang="zh-CN" dirty="0">
                <a:latin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</a:rPr>
              <a:t>XA    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de-DE" altLang="zh-CN" sz="1600" b="1" dirty="0">
                <a:latin typeface="Arial" panose="020B0604020202020204" pitchFamily="34" charset="0"/>
              </a:rPr>
              <a:t>S</a:t>
            </a:r>
            <a:r>
              <a:rPr lang="en-US" altLang="zh-CN" sz="1600" b="1" dirty="0">
                <a:latin typeface="Arial" panose="020B0604020202020204" pitchFamily="34" charset="0"/>
              </a:rPr>
              <a:t>avepoints</a:t>
            </a:r>
            <a:r>
              <a:rPr lang="en-US" altLang="zh-CN" b="1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de-DE" altLang="zh-CN" dirty="0">
                <a:latin typeface="Arial" panose="020B0604020202020204" pitchFamily="34" charset="0"/>
              </a:rPr>
              <a:t>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+------------------+---------+-</a:t>
            </a:r>
            <a:r>
              <a:rPr lang="en-US" altLang="zh-CN" dirty="0">
                <a:latin typeface="Arial" panose="020B0604020202020204" pitchFamily="34" charset="0"/>
              </a:rPr>
              <a:t>-----------------------------------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---------------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---------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r>
              <a:rPr lang="en-US" altLang="zh-CN" dirty="0">
                <a:latin typeface="Arial" panose="020B0604020202020204" pitchFamily="34" charset="0"/>
              </a:rPr>
              <a:t>---------------</a:t>
            </a:r>
            <a:r>
              <a:rPr lang="en-US" altLang="zh-CN" b="1" dirty="0">
                <a:latin typeface="Arial" panose="020B0604020202020204" pitchFamily="34" charset="0"/>
              </a:rPr>
              <a:t>+</a:t>
            </a:r>
            <a:endParaRPr lang="en-US" altLang="zh-CN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| </a:t>
            </a:r>
            <a:r>
              <a:rPr lang="en-US" altLang="zh-CN" dirty="0">
                <a:latin typeface="Arial" panose="020B0604020202020204" pitchFamily="34" charset="0"/>
              </a:rPr>
              <a:t>FEDERATED | N0      | </a:t>
            </a:r>
            <a:r>
              <a:rPr lang="en-US" altLang="zh-CN" sz="1600" b="1" dirty="0">
                <a:latin typeface="Arial" panose="020B0604020202020204" pitchFamily="34" charset="0"/>
              </a:rPr>
              <a:t>FederatedMySQLstorage </a:t>
            </a:r>
            <a:r>
              <a:rPr lang="en-US" altLang="zh-CN" sz="1600" dirty="0">
                <a:latin typeface="Arial" panose="020B0604020202020204" pitchFamily="34" charset="0"/>
              </a:rPr>
              <a:t>      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de-DE" altLang="zh-CN" dirty="0">
                <a:latin typeface="Arial" panose="020B0604020202020204" pitchFamily="34" charset="0"/>
              </a:rPr>
              <a:t> NULL       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de-DE" altLang="zh-CN" dirty="0">
                <a:latin typeface="Arial" panose="020B0604020202020204" pitchFamily="34" charset="0"/>
              </a:rPr>
              <a:t> NULL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de-DE" altLang="zh-CN" dirty="0">
                <a:latin typeface="Arial" panose="020B0604020202020204" pitchFamily="34" charset="0"/>
              </a:rPr>
              <a:t> NULL        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de-DE" altLang="zh-CN" dirty="0">
                <a:latin typeface="Arial" panose="020B0604020202020204" pitchFamily="34" charset="0"/>
              </a:rPr>
              <a:t> </a:t>
            </a:r>
            <a:endParaRPr lang="de-DE" altLang="zh-CN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sz="1700" dirty="0">
                <a:latin typeface="Arial" panose="020B0604020202020204" pitchFamily="34" charset="0"/>
              </a:rPr>
              <a:t>MRG MYISAM  </a:t>
            </a:r>
            <a:r>
              <a:rPr lang="en-US" altLang="zh-CN" dirty="0">
                <a:latin typeface="Arial" panose="020B0604020202020204" pitchFamily="34" charset="0"/>
              </a:rPr>
              <a:t>| YES   | </a:t>
            </a:r>
            <a:r>
              <a:rPr lang="en-US" altLang="zh-CN" sz="1600" b="1" dirty="0">
                <a:latin typeface="Arial" panose="020B0604020202020204" pitchFamily="34" charset="0"/>
              </a:rPr>
              <a:t>Collection ofidentical MylSAM</a:t>
            </a:r>
            <a:r>
              <a:rPr lang="en-US" altLang="zh-CN" dirty="0">
                <a:latin typeface="Arial" panose="020B0604020202020204" pitchFamily="34" charset="0"/>
              </a:rPr>
              <a:t>| NO           | NO     | NO             |</a:t>
            </a:r>
            <a:endParaRPr lang="de-DE" altLang="zh-CN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Arial" panose="020B0604020202020204" pitchFamily="34" charset="0"/>
              </a:rPr>
              <a:t>| MylSAM         | YES    |</a:t>
            </a:r>
            <a:r>
              <a:rPr lang="en-US" altLang="zh-CN" sz="1600" b="1" dirty="0">
                <a:latin typeface="Arial" panose="020B0604020202020204" pitchFamily="34" charset="0"/>
              </a:rPr>
              <a:t> MylSAMstoragccn*nc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            |NO            | NO     | NO            |</a:t>
            </a:r>
            <a:endParaRPr lang="de-DE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BLACKHOLE | YES    | </a:t>
            </a:r>
            <a:r>
              <a:rPr lang="en-US" altLang="zh-CN" sz="1600" b="1" dirty="0">
                <a:latin typeface="Arial" panose="020B0604020202020204" pitchFamily="34" charset="0"/>
              </a:rPr>
              <a:t>/der/null storage engine (anyth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NO          | NO     |  NO           |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                                    | </a:t>
            </a:r>
            <a:r>
              <a:rPr lang="en-US" altLang="zh-CN" sz="1600" b="1" dirty="0">
                <a:latin typeface="Arial" panose="020B0604020202020204" pitchFamily="34" charset="0"/>
              </a:rPr>
              <a:t>you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</a:rPr>
              <a:t>write to it disappears)</a:t>
            </a:r>
            <a:r>
              <a:rPr lang="en-US" altLang="zh-CN" sz="1600" dirty="0">
                <a:latin typeface="Arial" panose="020B0604020202020204" pitchFamily="34" charset="0"/>
              </a:rPr>
              <a:t>       </a:t>
            </a:r>
            <a:r>
              <a:rPr lang="en-US" altLang="zh-CN" dirty="0">
                <a:latin typeface="Arial" panose="020B0604020202020204" pitchFamily="34" charset="0"/>
              </a:rPr>
              <a:t>                                                 |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CSV     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YES    </a:t>
            </a:r>
            <a:r>
              <a:rPr lang="en-US" altLang="zh-CN" b="1" dirty="0">
                <a:latin typeface="Arial" panose="020B0604020202020204" pitchFamily="34" charset="0"/>
              </a:rPr>
              <a:t>| </a:t>
            </a:r>
            <a:r>
              <a:rPr lang="en-US" altLang="zh-CN" sz="1600" b="1" dirty="0">
                <a:latin typeface="Arial" panose="020B0604020202020204" pitchFamily="34" charset="0"/>
              </a:rPr>
              <a:t>CSV storage enginc</a:t>
            </a:r>
            <a:r>
              <a:rPr lang="en-US" altLang="zh-CN" dirty="0">
                <a:latin typeface="Arial" panose="020B0604020202020204" pitchFamily="34" charset="0"/>
              </a:rPr>
              <a:t>     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MEMORY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YES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</a:rPr>
              <a:t>Hash based,stored in memory,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                                    | </a:t>
            </a:r>
            <a:r>
              <a:rPr lang="en-US" altLang="zh-CN" sz="1600" b="1" dirty="0">
                <a:latin typeface="Arial" panose="020B0604020202020204" pitchFamily="34" charset="0"/>
              </a:rPr>
              <a:t>useful for temporary tables</a:t>
            </a:r>
            <a:r>
              <a:rPr lang="en-US" altLang="zh-CN" dirty="0">
                <a:latin typeface="Arial" panose="020B0604020202020204" pitchFamily="34" charset="0"/>
              </a:rPr>
              <a:t>                                                      |</a:t>
            </a:r>
            <a:endParaRPr lang="en-US" altLang="zh-CN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ARCHIVE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YES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</a:rPr>
              <a:t>Archive storage engine</a:t>
            </a:r>
            <a:r>
              <a:rPr lang="en-US" altLang="zh-CN" sz="1600" dirty="0">
                <a:latin typeface="Arial" panose="020B0604020202020204" pitchFamily="34" charset="0"/>
              </a:rPr>
              <a:t> 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NO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InnoDB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sz="1600" b="1" dirty="0">
                <a:latin typeface="Arial" panose="020B0604020202020204" pitchFamily="34" charset="0"/>
              </a:rPr>
              <a:t>DEFAULT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</a:rPr>
              <a:t>Supports transactions,row-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YES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YES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YES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                                      </a:t>
            </a:r>
            <a:r>
              <a:rPr lang="en-US" altLang="zh-CN" b="1" dirty="0">
                <a:latin typeface="Arial" panose="020B0604020202020204" pitchFamily="34" charset="0"/>
              </a:rPr>
              <a:t>| </a:t>
            </a:r>
            <a:r>
              <a:rPr lang="en-US" altLang="zh-CN" sz="1600" b="1" dirty="0">
                <a:latin typeface="Arial" panose="020B0604020202020204" pitchFamily="34" charset="0"/>
              </a:rPr>
              <a:t>levellocking,and foreign keys</a:t>
            </a:r>
            <a:r>
              <a:rPr lang="en-US" altLang="zh-CN" sz="1600" dirty="0">
                <a:latin typeface="Arial" panose="020B0604020202020204" pitchFamily="34" charset="0"/>
              </a:rPr>
              <a:t>                                                       </a:t>
            </a:r>
            <a:r>
              <a:rPr lang="en-US" altLang="zh-CN" dirty="0">
                <a:latin typeface="Arial" panose="020B0604020202020204" pitchFamily="34" charset="0"/>
              </a:rPr>
              <a:t>|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sz="1200" b="1" dirty="0">
                <a:latin typeface="Arial" panose="020B0604020202020204" pitchFamily="34" charset="0"/>
              </a:rPr>
              <a:t>PERFORMANCE_SCHEMA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YES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sz="1600" b="1" dirty="0">
                <a:latin typeface="Arial" panose="020B0604020202020204" pitchFamily="34" charset="0"/>
              </a:rPr>
              <a:t>Performance Schema              </a:t>
            </a:r>
            <a:r>
              <a:rPr lang="en-US" altLang="zh-CN" b="1" dirty="0">
                <a:latin typeface="Arial" panose="020B0604020202020204" pitchFamily="34" charset="0"/>
              </a:rPr>
              <a:t>|</a:t>
            </a:r>
            <a:r>
              <a:rPr lang="en-US" altLang="zh-CN" dirty="0">
                <a:latin typeface="Arial" panose="020B0604020202020204" pitchFamily="34" charset="0"/>
              </a:rPr>
              <a:t>NO            | NO     | NO           |</a:t>
            </a:r>
            <a:endParaRPr lang="de-DE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+--------------------+---------+--------------------------------------+-------------+---------+------------+ </a:t>
            </a:r>
            <a:endParaRPr lang="en-US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b="1" dirty="0">
                <a:latin typeface="Arial" panose="020B0604020202020204" pitchFamily="34" charset="0"/>
              </a:rPr>
              <a:t>9 rows in set &lt;0.02 sec&gt;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3044">
                                            <p:txEl>
                                              <p:charRg st="0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10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3044">
                                            <p:txEl>
                                              <p:charRg st="110" end="2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210" end="3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3044">
                                            <p:txEl>
                                              <p:charRg st="210" end="3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320" end="4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3044">
                                            <p:txEl>
                                              <p:charRg st="320" end="4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412" end="5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3044">
                                            <p:txEl>
                                              <p:charRg st="412" end="5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507" end="6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3044">
                                            <p:txEl>
                                              <p:charRg st="507" end="6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608" end="7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3044">
                                            <p:txEl>
                                              <p:charRg st="608" end="7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703" end="8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3044">
                                            <p:txEl>
                                              <p:charRg st="703" end="8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828" end="9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3044">
                                            <p:txEl>
                                              <p:charRg st="828" end="9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252" end="13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3044">
                                            <p:txEl>
                                              <p:charRg st="1252" end="13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347" end="14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3044">
                                            <p:txEl>
                                              <p:charRg st="1347" end="14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474" end="15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3044">
                                            <p:txEl>
                                              <p:charRg st="1474" end="15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571" end="16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3044">
                                            <p:txEl>
                                              <p:charRg st="1571" end="16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681" end="17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3044">
                                            <p:txEl>
                                              <p:charRg st="1681" end="17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934" end="10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3044">
                                            <p:txEl>
                                              <p:charRg st="934" end="10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028" end="1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3044">
                                            <p:txEl>
                                              <p:charRg st="1028" end="1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>
                                            <p:txEl>
                                              <p:charRg st="1151" end="1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3044">
                                            <p:txEl>
                                              <p:charRg st="1151" end="12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r>
              <a:rPr lang="en-US" altLang="zh-CN" dirty="0"/>
              <a:t>MyISAM</a:t>
            </a:r>
            <a:r>
              <a:rPr lang="zh-CN" altLang="en-US" dirty="0"/>
              <a:t>和</a:t>
            </a:r>
            <a:r>
              <a:rPr lang="en-US" altLang="zh-CN" dirty="0"/>
              <a:t>InnoDB</a:t>
            </a:r>
            <a:r>
              <a:rPr lang="zh-CN" altLang="en-US" dirty="0"/>
              <a:t>的区别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en-US" altLang="zh-CN" sz="3400" b="1" i="0" u="heavy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InnoDB支持事务，MyISAM不支持，对于InnoDB每一条SQL语言都默认封装成事务，自动提交，这样会影响速度，所以最好把多条SQL语言放在begin和commit之间，组成一个事务。</a:t>
            </a:r>
            <a:endParaRPr kumimoji="0" lang="en-US" altLang="zh-CN" sz="3400" b="1" i="0" u="heavy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r>
              <a:rPr lang="en-US" altLang="zh-CN" dirty="0"/>
              <a:t>MyISAM</a:t>
            </a:r>
            <a:r>
              <a:rPr lang="zh-CN" altLang="en-US" dirty="0"/>
              <a:t>和</a:t>
            </a:r>
            <a:r>
              <a:rPr lang="en-US" altLang="zh-CN" dirty="0"/>
              <a:t>InnoDB</a:t>
            </a:r>
            <a:r>
              <a:rPr lang="zh-CN" altLang="en-US" dirty="0"/>
              <a:t>的区别</a:t>
            </a:r>
            <a:endParaRPr lang="zh-CN" altLang="en-US" dirty="0"/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" altLang="zh-CN" dirty="0"/>
              <a:t>2. </a:t>
            </a:r>
            <a:r>
              <a:rPr lang="" altLang="zh-CN" u="sng" dirty="0"/>
              <a:t>InnoDB支持外键，而MyISAM不支持。对一个包含外键的InnoDB表转为MYISAM会失败。</a:t>
            </a:r>
            <a:endParaRPr lang="" altLang="zh-CN" u="sng" dirty="0"/>
          </a:p>
          <a:p>
            <a:r>
              <a:rPr lang="" altLang="zh-CN" u="sng" dirty="0"/>
              <a:t>3.InnoDB是聚集索引，使用B加Tree作为索引结构，数据文件是和索引绑在一起的，必须要有主键，通过主键索引效率很高。</a:t>
            </a:r>
            <a:endParaRPr lang="" altLang="zh-CN" u="sng" dirty="0"/>
          </a:p>
          <a:p>
            <a:pPr marL="457200" lvl="1" indent="0">
              <a:buNone/>
            </a:pPr>
            <a:r>
              <a:rPr lang="" altLang="zh-CN" sz="2200" u="sng" dirty="0">
                <a:ea typeface="宋体" panose="02010600030101010101" pitchFamily="2" charset="-122"/>
              </a:rPr>
              <a:t>但是辅助索引需要两次查询，先查询到主键，然后再通过主键查询到数据。因此，主键不应该过大，因为主键太大，其他索引也都会很大。</a:t>
            </a:r>
            <a:endParaRPr lang="" altLang="zh-CN" sz="2200" u="sng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r>
              <a:rPr lang="en-US" altLang="zh-CN" dirty="0"/>
              <a:t>MyISAM</a:t>
            </a:r>
            <a:r>
              <a:rPr lang="zh-CN" altLang="en-US" dirty="0"/>
              <a:t>和</a:t>
            </a:r>
            <a:r>
              <a:rPr lang="en-US" altLang="zh-CN" dirty="0"/>
              <a:t>InnoDB</a:t>
            </a:r>
            <a:r>
              <a:rPr lang="zh-CN" altLang="en-US" dirty="0"/>
              <a:t>的区别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 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存储结构不同</a:t>
            </a:r>
            <a:endParaRPr kumimoji="0" lang="zh-CN" altLang="en-US" sz="2255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MyISAM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在磁盘上会存储为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个文件，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.frm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文件存储表定义，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.myd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文件存储数据文件，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.myi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存储索引文件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altLang="zh-CN" sz="2255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InnoDB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存储为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个文件，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.frm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文件和</a:t>
            </a:r>
            <a:r>
              <a:rPr kumimoji="0" lang="en-US" altLang="zh-CN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.ibd</a:t>
            </a:r>
            <a:r>
              <a:rPr kumimoji="0" lang="zh-CN" altLang="en-US" sz="2255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文件。</a:t>
            </a:r>
            <a:endParaRPr kumimoji="0" lang="zh-CN" altLang="en-US" sz="2255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04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3.2.3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查看表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语句创建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之后，可以查看数据表的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名称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表结构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的定义，以确定表的定义是否正确。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查看表的名称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中，可以使用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SHOW TABLES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语句来查看指定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中所有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名称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创建表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存储引擎类型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584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SHOW TABLES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{ FROM| IN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db_name ];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使用选项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{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FROM | IN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可以显示非当前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名称。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3.6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中所有的表名。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查看当前数据库中的数据库表名称的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语句如下：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USE db_school;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rgbClr val="111111"/>
                </a:solidFill>
              </a:rPr>
              <a:t>Database changed</a:t>
            </a:r>
            <a:endParaRPr lang="en-US" altLang="zh-CN" dirty="0">
              <a:solidFill>
                <a:srgbClr val="111111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SHOW TABLES;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其执行结果为：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7620" name="矩形 170"/>
          <p:cNvSpPr/>
          <p:nvPr/>
        </p:nvSpPr>
        <p:spPr>
          <a:xfrm>
            <a:off x="1331913" y="3357563"/>
            <a:ext cx="5688012" cy="274002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</a:rPr>
              <a:t>|  Tables_in_db_school       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|  </a:t>
            </a:r>
            <a:r>
              <a:rPr lang="de-DE" altLang="zh-CN" sz="2400" b="1" dirty="0">
                <a:latin typeface="Arial" panose="020B0604020202020204" pitchFamily="34" charset="0"/>
              </a:rPr>
              <a:t>tb_student                       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r>
              <a:rPr lang="de-DE" altLang="zh-CN" sz="2400" b="1" dirty="0">
                <a:latin typeface="Arial" panose="020B0604020202020204" pitchFamily="34" charset="0"/>
              </a:rPr>
              <a:t>   </a:t>
            </a:r>
            <a:endParaRPr lang="de-DE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</a:rPr>
              <a:t>|  </a:t>
            </a:r>
            <a:r>
              <a:rPr lang="de-DE" altLang="zh-CN" sz="2400" b="1" dirty="0">
                <a:latin typeface="Arial" panose="020B0604020202020204" pitchFamily="34" charset="0"/>
              </a:rPr>
              <a:t>tb_student1                     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|  tb_student2                       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3 row in set &lt;0.00 sec&gt;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620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4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7620">
                                            <p:txEl>
                                              <p:charRg st="41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7620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11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7620">
                                            <p:txEl>
                                              <p:charRg st="115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160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7620">
                                            <p:txEl>
                                              <p:charRg st="160" end="2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201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7620">
                                            <p:txEl>
                                              <p:charRg st="201" end="2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242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7620">
                                            <p:txEl>
                                              <p:charRg st="242" end="2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>
                                            <p:txEl>
                                              <p:charRg st="283" end="3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7620">
                                            <p:txEl>
                                              <p:charRg st="283" end="3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en-US" dirty="0"/>
              <a:t>查看非当前数据库中的数据库表名称的</a:t>
            </a:r>
            <a:r>
              <a:rPr lang="en-US" altLang="zh-CN" dirty="0"/>
              <a:t>SQL</a:t>
            </a:r>
            <a:r>
              <a:rPr lang="zh-CN" altLang="en-US" dirty="0"/>
              <a:t>语句如下：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SHOW TABLES FROM db_school;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en-US" dirty="0"/>
              <a:t>或</a:t>
            </a:r>
            <a:endParaRPr lang="zh-CN" altLang="en-US" dirty="0"/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SHOW TABLES IN db_school;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/>
              <a:t> </a:t>
            </a:r>
            <a:r>
              <a:rPr lang="zh-CN" altLang="en-US" dirty="0"/>
              <a:t>其执行结果为：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9908" name="矩形 170"/>
          <p:cNvSpPr/>
          <p:nvPr/>
        </p:nvSpPr>
        <p:spPr>
          <a:xfrm>
            <a:off x="1619250" y="3860800"/>
            <a:ext cx="5688013" cy="274002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</a:rPr>
              <a:t>|  Tables_in_db_school       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|  </a:t>
            </a:r>
            <a:r>
              <a:rPr lang="de-DE" altLang="zh-CN" sz="2400" b="1" dirty="0">
                <a:latin typeface="Arial" panose="020B0604020202020204" pitchFamily="34" charset="0"/>
              </a:rPr>
              <a:t>tb_student                       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r>
              <a:rPr lang="de-DE" altLang="zh-CN" sz="2400" b="1" dirty="0">
                <a:latin typeface="Arial" panose="020B0604020202020204" pitchFamily="34" charset="0"/>
              </a:rPr>
              <a:t>   </a:t>
            </a:r>
            <a:endParaRPr lang="de-DE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en-US" altLang="zh-CN" sz="2400" b="1" dirty="0">
                <a:latin typeface="Arial" panose="020B0604020202020204" pitchFamily="34" charset="0"/>
              </a:rPr>
              <a:t>|  </a:t>
            </a:r>
            <a:r>
              <a:rPr lang="de-DE" altLang="zh-CN" sz="2400" b="1" dirty="0">
                <a:latin typeface="Arial" panose="020B0604020202020204" pitchFamily="34" charset="0"/>
              </a:rPr>
              <a:t>tb_student1                      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</a:rPr>
              <a:t>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 |  tb_student2                       |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+-------------------------------------+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Arial" panose="020B0604020202020204" pitchFamily="34" charset="0"/>
              </a:rPr>
              <a:t> 3 row in set &lt;0.00 sec&gt;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9908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41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9908">
                                            <p:txEl>
                                              <p:charRg st="41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9908">
                                            <p:txEl>
                                              <p:charRg st="74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115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9908">
                                            <p:txEl>
                                              <p:charRg st="115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160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9908">
                                            <p:txEl>
                                              <p:charRg st="160" end="2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201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9908">
                                            <p:txEl>
                                              <p:charRg st="201" end="2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242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9908">
                                            <p:txEl>
                                              <p:charRg st="242" end="2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>
                                            <p:txEl>
                                              <p:charRg st="283" end="3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9908">
                                            <p:txEl>
                                              <p:charRg st="283" end="3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查看数据表基本结构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查看数据表基本结构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DESCRIBE/DESC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语句或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COLUMNS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语句查看指定数据表的结构，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包括字段名、字段的数据类型、字段值是否允许为空、是否为主键、是否有默认值等。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SHOW COLUMNS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SHOW COLUMNS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FROM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IN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FROM | IN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}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db_name]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；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查看数据表基本结构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973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DESCRIBE / DESC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DESCRIBE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DESC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}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tb_name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；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说明：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支持用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DESCRIBE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作为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SHOW COLUMNS FROM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的一种快捷方式。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查看数据表基本结构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例</a:t>
            </a:r>
            <a:r>
              <a:rPr lang="en-US" altLang="zh-CN" dirty="0"/>
              <a:t>3.7 </a:t>
            </a:r>
            <a:r>
              <a:rPr lang="zh-CN" altLang="en-US" dirty="0"/>
              <a:t>查看数据库</a:t>
            </a:r>
            <a:r>
              <a:rPr lang="en-US" altLang="zh-CN" dirty="0"/>
              <a:t>db_school</a:t>
            </a:r>
            <a:r>
              <a:rPr lang="zh-CN" altLang="en-US" dirty="0"/>
              <a:t>中表</a:t>
            </a:r>
            <a:r>
              <a:rPr lang="en-US" altLang="zh-CN" dirty="0"/>
              <a:t>tb_student</a:t>
            </a:r>
            <a:r>
              <a:rPr lang="zh-CN" altLang="en-US" dirty="0"/>
              <a:t>的结构。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的命令行客户端输入如下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/>
              <a:t>mysql&gt; SHOW COLUMNS FROM tb_student2;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或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/>
              <a:t>mysql&gt; DESC tb_student2;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查看数据表基本结构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421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显示</a:t>
            </a:r>
            <a:r>
              <a:rPr lang="en-US" altLang="zh-CN" dirty="0"/>
              <a:t>tb_student2</a:t>
            </a:r>
            <a:r>
              <a:rPr lang="zh-CN" altLang="en-US" dirty="0"/>
              <a:t>结构的执行结果为：   </a:t>
            </a:r>
            <a:endParaRPr lang="zh-CN" altLang="en-US" dirty="0"/>
          </a:p>
        </p:txBody>
      </p:sp>
      <p:sp>
        <p:nvSpPr>
          <p:cNvPr id="407556" name="矩形 170"/>
          <p:cNvSpPr/>
          <p:nvPr/>
        </p:nvSpPr>
        <p:spPr>
          <a:xfrm>
            <a:off x="323850" y="1649413"/>
            <a:ext cx="8351838" cy="4100512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studentNo      | char(10)      | NO  | PRI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sex                 | char(2)        | YES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birthday         | date            | YES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native            | varchar(20)  | YES |        | NULL   |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nation            | varchar(10)  | YES |        | NULL   |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classNo          | char(6)        | YES  |        | NULL   |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Arial" panose="020B0604020202020204" pitchFamily="34" charset="0"/>
              </a:rPr>
              <a:t>7 rows in set (0.05 sec)</a:t>
            </a:r>
            <a:endParaRPr lang="en-US" altLang="zh-CN" sz="2000" b="1" dirty="0">
              <a:latin typeface="Lucida Sans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7556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7556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247" end="3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7556">
                                            <p:txEl>
                                              <p:charRg st="247" end="3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7556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315" end="3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7556">
                                            <p:txEl>
                                              <p:charRg st="315" end="3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7556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456" end="5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7556">
                                            <p:txEl>
                                              <p:charRg st="456" end="5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530" end="6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7556">
                                            <p:txEl>
                                              <p:charRg st="530" end="6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601" end="6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7556">
                                            <p:txEl>
                                              <p:charRg st="601" end="6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672" end="7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7556">
                                            <p:txEl>
                                              <p:charRg st="672" end="7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745" end="8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7556">
                                            <p:txEl>
                                              <p:charRg st="745" end="8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>
                                            <p:txEl>
                                              <p:charRg st="832" end="8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7556">
                                            <p:txEl>
                                              <p:charRg st="832" end="8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查看数据表详细结构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98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查看数据表的详细结构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CREATE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语句可以查看创建表时的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其语法格式是：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SHOW CREATE TABLE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tb_name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查看数据表详细结构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249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3.8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的详细信息。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 SHOW CREATE TABLE tb_student1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\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G;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其执行结果如下：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CREATE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语句不仅可以查看创建表时的详细语句，而且还可以查看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存储引擎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字符编码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97282" name="Rectangle 5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0086" name="矩形 170"/>
          <p:cNvSpPr/>
          <p:nvPr/>
        </p:nvSpPr>
        <p:spPr>
          <a:xfrm>
            <a:off x="179388" y="404813"/>
            <a:ext cx="8713787" cy="6288087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105000"/>
              </a:lnSpc>
            </a:pPr>
            <a:r>
              <a:rPr lang="en-US" altLang="zh-CN" sz="2400" b="1" dirty="0">
                <a:latin typeface="Lucida Sans" pitchFamily="34" charset="0"/>
              </a:rPr>
              <a:t>********************** 1. row *************************</a:t>
            </a:r>
            <a:endParaRPr lang="en-US" altLang="zh-CN" sz="2400" b="1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b="1" dirty="0">
                <a:latin typeface="Lucida Sans" pitchFamily="34" charset="0"/>
              </a:rPr>
              <a:t>       </a:t>
            </a:r>
            <a:r>
              <a:rPr lang="en-US" altLang="zh-CN" sz="2400" dirty="0">
                <a:latin typeface="Lucida Sans" pitchFamily="34" charset="0"/>
              </a:rPr>
              <a:t>Table: tb_student1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Create Table: CREATE TABLE `tb_student1` (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`studentNo`int(10) NOT NULL AUTO_INCREMENT,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`studentName` varchar(20) NOT NULL,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`sex` char(2) DEFAULT NULL,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`birthday` date DEFAULT NULL,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`native` varchar(20) DEFAULT NULL,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`nation` varchar(10) DEFAULT NULL,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`classNo` char(6) DEFAULT NULL,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UNIQUE KEY `studentNo` (`studentNo`)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 ) ENGINE=InnoDB  DEFAULT CHARSET=gb2312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1 row in set (0.03 sec)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ERROR:</a:t>
            </a:r>
            <a:endParaRPr lang="en-US" altLang="zh-CN" sz="2400" dirty="0">
              <a:latin typeface="Lucida Sans" pitchFamily="34" charset="0"/>
            </a:endParaRPr>
          </a:p>
          <a:p>
            <a:pPr eaLnBrk="1" hangingPunct="1">
              <a:lnSpc>
                <a:spcPct val="105000"/>
              </a:lnSpc>
            </a:pPr>
            <a:r>
              <a:rPr lang="en-US" altLang="zh-CN" sz="2400" dirty="0">
                <a:latin typeface="Lucida Sans" pitchFamily="34" charset="0"/>
              </a:rPr>
              <a:t>No query specified</a:t>
            </a:r>
            <a:endParaRPr lang="en-US" altLang="zh-CN" sz="2400" dirty="0">
              <a:latin typeface="Lucida Sans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086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086">
                                            <p:txEl>
                                              <p:charRg st="56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82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0086">
                                            <p:txEl>
                                              <p:charRg st="82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125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0086">
                                            <p:txEl>
                                              <p:charRg st="125" end="1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170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0086">
                                            <p:txEl>
                                              <p:charRg st="170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207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0086">
                                            <p:txEl>
                                              <p:charRg st="207" end="2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236" end="2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0086">
                                            <p:txEl>
                                              <p:charRg st="236" end="2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267" end="3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0086">
                                            <p:txEl>
                                              <p:charRg st="267" end="3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303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0086">
                                            <p:txEl>
                                              <p:charRg st="303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339" end="3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0086">
                                            <p:txEl>
                                              <p:charRg st="339" end="3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372" end="4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0086">
                                            <p:txEl>
                                              <p:charRg st="372" end="4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410" end="4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0086">
                                            <p:txEl>
                                              <p:charRg st="410" end="4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451" end="4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0086">
                                            <p:txEl>
                                              <p:charRg st="451" end="4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476" end="4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0086">
                                            <p:txEl>
                                              <p:charRg st="476" end="4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>
                                            <p:txEl>
                                              <p:charRg st="483" end="5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30086">
                                            <p:txEl>
                                              <p:charRg st="483" end="5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查看数据表详细结构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语句不仅可以查看创建表时的详细语句，而且还可以查看存储引擎和字符编码。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74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3.2.4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修改表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修改表是对数据库中已经创建的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表结构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调整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语句来修改原有的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表结构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常用的修改表操作有：修改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或字段的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字段、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排列位置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、更改表的引擎类型、增加和删除表的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26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添加字段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根据应用需求的变化，可能需要在已有的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添加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新的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语句中，可以使用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子句向表中添加新字段，可以同时增加多个字段。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添加字段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常用的语法格式：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/>
          </a:p>
        </p:txBody>
      </p:sp>
      <p:sp>
        <p:nvSpPr>
          <p:cNvPr id="12349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tb_name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ADD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[COLUMN]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新字段名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数据类型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约束条件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[ FIRST | AFTER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已有字段名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];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可选项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约束条件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用于指定字段取值不为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、字段的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约束等。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59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可选项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AFTER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已有字段名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用于指定新增字段在表中的位置：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FIRST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表示将新添加的字段设置为表的第一个字段，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AFTER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表示将新添加的字段加到指定的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“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已有字段名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”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的后面，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如果语句中没有这两个参数，则默认将新添加的字段数据表的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最后一列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3.9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中添加一个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型字段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id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要求其不能为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取值唯一且自动增加，并将该字段添加到表的第一个字段。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445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的命令行客户端输入如下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/>
              <a:t>mysql&gt; ALTER TABLE db_school.tb_student2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-&gt; ADD COLUMN id INT NOT NULL UNIQUE AUTO_INCREMENT FIRST;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/>
              <a:t>Query OK</a:t>
            </a:r>
            <a:r>
              <a:rPr lang="zh-CN" altLang="en-US" dirty="0"/>
              <a:t>，</a:t>
            </a:r>
            <a:r>
              <a:rPr lang="en-US" altLang="zh-CN" dirty="0"/>
              <a:t>0 rows affected (0.11 sec)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Records</a:t>
            </a:r>
            <a:r>
              <a:rPr lang="zh-CN" altLang="en-US" dirty="0"/>
              <a:t>：</a:t>
            </a:r>
            <a:r>
              <a:rPr lang="en-US" altLang="zh-CN" dirty="0"/>
              <a:t>0  Duplicates</a:t>
            </a:r>
            <a:r>
              <a:rPr lang="zh-CN" altLang="en-US" dirty="0"/>
              <a:t>：</a:t>
            </a:r>
            <a:r>
              <a:rPr lang="en-US" altLang="zh-CN" dirty="0"/>
              <a:t>0  Warnings</a:t>
            </a:r>
            <a:r>
              <a:rPr lang="zh-CN" altLang="en-US" dirty="0"/>
              <a:t>：</a:t>
            </a:r>
            <a:r>
              <a:rPr lang="en-US" altLang="zh-CN" dirty="0"/>
              <a:t>0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547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使用</a:t>
            </a:r>
            <a:r>
              <a:rPr lang="en-US" altLang="zh-CN" dirty="0"/>
              <a:t>DESC tb_student2 </a:t>
            </a:r>
            <a:r>
              <a:rPr lang="zh-CN" altLang="en-US" dirty="0"/>
              <a:t>查看表结构，结果如下：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74116" name="矩形 170"/>
          <p:cNvSpPr/>
          <p:nvPr/>
        </p:nvSpPr>
        <p:spPr>
          <a:xfrm>
            <a:off x="396875" y="2235200"/>
            <a:ext cx="8351838" cy="407352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+------------------+------------------+-------+-------+-------------+---------------------------+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Field         | Type         | Null | Key |Default | Extra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+------------------+------------------+-------+-------+-------------+---------------------------+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 id</a:t>
            </a:r>
            <a:r>
              <a:rPr lang="en-US" altLang="zh-CN" sz="2000" b="1" dirty="0">
                <a:latin typeface="Lucida Sans" pitchFamily="34" charset="0"/>
              </a:rPr>
              <a:t>               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int(11)</a:t>
            </a:r>
            <a:r>
              <a:rPr lang="en-US" altLang="zh-CN" sz="2000" b="1" dirty="0">
                <a:latin typeface="Lucida Sans" pitchFamily="34" charset="0"/>
              </a:rPr>
              <a:t>      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NO </a:t>
            </a:r>
            <a:r>
              <a:rPr lang="en-US" altLang="zh-CN" sz="2000" b="1" dirty="0">
                <a:latin typeface="Lucida Sans" pitchFamily="34" charset="0"/>
              </a:rPr>
              <a:t> 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UNI </a:t>
            </a:r>
            <a:r>
              <a:rPr lang="en-US" altLang="zh-CN" sz="2000" b="1" dirty="0">
                <a:latin typeface="Lucida Sans" pitchFamily="34" charset="0"/>
              </a:rPr>
              <a:t>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NULL</a:t>
            </a:r>
            <a:r>
              <a:rPr lang="en-US" altLang="zh-CN" sz="2000" b="1" dirty="0">
                <a:latin typeface="Lucida Sans" pitchFamily="34" charset="0"/>
              </a:rPr>
              <a:t>    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auto_increment</a:t>
            </a:r>
            <a:r>
              <a:rPr lang="en-US" altLang="zh-CN" sz="2000" b="1" dirty="0">
                <a:latin typeface="Lucida Sans" pitchFamily="34" charset="0"/>
              </a:rPr>
              <a:t>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 studentNo | char(10)    | NO   | PRI | NULL   |          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|udcntName|varchar(20)| NO   |       | NULL    |          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 sex            | char(2)      | YES  |       | NULL    |</a:t>
            </a:r>
            <a:r>
              <a:rPr lang="en-US" altLang="zh-CN" dirty="0">
                <a:latin typeface="Arial" panose="020B0604020202020204" pitchFamily="34" charset="0"/>
              </a:rPr>
              <a:t>                                  </a:t>
            </a:r>
            <a:r>
              <a:rPr lang="en-US" altLang="zh-CN" sz="2000" b="1" dirty="0">
                <a:latin typeface="Lucida Sans" pitchFamily="34" charset="0"/>
              </a:rPr>
              <a:t>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 birthday    | date          | YES  |       | NULL    |          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 nutive       |varchar(20)| YES  |       | NULL    |          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 nation       |varchar(10)| YES  |       | </a:t>
            </a:r>
            <a:r>
              <a:rPr lang="zh-CN" altLang="en-US" sz="2000" b="1" dirty="0">
                <a:latin typeface="Lucida Sans" pitchFamily="34" charset="0"/>
              </a:rPr>
              <a:t>汉         </a:t>
            </a:r>
            <a:r>
              <a:rPr lang="en-US" altLang="zh-CN" sz="2000" b="1" dirty="0">
                <a:latin typeface="Lucida Sans" pitchFamily="34" charset="0"/>
              </a:rPr>
              <a:t>|          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| classNo     | char(6)      | YES  |       | NULL    |          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+------------------+------------------+-------+-------+-------------+---------------------------+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8 rows in set (0.03 sec)</a:t>
            </a:r>
            <a:endParaRPr lang="en-US" altLang="zh-CN" sz="2000" b="1" dirty="0">
              <a:latin typeface="Lucida Sans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0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4116">
                                            <p:txEl>
                                              <p:charRg st="0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98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4116">
                                            <p:txEl>
                                              <p:charRg st="98" end="1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178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4116">
                                            <p:txEl>
                                              <p:charRg st="178" end="2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276" end="3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4116">
                                            <p:txEl>
                                              <p:charRg st="276" end="3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351" end="4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74116">
                                            <p:txEl>
                                              <p:charRg st="351" end="4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429" end="5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4116">
                                            <p:txEl>
                                              <p:charRg st="429" end="5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506" end="6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4116">
                                            <p:txEl>
                                              <p:charRg st="506" end="6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600" end="6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4116">
                                            <p:txEl>
                                              <p:charRg st="600" end="6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685" end="7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4116">
                                            <p:txEl>
                                              <p:charRg st="685" end="7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767" end="8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4116">
                                            <p:txEl>
                                              <p:charRg st="767" end="8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851" end="9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4116">
                                            <p:txEl>
                                              <p:charRg st="851" end="9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1033" end="10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74116">
                                            <p:txEl>
                                              <p:charRg st="1033" end="10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6">
                                            <p:txEl>
                                              <p:charRg st="935" end="10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4116">
                                            <p:txEl>
                                              <p:charRg st="935" end="10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3.10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中添加一个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VARCHAR(16)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类型的字段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用于描述学生所在院系，要求设置其默认值为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“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信息学院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”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并将该字段添加到原表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nation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列之后。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52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的命令行客户端输入如下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/>
              <a:t>mysql&gt; ALTER TABLE db_school.tb_student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-&gt;  ADD COLUMN department VARCHAR(16)DEFAULT </a:t>
            </a:r>
            <a:r>
              <a:rPr lang="en-US" altLang="zh-CN" dirty="0">
                <a:latin typeface="Arial" panose="020B0604020202020204" pitchFamily="34" charset="0"/>
              </a:rPr>
              <a:t>‘</a:t>
            </a:r>
            <a:r>
              <a:rPr lang="zh-CN" altLang="en-US" dirty="0"/>
              <a:t>信息学院</a:t>
            </a:r>
            <a:r>
              <a:rPr lang="zh-CN" altLang="en-US" dirty="0">
                <a:latin typeface="Arial" panose="020B0604020202020204" pitchFamily="34" charset="0"/>
              </a:rPr>
              <a:t>’</a:t>
            </a:r>
            <a:r>
              <a:rPr lang="zh-CN" altLang="en-US" dirty="0"/>
              <a:t> </a:t>
            </a:r>
            <a:r>
              <a:rPr lang="en-US" altLang="zh-CN" dirty="0"/>
              <a:t>AFTER nation;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/>
              <a:t>Query OK</a:t>
            </a:r>
            <a:r>
              <a:rPr lang="zh-CN" altLang="en-US" dirty="0"/>
              <a:t>，</a:t>
            </a:r>
            <a:r>
              <a:rPr lang="en-US" altLang="zh-CN" dirty="0"/>
              <a:t>0 rows affected(0.05 sec)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Records</a:t>
            </a:r>
            <a:r>
              <a:rPr lang="zh-CN" altLang="en-US" dirty="0"/>
              <a:t>：</a:t>
            </a:r>
            <a:r>
              <a:rPr lang="en-US" altLang="zh-CN" dirty="0"/>
              <a:t>0  Duplicates</a:t>
            </a:r>
            <a:r>
              <a:rPr lang="zh-CN" altLang="en-US" dirty="0"/>
              <a:t>：</a:t>
            </a:r>
            <a:r>
              <a:rPr lang="en-US" altLang="zh-CN" dirty="0"/>
              <a:t>0  Warnings</a:t>
            </a:r>
            <a:r>
              <a:rPr lang="zh-CN" altLang="en-US" dirty="0"/>
              <a:t>：</a:t>
            </a:r>
            <a:r>
              <a:rPr lang="en-US" altLang="zh-CN" dirty="0"/>
              <a:t>0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语句查看表，结果如下：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94596" name="矩形 170"/>
          <p:cNvSpPr>
            <a:spLocks noChangeArrowheads="1"/>
          </p:cNvSpPr>
          <p:nvPr/>
        </p:nvSpPr>
        <p:spPr bwMode="auto">
          <a:xfrm>
            <a:off x="396875" y="2235200"/>
            <a:ext cx="8135938" cy="4073525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Field             | Type            | Null | Key |Default | Extra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studentNo    | char(10)       | NO   | PRI | NULL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|studentName| varchar(20)  | NO   |       | NULL    |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sex               | char(2)         | YES  |       | NULL    |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birthday       | date             | YES  |       | NULL 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nutive          | varchar(20)  | YES  |       | NULL 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nation          | varchar(10)  | YES  |       |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NULL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department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  |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varchar(16)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YES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|       |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信息学院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classNo        | char(6)         | YES  |       | NULL    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8 rows in set (0.05 sec)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4596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4596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4596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4596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4596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4596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497" end="5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4596">
                                            <p:txEl>
                                              <p:charRg st="497" end="5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578" end="6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4596">
                                            <p:txEl>
                                              <p:charRg st="578" end="6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656" end="7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4596">
                                            <p:txEl>
                                              <p:charRg st="656" end="7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736" end="8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4596">
                                            <p:txEl>
                                              <p:charRg st="736" end="8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808" end="8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4596">
                                            <p:txEl>
                                              <p:charRg st="808" end="8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984" end="10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4596">
                                            <p:txEl>
                                              <p:charRg st="984" end="10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>
                                            <p:txEl>
                                              <p:charRg st="889" end="9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4596">
                                            <p:txEl>
                                              <p:charRg st="889" end="9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079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修改字段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语句提供了三个修改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，分别如下：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CHANGE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CHANGE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子句可同时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表中指定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名称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语句中可以同时添加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多个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CHANGE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子句，只需彼此间用逗号分隔。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40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表中指定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MODIFY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CHANGE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[COLUMN]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有所不同，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MODIFY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子句只修改指定列的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，而不会干涉它的列名。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另外，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MODIFY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还可以通过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AFTER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关键字指定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在表中的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位置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12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这三个子句常用的语法格式分别为：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ALTER TABLE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CHANGE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COLUMN ]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原字段名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新字段名 数据类型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约束条件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TABLE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ALTER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COLUMN ]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字段名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{ SET | DROP }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DEFAULT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TABLE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MODIFY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[ COLUMN ]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字段名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数据类型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[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约束条件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 [ FIRST | AFTER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已有字段名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];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6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3.11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Lucida Sans" pitchFamily="34" charset="0"/>
                <a:ea typeface="+mn-ea"/>
                <a:cs typeface="+mn-cs"/>
              </a:rPr>
              <a:t>birthday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重命名为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ucida Sans" pitchFamily="34" charset="0"/>
                <a:ea typeface="+mn-ea"/>
                <a:cs typeface="+mn-cs"/>
              </a:rPr>
              <a:t>age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并且将其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TINYINT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小整数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，允许其为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默认值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18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/>
          </a:p>
        </p:txBody>
      </p:sp>
      <p:sp>
        <p:nvSpPr>
          <p:cNvPr id="11366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的命令行客户端输入如下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ALTER TABLE db_school.tb_student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chemeClr val="bg1"/>
                </a:solidFill>
              </a:rPr>
              <a:t>-&gt; </a:t>
            </a:r>
            <a:r>
              <a:rPr lang="en-US" altLang="zh-CN" dirty="0"/>
              <a:t>CHANGE COLUMN birthday age TINYINT NULL DEFAULT 18;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rows affected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warnings (0.07 sec)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Records</a:t>
            </a:r>
            <a:r>
              <a:rPr lang="zh-CN" altLang="en-US" sz="3200" dirty="0">
                <a:solidFill>
                  <a:schemeClr val="bg1"/>
                </a:solidFill>
              </a:rPr>
              <a:t>：</a:t>
            </a:r>
            <a:r>
              <a:rPr lang="en-US" altLang="zh-CN" sz="3200" dirty="0">
                <a:solidFill>
                  <a:schemeClr val="bg1"/>
                </a:solidFill>
              </a:rPr>
              <a:t>0  Duplicates</a:t>
            </a:r>
            <a:r>
              <a:rPr lang="zh-CN" altLang="en-US" sz="3200" dirty="0">
                <a:solidFill>
                  <a:schemeClr val="bg1"/>
                </a:solidFill>
              </a:rPr>
              <a:t>：</a:t>
            </a:r>
            <a:r>
              <a:rPr lang="en-US" altLang="zh-CN" sz="3200" dirty="0">
                <a:solidFill>
                  <a:schemeClr val="bg1"/>
                </a:solidFill>
              </a:rPr>
              <a:t>0  Warnings</a:t>
            </a:r>
            <a:r>
              <a:rPr lang="zh-CN" altLang="en-US" sz="3200" dirty="0">
                <a:solidFill>
                  <a:schemeClr val="bg1"/>
                </a:solidFill>
              </a:rPr>
              <a:t>：</a:t>
            </a:r>
            <a:r>
              <a:rPr lang="en-US" altLang="zh-CN" sz="3200" dirty="0">
                <a:solidFill>
                  <a:schemeClr val="bg1"/>
                </a:solidFill>
              </a:rPr>
              <a:t>0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335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查看表，结果如下：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3508" name="矩形 170"/>
          <p:cNvSpPr/>
          <p:nvPr/>
        </p:nvSpPr>
        <p:spPr>
          <a:xfrm>
            <a:off x="396875" y="2235200"/>
            <a:ext cx="8135938" cy="407352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+----------------------+---------------------+--------+-------+-------------+---------------+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Field             | Type            | Null | Key |Default | Extra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+----------------------+---------------------+--------+-------+-------------+---------------+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studentNo    | char(10)       | NO   | PRI | NULL   |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|studentName| varchar(20)  | NO   |       | NULL    |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sex               | char(2)         | YES  |       | NULL    |</a:t>
            </a:r>
            <a:r>
              <a:rPr lang="en-US" altLang="zh-CN" dirty="0">
                <a:latin typeface="Arial" panose="020B0604020202020204" pitchFamily="34" charset="0"/>
              </a:rPr>
              <a:t>                    </a:t>
            </a:r>
            <a:r>
              <a:rPr lang="en-US" altLang="zh-CN" sz="2000" b="1" dirty="0">
                <a:latin typeface="Lucida Sans" pitchFamily="34" charset="0"/>
              </a:rPr>
              <a:t>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 age </a:t>
            </a:r>
            <a:r>
              <a:rPr lang="en-US" altLang="zh-CN" sz="2000" b="1" dirty="0">
                <a:latin typeface="Lucida Sans" pitchFamily="34" charset="0"/>
              </a:rPr>
              <a:t>              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tinyint(4)</a:t>
            </a:r>
            <a:r>
              <a:rPr lang="en-US" altLang="zh-CN" sz="2000" b="1" dirty="0">
                <a:latin typeface="Lucida Sans" pitchFamily="34" charset="0"/>
              </a:rPr>
              <a:t>     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YES</a:t>
            </a:r>
            <a:r>
              <a:rPr lang="en-US" altLang="zh-CN" sz="2000" b="1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en-US" altLang="zh-CN" sz="2000" b="1" dirty="0">
                <a:latin typeface="Lucida Sans" pitchFamily="34" charset="0"/>
              </a:rPr>
              <a:t> |       | </a:t>
            </a:r>
            <a:r>
              <a:rPr lang="en-US" altLang="zh-CN" sz="2000" b="1" dirty="0">
                <a:solidFill>
                  <a:schemeClr val="accent1"/>
                </a:solidFill>
                <a:latin typeface="Lucida Sans" pitchFamily="34" charset="0"/>
              </a:rPr>
              <a:t>18  </a:t>
            </a:r>
            <a:r>
              <a:rPr lang="en-US" altLang="zh-CN" sz="2000" b="1" dirty="0">
                <a:latin typeface="Lucida Sans" pitchFamily="34" charset="0"/>
              </a:rPr>
              <a:t>      |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nutive          | varchar(20)  | YES  |       | NULL    |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nation          | varchar(10)  | YES  |       | </a:t>
            </a:r>
            <a:r>
              <a:rPr lang="en-US" altLang="zh-CN" b="1" dirty="0">
                <a:latin typeface="Arial" panose="020B0604020202020204" pitchFamily="34" charset="0"/>
              </a:rPr>
              <a:t>NULL    </a:t>
            </a:r>
            <a:r>
              <a:rPr lang="en-US" altLang="zh-CN" sz="2000" b="1" dirty="0">
                <a:latin typeface="Lucida Sans" pitchFamily="34" charset="0"/>
              </a:rPr>
              <a:t> |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</a:t>
            </a:r>
            <a:r>
              <a:rPr lang="en-US" altLang="zh-CN" sz="2000" b="1" dirty="0">
                <a:latin typeface="Arial" panose="020B0604020202020204" pitchFamily="34" charset="0"/>
              </a:rPr>
              <a:t>department</a:t>
            </a:r>
            <a:r>
              <a:rPr lang="en-US" altLang="zh-CN" sz="2000" b="1" dirty="0">
                <a:latin typeface="Lucida Sans" pitchFamily="34" charset="0"/>
              </a:rPr>
              <a:t>    | varchar(16) | YES  |       |</a:t>
            </a:r>
            <a:r>
              <a:rPr lang="zh-CN" altLang="en-US" sz="2000" b="1" dirty="0">
                <a:latin typeface="Lucida Sans" pitchFamily="34" charset="0"/>
              </a:rPr>
              <a:t>信息学院 </a:t>
            </a:r>
            <a:r>
              <a:rPr lang="en-US" altLang="zh-CN" sz="2000" b="1" dirty="0">
                <a:latin typeface="Lucida Sans" pitchFamily="34" charset="0"/>
              </a:rPr>
              <a:t>|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classNo        | char(6)         | YES  |       | NULL    |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+----------------------+---------------------+--------+-------+-------------+----------------+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8 rows in set (0.05 sec)</a:t>
            </a:r>
            <a:endParaRPr lang="en-US" altLang="zh-CN" sz="2000" b="1" dirty="0">
              <a:latin typeface="Lucida Sans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3508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3508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3508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3508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3508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3508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497" end="5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3508">
                                            <p:txEl>
                                              <p:charRg st="497" end="5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581" end="6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33508">
                                            <p:txEl>
                                              <p:charRg st="581" end="6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659" end="7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3508">
                                            <p:txEl>
                                              <p:charRg st="659" end="7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739" end="8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3508">
                                            <p:txEl>
                                              <p:charRg st="739" end="8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811" end="8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3508">
                                            <p:txEl>
                                              <p:charRg st="811" end="8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987" end="10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3508">
                                            <p:txEl>
                                              <p:charRg st="987" end="10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8">
                                            <p:txEl>
                                              <p:charRg st="892" end="9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3508">
                                            <p:txEl>
                                              <p:charRg st="892" end="9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468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了原有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，可能会丢失该列原有的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与原有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不兼容，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命令则不会执行，且系统会提示错误；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而在类型兼容的情况下，该列的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数据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可能会被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截断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673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3.12 </a:t>
            </a:r>
            <a:r>
              <a:rPr lang="zh-CN" altLang="en-US" dirty="0"/>
              <a:t>将数据库</a:t>
            </a:r>
            <a:r>
              <a:rPr lang="en-US" altLang="zh-CN" dirty="0"/>
              <a:t>db_school</a:t>
            </a:r>
            <a:r>
              <a:rPr lang="zh-CN" altLang="en-US" dirty="0"/>
              <a:t>中表</a:t>
            </a:r>
            <a:r>
              <a:rPr lang="en-US" altLang="zh-CN" dirty="0"/>
              <a:t>tb_student</a:t>
            </a:r>
            <a:r>
              <a:rPr lang="zh-CN" altLang="en-US" dirty="0"/>
              <a:t>的字段</a:t>
            </a:r>
            <a:r>
              <a:rPr lang="en-US" altLang="zh-CN" dirty="0"/>
              <a:t>department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默认值</a:t>
            </a:r>
            <a:r>
              <a:rPr lang="zh-CN" altLang="en-US" dirty="0"/>
              <a:t>删除。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 在</a:t>
            </a:r>
            <a:r>
              <a:rPr lang="en-US" altLang="zh-CN" dirty="0"/>
              <a:t>MySQL</a:t>
            </a:r>
            <a:r>
              <a:rPr lang="zh-CN" altLang="en-US" dirty="0"/>
              <a:t>的命令行客户端输入如下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ALTER TABLE db_school.tb_student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</a:t>
            </a:r>
            <a:r>
              <a:rPr lang="en-US" altLang="zh-CN" dirty="0"/>
              <a:t>  ALTER COLUMN department DROP DEFAULT;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bg1"/>
                </a:solidFill>
              </a:rPr>
              <a:t>Qucry OK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0 rows affected(0.01 sec)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bg1"/>
                </a:solidFill>
              </a:rPr>
              <a:t>Records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  Duplicates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  Warnings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80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查看表，结果如下：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38020" name="矩形 170"/>
          <p:cNvSpPr/>
          <p:nvPr/>
        </p:nvSpPr>
        <p:spPr>
          <a:xfrm>
            <a:off x="396875" y="2235200"/>
            <a:ext cx="8135938" cy="407352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+----------------------+---------------------+--------+-------+-------------+---------------+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Field             | Type            | Null | Key |Default | Extra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+----------------------+---------------------+--------+-------+-------------+---------------+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studentNo    | char(10)       | NO   | PRI | NULL   |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|studentName| varchar(20)  | NO   |       | NULL    |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sex               | char(2)         | YES  |       | NULL    |</a:t>
            </a:r>
            <a:r>
              <a:rPr lang="en-US" altLang="zh-CN" dirty="0">
                <a:latin typeface="Arial" panose="020B0604020202020204" pitchFamily="34" charset="0"/>
              </a:rPr>
              <a:t>                    </a:t>
            </a:r>
            <a:r>
              <a:rPr lang="en-US" altLang="zh-CN" sz="2000" b="1" dirty="0">
                <a:latin typeface="Lucida Sans" pitchFamily="34" charset="0"/>
              </a:rPr>
              <a:t>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age               | tinyint(4)     | YES  |       | 18</a:t>
            </a:r>
            <a:r>
              <a:rPr lang="en-US" altLang="zh-CN" sz="2000" b="1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en-US" altLang="zh-CN" sz="2000" b="1" dirty="0">
                <a:latin typeface="Lucida Sans" pitchFamily="34" charset="0"/>
              </a:rPr>
              <a:t>       |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nutive          | varchar(20)  | YES  |       | NULL    |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nation          | varchar(10)  | YES  |       | </a:t>
            </a:r>
            <a:r>
              <a:rPr lang="en-US" altLang="zh-CN" b="1" dirty="0">
                <a:latin typeface="Arial" panose="020B0604020202020204" pitchFamily="34" charset="0"/>
              </a:rPr>
              <a:t>NULL    </a:t>
            </a:r>
            <a:r>
              <a:rPr lang="en-US" altLang="zh-CN" sz="2000" b="1" dirty="0">
                <a:latin typeface="Lucida Sans" pitchFamily="34" charset="0"/>
              </a:rPr>
              <a:t> |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</a:t>
            </a:r>
            <a:r>
              <a:rPr lang="en-US" altLang="zh-CN" sz="2000" b="1" dirty="0">
                <a:latin typeface="Arial" panose="020B0604020202020204" pitchFamily="34" charset="0"/>
              </a:rPr>
              <a:t>department</a:t>
            </a:r>
            <a:r>
              <a:rPr lang="en-US" altLang="zh-CN" sz="2000" b="1" dirty="0">
                <a:latin typeface="Lucida Sans" pitchFamily="34" charset="0"/>
              </a:rPr>
              <a:t>    | varchar(16) | YES  |       | </a:t>
            </a:r>
            <a:r>
              <a:rPr lang="en-US" altLang="zh-CN" b="1" dirty="0">
                <a:solidFill>
                  <a:schemeClr val="accent1"/>
                </a:solidFill>
                <a:latin typeface="Arial" panose="020B0604020202020204" pitchFamily="34" charset="0"/>
              </a:rPr>
              <a:t>NULL</a:t>
            </a:r>
            <a:r>
              <a:rPr lang="en-US" altLang="zh-CN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latin typeface="Lucida Sans" pitchFamily="34" charset="0"/>
              </a:rPr>
              <a:t>|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 | classNo        | char(6)         | YES  |       | NULL    |                 |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+----------------------+---------------------+--------+-------+-------------+----------------+</a:t>
            </a:r>
            <a:endParaRPr lang="en-US" altLang="zh-CN" sz="20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Lucida Sans" pitchFamily="34" charset="0"/>
              </a:rPr>
              <a:t>8 rows in set (0.05 sec)</a:t>
            </a:r>
            <a:endParaRPr lang="en-US" altLang="zh-CN" sz="2000" b="1" dirty="0">
              <a:latin typeface="Lucida Sans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8020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8020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38020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38020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38020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8020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497" end="5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8020">
                                            <p:txEl>
                                              <p:charRg st="497" end="5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581" end="6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38020">
                                            <p:txEl>
                                              <p:charRg st="581" end="6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659" end="7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8020">
                                            <p:txEl>
                                              <p:charRg st="659" end="7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739" end="8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38020">
                                            <p:txEl>
                                              <p:charRg st="739" end="8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817" end="8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8020">
                                            <p:txEl>
                                              <p:charRg st="817" end="8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993" end="10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38020">
                                            <p:txEl>
                                              <p:charRg st="993" end="10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0">
                                            <p:txEl>
                                              <p:charRg st="898" end="9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8020">
                                            <p:txEl>
                                              <p:charRg st="898" end="9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3.13 </a:t>
            </a:r>
            <a:r>
              <a:rPr lang="zh-CN" altLang="en-US" dirty="0"/>
              <a:t>将数据库</a:t>
            </a:r>
            <a:r>
              <a:rPr lang="en-US" altLang="zh-CN" dirty="0"/>
              <a:t>db_school</a:t>
            </a:r>
            <a:r>
              <a:rPr lang="zh-CN" altLang="en-US" dirty="0"/>
              <a:t>中</a:t>
            </a:r>
            <a:r>
              <a:rPr lang="en-US" altLang="zh-CN" dirty="0"/>
              <a:t>tb_student</a:t>
            </a:r>
            <a:r>
              <a:rPr lang="zh-CN" altLang="en-US" dirty="0"/>
              <a:t>表</a:t>
            </a:r>
            <a:r>
              <a:rPr lang="en-US" altLang="zh-CN" dirty="0"/>
              <a:t>department</a:t>
            </a:r>
            <a:r>
              <a:rPr lang="zh-CN" altLang="en-US" dirty="0"/>
              <a:t>字段的默认值修改为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经济学院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的命令行客户端输入如下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ALTER TABLE db_school.tb_student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</a:t>
            </a:r>
            <a:r>
              <a:rPr lang="en-US" altLang="zh-CN" dirty="0"/>
              <a:t>  ALTER COLUMN department SET DEFAULT </a:t>
            </a:r>
            <a:r>
              <a:rPr lang="en-US" altLang="zh-CN" dirty="0">
                <a:latin typeface="Arial" panose="020B0604020202020204" pitchFamily="34" charset="0"/>
              </a:rPr>
              <a:t>‘</a:t>
            </a:r>
            <a:r>
              <a:rPr lang="zh-CN" altLang="en-US" dirty="0"/>
              <a:t>经济学院</a:t>
            </a:r>
            <a:r>
              <a:rPr lang="zh-CN" altLang="en-US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Query OK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0 rows affected (0.01 sec)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Records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  Duplicates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  Warnings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390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查看表，结果如下：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39044" name="矩形 170"/>
          <p:cNvSpPr>
            <a:spLocks noChangeArrowheads="1"/>
          </p:cNvSpPr>
          <p:nvPr/>
        </p:nvSpPr>
        <p:spPr bwMode="auto">
          <a:xfrm>
            <a:off x="396875" y="2235200"/>
            <a:ext cx="8135938" cy="4073525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Field             | Type            | Null | Key |Default | Extra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studentNo    | char(10)       | NO   | PRI | NULL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|studentName| varchar(20)  | NO   |       | NULL    |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sex               | char(2)         | YES  |       | NULL    |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age               | tinyint(4)     | YES  |       | 18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  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nutive          | varchar(20)  | YES  |       | NULL 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nation          | varchar(10)  | YES  |       |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NULL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department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  | varchar(16) | YES  |       |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经济学院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classNo        | char(6)         | YES  |       | NULL    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8 rows in set (0.05 sec)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9044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39044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39044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39044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39044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9044">
                                            <p:txEl>
                                              <p:charRg st="410" end="4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497" end="5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9044">
                                            <p:txEl>
                                              <p:charRg st="497" end="5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581" end="6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39044">
                                            <p:txEl>
                                              <p:charRg st="581" end="6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659" end="7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9044">
                                            <p:txEl>
                                              <p:charRg st="659" end="7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739" end="8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39044">
                                            <p:txEl>
                                              <p:charRg st="739" end="8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812" end="8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9044">
                                            <p:txEl>
                                              <p:charRg st="812" end="8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988" end="10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39044">
                                            <p:txEl>
                                              <p:charRg st="988" end="10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44">
                                            <p:txEl>
                                              <p:charRg st="893" end="9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9044">
                                            <p:txEl>
                                              <p:charRg st="893" end="9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78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3.14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 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更改为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VARCHAR(20)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，取值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不允许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为空，并将此字段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移至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 ALTER TABLE db_school.tb_student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  MODIFY COLUMN department VARCHAR(20) NOT NULL AFTER studentName;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affected(0.02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78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3.14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 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数据类型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更改为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VARCHAR(20)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，取值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不允许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为空，并将此字段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移至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 ALTER TABLE db_school.tb_student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 change department department VARCHAR(20) NOT NULL AFTER studentName;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affected(0.02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400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查看表，结果如下：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40068" name="矩形 170"/>
          <p:cNvSpPr>
            <a:spLocks noChangeArrowheads="1"/>
          </p:cNvSpPr>
          <p:nvPr/>
        </p:nvSpPr>
        <p:spPr bwMode="auto">
          <a:xfrm>
            <a:off x="396875" y="2235200"/>
            <a:ext cx="8135938" cy="4073525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Field             | Type            | Null | Key |Default | Extra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studentNo    | char(10)       | NO   | PRI | NULL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|studentName| varchar(20)  | NO   |       | NULL    |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department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varchar(20)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|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NO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      |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NULL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sex               | char(2)         | YES  |       | NULL    |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age               | tinyint(4)     | YES  |       | 18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  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nutive          | varchar(20)  | YES  |       | NULL    |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nation          | varchar(10)  | YES  |       |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NULL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| classNo        | char(6)         | YES  |       | NULL    |                 |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+----------------------+---------------------+--------+-------+-------------+----------------+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8 rows in set (0.05 sec)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0068">
                                            <p:txEl>
                                              <p:charRg st="0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0068">
                                            <p:txEl>
                                              <p:charRg st="94" end="1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40068">
                                            <p:txEl>
                                              <p:charRg st="171" end="2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0068">
                                            <p:txEl>
                                              <p:charRg st="265" end="3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0068">
                                            <p:txEl>
                                              <p:charRg st="339" end="4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487" end="5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0068">
                                            <p:txEl>
                                              <p:charRg st="487" end="5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410" end="4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0068">
                                            <p:txEl>
                                              <p:charRg st="410" end="4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574" end="6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0068">
                                            <p:txEl>
                                              <p:charRg st="574" end="6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658" end="7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0068">
                                            <p:txEl>
                                              <p:charRg st="658" end="7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736" end="8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40068">
                                            <p:txEl>
                                              <p:charRg st="736" end="8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816" end="8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40068">
                                            <p:txEl>
                                              <p:charRg st="816" end="8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992" end="10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40068">
                                            <p:txEl>
                                              <p:charRg st="992" end="10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68">
                                            <p:txEl>
                                              <p:charRg st="897" end="9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40068">
                                            <p:txEl>
                                              <p:charRg st="897" end="9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修改字段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39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可以看到，表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</a:t>
            </a:r>
            <a:r>
              <a:rPr kumimoji="0" lang="en-US" altLang="zh-CN" sz="3400" b="1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已经被移至字段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studentName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之后，修改后的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不再拥有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缺省值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000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删除字段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根据需要可以通过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[COLUMN]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表中多余的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需要注意：一旦删除列，该列中的一切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都会跟着被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，所以在使用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[COLUMN]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时，必须格外小心。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DROP [ COLUMN ]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子句常用的语法格式为：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tb_name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[COLUMN]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595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dirty="0"/>
              <a:t> </a:t>
            </a:r>
            <a:r>
              <a:rPr lang="zh-CN" altLang="en-US" dirty="0"/>
              <a:t>例</a:t>
            </a:r>
            <a:r>
              <a:rPr lang="en-US" altLang="zh-CN" dirty="0"/>
              <a:t>3.15  </a:t>
            </a:r>
            <a:r>
              <a:rPr lang="zh-CN" altLang="en-US" dirty="0"/>
              <a:t>删除数据库</a:t>
            </a:r>
            <a:r>
              <a:rPr lang="en-US" altLang="zh-CN" dirty="0"/>
              <a:t>db_school</a:t>
            </a:r>
            <a:r>
              <a:rPr lang="zh-CN" altLang="en-US" dirty="0"/>
              <a:t>中表</a:t>
            </a:r>
            <a:r>
              <a:rPr lang="en-US" altLang="zh-CN" dirty="0"/>
              <a:t>tb_student2</a:t>
            </a:r>
            <a:r>
              <a:rPr lang="zh-CN" altLang="en-US" dirty="0"/>
              <a:t>的</a:t>
            </a:r>
            <a:r>
              <a:rPr lang="en-US" altLang="zh-CN" dirty="0"/>
              <a:t>id</a:t>
            </a:r>
            <a:r>
              <a:rPr lang="zh-CN" altLang="en-US" dirty="0"/>
              <a:t>字段。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dirty="0"/>
              <a:t> 先使用</a:t>
            </a:r>
            <a:r>
              <a:rPr lang="en-US" altLang="zh-CN" dirty="0"/>
              <a:t>DESC tb_student2 </a:t>
            </a:r>
            <a:r>
              <a:rPr lang="zh-CN" altLang="en-US" dirty="0"/>
              <a:t>查看表结构</a:t>
            </a:r>
            <a:endParaRPr lang="zh-CN" altLang="en-US" dirty="0"/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zh-CN" altLang="en-US" dirty="0"/>
              <a:t> </a:t>
            </a:r>
            <a:r>
              <a:rPr lang="en-US" altLang="zh-CN" dirty="0"/>
              <a:t>DESC db_school.tb_student2;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查看数据表基本结构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697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先执行</a:t>
            </a:r>
            <a:r>
              <a:rPr lang="en-US" altLang="en-US" dirty="0"/>
              <a:t>DESC db_school.tb_student2;</a:t>
            </a:r>
            <a:r>
              <a:rPr lang="zh-CN" altLang="en-US" dirty="0"/>
              <a:t>显示删除</a:t>
            </a:r>
            <a:r>
              <a:rPr lang="en-US" altLang="zh-CN" dirty="0"/>
              <a:t>id</a:t>
            </a:r>
            <a:r>
              <a:rPr lang="zh-CN" altLang="en-US" dirty="0"/>
              <a:t>字段前的</a:t>
            </a:r>
            <a:r>
              <a:rPr lang="en-US" altLang="zh-CN" dirty="0"/>
              <a:t>tb_student2</a:t>
            </a:r>
            <a:r>
              <a:rPr lang="zh-CN" altLang="en-US" dirty="0"/>
              <a:t>结构：   </a:t>
            </a:r>
            <a:endParaRPr lang="zh-CN" altLang="en-US" dirty="0"/>
          </a:p>
        </p:txBody>
      </p:sp>
      <p:sp>
        <p:nvSpPr>
          <p:cNvPr id="1242116" name="矩形 170"/>
          <p:cNvSpPr>
            <a:spLocks noChangeArrowheads="1"/>
          </p:cNvSpPr>
          <p:nvPr/>
        </p:nvSpPr>
        <p:spPr bwMode="auto">
          <a:xfrm>
            <a:off x="179388" y="2160588"/>
            <a:ext cx="8820150" cy="4005263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+-----------------------+--------------------+-------+-----+----------+----------------------+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Field       </a:t>
            </a: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Type           | Null |Key|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Default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Extra            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+-----------------------+--------------------+--------+-----+------------+-------------------+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id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                |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int(11)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       |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NO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|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UNI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NULL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  |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auto_increment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studentNo      | char(10)      | NO  |PRI | NULL   |                    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studentName | varchar(20) | NO  |      | NULL   |         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</a:t>
            </a: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sex                 | char(2)        | YES |      | NULL   |                     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birthday         | date            | YES |      | NULL   |                     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native            | varchar(20)  | YES |      | NULL   |                    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nation            | varchar(10)  | YES |      | NULL   |                    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| classNo          | char(6)        | YES  |      | NULL   |                    |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ucida Sans" pitchFamily="34" charset="0"/>
                <a:ea typeface="宋体" panose="02010600030101010101" pitchFamily="2" charset="-122"/>
                <a:cs typeface="+mn-cs"/>
              </a:rPr>
              <a:t>+-----------------------+--------------------+--------+-----+------------+-------------------+</a:t>
            </a: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Sans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 rows in set (0.08 sec)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0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2116">
                                            <p:txEl>
                                              <p:charRg st="0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95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2116">
                                            <p:txEl>
                                              <p:charRg st="95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348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42116">
                                            <p:txEl>
                                              <p:charRg st="348" end="4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175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2116">
                                            <p:txEl>
                                              <p:charRg st="175" end="2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270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2116">
                                            <p:txEl>
                                              <p:charRg st="270" end="3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424" end="5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2116">
                                            <p:txEl>
                                              <p:charRg st="424" end="5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502" end="5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2116">
                                            <p:txEl>
                                              <p:charRg st="502" end="5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587" end="6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2116">
                                            <p:txEl>
                                              <p:charRg st="587" end="6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670" end="7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2116">
                                            <p:txEl>
                                              <p:charRg st="670" end="7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750" end="8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42116">
                                            <p:txEl>
                                              <p:charRg st="750" end="8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830" end="9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42116">
                                            <p:txEl>
                                              <p:charRg st="830" end="9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912" end="10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42116">
                                            <p:txEl>
                                              <p:charRg st="912" end="10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116">
                                            <p:txEl>
                                              <p:charRg st="1007" end="10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42116">
                                            <p:txEl>
                                              <p:charRg st="1007" end="10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删除字段 </a:t>
            </a:r>
            <a:endParaRPr lang="zh-CN" altLang="en-US" dirty="0"/>
          </a:p>
        </p:txBody>
      </p:sp>
      <p:sp>
        <p:nvSpPr>
          <p:cNvPr id="12800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再在</a:t>
            </a:r>
            <a:r>
              <a:rPr lang="en-US" altLang="zh-CN" dirty="0"/>
              <a:t>MySQL</a:t>
            </a:r>
            <a:r>
              <a:rPr lang="zh-CN" altLang="en-US" dirty="0"/>
              <a:t>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ALTER TABLE db_school.tb_student2 DROP COLUMN id;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Query OK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0 rows affected &lt;0.06 sec&gt;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Records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  Duplicates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  Warnings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en-US" altLang="zh-CN" dirty="0">
                <a:solidFill>
                  <a:schemeClr val="bg1"/>
                </a:solidFill>
              </a:rPr>
              <a:t>0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查看数据表基本结构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再执行</a:t>
            </a:r>
            <a:r>
              <a:rPr lang="en-US" altLang="en-US" dirty="0"/>
              <a:t>DESC db_school.tb_student2;</a:t>
            </a:r>
            <a:r>
              <a:rPr lang="zh-CN" altLang="en-US" dirty="0"/>
              <a:t>显示</a:t>
            </a:r>
            <a:r>
              <a:rPr lang="en-US" altLang="zh-CN" dirty="0"/>
              <a:t>tb_student2</a:t>
            </a:r>
            <a:r>
              <a:rPr lang="zh-CN" altLang="en-US" dirty="0"/>
              <a:t>的结构，</a:t>
            </a:r>
            <a:r>
              <a:rPr lang="en-US" altLang="zh-CN" dirty="0"/>
              <a:t>id</a:t>
            </a:r>
            <a:r>
              <a:rPr lang="zh-CN" altLang="en-US" dirty="0"/>
              <a:t>字段已被删除：   </a:t>
            </a:r>
            <a:endParaRPr lang="zh-CN" altLang="en-US" dirty="0"/>
          </a:p>
        </p:txBody>
      </p:sp>
      <p:sp>
        <p:nvSpPr>
          <p:cNvPr id="1243140" name="矩形 170"/>
          <p:cNvSpPr/>
          <p:nvPr/>
        </p:nvSpPr>
        <p:spPr>
          <a:xfrm>
            <a:off x="323850" y="2276475"/>
            <a:ext cx="8351838" cy="4100513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studentNo      | char(10)      | NO  | PRI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sex                 | char(2)        | YES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birthday         | date            | YES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native            | varchar(20)  | YES |        | NULL   |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nation            | varchar(10)  | YES |        | NULL   |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| classNo          | char(6)        | YES  |        | NULL   |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/>
            <a:r>
              <a:rPr lang="en-US" altLang="zh-CN" sz="2000" b="1" dirty="0">
                <a:latin typeface="Arial" panose="020B0604020202020204" pitchFamily="34" charset="0"/>
              </a:rPr>
              <a:t>7 rows in set (0.08 sec)</a:t>
            </a:r>
            <a:endParaRPr lang="en-US" altLang="zh-CN" sz="2000" b="1" dirty="0">
              <a:latin typeface="Lucida Sans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314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3140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247" end="3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43140">
                                            <p:txEl>
                                              <p:charRg st="247" end="3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3140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315" end="3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3140">
                                            <p:txEl>
                                              <p:charRg st="315" end="3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3140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456" end="5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3140">
                                            <p:txEl>
                                              <p:charRg st="456" end="5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530" end="6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3140">
                                            <p:txEl>
                                              <p:charRg st="530" end="6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601" end="6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3140">
                                            <p:txEl>
                                              <p:charRg st="601" end="6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672" end="7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43140">
                                            <p:txEl>
                                              <p:charRg st="672" end="7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745" end="8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43140">
                                            <p:txEl>
                                              <p:charRg st="745" end="8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140">
                                            <p:txEl>
                                              <p:charRg st="832" end="8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43140">
                                            <p:txEl>
                                              <p:charRg st="832" end="8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修改表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删除字段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4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此外，在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语句中，可以通过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ADD PRIMARY KEY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ADD FOREIGN KEY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ADD INDEX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为原表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添加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索引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需要首先删除原表中已有的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主键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；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可以通过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PRIMARY KEY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FOREIGN KEY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INDEX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原表的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索引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详参见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3.3.4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节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重命名表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74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3.2.5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重命名表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RENAME [TO]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为重新修改表名，也可以使用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RENAME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语句修改表名。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RENAME [TO]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子句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RENAME [TO]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修改表名的常用语法格式是：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ALTER TABLE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原表名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RENAME [TO]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新表名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重命名表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236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3.16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RENAME[TO]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子句将数据库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重命名为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backup_tb_student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ALTER TABLE db_school.tb_student RENAME TO db_school.backup_tb_student;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affected(0.01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重命名表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287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RENAME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语句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RENAME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语句修改表名的常用语法格式是：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RENAME TABLE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原表名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新表名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 [,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TO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新表名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2]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……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3.17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RENAME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语句将数据库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backup_tb_student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再重新命名为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重命名表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414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的命令行客户端输入如下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RENAME TABLE db_school.backup_tb_student TO db_school.tb_student;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chemeClr val="bg1"/>
                </a:solidFill>
              </a:rPr>
              <a:t>Query OK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altLang="zh-CN" dirty="0">
                <a:solidFill>
                  <a:schemeClr val="bg1"/>
                </a:solidFill>
              </a:rPr>
              <a:t>0 rows affected (0.00 sec)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79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3.2.6 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删除表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可以使用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一个表，其常用语法格式是：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DROP TABLE [IF EXISTS]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1[,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2]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t>……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语法说明如下：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命令可以同时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多个表，表与表之间用逗号分隔即可。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EXISTS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用于在删除表之前判断要删除的表是否存在，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1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如果要删除的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表不存在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，且删除表时不加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EXISTS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会提示一条错误信息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ERROR 1051 (42S02): Unknown table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‘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加上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IF EXISTS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后，如果要删除的表不存在，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语句可以顺利执行，但会发出警告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warning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删除表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81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3.18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th_student2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DROP TABLE db_school.tb_student, db_school.tb_student2, db_school.tb_student3 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 (0.00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删除表 </a:t>
            </a:r>
            <a:endParaRPr lang="zh-CN" altLang="en-US" dirty="0"/>
          </a:p>
        </p:txBody>
      </p:sp>
      <p:sp>
        <p:nvSpPr>
          <p:cNvPr id="12441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注意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的同时，表的定义和表中所有的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均会被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，所以使用该语句需格外小心。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另外，用户在该表上的权限并不会自动被删除。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数据的完整性约束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4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数据的完整性约束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关系模型的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完整性规则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是对关系的某种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约束条件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对关系模型进行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，则是为了在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应用中保障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正确性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一致性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防止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中存在不符合语义的、不正确的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，这也是数据库服务器最重要的功能之一。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数据的完整性约束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9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关系模型中有三种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，分别是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实体完整性约束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、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参照完整性约束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用户定义的完整性约束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其中，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实体完整性约束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参照完整性约束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是关系模型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必须满足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的完整性约束条件，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被称作是关系的两个不变性。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用户定义的完整性约束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是根据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用户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应用需要而定义的完整性约束条件。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数据的完整性约束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2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中，各种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定义时一并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可通过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语句来定义，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例如创建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表时，定义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字段不能为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ea"/>
              </a:rPr>
              <a:t>( studentNo CHAR(10) NOT NULL UNIQUE,)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数据的完整性约束 </a:t>
            </a:r>
            <a:endParaRPr lang="zh-CN" altLang="en-US" dirty="0"/>
          </a:p>
        </p:txBody>
      </p:sp>
      <p:sp>
        <p:nvSpPr>
          <p:cNvPr id="12451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一旦定义了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服务器会随时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检测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数据库更新时，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是否符合相关的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条件，从而保障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正确性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一致性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因此，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既能有效地防止对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数据库的意外破坏和非法存取，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又能提高完整性检测的效率，还能减轻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数据库编程人员的工作负担。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6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3.3.1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定义实体完整性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实体完整性规则是指关系的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主属性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不能取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主键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候选键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在关系中所对应的属性都不能取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空值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实体完整性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是通过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候选键约束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来实现的。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07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是表中某一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或某些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组合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其中，由多个列组合而成的主键也称为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复合主键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必须是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的，而且构成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都不允许为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58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列必须遵守如下一些规则：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）每一个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只能定义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，也称为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键值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，必须能够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唯一标识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表中的每一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，且不能为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也就是说，表中两条不同的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不能具有相同的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原则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/>
          </a:p>
        </p:txBody>
      </p:sp>
      <p:sp>
        <p:nvSpPr>
          <p:cNvPr id="12462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组合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构成的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复合主键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不能包含不必要的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多余列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也就是说，当从一个复合主键中删除一列后，如果剩下的列仍能满足唯一性原则，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那么这个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复合主键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是不正确的，这是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最小化规则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）一个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复合主键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的列表中只能出现一次。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来定义，定义方式有下列两种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—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，只需在表中某个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定义后面加上关键字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即可，如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studentNo CHAR(10) PRIMARY KEY,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只涉及到某一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取值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，可以定义为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 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限制列取值非空。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0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，需要在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所有字段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定义之后添加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列名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1{,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列名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2,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…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语法格式的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如，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PRIMARY KEY(studentNo)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如果表的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由多个列组成，则这样的主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只能定义为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否则既可以定义在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列级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也可以定义在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表级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如下例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3.20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表级约束与列级约束 </a:t>
            </a:r>
            <a:endParaRPr lang="zh-CN" altLang="en-US" dirty="0"/>
          </a:p>
        </p:txBody>
      </p:sp>
      <p:sp>
        <p:nvSpPr>
          <p:cNvPr id="12513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对于表的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一个列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建立的约束，称为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；对于表的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多个列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建立的约束，称为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列级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即可在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时声明，也可在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后声明；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只能可在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后声明。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</a:t>
            </a:r>
            <a:endParaRPr lang="zh-CN" altLang="en-US" dirty="0"/>
          </a:p>
        </p:txBody>
      </p:sp>
      <p:sp>
        <p:nvSpPr>
          <p:cNvPr id="12503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3.19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，要求以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方式定义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151554" name="Rectangle 5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1555" name="Rectangle 3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480175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USE db_school;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/>
              <a:t>  Database changed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mysql&gt;</a:t>
            </a:r>
            <a:r>
              <a:rPr lang="en-US" altLang="zh-CN" dirty="0"/>
              <a:t> CREATE TABLE tb_student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  -&gt;</a:t>
            </a:r>
            <a:r>
              <a:rPr lang="en-US" altLang="zh-CN" dirty="0"/>
              <a:t> ( studentNo CHAR(10) PRIMARY KEY,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</a:t>
            </a:r>
            <a:r>
              <a:rPr lang="en-US" altLang="zh-CN" dirty="0"/>
              <a:t>  studentName VARCHAR(20) NOT NULL,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  -&gt;</a:t>
            </a:r>
            <a:r>
              <a:rPr lang="en-US" altLang="zh-CN" dirty="0"/>
              <a:t>  sex CHAR(2) NOT NULL,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</a:t>
            </a:r>
            <a:r>
              <a:rPr lang="en-US" altLang="zh-CN" dirty="0"/>
              <a:t>  birthday DATE,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</a:t>
            </a:r>
            <a:r>
              <a:rPr lang="en-US" altLang="zh-CN" dirty="0"/>
              <a:t>  native VARCHAR(20),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 </a:t>
            </a:r>
            <a:r>
              <a:rPr lang="en-US" altLang="zh-CN" dirty="0"/>
              <a:t> nation VARCHAR(10) DEFAULT </a:t>
            </a:r>
            <a:r>
              <a:rPr lang="en-US" altLang="zh-CN" dirty="0">
                <a:latin typeface="Arial" panose="020B0604020202020204" pitchFamily="34" charset="0"/>
              </a:rPr>
              <a:t>‘</a:t>
            </a:r>
            <a:r>
              <a:rPr lang="zh-CN" altLang="en-US" dirty="0"/>
              <a:t>汉</a:t>
            </a:r>
            <a:r>
              <a:rPr lang="zh-CN" altLang="en-US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</a:t>
            </a:r>
            <a:r>
              <a:rPr lang="en-US" altLang="zh-CN" dirty="0"/>
              <a:t>  classNo CHAR(6)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bg1"/>
                </a:solidFill>
              </a:rPr>
              <a:t>-&gt; </a:t>
            </a:r>
            <a:r>
              <a:rPr lang="en-US" altLang="zh-CN" dirty="0"/>
              <a:t> ) ENGINE=InnoDB;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bg1"/>
                </a:solidFill>
              </a:rPr>
              <a:t>Qucry OK, 0 rows affected(0.02 sec)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45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因为例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3.18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中已经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，故这里可以重新定义它。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如果没有执行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的操作，重新定义前必须先删除它。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ea"/>
              </a:rPr>
              <a:t> DROP TABLE db_school.tb_student;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</a:t>
            </a:r>
            <a:endParaRPr lang="zh-CN" altLang="en-US" dirty="0"/>
          </a:p>
        </p:txBody>
      </p:sp>
      <p:sp>
        <p:nvSpPr>
          <p:cNvPr id="12472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后，再执行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的结构。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47237" name="矩形 170"/>
          <p:cNvSpPr/>
          <p:nvPr/>
        </p:nvSpPr>
        <p:spPr>
          <a:xfrm>
            <a:off x="396875" y="2605088"/>
            <a:ext cx="8351838" cy="383857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studentNo      | char(10)      | NO  | PRI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sex                 | char(2)        | </a:t>
            </a:r>
            <a:r>
              <a:rPr lang="en-US" altLang="zh-CN" sz="2200" b="1" dirty="0">
                <a:latin typeface="Arial" panose="020B0604020202020204" pitchFamily="34" charset="0"/>
              </a:rPr>
              <a:t>NO  </a:t>
            </a:r>
            <a:r>
              <a:rPr lang="en-US" altLang="zh-CN" sz="2200" b="1" dirty="0">
                <a:latin typeface="Lucida Sans" pitchFamily="34" charset="0"/>
              </a:rPr>
              <a:t> |        | NULL   |</a:t>
            </a:r>
            <a:r>
              <a:rPr lang="en-US" altLang="zh-CN" sz="2400" b="1" dirty="0">
                <a:latin typeface="Lucida Sans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birthday         | date            | YES  |        | NULL   |</a:t>
            </a:r>
            <a:r>
              <a:rPr lang="en-US" altLang="zh-CN" sz="2400" b="1" dirty="0">
                <a:latin typeface="Lucida Sans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native</a:t>
            </a:r>
            <a:r>
              <a:rPr lang="en-US" altLang="zh-CN" sz="2400" b="1" dirty="0">
                <a:latin typeface="Lucida Sans" pitchFamily="34" charset="0"/>
              </a:rPr>
              <a:t>            </a:t>
            </a:r>
            <a:r>
              <a:rPr lang="en-US" altLang="zh-CN" sz="2200" b="1" dirty="0">
                <a:latin typeface="Lucida Sans" pitchFamily="34" charset="0"/>
              </a:rPr>
              <a:t>| varchar(20) | YES |        | NULL   |</a:t>
            </a:r>
            <a:r>
              <a:rPr lang="en-US" altLang="zh-CN" sz="2400" b="1" dirty="0">
                <a:latin typeface="Lucida Sans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nation            | varchar(10)  | YES |        | </a:t>
            </a:r>
            <a:r>
              <a:rPr lang="zh-CN" altLang="en-US" sz="2200" b="1" dirty="0">
                <a:latin typeface="Lucida Sans" pitchFamily="34" charset="0"/>
              </a:rPr>
              <a:t>汉        </a:t>
            </a:r>
            <a:r>
              <a:rPr lang="en-US" altLang="zh-CN" sz="2200" b="1" dirty="0">
                <a:latin typeface="Lucida Sans" pitchFamily="34" charset="0"/>
              </a:rPr>
              <a:t>|</a:t>
            </a:r>
            <a:r>
              <a:rPr lang="en-US" altLang="zh-CN" sz="2400" b="1" dirty="0">
                <a:latin typeface="Lucida Sans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classNo          | char(6)        | YES  |        | NULL   |</a:t>
            </a:r>
            <a:r>
              <a:rPr lang="en-US" altLang="zh-CN" sz="2400" b="1" dirty="0">
                <a:latin typeface="Lucida Sans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b="1" dirty="0">
                <a:latin typeface="Arial" panose="020B0604020202020204" pitchFamily="34" charset="0"/>
              </a:rPr>
              <a:t>7 rows in set (0.01 sec)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7237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7237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247" end="3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47237">
                                            <p:txEl>
                                              <p:charRg st="247" end="3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7237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315" end="3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7237">
                                            <p:txEl>
                                              <p:charRg st="315" end="3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7237">
                                            <p:txEl>
                                              <p:charRg st="380" end="4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456" end="5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7237">
                                            <p:txEl>
                                              <p:charRg st="456" end="5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530" end="6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7237">
                                            <p:txEl>
                                              <p:charRg st="530" end="6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600" end="6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7237">
                                            <p:txEl>
                                              <p:charRg st="600" end="6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673" end="7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47237">
                                            <p:txEl>
                                              <p:charRg st="673" end="7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746" end="8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47237">
                                            <p:txEl>
                                              <p:charRg st="746" end="8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237">
                                            <p:txEl>
                                              <p:charRg st="833" end="8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47237">
                                            <p:txEl>
                                              <p:charRg st="833" end="8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6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3.20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，要求以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方式定义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155650" name="Rectangle 4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5651" name="Rectangle 3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553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DROP TABLE db_school.tb_student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rows affected(0.01 sec)</a:t>
            </a:r>
            <a:endParaRPr lang="en-US" altLang="zh-CN" sz="32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CREATE TABLE db_school.tb_student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( studentNo CHAR(10),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 studentName VARCHAR(20) NOT NULL,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 sex CHAR(2) NOT NULL,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 birthday DATE,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 native VARCHAR(20),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 nation VARCHAR(10) DEFAULT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</a:rPr>
              <a:t>‘</a:t>
            </a:r>
            <a:r>
              <a:rPr lang="zh-CN" altLang="en-US" sz="3200" dirty="0">
                <a:solidFill>
                  <a:schemeClr val="tx2"/>
                </a:solidFill>
              </a:rPr>
              <a:t>汉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</a:rPr>
              <a:t>’</a:t>
            </a:r>
            <a:r>
              <a:rPr lang="en-US" altLang="zh-CN" sz="3200" dirty="0">
                <a:solidFill>
                  <a:schemeClr val="tx2"/>
                </a:solidFill>
              </a:rPr>
              <a:t>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 classNo CHAR(6),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 PRIMARY KEY(studentNo)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)ENGINE=InnoDB;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rows affected (0.03 sec)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</a:t>
            </a:r>
            <a:endParaRPr lang="zh-CN" altLang="en-US" dirty="0"/>
          </a:p>
        </p:txBody>
      </p:sp>
      <p:sp>
        <p:nvSpPr>
          <p:cNvPr id="12482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后，再执行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的结构。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48260" name="矩形 170"/>
          <p:cNvSpPr/>
          <p:nvPr/>
        </p:nvSpPr>
        <p:spPr>
          <a:xfrm>
            <a:off x="396875" y="2605088"/>
            <a:ext cx="8351838" cy="3784600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studentNo      | char(10)      | NO  | PRI  |         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sex                 | char(2)        | </a:t>
            </a:r>
            <a:r>
              <a:rPr lang="en-US" altLang="zh-CN" sz="2200" b="1" dirty="0">
                <a:latin typeface="Arial" panose="020B0604020202020204" pitchFamily="34" charset="0"/>
              </a:rPr>
              <a:t>NO  </a:t>
            </a:r>
            <a:r>
              <a:rPr lang="en-US" altLang="zh-CN" sz="2200" b="1" dirty="0">
                <a:latin typeface="Lucida Sans" pitchFamily="34" charset="0"/>
              </a:rPr>
              <a:t>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birthday         | date            | YES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native </a:t>
            </a:r>
            <a:r>
              <a:rPr lang="en-US" altLang="zh-CN" sz="2400" b="1" dirty="0">
                <a:latin typeface="Lucida Sans" pitchFamily="34" charset="0"/>
              </a:rPr>
              <a:t>           </a:t>
            </a:r>
            <a:r>
              <a:rPr lang="en-US" altLang="zh-CN" sz="2200" b="1" dirty="0">
                <a:latin typeface="Lucida Sans" pitchFamily="34" charset="0"/>
              </a:rPr>
              <a:t>| varchar(20) | YES |        | NULL </a:t>
            </a:r>
            <a:r>
              <a:rPr lang="en-US" altLang="zh-CN" sz="2000" b="1" dirty="0">
                <a:latin typeface="Lucida Sans" pitchFamily="34" charset="0"/>
              </a:rPr>
              <a:t>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nation            | varchar(10)  | YES |        | </a:t>
            </a:r>
            <a:r>
              <a:rPr lang="zh-CN" altLang="en-US" sz="2200" b="1" dirty="0">
                <a:latin typeface="Lucida Sans" pitchFamily="34" charset="0"/>
              </a:rPr>
              <a:t>汉      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classNo          | char(6)</a:t>
            </a:r>
            <a:r>
              <a:rPr lang="en-US" altLang="zh-CN" sz="2400" b="1" dirty="0">
                <a:latin typeface="Lucida Sans" pitchFamily="34" charset="0"/>
              </a:rPr>
              <a:t>        </a:t>
            </a:r>
            <a:r>
              <a:rPr lang="en-US" altLang="zh-CN" sz="2200" b="1" dirty="0">
                <a:latin typeface="Lucida Sans" pitchFamily="34" charset="0"/>
              </a:rPr>
              <a:t>| YES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Arial" panose="020B0604020202020204" pitchFamily="34" charset="0"/>
              </a:rPr>
              <a:t>7 rows in set (0.01 sec)</a:t>
            </a:r>
            <a:endParaRPr lang="en-US" altLang="zh-CN" sz="2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826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8260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48260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48260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8260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8260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8260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8260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8260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681" end="7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48260">
                                            <p:txEl>
                                              <p:charRg st="681" end="7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754" end="8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48260">
                                            <p:txEl>
                                              <p:charRg st="754" end="8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60">
                                            <p:txEl>
                                              <p:charRg st="841" end="8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48260">
                                            <p:txEl>
                                              <p:charRg st="841" end="8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88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仅定义在表的某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中，则在该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后用关键字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列级完整性约束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studentNo CHAR(10) PRIMARY KEY,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或在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所有列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后用关键字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主键名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,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KEY(studentNo)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这两种方法均可以定义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60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是由表中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多列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所构成的一个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组合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，则只能用上述第二种方法在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所有列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定义主键约束后，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会自动为主键创建一个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唯一性索引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查询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中使用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主键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对可数据进行快速检索。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完整性约束的命名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311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完整性约束的命名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在数据库的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视图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中，可以对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进行添加、删除和修改等操作。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其中，为了删除和修改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，首先需要在定义约束的同时对该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进行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命名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命名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完整性约束的方法是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在各种完整性约束的定义说明之前加上关键字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CONSTRAINT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和该约束的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名字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其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命名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只能定义在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表级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里。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完整性约束的命名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362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其语法格式是：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CONSTRAINT &lt;symbol&gt;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{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PRIMARY KEY(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主键字段列表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UNIQUE(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候选键字段列表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FOREIGN KEY(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外键字段列表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 REFERENCES tb_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被参照关系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主键字段列表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| CHECK(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约束条件表达式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)};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其中，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symbol(</a:t>
            </a:r>
            <a:r>
              <a:rPr kumimoji="0" lang="en-US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符号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为指定的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约束名字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，在数据库里必须是唯一的。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倘若没有明确给出约束的名字，则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会自动为其创建一个约束名字。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完整性约束的命名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444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3.21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，要求以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方式定义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，并指定主键约束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名称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PK_student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这里可以在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CONSTRAINT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约束命名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子句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来实现，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的命令行客户端输入如下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162818" name="Rectangle 4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4752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88913"/>
            <a:ext cx="8785225" cy="6480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DROP TABLE db_school.tb_student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Query OK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rows affected (0.01 sec)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db_school.tb_student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 studentNo CHAR(10),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studentName VARCHAR(20) NOT NULL,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sex CHAR(2) NOT NULL,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birthday DATE,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native VARCHAR(20),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nation VARCHAR(10) DEFAULT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‘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汉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classNo CHAR(6),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CONSTRAINT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PK_student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 ENGINE=InnoDB;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Query OK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rows affected (0.03 sec)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完整性约束的命名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639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时，应当尽可能地为其指定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名字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，以便在需要对完整性约束进行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操作时，可以更加容易地引用它们。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注意，当前的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版本只能给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表级完整性约束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指定名字，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而无法给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列级完整性约束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指定名字。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8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680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一样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可以是表中的某一列，也可以是表中某些列所构成的一个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组合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一样，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必须是唯一的，且不能为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候选键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语句中使用关键字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UNIQUE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来定义，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其实现方法与主键约束相似，同样有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或者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两种方式。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731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3.22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中定义班级表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tb_class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，结构如表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所示，并使用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InnoDB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引擎存储表数据。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 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班级表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tb_class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48484" name="表格 148483"/>
          <p:cNvGraphicFramePr/>
          <p:nvPr/>
        </p:nvGraphicFramePr>
        <p:xfrm>
          <a:off x="684213" y="3405188"/>
          <a:ext cx="7848600" cy="3048000"/>
        </p:xfrm>
        <a:graphic>
          <a:graphicData uri="http://schemas.openxmlformats.org/drawingml/2006/table">
            <a:tbl>
              <a:tblPr/>
              <a:tblGrid>
                <a:gridCol w="1871663"/>
                <a:gridCol w="2447925"/>
                <a:gridCol w="1871662"/>
                <a:gridCol w="1657350"/>
              </a:tblGrid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6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含义</a:t>
                      </a:r>
                      <a:endParaRPr lang="zh-CN" altLang="en-US" sz="26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6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字段名</a:t>
                      </a:r>
                      <a:endParaRPr lang="zh-CN" altLang="en-US" sz="26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6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数据类型</a:t>
                      </a:r>
                      <a:endParaRPr lang="zh-CN" altLang="en-US" sz="26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6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宽度</a:t>
                      </a:r>
                      <a:endParaRPr lang="zh-CN" altLang="en-US" sz="2600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195"/>
                      </a:schemeClr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班级编号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class</a:t>
                      </a:r>
                      <a:r>
                        <a:rPr lang="en-US" altLang="zh-CN" sz="2600" b="1" dirty="0">
                          <a:latin typeface="宋体" panose="02010600030101010101" pitchFamily="2" charset="-122"/>
                        </a:rPr>
                        <a:t>No</a:t>
                      </a:r>
                      <a:endParaRPr lang="en-US" altLang="zh-CN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6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1" dirty="0">
                          <a:latin typeface="宋体" panose="02010600030101010101" pitchFamily="2" charset="-122"/>
                        </a:rPr>
                        <a:t>6</a:t>
                      </a:r>
                      <a:endParaRPr lang="en-US" altLang="zh-CN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班级名称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class</a:t>
                      </a:r>
                      <a:r>
                        <a:rPr lang="en-US" altLang="zh-CN" sz="2600" b="1" dirty="0">
                          <a:latin typeface="宋体" panose="02010600030101010101" pitchFamily="2" charset="-122"/>
                        </a:rPr>
                        <a:t>Name</a:t>
                      </a:r>
                      <a:endParaRPr lang="en-US" altLang="zh-CN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6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1" dirty="0">
                          <a:latin typeface="宋体" panose="02010600030101010101" pitchFamily="2" charset="-122"/>
                        </a:rPr>
                        <a:t>20</a:t>
                      </a:r>
                      <a:endParaRPr lang="en-US" altLang="zh-CN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所属院系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department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6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1" dirty="0">
                          <a:latin typeface="宋体" panose="02010600030101010101" pitchFamily="2" charset="-122"/>
                        </a:rPr>
                        <a:t>30</a:t>
                      </a:r>
                      <a:endParaRPr lang="en-US" altLang="zh-CN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年级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grade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数值型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lang="zh-CN" altLang="zh-CN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班级人数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classNum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数值型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lnSpc>
                          <a:spcPct val="90000"/>
                        </a:lnSpc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lang="zh-CN" altLang="zh-CN" sz="2600" b="1" dirty="0">
                        <a:latin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69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MySQL</a:t>
            </a:r>
            <a:r>
              <a:rPr lang="zh-CN" altLang="en-US" dirty="0"/>
              <a:t>命令行客户端输入如下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USE db_school;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Database changed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rnysql&gt;</a:t>
            </a:r>
            <a:r>
              <a:rPr lang="en-US" altLang="zh-CN" sz="3200" dirty="0">
                <a:solidFill>
                  <a:schemeClr val="tx2"/>
                </a:solidFill>
              </a:rPr>
              <a:t> CREATE TABLE tb_class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 -&gt;</a:t>
            </a:r>
            <a:r>
              <a:rPr lang="en-US" altLang="zh-CN" sz="3200" dirty="0">
                <a:solidFill>
                  <a:schemeClr val="tx2"/>
                </a:solidFill>
              </a:rPr>
              <a:t> ( classNo CHAR(6) PRIMARY KEY,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clsssName VARCHAR(20) NOT NULL UNIQUE,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department VARCHAR(30) NOT NULL,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grade SMALLINT,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classNum TINYINT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) ENGINE=InnoDB;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</a:t>
            </a:r>
            <a:r>
              <a:rPr lang="en-US" altLang="zh-CN" dirty="0">
                <a:solidFill>
                  <a:schemeClr val="bg1"/>
                </a:solidFill>
              </a:rPr>
              <a:t> rows affected(0.02 sec)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966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例中，班级表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tb_class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中的班级编号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和班级名称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这两列的值都是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我们在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列上定义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列上定义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而且都是定义在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列级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如果要将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896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/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DROP TABLE tb_class;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rows affected (0.00 sec)</a:t>
            </a:r>
            <a:endParaRPr lang="en-US" altLang="zh-CN" sz="3200" dirty="0">
              <a:solidFill>
                <a:schemeClr val="bg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CREATE TABLE tb_class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( classNo CHAR(6) PRIMARY KEY,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className VARCHAR(20) NOT NULL,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/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department VARCHAR(30) NOT NULL,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grade SMALLINT,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classNum TINYINT,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CONSTRAINT UQ_class UNIQUE(className)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) ENGINE=InnoDB ;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rows affected(0.01 sec)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40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实体完整性约束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，也可以把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UNIQUE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之间存在以下几点区别：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）一个表中只能创建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一个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，但可以定义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若干个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UNIQUE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候选键约束 </a:t>
            </a:r>
            <a:endParaRPr lang="zh-CN" altLang="en-US" dirty="0"/>
          </a:p>
        </p:txBody>
      </p:sp>
      <p:sp>
        <p:nvSpPr>
          <p:cNvPr id="12523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）定义为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的列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不允许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空值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但定义为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UNIQUE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允许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的存在。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）定义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约束时，系统会自动产生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索引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，而定义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UNIQUE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约束时，系统自动产生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UNIQUE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索引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02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3.3.2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定义参照完整性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现实世界中的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实体之间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往往存在着某种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联系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，在关系模型中实体及实体间的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联系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都是用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来描述的，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因此在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联系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中可能存在着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间的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中访问一个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时，可能还要用到其他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的数据，需要保证从当前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到其他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/>
          </a:p>
        </p:txBody>
      </p:sp>
      <p:graphicFrame>
        <p:nvGraphicFramePr>
          <p:cNvPr id="1259761" name="Group 241"/>
          <p:cNvGraphicFramePr>
            <a:graphicFrameLocks noGrp="1"/>
          </p:cNvGraphicFramePr>
          <p:nvPr/>
        </p:nvGraphicFramePr>
        <p:xfrm>
          <a:off x="107950" y="1557338"/>
          <a:ext cx="4752975" cy="4184650"/>
        </p:xfrm>
        <a:graphic>
          <a:graphicData uri="http://schemas.openxmlformats.org/drawingml/2006/table">
            <a:tbl>
              <a:tblPr/>
              <a:tblGrid>
                <a:gridCol w="1498600"/>
                <a:gridCol w="950913"/>
                <a:gridCol w="611187"/>
                <a:gridCol w="1692275"/>
              </a:tblGrid>
              <a:tr h="4075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主键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性别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电话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外键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50000"/>
                      </a:schemeClr>
                    </a:solidFill>
                  </a:tcPr>
                </a:tc>
              </a:tr>
              <a:tr h="40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2018110101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张晓勇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13506613651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2018110103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王一敏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13714261835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2018210201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江山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15033713351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2018210202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李明一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13847526598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384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2018310101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黄菊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18826172835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2018310103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孙世林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13088645890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400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2018410101 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刘涌涛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18692721538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400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2018410102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李怡然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女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12684527085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209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2018510101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赵国栋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男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13738142156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3" marB="360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9760" name="Group 240"/>
          <p:cNvGraphicFramePr>
            <a:graphicFrameLocks noGrp="1"/>
          </p:cNvGraphicFramePr>
          <p:nvPr/>
        </p:nvGraphicFramePr>
        <p:xfrm>
          <a:off x="5581650" y="1573213"/>
          <a:ext cx="3382963" cy="4170363"/>
        </p:xfrm>
        <a:graphic>
          <a:graphicData uri="http://schemas.openxmlformats.org/drawingml/2006/table">
            <a:tbl>
              <a:tblPr/>
              <a:tblGrid>
                <a:gridCol w="1657350"/>
                <a:gridCol w="935038"/>
                <a:gridCol w="790575"/>
              </a:tblGrid>
              <a:tr h="4076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电话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主键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宿舍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4076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13506613651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张晓勇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M1301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6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13714261835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王一敏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W5207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6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15033713351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江山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W6402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6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13847526598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李明一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M1304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3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18826172835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黄菊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W8211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6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13088645890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孙世林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M0409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385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18692721538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刘涌涛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M2305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400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12684527085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李怡然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W7307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4076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13738142156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赵国栋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M3412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36029" marB="360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173162" name="Line 243"/>
          <p:cNvSpPr/>
          <p:nvPr/>
        </p:nvSpPr>
        <p:spPr>
          <a:xfrm>
            <a:off x="6948488" y="2205038"/>
            <a:ext cx="1439862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3163" name="Line 244"/>
          <p:cNvSpPr/>
          <p:nvPr/>
        </p:nvSpPr>
        <p:spPr>
          <a:xfrm>
            <a:off x="1258888" y="2205038"/>
            <a:ext cx="2160587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3164" name="AutoShape 246"/>
          <p:cNvSpPr/>
          <p:nvPr/>
        </p:nvSpPr>
        <p:spPr>
          <a:xfrm>
            <a:off x="4427538" y="2133600"/>
            <a:ext cx="1439862" cy="215900"/>
          </a:xfrm>
          <a:prstGeom prst="rightArrow">
            <a:avLst>
              <a:gd name="adj1" fmla="val 50000"/>
              <a:gd name="adj2" fmla="val 166326"/>
            </a:avLst>
          </a:prstGeom>
          <a:solidFill>
            <a:srgbClr val="FF0000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3165" name="Text Box 247"/>
          <p:cNvSpPr txBox="1"/>
          <p:nvPr/>
        </p:nvSpPr>
        <p:spPr>
          <a:xfrm>
            <a:off x="1403350" y="981075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</a:rPr>
              <a:t>学生信息表</a:t>
            </a:r>
            <a:endParaRPr lang="zh-CN" altLang="en-US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3166" name="Text Box 248"/>
          <p:cNvSpPr txBox="1"/>
          <p:nvPr/>
        </p:nvSpPr>
        <p:spPr>
          <a:xfrm>
            <a:off x="6300788" y="981075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49" charset="-122"/>
              </a:rPr>
              <a:t>学生宿舍表</a:t>
            </a:r>
            <a:endParaRPr lang="zh-CN" altLang="en-US" sz="24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32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例如，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实体和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班级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实体可分别用下面的关系模式表示，其中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用下画线标识。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学号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姓名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性别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出生日期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籍贯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民族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班级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sng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班级名称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所属院系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年级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班级最大人数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这两个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之间存在着属性的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，即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关系通过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班级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51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273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显然，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关系中的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必须是要在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班级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关系中确实存在的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即班级关系中有该班级的记录。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这也就是说，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关系中的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取值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需要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参照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班级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关系中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取值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班级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关系中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学号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</a:t>
            </a:r>
            <a:endParaRPr lang="zh-CN" altLang="en-US" dirty="0"/>
          </a:p>
        </p:txBody>
      </p:sp>
      <p:sp>
        <p:nvSpPr>
          <p:cNvPr id="12533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是一个表中的一个或一组属性，它不是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这个表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，但它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对应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参照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另一个表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的主要作用是保证数据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，保持数据的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一致性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例如，学生各科的考试成绩分别在不同表中，通过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参照完整性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将保证，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数据库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中每个学生的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学号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在各个表中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完整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存在和相同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一致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，实现从各表获取数据。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71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3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后，不允许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引用的另一个表中具有关联关系的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记录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所属的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参照关系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，相关联的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所在的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被参照关系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参照完整性规则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定义的是外键与主键之间的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引用规则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外键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的取值或者为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，或者等于被参照关系中某个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主键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值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81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386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例如，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学生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关系中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可以取如下两类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空值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，表示还没来得及给该学生分班。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非空值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，这时该值必须是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班级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关系中某个记录的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班级编号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，表示该学生不可能分配到一个不存在的班级中。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92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427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时，需要遵守下列规则：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）被参照表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所在的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必须已经使用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语句创建存在，或者必须是当前正在创建的表。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若是后一种情形，则被参照表与参照表是同一个表，这样的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自参照表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，这种结构称为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自参照完整性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自参照完整性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是对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自参照表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中不同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之间必须满足的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选课表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自参照表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02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/>
          </a:p>
        </p:txBody>
      </p:sp>
      <p:sp>
        <p:nvSpPr>
          <p:cNvPr id="12544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）必须为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被参照表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引用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被参照表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时，必须在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被参照表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后面指定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列名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或列名的组合，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这个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列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或列组合必须是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被参照表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主键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或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候选键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125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）尽管</a:t>
            </a:r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主键</a:t>
            </a:r>
            <a:r>
              <a:rPr lang="zh-CN" altLang="en-US" dirty="0"/>
              <a:t>是不能够包含</a:t>
            </a:r>
            <a:r>
              <a:rPr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空值</a:t>
            </a:r>
            <a:r>
              <a:rPr lang="zh-CN" altLang="en-US" dirty="0"/>
              <a:t>，但允许在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</a:t>
            </a:r>
            <a:r>
              <a:rPr lang="zh-CN" altLang="en-US" dirty="0"/>
              <a:t>中出现空值。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 要做到</a:t>
            </a:r>
            <a:r>
              <a:rPr lang="en-US" altLang="zh-CN" dirty="0"/>
              <a:t>,</a:t>
            </a:r>
            <a:r>
              <a:rPr lang="zh-CN" altLang="en-US" dirty="0"/>
              <a:t>只要在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</a:t>
            </a:r>
            <a:r>
              <a:rPr lang="zh-CN" altLang="en-US" dirty="0"/>
              <a:t>的每个非空值出现在指定的</a:t>
            </a:r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主键</a:t>
            </a:r>
            <a:r>
              <a:rPr lang="zh-CN" altLang="en-US" dirty="0"/>
              <a:t>中，这个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</a:t>
            </a:r>
            <a:r>
              <a:rPr lang="zh-CN" altLang="en-US" dirty="0"/>
              <a:t>的内容就是正确的。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</a:t>
            </a:r>
            <a:r>
              <a:rPr lang="zh-CN" altLang="en-US" dirty="0"/>
              <a:t>是列组合时，对应列的数目必须和被参照表的主键对应列的数目相同。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</a:t>
            </a:r>
            <a:r>
              <a:rPr lang="zh-CN" altLang="en-US" dirty="0"/>
              <a:t>对应列的数据类型必须和被参照表的主键对应列的数据类型相同。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227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例</a:t>
            </a:r>
            <a:r>
              <a:rPr lang="en-US" altLang="zh-CN" dirty="0"/>
              <a:t>3.23 </a:t>
            </a:r>
            <a:r>
              <a:rPr lang="zh-CN" altLang="en-US" dirty="0"/>
              <a:t>在数据库</a:t>
            </a:r>
            <a:r>
              <a:rPr lang="en-US" altLang="zh-CN" dirty="0"/>
              <a:t>db_school</a:t>
            </a:r>
            <a:r>
              <a:rPr lang="zh-CN" altLang="en-US" dirty="0"/>
              <a:t>中重新定义学生表</a:t>
            </a:r>
            <a:r>
              <a:rPr lang="en-US" altLang="zh-CN" dirty="0"/>
              <a:t>tb_student</a:t>
            </a:r>
            <a:r>
              <a:rPr lang="zh-CN" altLang="en-US" dirty="0"/>
              <a:t>，要求以</a:t>
            </a:r>
            <a:r>
              <a:rPr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列级</a:t>
            </a:r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完整性约束</a:t>
            </a:r>
            <a:r>
              <a:rPr lang="zh-CN" altLang="en-US" dirty="0"/>
              <a:t>方式定义外键。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 在</a:t>
            </a:r>
            <a:r>
              <a:rPr lang="en-US" altLang="zh-CN" dirty="0"/>
              <a:t>MySQL</a:t>
            </a:r>
            <a:r>
              <a:rPr lang="zh-CN" altLang="en-US" dirty="0"/>
              <a:t>的命令行输入如下</a:t>
            </a:r>
            <a:r>
              <a:rPr lang="en-US" altLang="zh-CN" dirty="0"/>
              <a:t>SQL</a:t>
            </a:r>
            <a:r>
              <a:rPr lang="zh-CN" altLang="en-US" dirty="0"/>
              <a:t>语句：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USE db_school;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Database changed</a:t>
            </a:r>
            <a:endParaRPr lang="en-US" altLang="zh-CN" sz="3200" dirty="0">
              <a:solidFill>
                <a:schemeClr val="bg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DROP TABLE tb_student;</a:t>
            </a:r>
            <a:endParaRPr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rows affected (0.01 sec)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183298" name="Rectangle 4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3299" name="Rectangle 3"/>
          <p:cNvSpPr>
            <a:spLocks noGrp="1"/>
          </p:cNvSpPr>
          <p:nvPr>
            <p:ph idx="1"/>
          </p:nvPr>
        </p:nvSpPr>
        <p:spPr>
          <a:xfrm>
            <a:off x="179388" y="115888"/>
            <a:ext cx="8785225" cy="6553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mysql&gt;</a:t>
            </a:r>
            <a:r>
              <a:rPr lang="en-US" altLang="zh-CN" sz="3200" dirty="0">
                <a:solidFill>
                  <a:schemeClr val="tx2"/>
                </a:solidFill>
              </a:rPr>
              <a:t> CREATE TABLE db_school.tb_student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(studentNo CHAR(10),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studentName VARCHAR(20) NOT NULL,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sex CHAR(2) NOT NULL,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birthday DATE,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native VARCHAR(20),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nation VARCHAR(10) DEFAULT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</a:rPr>
              <a:t>‘</a:t>
            </a:r>
            <a:r>
              <a:rPr lang="zh-CN" altLang="en-US" sz="3200" dirty="0">
                <a:solidFill>
                  <a:schemeClr val="tx2"/>
                </a:solidFill>
              </a:rPr>
              <a:t>汉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</a:rPr>
              <a:t>’</a:t>
            </a:r>
            <a:r>
              <a:rPr lang="en-US" altLang="zh-CN" sz="3200" dirty="0">
                <a:solidFill>
                  <a:schemeClr val="tx2"/>
                </a:solidFill>
              </a:rPr>
              <a:t>,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classNo CHAR(6) REFERENCES tb_class(classNo),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CONSTRAINT PK_student PRIMARY KEY(studentNo)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tx2"/>
                </a:solidFill>
              </a:rPr>
              <a:t> </a:t>
            </a:r>
            <a:r>
              <a:rPr lang="en-US" altLang="zh-CN" sz="3200" dirty="0">
                <a:solidFill>
                  <a:schemeClr val="bg1"/>
                </a:solidFill>
              </a:rPr>
              <a:t>-&gt;</a:t>
            </a:r>
            <a:r>
              <a:rPr lang="en-US" altLang="zh-CN" sz="3200" dirty="0">
                <a:solidFill>
                  <a:schemeClr val="tx2"/>
                </a:solidFill>
              </a:rPr>
              <a:t> ) ENGINE=InnoDB;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200" dirty="0">
                <a:solidFill>
                  <a:schemeClr val="bg1"/>
                </a:solidFill>
              </a:rPr>
              <a:t> Query OK</a:t>
            </a:r>
            <a:r>
              <a:rPr lang="zh-CN" altLang="en-US" sz="3200" dirty="0">
                <a:solidFill>
                  <a:schemeClr val="bg1"/>
                </a:solidFill>
              </a:rPr>
              <a:t>，</a:t>
            </a:r>
            <a:r>
              <a:rPr lang="en-US" altLang="zh-CN" sz="3200" dirty="0">
                <a:solidFill>
                  <a:schemeClr val="bg1"/>
                </a:solidFill>
              </a:rPr>
              <a:t>0 rows affected (0.03 sec)</a:t>
            </a:r>
            <a:endParaRPr lang="en-US" altLang="zh-CN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</a:t>
            </a:r>
            <a:endParaRPr lang="zh-CN" altLang="en-US" dirty="0"/>
          </a:p>
        </p:txBody>
      </p:sp>
      <p:sp>
        <p:nvSpPr>
          <p:cNvPr id="12554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后，再执行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的结构。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55428" name="矩形 170"/>
          <p:cNvSpPr/>
          <p:nvPr/>
        </p:nvSpPr>
        <p:spPr>
          <a:xfrm>
            <a:off x="396875" y="2605088"/>
            <a:ext cx="8351838" cy="3784600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studentNo</a:t>
            </a:r>
            <a:r>
              <a:rPr lang="en-US" altLang="zh-CN" sz="2200" b="1" dirty="0">
                <a:latin typeface="Lucida Sans" pitchFamily="34" charset="0"/>
              </a:rPr>
              <a:t>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char(10)</a:t>
            </a:r>
            <a:r>
              <a:rPr lang="en-US" altLang="zh-CN" sz="2200" b="1" dirty="0">
                <a:latin typeface="Lucida Sans" pitchFamily="34" charset="0"/>
              </a:rPr>
              <a:t>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NO</a:t>
            </a:r>
            <a:r>
              <a:rPr lang="en-US" altLang="zh-CN" sz="2200" b="1" dirty="0">
                <a:latin typeface="Lucida Sans" pitchFamily="34" charset="0"/>
              </a:rPr>
              <a:t>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PRI</a:t>
            </a:r>
            <a:r>
              <a:rPr lang="en-US" altLang="zh-CN" sz="2200" b="1" dirty="0">
                <a:latin typeface="Lucida Sans" pitchFamily="34" charset="0"/>
              </a:rPr>
              <a:t>  |         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sex                 | char(2)        | </a:t>
            </a:r>
            <a:r>
              <a:rPr lang="en-US" altLang="zh-CN" sz="2200" b="1" dirty="0">
                <a:latin typeface="Arial" panose="020B0604020202020204" pitchFamily="34" charset="0"/>
              </a:rPr>
              <a:t>NO  </a:t>
            </a:r>
            <a:r>
              <a:rPr lang="en-US" altLang="zh-CN" sz="2200" b="1" dirty="0">
                <a:latin typeface="Lucida Sans" pitchFamily="34" charset="0"/>
              </a:rPr>
              <a:t>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birthday         | date            | YES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native </a:t>
            </a:r>
            <a:r>
              <a:rPr lang="en-US" altLang="zh-CN" sz="2400" b="1" dirty="0">
                <a:latin typeface="Lucida Sans" pitchFamily="34" charset="0"/>
              </a:rPr>
              <a:t>           </a:t>
            </a:r>
            <a:r>
              <a:rPr lang="en-US" altLang="zh-CN" sz="2200" b="1" dirty="0">
                <a:latin typeface="Lucida Sans" pitchFamily="34" charset="0"/>
              </a:rPr>
              <a:t>| varchar(20) | YES |        | NULL </a:t>
            </a:r>
            <a:r>
              <a:rPr lang="en-US" altLang="zh-CN" sz="2000" b="1" dirty="0">
                <a:latin typeface="Lucida Sans" pitchFamily="34" charset="0"/>
              </a:rPr>
              <a:t>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nation            | varchar(10)  | YES |        | </a:t>
            </a:r>
            <a:r>
              <a:rPr lang="zh-CN" altLang="en-US" sz="2200" b="1" dirty="0">
                <a:latin typeface="Lucida Sans" pitchFamily="34" charset="0"/>
              </a:rPr>
              <a:t>汉      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classNo          | char(6)</a:t>
            </a:r>
            <a:r>
              <a:rPr lang="en-US" altLang="zh-CN" sz="2400" b="1" dirty="0">
                <a:latin typeface="Lucida Sans" pitchFamily="34" charset="0"/>
              </a:rPr>
              <a:t>        </a:t>
            </a:r>
            <a:r>
              <a:rPr lang="en-US" altLang="zh-CN" sz="2200" b="1" dirty="0">
                <a:latin typeface="Lucida Sans" pitchFamily="34" charset="0"/>
              </a:rPr>
              <a:t>| YES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Arial" panose="020B0604020202020204" pitchFamily="34" charset="0"/>
              </a:rPr>
              <a:t>7 rows in set (0.01 sec)</a:t>
            </a:r>
            <a:endParaRPr lang="en-US" altLang="zh-CN" sz="2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5428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5428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55428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5428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55428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5428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55428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5428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5428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681" end="7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55428">
                                            <p:txEl>
                                              <p:charRg st="681" end="7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754" end="8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5428">
                                            <p:txEl>
                                              <p:charRg st="754" end="8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8">
                                            <p:txEl>
                                              <p:charRg st="841" end="8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55428">
                                            <p:txEl>
                                              <p:charRg st="841" end="8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744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中已经定义了数据表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tb_class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，而且定义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列为主键，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此时可以在表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列上定义外键约束，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其值参照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tb_class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的主键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classNo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的值。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</a:t>
            </a:r>
            <a:endParaRPr lang="zh-CN" altLang="en-US" dirty="0"/>
          </a:p>
        </p:txBody>
      </p:sp>
      <p:sp>
        <p:nvSpPr>
          <p:cNvPr id="12564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3.24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，要求以表级完整性约束方式定义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的命令行输入如下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187394" name="Rectangle 4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7395" name="Rectangle 3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4801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mysql&gt; DROP TABLE tb_student;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Query OK</a:t>
            </a:r>
            <a:r>
              <a:rPr lang="zh-CN" altLang="en-US" sz="2800" dirty="0"/>
              <a:t>，</a:t>
            </a:r>
            <a:r>
              <a:rPr lang="en-US" altLang="zh-CN" sz="2800" dirty="0"/>
              <a:t>0 rows affected (0.01 sec)</a:t>
            </a:r>
            <a:endParaRPr lang="en-US" altLang="zh-CN" sz="28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mysql&gt; CREATE TABLE db_school.tb_student</a:t>
            </a:r>
            <a:endParaRPr lang="en-US" altLang="zh-CN" sz="28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-&gt;( studentNo CHAR(10) L,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 studentName VARCHAR(20) NOT NULL,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 sex CHAR(2) NOT NULL,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 birthday DATE,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dirty="0"/>
              <a:t> </a:t>
            </a:r>
            <a:r>
              <a:rPr lang="en-US" altLang="zh-CN" sz="2800" dirty="0"/>
              <a:t>-&gt; native VARCHAR(20),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 nation VARCHAR(10) DEFAULT </a:t>
            </a:r>
            <a:r>
              <a:rPr lang="en-US" altLang="zh-CN" sz="2800" dirty="0">
                <a:latin typeface="Arial" panose="020B0604020202020204" pitchFamily="34" charset="0"/>
              </a:rPr>
              <a:t>‘</a:t>
            </a:r>
            <a:r>
              <a:rPr lang="zh-CN" altLang="en-US" sz="2800" dirty="0"/>
              <a:t>汉</a:t>
            </a:r>
            <a:r>
              <a:rPr lang="zh-CN" altLang="en-US" sz="2800" dirty="0">
                <a:latin typeface="Arial" panose="020B0604020202020204" pitchFamily="34" charset="0"/>
              </a:rPr>
              <a:t>’</a:t>
            </a:r>
            <a:r>
              <a:rPr lang="en-US" altLang="zh-CN" sz="2800" dirty="0"/>
              <a:t>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 classNo CHAR(6),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 CONSTRAINT PK_student PRIMARY KEY(studentNo),</a:t>
            </a:r>
            <a:endParaRPr lang="en-US" altLang="zh-CN" sz="2800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 CONSTRAINT FK_student FOREIGN KEY((classNo) REFERENCES tb_class(classNo)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 -&gt;) ENGINE=InnoDB;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/>
              <a:t>Query OK</a:t>
            </a:r>
            <a:r>
              <a:rPr lang="zh-CN" altLang="en-US" sz="2800" dirty="0"/>
              <a:t>，</a:t>
            </a:r>
            <a:r>
              <a:rPr lang="en-US" altLang="zh-CN" sz="2800" dirty="0"/>
              <a:t>0 rows affected (0.05 sec)</a:t>
            </a:r>
            <a:endParaRPr lang="en-US" altLang="zh-CN" sz="2800" dirty="0"/>
          </a:p>
        </p:txBody>
      </p:sp>
    </p:spTree>
  </p:cSld>
  <p:clrMapOvr>
    <a:masterClrMapping/>
  </p:clrMapOvr>
  <p:transition>
    <p:random/>
  </p:transition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</a:t>
            </a:r>
            <a:endParaRPr lang="zh-CN" altLang="en-US" dirty="0"/>
          </a:p>
        </p:txBody>
      </p:sp>
      <p:sp>
        <p:nvSpPr>
          <p:cNvPr id="12574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后，再执行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的结构。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57476" name="矩形 170"/>
          <p:cNvSpPr/>
          <p:nvPr/>
        </p:nvSpPr>
        <p:spPr>
          <a:xfrm>
            <a:off x="396875" y="2605088"/>
            <a:ext cx="8351838" cy="3784600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studentNo</a:t>
            </a:r>
            <a:r>
              <a:rPr lang="en-US" altLang="zh-CN" sz="2200" b="1" dirty="0">
                <a:latin typeface="Lucida Sans" pitchFamily="34" charset="0"/>
              </a:rPr>
              <a:t>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char(10)</a:t>
            </a:r>
            <a:r>
              <a:rPr lang="en-US" altLang="zh-CN" sz="2200" b="1" dirty="0">
                <a:latin typeface="Lucida Sans" pitchFamily="34" charset="0"/>
              </a:rPr>
              <a:t>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NO</a:t>
            </a:r>
            <a:r>
              <a:rPr lang="en-US" altLang="zh-CN" sz="2200" b="1" dirty="0">
                <a:latin typeface="Lucida Sans" pitchFamily="34" charset="0"/>
              </a:rPr>
              <a:t>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PRI</a:t>
            </a:r>
            <a:r>
              <a:rPr lang="en-US" altLang="zh-CN" sz="2200" b="1" dirty="0">
                <a:latin typeface="Lucida Sans" pitchFamily="34" charset="0"/>
              </a:rPr>
              <a:t>  |         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sex                 | char(2)        | </a:t>
            </a:r>
            <a:r>
              <a:rPr lang="en-US" altLang="zh-CN" sz="2200" b="1" dirty="0">
                <a:latin typeface="Arial" panose="020B0604020202020204" pitchFamily="34" charset="0"/>
              </a:rPr>
              <a:t>NO  </a:t>
            </a:r>
            <a:r>
              <a:rPr lang="en-US" altLang="zh-CN" sz="2200" b="1" dirty="0">
                <a:latin typeface="Lucida Sans" pitchFamily="34" charset="0"/>
              </a:rPr>
              <a:t>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birthday         | date            | YES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native </a:t>
            </a:r>
            <a:r>
              <a:rPr lang="en-US" altLang="zh-CN" sz="2400" b="1" dirty="0">
                <a:latin typeface="Lucida Sans" pitchFamily="34" charset="0"/>
              </a:rPr>
              <a:t>           </a:t>
            </a:r>
            <a:r>
              <a:rPr lang="en-US" altLang="zh-CN" sz="2200" b="1" dirty="0">
                <a:latin typeface="Lucida Sans" pitchFamily="34" charset="0"/>
              </a:rPr>
              <a:t>| varchar(20) | YES |        | NULL </a:t>
            </a:r>
            <a:r>
              <a:rPr lang="en-US" altLang="zh-CN" sz="2000" b="1" dirty="0">
                <a:latin typeface="Lucida Sans" pitchFamily="34" charset="0"/>
              </a:rPr>
              <a:t>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nation            | varchar(10)  | YES |        | </a:t>
            </a:r>
            <a:r>
              <a:rPr lang="zh-CN" altLang="en-US" sz="2200" b="1" dirty="0">
                <a:latin typeface="Lucida Sans" pitchFamily="34" charset="0"/>
              </a:rPr>
              <a:t>汉      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classNo </a:t>
            </a:r>
            <a:r>
              <a:rPr lang="en-US" altLang="zh-CN" sz="2200" b="1" dirty="0">
                <a:latin typeface="Lucida Sans" pitchFamily="34" charset="0"/>
              </a:rPr>
              <a:t>   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char(6)</a:t>
            </a:r>
            <a:r>
              <a:rPr lang="en-US" altLang="zh-CN" sz="2400" b="1" dirty="0">
                <a:latin typeface="Lucida Sans" pitchFamily="34" charset="0"/>
              </a:rPr>
              <a:t>        </a:t>
            </a: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YES</a:t>
            </a:r>
            <a:r>
              <a:rPr lang="en-US" altLang="zh-CN" sz="2200" b="1" dirty="0">
                <a:latin typeface="Lucida Sans" pitchFamily="34" charset="0"/>
              </a:rPr>
              <a:t> |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MUL </a:t>
            </a: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NULL </a:t>
            </a:r>
            <a:r>
              <a:rPr lang="en-US" altLang="zh-CN" sz="2200" b="1" dirty="0">
                <a:latin typeface="Lucida Sans" pitchFamily="34" charset="0"/>
              </a:rPr>
              <a:t>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Arial" panose="020B0604020202020204" pitchFamily="34" charset="0"/>
              </a:rPr>
              <a:t>7 rows in set (0.01 sec)</a:t>
            </a:r>
            <a:endParaRPr lang="en-US" altLang="zh-CN" sz="2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7476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7476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57476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7476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57476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7476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57476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7476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7476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681" end="7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57476">
                                            <p:txEl>
                                              <p:charRg st="681" end="7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750" end="8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7476">
                                            <p:txEl>
                                              <p:charRg st="750" end="8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6">
                                            <p:txEl>
                                              <p:charRg st="837" end="8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57476">
                                            <p:txEl>
                                              <p:charRg st="837" end="8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94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960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列上定义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后，只有当某班级里没有学生时才可以删除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tb_class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中该班级的记录信息。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可以通过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一个参照动作来修改这个规则，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即定义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外键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时可以显式说明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参照完整性约束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的违约处理策略。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990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参照动作时，需要包括两部分：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一是要指定参照动作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适用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语句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，即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UPDATE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语句；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二是要指定采取的动作，即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RESTRICT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CASCADE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 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ACTION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 DEFAULT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，其中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RESTRICT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为默认值。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参照动作处理策略具体作用如下：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990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参照动作时：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9149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555750"/>
            <a:ext cx="6934200" cy="1752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1493" name="图片 3"/>
          <p:cNvPicPr>
            <a:picLocks noChangeAspect="1"/>
          </p:cNvPicPr>
          <p:nvPr/>
        </p:nvPicPr>
        <p:blipFill>
          <a:blip r:embed="rId2">
            <a:lum bright="17999"/>
          </a:blip>
          <a:stretch>
            <a:fillRect/>
          </a:stretch>
        </p:blipFill>
        <p:spPr>
          <a:xfrm>
            <a:off x="1187450" y="3789363"/>
            <a:ext cx="3665538" cy="1797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1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RESTRICT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限制策略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即当要删除或修改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被参照表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中被参照列上且在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外键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中出现的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值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时，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系统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拒绝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对被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参照表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的删除或修改操作。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CASCADE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级联策略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即从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被参照表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中删除或修改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记录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时，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自动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删除或修改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参照表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中匹配的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记录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521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79387" y="692150"/>
            <a:ext cx="8785225" cy="5976936"/>
          </a:xfrm>
          <a:ln/>
          <a:effectLst/>
          <a:sp3d prstMaterial="plastic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cene3d>
              <a:camera prst="orthographicFront"/>
              <a:lightRig rig="threePt" dir="t"/>
            </a:scene3d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 NULL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置空策略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即当从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被参照表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中删除或修改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记录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时，设置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参照表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中与之对应的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外键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值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为</a:t>
            </a:r>
            <a:r>
              <a:rPr kumimoji="0" lang="en-US" altLang="zh-CN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NULL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这个策略需要被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参照表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中的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外键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列没有声明为</a:t>
            </a:r>
            <a:r>
              <a:rPr kumimoji="0" lang="en-US" altLang="zh-CN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NOT NULL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ACTION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：表示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不采取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实施策略，</a:t>
            </a:r>
            <a:endParaRPr kumimoji="0" lang="zh-CN" altLang="en-US" sz="3400" b="1" i="0" u="none" strike="noStrike" kern="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即当一个相关的</a:t>
            </a:r>
            <a:r>
              <a:rPr kumimoji="0" lang="zh-CN" altLang="en-US" sz="34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外键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值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在被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参照表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中时，删除或修改被参照表中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键值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的动作不被允许。</a:t>
            </a:r>
            <a:endParaRPr kumimoji="0" lang="zh-CN" altLang="en-US" sz="3200" b="1" i="0" u="none" strike="noStrike" kern="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该策略的动作语义与</a:t>
            </a:r>
            <a:r>
              <a:rPr kumimoji="0" lang="en-US" altLang="zh-CN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ea"/>
              </a:rPr>
              <a:t>RESTRICT</a:t>
            </a:r>
            <a:r>
              <a:rPr kumimoji="0" lang="zh-CN" altLang="en-US" sz="3200" b="1" i="0" u="none" strike="noStrike" kern="0" cap="none" spc="0" normalizeH="0" baseline="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相同。</a:t>
            </a:r>
            <a:endParaRPr kumimoji="0" lang="zh-CN" altLang="en-US" sz="3200" b="1" i="0" u="none" strike="noStrike" kern="0" cap="none" spc="0" normalizeH="0" baseline="0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82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SET DEFAULT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默认值策略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即当从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被参照表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中删除或修改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记录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行，设置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参照表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中与之对应的外键列的值为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默认值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这个策略要求已经为该列定义了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默认值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3.25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 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中重新定义学生表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，要求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6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的同时定义相应的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参照动作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DROP TABLE tb_student;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rows affected (0.01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55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mysql&gt;</a:t>
            </a:r>
            <a:r>
              <a:rPr lang="en-US" altLang="zh-CN" sz="2800" dirty="0"/>
              <a:t> CREATE TABLE db_school.tb_student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( studentNo CHAR(10),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studentName VARCHAR(20) NOT NULL,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sex CHAR(2) NOT NULL,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birthday DATE,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native VARCHAR(20),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nation VARCHAR(10) DEFAULT </a:t>
            </a:r>
            <a:r>
              <a:rPr lang="en-US" altLang="zh-CN" sz="2800" dirty="0">
                <a:latin typeface="Arial" panose="020B0604020202020204" pitchFamily="34" charset="0"/>
              </a:rPr>
              <a:t>‘</a:t>
            </a:r>
            <a:r>
              <a:rPr lang="zh-CN" altLang="en-US" sz="2800" dirty="0"/>
              <a:t>汉</a:t>
            </a:r>
            <a:r>
              <a:rPr lang="zh-CN" altLang="en-US" sz="2800" dirty="0">
                <a:latin typeface="Arial" panose="020B0604020202020204" pitchFamily="34" charset="0"/>
              </a:rPr>
              <a:t>’</a:t>
            </a:r>
            <a:r>
              <a:rPr lang="en-US" altLang="zh-CN" sz="2800" dirty="0"/>
              <a:t>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classNo CHAR(6),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CONSTRAINT PK_student PRIMARY KEY(studentNo),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-&gt; CONSTRAINT FK_student FOREIGN KEY(classNo) REFERENCES tb_class(classNo)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-&gt; ON UPDATE RESTRICT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-&gt; ON DELETE CASCADE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/>
              <a:t> ) ENGINE=InnoDB;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Query OK</a:t>
            </a:r>
            <a:r>
              <a:rPr lang="zh-CN" altLang="en-US" sz="2800" dirty="0">
                <a:solidFill>
                  <a:schemeClr val="bg1"/>
                </a:solidFill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</a:rPr>
              <a:t>0 rows affected (0.06 sec)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定义实体完整性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主键约束</a:t>
            </a:r>
            <a:endParaRPr lang="zh-CN" altLang="en-US" dirty="0"/>
          </a:p>
        </p:txBody>
      </p:sp>
      <p:sp>
        <p:nvSpPr>
          <p:cNvPr id="12584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重新定义学生表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后，再执行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的结构。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58500" name="矩形 170"/>
          <p:cNvSpPr/>
          <p:nvPr/>
        </p:nvSpPr>
        <p:spPr>
          <a:xfrm>
            <a:off x="396875" y="2605088"/>
            <a:ext cx="8351838" cy="3784600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studentNo</a:t>
            </a:r>
            <a:r>
              <a:rPr lang="en-US" altLang="zh-CN" sz="2200" b="1" dirty="0">
                <a:latin typeface="Lucida Sans" pitchFamily="34" charset="0"/>
              </a:rPr>
              <a:t>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char(10)</a:t>
            </a:r>
            <a:r>
              <a:rPr lang="en-US" altLang="zh-CN" sz="2200" b="1" dirty="0">
                <a:latin typeface="Lucida Sans" pitchFamily="34" charset="0"/>
              </a:rPr>
              <a:t>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NO</a:t>
            </a:r>
            <a:r>
              <a:rPr lang="en-US" altLang="zh-CN" sz="2200" b="1" dirty="0">
                <a:latin typeface="Lucida Sans" pitchFamily="34" charset="0"/>
              </a:rPr>
              <a:t>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PRI</a:t>
            </a:r>
            <a:r>
              <a:rPr lang="en-US" altLang="zh-CN" sz="2200" b="1" dirty="0">
                <a:latin typeface="Lucida Sans" pitchFamily="34" charset="0"/>
              </a:rPr>
              <a:t>  |         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sex                 | char(2)        | </a:t>
            </a:r>
            <a:r>
              <a:rPr lang="en-US" altLang="zh-CN" sz="2200" b="1" dirty="0">
                <a:latin typeface="Arial" panose="020B0604020202020204" pitchFamily="34" charset="0"/>
              </a:rPr>
              <a:t>NO  </a:t>
            </a:r>
            <a:r>
              <a:rPr lang="en-US" altLang="zh-CN" sz="2200" b="1" dirty="0">
                <a:latin typeface="Lucida Sans" pitchFamily="34" charset="0"/>
              </a:rPr>
              <a:t>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birthday         | date            | YES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native </a:t>
            </a:r>
            <a:r>
              <a:rPr lang="en-US" altLang="zh-CN" sz="2400" b="1" dirty="0">
                <a:latin typeface="Lucida Sans" pitchFamily="34" charset="0"/>
              </a:rPr>
              <a:t>           </a:t>
            </a:r>
            <a:r>
              <a:rPr lang="en-US" altLang="zh-CN" sz="2200" b="1" dirty="0">
                <a:latin typeface="Lucida Sans" pitchFamily="34" charset="0"/>
              </a:rPr>
              <a:t>| varchar(20) | YES |        | NULL </a:t>
            </a:r>
            <a:r>
              <a:rPr lang="en-US" altLang="zh-CN" sz="2000" b="1" dirty="0">
                <a:latin typeface="Lucida Sans" pitchFamily="34" charset="0"/>
              </a:rPr>
              <a:t>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nation            | varchar(10)  | YES |        | </a:t>
            </a:r>
            <a:r>
              <a:rPr lang="zh-CN" altLang="en-US" sz="2200" b="1" dirty="0">
                <a:latin typeface="Lucida Sans" pitchFamily="34" charset="0"/>
              </a:rPr>
              <a:t>汉      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classNo </a:t>
            </a:r>
            <a:r>
              <a:rPr lang="en-US" altLang="zh-CN" sz="2200" b="1" dirty="0">
                <a:latin typeface="Lucida Sans" pitchFamily="34" charset="0"/>
              </a:rPr>
              <a:t>         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char(6)</a:t>
            </a:r>
            <a:r>
              <a:rPr lang="en-US" altLang="zh-CN" sz="2400" b="1" dirty="0">
                <a:latin typeface="Lucida Sans" pitchFamily="34" charset="0"/>
              </a:rPr>
              <a:t>        </a:t>
            </a: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YES</a:t>
            </a:r>
            <a:r>
              <a:rPr lang="en-US" altLang="zh-CN" sz="2200" b="1" dirty="0">
                <a:latin typeface="Lucida Sans" pitchFamily="34" charset="0"/>
              </a:rPr>
              <a:t> |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MUL </a:t>
            </a: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NULL </a:t>
            </a:r>
            <a:r>
              <a:rPr lang="en-US" altLang="zh-CN" sz="2200" b="1" dirty="0">
                <a:latin typeface="Lucida Sans" pitchFamily="34" charset="0"/>
              </a:rPr>
              <a:t>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Arial" panose="020B0604020202020204" pitchFamily="34" charset="0"/>
              </a:rPr>
              <a:t>7 rows in set (0.01 sec)</a:t>
            </a:r>
            <a:endParaRPr lang="en-US" altLang="zh-CN" sz="2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8500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8500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58500">
                                            <p:txEl>
                                              <p:charRg st="247" end="3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58500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58500">
                                            <p:txEl>
                                              <p:charRg st="319" end="3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58500">
                                            <p:txEl>
                                              <p:charRg st="384" end="4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58500">
                                            <p:txEl>
                                              <p:charRg st="461" end="5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8500">
                                            <p:txEl>
                                              <p:charRg st="536" end="6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58500">
                                            <p:txEl>
                                              <p:charRg st="607" end="6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681" end="7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58500">
                                            <p:txEl>
                                              <p:charRg st="681" end="7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750" end="8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58500">
                                            <p:txEl>
                                              <p:charRg st="750" end="8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500">
                                            <p:txEl>
                                              <p:charRg st="837" end="8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58500">
                                            <p:txEl>
                                              <p:charRg st="837" end="8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这里定义了两个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参照动作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ON UPDATE RESTRICT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表示当某个班级里有学生时，不允许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修改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(UPDATE)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班级表中的该班级的编号；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ON DELETE CASCADE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表示当要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DELETE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班级表中的某个班级的编号时，如果该班级里有学生时，就将相应学生记录级联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定义参照完整性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865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 </a:t>
            </a:r>
            <a:r>
              <a:rPr lang="zh-CN" altLang="en-US" dirty="0"/>
              <a:t>需要注意：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</a:t>
            </a:r>
            <a:r>
              <a:rPr lang="zh-CN" altLang="en-US" dirty="0"/>
              <a:t>只能引用</a:t>
            </a:r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主键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候选键</a:t>
            </a:r>
            <a:r>
              <a:rPr lang="zh-CN" altLang="en-US" dirty="0"/>
              <a:t>。也就是说，只有当</a:t>
            </a:r>
            <a:r>
              <a:rPr lang="zh-CN" altLang="en-US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被参照关系</a:t>
            </a:r>
            <a:r>
              <a:rPr lang="zh-CN" altLang="en-US" dirty="0"/>
              <a:t>的某个列或某些列上定义了</a:t>
            </a:r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主键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候选键</a:t>
            </a:r>
            <a:r>
              <a:rPr lang="zh-CN" altLang="en-US" dirty="0"/>
              <a:t>，</a:t>
            </a:r>
            <a:r>
              <a:rPr lang="en-US" altLang="zh-CN" dirty="0"/>
              <a:t>DBMS</a:t>
            </a:r>
            <a:r>
              <a:rPr lang="zh-CN" altLang="en-US" dirty="0"/>
              <a:t>才允许在</a:t>
            </a:r>
            <a:r>
              <a:rPr lang="zh-CN" altLang="en-US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参照关系</a:t>
            </a:r>
            <a:r>
              <a:rPr lang="zh-CN" altLang="en-US" dirty="0"/>
              <a:t>的引用列上定义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外键</a:t>
            </a:r>
            <a:r>
              <a:rPr lang="zh-CN" altLang="en-US" dirty="0"/>
              <a:t>只可以用在使用存储引擎</a:t>
            </a:r>
            <a:r>
              <a:rPr lang="en-US" altLang="zh-CN" dirty="0"/>
              <a:t>InnoDB</a:t>
            </a:r>
            <a:r>
              <a:rPr lang="zh-CN" altLang="en-US" dirty="0"/>
              <a:t>创建的表中，其他的存储引擎不支持外键。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 这就是倾向于使用</a:t>
            </a:r>
            <a:r>
              <a:rPr lang="en-US" altLang="zh-CN" dirty="0"/>
              <a:t>InnoDB</a:t>
            </a:r>
            <a:r>
              <a:rPr lang="zh-CN" altLang="en-US" dirty="0"/>
              <a:t>的原因之一。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6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390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3.3.3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用户定义的完整性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除了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实体完整性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参照完整性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之外，不同的数据库系统根据其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应用环境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的不同，往往还需要定义一些特殊的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约束条件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用户定义的完整性规则，它反映了某一具体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应用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所涉及的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应满足的语义要求。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例如，要求学生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性别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值不能为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且只能取值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男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女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441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实际系统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中，这类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完整性规则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一般在建立数据库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时一并进行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，应用编程人员不需再做考虑。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之后，在用户进行具体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数据操作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时，数据库管理系统就能根据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完整性规则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进行检查，并进行相应处理。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482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支持几种用户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，分别是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非空约束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触发器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其中，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触发器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将在第八章单独介绍。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这里主要介绍非空约束与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约束，这两类完整性约束均可在用户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数据表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的同时进行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设置非空约束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设置非空约束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非空约束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是指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对于设置了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非空约束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，如果用户在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添加数据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时没有给其指定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值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，数据库系统会报错。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非空约束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的定义可以使用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ALTERT 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语句，在某个列定义的后面加上关键字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NOT 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作为限定词，来约束该列的取值不能为空。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设置非空约束 </a:t>
            </a:r>
            <a:endParaRPr lang="zh-CN" altLang="en-US" dirty="0"/>
          </a:p>
        </p:txBody>
      </p:sp>
      <p:sp>
        <p:nvSpPr>
          <p:cNvPr id="12605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例如，在例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3.19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的语句中对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studentName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department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等字段都添加了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非空约束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，以确保这些字段的取值不可以是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NULL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ea"/>
              </a:rPr>
              <a:t>studentName VARCHAR(20) NOT NULL,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ea"/>
              </a:rPr>
              <a:t>department VARCHAR(30) NOT NULL,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564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accent1"/>
              </a:solidFill>
              <a:effectLst>
                <a:outerShdw blurRad="38100" dist="38100" dir="2700000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与非空约束一样，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也是在创建表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(CREATE TABLE)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或修改表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(ALTER TABLE)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的同时，根据用户的实际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完整性要求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来定义的。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约束条件表达式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”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限定条件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它可以分别定义为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列级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或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表级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完整性约束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8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605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列级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定义的是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单个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需要满足的要求，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是定义表中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多个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之间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应满足的条件。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常用的语法格式是：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约束条件表达式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约束条件表达式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用于指定需要检查的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限定条件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68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可以使用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简单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的表达式来实现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约束，也允许使用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复杂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的表达式作为限定条件，例如，在限定条件中加入子查询。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3.26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在已有数据库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中定义课程表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tb_course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，结构如表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所示，设定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自定义约束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要求每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16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个课时对应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1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学分。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8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676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课程表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tb_course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命令行输入如下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9444" name="表格 189443"/>
          <p:cNvGraphicFramePr/>
          <p:nvPr/>
        </p:nvGraphicFramePr>
        <p:xfrm>
          <a:off x="611188" y="1557338"/>
          <a:ext cx="7848600" cy="3856038"/>
        </p:xfrm>
        <a:graphic>
          <a:graphicData uri="http://schemas.openxmlformats.org/drawingml/2006/table">
            <a:tbl>
              <a:tblPr/>
              <a:tblGrid>
                <a:gridCol w="1871663"/>
                <a:gridCol w="2593975"/>
                <a:gridCol w="1725612"/>
                <a:gridCol w="1657350"/>
              </a:tblGrid>
              <a:tr h="54921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含义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字段名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数据类型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宽度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54862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课程号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conrseNo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6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921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课程名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courseName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20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862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学分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credit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数值型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lang="zh-CN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921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课时数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 err="1">
                          <a:latin typeface="宋体" panose="02010600030101010101" pitchFamily="2" charset="-122"/>
                        </a:rPr>
                        <a:t>courseHour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数值型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课时数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921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开课学期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term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6191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先修课程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priorCourse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6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15" marB="4571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208898" name="Rectangle 4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8899" name="Rectangle 3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4801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mysql&gt;</a:t>
            </a:r>
            <a:r>
              <a:rPr lang="en-US" altLang="zh-CN" sz="2800" dirty="0">
                <a:solidFill>
                  <a:schemeClr val="tx2"/>
                </a:solidFill>
              </a:rPr>
              <a:t> USE db_school;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Database changed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mysql&gt;</a:t>
            </a:r>
            <a:r>
              <a:rPr lang="en-US" altLang="zh-CN" sz="2800" dirty="0">
                <a:solidFill>
                  <a:schemeClr val="tx2"/>
                </a:solidFill>
              </a:rPr>
              <a:t> CREATE TABLE tb_course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( courseNo CHAR(6),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courseName VARCHAR(20) NOT NULL,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credit INT NOT NULL,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courseHour INT NOT NULL,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term CHAR(2),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priorCourse CHAR(6),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 </a:t>
            </a:r>
            <a:r>
              <a:rPr lang="en-US" altLang="zh-CN" sz="2800" dirty="0">
                <a:solidFill>
                  <a:schemeClr val="tx2"/>
                </a:solidFill>
              </a:rPr>
              <a:t>CONSTRAINT PK_course PRIMARY KEY(courseNo),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600" dirty="0">
                <a:solidFill>
                  <a:schemeClr val="tx2"/>
                </a:solidFill>
              </a:rPr>
              <a:t>CONSTRAINT FK_course FOREIGN KEY(priorCourse)</a:t>
            </a:r>
            <a:endParaRPr lang="en-US" altLang="zh-CN" sz="26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REFERENCES tb_course(courseNo),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600" dirty="0">
                <a:solidFill>
                  <a:srgbClr val="FF0000"/>
                </a:solidFill>
              </a:rPr>
              <a:t>CONSTRAINT CK_course CHECK(credit=courseHour/16)</a:t>
            </a:r>
            <a:endParaRPr lang="en-US" altLang="zh-CN" sz="26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) ENGINE=InnoDB;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Query OK</a:t>
            </a:r>
            <a:r>
              <a:rPr lang="zh-CN" altLang="en-US" sz="2800" dirty="0">
                <a:solidFill>
                  <a:schemeClr val="tx2"/>
                </a:solidFill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</a:rPr>
              <a:t>0 rows affected (0.02 sec)</a:t>
            </a:r>
            <a:endParaRPr lang="en-US" altLang="zh-CN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9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/>
          </a:p>
        </p:txBody>
      </p:sp>
      <p:sp>
        <p:nvSpPr>
          <p:cNvPr id="12615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定义课程表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tb_course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后，再执行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tb_course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tb_course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的结构。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61572" name="矩形 170"/>
          <p:cNvSpPr/>
          <p:nvPr/>
        </p:nvSpPr>
        <p:spPr>
          <a:xfrm>
            <a:off x="396875" y="2605088"/>
            <a:ext cx="8351838" cy="3482975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latin typeface="Arial" panose="020B0604020202020204" pitchFamily="34" charset="0"/>
              </a:rPr>
              <a:t>courseNo        </a:t>
            </a:r>
            <a:r>
              <a:rPr lang="en-US" altLang="zh-CN" sz="2200" b="1" dirty="0">
                <a:latin typeface="Lucida Sans" pitchFamily="34" charset="0"/>
              </a:rPr>
              <a:t> | char(6)</a:t>
            </a:r>
            <a:r>
              <a:rPr lang="en-US" altLang="zh-CN" dirty="0">
                <a:latin typeface="Arial" panose="020B0604020202020204" pitchFamily="34" charset="0"/>
              </a:rPr>
              <a:t>            </a:t>
            </a:r>
            <a:r>
              <a:rPr lang="en-US" altLang="zh-CN" sz="2200" b="1" dirty="0">
                <a:latin typeface="Lucida Sans" pitchFamily="34" charset="0"/>
              </a:rPr>
              <a:t>| NO  | PRI  |         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studentName | varchar(20) | NO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eredit             | int(11)         | </a:t>
            </a:r>
            <a:r>
              <a:rPr lang="en-US" altLang="zh-CN" sz="2200" b="1" dirty="0">
                <a:latin typeface="Arial" panose="020B0604020202020204" pitchFamily="34" charset="0"/>
              </a:rPr>
              <a:t>NO  </a:t>
            </a:r>
            <a:r>
              <a:rPr lang="en-US" altLang="zh-CN" sz="2200" b="1" dirty="0">
                <a:latin typeface="Lucida Sans" pitchFamily="34" charset="0"/>
              </a:rPr>
              <a:t>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</a:t>
            </a:r>
            <a:r>
              <a:rPr lang="en-US" altLang="zh-CN" sz="2200" b="1" dirty="0">
                <a:latin typeface="Arial" panose="020B0604020202020204" pitchFamily="34" charset="0"/>
              </a:rPr>
              <a:t>courseHour</a:t>
            </a:r>
            <a:r>
              <a:rPr lang="en-US" altLang="zh-CN" sz="2200" b="1" dirty="0">
                <a:latin typeface="Lucida Sans" pitchFamily="34" charset="0"/>
              </a:rPr>
              <a:t>     | int(11)         | </a:t>
            </a:r>
            <a:r>
              <a:rPr lang="en-US" altLang="zh-CN" sz="2200" b="1" dirty="0">
                <a:latin typeface="Arial" panose="020B0604020202020204" pitchFamily="34" charset="0"/>
              </a:rPr>
              <a:t>NO</a:t>
            </a:r>
            <a:r>
              <a:rPr lang="en-US" altLang="zh-CN" sz="2200" b="1" dirty="0">
                <a:latin typeface="Lucida Sans" pitchFamily="34" charset="0"/>
              </a:rPr>
              <a:t> 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term   </a:t>
            </a:r>
            <a:r>
              <a:rPr lang="en-US" altLang="zh-CN" sz="2400" b="1" dirty="0">
                <a:latin typeface="Lucida Sans" pitchFamily="34" charset="0"/>
              </a:rPr>
              <a:t>           </a:t>
            </a:r>
            <a:r>
              <a:rPr lang="en-US" altLang="zh-CN" sz="2200" b="1" dirty="0">
                <a:latin typeface="Lucida Sans" pitchFamily="34" charset="0"/>
              </a:rPr>
              <a:t>| char(2)</a:t>
            </a:r>
            <a:r>
              <a:rPr lang="en-US" altLang="zh-CN" dirty="0">
                <a:latin typeface="Arial" panose="020B0604020202020204" pitchFamily="34" charset="0"/>
              </a:rPr>
              <a:t>            </a:t>
            </a:r>
            <a:r>
              <a:rPr lang="en-US" altLang="zh-CN" sz="2200" b="1" dirty="0">
                <a:latin typeface="Lucida Sans" pitchFamily="34" charset="0"/>
              </a:rPr>
              <a:t>| YES |        | NULL </a:t>
            </a:r>
            <a:r>
              <a:rPr lang="en-US" altLang="zh-CN" sz="2000" b="1" dirty="0">
                <a:latin typeface="Lucida Sans" pitchFamily="34" charset="0"/>
              </a:rPr>
              <a:t>  </a:t>
            </a:r>
            <a:r>
              <a:rPr lang="en-US" altLang="zh-CN" sz="2200" b="1" dirty="0">
                <a:latin typeface="Lucida Sans" pitchFamily="34" charset="0"/>
              </a:rPr>
              <a:t>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priorCourse   | char(6)</a:t>
            </a:r>
            <a:r>
              <a:rPr lang="en-US" altLang="zh-CN" sz="2400" b="1" dirty="0">
                <a:latin typeface="Lucida Sans" pitchFamily="34" charset="0"/>
              </a:rPr>
              <a:t>        </a:t>
            </a:r>
            <a:r>
              <a:rPr lang="en-US" altLang="zh-CN" sz="2200" b="1" dirty="0">
                <a:latin typeface="Lucida Sans" pitchFamily="34" charset="0"/>
              </a:rPr>
              <a:t>| YES |MUL | NULL</a:t>
            </a:r>
            <a:r>
              <a:rPr lang="en-US" altLang="zh-CN" sz="2200" b="1" dirty="0">
                <a:solidFill>
                  <a:schemeClr val="accent1"/>
                </a:solidFill>
                <a:latin typeface="Lucida Sans" pitchFamily="34" charset="0"/>
              </a:rPr>
              <a:t> </a:t>
            </a:r>
            <a:r>
              <a:rPr lang="en-US" altLang="zh-CN" sz="2200" b="1" dirty="0">
                <a:latin typeface="Lucida Sans" pitchFamily="34" charset="0"/>
              </a:rPr>
              <a:t>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Arial" panose="020B0604020202020204" pitchFamily="34" charset="0"/>
              </a:rPr>
              <a:t>6 rows in set (0.08 sec)</a:t>
            </a:r>
            <a:endParaRPr lang="en-US" altLang="zh-CN" sz="2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1572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1572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247" end="3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1572">
                                            <p:txEl>
                                              <p:charRg st="247" end="3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61572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326" end="3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1572">
                                            <p:txEl>
                                              <p:charRg st="326" end="3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391" end="4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1572">
                                            <p:txEl>
                                              <p:charRg st="391" end="4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468" end="5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61572">
                                            <p:txEl>
                                              <p:charRg st="468" end="5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540" end="6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61572">
                                            <p:txEl>
                                              <p:charRg st="540" end="6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618" end="6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61572">
                                            <p:txEl>
                                              <p:charRg st="618" end="6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684" end="7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1572">
                                            <p:txEl>
                                              <p:charRg st="684" end="7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572">
                                            <p:txEl>
                                              <p:charRg st="771" end="7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61572">
                                            <p:txEl>
                                              <p:charRg st="771" end="7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994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这里的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CHECK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en-US" altLang="zh-C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PK_course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定义了字段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credit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courseHour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之间应满足的函数关系，故只能将它定义为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3.27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在已有数据库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db_school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中定义成绩表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，结构如表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所示，要求成绩取值只能在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0—100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3.4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成绩表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th_score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命令行客户端输入如下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193540" name="表格 193539"/>
          <p:cNvGraphicFramePr/>
          <p:nvPr/>
        </p:nvGraphicFramePr>
        <p:xfrm>
          <a:off x="971550" y="3398838"/>
          <a:ext cx="7056438" cy="2195513"/>
        </p:xfrm>
        <a:graphic>
          <a:graphicData uri="http://schemas.openxmlformats.org/drawingml/2006/table">
            <a:tbl>
              <a:tblPr/>
              <a:tblGrid>
                <a:gridCol w="1800225"/>
                <a:gridCol w="2108200"/>
                <a:gridCol w="1747838"/>
                <a:gridCol w="1400175"/>
              </a:tblGrid>
              <a:tr h="54914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含义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字段名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数据类型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宽度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</a:tr>
              <a:tr h="5486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学号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en-US" sz="3000" b="1" dirty="0">
                          <a:latin typeface="宋体" panose="02010600030101010101" pitchFamily="2" charset="-122"/>
                        </a:rPr>
                        <a:t>studentNo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10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914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课程号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en-US" sz="3000" b="1" dirty="0">
                          <a:latin typeface="宋体" panose="02010600030101010101" pitchFamily="2" charset="-122"/>
                        </a:rPr>
                        <a:t>courseNo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字符型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3000" b="1" dirty="0">
                          <a:latin typeface="宋体" panose="02010600030101010101" pitchFamily="2" charset="-122"/>
                        </a:rPr>
                        <a:t>6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4860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成绩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en-US" altLang="en-US" sz="3000" b="1" dirty="0">
                          <a:latin typeface="宋体" panose="02010600030101010101" pitchFamily="2" charset="-122"/>
                        </a:rPr>
                        <a:t>score</a:t>
                      </a:r>
                      <a:endParaRPr lang="en-US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000" b="1" dirty="0">
                          <a:latin typeface="宋体" panose="02010600030101010101" pitchFamily="2" charset="-122"/>
                        </a:rPr>
                        <a:t>数值型</a:t>
                      </a:r>
                      <a:endParaRPr lang="zh-CN" altLang="en-US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Clr>
                          <a:srgbClr val="FF0000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lang="zh-CN" altLang="zh-CN" sz="3000" b="1" dirty="0">
                        <a:latin typeface="宋体" panose="02010600030101010101" pitchFamily="2" charset="-122"/>
                      </a:endParaRPr>
                    </a:p>
                  </a:txBody>
                  <a:tcPr marT="45709" marB="45709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212994" name="Rectangle 4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2995" name="Rectangle 3"/>
          <p:cNvSpPr>
            <a:spLocks noGrp="1"/>
          </p:cNvSpPr>
          <p:nvPr>
            <p:ph idx="1"/>
          </p:nvPr>
        </p:nvSpPr>
        <p:spPr>
          <a:xfrm>
            <a:off x="179388" y="188913"/>
            <a:ext cx="8785225" cy="64801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mysql&gt;</a:t>
            </a:r>
            <a:r>
              <a:rPr lang="en-US" altLang="zh-CN" sz="2800" dirty="0">
                <a:solidFill>
                  <a:schemeClr val="tx2"/>
                </a:solidFill>
              </a:rPr>
              <a:t> USE db_school</a:t>
            </a:r>
            <a:r>
              <a:rPr lang="zh-CN" altLang="en-US" sz="2800" dirty="0">
                <a:solidFill>
                  <a:schemeClr val="tx2"/>
                </a:solidFill>
              </a:rPr>
              <a:t>；</a:t>
            </a:r>
            <a:endParaRPr lang="zh-CN" altLang="en-US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Database changed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mysql&gt;</a:t>
            </a:r>
            <a:r>
              <a:rPr lang="en-US" altLang="zh-CN" sz="2800" dirty="0">
                <a:solidFill>
                  <a:schemeClr val="tx2"/>
                </a:solidFill>
              </a:rPr>
              <a:t> CREATE TABLE tb_score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( studentNo CHAR(10),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courseNo CHAR(6),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-&gt; score FLOAT CHECK(score &gt;=0 AND score &lt;=100)</a:t>
            </a:r>
            <a:r>
              <a:rPr lang="en-US" altLang="zh-CN" sz="2800" dirty="0">
                <a:solidFill>
                  <a:schemeClr val="tx2"/>
                </a:solidFill>
              </a:rPr>
              <a:t>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 </a:t>
            </a:r>
            <a:r>
              <a:rPr lang="en-US" altLang="zh-CN" sz="2800" dirty="0">
                <a:solidFill>
                  <a:schemeClr val="tx2"/>
                </a:solidFill>
              </a:rPr>
              <a:t>CONSTRAINT PK_score PRIMARY KEY(studentNo, courseNo),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CONSTRAINT FK_score1 FOREIGN KEY(studentNo)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 REFERENCES tb_student (studentNo),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 CONSTRAINT FK_score2 FOREIGN KEY(courseNo)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 REFERENCES tb_course (courseNo),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bg1"/>
                </a:solidFill>
              </a:rPr>
              <a:t>-&gt;</a:t>
            </a:r>
            <a:r>
              <a:rPr lang="en-US" altLang="zh-CN" sz="2800" dirty="0">
                <a:solidFill>
                  <a:schemeClr val="tx2"/>
                </a:solidFill>
              </a:rPr>
              <a:t> ) ENGINE=InnoDB;</a:t>
            </a:r>
            <a:endParaRPr lang="en-US" altLang="zh-CN" sz="2800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chemeClr val="bg1"/>
                </a:solidFill>
              </a:rPr>
              <a:t>Query OK</a:t>
            </a:r>
            <a:r>
              <a:rPr lang="zh-CN" altLang="en-US" sz="2800" dirty="0">
                <a:solidFill>
                  <a:schemeClr val="bg1"/>
                </a:solidFill>
              </a:rPr>
              <a:t>，</a:t>
            </a:r>
            <a:r>
              <a:rPr lang="en-US" altLang="zh-CN" sz="2800" dirty="0">
                <a:solidFill>
                  <a:schemeClr val="bg1"/>
                </a:solidFill>
              </a:rPr>
              <a:t>0 rows affected (0.03 sec)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用户定义的完整性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CHECK</a:t>
            </a:r>
            <a:r>
              <a:rPr lang="zh-CN" altLang="en-US" dirty="0"/>
              <a:t>约束 </a:t>
            </a:r>
            <a:endParaRPr lang="zh-CN" altLang="en-US" dirty="0"/>
          </a:p>
        </p:txBody>
      </p:sp>
      <p:sp>
        <p:nvSpPr>
          <p:cNvPr id="126259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定义成绩表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后，再执行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en-US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显示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的结构。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62596" name="矩形 170"/>
          <p:cNvSpPr/>
          <p:nvPr/>
        </p:nvSpPr>
        <p:spPr>
          <a:xfrm>
            <a:off x="396875" y="2417763"/>
            <a:ext cx="8351838" cy="2538412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Field       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Type           | Null | Key |</a:t>
            </a:r>
            <a:r>
              <a:rPr lang="en-US" altLang="zh-CN" sz="2000" b="1" dirty="0">
                <a:latin typeface="Lucida Sans" pitchFamily="34" charset="0"/>
              </a:rPr>
              <a:t> Default </a:t>
            </a:r>
            <a:r>
              <a:rPr lang="en-US" altLang="zh-CN" sz="2200" b="1" dirty="0">
                <a:latin typeface="Lucida Sans" pitchFamily="34" charset="0"/>
              </a:rPr>
              <a:t>| Extra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studentNo</a:t>
            </a:r>
            <a:r>
              <a:rPr lang="en-US" altLang="zh-CN" sz="2200" b="1" dirty="0">
                <a:latin typeface="Arial" panose="020B0604020202020204" pitchFamily="34" charset="0"/>
              </a:rPr>
              <a:t>     </a:t>
            </a:r>
            <a:r>
              <a:rPr lang="en-US" altLang="zh-CN" sz="2200" b="1" dirty="0">
                <a:latin typeface="Lucida Sans" pitchFamily="34" charset="0"/>
              </a:rPr>
              <a:t> | char(10)</a:t>
            </a:r>
            <a:r>
              <a:rPr lang="en-US" altLang="zh-CN" dirty="0">
                <a:latin typeface="Arial" panose="020B0604020202020204" pitchFamily="34" charset="0"/>
              </a:rPr>
              <a:t>         </a:t>
            </a:r>
            <a:r>
              <a:rPr lang="en-US" altLang="zh-CN" sz="2200" b="1" dirty="0">
                <a:latin typeface="Lucida Sans" pitchFamily="34" charset="0"/>
              </a:rPr>
              <a:t>| NO  | PRI  |          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courseNo       | char(6)        | NO</a:t>
            </a:r>
            <a:r>
              <a:rPr lang="en-US" altLang="zh-CN" sz="2300" b="1" dirty="0">
                <a:latin typeface="Lucida Sans" pitchFamily="34" charset="0"/>
              </a:rPr>
              <a:t>  </a:t>
            </a:r>
            <a:r>
              <a:rPr lang="en-US" altLang="zh-CN" sz="2200" b="1" dirty="0">
                <a:latin typeface="Lucida Sans" pitchFamily="34" charset="0"/>
              </a:rPr>
              <a:t>| PRI  |          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| score </a:t>
            </a:r>
            <a:r>
              <a:rPr lang="en-US" altLang="zh-CN" sz="2100" b="1" dirty="0">
                <a:latin typeface="Lucida Sans" pitchFamily="34" charset="0"/>
              </a:rPr>
              <a:t>             </a:t>
            </a:r>
            <a:r>
              <a:rPr lang="en-US" altLang="zh-CN" sz="2200" b="1" dirty="0">
                <a:latin typeface="Lucida Sans" pitchFamily="34" charset="0"/>
              </a:rPr>
              <a:t>| float            | </a:t>
            </a:r>
            <a:r>
              <a:rPr lang="en-US" altLang="zh-CN" sz="2200" b="1" dirty="0">
                <a:latin typeface="Arial" panose="020B0604020202020204" pitchFamily="34" charset="0"/>
              </a:rPr>
              <a:t>YES</a:t>
            </a:r>
            <a:r>
              <a:rPr lang="en-US" altLang="zh-CN" sz="2200" b="1" dirty="0">
                <a:latin typeface="Lucida Sans" pitchFamily="34" charset="0"/>
              </a:rPr>
              <a:t> |        | NULL   |          |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Lucida Sans" pitchFamily="34" charset="0"/>
              </a:rPr>
              <a:t>+-----------------------+--------------------+--------+-------+------------+---------+</a:t>
            </a:r>
            <a:endParaRPr lang="en-US" altLang="zh-CN" sz="2200" b="1" dirty="0">
              <a:latin typeface="Lucida Sans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200" b="1" dirty="0">
                <a:latin typeface="Arial" panose="020B0604020202020204" pitchFamily="34" charset="0"/>
              </a:rPr>
              <a:t>3 rows in set (0.00 sec)</a:t>
            </a:r>
            <a:endParaRPr lang="en-US" altLang="zh-CN" sz="22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2596">
                                            <p:txEl>
                                              <p:charRg st="0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2596">
                                            <p:txEl>
                                              <p:charRg st="87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247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2596">
                                            <p:txEl>
                                              <p:charRg st="247" end="3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62596">
                                            <p:txEl>
                                              <p:charRg st="16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323" end="3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2596">
                                            <p:txEl>
                                              <p:charRg st="323" end="3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397" end="4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2596">
                                            <p:txEl>
                                              <p:charRg st="397" end="4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474" end="5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62596">
                                            <p:txEl>
                                              <p:charRg st="474" end="5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>
                                            <p:txEl>
                                              <p:charRg st="561" end="5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62596">
                                            <p:txEl>
                                              <p:charRg st="561" end="5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60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ctr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3.3.4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更新完整性约束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当对各种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命名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后，就可以使用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更新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与列或表有关的各种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，则该表上定义的所有完整性约束都自动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语句可以独立地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完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，而不会删除表本身。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删除外键约束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32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下面分别介绍使用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各种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删除外键约束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删除外键约束时，如果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CONSTRAINT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子句命名的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表级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ALTER TABLE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DROP FOREIGN KEY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外键约束名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删除外键约束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731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3.28 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3.27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上定义的外键约束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FK_score1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TABLE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tb_score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DROP FOREIGN KEY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FK_score1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affected(0.03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当要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Lucida Sans" pitchFamily="34" charset="0"/>
                <a:ea typeface="黑体" panose="02010609060101010101" pitchFamily="49" charset="-122"/>
                <a:cs typeface="+mn-cs"/>
              </a:rPr>
              <a:t>无命名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时，可先使用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CREATE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语句查看系统给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指定的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名称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，然后再删除该约束名。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删除外键约束 </a:t>
            </a:r>
            <a:endParaRPr lang="zh-CN" altLang="en-US" dirty="0"/>
          </a:p>
        </p:txBody>
      </p:sp>
      <p:sp>
        <p:nvSpPr>
          <p:cNvPr id="126361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分别用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CREATE TABLE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语句，显示表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上定义的外键约束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FK_score1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的删除情况。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删除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FK_score1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删除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FK_score1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63620" name="矩形 170"/>
          <p:cNvSpPr>
            <a:spLocks noChangeArrowheads="1"/>
          </p:cNvSpPr>
          <p:nvPr/>
        </p:nvSpPr>
        <p:spPr bwMode="auto">
          <a:xfrm>
            <a:off x="396875" y="3141663"/>
            <a:ext cx="8351838" cy="1571625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CONSTRAINT `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FK_score1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 FOREIGN KEY (`studentNo`) REFERENCES `tb_student` (`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studentNo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`),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CONSTRAINT `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FK_score2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 FOREIGN KEY (`courseNo`) REFERENCES `tb_course` (`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courseNo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`)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3621" name="矩形 170"/>
          <p:cNvSpPr>
            <a:spLocks noChangeArrowheads="1"/>
          </p:cNvSpPr>
          <p:nvPr/>
        </p:nvSpPr>
        <p:spPr bwMode="auto">
          <a:xfrm>
            <a:off x="396875" y="5540375"/>
            <a:ext cx="8351838" cy="841375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CONSTRAINT `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FK_score2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 FOREIGN KEY (`courseNo`) REFERENCES `tb_course` (`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courseNo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`)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20">
                                            <p:txEl>
                                              <p:charRg st="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3620">
                                            <p:txEl>
                                              <p:charRg st="0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20">
                                            <p:txEl>
                                              <p:charRg st="90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3620">
                                            <p:txEl>
                                              <p:charRg st="90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621">
                                            <p:txEl>
                                              <p:char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3621">
                                            <p:txEl>
                                              <p:charRg st="0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删除外键约束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3.29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上定义一个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无命名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，然后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它。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3.28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已经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了表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上定义的外键约束，接下来先定义一个无命名的外键约束：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ALTER TABLE tb_score ADD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FOREIGN KEY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(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studentNo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) REFERENCES tb_student(studentNo);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affected(0.02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220162" name="Rectangle 5"/>
          <p:cNvSpPr/>
          <p:nvPr/>
        </p:nvSpPr>
        <p:spPr>
          <a:xfrm>
            <a:off x="0" y="476250"/>
            <a:ext cx="9144000" cy="215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49603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88913"/>
            <a:ext cx="8785225" cy="6480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然后，使用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SHOW CREATE TABLE tb_score;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语句查看系统给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指定的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名称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49604" name="矩形 170"/>
          <p:cNvSpPr>
            <a:spLocks noChangeArrowheads="1"/>
          </p:cNvSpPr>
          <p:nvPr/>
        </p:nvSpPr>
        <p:spPr bwMode="auto">
          <a:xfrm>
            <a:off x="142875" y="1433513"/>
            <a:ext cx="8893175" cy="5235575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| tb_score | CREATE TABLE `tb_score` (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`studentNo` char(10) NOT NULL DEFAULT '',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`courseNo` char(6) NOT NULL DEFAULT '',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`score` float DEFAULT NULL,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PRIMARY KEY (`studentNo`,`courseNo`),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KEY `FK_score2` (`courseNo`),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CONSTRAINT `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tb_score_ibfk_1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 FOREIGN KEY (`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studentNo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`) REFERENCES `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tb_student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 (`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studentNo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`),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CONSTRAINT `FK_score2` FOREIGN KEY (`courseNo`) REFERENCES `tb_course` (`courseNo`)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 ENGINE=InnoDB DEFAULT CHARSET=gb2312 |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9604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4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49604">
                                            <p:txEl>
                                              <p:charRg st="41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85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9604">
                                            <p:txEl>
                                              <p:charRg st="85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127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9604">
                                            <p:txEl>
                                              <p:charRg st="127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157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49604">
                                            <p:txEl>
                                              <p:charRg st="157" end="1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197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9604">
                                            <p:txEl>
                                              <p:charRg st="197" end="2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229" end="3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9604">
                                            <p:txEl>
                                              <p:charRg st="229" end="3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325" end="4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49604">
                                            <p:txEl>
                                              <p:charRg st="325" end="4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4">
                                            <p:txEl>
                                              <p:charRg st="411" end="4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9604">
                                            <p:txEl>
                                              <p:charRg st="411" end="4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删除外键约束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6701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可以看到由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给字段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上定义的外键约束名称为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tb_score_ibfk_1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再使用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，可输入如下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mysql&gt;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ALTER TABLE tb_score DROP FOREIGN KEY tb_score_ibfk_1;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Query OK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rows affected(0.03 sec)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Records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 Duplicates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 Warnings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21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删除主键约束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因为一个表只能定义一个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，所以无论有没有给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主键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约束命名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，均使用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PRIMARY KEY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删除主键约束，其语法格式是：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ALTER TABLE &lt;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DROP PRIMARY KEY;</a:t>
            </a:r>
            <a:endParaRPr kumimoji="0" lang="en-US" altLang="zh-CN" sz="3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762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3.30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3.21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在学生表上定义的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命令行客户端输入如下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TABLE tb_student DROP PRIMARY KEY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；</a:t>
            </a:r>
            <a:endParaRPr kumimoji="0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affected(0.02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823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删除候选键约束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删除候选键约束时，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的是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唯一性索引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，应使用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INDEX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子句删除。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如果没有给约束命名，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自动删除将字段名定义为索引名的唯一性索引。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其语法格式是：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ALTER TABLE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DROP INDEX {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候选键字段名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864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3.31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通过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名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UQ_class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3.22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在班级表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tb_class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className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上定义的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当使用了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CONSTRAINT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命名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，使用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DROP INDEX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子句删除的是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TABLE tb_class DROP INDEX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UQ_class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affected(0.02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删除候选键约束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9158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如果没有给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候选键命名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，在用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DROP INDEX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子句删除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时可以使用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字段名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mysql&gt;ALTER TABLE tb_class DROP INDEX 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className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967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．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CREATE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命令定义表时，可以直接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相关的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数据表定义完成后，可以使用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添加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添加主键约束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添加主键约束的语法格式是：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ADD [CONSTRAINT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]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PRIMARY KEY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主键字段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添加主键约束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028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3.32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3.30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删除的主键约束，即重新在学生表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字段上定义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TABLE tb_student ADD CONSTRAINT PK_student PRIMARY KEY(studentNo);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OK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affected(0.02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添加主键约束</a:t>
            </a:r>
            <a:endParaRPr lang="zh-CN" altLang="en-US" dirty="0"/>
          </a:p>
        </p:txBody>
      </p:sp>
      <p:sp>
        <p:nvSpPr>
          <p:cNvPr id="12666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前用查看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字段的定义，使用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66692" name="矩形 170"/>
          <p:cNvSpPr/>
          <p:nvPr/>
        </p:nvSpPr>
        <p:spPr>
          <a:xfrm>
            <a:off x="539750" y="2133600"/>
            <a:ext cx="6911975" cy="3132138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666699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+----------</a:t>
            </a:r>
            <a:r>
              <a:rPr lang="en-US" altLang="zh-CN" b="1" dirty="0">
                <a:latin typeface="Arial" panose="020B0604020202020204" pitchFamily="34" charset="0"/>
              </a:rPr>
              <a:t>------</a:t>
            </a:r>
            <a:r>
              <a:rPr lang="zh-CN" altLang="zh-CN" b="1" dirty="0">
                <a:latin typeface="Arial" panose="020B0604020202020204" pitchFamily="34" charset="0"/>
              </a:rPr>
              <a:t>---+--------</a:t>
            </a:r>
            <a:r>
              <a:rPr lang="en-US" altLang="zh-CN" b="1" dirty="0">
                <a:latin typeface="Arial" panose="020B0604020202020204" pitchFamily="34" charset="0"/>
              </a:rPr>
              <a:t>----</a:t>
            </a:r>
            <a:r>
              <a:rPr lang="zh-CN" altLang="zh-CN" b="1" dirty="0">
                <a:latin typeface="Arial" panose="020B0604020202020204" pitchFamily="34" charset="0"/>
              </a:rPr>
              <a:t>-----+----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--+--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---+------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---+---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----+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Field     </a:t>
            </a:r>
            <a:r>
              <a:rPr lang="en-US" altLang="zh-CN" b="1" dirty="0">
                <a:latin typeface="Arial" panose="020B0604020202020204" pitchFamily="34" charset="0"/>
              </a:rPr>
              <a:t>        </a:t>
            </a:r>
            <a:r>
              <a:rPr lang="zh-CN" altLang="zh-CN" b="1" dirty="0">
                <a:latin typeface="Arial" panose="020B0604020202020204" pitchFamily="34" charset="0"/>
              </a:rPr>
              <a:t>  | Type   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  | Null</a:t>
            </a:r>
            <a:r>
              <a:rPr lang="en-US" altLang="zh-CN" b="1" dirty="0">
                <a:latin typeface="Arial" panose="020B0604020202020204" pitchFamily="34" charset="0"/>
              </a:rPr>
              <a:t>  </a:t>
            </a:r>
            <a:r>
              <a:rPr lang="zh-CN" altLang="zh-CN" b="1" dirty="0">
                <a:latin typeface="Arial" panose="020B0604020202020204" pitchFamily="34" charset="0"/>
              </a:rPr>
              <a:t> | Key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</a:rPr>
              <a:t> | Default | Extra 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</a:rPr>
              <a:t>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+----------</a:t>
            </a:r>
            <a:r>
              <a:rPr lang="en-US" altLang="zh-CN" b="1" dirty="0">
                <a:latin typeface="Arial" panose="020B0604020202020204" pitchFamily="34" charset="0"/>
              </a:rPr>
              <a:t>------</a:t>
            </a:r>
            <a:r>
              <a:rPr lang="zh-CN" altLang="zh-CN" b="1" dirty="0">
                <a:latin typeface="Arial" panose="020B0604020202020204" pitchFamily="34" charset="0"/>
              </a:rPr>
              <a:t>---+--------</a:t>
            </a:r>
            <a:r>
              <a:rPr lang="en-US" altLang="zh-CN" b="1" dirty="0">
                <a:latin typeface="Arial" panose="020B0604020202020204" pitchFamily="34" charset="0"/>
              </a:rPr>
              <a:t>----</a:t>
            </a:r>
            <a:r>
              <a:rPr lang="zh-CN" altLang="zh-CN" b="1" dirty="0">
                <a:latin typeface="Arial" panose="020B0604020202020204" pitchFamily="34" charset="0"/>
              </a:rPr>
              <a:t>-----+----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--+--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---+------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---+---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----+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studentNo</a:t>
            </a:r>
            <a:r>
              <a:rPr lang="en-US" altLang="zh-CN" b="1" dirty="0">
                <a:latin typeface="Arial" panose="020B0604020202020204" pitchFamily="34" charset="0"/>
              </a:rPr>
              <a:t>   </a:t>
            </a:r>
            <a:r>
              <a:rPr lang="zh-CN" altLang="zh-CN" b="1" dirty="0">
                <a:latin typeface="Arial" panose="020B0604020202020204" pitchFamily="34" charset="0"/>
              </a:rPr>
              <a:t>   | char(10)</a:t>
            </a:r>
            <a:r>
              <a:rPr lang="en-US" altLang="zh-CN" b="1" dirty="0">
                <a:latin typeface="Arial" panose="020B0604020202020204" pitchFamily="34" charset="0"/>
              </a:rPr>
              <a:t>  </a:t>
            </a:r>
            <a:r>
              <a:rPr lang="zh-CN" altLang="zh-CN" b="1" dirty="0">
                <a:latin typeface="Arial" panose="020B0604020202020204" pitchFamily="34" charset="0"/>
              </a:rPr>
              <a:t>    | NO 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</a:rPr>
              <a:t>  |  </a:t>
            </a:r>
            <a:r>
              <a:rPr lang="en-US" altLang="zh-CN" b="1" dirty="0">
                <a:latin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</a:rPr>
              <a:t>   |    </a:t>
            </a:r>
            <a:r>
              <a:rPr lang="en-US" altLang="zh-CN" b="1" dirty="0">
                <a:latin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</a:rPr>
              <a:t>     |     </a:t>
            </a:r>
            <a:r>
              <a:rPr lang="en-US" altLang="zh-CN" b="1" dirty="0">
                <a:latin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</a:rPr>
              <a:t>  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studentName | varchar(20) | NO  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</a:rPr>
              <a:t> |</a:t>
            </a:r>
            <a:r>
              <a:rPr lang="zh-CN" altLang="zh-CN" sz="1600" b="1" dirty="0">
                <a:latin typeface="Arial" panose="020B0604020202020204" pitchFamily="34" charset="0"/>
              </a:rPr>
              <a:t>    </a:t>
            </a:r>
            <a:r>
              <a:rPr lang="en-US" altLang="zh-CN" sz="1600" b="1" dirty="0">
                <a:latin typeface="Arial" panose="020B0604020202020204" pitchFamily="34" charset="0"/>
              </a:rPr>
              <a:t>     </a:t>
            </a:r>
            <a:r>
              <a:rPr lang="zh-CN" altLang="zh-CN" sz="1600" b="1" dirty="0">
                <a:latin typeface="Arial" panose="020B0604020202020204" pitchFamily="34" charset="0"/>
              </a:rPr>
              <a:t> |</a:t>
            </a:r>
            <a:r>
              <a:rPr lang="zh-CN" altLang="zh-CN" b="1" dirty="0">
                <a:latin typeface="Arial" panose="020B0604020202020204" pitchFamily="34" charset="0"/>
              </a:rPr>
              <a:t> NULL    |   </a:t>
            </a:r>
            <a:r>
              <a:rPr lang="en-US" altLang="zh-CN" b="1" dirty="0">
                <a:latin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</a:rPr>
              <a:t>    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sex  </a:t>
            </a:r>
            <a:r>
              <a:rPr lang="en-US" altLang="zh-CN" b="1" dirty="0">
                <a:latin typeface="Arial" panose="020B0604020202020204" pitchFamily="34" charset="0"/>
              </a:rPr>
              <a:t>         </a:t>
            </a:r>
            <a:r>
              <a:rPr lang="zh-CN" altLang="zh-CN" b="1" dirty="0">
                <a:latin typeface="Arial" panose="020B0604020202020204" pitchFamily="34" charset="0"/>
              </a:rPr>
              <a:t>       | char(2)  </a:t>
            </a:r>
            <a:r>
              <a:rPr lang="en-US" altLang="zh-CN" b="1" dirty="0">
                <a:latin typeface="Arial" panose="020B0604020202020204" pitchFamily="34" charset="0"/>
              </a:rPr>
              <a:t>   </a:t>
            </a:r>
            <a:r>
              <a:rPr lang="zh-CN" altLang="zh-CN" b="1" dirty="0">
                <a:latin typeface="Arial" panose="020B0604020202020204" pitchFamily="34" charset="0"/>
              </a:rPr>
              <a:t>   | NO  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</a:rPr>
              <a:t> |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  | NULL    |    </a:t>
            </a:r>
            <a:r>
              <a:rPr lang="en-US" altLang="zh-CN" b="1" dirty="0">
                <a:latin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</a:rPr>
              <a:t>   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birthday  </a:t>
            </a:r>
            <a:r>
              <a:rPr lang="en-US" altLang="zh-CN" b="1" dirty="0">
                <a:latin typeface="Arial" panose="020B0604020202020204" pitchFamily="34" charset="0"/>
              </a:rPr>
              <a:t>      </a:t>
            </a:r>
            <a:r>
              <a:rPr lang="zh-CN" altLang="zh-CN" b="1" dirty="0">
                <a:latin typeface="Arial" panose="020B0604020202020204" pitchFamily="34" charset="0"/>
              </a:rPr>
              <a:t>  | date   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  | YES  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zh-CN" b="1" dirty="0">
                <a:latin typeface="Arial" panose="020B0604020202020204" pitchFamily="34" charset="0"/>
              </a:rPr>
              <a:t>|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  | NULL    |     </a:t>
            </a:r>
            <a:r>
              <a:rPr lang="en-US" altLang="zh-CN" b="1" dirty="0">
                <a:latin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</a:rPr>
              <a:t>  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native   </a:t>
            </a:r>
            <a:r>
              <a:rPr lang="en-US" altLang="zh-CN" b="1" dirty="0">
                <a:latin typeface="Arial" panose="020B0604020202020204" pitchFamily="34" charset="0"/>
              </a:rPr>
              <a:t>        </a:t>
            </a:r>
            <a:r>
              <a:rPr lang="zh-CN" altLang="zh-CN" b="1" dirty="0">
                <a:latin typeface="Arial" panose="020B0604020202020204" pitchFamily="34" charset="0"/>
              </a:rPr>
              <a:t>   | varchar(20) | YES  |  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| NULL    |   </a:t>
            </a:r>
            <a:r>
              <a:rPr lang="en-US" altLang="zh-CN" b="1" dirty="0">
                <a:latin typeface="Arial" panose="020B0604020202020204" pitchFamily="34" charset="0"/>
              </a:rPr>
              <a:t>     </a:t>
            </a:r>
            <a:r>
              <a:rPr lang="zh-CN" altLang="zh-CN" b="1" dirty="0">
                <a:latin typeface="Arial" panose="020B0604020202020204" pitchFamily="34" charset="0"/>
              </a:rPr>
              <a:t>    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nation    </a:t>
            </a:r>
            <a:r>
              <a:rPr lang="en-US" altLang="zh-CN" b="1" dirty="0">
                <a:latin typeface="Arial" panose="020B0604020202020204" pitchFamily="34" charset="0"/>
              </a:rPr>
              <a:t>        </a:t>
            </a:r>
            <a:r>
              <a:rPr lang="zh-CN" altLang="zh-CN" b="1" dirty="0">
                <a:latin typeface="Arial" panose="020B0604020202020204" pitchFamily="34" charset="0"/>
              </a:rPr>
              <a:t>  | varchar(10) | YES  | 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 | 汉   </a:t>
            </a:r>
            <a:r>
              <a:rPr lang="zh-CN" altLang="en-US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  |    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| classNo  </a:t>
            </a:r>
            <a:r>
              <a:rPr lang="en-US" altLang="zh-CN" b="1" dirty="0">
                <a:latin typeface="Arial" panose="020B0604020202020204" pitchFamily="34" charset="0"/>
              </a:rPr>
              <a:t>      </a:t>
            </a:r>
            <a:r>
              <a:rPr lang="zh-CN" altLang="zh-CN" b="1" dirty="0">
                <a:latin typeface="Arial" panose="020B0604020202020204" pitchFamily="34" charset="0"/>
              </a:rPr>
              <a:t>   | char(6)    </a:t>
            </a:r>
            <a:r>
              <a:rPr lang="en-US" altLang="zh-CN" b="1" dirty="0">
                <a:latin typeface="Arial" panose="020B0604020202020204" pitchFamily="34" charset="0"/>
              </a:rPr>
              <a:t>   </a:t>
            </a:r>
            <a:r>
              <a:rPr lang="zh-CN" altLang="zh-CN" b="1" dirty="0">
                <a:latin typeface="Arial" panose="020B0604020202020204" pitchFamily="34" charset="0"/>
              </a:rPr>
              <a:t> | YES  | MUL | NULL    |   </a:t>
            </a:r>
            <a:r>
              <a:rPr lang="en-US" altLang="zh-CN" b="1" dirty="0">
                <a:latin typeface="Arial" panose="020B0604020202020204" pitchFamily="34" charset="0"/>
              </a:rPr>
              <a:t>    </a:t>
            </a:r>
            <a:r>
              <a:rPr lang="zh-CN" altLang="zh-CN" b="1" dirty="0">
                <a:latin typeface="Arial" panose="020B0604020202020204" pitchFamily="34" charset="0"/>
              </a:rPr>
              <a:t>    |</a:t>
            </a:r>
            <a:endParaRPr lang="zh-CN" altLang="zh-CN" b="1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b="1" dirty="0">
                <a:latin typeface="Arial" panose="020B0604020202020204" pitchFamily="34" charset="0"/>
              </a:rPr>
              <a:t>+----------</a:t>
            </a:r>
            <a:r>
              <a:rPr lang="en-US" altLang="zh-CN" b="1" dirty="0">
                <a:latin typeface="Arial" panose="020B0604020202020204" pitchFamily="34" charset="0"/>
              </a:rPr>
              <a:t>------</a:t>
            </a:r>
            <a:r>
              <a:rPr lang="zh-CN" altLang="zh-CN" b="1" dirty="0">
                <a:latin typeface="Arial" panose="020B0604020202020204" pitchFamily="34" charset="0"/>
              </a:rPr>
              <a:t>---+--------</a:t>
            </a:r>
            <a:r>
              <a:rPr lang="en-US" altLang="zh-CN" b="1" dirty="0">
                <a:latin typeface="Arial" panose="020B0604020202020204" pitchFamily="34" charset="0"/>
              </a:rPr>
              <a:t>----</a:t>
            </a:r>
            <a:r>
              <a:rPr lang="zh-CN" altLang="zh-CN" b="1" dirty="0">
                <a:latin typeface="Arial" panose="020B0604020202020204" pitchFamily="34" charset="0"/>
              </a:rPr>
              <a:t>-----+----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--+--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---+------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---+---</a:t>
            </a:r>
            <a:r>
              <a:rPr lang="en-US" altLang="zh-CN" b="1" dirty="0">
                <a:latin typeface="Arial" panose="020B0604020202020204" pitchFamily="34" charset="0"/>
              </a:rPr>
              <a:t>--</a:t>
            </a:r>
            <a:r>
              <a:rPr lang="zh-CN" altLang="zh-CN" b="1" dirty="0">
                <a:latin typeface="Arial" panose="020B0604020202020204" pitchFamily="34" charset="0"/>
              </a:rPr>
              <a:t>----+</a:t>
            </a:r>
            <a:endParaRPr lang="zh-CN" altLang="zh-CN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6692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79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6692">
                                            <p:txEl>
                                              <p:charRg st="79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156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6692">
                                            <p:txEl>
                                              <p:charRg st="156" end="2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235" end="3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66692">
                                            <p:txEl>
                                              <p:charRg st="235" end="3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317" end="3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6692">
                                            <p:txEl>
                                              <p:charRg st="317" end="3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389" end="4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6692">
                                            <p:txEl>
                                              <p:charRg st="389" end="4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472" end="5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66692">
                                            <p:txEl>
                                              <p:charRg st="472" end="5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553" end="6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66692">
                                            <p:txEl>
                                              <p:charRg st="553" end="6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631" end="7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66692">
                                            <p:txEl>
                                              <p:charRg st="631" end="7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692">
                                            <p:txEl>
                                              <p:charRg st="711" end="7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6692">
                                            <p:txEl>
                                              <p:charRg st="711" end="7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添加主键约束</a:t>
            </a:r>
            <a:endParaRPr lang="zh-CN" altLang="en-US" dirty="0"/>
          </a:p>
        </p:txBody>
      </p:sp>
      <p:sp>
        <p:nvSpPr>
          <p:cNvPr id="12687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主键约束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之后查看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字段的定义，使用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DESC db_school.tb_student;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68740" name="矩形 170"/>
          <p:cNvSpPr>
            <a:spLocks noChangeArrowheads="1"/>
          </p:cNvSpPr>
          <p:nvPr/>
        </p:nvSpPr>
        <p:spPr bwMode="auto">
          <a:xfrm>
            <a:off x="539750" y="2133600"/>
            <a:ext cx="6911975" cy="3132138"/>
          </a:xfrm>
          <a:prstGeom prst="rect">
            <a:avLst/>
          </a:prstGeom>
          <a:solidFill>
            <a:srgbClr val="F2F2F2"/>
          </a:solidFill>
          <a:ln w="19050">
            <a:solidFill>
              <a:srgbClr val="666699"/>
            </a:solidFill>
            <a:miter lim="800000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+----------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-----+----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--+--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----+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Field 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| Type 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Null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 Key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 Default | Extra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+----------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-----+----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--+--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----+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studentNo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char(10)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| NO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|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| 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studentName | varchar(20) | NO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</a:t>
            </a:r>
            <a:r>
              <a:rPr kumimoji="0" lang="zh-CN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NULL    |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sex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| char(2)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NO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NULL    |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birthday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| date 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YES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NULL    | 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native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varchar(20) | YES  |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 NULL    |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nation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| varchar(10) | YES  |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| 汉   </a:t>
            </a: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 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| classNo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| char(6) 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| YES  | MUL | NULL    |   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|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+----------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-----+----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--+--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---+---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----+</a:t>
            </a:r>
            <a:endParaRPr kumimoji="0" lang="zh-CN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8740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79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8740">
                                            <p:txEl>
                                              <p:charRg st="79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156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68740">
                                            <p:txEl>
                                              <p:charRg st="156" end="2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235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68740">
                                            <p:txEl>
                                              <p:charRg st="235" end="3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314" end="3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68740">
                                            <p:txEl>
                                              <p:charRg st="314" end="3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386" end="4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68740">
                                            <p:txEl>
                                              <p:charRg st="386" end="4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469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68740">
                                            <p:txEl>
                                              <p:charRg st="469" end="5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550" end="6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68740">
                                            <p:txEl>
                                              <p:charRg st="550" end="6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628" end="7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68740">
                                            <p:txEl>
                                              <p:charRg st="628" end="7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740">
                                            <p:txEl>
                                              <p:charRg st="708" end="7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8740">
                                            <p:txEl>
                                              <p:charRg st="708" end="7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添加外键约束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07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）添加外键约束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添加外键约束的语法格式是：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ADD [CONSTRAINT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]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FOREIGN KEY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外键字段名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  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REFERENCES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被参照表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主键字段名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245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添加外键约束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120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3.33 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重新定义例</a:t>
            </a:r>
            <a:r>
              <a:rPr kumimoji="0" lang="en-US" altLang="zh-CN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3.28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删除的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，即重新在成绩表</a:t>
            </a:r>
            <a:r>
              <a:rPr kumimoji="0" lang="en-US" altLang="zh-C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tb_score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外键约束</a:t>
            </a:r>
            <a:r>
              <a:rPr kumimoji="0" lang="zh-CN" altLang="en-US" sz="3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mysql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tb_score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ADD CONSTRAINT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FK_score1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FOREIGN KEY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REFERENCES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tb_student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studentNo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Query OK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rows affected(0.03 sec)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Rccords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  Warnings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34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192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添加候选键约束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添加候选键约束的语法格式是：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ADD [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CONSTRAINT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约束名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]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UNIQUE KEY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字段名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3.34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重新定义例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3.31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，即重新在班级表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tb_class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的字段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className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上定义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候选键约束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4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更新完整性约束</a:t>
            </a:r>
            <a:r>
              <a:rPr lang="en-US" altLang="zh-CN" dirty="0">
                <a:latin typeface="Arial" panose="020B0604020202020204" pitchFamily="34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添加候选键约束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43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mysql&gt;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ALTER TABLE tb_class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-&gt;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  ADD CONSTRAINT UQ_class UNIQUE KEY(className);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Query 0K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，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rows affected(0.07 sec)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D60093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Records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Duplicates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  Warnings</a:t>
            </a:r>
            <a:r>
              <a:rPr kumimoji="0" lang="zh-CN" altLang="en-US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：</a:t>
            </a:r>
            <a:r>
              <a:rPr kumimoji="0" lang="en-US" altLang="zh-CN" sz="3200" b="1" i="0" u="none" strike="noStrike" kern="0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itchFamily="49" charset="-122"/>
                <a:ea typeface="宋体" panose="02010600030101010101" pitchFamily="2" charset="-122"/>
                <a:cs typeface="+mn-ea"/>
              </a:rPr>
              <a:t>0</a:t>
            </a:r>
            <a:endParaRPr kumimoji="0" lang="en-US" altLang="zh-CN" sz="3200" b="1" i="0" u="none" strike="noStrike" kern="0" cap="none" spc="0" normalizeH="0" baseline="0" noProof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宋体" panose="02010600030101010101" pitchFamily="2" charset="-122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完整性约束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不能直接进行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修改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，若要修改某个约束，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实际上是用</a:t>
            </a:r>
            <a:r>
              <a:rPr kumimoji="0" lang="en-US" altLang="zh-CN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ALTER TABLE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语句先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删除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该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约束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，然后再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>
                    <a:srgbClr val="00000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增加</a:t>
            </a:r>
            <a:r>
              <a:rPr kumimoji="0" lang="zh-CN" altLang="en-US" sz="3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一个与该约束同名的新约束。</a:t>
            </a:r>
            <a:endParaRPr kumimoji="0" lang="zh-CN" altLang="en-US" sz="3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思考与练习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552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一、选择题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．在</a:t>
            </a:r>
            <a:r>
              <a:rPr lang="en-US" altLang="zh-CN" dirty="0"/>
              <a:t>MySQL</a:t>
            </a:r>
            <a:r>
              <a:rPr lang="zh-CN" altLang="en-US" dirty="0"/>
              <a:t>中，通常用来指定一个已有数据库作为当前数据库的语句是</a:t>
            </a:r>
            <a:r>
              <a:rPr lang="zh-CN" altLang="en-US" u="sng" dirty="0"/>
              <a:t>  </a:t>
            </a:r>
            <a:r>
              <a:rPr lang="en-US" altLang="zh-CN" u="sng" dirty="0"/>
              <a:t>USE  </a:t>
            </a:r>
            <a:r>
              <a:rPr lang="zh-CN" altLang="en-US" dirty="0"/>
              <a:t>。（</a:t>
            </a:r>
            <a:r>
              <a:rPr lang="en-US" altLang="zh-CN" dirty="0"/>
              <a:t>P31</a:t>
            </a:r>
            <a:r>
              <a:rPr lang="zh-CN" altLang="en-US" dirty="0"/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A</a:t>
            </a:r>
            <a:r>
              <a:rPr lang="zh-CN" altLang="en-US" dirty="0"/>
              <a:t>）</a:t>
            </a:r>
            <a:r>
              <a:rPr lang="en-US" altLang="zh-CN" dirty="0"/>
              <a:t>USING    B</a:t>
            </a:r>
            <a:r>
              <a:rPr lang="zh-CN" altLang="en-US" dirty="0"/>
              <a:t>）</a:t>
            </a:r>
            <a:r>
              <a:rPr lang="en-US" altLang="zh-CN" dirty="0"/>
              <a:t>USED    C</a:t>
            </a:r>
            <a:r>
              <a:rPr lang="zh-CN" altLang="en-US" dirty="0"/>
              <a:t>）</a:t>
            </a:r>
            <a:r>
              <a:rPr lang="en-US" altLang="zh-CN" dirty="0"/>
              <a:t>USES    D</a:t>
            </a:r>
            <a:r>
              <a:rPr lang="zh-CN" altLang="en-US" dirty="0"/>
              <a:t>）</a:t>
            </a:r>
            <a:r>
              <a:rPr lang="en-US" altLang="zh-CN" dirty="0"/>
              <a:t>USE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．下列选项中不是</a:t>
            </a:r>
            <a:r>
              <a:rPr lang="en-US" altLang="zh-CN" dirty="0"/>
              <a:t>MySQL</a:t>
            </a:r>
            <a:r>
              <a:rPr lang="zh-CN" altLang="en-US" dirty="0"/>
              <a:t>中常用数据类型的是</a:t>
            </a:r>
            <a:r>
              <a:rPr lang="zh-CN" altLang="en-US" u="sng" dirty="0"/>
              <a:t>  </a:t>
            </a:r>
            <a:r>
              <a:rPr lang="en-US" altLang="zh-CN" u="sng" dirty="0"/>
              <a:t>VAR  </a:t>
            </a:r>
            <a:r>
              <a:rPr lang="zh-CN" altLang="en-US" dirty="0"/>
              <a:t>。（</a:t>
            </a:r>
            <a:r>
              <a:rPr lang="en-US" altLang="zh-CN" dirty="0"/>
              <a:t>P35</a:t>
            </a:r>
            <a:r>
              <a:rPr lang="zh-CN" altLang="en-US" dirty="0"/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  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  <a:r>
              <a:rPr lang="en-US" altLang="zh-CN" dirty="0"/>
              <a:t>INT    B</a:t>
            </a:r>
            <a:r>
              <a:rPr lang="zh-CN" altLang="en-US" dirty="0"/>
              <a:t>）</a:t>
            </a:r>
            <a:r>
              <a:rPr lang="en-US" altLang="zh-CN" dirty="0"/>
              <a:t>VAR    C</a:t>
            </a:r>
            <a:r>
              <a:rPr lang="zh-CN" altLang="en-US" dirty="0"/>
              <a:t>）</a:t>
            </a:r>
            <a:r>
              <a:rPr lang="en-US" altLang="zh-CN" dirty="0"/>
              <a:t>TIME    D</a:t>
            </a:r>
            <a:r>
              <a:rPr lang="zh-CN" altLang="en-US" dirty="0"/>
              <a:t>）</a:t>
            </a:r>
            <a:r>
              <a:rPr lang="en-US" altLang="zh-CN" dirty="0"/>
              <a:t>CHAR</a:t>
            </a:r>
            <a:endParaRPr lang="en-US" altLang="zh-CN" dirty="0"/>
          </a:p>
        </p:txBody>
      </p:sp>
    </p:spTree>
  </p:cSld>
  <p:clrMapOvr>
    <a:masterClrMapping/>
  </p:clrMapOvr>
  <p:transition>
    <p:random/>
  </p:transition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思考与练习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654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二、填空题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。在</a:t>
            </a:r>
            <a:r>
              <a:rPr lang="en-US" altLang="zh-CN" dirty="0"/>
              <a:t>MySQL</a:t>
            </a:r>
            <a:r>
              <a:rPr lang="zh-CN" altLang="en-US" dirty="0"/>
              <a:t>中，通常使用</a:t>
            </a:r>
            <a:r>
              <a:rPr lang="zh-CN" altLang="en-US" u="sng" dirty="0"/>
              <a:t>  </a:t>
            </a:r>
            <a:r>
              <a:rPr lang="en-US" altLang="zh-CN" u="sng" dirty="0"/>
              <a:t>NULL  </a:t>
            </a:r>
            <a:r>
              <a:rPr lang="zh-CN" altLang="en-US" dirty="0"/>
              <a:t>值来表示一个字段没有值或缺值。（</a:t>
            </a:r>
            <a:r>
              <a:rPr lang="en-US" altLang="zh-CN" dirty="0"/>
              <a:t>P37</a:t>
            </a:r>
            <a:r>
              <a:rPr lang="zh-CN" altLang="en-US" dirty="0"/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．在</a:t>
            </a:r>
            <a:r>
              <a:rPr lang="en-US" altLang="zh-CN" dirty="0"/>
              <a:t>CREATE TABLE</a:t>
            </a:r>
            <a:r>
              <a:rPr lang="zh-CN" altLang="en-US" dirty="0"/>
              <a:t>语句中，通常使用</a:t>
            </a:r>
            <a:r>
              <a:rPr lang="zh-CN" altLang="en-US" u="sng" dirty="0"/>
              <a:t>  </a:t>
            </a:r>
            <a:r>
              <a:rPr lang="en-US" altLang="zh-CN" u="sng" dirty="0"/>
              <a:t>PRIMARY KEY  </a:t>
            </a:r>
            <a:r>
              <a:rPr lang="zh-CN" altLang="en-US" dirty="0"/>
              <a:t>关键字来指定主键。（</a:t>
            </a:r>
            <a:r>
              <a:rPr lang="en-US" altLang="zh-CN" dirty="0"/>
              <a:t>P46</a:t>
            </a:r>
            <a:r>
              <a:rPr lang="zh-CN" altLang="en-US" dirty="0"/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．</a:t>
            </a:r>
            <a:r>
              <a:rPr lang="en-US" altLang="zh-CN" dirty="0"/>
              <a:t>MySQL</a:t>
            </a:r>
            <a:r>
              <a:rPr lang="zh-CN" altLang="en-US" dirty="0"/>
              <a:t>支持关系模型中</a:t>
            </a:r>
            <a:r>
              <a:rPr lang="zh-CN" altLang="en-US" u="sng" dirty="0"/>
              <a:t> 实体完整性 </a:t>
            </a:r>
            <a:r>
              <a:rPr lang="zh-CN" altLang="en-US" dirty="0"/>
              <a:t>、</a:t>
            </a:r>
            <a:r>
              <a:rPr lang="zh-CN" altLang="en-US" u="sng" dirty="0"/>
              <a:t> 参照完整性 </a:t>
            </a:r>
            <a:r>
              <a:rPr lang="zh-CN" altLang="en-US" dirty="0"/>
              <a:t>和</a:t>
            </a:r>
            <a:r>
              <a:rPr lang="zh-CN" altLang="en-US" u="sng" dirty="0"/>
              <a:t> 用户定义的完整性 </a:t>
            </a:r>
            <a:r>
              <a:rPr lang="zh-CN" altLang="en-US" dirty="0"/>
              <a:t>三种不同的完整性约束。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75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思考与练习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757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三、应用题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给定供应商供应零件的数据库</a:t>
            </a:r>
            <a:r>
              <a:rPr lang="en-US" altLang="zh-CN" dirty="0"/>
              <a:t>db_sp</a:t>
            </a:r>
            <a:r>
              <a:rPr lang="zh-CN" altLang="en-US" dirty="0"/>
              <a:t>，其中包含供应商表</a:t>
            </a:r>
            <a:r>
              <a:rPr lang="en-US" altLang="zh-CN" dirty="0"/>
              <a:t>S</a:t>
            </a:r>
            <a:r>
              <a:rPr lang="zh-CN" altLang="en-US" dirty="0"/>
              <a:t>、零件表</a:t>
            </a:r>
            <a:r>
              <a:rPr lang="en-US" altLang="zh-CN" dirty="0"/>
              <a:t>P</a:t>
            </a:r>
            <a:r>
              <a:rPr lang="zh-CN" altLang="en-US" dirty="0"/>
              <a:t>和供应情况表</a:t>
            </a:r>
            <a:r>
              <a:rPr lang="en-US" altLang="zh-CN" dirty="0"/>
              <a:t>SP</a:t>
            </a:r>
            <a:r>
              <a:rPr lang="zh-CN" altLang="en-US" dirty="0"/>
              <a:t>，表结构如下：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供应商</a:t>
            </a:r>
            <a:r>
              <a:rPr lang="en-US" altLang="zh-CN" dirty="0"/>
              <a:t>S(</a:t>
            </a:r>
            <a:r>
              <a:rPr lang="en-US" altLang="zh-CN" u="sng" dirty="0"/>
              <a:t>SNO</a:t>
            </a:r>
            <a:r>
              <a:rPr lang="en-US" altLang="zh-CN" dirty="0"/>
              <a:t>,SNAME,STATUS,CITY)</a:t>
            </a:r>
            <a:r>
              <a:rPr lang="zh-CN" altLang="en-US" dirty="0"/>
              <a:t>，各字段的含义依次为供应商编号、供应商名称、状态和所在城市，其中</a:t>
            </a:r>
            <a:r>
              <a:rPr lang="en-US" altLang="zh-CN" dirty="0"/>
              <a:t>STATUS</a:t>
            </a:r>
            <a:r>
              <a:rPr lang="zh-CN" altLang="en-US" dirty="0"/>
              <a:t>为整型，其他均为字符型。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85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思考与练习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859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零件</a:t>
            </a:r>
            <a:r>
              <a:rPr lang="en-US" altLang="zh-CN" dirty="0"/>
              <a:t>P(</a:t>
            </a:r>
            <a:r>
              <a:rPr lang="en-US" altLang="zh-CN" u="sng" dirty="0"/>
              <a:t>PNO</a:t>
            </a:r>
            <a:r>
              <a:rPr lang="en-US" altLang="zh-CN" dirty="0"/>
              <a:t>,PNAME,COLOR,WEIGHT)</a:t>
            </a:r>
            <a:r>
              <a:rPr lang="zh-CN" altLang="en-US" dirty="0"/>
              <a:t>，各字段的含义依次为零件编号、零件名称、颜色和重量，其中</a:t>
            </a:r>
            <a:r>
              <a:rPr lang="en-US" altLang="zh-CN" dirty="0"/>
              <a:t>WEIGHT</a:t>
            </a:r>
            <a:r>
              <a:rPr lang="zh-CN" altLang="en-US" dirty="0"/>
              <a:t>为浮点型，其他均为字符型。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供应</a:t>
            </a:r>
            <a:r>
              <a:rPr lang="en-US" altLang="zh-CN" dirty="0"/>
              <a:t>SP(</a:t>
            </a:r>
            <a:r>
              <a:rPr lang="en-US" altLang="zh-CN" u="sng" dirty="0"/>
              <a:t>SNO,PNO</a:t>
            </a:r>
            <a:r>
              <a:rPr lang="en-US" altLang="zh-CN" dirty="0"/>
              <a:t>,JNO,QTY)</a:t>
            </a:r>
            <a:r>
              <a:rPr lang="zh-CN" altLang="en-US" dirty="0"/>
              <a:t>，各字段的含义依次为供应商编号、零件编号和供应量，其中</a:t>
            </a:r>
            <a:r>
              <a:rPr lang="en-US" altLang="zh-CN" dirty="0"/>
              <a:t>QTY</a:t>
            </a:r>
            <a:r>
              <a:rPr lang="zh-CN" altLang="en-US" dirty="0"/>
              <a:t>为整型，其他均为字符型。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思考与练习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961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．请使用</a:t>
            </a:r>
            <a:r>
              <a:rPr lang="en-US" altLang="zh-CN" dirty="0"/>
              <a:t>MySQL</a:t>
            </a:r>
            <a:r>
              <a:rPr lang="zh-CN" altLang="en-US" dirty="0"/>
              <a:t>命令行客户端创建一个名称为</a:t>
            </a:r>
            <a:r>
              <a:rPr lang="en-US" altLang="zh-CN" dirty="0"/>
              <a:t>db_sp</a:t>
            </a:r>
            <a:r>
              <a:rPr lang="zh-CN" altLang="en-US" dirty="0"/>
              <a:t>的数据库。（</a:t>
            </a:r>
            <a:r>
              <a:rPr lang="en-US" altLang="zh-CN" dirty="0"/>
              <a:t>P30</a:t>
            </a:r>
            <a:r>
              <a:rPr lang="zh-CN" altLang="en-US" dirty="0"/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答：</a:t>
            </a:r>
            <a:r>
              <a:rPr lang="en-US" altLang="zh-CN" dirty="0"/>
              <a:t>mysql&gt; CREATE DATABASE db_sp</a:t>
            </a:r>
            <a:r>
              <a:rPr lang="zh-CN" altLang="en-US" dirty="0"/>
              <a:t>（</a:t>
            </a:r>
            <a:r>
              <a:rPr lang="en-US" altLang="zh-CN" dirty="0"/>
              <a:t>P30</a:t>
            </a:r>
            <a:r>
              <a:rPr lang="zh-CN" altLang="en-US" dirty="0"/>
              <a:t>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．请使用</a:t>
            </a:r>
            <a:r>
              <a:rPr lang="en-US" altLang="zh-CN" dirty="0"/>
              <a:t>MySQL</a:t>
            </a:r>
            <a:r>
              <a:rPr lang="zh-CN" altLang="en-US" dirty="0"/>
              <a:t>命令行客户端在数据库</a:t>
            </a:r>
            <a:r>
              <a:rPr lang="en-US" altLang="zh-CN" dirty="0"/>
              <a:t>db_sp</a:t>
            </a:r>
            <a:r>
              <a:rPr lang="zh-CN" altLang="en-US" dirty="0"/>
              <a:t>中创建</a:t>
            </a:r>
            <a:r>
              <a:rPr lang="en-US" altLang="zh-CN" dirty="0"/>
              <a:t>S</a:t>
            </a:r>
            <a:r>
              <a:rPr lang="zh-CN" altLang="en-US" dirty="0"/>
              <a:t>表、</a:t>
            </a:r>
            <a:r>
              <a:rPr lang="en-US" altLang="zh-CN" dirty="0"/>
              <a:t>P</a:t>
            </a:r>
            <a:r>
              <a:rPr lang="zh-CN" altLang="en-US" dirty="0"/>
              <a:t>表、</a:t>
            </a:r>
            <a:r>
              <a:rPr lang="en-US" altLang="zh-CN" dirty="0"/>
              <a:t>J</a:t>
            </a:r>
            <a:r>
              <a:rPr lang="zh-CN" altLang="en-US" dirty="0"/>
              <a:t>表和</a:t>
            </a:r>
            <a:r>
              <a:rPr lang="en-US" altLang="zh-CN" dirty="0"/>
              <a:t>SP</a:t>
            </a:r>
            <a:r>
              <a:rPr lang="zh-CN" altLang="en-US" dirty="0"/>
              <a:t>表，要求定义如下完整性：（该题未完成）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06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思考与练习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06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四、简答题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．请分别解释</a:t>
            </a:r>
            <a:r>
              <a:rPr lang="en-US" altLang="zh-CN" dirty="0"/>
              <a:t>AUTO_INCREMENT</a:t>
            </a:r>
            <a:r>
              <a:rPr lang="zh-CN" altLang="en-US" dirty="0"/>
              <a:t>、默认值和</a:t>
            </a:r>
            <a:r>
              <a:rPr lang="en-US" altLang="zh-CN" dirty="0"/>
              <a:t>NULL</a:t>
            </a:r>
            <a:r>
              <a:rPr lang="zh-CN" altLang="en-US" dirty="0"/>
              <a:t>值的用途</a:t>
            </a:r>
            <a:r>
              <a:rPr lang="en-US" altLang="zh-CN" dirty="0"/>
              <a:t>?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．什么是实体完整性</a:t>
            </a:r>
            <a:r>
              <a:rPr lang="en-US" altLang="zh-CN" dirty="0"/>
              <a:t>?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．</a:t>
            </a:r>
            <a:r>
              <a:rPr lang="en-US" altLang="zh-CN" dirty="0"/>
              <a:t>MySQL</a:t>
            </a:r>
            <a:r>
              <a:rPr lang="zh-CN" altLang="en-US" dirty="0"/>
              <a:t>是如何实现实体完整性约束的</a:t>
            </a:r>
            <a:r>
              <a:rPr lang="en-US" altLang="zh-CN" dirty="0"/>
              <a:t>?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6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none" lIns="0" tIns="0" rIns="0" bIns="0" anchor="ctr" anchorCtr="0"/>
          <a:p>
            <a:pPr eaLnBrk="1" hangingPunct="1"/>
            <a:r>
              <a:rPr lang="zh-CN" altLang="en-US" dirty="0"/>
              <a:t>思考与练习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166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MySQL</a:t>
            </a:r>
            <a:r>
              <a:rPr lang="zh-CN" altLang="en-US" dirty="0"/>
              <a:t>中的注释符号有三种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/>
              <a:t>#...</a:t>
            </a:r>
            <a:endParaRPr lang="en-US" altLang="zh-CN" dirty="0"/>
          </a:p>
          <a:p>
            <a:pPr eaLnBrk="1" hangingPunct="1"/>
            <a:r>
              <a:rPr lang="en-US" altLang="zh-CN" dirty="0"/>
              <a:t>-- ...</a:t>
            </a:r>
            <a:endParaRPr lang="en-US" altLang="zh-CN" dirty="0"/>
          </a:p>
          <a:p>
            <a:pPr eaLnBrk="1" hangingPunct="1"/>
            <a:r>
              <a:rPr lang="en-US" altLang="zh-CN" dirty="0"/>
              <a:t>/*...*/</a:t>
            </a:r>
            <a:endParaRPr lang="en-US" altLang="zh-CN" dirty="0"/>
          </a:p>
          <a:p>
            <a:pPr eaLnBrk="1" hangingPunct="1"/>
            <a:r>
              <a:rPr lang="zh-CN" altLang="en-US" dirty="0"/>
              <a:t>注意事项：其中</a:t>
            </a:r>
            <a:r>
              <a:rPr lang="en-US" altLang="zh-CN" dirty="0"/>
              <a:t>...</a:t>
            </a:r>
            <a:r>
              <a:rPr lang="zh-CN" altLang="en-US" dirty="0"/>
              <a:t>表示注释的文本内容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/>
              <a:t>在使用</a:t>
            </a:r>
            <a:r>
              <a:rPr lang="en-US" altLang="zh-CN" dirty="0"/>
              <a:t>-- ...</a:t>
            </a:r>
            <a:r>
              <a:rPr lang="zh-CN" altLang="en-US" dirty="0"/>
              <a:t>注释内容时，需要在</a:t>
            </a:r>
            <a:r>
              <a:rPr lang="en-US" altLang="zh-CN" dirty="0"/>
              <a:t>--</a:t>
            </a:r>
            <a:r>
              <a:rPr lang="zh-CN" altLang="en-US" dirty="0"/>
              <a:t>和注释内容之间加一个空格符（如空格、</a:t>
            </a:r>
            <a:r>
              <a:rPr lang="en-US" altLang="zh-CN" dirty="0"/>
              <a:t>tab</a:t>
            </a:r>
            <a:r>
              <a:rPr lang="zh-CN" altLang="en-US" dirty="0"/>
              <a:t>、换行符等）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ShortAnswer"/>
</p:tagLst>
</file>

<file path=ppt/tags/tag3.xml><?xml version="1.0" encoding="utf-8"?>
<p:tagLst xmlns:p="http://schemas.openxmlformats.org/presentationml/2006/main">
  <p:tag name="RAINPROBLEMTYPE" val="ProblemTypeMarker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" val="ProblemSetting"/>
  <p:tag name="RAINPROBLEMTYPE" val="ShortAnswer"/>
</p:tagLst>
</file>

<file path=ppt/tags/tag8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9.xml><?xml version="1.0" encoding="utf-8"?>
<p:tagLst xmlns:p="http://schemas.openxmlformats.org/presentationml/2006/main">
  <p:tag name="RAINPROBLEM" val="ProblemBody"/>
</p:tagLst>
</file>

<file path=ppt/tags/tag10.xml><?xml version="1.0" encoding="utf-8"?>
<p:tagLst xmlns:p="http://schemas.openxmlformats.org/presentationml/2006/main">
  <p:tag name="RAINPROBLEM" val="ProblemSubmit"/>
  <p:tag name="RAINPROBLEMTYPE" val="ShortAnsw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" val="ProblemSetting"/>
  <p:tag name="RAINPROBLEMTYPE" val="ShortAnswer"/>
</p:tagLst>
</file>

<file path=ppt/tags/tag16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17.xml><?xml version="1.0" encoding="utf-8"?>
<p:tagLst xmlns:p="http://schemas.openxmlformats.org/presentationml/2006/main">
  <p:tag name="RAINPROBLEM" val="ProblemBody"/>
</p:tagLst>
</file>

<file path=ppt/tags/tag18.xml><?xml version="1.0" encoding="utf-8"?>
<p:tagLst xmlns:p="http://schemas.openxmlformats.org/presentationml/2006/main">
  <p:tag name="RAINPROBLEM" val="ProblemSubmit"/>
  <p:tag name="RAINPROBLEMTYPE" val="ShortAnsw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" val="ProblemSetting"/>
  <p:tag name="RAINPROBLEMTYPE" val="ShortAnswer"/>
</p:tagLst>
</file>

<file path=ppt/tags/tag24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25.xml><?xml version="1.0" encoding="utf-8"?>
<p:tagLst xmlns:p="http://schemas.openxmlformats.org/presentationml/2006/main">
  <p:tag name="KSO_WM_UNIT_PLACING_PICTURE_USER_VIEWPORT" val="{&quot;height&quot;:2980,&quot;width&quot;:6000}"/>
</p:tagLst>
</file>

<file path=ppt/tags/tag26.xml><?xml version="1.0" encoding="utf-8"?>
<p:tagLst xmlns:p="http://schemas.openxmlformats.org/presentationml/2006/main">
  <p:tag name="COMMONDATA" val="eyJoZGlkIjoiMmMyMDVmY2YwOTg2YzFkZGRkNTRjNzBlYWY3MzNhMDAifQ=="/>
</p:tagLst>
</file>

<file path=ppt/theme/theme1.xml><?xml version="1.0" encoding="utf-8"?>
<a:theme xmlns:a="http://schemas.openxmlformats.org/drawingml/2006/main" name="wgstemplate">
  <a:themeElements>
    <a:clrScheme name="">
      <a:dk1>
        <a:srgbClr val="008000"/>
      </a:dk1>
      <a:lt1>
        <a:srgbClr val="000066"/>
      </a:lt1>
      <a:dk2>
        <a:srgbClr val="000000"/>
      </a:dk2>
      <a:lt2>
        <a:srgbClr val="0000CC"/>
      </a:lt2>
      <a:accent1>
        <a:srgbClr val="CC3300"/>
      </a:accent1>
      <a:accent2>
        <a:srgbClr val="990099"/>
      </a:accent2>
      <a:accent3>
        <a:srgbClr val="AAAAAA"/>
      </a:accent3>
      <a:accent4>
        <a:srgbClr val="000056"/>
      </a:accent4>
      <a:accent5>
        <a:srgbClr val="E2ADAA"/>
      </a:accent5>
      <a:accent6>
        <a:srgbClr val="8A008A"/>
      </a:accent6>
      <a:hlink>
        <a:srgbClr val="CC6600"/>
      </a:hlink>
      <a:folHlink>
        <a:srgbClr val="CC00CC"/>
      </a:folHlink>
    </a:clrScheme>
    <a:fontScheme name="wgstemplate">
      <a:majorFont>
        <a:latin typeface="隶书"/>
        <a:ea typeface="隶书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gstemplate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8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00CC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00B9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9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CC3399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B92D8A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0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3366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2D5C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1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2">
        <a:dk1>
          <a:srgbClr val="000099"/>
        </a:dk1>
        <a:lt1>
          <a:srgbClr val="FFFFFF"/>
        </a:lt1>
        <a:dk2>
          <a:srgbClr val="0000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3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4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5">
        <a:dk1>
          <a:srgbClr val="000099"/>
        </a:dk1>
        <a:lt1>
          <a:srgbClr val="FFFFFF"/>
        </a:lt1>
        <a:dk2>
          <a:srgbClr val="3333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6">
        <a:dk1>
          <a:srgbClr val="000099"/>
        </a:dk1>
        <a:lt1>
          <a:srgbClr val="FFFFFF"/>
        </a:lt1>
        <a:dk2>
          <a:srgbClr val="3366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gstemplate">
  <a:themeElements>
    <a:clrScheme name="">
      <a:dk1>
        <a:srgbClr val="008000"/>
      </a:dk1>
      <a:lt1>
        <a:srgbClr val="000066"/>
      </a:lt1>
      <a:dk2>
        <a:srgbClr val="000000"/>
      </a:dk2>
      <a:lt2>
        <a:srgbClr val="0000CC"/>
      </a:lt2>
      <a:accent1>
        <a:srgbClr val="CC3300"/>
      </a:accent1>
      <a:accent2>
        <a:srgbClr val="990099"/>
      </a:accent2>
      <a:accent3>
        <a:srgbClr val="AAAAAA"/>
      </a:accent3>
      <a:accent4>
        <a:srgbClr val="000056"/>
      </a:accent4>
      <a:accent5>
        <a:srgbClr val="E2ADAA"/>
      </a:accent5>
      <a:accent6>
        <a:srgbClr val="8A008A"/>
      </a:accent6>
      <a:hlink>
        <a:srgbClr val="CC6600"/>
      </a:hlink>
      <a:folHlink>
        <a:srgbClr val="CC00CC"/>
      </a:folHlink>
    </a:clrScheme>
    <a:fontScheme name="wgstemplate">
      <a:majorFont>
        <a:latin typeface="隶书"/>
        <a:ea typeface="隶书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gstemplate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8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00CC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00B9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9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CC3399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B92D8A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0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3366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2D5C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1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2">
        <a:dk1>
          <a:srgbClr val="000099"/>
        </a:dk1>
        <a:lt1>
          <a:srgbClr val="FFFFFF"/>
        </a:lt1>
        <a:dk2>
          <a:srgbClr val="0000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3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4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5">
        <a:dk1>
          <a:srgbClr val="000099"/>
        </a:dk1>
        <a:lt1>
          <a:srgbClr val="FFFFFF"/>
        </a:lt1>
        <a:dk2>
          <a:srgbClr val="3333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6">
        <a:dk1>
          <a:srgbClr val="000099"/>
        </a:dk1>
        <a:lt1>
          <a:srgbClr val="FFFFFF"/>
        </a:lt1>
        <a:dk2>
          <a:srgbClr val="3366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gstemplate">
  <a:themeElements>
    <a:clrScheme name="">
      <a:dk1>
        <a:srgbClr val="008000"/>
      </a:dk1>
      <a:lt1>
        <a:srgbClr val="000066"/>
      </a:lt1>
      <a:dk2>
        <a:srgbClr val="000000"/>
      </a:dk2>
      <a:lt2>
        <a:srgbClr val="0000CC"/>
      </a:lt2>
      <a:accent1>
        <a:srgbClr val="CC3300"/>
      </a:accent1>
      <a:accent2>
        <a:srgbClr val="990099"/>
      </a:accent2>
      <a:accent3>
        <a:srgbClr val="AAAAAA"/>
      </a:accent3>
      <a:accent4>
        <a:srgbClr val="000056"/>
      </a:accent4>
      <a:accent5>
        <a:srgbClr val="E2ADAA"/>
      </a:accent5>
      <a:accent6>
        <a:srgbClr val="8A008A"/>
      </a:accent6>
      <a:hlink>
        <a:srgbClr val="CC6600"/>
      </a:hlink>
      <a:folHlink>
        <a:srgbClr val="CC00CC"/>
      </a:folHlink>
    </a:clrScheme>
    <a:fontScheme name="wgstemplate">
      <a:majorFont>
        <a:latin typeface="隶书"/>
        <a:ea typeface="隶书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gstemplate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8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00CC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00B9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9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CC3399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B92D8A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0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3366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2D5C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1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2">
        <a:dk1>
          <a:srgbClr val="000099"/>
        </a:dk1>
        <a:lt1>
          <a:srgbClr val="FFFFFF"/>
        </a:lt1>
        <a:dk2>
          <a:srgbClr val="0000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3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4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5">
        <a:dk1>
          <a:srgbClr val="000099"/>
        </a:dk1>
        <a:lt1>
          <a:srgbClr val="FFFFFF"/>
        </a:lt1>
        <a:dk2>
          <a:srgbClr val="3333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6">
        <a:dk1>
          <a:srgbClr val="000099"/>
        </a:dk1>
        <a:lt1>
          <a:srgbClr val="FFFFFF"/>
        </a:lt1>
        <a:dk2>
          <a:srgbClr val="3366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gstemplate">
  <a:themeElements>
    <a:clrScheme name="">
      <a:dk1>
        <a:srgbClr val="008000"/>
      </a:dk1>
      <a:lt1>
        <a:srgbClr val="000066"/>
      </a:lt1>
      <a:dk2>
        <a:srgbClr val="000000"/>
      </a:dk2>
      <a:lt2>
        <a:srgbClr val="0000CC"/>
      </a:lt2>
      <a:accent1>
        <a:srgbClr val="CC3300"/>
      </a:accent1>
      <a:accent2>
        <a:srgbClr val="990099"/>
      </a:accent2>
      <a:accent3>
        <a:srgbClr val="AAAAAA"/>
      </a:accent3>
      <a:accent4>
        <a:srgbClr val="000056"/>
      </a:accent4>
      <a:accent5>
        <a:srgbClr val="E2ADAA"/>
      </a:accent5>
      <a:accent6>
        <a:srgbClr val="8A008A"/>
      </a:accent6>
      <a:hlink>
        <a:srgbClr val="CC6600"/>
      </a:hlink>
      <a:folHlink>
        <a:srgbClr val="CC00CC"/>
      </a:folHlink>
    </a:clrScheme>
    <a:fontScheme name="wgstemplate">
      <a:majorFont>
        <a:latin typeface="隶书"/>
        <a:ea typeface="隶书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wgstemplate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gstemplate 8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00CC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00B9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9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CC3399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B92D8A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0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993366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8A2D5C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1">
        <a:dk1>
          <a:srgbClr val="000099"/>
        </a:dk1>
        <a:lt1>
          <a:srgbClr val="FFFFFF"/>
        </a:lt1>
        <a:dk2>
          <a:srgbClr val="0000FF"/>
        </a:dk2>
        <a:lt2>
          <a:srgbClr val="5E574E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2">
        <a:dk1>
          <a:srgbClr val="000099"/>
        </a:dk1>
        <a:lt1>
          <a:srgbClr val="FFFFFF"/>
        </a:lt1>
        <a:dk2>
          <a:srgbClr val="0000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3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66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4">
        <a:dk1>
          <a:srgbClr val="000099"/>
        </a:dk1>
        <a:lt1>
          <a:srgbClr val="FFFFFF"/>
        </a:lt1>
        <a:dk2>
          <a:srgbClr val="0000CC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5">
        <a:dk1>
          <a:srgbClr val="000099"/>
        </a:dk1>
        <a:lt1>
          <a:srgbClr val="FFFFFF"/>
        </a:lt1>
        <a:dk2>
          <a:srgbClr val="3333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gstemplate 16">
        <a:dk1>
          <a:srgbClr val="000099"/>
        </a:dk1>
        <a:lt1>
          <a:srgbClr val="FFFFFF"/>
        </a:lt1>
        <a:dk2>
          <a:srgbClr val="3366FF"/>
        </a:dk2>
        <a:lt2>
          <a:srgbClr val="008000"/>
        </a:lt2>
        <a:accent1>
          <a:srgbClr val="FF6600"/>
        </a:accent1>
        <a:accent2>
          <a:srgbClr val="800080"/>
        </a:accent2>
        <a:accent3>
          <a:srgbClr val="FFFFFF"/>
        </a:accent3>
        <a:accent4>
          <a:srgbClr val="000082"/>
        </a:accent4>
        <a:accent5>
          <a:srgbClr val="FFB8AA"/>
        </a:accent5>
        <a:accent6>
          <a:srgbClr val="730073"/>
        </a:accent6>
        <a:hlink>
          <a:srgbClr val="CC3300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55561</Words>
  <Application>WPS 演示</Application>
  <PresentationFormat>全屏显示(4:3)</PresentationFormat>
  <Paragraphs>2370</Paragraphs>
  <Slides>231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231</vt:i4>
      </vt:variant>
    </vt:vector>
  </HeadingPairs>
  <TitlesOfParts>
    <vt:vector size="252" baseType="lpstr">
      <vt:lpstr>Arial</vt:lpstr>
      <vt:lpstr>宋体</vt:lpstr>
      <vt:lpstr>Wingdings</vt:lpstr>
      <vt:lpstr>隶书</vt:lpstr>
      <vt:lpstr>微软雅黑</vt:lpstr>
      <vt:lpstr>楷体_GB2312</vt:lpstr>
      <vt:lpstr>新宋体</vt:lpstr>
      <vt:lpstr>等线</vt:lpstr>
      <vt:lpstr>Times New Roman</vt:lpstr>
      <vt:lpstr>黑体</vt:lpstr>
      <vt:lpstr>Arial Rounded MT Bold</vt:lpstr>
      <vt:lpstr>Arial Unicode MS</vt:lpstr>
      <vt:lpstr>Lucida Sans</vt:lpstr>
      <vt:lpstr>Lucida Sans Unicode</vt:lpstr>
      <vt:lpstr>Arial Unicode MS</vt:lpstr>
      <vt:lpstr>Calibri</vt:lpstr>
      <vt:lpstr>Arial</vt:lpstr>
      <vt:lpstr>wgstemplate</vt:lpstr>
      <vt:lpstr>1_wgstemplate</vt:lpstr>
      <vt:lpstr>2_wgstemplate</vt:lpstr>
      <vt:lpstr>3_wgstemplate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JiangZongJun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数据定义</dc:title>
  <dc:creator>JiangZongJun</dc:creator>
  <cp:lastModifiedBy>Kathy</cp:lastModifiedBy>
  <cp:revision>53</cp:revision>
  <dcterms:created xsi:type="dcterms:W3CDTF">2019-01-30T11:54:00Z</dcterms:created>
  <dcterms:modified xsi:type="dcterms:W3CDTF">2025-09-08T05:28:24Z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DCD81381F3A9415D969E73E06639478F_12</vt:lpwstr>
  </property>
  <property fmtid="{D5CDD505-2E9C-101B-9397-08002B2CF9AE}" pid="4" name="commondata">
    <vt:lpwstr>eyJoZGlkIjoiZGFlN2E2NmQzNTA1OTdlODhmOTI3NGQ2MWQwZDhmNjUifQ==</vt:lpwstr>
  </property>
</Properties>
</file>