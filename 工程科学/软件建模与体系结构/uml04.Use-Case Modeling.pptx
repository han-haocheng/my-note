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29"/>
  </p:notesMasterIdLst>
  <p:handoutMasterIdLst>
    <p:handoutMasterId r:id="rId130"/>
  </p:handoutMasterIdLst>
  <p:sldIdLst>
    <p:sldId id="399" r:id="rId2"/>
    <p:sldId id="257" r:id="rId3"/>
    <p:sldId id="258" r:id="rId4"/>
    <p:sldId id="259" r:id="rId5"/>
    <p:sldId id="260" r:id="rId6"/>
    <p:sldId id="261" r:id="rId7"/>
    <p:sldId id="3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390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9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93" r:id="rId59"/>
    <p:sldId id="311" r:id="rId60"/>
    <p:sldId id="312" r:id="rId61"/>
    <p:sldId id="313" r:id="rId62"/>
    <p:sldId id="314" r:id="rId63"/>
    <p:sldId id="315" r:id="rId64"/>
    <p:sldId id="316" r:id="rId65"/>
    <p:sldId id="318" r:id="rId66"/>
    <p:sldId id="319" r:id="rId67"/>
    <p:sldId id="320" r:id="rId68"/>
    <p:sldId id="394" r:id="rId69"/>
    <p:sldId id="321" r:id="rId70"/>
    <p:sldId id="322" r:id="rId71"/>
    <p:sldId id="377" r:id="rId72"/>
    <p:sldId id="378" r:id="rId73"/>
    <p:sldId id="375" r:id="rId74"/>
    <p:sldId id="323" r:id="rId75"/>
    <p:sldId id="324" r:id="rId76"/>
    <p:sldId id="325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89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79" r:id="rId101"/>
    <p:sldId id="349" r:id="rId102"/>
    <p:sldId id="350" r:id="rId103"/>
    <p:sldId id="352" r:id="rId104"/>
    <p:sldId id="351" r:id="rId105"/>
    <p:sldId id="381" r:id="rId106"/>
    <p:sldId id="353" r:id="rId107"/>
    <p:sldId id="400" r:id="rId108"/>
    <p:sldId id="355" r:id="rId109"/>
    <p:sldId id="395" r:id="rId110"/>
    <p:sldId id="356" r:id="rId111"/>
    <p:sldId id="358" r:id="rId112"/>
    <p:sldId id="384" r:id="rId113"/>
    <p:sldId id="388" r:id="rId114"/>
    <p:sldId id="385" r:id="rId115"/>
    <p:sldId id="386" r:id="rId116"/>
    <p:sldId id="387" r:id="rId117"/>
    <p:sldId id="359" r:id="rId118"/>
    <p:sldId id="361" r:id="rId119"/>
    <p:sldId id="360" r:id="rId120"/>
    <p:sldId id="362" r:id="rId121"/>
    <p:sldId id="396" r:id="rId122"/>
    <p:sldId id="397" r:id="rId123"/>
    <p:sldId id="398" r:id="rId124"/>
    <p:sldId id="370" r:id="rId125"/>
    <p:sldId id="401" r:id="rId126"/>
    <p:sldId id="405" r:id="rId127"/>
    <p:sldId id="382" r:id="rId128"/>
  </p:sldIdLst>
  <p:sldSz cx="12192000" cy="6858000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99CCFF"/>
    <a:srgbClr val="808000"/>
    <a:srgbClr val="333300"/>
    <a:srgbClr val="003300"/>
    <a:srgbClr val="336699"/>
    <a:srgbClr val="0099CC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1491" autoAdjust="0"/>
  </p:normalViewPr>
  <p:slideViewPr>
    <p:cSldViewPr>
      <p:cViewPr varScale="1">
        <p:scale>
          <a:sx n="100" d="100"/>
          <a:sy n="100" d="100"/>
        </p:scale>
        <p:origin x="87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4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6457A214-3559-4BD8-A032-319DD952FC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54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5D5963AB-51D7-4B56-957C-52AD6A606A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1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376A7C0-7D0F-4D6B-932F-E04B06437984}" type="slidenum">
              <a:rPr lang="zh-CN" altLang="en-US" sz="1300" b="0" smtClean="0">
                <a:latin typeface="Arial" charset="0"/>
              </a:rPr>
              <a:pPr eaLnBrk="1" hangingPunct="1"/>
              <a:t>3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980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E334A79-A6EA-4649-90AC-1FA7CBC46ED8}" type="slidenum">
              <a:rPr lang="zh-CN" altLang="en-US" sz="1300" b="0" smtClean="0">
                <a:latin typeface="Arial" charset="0"/>
              </a:rPr>
              <a:pPr eaLnBrk="1" hangingPunct="1"/>
              <a:t>4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702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EC2261-82C5-4DBC-B99A-AE055979CE19}" type="slidenum">
              <a:rPr lang="zh-CN" altLang="en-US" sz="1300" b="0" smtClean="0">
                <a:latin typeface="Arial" charset="0"/>
              </a:rPr>
              <a:pPr eaLnBrk="1" hangingPunct="1"/>
              <a:t>5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3474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B9ECB40-F0C0-4E0A-8519-A18187CC363E}" type="slidenum">
              <a:rPr lang="zh-CN" altLang="en-US" sz="1300" b="0" smtClean="0">
                <a:latin typeface="Arial" charset="0"/>
              </a:rPr>
              <a:pPr eaLnBrk="1" hangingPunct="1"/>
              <a:t>6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37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092736-F996-44C3-B7EB-4A46309A42EC}" type="slidenum">
              <a:rPr lang="zh-CN" altLang="en-US" sz="1300" b="0" smtClean="0">
                <a:latin typeface="Arial" charset="0"/>
              </a:rPr>
              <a:pPr eaLnBrk="1" hangingPunct="1"/>
              <a:t>12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61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06848A4-8428-43CD-BBD2-EE99095B85A6}" type="slidenum">
              <a:rPr lang="zh-CN" altLang="en-US" sz="1300" b="0" smtClean="0">
                <a:latin typeface="Arial" charset="0"/>
              </a:rPr>
              <a:pPr eaLnBrk="1" hangingPunct="1"/>
              <a:t>13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468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91DC07-F5F3-48DD-B962-8D4AFD55F6D2}" type="slidenum">
              <a:rPr lang="zh-CN" altLang="en-US" sz="1300" b="0" smtClean="0">
                <a:latin typeface="Arial" charset="0"/>
              </a:rPr>
              <a:pPr eaLnBrk="1" hangingPunct="1"/>
              <a:t>29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695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8DD9CF-5DC3-417A-ADD6-D523250DFA39}" type="slidenum">
              <a:rPr lang="zh-CN" altLang="en-US" sz="1300" b="0" smtClean="0">
                <a:latin typeface="Arial" charset="0"/>
              </a:rPr>
              <a:pPr eaLnBrk="1" hangingPunct="1"/>
              <a:t>30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5154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BEA79AC-6B24-463D-A805-26585D538AB6}" type="slidenum">
              <a:rPr lang="zh-CN" altLang="en-US" sz="1300" b="0" smtClean="0">
                <a:latin typeface="Arial" charset="0"/>
              </a:rPr>
              <a:pPr eaLnBrk="1" hangingPunct="1"/>
              <a:t>31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8311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B5CBDFE-A75F-4E36-9296-487B36070BBF}" type="slidenum">
              <a:rPr lang="zh-CN" altLang="en-US" sz="1300" b="0" smtClean="0">
                <a:latin typeface="Arial" charset="0"/>
              </a:rPr>
              <a:pPr eaLnBrk="1" hangingPunct="1"/>
              <a:t>36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40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4DAB9A9-C240-4474-B846-3DD7D67965CC}" type="slidenum">
              <a:rPr lang="zh-CN" altLang="en-US" sz="1300" b="0" smtClean="0">
                <a:latin typeface="Arial" charset="0"/>
              </a:rPr>
              <a:pPr eaLnBrk="1" hangingPunct="1"/>
              <a:t>38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6172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AAAE30-7138-4223-94AC-A72E38BA395B}" type="slidenum">
              <a:rPr lang="zh-CN" altLang="en-US" sz="1300" b="0" smtClean="0">
                <a:latin typeface="Arial" charset="0"/>
              </a:rPr>
              <a:pPr eaLnBrk="1" hangingPunct="1"/>
              <a:t>42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zh-CN" altLang="en-US" sz="80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080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211258-F8BD-457A-A466-C90C1BA0D1CA}" type="slidenum">
              <a:rPr lang="zh-CN" altLang="en-US" sz="1300" b="0" smtClean="0">
                <a:latin typeface="Arial" charset="0"/>
              </a:rPr>
              <a:pPr eaLnBrk="1" hangingPunct="1"/>
              <a:t>49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ea typeface="宋体" pitchFamily="2" charset="-122"/>
              </a:rPr>
              <a:t>时间</a:t>
            </a:r>
          </a:p>
          <a:p>
            <a:pPr eaLnBrk="1" hangingPunct="1"/>
            <a:r>
              <a:rPr lang="zh-CN" altLang="en-US">
                <a:ea typeface="宋体" pitchFamily="2" charset="-122"/>
              </a:rPr>
              <a:t>气温不是，仅是一个条件</a:t>
            </a:r>
          </a:p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9751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1AB779-42F9-44DA-AD36-932B11CBE7D6}" type="slidenum">
              <a:rPr lang="zh-CN" altLang="en-US" sz="1300" b="0" smtClean="0">
                <a:latin typeface="Arial" charset="0"/>
              </a:rPr>
              <a:pPr eaLnBrk="1" hangingPunct="1"/>
              <a:t>53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290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7400EF7-CB98-41CC-B99D-6AE26E71F366}" type="slidenum">
              <a:rPr lang="zh-CN" altLang="en-US" sz="1300" b="0" smtClean="0">
                <a:latin typeface="Arial" charset="0"/>
              </a:rPr>
              <a:pPr eaLnBrk="1" hangingPunct="1"/>
              <a:t>54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077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8B8112-C754-4337-BFE8-32271EC274B2}" type="slidenum">
              <a:rPr lang="zh-CN" altLang="en-US" sz="1300" b="0" smtClean="0">
                <a:latin typeface="Arial" charset="0"/>
              </a:rPr>
              <a:pPr eaLnBrk="1" hangingPunct="1"/>
              <a:t>65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85783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DF9087C-3812-4054-A43F-B07429BE1E05}" type="slidenum">
              <a:rPr lang="zh-CN" altLang="en-US" sz="1300" b="0" smtClean="0">
                <a:latin typeface="Arial" charset="0"/>
              </a:rPr>
              <a:pPr eaLnBrk="1" hangingPunct="1"/>
              <a:t>74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0231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CC23E6-03AA-4547-93B9-D69D864D8CC7}" type="slidenum">
              <a:rPr lang="zh-CN" altLang="en-US" sz="1300" b="0" smtClean="0">
                <a:latin typeface="Arial" charset="0"/>
              </a:rPr>
              <a:pPr eaLnBrk="1" hangingPunct="1"/>
              <a:t>99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253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91DC07-F5F3-48DD-B962-8D4AFD55F6D2}" type="slidenum">
              <a:rPr lang="zh-CN" altLang="en-US" sz="1300" b="0" smtClean="0">
                <a:latin typeface="Arial" charset="0"/>
              </a:rPr>
              <a:pPr eaLnBrk="1" hangingPunct="1"/>
              <a:t>121</a:t>
            </a:fld>
            <a:endParaRPr lang="en-US" altLang="zh-CN" sz="1300" b="0">
              <a:latin typeface="Arial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010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_sm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80"/>
            <a:ext cx="3190875" cy="8382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6656388"/>
            <a:ext cx="12192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470400" y="6324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endParaRPr kumimoji="0" lang="en-US" altLang="zh-CN" sz="1400" b="0"/>
          </a:p>
        </p:txBody>
      </p:sp>
      <p:pic>
        <p:nvPicPr>
          <p:cNvPr id="7" name="Picture 9" descr="nbl12_1_1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417" y="5948366"/>
            <a:ext cx="243840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2284" y="2565400"/>
            <a:ext cx="10363200" cy="1143000"/>
          </a:xfrm>
        </p:spPr>
        <p:txBody>
          <a:bodyPr/>
          <a:lstStyle>
            <a:lvl1pPr algn="ctr" fontAlgn="ctr">
              <a:defRPr sz="4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60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5A6ACB9-5BFE-4EF3-B91C-463DEBBCCA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12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4C2F54C-52AD-47FC-B80B-56D32F7F913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77349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6E6B468-02A4-41FE-B3CE-B77921BD89DB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90760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07535" y="981076"/>
            <a:ext cx="5177367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88102" y="981076"/>
            <a:ext cx="5179484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13B5030-E818-4E33-B39F-291F5E9F4D7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8939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606F398-8D4B-4DEB-B16A-FAF288C1844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4741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32872BE-FA2C-46C2-A169-1F30EC6FAD64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60080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FCFE3A8-A593-4639-BBAE-F87840FCABE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28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B838669-9B40-452C-9C7C-05CE661747FF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70190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F5EE5D7-DA54-4996-B04D-BEB0C65CB3ED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9755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13A5948-C572-4A45-8388-DE4E873D8B5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4996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902" y="260350"/>
            <a:ext cx="2715684" cy="6121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8500" y="260350"/>
            <a:ext cx="7950200" cy="6121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EA087514-DBC3-4F18-B126-1E056A3FAD0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354309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07533" y="981076"/>
            <a:ext cx="10560051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79F1E9-65E1-40DC-A5C5-996A70B92A3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9090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07533" y="981075"/>
            <a:ext cx="10560051" cy="2624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7533" y="3757616"/>
            <a:ext cx="10560051" cy="2624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ED612CAB-A7E8-42E7-B19B-FAF31ED16A7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86875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07535" y="981076"/>
            <a:ext cx="5177367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88102" y="981076"/>
            <a:ext cx="5179484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B3EEB90-CB8C-413F-818F-0FDB1445C3F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70739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1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07534" y="981076"/>
            <a:ext cx="5177367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388101" y="981076"/>
            <a:ext cx="5179484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4A5ACCA3-FF84-4D76-BDE4-D9A2AC841BA2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116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0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12177708" cy="26270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2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7153"/>
            <a:ext cx="12192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260648"/>
            <a:ext cx="1006350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5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01" y="981076"/>
            <a:ext cx="10872184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0" y="6656388"/>
            <a:ext cx="12192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/>
          </a:p>
        </p:txBody>
      </p:sp>
      <p:sp>
        <p:nvSpPr>
          <p:cNvPr id="13005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08738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4D4D4D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84D0465F-A6A2-4704-8971-06036326BA0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  <p:pic>
        <p:nvPicPr>
          <p:cNvPr id="6155" name="Picture 14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88" y="5734050"/>
            <a:ext cx="827027" cy="80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5"/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141" y="5805491"/>
            <a:ext cx="2247567" cy="64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64" name="Text Box 16"/>
          <p:cNvSpPr txBox="1">
            <a:spLocks noChangeArrowheads="1"/>
          </p:cNvSpPr>
          <p:nvPr userDrawn="1"/>
        </p:nvSpPr>
        <p:spPr bwMode="auto">
          <a:xfrm>
            <a:off x="46569" y="6626225"/>
            <a:ext cx="427143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400" b="0">
                <a:latin typeface="Arial" charset="0"/>
              </a:rPr>
              <a:t>Copyright © thbin@buaa.edu.cn</a:t>
            </a:r>
          </a:p>
        </p:txBody>
      </p:sp>
      <p:sp>
        <p:nvSpPr>
          <p:cNvPr id="130065" name="Text Box 17"/>
          <p:cNvSpPr txBox="1">
            <a:spLocks noChangeArrowheads="1"/>
          </p:cNvSpPr>
          <p:nvPr userDrawn="1"/>
        </p:nvSpPr>
        <p:spPr bwMode="auto">
          <a:xfrm>
            <a:off x="7920569" y="6626225"/>
            <a:ext cx="427143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1400" b="0" dirty="0">
                <a:latin typeface="Arial" charset="0"/>
              </a:rPr>
              <a:t>College of Software, BUAA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40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80000"/>
        <a:buFont typeface="Wingdings" pitchFamily="2" charset="2"/>
        <a:buChar char="þ"/>
        <a:defRPr kumimoji="1" sz="3200" b="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u"/>
        <a:defRPr kumimoji="1" sz="28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kumimoji="1" sz="24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ü"/>
        <a:defRPr kumimoji="1" sz="20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0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132013"/>
            <a:ext cx="9144000" cy="1790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u="sng" dirty="0">
                <a:solidFill>
                  <a:srgbClr val="A50021"/>
                </a:solidFill>
                <a:latin typeface="华文楷体" pitchFamily="2" charset="-122"/>
                <a:ea typeface="华文楷体" pitchFamily="2" charset="-122"/>
              </a:rPr>
              <a:t>UML2</a:t>
            </a:r>
            <a:r>
              <a:rPr lang="zh-CN" altLang="en-US" u="sng" dirty="0">
                <a:solidFill>
                  <a:srgbClr val="A50021"/>
                </a:solidFill>
                <a:latin typeface="华文楷体" pitchFamily="2" charset="-122"/>
                <a:ea typeface="华文楷体" pitchFamily="2" charset="-122"/>
              </a:rPr>
              <a:t>面向对象分析与设计</a:t>
            </a:r>
            <a:br>
              <a:rPr lang="zh-CN" altLang="en-US" sz="4000" dirty="0"/>
            </a:br>
            <a:r>
              <a:rPr lang="en-US" altLang="zh-CN" sz="3200" i="1" dirty="0"/>
              <a:t>Object-Oriented Analysis &amp; Design with UML2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340225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/>
              <a:t>谭火彬</a:t>
            </a:r>
          </a:p>
        </p:txBody>
      </p:sp>
    </p:spTree>
    <p:extLst>
      <p:ext uri="{BB962C8B-B14F-4D97-AF65-F5344CB8AC3E}">
        <p14:creationId xmlns:p14="http://schemas.microsoft.com/office/powerpoint/2010/main" val="381240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学习路线图</a:t>
            </a:r>
            <a:endParaRPr lang="en-US" altLang="zh-CN"/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096308E-E874-4C02-8CE6-DE9A68B3A95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grpSp>
        <p:nvGrpSpPr>
          <p:cNvPr id="4100" name="Group 3"/>
          <p:cNvGrpSpPr>
            <a:grpSpLocks/>
          </p:cNvGrpSpPr>
          <p:nvPr/>
        </p:nvGrpSpPr>
        <p:grpSpPr bwMode="auto">
          <a:xfrm>
            <a:off x="1703389" y="1557338"/>
            <a:ext cx="8785225" cy="3960812"/>
            <a:chOff x="113" y="980"/>
            <a:chExt cx="5534" cy="2495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</a:p>
          </p:txBody>
        </p:sp>
        <p:grpSp>
          <p:nvGrpSpPr>
            <p:cNvPr id="4105" name="Group 7"/>
            <p:cNvGrpSpPr>
              <a:grpSpLocks/>
            </p:cNvGrpSpPr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4766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OOP</a:t>
              </a:r>
            </a:p>
          </p:txBody>
        </p:sp>
        <p:sp>
          <p:nvSpPr>
            <p:cNvPr id="714767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DP</a:t>
              </a:r>
            </a:p>
          </p:txBody>
        </p:sp>
        <p:sp>
          <p:nvSpPr>
            <p:cNvPr id="714768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/>
                  <a:ea typeface="宋体" charset="-122"/>
                </a:rPr>
                <a:t>…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 </a:t>
              </a:r>
              <a:r>
                <a:rPr lang="zh-CN" altLang="en-US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教学案例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 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/>
                  <a:ea typeface="宋体" charset="-122"/>
                </a:rPr>
                <a:t>…</a:t>
              </a:r>
              <a:endParaRPr lang="en-US" altLang="zh-CN" sz="1800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endParaRPr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78 w 4650"/>
                <a:gd name="T3" fmla="*/ 30 h 212"/>
                <a:gd name="T4" fmla="*/ 4563 w 4650"/>
                <a:gd name="T5" fmla="*/ 30 h 212"/>
                <a:gd name="T6" fmla="*/ 5289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4771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</a:p>
          </p:txBody>
        </p:sp>
        <p:grpSp>
          <p:nvGrpSpPr>
            <p:cNvPr id="4116" name="Group 20"/>
            <p:cNvGrpSpPr>
              <a:grpSpLocks/>
            </p:cNvGrpSpPr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>
              <a:grpSpLocks/>
            </p:cNvGrpSpPr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>
              <a:grpSpLocks/>
            </p:cNvGrpSpPr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>
              <a:grpSpLocks/>
            </p:cNvGrpSpPr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714790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714791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714792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714793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</a:p>
            </p:txBody>
          </p:sp>
          <p:sp>
            <p:nvSpPr>
              <p:cNvPr id="71479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</a:p>
            </p:txBody>
          </p:sp>
          <p:sp>
            <p:nvSpPr>
              <p:cNvPr id="714795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</a:p>
            </p:txBody>
          </p:sp>
          <p:sp>
            <p:nvSpPr>
              <p:cNvPr id="714796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714797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</a:p>
            </p:txBody>
          </p:sp>
          <p:sp>
            <p:nvSpPr>
              <p:cNvPr id="714798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</a:p>
            </p:txBody>
          </p:sp>
          <p:sp>
            <p:nvSpPr>
              <p:cNvPr id="714799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charset="-122"/>
                  </a:rPr>
                  <a:t>10</a:t>
                </a:r>
              </a:p>
            </p:txBody>
          </p:sp>
        </p:grpSp>
      </p:grpSp>
      <p:sp>
        <p:nvSpPr>
          <p:cNvPr id="714800" name="Rectangle 48"/>
          <p:cNvSpPr>
            <a:spLocks noChangeArrowheads="1"/>
          </p:cNvSpPr>
          <p:nvPr/>
        </p:nvSpPr>
        <p:spPr bwMode="auto">
          <a:xfrm>
            <a:off x="4113213" y="2565400"/>
            <a:ext cx="1008062" cy="719138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0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华文楷体" pitchFamily="2" charset="-122"/>
              </a:rPr>
              <a:t>第</a:t>
            </a:r>
            <a:r>
              <a:rPr lang="en-US" altLang="zh-CN" dirty="0">
                <a:ea typeface="华文楷体" pitchFamily="2" charset="-122"/>
              </a:rPr>
              <a:t>04</a:t>
            </a:r>
            <a:r>
              <a:rPr lang="zh-CN" altLang="en-US" dirty="0">
                <a:ea typeface="华文楷体" pitchFamily="2" charset="-122"/>
              </a:rPr>
              <a:t>章 用例建模</a:t>
            </a:r>
            <a:endParaRPr lang="en-US" altLang="zh-CN" dirty="0">
              <a:ea typeface="华文楷体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60800"/>
            <a:ext cx="9144000" cy="1752600"/>
          </a:xfrm>
        </p:spPr>
        <p:txBody>
          <a:bodyPr/>
          <a:lstStyle/>
          <a:p>
            <a:pPr eaLnBrk="1" hangingPunct="1"/>
            <a:r>
              <a:rPr lang="en-US" altLang="zh-CN" i="1">
                <a:solidFill>
                  <a:srgbClr val="003399"/>
                </a:solidFill>
              </a:rPr>
              <a:t>Use Case Modeling</a:t>
            </a:r>
            <a:endParaRPr lang="zh-CN" altLang="en-US" i="1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BF42B38-5F48-4239-AF31-09361EB882F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</a:t>
            </a:r>
            <a:r>
              <a:rPr lang="en-US" altLang="zh-CN" dirty="0"/>
              <a:t>04</a:t>
            </a:r>
            <a:r>
              <a:rPr lang="zh-CN" altLang="en-US" dirty="0"/>
              <a:t>章 用例建模</a:t>
            </a:r>
            <a:endParaRPr lang="en-US" altLang="zh-CN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理解需求</a:t>
            </a:r>
            <a:endParaRPr lang="en-US" altLang="zh-CN" dirty="0"/>
          </a:p>
          <a:p>
            <a:pPr eaLnBrk="1" hangingPunct="1"/>
            <a:r>
              <a:rPr lang="zh-CN" altLang="en-US" dirty="0"/>
              <a:t>需求获取</a:t>
            </a:r>
          </a:p>
          <a:p>
            <a:pPr eaLnBrk="1" hangingPunct="1"/>
            <a:r>
              <a:rPr lang="zh-CN" altLang="en-US" dirty="0"/>
              <a:t>用例建模流程</a:t>
            </a:r>
          </a:p>
          <a:p>
            <a:pPr lvl="1" eaLnBrk="1" hangingPunct="1"/>
            <a:r>
              <a:rPr kumimoji="0" lang="zh-CN" altLang="en-US" dirty="0"/>
              <a:t>获取原始需求</a:t>
            </a:r>
          </a:p>
          <a:p>
            <a:pPr lvl="1" eaLnBrk="1" hangingPunct="1"/>
            <a:r>
              <a:rPr kumimoji="0" lang="zh-CN" altLang="en-US" dirty="0"/>
              <a:t>构建初始用例模型</a:t>
            </a:r>
          </a:p>
          <a:p>
            <a:pPr lvl="1" eaLnBrk="1" hangingPunct="1"/>
            <a:r>
              <a:rPr kumimoji="0" lang="zh-CN" altLang="en-US" dirty="0"/>
              <a:t>编写用例文档</a:t>
            </a:r>
          </a:p>
          <a:p>
            <a:pPr lvl="1" eaLnBrk="1" hangingPunct="1"/>
            <a:r>
              <a:rPr kumimoji="0" lang="zh-CN" altLang="en-US" dirty="0"/>
              <a:t>重构用例模型</a:t>
            </a:r>
            <a:endParaRPr kumimoji="0" lang="en-US" altLang="zh-CN" dirty="0"/>
          </a:p>
          <a:p>
            <a:pPr eaLnBrk="1" hangingPunct="1"/>
            <a:r>
              <a:rPr kumimoji="0" lang="zh-CN" altLang="en-US" dirty="0"/>
              <a:t>其他问题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0CB347B-D980-4A7F-859B-AA07807A55F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</a:t>
            </a:r>
            <a:r>
              <a:rPr lang="en-US" altLang="zh-CN" dirty="0"/>
              <a:t>04</a:t>
            </a:r>
            <a:r>
              <a:rPr lang="zh-CN" altLang="en-US" dirty="0"/>
              <a:t>章 用例建模</a:t>
            </a:r>
            <a:endParaRPr lang="en-US" altLang="zh-CN" dirty="0"/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理解需求</a:t>
            </a:r>
            <a:endParaRPr lang="en-US" altLang="zh-CN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dirty="0"/>
              <a:t>需求获取</a:t>
            </a:r>
          </a:p>
          <a:p>
            <a:pPr eaLnBrk="1" hangingPunct="1">
              <a:defRPr/>
            </a:pPr>
            <a:r>
              <a:rPr lang="zh-CN" altLang="en-US" dirty="0"/>
              <a:t>用例建模流程</a:t>
            </a:r>
          </a:p>
          <a:p>
            <a:pPr lvl="1" eaLnBrk="1" hangingPunct="1">
              <a:defRPr/>
            </a:pPr>
            <a:r>
              <a:rPr kumimoji="0" lang="zh-CN" altLang="en-US" dirty="0"/>
              <a:t>获取原始需求</a:t>
            </a:r>
          </a:p>
          <a:p>
            <a:pPr lvl="1" eaLnBrk="1" hangingPunct="1">
              <a:defRPr/>
            </a:pPr>
            <a:r>
              <a:rPr kumimoji="0" lang="zh-CN" altLang="en-US" dirty="0"/>
              <a:t>构建初始用例模型</a:t>
            </a:r>
          </a:p>
          <a:p>
            <a:pPr lvl="1" eaLnBrk="1" hangingPunct="1">
              <a:defRPr/>
            </a:pPr>
            <a:r>
              <a:rPr kumimoji="0" lang="zh-CN" altLang="en-US" dirty="0"/>
              <a:t>编写用例文档</a:t>
            </a:r>
          </a:p>
          <a:p>
            <a:pPr lvl="1" eaLnBrk="1" hangingPunct="1">
              <a:defRPr/>
            </a:pPr>
            <a:r>
              <a:rPr kumimoji="0" lang="zh-CN" altLang="en-US" dirty="0"/>
              <a:t>重构用例模型</a:t>
            </a:r>
            <a:endParaRPr kumimoji="0" lang="en-US" altLang="zh-CN" dirty="0"/>
          </a:p>
          <a:p>
            <a:pPr eaLnBrk="1" hangingPunct="1">
              <a:defRPr/>
            </a:pPr>
            <a:r>
              <a:rPr kumimoji="0" lang="zh-CN" altLang="en-US" dirty="0"/>
              <a:t>其他问题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1" y="981076"/>
            <a:ext cx="10872184" cy="5400675"/>
          </a:xfrm>
        </p:spPr>
        <p:txBody>
          <a:bodyPr/>
          <a:lstStyle/>
          <a:p>
            <a:pPr eaLnBrk="1" hangingPunct="1"/>
            <a:r>
              <a:rPr lang="zh-CN" altLang="en-US" dirty="0"/>
              <a:t>需求：客户可接受的、系统必须满足的条件或具备的能力</a:t>
            </a:r>
          </a:p>
          <a:p>
            <a:pPr eaLnBrk="1" hangingPunct="1"/>
            <a:r>
              <a:rPr lang="en-US" altLang="zh-CN" dirty="0"/>
              <a:t>RUP</a:t>
            </a:r>
            <a:r>
              <a:rPr lang="zh-CN" altLang="en-US" dirty="0"/>
              <a:t>中的</a:t>
            </a:r>
            <a:r>
              <a:rPr lang="en-US" altLang="zh-CN" dirty="0"/>
              <a:t>FURPS+</a:t>
            </a:r>
            <a:r>
              <a:rPr lang="zh-CN" altLang="en-US" dirty="0"/>
              <a:t>软件质量准则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功能性（</a:t>
            </a:r>
            <a:r>
              <a:rPr lang="en-US" altLang="zh-CN" dirty="0"/>
              <a:t>Functionality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使用性（</a:t>
            </a:r>
            <a:r>
              <a:rPr lang="en-US" altLang="zh-CN" dirty="0"/>
              <a:t>Usability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可靠性（</a:t>
            </a:r>
            <a:r>
              <a:rPr lang="en-US" altLang="zh-CN" dirty="0"/>
              <a:t>Reliability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性能（</a:t>
            </a:r>
            <a:r>
              <a:rPr lang="en-US" altLang="zh-CN" dirty="0"/>
              <a:t>Performance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可支持性（</a:t>
            </a:r>
            <a:r>
              <a:rPr lang="en-US" altLang="zh-CN" dirty="0"/>
              <a:t>Supportability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+</a:t>
            </a: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95D3BE0-3908-48E8-8F48-40BBC5249F2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</a:t>
            </a:r>
            <a:r>
              <a:rPr lang="en-US" altLang="zh-CN"/>
              <a:t>—</a:t>
            </a:r>
            <a:r>
              <a:rPr lang="zh-CN" altLang="en-US"/>
              <a:t>建造“正确”的系统</a:t>
            </a:r>
          </a:p>
        </p:txBody>
      </p:sp>
      <p:sp>
        <p:nvSpPr>
          <p:cNvPr id="8197" name="AutoShape 4"/>
          <p:cNvSpPr>
            <a:spLocks/>
          </p:cNvSpPr>
          <p:nvPr/>
        </p:nvSpPr>
        <p:spPr bwMode="auto">
          <a:xfrm>
            <a:off x="6452394" y="2780928"/>
            <a:ext cx="142875" cy="2319238"/>
          </a:xfrm>
          <a:prstGeom prst="rightBrace">
            <a:avLst>
              <a:gd name="adj1" fmla="val 20148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1925" name="Text Box 5"/>
          <p:cNvSpPr txBox="1">
            <a:spLocks noChangeArrowheads="1"/>
          </p:cNvSpPr>
          <p:nvPr/>
        </p:nvSpPr>
        <p:spPr bwMode="auto">
          <a:xfrm>
            <a:off x="6595269" y="3173041"/>
            <a:ext cx="21605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非功能性需求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需求工程的主要活动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定义需求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理解用户的需要，建立用户可理解的系统需求模型（第四章）</a:t>
            </a:r>
          </a:p>
          <a:p>
            <a:pPr>
              <a:defRPr/>
            </a:pPr>
            <a:r>
              <a:rPr lang="zh-CN" altLang="en-US" dirty="0"/>
              <a:t>分析需求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根据需求模型，建立开发者无二义性解释的分析模型（第五章）</a:t>
            </a:r>
          </a:p>
          <a:p>
            <a:pPr>
              <a:defRPr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需求管理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8351370-C42E-4ED6-A698-AB778C09399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C253C83-286F-4683-B6E7-5B8E0D7D993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需求难在何处：石头问题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我要一块石头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差不多，但我要小一点的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很好，不过我要蓝色的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啊，没有那么小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咳，还是原来那个好了</a:t>
            </a:r>
            <a:r>
              <a:rPr lang="en-US" altLang="zh-CN"/>
              <a:t>… </a:t>
            </a:r>
          </a:p>
        </p:txBody>
      </p:sp>
      <p:sp>
        <p:nvSpPr>
          <p:cNvPr id="723972" name="Text Box 4"/>
          <p:cNvSpPr txBox="1">
            <a:spLocks noChangeArrowheads="1"/>
          </p:cNvSpPr>
          <p:nvPr/>
        </p:nvSpPr>
        <p:spPr bwMode="auto">
          <a:xfrm>
            <a:off x="2063750" y="4797426"/>
            <a:ext cx="8064500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40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小一点的蓝色大理石</a:t>
            </a:r>
          </a:p>
        </p:txBody>
      </p:sp>
      <p:sp>
        <p:nvSpPr>
          <p:cNvPr id="723973" name="Text Box 5"/>
          <p:cNvSpPr txBox="1">
            <a:spLocks noChangeArrowheads="1"/>
          </p:cNvSpPr>
          <p:nvPr/>
        </p:nvSpPr>
        <p:spPr bwMode="auto">
          <a:xfrm>
            <a:off x="8982830" y="2058989"/>
            <a:ext cx="677108" cy="3025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eaVert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难捕获，易变！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1" grpId="0" build="p"/>
      <p:bldP spid="723972" grpId="0"/>
      <p:bldP spid="7239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38547B7-F6F3-49E3-9C6D-D2D014040EE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需求：也需要开发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2927350" y="1773239"/>
            <a:ext cx="1944688" cy="936625"/>
          </a:xfrm>
          <a:prstGeom prst="rect">
            <a:avLst/>
          </a:prstGeom>
          <a:solidFill>
            <a:srgbClr val="00FFFF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927351" y="1917701"/>
            <a:ext cx="2016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客户</a:t>
            </a:r>
            <a:r>
              <a:rPr kumimoji="0" lang="en-US" altLang="zh-CN" sz="2000">
                <a:solidFill>
                  <a:srgbClr val="000000"/>
                </a:solidFill>
                <a:latin typeface="Verdana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用户的要求</a:t>
            </a:r>
            <a:r>
              <a:rPr kumimoji="0" lang="en-US" altLang="zh-CN" sz="2000">
                <a:solidFill>
                  <a:srgbClr val="000000"/>
                </a:solidFill>
                <a:latin typeface="Verdana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想法</a:t>
            </a:r>
            <a:r>
              <a:rPr kumimoji="0" lang="en-US" altLang="zh-CN" sz="2000">
                <a:solidFill>
                  <a:srgbClr val="000000"/>
                </a:solidFill>
                <a:latin typeface="Verdana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期望</a:t>
            </a:r>
          </a:p>
        </p:txBody>
      </p:sp>
      <p:sp>
        <p:nvSpPr>
          <p:cNvPr id="724997" name="Line 5"/>
          <p:cNvSpPr>
            <a:spLocks noChangeShapeType="1"/>
          </p:cNvSpPr>
          <p:nvPr/>
        </p:nvSpPr>
        <p:spPr bwMode="auto">
          <a:xfrm>
            <a:off x="3863975" y="2781301"/>
            <a:ext cx="0" cy="143986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4998" name="Rectangle 6"/>
          <p:cNvSpPr>
            <a:spLocks noChangeArrowheads="1"/>
          </p:cNvSpPr>
          <p:nvPr/>
        </p:nvSpPr>
        <p:spPr bwMode="auto">
          <a:xfrm>
            <a:off x="6815139" y="4292601"/>
            <a:ext cx="1944687" cy="936625"/>
          </a:xfrm>
          <a:prstGeom prst="rect">
            <a:avLst/>
          </a:prstGeom>
          <a:solidFill>
            <a:srgbClr val="00FFFF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4999" name="Text Box 7"/>
          <p:cNvSpPr txBox="1">
            <a:spLocks noChangeArrowheads="1"/>
          </p:cNvSpPr>
          <p:nvPr/>
        </p:nvSpPr>
        <p:spPr bwMode="auto">
          <a:xfrm>
            <a:off x="6815138" y="4545014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软件设计</a:t>
            </a:r>
          </a:p>
        </p:txBody>
      </p:sp>
      <p:sp>
        <p:nvSpPr>
          <p:cNvPr id="725000" name="Rectangle 8"/>
          <p:cNvSpPr>
            <a:spLocks noChangeArrowheads="1"/>
          </p:cNvSpPr>
          <p:nvPr/>
        </p:nvSpPr>
        <p:spPr bwMode="auto">
          <a:xfrm>
            <a:off x="6815139" y="1809751"/>
            <a:ext cx="1944687" cy="936625"/>
          </a:xfrm>
          <a:prstGeom prst="rect">
            <a:avLst/>
          </a:prstGeom>
          <a:solidFill>
            <a:srgbClr val="00FFFF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5001" name="Text Box 9"/>
          <p:cNvSpPr txBox="1">
            <a:spLocks noChangeArrowheads="1"/>
          </p:cNvSpPr>
          <p:nvPr/>
        </p:nvSpPr>
        <p:spPr bwMode="auto">
          <a:xfrm>
            <a:off x="6815138" y="2062164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软件产品</a:t>
            </a:r>
          </a:p>
        </p:txBody>
      </p:sp>
      <p:sp>
        <p:nvSpPr>
          <p:cNvPr id="725002" name="Text Box 10"/>
          <p:cNvSpPr txBox="1">
            <a:spLocks noChangeArrowheads="1"/>
          </p:cNvSpPr>
          <p:nvPr/>
        </p:nvSpPr>
        <p:spPr bwMode="auto">
          <a:xfrm>
            <a:off x="3214689" y="3286126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开发</a:t>
            </a:r>
          </a:p>
        </p:txBody>
      </p:sp>
      <p:sp>
        <p:nvSpPr>
          <p:cNvPr id="725003" name="Line 11"/>
          <p:cNvSpPr>
            <a:spLocks noChangeShapeType="1"/>
          </p:cNvSpPr>
          <p:nvPr/>
        </p:nvSpPr>
        <p:spPr bwMode="auto">
          <a:xfrm flipH="1" flipV="1">
            <a:off x="7751763" y="2854325"/>
            <a:ext cx="0" cy="12954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04" name="Text Box 12"/>
          <p:cNvSpPr txBox="1">
            <a:spLocks noChangeArrowheads="1"/>
          </p:cNvSpPr>
          <p:nvPr/>
        </p:nvSpPr>
        <p:spPr bwMode="auto">
          <a:xfrm>
            <a:off x="7823200" y="3357564"/>
            <a:ext cx="1512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编码和测试</a:t>
            </a:r>
          </a:p>
        </p:txBody>
      </p:sp>
      <p:sp>
        <p:nvSpPr>
          <p:cNvPr id="725005" name="Line 13"/>
          <p:cNvSpPr>
            <a:spLocks noChangeShapeType="1"/>
          </p:cNvSpPr>
          <p:nvPr/>
        </p:nvSpPr>
        <p:spPr bwMode="auto">
          <a:xfrm flipH="1">
            <a:off x="4943475" y="2854325"/>
            <a:ext cx="2305050" cy="1582738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06" name="Text Box 14"/>
          <p:cNvSpPr txBox="1">
            <a:spLocks noChangeArrowheads="1"/>
          </p:cNvSpPr>
          <p:nvPr/>
        </p:nvSpPr>
        <p:spPr bwMode="auto">
          <a:xfrm>
            <a:off x="5375276" y="3357564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验收</a:t>
            </a:r>
          </a:p>
        </p:txBody>
      </p:sp>
      <p:sp>
        <p:nvSpPr>
          <p:cNvPr id="725007" name="Rectangle 15"/>
          <p:cNvSpPr>
            <a:spLocks noChangeArrowheads="1"/>
          </p:cNvSpPr>
          <p:nvPr/>
        </p:nvSpPr>
        <p:spPr bwMode="auto">
          <a:xfrm>
            <a:off x="2927350" y="4294189"/>
            <a:ext cx="1944688" cy="936625"/>
          </a:xfrm>
          <a:prstGeom prst="rect">
            <a:avLst/>
          </a:prstGeom>
          <a:solidFill>
            <a:srgbClr val="CCECFF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5008" name="Text Box 16"/>
          <p:cNvSpPr txBox="1">
            <a:spLocks noChangeArrowheads="1"/>
          </p:cNvSpPr>
          <p:nvPr/>
        </p:nvSpPr>
        <p:spPr bwMode="auto">
          <a:xfrm>
            <a:off x="2927350" y="4435476"/>
            <a:ext cx="1873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有价值的</a:t>
            </a:r>
            <a:b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</a:b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软件需求</a:t>
            </a:r>
          </a:p>
        </p:txBody>
      </p:sp>
      <p:sp>
        <p:nvSpPr>
          <p:cNvPr id="725009" name="Line 17"/>
          <p:cNvSpPr>
            <a:spLocks noChangeShapeType="1"/>
          </p:cNvSpPr>
          <p:nvPr/>
        </p:nvSpPr>
        <p:spPr bwMode="auto">
          <a:xfrm flipV="1">
            <a:off x="4943476" y="4725988"/>
            <a:ext cx="180022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10" name="Text Box 18"/>
          <p:cNvSpPr txBox="1">
            <a:spLocks noChangeArrowheads="1"/>
          </p:cNvSpPr>
          <p:nvPr/>
        </p:nvSpPr>
        <p:spPr bwMode="auto">
          <a:xfrm>
            <a:off x="5087939" y="4797426"/>
            <a:ext cx="1512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itchFamily="34" charset="0"/>
              </a:rPr>
              <a:t>分析和设计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2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7" grpId="0" animBg="1"/>
      <p:bldP spid="724998" grpId="0" animBg="1"/>
      <p:bldP spid="724999" grpId="0"/>
      <p:bldP spid="725000" grpId="0" animBg="1"/>
      <p:bldP spid="725001" grpId="0"/>
      <p:bldP spid="725002" grpId="0"/>
      <p:bldP spid="725003" grpId="0" animBg="1"/>
      <p:bldP spid="725004" grpId="0"/>
      <p:bldP spid="725005" grpId="0" animBg="1"/>
      <p:bldP spid="725006" grpId="0"/>
      <p:bldP spid="725007" grpId="0" animBg="1"/>
      <p:bldP spid="725008" grpId="0"/>
      <p:bldP spid="725009" grpId="0" animBg="1"/>
      <p:bldP spid="7250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5432086-CCC8-411F-ADAF-B00CFBD20FD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需求问题：对策</a:t>
            </a: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2424114" y="2543176"/>
            <a:ext cx="13684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难捕获</a:t>
            </a: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2425700" y="4062413"/>
            <a:ext cx="1714500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易变</a:t>
            </a:r>
          </a:p>
        </p:txBody>
      </p:sp>
      <p:sp>
        <p:nvSpPr>
          <p:cNvPr id="726021" name="Text Box 5"/>
          <p:cNvSpPr txBox="1">
            <a:spLocks noChangeArrowheads="1"/>
          </p:cNvSpPr>
          <p:nvPr/>
        </p:nvSpPr>
        <p:spPr bwMode="auto">
          <a:xfrm>
            <a:off x="4368801" y="2492376"/>
            <a:ext cx="3167063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从用户视角看问题</a:t>
            </a:r>
          </a:p>
        </p:txBody>
      </p:sp>
      <p:sp>
        <p:nvSpPr>
          <p:cNvPr id="726022" name="Text Box 6"/>
          <p:cNvSpPr txBox="1">
            <a:spLocks noChangeArrowheads="1"/>
          </p:cNvSpPr>
          <p:nvPr/>
        </p:nvSpPr>
        <p:spPr bwMode="auto">
          <a:xfrm>
            <a:off x="4367213" y="4062413"/>
            <a:ext cx="3340100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合理的结构</a:t>
            </a:r>
          </a:p>
        </p:txBody>
      </p:sp>
      <p:sp>
        <p:nvSpPr>
          <p:cNvPr id="726023" name="Text Box 7"/>
          <p:cNvSpPr txBox="1">
            <a:spLocks noChangeArrowheads="1"/>
          </p:cNvSpPr>
          <p:nvPr/>
        </p:nvSpPr>
        <p:spPr bwMode="auto">
          <a:xfrm>
            <a:off x="8831264" y="3349625"/>
            <a:ext cx="1152525" cy="579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用例</a:t>
            </a:r>
          </a:p>
        </p:txBody>
      </p:sp>
      <p:sp>
        <p:nvSpPr>
          <p:cNvPr id="726024" name="AutoShape 8"/>
          <p:cNvSpPr>
            <a:spLocks noChangeArrowheads="1"/>
          </p:cNvSpPr>
          <p:nvPr/>
        </p:nvSpPr>
        <p:spPr bwMode="auto">
          <a:xfrm>
            <a:off x="3789364" y="2563814"/>
            <a:ext cx="649287" cy="485775"/>
          </a:xfrm>
          <a:prstGeom prst="rightArrow">
            <a:avLst>
              <a:gd name="adj1" fmla="val 50000"/>
              <a:gd name="adj2" fmla="val 33415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5" name="AutoShape 9"/>
          <p:cNvSpPr>
            <a:spLocks noChangeArrowheads="1"/>
          </p:cNvSpPr>
          <p:nvPr/>
        </p:nvSpPr>
        <p:spPr bwMode="auto">
          <a:xfrm>
            <a:off x="7680325" y="3435351"/>
            <a:ext cx="1150938" cy="485775"/>
          </a:xfrm>
          <a:prstGeom prst="rightArrow">
            <a:avLst>
              <a:gd name="adj1" fmla="val 50000"/>
              <a:gd name="adj2" fmla="val 59232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6" name="AutoShape 10"/>
          <p:cNvSpPr>
            <a:spLocks/>
          </p:cNvSpPr>
          <p:nvPr/>
        </p:nvSpPr>
        <p:spPr bwMode="auto">
          <a:xfrm>
            <a:off x="7464426" y="2643189"/>
            <a:ext cx="73025" cy="1944687"/>
          </a:xfrm>
          <a:prstGeom prst="rightBrace">
            <a:avLst>
              <a:gd name="adj1" fmla="val 22192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7" name="AutoShape 11"/>
          <p:cNvSpPr>
            <a:spLocks noChangeArrowheads="1"/>
          </p:cNvSpPr>
          <p:nvPr/>
        </p:nvSpPr>
        <p:spPr bwMode="auto">
          <a:xfrm>
            <a:off x="3790950" y="4095751"/>
            <a:ext cx="649288" cy="485775"/>
          </a:xfrm>
          <a:prstGeom prst="rightArrow">
            <a:avLst>
              <a:gd name="adj1" fmla="val 50000"/>
              <a:gd name="adj2" fmla="val 33415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/>
      <p:bldP spid="726020" grpId="0"/>
      <p:bldP spid="726021" grpId="0"/>
      <p:bldP spid="726022" grpId="0"/>
      <p:bldP spid="726023" grpId="0"/>
      <p:bldP spid="726024" grpId="0" animBg="1"/>
      <p:bldP spid="726025" grpId="0" animBg="1"/>
      <p:bldP spid="726026" grpId="0" animBg="1"/>
      <p:bldP spid="7260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458B7C3-8E1E-4A41-BD57-A0AA88F11D3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以用例为中心组织需求</a:t>
            </a:r>
          </a:p>
        </p:txBody>
      </p:sp>
      <p:sp>
        <p:nvSpPr>
          <p:cNvPr id="727043" name="Oval 3"/>
          <p:cNvSpPr>
            <a:spLocks noChangeArrowheads="1"/>
          </p:cNvSpPr>
          <p:nvPr/>
        </p:nvSpPr>
        <p:spPr bwMode="auto">
          <a:xfrm>
            <a:off x="5521325" y="3214688"/>
            <a:ext cx="1150938" cy="10795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44" name="Oval 4"/>
          <p:cNvSpPr>
            <a:spLocks noChangeArrowheads="1"/>
          </p:cNvSpPr>
          <p:nvPr/>
        </p:nvSpPr>
        <p:spPr bwMode="auto">
          <a:xfrm>
            <a:off x="5449888" y="3141663"/>
            <a:ext cx="1295400" cy="1223962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45" name="Text Box 5"/>
          <p:cNvSpPr txBox="1">
            <a:spLocks noChangeArrowheads="1"/>
          </p:cNvSpPr>
          <p:nvPr/>
        </p:nvSpPr>
        <p:spPr bwMode="auto">
          <a:xfrm>
            <a:off x="5592763" y="3500438"/>
            <a:ext cx="1008062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用例</a:t>
            </a:r>
          </a:p>
        </p:txBody>
      </p:sp>
      <p:sp>
        <p:nvSpPr>
          <p:cNvPr id="727046" name="Oval 6"/>
          <p:cNvSpPr>
            <a:spLocks noChangeArrowheads="1"/>
          </p:cNvSpPr>
          <p:nvPr/>
        </p:nvSpPr>
        <p:spPr bwMode="auto">
          <a:xfrm>
            <a:off x="3649663" y="1412876"/>
            <a:ext cx="4895850" cy="4537075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47" name="Line 7"/>
          <p:cNvSpPr>
            <a:spLocks noChangeShapeType="1"/>
          </p:cNvSpPr>
          <p:nvPr/>
        </p:nvSpPr>
        <p:spPr bwMode="auto">
          <a:xfrm flipV="1">
            <a:off x="6600825" y="2133601"/>
            <a:ext cx="1225550" cy="1223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48" name="Line 8"/>
          <p:cNvSpPr>
            <a:spLocks noChangeShapeType="1"/>
          </p:cNvSpPr>
          <p:nvPr/>
        </p:nvSpPr>
        <p:spPr bwMode="auto">
          <a:xfrm>
            <a:off x="6745289" y="3860801"/>
            <a:ext cx="1800225" cy="144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49" name="Line 9"/>
          <p:cNvSpPr>
            <a:spLocks noChangeShapeType="1"/>
          </p:cNvSpPr>
          <p:nvPr/>
        </p:nvSpPr>
        <p:spPr bwMode="auto">
          <a:xfrm flipV="1">
            <a:off x="6097589" y="1412875"/>
            <a:ext cx="71437" cy="1728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0" name="Line 10"/>
          <p:cNvSpPr>
            <a:spLocks noChangeShapeType="1"/>
          </p:cNvSpPr>
          <p:nvPr/>
        </p:nvSpPr>
        <p:spPr bwMode="auto">
          <a:xfrm flipH="1" flipV="1">
            <a:off x="4440238" y="2060576"/>
            <a:ext cx="1223962" cy="1223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1" name="Line 11"/>
          <p:cNvSpPr>
            <a:spLocks noChangeShapeType="1"/>
          </p:cNvSpPr>
          <p:nvPr/>
        </p:nvSpPr>
        <p:spPr bwMode="auto">
          <a:xfrm flipH="1">
            <a:off x="4224339" y="4149726"/>
            <a:ext cx="1368425" cy="10080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2" name="Line 12"/>
          <p:cNvSpPr>
            <a:spLocks noChangeShapeType="1"/>
          </p:cNvSpPr>
          <p:nvPr/>
        </p:nvSpPr>
        <p:spPr bwMode="auto">
          <a:xfrm>
            <a:off x="6024563" y="4365626"/>
            <a:ext cx="0" cy="15843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3" name="Line 13"/>
          <p:cNvSpPr>
            <a:spLocks noChangeShapeType="1"/>
          </p:cNvSpPr>
          <p:nvPr/>
        </p:nvSpPr>
        <p:spPr bwMode="auto">
          <a:xfrm>
            <a:off x="6529388" y="4221164"/>
            <a:ext cx="1223962" cy="1152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4" name="Line 14"/>
          <p:cNvSpPr>
            <a:spLocks noChangeShapeType="1"/>
          </p:cNvSpPr>
          <p:nvPr/>
        </p:nvSpPr>
        <p:spPr bwMode="auto">
          <a:xfrm flipH="1">
            <a:off x="3648076" y="3717925"/>
            <a:ext cx="18002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5" name="Text Box 15"/>
          <p:cNvSpPr txBox="1">
            <a:spLocks noChangeArrowheads="1"/>
          </p:cNvSpPr>
          <p:nvPr/>
        </p:nvSpPr>
        <p:spPr bwMode="auto">
          <a:xfrm>
            <a:off x="6240464" y="2205039"/>
            <a:ext cx="1152525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可支持性</a:t>
            </a:r>
          </a:p>
        </p:txBody>
      </p:sp>
      <p:sp>
        <p:nvSpPr>
          <p:cNvPr id="727056" name="Text Box 16"/>
          <p:cNvSpPr txBox="1">
            <a:spLocks noChangeArrowheads="1"/>
          </p:cNvSpPr>
          <p:nvPr/>
        </p:nvSpPr>
        <p:spPr bwMode="auto">
          <a:xfrm>
            <a:off x="7032626" y="3141664"/>
            <a:ext cx="1439863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数据需求</a:t>
            </a:r>
          </a:p>
        </p:txBody>
      </p:sp>
      <p:sp>
        <p:nvSpPr>
          <p:cNvPr id="727057" name="Text Box 17"/>
          <p:cNvSpPr txBox="1">
            <a:spLocks noChangeArrowheads="1"/>
          </p:cNvSpPr>
          <p:nvPr/>
        </p:nvSpPr>
        <p:spPr bwMode="auto">
          <a:xfrm>
            <a:off x="6889750" y="4141788"/>
            <a:ext cx="1511300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业务规则</a:t>
            </a:r>
          </a:p>
        </p:txBody>
      </p:sp>
      <p:sp>
        <p:nvSpPr>
          <p:cNvPr id="727058" name="Text Box 18"/>
          <p:cNvSpPr txBox="1">
            <a:spLocks noChangeArrowheads="1"/>
          </p:cNvSpPr>
          <p:nvPr/>
        </p:nvSpPr>
        <p:spPr bwMode="auto">
          <a:xfrm>
            <a:off x="6097588" y="4933950"/>
            <a:ext cx="12954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设计约束</a:t>
            </a:r>
          </a:p>
        </p:txBody>
      </p: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4945064" y="4791076"/>
            <a:ext cx="1296987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en-US" altLang="zh-CN" sz="180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宋体" charset="-122"/>
              </a:rPr>
              <a:t>……</a:t>
            </a:r>
            <a:endParaRPr kumimoji="0" lang="en-US" altLang="zh-CN" sz="180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宋体" charset="-122"/>
            </a:endParaRP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4008439" y="3998914"/>
            <a:ext cx="1584325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可用性</a:t>
            </a: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4008439" y="3062289"/>
            <a:ext cx="1368425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可靠性</a:t>
            </a:r>
          </a:p>
        </p:txBody>
      </p:sp>
      <p:sp>
        <p:nvSpPr>
          <p:cNvPr id="727062" name="Text Box 22"/>
          <p:cNvSpPr txBox="1">
            <a:spLocks noChangeArrowheads="1"/>
          </p:cNvSpPr>
          <p:nvPr/>
        </p:nvSpPr>
        <p:spPr bwMode="auto">
          <a:xfrm>
            <a:off x="4943475" y="2205038"/>
            <a:ext cx="1296988" cy="3667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2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2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2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2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animBg="1"/>
      <p:bldP spid="727044" grpId="0" animBg="1"/>
      <p:bldP spid="727045" grpId="0"/>
      <p:bldP spid="727046" grpId="0" animBg="1"/>
      <p:bldP spid="727047" grpId="0" animBg="1"/>
      <p:bldP spid="727048" grpId="0" animBg="1"/>
      <p:bldP spid="727049" grpId="0" animBg="1"/>
      <p:bldP spid="727050" grpId="0" animBg="1"/>
      <p:bldP spid="727051" grpId="0" animBg="1"/>
      <p:bldP spid="727052" grpId="0" animBg="1"/>
      <p:bldP spid="727053" grpId="0" animBg="1"/>
      <p:bldP spid="727054" grpId="0" animBg="1"/>
      <p:bldP spid="727055" grpId="0"/>
      <p:bldP spid="727056" grpId="0"/>
      <p:bldP spid="727057" grpId="0"/>
      <p:bldP spid="727058" grpId="0"/>
      <p:bldP spid="727059" grpId="0"/>
      <p:bldP spid="727060" grpId="0"/>
      <p:bldP spid="727061" grpId="0"/>
      <p:bldP spid="7270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7974309-1339-4FC4-BD11-30C3ABB6874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用例的昨天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zh-CN" dirty="0"/>
              <a:t>Use Cases —Yesterday, Today and Tomorrow</a:t>
            </a:r>
            <a:r>
              <a:rPr lang="zh-CN" altLang="en-US" dirty="0"/>
              <a:t>（</a:t>
            </a:r>
            <a:r>
              <a:rPr lang="en-US" altLang="zh-CN" dirty="0" err="1"/>
              <a:t>Ivar</a:t>
            </a:r>
            <a:r>
              <a:rPr lang="en-US" altLang="zh-CN" dirty="0"/>
              <a:t> Jacobson, The Rational Edge, 2003.3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70000"/>
              </a:lnSpc>
            </a:pPr>
            <a:r>
              <a:rPr lang="zh-CN" altLang="en-US" dirty="0"/>
              <a:t>萌芽期（</a:t>
            </a:r>
            <a:r>
              <a:rPr lang="en-US" altLang="zh-CN" dirty="0"/>
              <a:t>1967-1986</a:t>
            </a:r>
            <a:r>
              <a:rPr lang="zh-CN" altLang="en-US" dirty="0"/>
              <a:t>）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zh-CN" dirty="0" err="1"/>
              <a:t>Ivar</a:t>
            </a:r>
            <a:r>
              <a:rPr lang="en-US" altLang="zh-CN" dirty="0"/>
              <a:t> Jacobson</a:t>
            </a:r>
            <a:r>
              <a:rPr lang="zh-CN" altLang="en-US" dirty="0"/>
              <a:t>在爱立信，把各种不同类型的电话呼叫称为</a:t>
            </a:r>
            <a:r>
              <a:rPr lang="en-US" altLang="zh-CN" dirty="0"/>
              <a:t>traffic case</a:t>
            </a:r>
            <a:r>
              <a:rPr lang="zh-CN" altLang="en-US" dirty="0"/>
              <a:t>，而完成呼叫则需要交换机具备相应的功能</a:t>
            </a:r>
            <a:r>
              <a:rPr lang="en-US" altLang="zh-CN" dirty="0"/>
              <a:t>function</a:t>
            </a:r>
            <a:r>
              <a:rPr lang="zh-CN" altLang="en-US" dirty="0"/>
              <a:t>或特征</a:t>
            </a:r>
            <a:r>
              <a:rPr lang="en-US" altLang="zh-CN" dirty="0"/>
              <a:t>feature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zh-CN" dirty="0"/>
              <a:t>1986</a:t>
            </a:r>
            <a:r>
              <a:rPr lang="zh-CN" altLang="en-US" dirty="0"/>
              <a:t>年，提出术语</a:t>
            </a:r>
            <a:r>
              <a:rPr lang="en-US" altLang="zh-CN" dirty="0"/>
              <a:t>use case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zh-CN" dirty="0"/>
              <a:t>1987</a:t>
            </a:r>
            <a:r>
              <a:rPr lang="zh-CN" altLang="en-US" dirty="0"/>
              <a:t>年，</a:t>
            </a:r>
            <a:r>
              <a:rPr lang="en-US" altLang="zh-CN" dirty="0"/>
              <a:t>OOPSLA’86</a:t>
            </a:r>
            <a:r>
              <a:rPr lang="zh-CN" altLang="en-US" dirty="0"/>
              <a:t>采用</a:t>
            </a:r>
            <a:r>
              <a:rPr lang="en-US" altLang="zh-CN" dirty="0"/>
              <a:t>Jacobson</a:t>
            </a:r>
            <a:r>
              <a:rPr lang="zh-CN" altLang="en-US" dirty="0"/>
              <a:t>论文，用例诞生</a:t>
            </a:r>
          </a:p>
          <a:p>
            <a:pPr lvl="1" eaLnBrk="1" hangingPunct="1">
              <a:lnSpc>
                <a:spcPct val="70000"/>
              </a:lnSpc>
            </a:pPr>
            <a:r>
              <a:rPr lang="zh-CN" altLang="en-US" dirty="0"/>
              <a:t>成熟期（</a:t>
            </a:r>
            <a:r>
              <a:rPr lang="en-US" altLang="zh-CN" dirty="0"/>
              <a:t>1987-1992</a:t>
            </a:r>
            <a:r>
              <a:rPr lang="zh-CN" altLang="en-US" dirty="0"/>
              <a:t>）</a:t>
            </a:r>
          </a:p>
          <a:p>
            <a:pPr lvl="2" eaLnBrk="1" hangingPunct="1">
              <a:lnSpc>
                <a:spcPct val="70000"/>
              </a:lnSpc>
            </a:pPr>
            <a:r>
              <a:rPr lang="en-US" altLang="zh-CN" dirty="0" err="1"/>
              <a:t>Objectory</a:t>
            </a:r>
            <a:r>
              <a:rPr lang="en-US" altLang="zh-CN" dirty="0"/>
              <a:t> AB</a:t>
            </a:r>
            <a:r>
              <a:rPr lang="zh-CN" altLang="en-US" dirty="0"/>
              <a:t>公司，以用例内容为核心的</a:t>
            </a:r>
            <a:r>
              <a:rPr lang="en-US" altLang="zh-CN" dirty="0" err="1"/>
              <a:t>Objectory</a:t>
            </a:r>
            <a:r>
              <a:rPr lang="en-US" altLang="zh-CN" dirty="0"/>
              <a:t> Process</a:t>
            </a:r>
            <a:r>
              <a:rPr lang="zh-CN" altLang="en-US" dirty="0"/>
              <a:t>（对象工厂过程）</a:t>
            </a:r>
          </a:p>
          <a:p>
            <a:pPr lvl="1" eaLnBrk="1" hangingPunct="1">
              <a:lnSpc>
                <a:spcPct val="70000"/>
              </a:lnSpc>
            </a:pPr>
            <a:r>
              <a:rPr lang="zh-CN" altLang="en-US" dirty="0"/>
              <a:t>发展期（</a:t>
            </a:r>
            <a:r>
              <a:rPr lang="en-US" altLang="zh-CN" dirty="0"/>
              <a:t>1992-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 eaLnBrk="1" hangingPunct="1">
              <a:lnSpc>
                <a:spcPct val="70000"/>
              </a:lnSpc>
            </a:pPr>
            <a:r>
              <a:rPr lang="zh-CN" altLang="en-US" dirty="0"/>
              <a:t>用例在面向对象方法中的应用，并成为</a:t>
            </a:r>
            <a:r>
              <a:rPr lang="en-US" altLang="zh-CN" dirty="0"/>
              <a:t>UML</a:t>
            </a:r>
            <a:r>
              <a:rPr lang="zh-CN" altLang="en-US" dirty="0"/>
              <a:t>的一部分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03ECDE6-B7E4-4897-BBCA-17228FB8E0A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</a:t>
            </a:r>
            <a:r>
              <a:rPr lang="en-US" altLang="zh-CN" dirty="0"/>
              <a:t>04</a:t>
            </a:r>
            <a:r>
              <a:rPr lang="zh-CN" altLang="en-US" dirty="0"/>
              <a:t>章 用例建模</a:t>
            </a:r>
            <a:endParaRPr lang="en-US" altLang="zh-CN" dirty="0"/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理解需求</a:t>
            </a:r>
            <a:endParaRPr lang="en-US" altLang="zh-CN" dirty="0">
              <a:solidFill>
                <a:srgbClr val="4D4D4D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需求获取</a:t>
            </a:r>
          </a:p>
          <a:p>
            <a:pPr eaLnBrk="1" hangingPunct="1">
              <a:defRPr/>
            </a:pPr>
            <a:r>
              <a:rPr lang="zh-CN" altLang="en-US" dirty="0"/>
              <a:t>用例建模流程</a:t>
            </a:r>
          </a:p>
          <a:p>
            <a:pPr lvl="1" eaLnBrk="1" hangingPunct="1">
              <a:defRPr/>
            </a:pPr>
            <a:r>
              <a:rPr kumimoji="0" lang="zh-CN" altLang="en-US" dirty="0"/>
              <a:t>获取原始需求</a:t>
            </a:r>
          </a:p>
          <a:p>
            <a:pPr lvl="1" eaLnBrk="1" hangingPunct="1">
              <a:defRPr/>
            </a:pPr>
            <a:r>
              <a:rPr kumimoji="0" lang="zh-CN" altLang="en-US" dirty="0"/>
              <a:t>构建初始用例模型</a:t>
            </a:r>
          </a:p>
          <a:p>
            <a:pPr lvl="1" eaLnBrk="1" hangingPunct="1">
              <a:defRPr/>
            </a:pPr>
            <a:r>
              <a:rPr kumimoji="0" lang="zh-CN" altLang="en-US" dirty="0"/>
              <a:t>编写用例文档</a:t>
            </a:r>
          </a:p>
          <a:p>
            <a:pPr lvl="1" eaLnBrk="1" hangingPunct="1">
              <a:defRPr/>
            </a:pPr>
            <a:r>
              <a:rPr kumimoji="0" lang="zh-CN" altLang="en-US" dirty="0"/>
              <a:t>重构用例模型</a:t>
            </a:r>
            <a:endParaRPr kumimoji="0" lang="en-US" altLang="zh-CN" dirty="0"/>
          </a:p>
          <a:p>
            <a:pPr eaLnBrk="1" hangingPunct="1">
              <a:defRPr/>
            </a:pPr>
            <a:r>
              <a:rPr kumimoji="0" lang="zh-CN" altLang="en-US" dirty="0"/>
              <a:t>其他问题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612D75A-CEAC-4382-B2F0-F17502E4169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需求获取</a:t>
            </a:r>
            <a:endParaRPr lang="en-US" altLang="zh-CN"/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有业务模型：从业务模型获取需求</a:t>
            </a:r>
          </a:p>
          <a:p>
            <a:pPr lvl="1" eaLnBrk="1" hangingPunct="1">
              <a:defRPr/>
            </a:pPr>
            <a:r>
              <a:rPr lang="zh-CN" altLang="en-US" dirty="0"/>
              <a:t>从业务用例模型中寻找系统改进点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结合项目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远景</a:t>
            </a:r>
            <a:r>
              <a:rPr lang="zh-CN" altLang="en-US" dirty="0"/>
              <a:t>，获取系统用例来表达需求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无业务模型：采用需求启发技术，从涉众获得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60023A1-2AFE-4428-8ABB-0C2F0A3F917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从业务模型获取需求</a:t>
            </a:r>
            <a:endParaRPr lang="en-US" altLang="zh-CN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从业务用例模型中获取系统需求，来构建系统用例模型</a:t>
            </a:r>
          </a:p>
          <a:p>
            <a:pPr lvl="1" eaLnBrk="1" hangingPunct="1"/>
            <a:r>
              <a:rPr lang="en-US" altLang="zh-CN"/>
              <a:t>1. </a:t>
            </a:r>
            <a:r>
              <a:rPr lang="zh-CN" altLang="en-US"/>
              <a:t>寻找业务改进点</a:t>
            </a:r>
          </a:p>
          <a:p>
            <a:pPr lvl="1" eaLnBrk="1" hangingPunct="1"/>
            <a:r>
              <a:rPr lang="en-US" altLang="zh-CN"/>
              <a:t>2. </a:t>
            </a:r>
            <a:r>
              <a:rPr lang="zh-CN" altLang="en-US"/>
              <a:t>定义项目远景</a:t>
            </a:r>
          </a:p>
          <a:p>
            <a:pPr lvl="1" eaLnBrk="1" hangingPunct="1"/>
            <a:r>
              <a:rPr lang="en-US" altLang="zh-CN"/>
              <a:t>3. </a:t>
            </a:r>
            <a:r>
              <a:rPr lang="zh-CN" altLang="en-US"/>
              <a:t>导出系统需求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9358A09-FD69-4445-AE3C-41172D17A7C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 </a:t>
            </a:r>
            <a:r>
              <a:rPr lang="zh-CN" altLang="en-US"/>
              <a:t>业务改进点</a:t>
            </a:r>
            <a:endParaRPr lang="en-US" altLang="zh-CN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业务模型描述业务现状，这些现状：</a:t>
            </a:r>
          </a:p>
          <a:p>
            <a:pPr lvl="1" eaLnBrk="1" hangingPunct="1"/>
            <a:r>
              <a:rPr lang="zh-CN" altLang="en-US"/>
              <a:t>有些可能一直运转的很好，不需要改进，也就没有必要作为软件需求来由系统实现</a:t>
            </a:r>
          </a:p>
          <a:p>
            <a:pPr lvl="1" eaLnBrk="1" hangingPunct="1"/>
            <a:r>
              <a:rPr lang="zh-CN" altLang="en-US"/>
              <a:t>而另外可能更多的业务在运转过程中存在这样或那样的问题，这些问题就成为业务待改进的改进点，也就很可能作为软件需求而存在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436B348-45C8-479B-A117-2573FFD8519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寻找业务改进点</a:t>
            </a:r>
            <a:endParaRPr lang="en-US" altLang="zh-CN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从业务流程中获取改进点的思路：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流程控制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复杂业务逻辑</a:t>
            </a:r>
          </a:p>
          <a:p>
            <a:pPr lvl="1" eaLnBrk="1" hangingPunct="1"/>
            <a:r>
              <a:rPr kumimoji="0" lang="zh-CN" altLang="en-US" dirty="0"/>
              <a:t>使用作业务对象</a:t>
            </a:r>
          </a:p>
          <a:p>
            <a:pPr lvl="1" eaLnBrk="1" hangingPunct="1"/>
            <a:r>
              <a:rPr kumimoji="0" lang="zh-CN" altLang="en-US" dirty="0"/>
              <a:t>自动化业务</a:t>
            </a:r>
          </a:p>
          <a:p>
            <a:pPr lvl="1" eaLnBrk="1" hangingPunct="1"/>
            <a:r>
              <a:rPr kumimoji="0" lang="en-US" altLang="zh-CN" dirty="0"/>
              <a:t>……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8E9B691-4F99-4F21-89A5-D13E9BFE19B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改进点</a:t>
            </a:r>
            <a:r>
              <a:rPr lang="en-US" altLang="zh-CN" dirty="0"/>
              <a:t>1</a:t>
            </a:r>
            <a:r>
              <a:rPr lang="zh-CN" altLang="en-US" dirty="0"/>
              <a:t>：流程控制</a:t>
            </a:r>
            <a:endParaRPr lang="en-US" altLang="zh-CN" dirty="0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2133600"/>
            <a:ext cx="55530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62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1773239"/>
            <a:ext cx="17716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6D0DE95-211A-4133-A5DC-505BED2DBE6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改进点</a:t>
            </a:r>
            <a:r>
              <a:rPr lang="en-US" altLang="zh-CN" dirty="0"/>
              <a:t>2</a:t>
            </a:r>
            <a:r>
              <a:rPr lang="zh-CN" altLang="en-US" dirty="0"/>
              <a:t>：复杂业务逻辑</a:t>
            </a:r>
            <a:endParaRPr lang="en-US" altLang="zh-CN" dirty="0"/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505869"/>
            <a:ext cx="28194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AABD33F-C3F6-4CE9-8912-715328B1EA2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改进点</a:t>
            </a:r>
            <a:r>
              <a:rPr lang="en-US" altLang="zh-CN" dirty="0"/>
              <a:t>3</a:t>
            </a:r>
            <a:r>
              <a:rPr lang="zh-CN" altLang="en-US" dirty="0"/>
              <a:t>：访问和操作业务对象</a:t>
            </a:r>
            <a:endParaRPr lang="en-US" altLang="zh-CN" dirty="0"/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9" y="1916113"/>
            <a:ext cx="6264275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9AB68DC-EFFA-444B-B1B1-1B9564F458A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改进点</a:t>
            </a:r>
            <a:r>
              <a:rPr lang="en-US" altLang="zh-CN" dirty="0"/>
              <a:t>4</a:t>
            </a:r>
            <a:r>
              <a:rPr lang="zh-CN" altLang="en-US" dirty="0"/>
              <a:t>：自动化业务</a:t>
            </a:r>
            <a:endParaRPr lang="en-US" altLang="zh-CN" dirty="0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708276"/>
            <a:ext cx="37147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93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1" y="1628775"/>
            <a:ext cx="24288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7B8BF18-BDDC-4552-BAA9-DABE2E44C63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远景</a:t>
            </a:r>
            <a:r>
              <a:rPr lang="en-US" altLang="zh-CN"/>
              <a:t>(Vision)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/>
              <a:t>系统改进点不等同于软件需求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/>
              <a:t>用户根据自身的工作特点和支付能力决定哪些应该改进，哪些不需要改进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/>
              <a:t>这就是用户的远景，它表明用户改进的目标，这也将成为项目的目标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/>
              <a:t>业务模型描述了“现实是什么”，远景则描述“希望的改进” 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/>
              <a:t>远景表达了“为什么要开发这个系统”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/>
              <a:t>在业务现状</a:t>
            </a:r>
            <a:r>
              <a:rPr lang="en-US" altLang="zh-CN"/>
              <a:t>(</a:t>
            </a:r>
            <a:r>
              <a:rPr lang="zh-CN" altLang="en-US"/>
              <a:t>业务模型</a:t>
            </a:r>
            <a:r>
              <a:rPr lang="en-US" altLang="zh-CN"/>
              <a:t>)</a:t>
            </a:r>
            <a:r>
              <a:rPr lang="zh-CN" altLang="en-US"/>
              <a:t>下，开发系统是为了达到什么目标？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ED79E87-1353-442A-8A82-00452FA4A26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定义项目远景</a:t>
            </a:r>
            <a:endParaRPr lang="en-US" altLang="zh-CN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远景包含了对待开发系统的目标和约束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代表了项目涉及的所有人之间达成的第一个共识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是项目核心需求的概览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为更详细的技术需求提供了契约性的依据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指导团队实现具体的业务目标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远景的作用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最初，根据项目的远景目标来决定项目是否值得继续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在项目批准后，团队根据项目远景来指导后续的需求和设计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74248B7-B269-49D2-932D-15792462125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远景说明</a:t>
            </a:r>
            <a:endParaRPr lang="en-US" altLang="zh-CN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远景可以作为一个单独的文档存在，而这其中最重要的部分就是关于远景目标的说明，它建立了一个项目涉及的所有人的共同目标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远景说明应该是精确、清晰和激励性的描述，以便激励所有的团队成员为达成该远景而努力。一个好的远景应该具有以下五个特点</a:t>
            </a:r>
            <a:r>
              <a:rPr lang="en-US" altLang="zh-CN" sz="2800"/>
              <a:t>(SMART)</a:t>
            </a:r>
            <a:r>
              <a:rPr lang="zh-CN" altLang="en-US" sz="2800"/>
              <a:t>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具体的（</a:t>
            </a:r>
            <a:r>
              <a:rPr lang="en-US" altLang="zh-CN" sz="2400"/>
              <a:t>Specific</a:t>
            </a:r>
            <a:r>
              <a:rPr lang="zh-CN" altLang="en-US" sz="240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可测量的（</a:t>
            </a:r>
            <a:r>
              <a:rPr lang="en-US" altLang="zh-CN" sz="2400"/>
              <a:t>Measurable</a:t>
            </a:r>
            <a:r>
              <a:rPr lang="zh-CN" altLang="en-US" sz="240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可实现的（</a:t>
            </a:r>
            <a:r>
              <a:rPr lang="en-US" altLang="zh-CN" sz="2400"/>
              <a:t>Achievable</a:t>
            </a:r>
            <a:r>
              <a:rPr lang="zh-CN" altLang="en-US" sz="240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相关的（</a:t>
            </a:r>
            <a:r>
              <a:rPr lang="en-US" altLang="zh-CN" sz="2400"/>
              <a:t>Relevant</a:t>
            </a:r>
            <a:r>
              <a:rPr lang="zh-CN" altLang="en-US" sz="240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基于时间的（</a:t>
            </a:r>
            <a:r>
              <a:rPr lang="en-US" altLang="zh-CN" sz="2400"/>
              <a:t>Time-based</a:t>
            </a:r>
            <a:r>
              <a:rPr lang="zh-CN" altLang="en-US" sz="2400"/>
              <a:t>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5817841-BB4E-4F56-9270-BB5219D00A3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</a:t>
            </a:r>
            <a:r>
              <a:rPr lang="zh-CN" altLang="en-US"/>
              <a:t>导出系统需求</a:t>
            </a:r>
            <a:endParaRPr lang="en-US" altLang="zh-CN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从业务改进点入手，结合项目远景，导出系统需求：</a:t>
            </a:r>
          </a:p>
          <a:p>
            <a:pPr lvl="1" eaLnBrk="1" hangingPunct="1"/>
            <a:r>
              <a:rPr lang="zh-CN" altLang="en-US"/>
              <a:t>对于每一个业务改进点，明确是否是为了达到远景目标的需要</a:t>
            </a:r>
          </a:p>
          <a:p>
            <a:pPr lvl="1" eaLnBrk="1" hangingPunct="1"/>
            <a:r>
              <a:rPr lang="zh-CN" altLang="en-US"/>
              <a:t>如果是则作为软件需求而存在，并把相应地模型作为系统模型</a:t>
            </a:r>
          </a:p>
          <a:p>
            <a:pPr lvl="1" eaLnBrk="1" hangingPunct="1"/>
            <a:r>
              <a:rPr lang="zh-CN" altLang="en-US"/>
              <a:t>如果不是则不作为需求而存在，可能作为一项潜在的需求考虑，也可能直接抛弃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0847EFF-4157-4325-B7A9-558ADFF962A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实例分析：旅店系统开发背景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随着旅店声誉日益提高，住宿人员越来越多，旅客为了能够获得好的房间，均提前预订房间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kumimoji="0" lang="zh-CN" altLang="en-US" sz="2800"/>
              <a:t>然而，随着预订的增多、预订周期的拉长，前台服务员工作压力也日益增大，还经常出现工作的失误，使得已经预订好房间的旅客也不能按期入住，这给旅店的声誉带来不好的影响</a:t>
            </a:r>
          </a:p>
          <a:p>
            <a:pPr eaLnBrk="1" hangingPunct="1">
              <a:lnSpc>
                <a:spcPct val="80000"/>
              </a:lnSpc>
            </a:pPr>
            <a:r>
              <a:rPr kumimoji="0" lang="zh-CN" altLang="en-US" sz="2800" dirty="0"/>
              <a:t>为此，旅店老板想到了计算机，希望能够通过计算机来自动管理这些预订业务，不过由于目前资金的问题，目前只开发一个单机版的系统，不提供网上业务；并且旅店方面的其它业务暂不考虑信息化问题</a:t>
            </a:r>
          </a:p>
          <a:p>
            <a:pPr eaLnBrk="1" hangingPunct="1">
              <a:lnSpc>
                <a:spcPct val="80000"/>
              </a:lnSpc>
            </a:pPr>
            <a:r>
              <a:rPr kumimoji="0" lang="zh-CN" altLang="en-US" sz="2800" dirty="0"/>
              <a:t>旅店老板委托某计算机公司开发该系统，并承诺如果系统运转良好的话，将会考虑进一步合作事宜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2AD0808-C32E-40BE-AD01-2B6B4025458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远景：旅店预订系统</a:t>
            </a:r>
            <a:endParaRPr lang="en-US" altLang="zh-CN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A</a:t>
            </a:r>
            <a:r>
              <a:rPr lang="zh-CN" altLang="en-US" sz="2800" dirty="0"/>
              <a:t>很荣幸地成为项目经理，并被要求在两个月之内发布该系统的第一个版本，同时还被要求要为后续的开发提供必备的接口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结合现状和老板的要求，考虑到的项目可扩展的要求，</a:t>
            </a:r>
            <a:r>
              <a:rPr lang="en-US" altLang="zh-CN" sz="2800" dirty="0"/>
              <a:t>A</a:t>
            </a:r>
            <a:r>
              <a:rPr lang="zh-CN" altLang="en-US" sz="2800" dirty="0"/>
              <a:t>首先进行了简单的业务建模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之后，</a:t>
            </a:r>
            <a:r>
              <a:rPr lang="en-US" altLang="zh-CN" sz="2800" dirty="0"/>
              <a:t>A</a:t>
            </a:r>
            <a:r>
              <a:rPr lang="zh-CN" altLang="en-US" sz="2800" dirty="0"/>
              <a:t>初步定义了项目的远景</a:t>
            </a:r>
          </a:p>
          <a:p>
            <a:pPr lvl="1" eaLnBrk="1" hangingPunct="1">
              <a:lnSpc>
                <a:spcPct val="80000"/>
              </a:lnSpc>
            </a:pPr>
            <a:r>
              <a:rPr kumimoji="0" lang="zh-CN" altLang="en-US" sz="2400" dirty="0"/>
              <a:t>提前准确地为旅客预订所需的房间</a:t>
            </a:r>
          </a:p>
          <a:p>
            <a:pPr lvl="1" eaLnBrk="1" hangingPunct="1">
              <a:lnSpc>
                <a:spcPct val="80000"/>
              </a:lnSpc>
            </a:pPr>
            <a:r>
              <a:rPr kumimoji="0" lang="zh-CN" altLang="en-US" sz="2400" dirty="0"/>
              <a:t>旅客可以在规定的时间内方便地取消预订的房间</a:t>
            </a:r>
          </a:p>
          <a:p>
            <a:pPr lvl="1" eaLnBrk="1" hangingPunct="1">
              <a:lnSpc>
                <a:spcPct val="80000"/>
              </a:lnSpc>
            </a:pPr>
            <a:r>
              <a:rPr kumimoji="0" lang="zh-CN" altLang="en-US" sz="2400" dirty="0"/>
              <a:t>旅店老板能够定期的获取预订的信息，根据这些信息可以及时调整房间的价格</a:t>
            </a:r>
          </a:p>
          <a:p>
            <a:pPr lvl="1" eaLnBrk="1" hangingPunct="1">
              <a:lnSpc>
                <a:spcPct val="80000"/>
              </a:lnSpc>
            </a:pPr>
            <a:r>
              <a:rPr kumimoji="0" lang="zh-CN" altLang="en-US" sz="2400" dirty="0"/>
              <a:t>及时、快速地计算房间费用、预订费用、取消预订后退款金额等信息</a:t>
            </a:r>
          </a:p>
          <a:p>
            <a:pPr lvl="1" eaLnBrk="1" hangingPunct="1">
              <a:lnSpc>
                <a:spcPct val="80000"/>
              </a:lnSpc>
            </a:pPr>
            <a:r>
              <a:rPr kumimoji="0" lang="zh-CN" altLang="en-US" sz="2400" dirty="0"/>
              <a:t>？预留接口：可以为以后的网络版，以及其它业务系统的开发提供支持</a:t>
            </a:r>
          </a:p>
          <a:p>
            <a:pPr lvl="1" eaLnBrk="1" hangingPunct="1">
              <a:lnSpc>
                <a:spcPct val="80000"/>
              </a:lnSpc>
            </a:pPr>
            <a:endParaRPr kumimoji="0" lang="en-US" altLang="zh-C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E45DAA1-1B7C-4202-A9A4-51C8D61DC27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3072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36614"/>
            <a:ext cx="7505700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结合远景，获取系统需求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00376" y="1052513"/>
            <a:ext cx="7343775" cy="2303462"/>
            <a:chOff x="930" y="663"/>
            <a:chExt cx="4626" cy="1451"/>
          </a:xfrm>
        </p:grpSpPr>
        <p:sp>
          <p:nvSpPr>
            <p:cNvPr id="30731" name="Oval 5"/>
            <p:cNvSpPr>
              <a:spLocks noChangeArrowheads="1"/>
            </p:cNvSpPr>
            <p:nvPr/>
          </p:nvSpPr>
          <p:spPr bwMode="auto">
            <a:xfrm>
              <a:off x="930" y="1207"/>
              <a:ext cx="2268" cy="907"/>
            </a:xfrm>
            <a:prstGeom prst="ellips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073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" y="663"/>
              <a:ext cx="1814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3" name="Line 7"/>
            <p:cNvSpPr>
              <a:spLocks noChangeShapeType="1"/>
            </p:cNvSpPr>
            <p:nvPr/>
          </p:nvSpPr>
          <p:spPr bwMode="auto">
            <a:xfrm flipV="1">
              <a:off x="3061" y="1026"/>
              <a:ext cx="2087" cy="40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4" name="Line 8"/>
            <p:cNvSpPr>
              <a:spLocks noChangeShapeType="1"/>
            </p:cNvSpPr>
            <p:nvPr/>
          </p:nvSpPr>
          <p:spPr bwMode="auto">
            <a:xfrm>
              <a:off x="3061" y="663"/>
              <a:ext cx="817" cy="363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303838" y="1052514"/>
            <a:ext cx="5364162" cy="4568825"/>
            <a:chOff x="2381" y="663"/>
            <a:chExt cx="3379" cy="2878"/>
          </a:xfrm>
        </p:grpSpPr>
        <p:sp>
          <p:nvSpPr>
            <p:cNvPr id="30727" name="Oval 10"/>
            <p:cNvSpPr>
              <a:spLocks noChangeArrowheads="1"/>
            </p:cNvSpPr>
            <p:nvPr/>
          </p:nvSpPr>
          <p:spPr bwMode="auto">
            <a:xfrm rot="-3600000">
              <a:off x="3026" y="2014"/>
              <a:ext cx="882" cy="2172"/>
            </a:xfrm>
            <a:prstGeom prst="ellips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0728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8" y="1661"/>
              <a:ext cx="1882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9" name="Line 12"/>
            <p:cNvSpPr>
              <a:spLocks noChangeShapeType="1"/>
            </p:cNvSpPr>
            <p:nvPr/>
          </p:nvSpPr>
          <p:spPr bwMode="auto">
            <a:xfrm flipV="1">
              <a:off x="3606" y="2024"/>
              <a:ext cx="1588" cy="64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0" name="Line 13"/>
            <p:cNvSpPr>
              <a:spLocks noChangeShapeType="1"/>
            </p:cNvSpPr>
            <p:nvPr/>
          </p:nvSpPr>
          <p:spPr bwMode="auto">
            <a:xfrm>
              <a:off x="3061" y="663"/>
              <a:ext cx="1045" cy="140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9A184AE-BF9C-45C8-B146-FEFA3A4E7FA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第</a:t>
            </a:r>
            <a:r>
              <a:rPr lang="en-US" altLang="zh-CN" dirty="0"/>
              <a:t>04</a:t>
            </a:r>
            <a:r>
              <a:rPr lang="zh-CN" altLang="en-US" dirty="0"/>
              <a:t>章 用例建模</a:t>
            </a:r>
            <a:endParaRPr lang="en-US" altLang="zh-CN" dirty="0"/>
          </a:p>
        </p:txBody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理解需求</a:t>
            </a:r>
            <a:endParaRPr lang="en-US" altLang="zh-CN" dirty="0">
              <a:solidFill>
                <a:srgbClr val="4D4D4D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需求获取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用例建模流程</a:t>
            </a:r>
          </a:p>
          <a:p>
            <a:pPr lvl="1" eaLnBrk="1" hangingPunct="1">
              <a:defRPr/>
            </a:pPr>
            <a:r>
              <a:rPr kumimoji="0" lang="zh-CN" altLang="en-US" dirty="0"/>
              <a:t>获取原始需求</a:t>
            </a:r>
          </a:p>
          <a:p>
            <a:pPr lvl="1" eaLnBrk="1" hangingPunct="1">
              <a:defRPr/>
            </a:pPr>
            <a:r>
              <a:rPr kumimoji="0" lang="zh-CN" altLang="en-US" dirty="0"/>
              <a:t>构建初始用例模型</a:t>
            </a:r>
          </a:p>
          <a:p>
            <a:pPr lvl="1" eaLnBrk="1" hangingPunct="1">
              <a:defRPr/>
            </a:pPr>
            <a:r>
              <a:rPr kumimoji="0" lang="zh-CN" altLang="en-US" dirty="0"/>
              <a:t>编写用例文档</a:t>
            </a:r>
          </a:p>
          <a:p>
            <a:pPr lvl="1" eaLnBrk="1" hangingPunct="1">
              <a:defRPr/>
            </a:pPr>
            <a:r>
              <a:rPr kumimoji="0" lang="zh-CN" altLang="en-US" dirty="0"/>
              <a:t>重构用例模型</a:t>
            </a:r>
            <a:endParaRPr kumimoji="0" lang="en-US" altLang="zh-CN" dirty="0"/>
          </a:p>
          <a:p>
            <a:pPr eaLnBrk="1" hangingPunct="1">
              <a:defRPr/>
            </a:pPr>
            <a:r>
              <a:rPr kumimoji="0" lang="zh-CN" altLang="en-US" dirty="0"/>
              <a:t>其他问题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8A3B061-E856-490C-B706-D544D573613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用例建模流程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获取原始需求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开发一个可以理解的需求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2.1 </a:t>
            </a:r>
            <a:r>
              <a:rPr lang="zh-CN" altLang="en-US" dirty="0"/>
              <a:t>识别参与者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2.2 </a:t>
            </a:r>
            <a:r>
              <a:rPr lang="zh-CN" altLang="en-US" dirty="0"/>
              <a:t>识别用例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2.3 </a:t>
            </a:r>
            <a:r>
              <a:rPr lang="zh-CN" altLang="en-US" dirty="0"/>
              <a:t>绘制用例图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3 </a:t>
            </a:r>
            <a:r>
              <a:rPr lang="zh-CN" altLang="en-US" dirty="0"/>
              <a:t>详细、完整地描述需求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编写用例文档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4 </a:t>
            </a:r>
            <a:r>
              <a:rPr lang="zh-CN" altLang="en-US" dirty="0"/>
              <a:t>重构用例模型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4.1 </a:t>
            </a:r>
            <a:r>
              <a:rPr lang="zh-CN" altLang="en-US" dirty="0"/>
              <a:t>识别用例间的关系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4.2 </a:t>
            </a:r>
            <a:r>
              <a:rPr lang="zh-CN" altLang="en-US" dirty="0"/>
              <a:t>对用例进行分包和分级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0D9352F-1208-4BDA-ADAA-4DADF6EAD05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用例建模流程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获取原始需求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2. </a:t>
            </a:r>
            <a:r>
              <a:rPr lang="zh-CN" altLang="en-US" dirty="0"/>
              <a:t>开发一个可以理解的需求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2.1 </a:t>
            </a:r>
            <a:r>
              <a:rPr lang="zh-CN" altLang="en-US" dirty="0"/>
              <a:t>识别参与者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2.2 </a:t>
            </a:r>
            <a:r>
              <a:rPr lang="zh-CN" altLang="en-US" dirty="0"/>
              <a:t>识别用例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2.3 </a:t>
            </a:r>
            <a:r>
              <a:rPr lang="zh-CN" altLang="en-US" dirty="0"/>
              <a:t>绘制用例图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3 </a:t>
            </a:r>
            <a:r>
              <a:rPr lang="zh-CN" altLang="en-US" dirty="0"/>
              <a:t>详细、完整地描述需求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编写用例文档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4 </a:t>
            </a:r>
            <a:r>
              <a:rPr lang="zh-CN" altLang="en-US" dirty="0"/>
              <a:t>重构用例模型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4.1 </a:t>
            </a:r>
            <a:r>
              <a:rPr lang="zh-CN" altLang="en-US" dirty="0"/>
              <a:t>识别用例间的关系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4.2 </a:t>
            </a:r>
            <a:r>
              <a:rPr lang="zh-CN" altLang="en-US" dirty="0"/>
              <a:t>对用例进行分包和分级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5806154-9F42-452C-A69C-45726C130B2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需求从何而来</a:t>
            </a:r>
            <a:endParaRPr lang="en-US" altLang="zh-CN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需求只能来自涉众</a:t>
            </a:r>
          </a:p>
          <a:p>
            <a:pPr lvl="1" eaLnBrk="1" hangingPunct="1"/>
            <a:r>
              <a:rPr lang="zh-CN" altLang="en-US" dirty="0"/>
              <a:t>最终用户、客户</a:t>
            </a:r>
          </a:p>
          <a:p>
            <a:pPr lvl="1" eaLnBrk="1" hangingPunct="1"/>
            <a:r>
              <a:rPr lang="zh-CN" altLang="en-US" dirty="0"/>
              <a:t>政府、法律、文化</a:t>
            </a:r>
          </a:p>
          <a:p>
            <a:pPr lvl="1" eaLnBrk="1" hangingPunct="1"/>
            <a:r>
              <a:rPr lang="zh-CN" altLang="en-US" dirty="0"/>
              <a:t>开发人员、管理人员</a:t>
            </a:r>
          </a:p>
          <a:p>
            <a:pPr lvl="1" eaLnBrk="1" hangingPunct="1"/>
            <a:r>
              <a:rPr lang="zh-CN" altLang="en-US" dirty="0"/>
              <a:t>竞争对手</a:t>
            </a:r>
          </a:p>
          <a:p>
            <a:pPr lvl="1" eaLnBrk="1" hangingPunct="1"/>
            <a:r>
              <a:rPr lang="en-US" altLang="zh-CN" dirty="0"/>
              <a:t>…</a:t>
            </a:r>
          </a:p>
          <a:p>
            <a:pPr eaLnBrk="1" hangingPunct="1"/>
            <a:r>
              <a:rPr lang="zh-CN" altLang="en-US" dirty="0"/>
              <a:t>但并不是直接从涉众中来</a:t>
            </a:r>
          </a:p>
          <a:p>
            <a:pPr lvl="1" eaLnBrk="1" hangingPunct="1"/>
            <a:r>
              <a:rPr kumimoji="0" lang="zh-CN" altLang="en-US" dirty="0"/>
              <a:t>你们的需求是什么？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4859B71-4975-4D07-B38A-C939F3AA1AE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涉众无法直接提供需求</a:t>
            </a:r>
            <a:endParaRPr lang="en-US" altLang="zh-CN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用户不可能直接提供系统的最终需求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用户描述的只是现状，对于未来软件的工作模式，用户不可能描述清楚的</a:t>
            </a:r>
            <a:endParaRPr lang="en-US" altLang="zh-CN" dirty="0"/>
          </a:p>
          <a:p>
            <a:pPr eaLnBrk="1" hangingPunct="1"/>
            <a:r>
              <a:rPr lang="zh-CN" altLang="en-US" dirty="0"/>
              <a:t>用户提供的只是个人或组织的需要</a:t>
            </a:r>
            <a:r>
              <a:rPr lang="en-US" altLang="zh-CN" dirty="0"/>
              <a:t>(Need)</a:t>
            </a:r>
            <a:r>
              <a:rPr lang="zh-CN" altLang="en-US" dirty="0"/>
              <a:t>或想法</a:t>
            </a:r>
            <a:endParaRPr lang="en-US" altLang="zh-CN" dirty="0"/>
          </a:p>
          <a:p>
            <a:pPr eaLnBrk="1" hangingPunct="1"/>
            <a:r>
              <a:rPr lang="zh-CN" altLang="en-US" dirty="0"/>
              <a:t>需求获取：系统分析师必须能够透过这些原始的需要来获取软件的最终需求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5072CB0-D294-4ACA-B3A2-CBA9D9AA6B7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需求获取技术</a:t>
            </a:r>
            <a:endParaRPr lang="en-US" altLang="zh-CN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系统分析师借助于不同的需求获取方式，从涉众中获取需求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收集资料</a:t>
            </a:r>
          </a:p>
          <a:p>
            <a:pPr lvl="1" eaLnBrk="1" hangingPunct="1"/>
            <a:r>
              <a:rPr lang="zh-CN" altLang="en-US" dirty="0"/>
              <a:t>现场观察</a:t>
            </a:r>
          </a:p>
          <a:p>
            <a:pPr lvl="1" eaLnBrk="1" hangingPunct="1"/>
            <a:r>
              <a:rPr lang="zh-CN" altLang="en-US" dirty="0"/>
              <a:t>访谈</a:t>
            </a:r>
          </a:p>
          <a:p>
            <a:pPr lvl="1" eaLnBrk="1" hangingPunct="1"/>
            <a:r>
              <a:rPr lang="zh-CN" altLang="en-US" dirty="0"/>
              <a:t>开会</a:t>
            </a:r>
          </a:p>
          <a:p>
            <a:pPr lvl="1" eaLnBrk="1" hangingPunct="1"/>
            <a:r>
              <a:rPr lang="zh-CN" altLang="en-US" dirty="0"/>
              <a:t>原型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问卷调查</a:t>
            </a:r>
          </a:p>
          <a:p>
            <a:pPr lvl="1" eaLnBrk="1" hangingPunct="1"/>
            <a:r>
              <a:rPr lang="en-US" altLang="zh-CN" dirty="0"/>
              <a:t>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需求获取技术对比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35</a:t>
            </a:fld>
            <a:r>
              <a:rPr lang="en-US" altLang="zh-CN"/>
              <a:t>-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18" y="1124744"/>
            <a:ext cx="9030483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27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CB94CA0-50EC-4658-BCBF-2DF69C45B3F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用例建模流程</a:t>
            </a:r>
          </a:p>
        </p:txBody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1. </a:t>
            </a:r>
            <a:r>
              <a:rPr lang="zh-CN" altLang="en-US" dirty="0">
                <a:solidFill>
                  <a:srgbClr val="4D4D4D"/>
                </a:solidFill>
              </a:rPr>
              <a:t>获取原始需求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开发一个可以理解的需求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2.1 </a:t>
            </a:r>
            <a:r>
              <a:rPr lang="zh-CN" altLang="en-US" dirty="0"/>
              <a:t>识别参与者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2.2 </a:t>
            </a:r>
            <a:r>
              <a:rPr lang="zh-CN" altLang="en-US" dirty="0"/>
              <a:t>识别用例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2.3 </a:t>
            </a:r>
            <a:r>
              <a:rPr lang="zh-CN" altLang="en-US" dirty="0"/>
              <a:t>绘制用例图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3 </a:t>
            </a:r>
            <a:r>
              <a:rPr lang="zh-CN" altLang="en-US" dirty="0"/>
              <a:t>详细、完整地描述需求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编写用例文档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4 </a:t>
            </a:r>
            <a:r>
              <a:rPr lang="zh-CN" altLang="en-US" dirty="0"/>
              <a:t>重构用例模型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4.1 </a:t>
            </a:r>
            <a:r>
              <a:rPr lang="zh-CN" altLang="en-US" dirty="0"/>
              <a:t>识别用例间的关系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4.2 </a:t>
            </a:r>
            <a:r>
              <a:rPr lang="zh-CN" altLang="en-US" dirty="0"/>
              <a:t>对用例进行分包和分级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3C899EE-9911-4EB9-974F-BA1AC491E4D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 </a:t>
            </a:r>
            <a:r>
              <a:rPr lang="zh-CN" altLang="en-US"/>
              <a:t>识别参与者</a:t>
            </a:r>
            <a:r>
              <a:rPr lang="en-US" altLang="zh-CN"/>
              <a:t>(Actor)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识别参与者</a:t>
            </a:r>
            <a:endParaRPr lang="en-US" altLang="zh-CN"/>
          </a:p>
          <a:p>
            <a:pPr lvl="1" eaLnBrk="1" hangingPunct="1"/>
            <a:r>
              <a:rPr lang="zh-CN" altLang="en-US"/>
              <a:t>关键词：</a:t>
            </a:r>
            <a:r>
              <a:rPr lang="zh-CN" altLang="en-US">
                <a:solidFill>
                  <a:srgbClr val="FF3300"/>
                </a:solidFill>
              </a:rPr>
              <a:t>边界</a:t>
            </a:r>
          </a:p>
          <a:p>
            <a:pPr lvl="1" eaLnBrk="1" hangingPunct="1"/>
            <a:r>
              <a:rPr lang="zh-CN" altLang="en-US"/>
              <a:t>参与者：在</a:t>
            </a:r>
            <a:r>
              <a:rPr lang="zh-CN" altLang="en-US">
                <a:solidFill>
                  <a:srgbClr val="FF3300"/>
                </a:solidFill>
              </a:rPr>
              <a:t>系统之外</a:t>
            </a:r>
            <a:r>
              <a:rPr lang="zh-CN" altLang="en-US"/>
              <a:t>，透过</a:t>
            </a:r>
            <a:r>
              <a:rPr lang="zh-CN" altLang="en-US">
                <a:solidFill>
                  <a:srgbClr val="FF3300"/>
                </a:solidFill>
              </a:rPr>
              <a:t>系统边界</a:t>
            </a:r>
            <a:r>
              <a:rPr lang="zh-CN" altLang="en-US"/>
              <a:t>与系统进行</a:t>
            </a:r>
            <a:r>
              <a:rPr lang="zh-CN" altLang="en-US">
                <a:solidFill>
                  <a:srgbClr val="FF3300"/>
                </a:solidFill>
              </a:rPr>
              <a:t>有意义交互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任何事物</a:t>
            </a:r>
          </a:p>
        </p:txBody>
      </p:sp>
      <p:pic>
        <p:nvPicPr>
          <p:cNvPr id="3994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1" y="3357563"/>
            <a:ext cx="1757363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75E6A65-9B83-4507-84DB-777851D721F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参与者要点分析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dirty="0"/>
              <a:t>系统外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参与者不是系统的一部分，处于系统的外部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系统边界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参与者透过系统边界</a:t>
            </a:r>
            <a:r>
              <a:rPr lang="zh-CN" altLang="en-US" dirty="0">
                <a:solidFill>
                  <a:srgbClr val="000000"/>
                </a:solidFill>
              </a:rPr>
              <a:t>直接</a:t>
            </a:r>
            <a:r>
              <a:rPr lang="zh-CN" altLang="en-US" dirty="0"/>
              <a:t>与系统交互，参与者的确定代表</a:t>
            </a:r>
            <a:r>
              <a:rPr lang="zh-CN" altLang="en-US" dirty="0">
                <a:solidFill>
                  <a:srgbClr val="000000"/>
                </a:solidFill>
              </a:rPr>
              <a:t>系统边界</a:t>
            </a:r>
            <a:r>
              <a:rPr lang="zh-CN" altLang="en-US" dirty="0"/>
              <a:t>的确定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系统角色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参与者与使用系统的物理人和职务没有关系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需要从参与系统的角色</a:t>
            </a:r>
            <a:r>
              <a:rPr lang="en-US" altLang="zh-CN" dirty="0"/>
              <a:t>(</a:t>
            </a:r>
            <a:r>
              <a:rPr lang="zh-CN" altLang="en-US" dirty="0"/>
              <a:t>作用</a:t>
            </a:r>
            <a:r>
              <a:rPr lang="en-US" altLang="zh-CN" dirty="0"/>
              <a:t>)</a:t>
            </a:r>
            <a:r>
              <a:rPr lang="zh-CN" altLang="en-US" dirty="0"/>
              <a:t>来寻找参与者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与系统交互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系统需要处理其交互过程，即系统职责</a:t>
            </a:r>
            <a:endParaRPr lang="en-US" altLang="zh-CN" dirty="0"/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任何事物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人、外系统、外部因素、时间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8FD10B3-3F64-4491-81E8-F255E600873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要点：与系统进行信息交互</a:t>
            </a:r>
            <a:endParaRPr lang="en-US" altLang="zh-CN"/>
          </a:p>
        </p:txBody>
      </p:sp>
      <p:pic>
        <p:nvPicPr>
          <p:cNvPr id="419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622426"/>
            <a:ext cx="8569325" cy="396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ABCC6F9-E58C-44F5-B5E5-F159E2892EB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要点：任何事物</a:t>
            </a:r>
            <a:endParaRPr lang="en-US" altLang="zh-CN"/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268413"/>
            <a:ext cx="7416800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7462E5A-952B-4684-9504-00545E54853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任何事物：小人与圣小猪</a:t>
            </a:r>
            <a:r>
              <a:rPr lang="en-US" altLang="zh-CN"/>
              <a:t>-1</a:t>
            </a:r>
          </a:p>
        </p:txBody>
      </p:sp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628776"/>
            <a:ext cx="6769100" cy="419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BD9A169-3B91-41A7-959B-EED45785BD4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小人与圣小猪</a:t>
            </a:r>
            <a:r>
              <a:rPr lang="en-US" altLang="zh-CN"/>
              <a:t>-2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众所周知，用例图中的参与者用一个小人表示。但是这个小人具有一定的误导性，往往让初学者</a:t>
            </a:r>
            <a:r>
              <a:rPr lang="en-US" altLang="zh-CN" sz="2800"/>
              <a:t>(</a:t>
            </a:r>
            <a:r>
              <a:rPr lang="zh-CN" altLang="en-US" sz="2800"/>
              <a:t>包括客户</a:t>
            </a:r>
            <a:r>
              <a:rPr lang="en-US" altLang="zh-CN" sz="2800"/>
              <a:t>)</a:t>
            </a:r>
            <a:r>
              <a:rPr lang="zh-CN" altLang="en-US" sz="2800"/>
              <a:t>理解为一个真实的人。大多数</a:t>
            </a:r>
            <a:r>
              <a:rPr lang="en-US" altLang="zh-CN" sz="2800"/>
              <a:t>UML </a:t>
            </a:r>
            <a:r>
              <a:rPr lang="zh-CN" altLang="en-US" sz="2800"/>
              <a:t>学习者都要花好长一段时间来搞明白小人其实不一定代表的是人，而是很抽象的系统不可控的外部因素，比如说另一个系统。那么为什么不干脆用其它的符号来表示参与者呢？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如果我开发一个猪圈自动供食供水系统，猪的前蹄触发一个开关系统就供食或供水。显然，这里的参与者 是小猪。那么在用例图里用小猪代替原来的小人不是更易于交流吗？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CFC2FA7-793A-46D9-8F9D-6C0DE0E1878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思考：参与者与系统边界？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某企业要求开发一个企业信息管理系统，并与原来已有的库存系统相连接</a:t>
            </a:r>
          </a:p>
          <a:p>
            <a:pPr eaLnBrk="1" hangingPunct="1"/>
            <a:r>
              <a:rPr lang="zh-CN" altLang="en-US"/>
              <a:t>某企业要求开发一个企业信息管理系统，并把原来已有的库存管理系统加以改造，成为企业信息管理系统的一部分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78474B6-5F2D-4FEB-BC51-0E0F36E231B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识别参与者的思路</a:t>
            </a:r>
            <a:endParaRPr lang="en-US" altLang="zh-CN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可以从以下要点来识别参与者</a:t>
            </a:r>
          </a:p>
          <a:p>
            <a:pPr lvl="1" eaLnBrk="1" hangingPunct="1"/>
            <a:r>
              <a:rPr lang="zh-CN" altLang="en-US" dirty="0"/>
              <a:t>系统在哪些部门使用</a:t>
            </a:r>
          </a:p>
          <a:p>
            <a:pPr lvl="1" eaLnBrk="1" hangingPunct="1"/>
            <a:r>
              <a:rPr lang="zh-CN" altLang="en-US" dirty="0"/>
              <a:t>谁向系统提供信息、使用和删除信息。</a:t>
            </a:r>
          </a:p>
          <a:p>
            <a:pPr lvl="1" eaLnBrk="1" hangingPunct="1"/>
            <a:r>
              <a:rPr lang="zh-CN" altLang="en-US" dirty="0"/>
              <a:t>谁与系统的需求有关联</a:t>
            </a:r>
          </a:p>
          <a:p>
            <a:pPr lvl="1" eaLnBrk="1" hangingPunct="1"/>
            <a:r>
              <a:rPr lang="zh-CN" altLang="en-US" dirty="0"/>
              <a:t>谁对系统进行维护</a:t>
            </a:r>
          </a:p>
          <a:p>
            <a:pPr lvl="1" eaLnBrk="1" hangingPunct="1"/>
            <a:r>
              <a:rPr lang="zh-CN" altLang="en-US" dirty="0"/>
              <a:t>与外部系统是否有关联</a:t>
            </a:r>
          </a:p>
          <a:p>
            <a:pPr lvl="1" eaLnBrk="1" hangingPunct="1"/>
            <a:r>
              <a:rPr lang="zh-CN" altLang="en-US" dirty="0"/>
              <a:t>时间参与者：一种习惯用法，用于激活那些系统定期的、自动执行的用例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AAF5743-4E41-4655-92F1-0D6EC2D617A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参与者的命名</a:t>
            </a:r>
            <a:endParaRPr lang="en-US" altLang="zh-CN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对参与者赋予能更好地表达其角色</a:t>
            </a:r>
            <a:r>
              <a:rPr lang="en-US" altLang="zh-CN"/>
              <a:t>(</a:t>
            </a:r>
            <a:r>
              <a:rPr lang="zh-CN" altLang="en-US"/>
              <a:t>作用</a:t>
            </a:r>
            <a:r>
              <a:rPr lang="en-US" altLang="zh-CN"/>
              <a:t>)</a:t>
            </a:r>
            <a:r>
              <a:rPr lang="zh-CN" altLang="en-US"/>
              <a:t>的名称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不好的参与者命名的例子：用职务名称和个人姓名来命名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例如，张三、老李、校长、科长</a:t>
            </a:r>
            <a:r>
              <a:rPr lang="en-US" altLang="zh-CN"/>
              <a:t>…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若使用系统的人（职务名称）变化的话，就不是参与者了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好的参与者命名的例子：用能知道其角色的名称来命名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例如，学生、订单管理员、维护部门</a:t>
            </a:r>
            <a:r>
              <a:rPr lang="en-US" altLang="zh-CN"/>
              <a:t>…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/>
              <a:t>即使使用系统的人改变，从系统来看，使用者的角色（作用）是相同的。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参与者之间的关系：泛化</a:t>
            </a:r>
          </a:p>
        </p:txBody>
      </p:sp>
      <p:sp>
        <p:nvSpPr>
          <p:cNvPr id="77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参与者可以通过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泛化关系</a:t>
            </a:r>
            <a:r>
              <a:rPr lang="zh-CN" altLang="en-US"/>
              <a:t>来定义，在这种泛化关系中，一个参与者的抽象描述可以被一个或多个具体的参与者所共享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如系统中经理可以参加雇员的所有用例</a:t>
            </a:r>
          </a:p>
        </p:txBody>
      </p:sp>
      <p:sp>
        <p:nvSpPr>
          <p:cNvPr id="4915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DA946A4-044D-4AF1-B2BA-0FD0364B013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1988840"/>
            <a:ext cx="4310062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F031684-6520-41A4-8EE9-4246B585547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参与者地位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识别用例之前</a:t>
            </a:r>
            <a:r>
              <a:rPr lang="en-US" altLang="zh-CN"/>
              <a:t>—</a:t>
            </a:r>
            <a:r>
              <a:rPr lang="zh-CN" altLang="en-US"/>
              <a:t>重要</a:t>
            </a:r>
          </a:p>
          <a:p>
            <a:pPr lvl="1" eaLnBrk="1" hangingPunct="1"/>
            <a:r>
              <a:rPr lang="zh-CN" altLang="en-US"/>
              <a:t>有助于识别用例，宁多勿少</a:t>
            </a:r>
          </a:p>
          <a:p>
            <a:pPr eaLnBrk="1" hangingPunct="1"/>
            <a:r>
              <a:rPr lang="zh-CN" altLang="en-US"/>
              <a:t>开始书写用例文档以后</a:t>
            </a:r>
            <a:r>
              <a:rPr lang="en-US" altLang="zh-CN"/>
              <a:t>—</a:t>
            </a:r>
            <a:r>
              <a:rPr lang="zh-CN" altLang="en-US"/>
              <a:t>不重要</a:t>
            </a:r>
          </a:p>
          <a:p>
            <a:pPr lvl="1" eaLnBrk="1" hangingPunct="1"/>
            <a:r>
              <a:rPr lang="zh-CN" altLang="en-US"/>
              <a:t>涉及的参与者太多</a:t>
            </a:r>
          </a:p>
          <a:p>
            <a:pPr eaLnBrk="1" hangingPunct="1"/>
            <a:r>
              <a:rPr lang="zh-CN" altLang="en-US"/>
              <a:t>测试和部署阶段</a:t>
            </a:r>
            <a:r>
              <a:rPr lang="en-US" altLang="zh-CN"/>
              <a:t>—</a:t>
            </a:r>
            <a:r>
              <a:rPr lang="zh-CN" altLang="en-US"/>
              <a:t>重要</a:t>
            </a:r>
          </a:p>
          <a:p>
            <a:pPr lvl="1" eaLnBrk="1" hangingPunct="1"/>
            <a:r>
              <a:rPr lang="zh-CN" altLang="en-US"/>
              <a:t>需要从参与者的角度考虑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文档化参与者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参与者的文档没有固定的格式，但至少应该包含如下信息</a:t>
            </a:r>
            <a:endParaRPr lang="en-US" altLang="zh-CN" dirty="0"/>
          </a:p>
          <a:p>
            <a:pPr lvl="1"/>
            <a:r>
              <a:rPr lang="zh-CN" altLang="zh-CN" dirty="0"/>
              <a:t>描述</a:t>
            </a:r>
            <a:r>
              <a:rPr lang="zh-CN" altLang="en-US" dirty="0"/>
              <a:t>：</a:t>
            </a:r>
            <a:r>
              <a:rPr lang="zh-CN" altLang="zh-CN" dirty="0"/>
              <a:t>为每一个参与者提供一个简要的描述，准确地</a:t>
            </a:r>
            <a:r>
              <a:rPr lang="zh-CN" altLang="en-US" dirty="0"/>
              <a:t>描述</a:t>
            </a:r>
            <a:r>
              <a:rPr lang="zh-CN" altLang="zh-CN" dirty="0"/>
              <a:t>该参与者的所扮演的角色和职责</a:t>
            </a:r>
            <a:endParaRPr lang="en-US" altLang="zh-CN" dirty="0"/>
          </a:p>
          <a:p>
            <a:pPr lvl="1"/>
            <a:r>
              <a:rPr lang="zh-CN" altLang="zh-CN" dirty="0"/>
              <a:t>基本特征</a:t>
            </a:r>
            <a:r>
              <a:rPr lang="zh-CN" altLang="en-US" dirty="0"/>
              <a:t>：</a:t>
            </a:r>
            <a:r>
              <a:rPr lang="zh-CN" altLang="zh-CN" dirty="0"/>
              <a:t>针对参与者的职责范围、物理环境、使用习惯、用户数量和类型、使用系统的频率等特性进行说明</a:t>
            </a:r>
            <a:endParaRPr lang="en-US" altLang="zh-CN" dirty="0"/>
          </a:p>
          <a:p>
            <a:pPr lvl="1"/>
            <a:r>
              <a:rPr lang="zh-CN" altLang="zh-CN" dirty="0"/>
              <a:t>相关的涉众和典型用户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48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91431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2447A60-65C5-43E8-8DF4-88776851710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思考：识别参与者？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某短信系统：用户如果预定了天气预报短信，系统每天定时给他发天气短信；如果当天气温低于</a:t>
            </a:r>
            <a:r>
              <a:rPr lang="en-US" altLang="zh-CN"/>
              <a:t>0</a:t>
            </a:r>
            <a:r>
              <a:rPr lang="zh-CN" altLang="en-US"/>
              <a:t>度，还要提醒用户注意防寒；</a:t>
            </a:r>
          </a:p>
        </p:txBody>
      </p:sp>
      <p:sp>
        <p:nvSpPr>
          <p:cNvPr id="773124" name="Text Box 4"/>
          <p:cNvSpPr txBox="1">
            <a:spLocks noChangeArrowheads="1"/>
          </p:cNvSpPr>
          <p:nvPr/>
        </p:nvSpPr>
        <p:spPr bwMode="auto">
          <a:xfrm>
            <a:off x="2208214" y="4005263"/>
            <a:ext cx="7991475" cy="107721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在这个叙述里，谁是该短信系统的参与者？用户？时间？气温？</a:t>
            </a:r>
            <a:r>
              <a:rPr kumimoji="0" lang="en-US" altLang="zh-CN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……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440811B-2EEA-4CEA-A724-47C80B18165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 </a:t>
            </a:r>
            <a:r>
              <a:rPr lang="zh-CN" altLang="en-US"/>
              <a:t>识别用例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关键词：价值</a:t>
            </a:r>
          </a:p>
          <a:p>
            <a:pPr eaLnBrk="1" hangingPunct="1"/>
            <a:r>
              <a:rPr lang="zh-CN" altLang="en-US" dirty="0"/>
              <a:t>简洁定义：参与者</a:t>
            </a:r>
            <a:r>
              <a:rPr lang="zh-CN" altLang="en-US" dirty="0">
                <a:solidFill>
                  <a:srgbClr val="FF3300"/>
                </a:solidFill>
              </a:rPr>
              <a:t>使用系统</a:t>
            </a:r>
            <a:r>
              <a:rPr lang="zh-CN" altLang="en-US" dirty="0"/>
              <a:t>达到某个目标</a:t>
            </a:r>
          </a:p>
          <a:p>
            <a:pPr eaLnBrk="1" hangingPunct="1"/>
            <a:r>
              <a:rPr lang="zh-CN" altLang="en-US" dirty="0"/>
              <a:t>定义</a:t>
            </a:r>
          </a:p>
          <a:p>
            <a:pPr lvl="1" eaLnBrk="1" hangingPunct="1"/>
            <a:r>
              <a:rPr lang="zh-CN" altLang="en-US" dirty="0"/>
              <a:t>用例实例是</a:t>
            </a:r>
            <a:r>
              <a:rPr lang="zh-CN" altLang="en-US" dirty="0">
                <a:solidFill>
                  <a:srgbClr val="FF3300"/>
                </a:solidFill>
              </a:rPr>
              <a:t>系统执行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一系列动作</a:t>
            </a:r>
            <a:r>
              <a:rPr lang="zh-CN" altLang="en-US" dirty="0"/>
              <a:t>，这些动作将生成特定</a:t>
            </a:r>
            <a:r>
              <a:rPr lang="zh-CN" altLang="en-US" dirty="0">
                <a:solidFill>
                  <a:srgbClr val="FF3300"/>
                </a:solidFill>
              </a:rPr>
              <a:t>参与者可观测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结果值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一个用例定义</a:t>
            </a:r>
            <a:r>
              <a:rPr lang="zh-CN" altLang="en-US" dirty="0">
                <a:solidFill>
                  <a:srgbClr val="FF3300"/>
                </a:solidFill>
              </a:rPr>
              <a:t>一组用例实例（场景）</a:t>
            </a:r>
          </a:p>
        </p:txBody>
      </p:sp>
      <p:pic>
        <p:nvPicPr>
          <p:cNvPr id="5222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3" y="4292601"/>
            <a:ext cx="3384550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DE2C22B-9417-4EEC-B38E-90EC690A2CF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用例要点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可观测</a:t>
            </a:r>
            <a:r>
              <a:rPr lang="zh-CN" altLang="en-US" dirty="0">
                <a:latin typeface="宋体" pitchFamily="2" charset="-122"/>
              </a:rPr>
              <a:t>→</a:t>
            </a:r>
            <a:r>
              <a:rPr lang="zh-CN" altLang="en-US" dirty="0"/>
              <a:t>用例止于系统边界</a:t>
            </a:r>
          </a:p>
          <a:p>
            <a:pPr eaLnBrk="1" hangingPunct="1"/>
            <a:r>
              <a:rPr lang="zh-CN" altLang="en-US" dirty="0"/>
              <a:t>结果值</a:t>
            </a:r>
            <a:r>
              <a:rPr lang="zh-CN" altLang="en-US" dirty="0">
                <a:latin typeface="宋体" pitchFamily="2" charset="-122"/>
              </a:rPr>
              <a:t>→</a:t>
            </a:r>
            <a:r>
              <a:rPr lang="zh-CN" altLang="en-US" dirty="0"/>
              <a:t>用例是有意义的目标</a:t>
            </a:r>
          </a:p>
          <a:p>
            <a:pPr eaLnBrk="1" hangingPunct="1"/>
            <a:r>
              <a:rPr lang="zh-CN" altLang="en-US" dirty="0"/>
              <a:t>系统执行</a:t>
            </a:r>
            <a:r>
              <a:rPr lang="zh-CN" altLang="en-US" dirty="0">
                <a:latin typeface="宋体" pitchFamily="2" charset="-122"/>
              </a:rPr>
              <a:t>→</a:t>
            </a:r>
            <a:r>
              <a:rPr lang="zh-CN" altLang="en-US" dirty="0"/>
              <a:t>结果值由系统生成</a:t>
            </a:r>
          </a:p>
          <a:p>
            <a:pPr eaLnBrk="1" hangingPunct="1"/>
            <a:r>
              <a:rPr lang="zh-CN" altLang="en-US" dirty="0">
                <a:latin typeface="宋体" pitchFamily="2" charset="-122"/>
              </a:rPr>
              <a:t>由参与者观测→</a:t>
            </a:r>
            <a:r>
              <a:rPr lang="zh-CN" altLang="en-US" dirty="0"/>
              <a:t>业务语言、用户观点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60EC34B-8554-4DFA-A78B-DF460AE4499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要点：用例止于系统边界</a:t>
            </a:r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5519739" y="1901825"/>
            <a:ext cx="2808287" cy="2376488"/>
          </a:xfrm>
          <a:prstGeom prst="rect">
            <a:avLst/>
          </a:prstGeom>
          <a:solidFill>
            <a:srgbClr val="3333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zh-CN" alt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>
            <a:off x="3646488" y="2117725"/>
            <a:ext cx="1871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8" name="Line 5"/>
          <p:cNvSpPr>
            <a:spLocks noChangeShapeType="1"/>
          </p:cNvSpPr>
          <p:nvPr/>
        </p:nvSpPr>
        <p:spPr bwMode="auto">
          <a:xfrm flipH="1">
            <a:off x="3646488" y="2765425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9" name="Line 6"/>
          <p:cNvSpPr>
            <a:spLocks noChangeShapeType="1"/>
          </p:cNvSpPr>
          <p:nvPr/>
        </p:nvSpPr>
        <p:spPr bwMode="auto">
          <a:xfrm>
            <a:off x="3646488" y="3413125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80" name="Line 7"/>
          <p:cNvSpPr>
            <a:spLocks noChangeShapeType="1"/>
          </p:cNvSpPr>
          <p:nvPr/>
        </p:nvSpPr>
        <p:spPr bwMode="auto">
          <a:xfrm flipH="1">
            <a:off x="3646488" y="4062413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7224" name="Text Box 8"/>
          <p:cNvSpPr txBox="1">
            <a:spLocks noChangeArrowheads="1"/>
          </p:cNvSpPr>
          <p:nvPr/>
        </p:nvSpPr>
        <p:spPr bwMode="auto">
          <a:xfrm>
            <a:off x="1992314" y="4926013"/>
            <a:ext cx="8207375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描述交互，而不是内在的系统活动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86D2FEF-9326-4DDA-9358-B502D499224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要点：有意义的目标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3" y="1916832"/>
            <a:ext cx="747038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FB8D65F-43DB-4A77-83F2-170A5F91351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要点：结果值由系统生成</a:t>
            </a:r>
          </a:p>
        </p:txBody>
      </p:sp>
      <p:sp>
        <p:nvSpPr>
          <p:cNvPr id="780292" name="Text Box 4"/>
          <p:cNvSpPr txBox="1">
            <a:spLocks noChangeArrowheads="1"/>
          </p:cNvSpPr>
          <p:nvPr/>
        </p:nvSpPr>
        <p:spPr bwMode="auto">
          <a:xfrm>
            <a:off x="2855913" y="4133851"/>
            <a:ext cx="6335712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系统需要处理的，由系统生成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9" y="2060848"/>
            <a:ext cx="5381077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3327654-25FE-4514-9E54-1603B28B4E2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要点：业务语言而非技术语言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用户词汇，而不是技术词汇</a:t>
            </a:r>
          </a:p>
          <a:p>
            <a:pPr lvl="1" eaLnBrk="1" hangingPunct="1"/>
            <a:r>
              <a:rPr lang="zh-CN" altLang="en-US"/>
              <a:t>如：发票，商品，洗衣机</a:t>
            </a:r>
          </a:p>
          <a:p>
            <a:pPr lvl="1" eaLnBrk="1" hangingPunct="1"/>
            <a:r>
              <a:rPr lang="zh-CN" altLang="en-US"/>
              <a:t>而不是：记录，字段，</a:t>
            </a:r>
            <a:r>
              <a:rPr lang="en-US" altLang="zh-CN"/>
              <a:t>COM</a:t>
            </a:r>
            <a:r>
              <a:rPr lang="zh-CN" altLang="en-US"/>
              <a:t>，</a:t>
            </a:r>
            <a:r>
              <a:rPr lang="en-US" altLang="zh-CN"/>
              <a:t>C++</a:t>
            </a:r>
            <a:r>
              <a:rPr lang="zh-CN" altLang="en-US"/>
              <a:t>等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82AF8B9-DB2F-4497-9883-87781385807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要点：用户观点而非系统观点</a:t>
            </a:r>
          </a:p>
        </p:txBody>
      </p:sp>
      <p:pic>
        <p:nvPicPr>
          <p:cNvPr id="583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1628775"/>
            <a:ext cx="4697413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326" y="1701800"/>
            <a:ext cx="4932363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3365" name="Text Box 5"/>
          <p:cNvSpPr txBox="1">
            <a:spLocks noChangeArrowheads="1"/>
          </p:cNvSpPr>
          <p:nvPr/>
        </p:nvSpPr>
        <p:spPr bwMode="auto">
          <a:xfrm>
            <a:off x="2998788" y="4870450"/>
            <a:ext cx="230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用户观点</a:t>
            </a:r>
          </a:p>
        </p:txBody>
      </p:sp>
      <p:sp>
        <p:nvSpPr>
          <p:cNvPr id="783366" name="Text Box 6"/>
          <p:cNvSpPr txBox="1">
            <a:spLocks noChangeArrowheads="1"/>
          </p:cNvSpPr>
          <p:nvPr/>
        </p:nvSpPr>
        <p:spPr bwMode="auto">
          <a:xfrm>
            <a:off x="6672263" y="4870450"/>
            <a:ext cx="2305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系统观点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F4BF699-4034-49A7-B71D-A0BD8B2775E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59395" name="Picture 2" descr="siemens0411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1195388"/>
            <a:ext cx="19050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 </a:t>
            </a:r>
            <a:r>
              <a:rPr lang="en-US" altLang="zh-CN"/>
              <a:t>VS. </a:t>
            </a:r>
            <a:r>
              <a:rPr lang="zh-CN" altLang="en-US"/>
              <a:t>功能</a:t>
            </a: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2816225" y="2095500"/>
            <a:ext cx="320833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呼叫某人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接听电话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发送短信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记住电话号码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>
                <a:solidFill>
                  <a:srgbClr val="000000"/>
                </a:solidFill>
                <a:latin typeface="Arial" charset="0"/>
              </a:rPr>
              <a:t>……</a:t>
            </a:r>
          </a:p>
        </p:txBody>
      </p:sp>
      <p:sp>
        <p:nvSpPr>
          <p:cNvPr id="59398" name="Text Box 5"/>
          <p:cNvSpPr txBox="1">
            <a:spLocks noChangeArrowheads="1"/>
          </p:cNvSpPr>
          <p:nvPr/>
        </p:nvSpPr>
        <p:spPr bwMode="auto">
          <a:xfrm>
            <a:off x="6672263" y="2101850"/>
            <a:ext cx="38163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传输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</a:rPr>
              <a:t>/</a:t>
            </a: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接收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电源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</a:rPr>
              <a:t>/</a:t>
            </a: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基站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输入输出（显示、键盘）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电话簿管理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>
                <a:solidFill>
                  <a:srgbClr val="000000"/>
                </a:solidFill>
                <a:latin typeface="Arial" charset="0"/>
              </a:rPr>
              <a:t>……</a:t>
            </a:r>
          </a:p>
        </p:txBody>
      </p:sp>
      <p:sp>
        <p:nvSpPr>
          <p:cNvPr id="784390" name="Text Box 6"/>
          <p:cNvSpPr txBox="1">
            <a:spLocks noChangeArrowheads="1"/>
          </p:cNvSpPr>
          <p:nvPr/>
        </p:nvSpPr>
        <p:spPr bwMode="auto">
          <a:xfrm>
            <a:off x="2889250" y="4819651"/>
            <a:ext cx="17287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用户观点</a:t>
            </a:r>
          </a:p>
        </p:txBody>
      </p:sp>
      <p:sp>
        <p:nvSpPr>
          <p:cNvPr id="784391" name="Text Box 7"/>
          <p:cNvSpPr txBox="1">
            <a:spLocks noChangeArrowheads="1"/>
          </p:cNvSpPr>
          <p:nvPr/>
        </p:nvSpPr>
        <p:spPr bwMode="auto">
          <a:xfrm>
            <a:off x="6959600" y="4854576"/>
            <a:ext cx="17287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系统观点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2F72269-F5EC-4303-AACF-C98F6F70733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确定用例</a:t>
            </a:r>
            <a:endParaRPr lang="en-US" altLang="zh-CN" dirty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zh-CN" sz="2800" dirty="0"/>
              <a:t>从参与者的角度入手，通过分析参与者使用系统达成的目标来识别用例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参与者的日常工作是什么</a:t>
            </a:r>
          </a:p>
          <a:p>
            <a:pPr lvl="1" eaLnBrk="1" hangingPunct="1"/>
            <a:r>
              <a:rPr lang="zh-CN" altLang="en-US" sz="2400" dirty="0"/>
              <a:t>参与者在业务中承担什么样的作用</a:t>
            </a:r>
          </a:p>
          <a:p>
            <a:pPr lvl="1" eaLnBrk="1" hangingPunct="1"/>
            <a:r>
              <a:rPr lang="zh-CN" altLang="en-US" sz="2400" dirty="0"/>
              <a:t>参与者是否生成、使用或删除系统相关信息</a:t>
            </a:r>
          </a:p>
          <a:p>
            <a:pPr lvl="1" eaLnBrk="1" hangingPunct="1"/>
            <a:r>
              <a:rPr lang="zh-CN" altLang="en-US" sz="2400" dirty="0"/>
              <a:t>参与者是否需要把外部变更通知系统</a:t>
            </a:r>
          </a:p>
          <a:p>
            <a:pPr lvl="1" eaLnBrk="1" hangingPunct="1"/>
            <a:r>
              <a:rPr lang="zh-CN" altLang="en-US" sz="2400" dirty="0"/>
              <a:t>系统是否需要把内部事情</a:t>
            </a:r>
            <a:r>
              <a:rPr lang="zh-CN" altLang="en-US" sz="2400"/>
              <a:t>通知参与者，通知</a:t>
            </a:r>
            <a:r>
              <a:rPr lang="zh-CN" altLang="en-US" sz="2400" dirty="0"/>
              <a:t>参与者过程就是系统用例的行为</a:t>
            </a:r>
          </a:p>
          <a:p>
            <a:pPr lvl="1" eaLnBrk="1" hangingPunct="1"/>
            <a:r>
              <a:rPr lang="zh-CN" altLang="en-US" sz="2400" dirty="0"/>
              <a:t>是否存在进行系统维护的用例</a:t>
            </a:r>
          </a:p>
          <a:p>
            <a:pPr eaLnBrk="1" hangingPunct="1"/>
            <a:r>
              <a:rPr lang="zh-CN" altLang="en-US" sz="2800" dirty="0"/>
              <a:t>用例数量的参考基准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1</a:t>
            </a:r>
            <a:r>
              <a:rPr lang="zh-CN" altLang="en-US" sz="2400" dirty="0"/>
              <a:t>个系统中存在十几个用例</a:t>
            </a:r>
            <a:r>
              <a:rPr lang="en-US" altLang="zh-CN" sz="2400" dirty="0"/>
              <a:t>(</a:t>
            </a:r>
            <a:r>
              <a:rPr lang="zh-CN" altLang="en-US" sz="2400" dirty="0"/>
              <a:t>或更少</a:t>
            </a:r>
            <a:r>
              <a:rPr lang="en-US" altLang="zh-CN" sz="2400" dirty="0"/>
              <a:t>)</a:t>
            </a:r>
          </a:p>
          <a:p>
            <a:pPr lvl="1" eaLnBrk="1" hangingPunct="1"/>
            <a:r>
              <a:rPr lang="en-US" altLang="zh-CN" sz="2400" dirty="0"/>
              <a:t>1</a:t>
            </a:r>
            <a:r>
              <a:rPr lang="zh-CN" altLang="en-US" sz="2400" dirty="0"/>
              <a:t>个用例中有多个用例实例</a:t>
            </a:r>
            <a:r>
              <a:rPr lang="en-US" altLang="zh-CN" sz="2400" dirty="0"/>
              <a:t>(</a:t>
            </a:r>
            <a:r>
              <a:rPr lang="zh-CN" altLang="en-US" sz="2400" dirty="0"/>
              <a:t>场景</a:t>
            </a:r>
            <a:r>
              <a:rPr lang="en-US" altLang="zh-C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93344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用例命名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参与者视角：</a:t>
            </a:r>
          </a:p>
          <a:p>
            <a:pPr lvl="1" eaLnBrk="1" hangingPunct="1"/>
            <a:r>
              <a:rPr lang="zh-CN" altLang="en-US"/>
              <a:t>（状语）动词</a:t>
            </a:r>
            <a:r>
              <a:rPr lang="en-US" altLang="zh-CN"/>
              <a:t>+</a:t>
            </a:r>
            <a:r>
              <a:rPr lang="zh-CN" altLang="en-US"/>
              <a:t>（定语</a:t>
            </a:r>
            <a:r>
              <a:rPr lang="en-US" altLang="zh-CN"/>
              <a:t>+ </a:t>
            </a:r>
            <a:r>
              <a:rPr lang="zh-CN" altLang="en-US"/>
              <a:t>）宾语</a:t>
            </a:r>
          </a:p>
        </p:txBody>
      </p:sp>
      <p:sp>
        <p:nvSpPr>
          <p:cNvPr id="6041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C74E618-0DC4-47C1-9E2A-F6299D835F7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528" y="2845615"/>
            <a:ext cx="6120606" cy="148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D0088D9-ED73-4F7C-972A-D488DCAC190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用例粒度</a:t>
            </a:r>
            <a:endParaRPr lang="en-US" altLang="zh-CN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用例是一组用例实例的抽象；其内部要有路径，路径要有步骤</a:t>
            </a:r>
          </a:p>
          <a:p>
            <a:pPr eaLnBrk="1" hangingPunct="1"/>
            <a:r>
              <a:rPr lang="zh-CN" altLang="en-US" dirty="0"/>
              <a:t>最常犯错误：粒度过细，陷入功能分解</a:t>
            </a:r>
          </a:p>
          <a:p>
            <a:pPr lvl="1" eaLnBrk="1" hangingPunct="1"/>
            <a:r>
              <a:rPr kumimoji="0" lang="zh-CN" altLang="en-US" dirty="0"/>
              <a:t>通过执行用例，</a:t>
            </a:r>
            <a:r>
              <a:rPr lang="zh-CN" altLang="en-US" dirty="0"/>
              <a:t>参与者完成想做的事情</a:t>
            </a:r>
            <a:r>
              <a:rPr lang="en-US" altLang="zh-CN" dirty="0"/>
              <a:t>(</a:t>
            </a:r>
            <a:r>
              <a:rPr lang="zh-CN" altLang="en-US" dirty="0"/>
              <a:t>最终的目的</a:t>
            </a:r>
            <a:r>
              <a:rPr lang="en-US" altLang="zh-CN" dirty="0"/>
              <a:t>)</a:t>
            </a:r>
            <a:r>
              <a:rPr lang="zh-CN" altLang="en-US" dirty="0"/>
              <a:t>，并为参与者产生所需要的价值</a:t>
            </a:r>
          </a:p>
          <a:p>
            <a:pPr lvl="1" eaLnBrk="1" hangingPunct="1"/>
            <a:r>
              <a:rPr lang="zh-CN" altLang="en-US" dirty="0"/>
              <a:t>过细的粒度，一般都会导致技术语言的描述，而不再是业务语言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E60B9CE-4D70-4B4D-A674-39BB90AB074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用例粒度（续）</a:t>
            </a:r>
            <a:endParaRPr lang="en-US" altLang="zh-CN" dirty="0"/>
          </a:p>
        </p:txBody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把步骤当用例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把系统活动当用例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1628801"/>
            <a:ext cx="5832648" cy="2023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4315440"/>
            <a:ext cx="4251617" cy="197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用例粒度：四轮马车</a:t>
            </a:r>
            <a:endParaRPr lang="en-US" altLang="zh-CN" dirty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四轮马车</a:t>
            </a:r>
            <a:r>
              <a:rPr lang="en-US" altLang="zh-CN" dirty="0"/>
              <a:t>CRUD</a:t>
            </a:r>
            <a:r>
              <a:rPr lang="zh-CN" altLang="en-US" dirty="0"/>
              <a:t>：</a:t>
            </a:r>
            <a:r>
              <a:rPr lang="en-US" altLang="zh-CN" sz="2800" dirty="0"/>
              <a:t>C(Create)</a:t>
            </a:r>
            <a:r>
              <a:rPr lang="zh-CN" altLang="en-US" sz="2800" dirty="0"/>
              <a:t>、</a:t>
            </a:r>
            <a:r>
              <a:rPr lang="en-US" altLang="zh-CN" sz="2800" dirty="0"/>
              <a:t>R(Read)</a:t>
            </a:r>
            <a:r>
              <a:rPr lang="zh-CN" altLang="en-US" sz="2800" dirty="0"/>
              <a:t>、</a:t>
            </a:r>
            <a:r>
              <a:rPr lang="en-US" altLang="zh-CN" sz="2800" dirty="0"/>
              <a:t>U(Update)</a:t>
            </a:r>
            <a:r>
              <a:rPr lang="zh-CN" altLang="en-US" sz="2800" dirty="0"/>
              <a:t>、</a:t>
            </a:r>
            <a:r>
              <a:rPr lang="en-US" altLang="zh-CN" sz="2800" dirty="0"/>
              <a:t>D(Delete)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所有业务最终对会成为</a:t>
            </a:r>
            <a:r>
              <a:rPr lang="en-US" altLang="zh-CN" dirty="0"/>
              <a:t>CRUD</a:t>
            </a:r>
            <a:r>
              <a:rPr lang="zh-CN" altLang="en-US" dirty="0"/>
              <a:t>？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CRUD</a:t>
            </a:r>
            <a:r>
              <a:rPr lang="zh-CN" altLang="en-US" dirty="0"/>
              <a:t>能为</a:t>
            </a:r>
            <a:r>
              <a:rPr lang="en-US" altLang="zh-CN" dirty="0"/>
              <a:t>Actor</a:t>
            </a:r>
            <a:r>
              <a:rPr lang="zh-CN" altLang="en-US" dirty="0"/>
              <a:t>提供价值？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FF33CC"/>
                </a:solidFill>
              </a:rPr>
              <a:t>CRUD</a:t>
            </a:r>
            <a:r>
              <a:rPr lang="zh-CN" altLang="en-US" dirty="0">
                <a:solidFill>
                  <a:srgbClr val="FF33CC"/>
                </a:solidFill>
              </a:rPr>
              <a:t>掩盖业务，</a:t>
            </a:r>
            <a:r>
              <a:rPr lang="zh-CN" altLang="en-US" dirty="0">
                <a:solidFill>
                  <a:srgbClr val="000000"/>
                </a:solidFill>
              </a:rPr>
              <a:t>锐变成关系数据库的建模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“系统就是数据的增删改查”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关心数据的存储和维护，反而忽略了用户的目的</a:t>
            </a:r>
          </a:p>
        </p:txBody>
      </p:sp>
      <p:sp>
        <p:nvSpPr>
          <p:cNvPr id="6349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9BCE2A3-8633-4AA9-8A21-A733C0B849F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4077072"/>
            <a:ext cx="6313440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73B15B8-21EB-4154-B31D-ED53B2468CC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用例粒度：四轮马车（续）</a:t>
            </a:r>
            <a:endParaRPr lang="en-US" altLang="zh-CN" dirty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如果确实是</a:t>
            </a:r>
            <a:r>
              <a:rPr lang="en-US" altLang="zh-CN" dirty="0"/>
              <a:t>CRUD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如果</a:t>
            </a:r>
            <a:r>
              <a:rPr lang="en-US" altLang="zh-CN" dirty="0"/>
              <a:t>CRUD</a:t>
            </a:r>
            <a:r>
              <a:rPr lang="zh-CN" altLang="en-US" dirty="0"/>
              <a:t>不涉及复杂的交互，一个用例“管理</a:t>
            </a:r>
            <a:r>
              <a:rPr lang="en-US" altLang="zh-CN" dirty="0"/>
              <a:t>××”</a:t>
            </a:r>
            <a:r>
              <a:rPr lang="zh-CN" altLang="en-US" dirty="0"/>
              <a:t>即可</a:t>
            </a:r>
          </a:p>
          <a:p>
            <a:pPr lvl="1" eaLnBrk="1" hangingPunct="1"/>
            <a:r>
              <a:rPr lang="zh-CN" altLang="en-US" dirty="0"/>
              <a:t>不管是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U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，都是为了完成“管理”目标</a:t>
            </a:r>
          </a:p>
          <a:p>
            <a:pPr lvl="1" eaLnBrk="1" hangingPunct="1"/>
            <a:r>
              <a:rPr lang="zh-CN" altLang="en-US" dirty="0"/>
              <a:t>甚至很多种的基本数据管理都可以用一个用例表示</a:t>
            </a:r>
          </a:p>
        </p:txBody>
      </p:sp>
      <p:pic>
        <p:nvPicPr>
          <p:cNvPr id="5122" name="图片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40" y="4149080"/>
            <a:ext cx="4318609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B416C93-F3C5-456B-ACBD-8580C8DF22C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用例粒度：四轮马车（续）</a:t>
            </a:r>
            <a:endParaRPr lang="en-US" altLang="zh-CN" dirty="0"/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灵活处理</a:t>
            </a:r>
            <a:r>
              <a:rPr lang="en-US" altLang="zh-CN"/>
              <a:t>CRUD</a:t>
            </a:r>
          </a:p>
        </p:txBody>
      </p:sp>
      <p:sp>
        <p:nvSpPr>
          <p:cNvPr id="790533" name="Text Box 5"/>
          <p:cNvSpPr txBox="1">
            <a:spLocks noChangeArrowheads="1"/>
          </p:cNvSpPr>
          <p:nvPr/>
        </p:nvSpPr>
        <p:spPr bwMode="auto">
          <a:xfrm>
            <a:off x="2351089" y="5013326"/>
            <a:ext cx="7489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可以把包含复杂交互的路径独立出去形成用例</a:t>
            </a:r>
          </a:p>
        </p:txBody>
      </p:sp>
      <p:pic>
        <p:nvPicPr>
          <p:cNvPr id="6146" name="图片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785" y="2492896"/>
            <a:ext cx="6517142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思考：识别用例</a:t>
            </a:r>
            <a:r>
              <a:rPr lang="en-US" altLang="zh-CN"/>
              <a:t>-1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Email</a:t>
            </a:r>
            <a:r>
              <a:rPr lang="zh-CN" altLang="en-US"/>
              <a:t>客户端（如：</a:t>
            </a:r>
            <a:r>
              <a:rPr lang="en-US" altLang="zh-CN"/>
              <a:t>outlook</a:t>
            </a:r>
            <a:r>
              <a:rPr lang="zh-CN" altLang="en-US"/>
              <a:t>），</a:t>
            </a:r>
            <a:r>
              <a:rPr lang="en-US" altLang="zh-CN"/>
              <a:t>A</a:t>
            </a:r>
            <a:r>
              <a:rPr lang="zh-CN" altLang="en-US"/>
              <a:t>在北京发邮件给上海的</a:t>
            </a:r>
            <a:r>
              <a:rPr lang="en-US" altLang="zh-CN"/>
              <a:t>B</a:t>
            </a:r>
            <a:r>
              <a:rPr lang="zh-CN" altLang="en-US"/>
              <a:t>，系统提醒</a:t>
            </a:r>
            <a:r>
              <a:rPr lang="en-US" altLang="zh-CN"/>
              <a:t>B</a:t>
            </a:r>
            <a:r>
              <a:rPr lang="zh-CN" altLang="en-US"/>
              <a:t>你有“新邮件”，</a:t>
            </a:r>
            <a:r>
              <a:rPr lang="en-US" altLang="zh-CN"/>
              <a:t>B</a:t>
            </a:r>
            <a:r>
              <a:rPr lang="zh-CN" altLang="en-US"/>
              <a:t>收邮件</a:t>
            </a:r>
          </a:p>
        </p:txBody>
      </p:sp>
      <p:sp>
        <p:nvSpPr>
          <p:cNvPr id="6758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AD3D208-AEEB-4AAB-865C-F61A681BAC0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792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320" y="2439989"/>
            <a:ext cx="727392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92581" name="Rectangle 5"/>
          <p:cNvSpPr>
            <a:spLocks noChangeArrowheads="1"/>
          </p:cNvSpPr>
          <p:nvPr/>
        </p:nvSpPr>
        <p:spPr bwMode="auto">
          <a:xfrm>
            <a:off x="3503614" y="5013326"/>
            <a:ext cx="5113337" cy="860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kumimoji="0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用例是一个完整的交互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kumimoji="0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用例之间没有顺序的关系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8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D03660C-B426-410D-96F9-7B46207BDB2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思考：识别用例</a:t>
            </a:r>
            <a:r>
              <a:rPr lang="en-US" altLang="zh-CN"/>
              <a:t>-2</a:t>
            </a:r>
          </a:p>
        </p:txBody>
      </p:sp>
      <p:pic>
        <p:nvPicPr>
          <p:cNvPr id="686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1196975"/>
            <a:ext cx="5400675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95708CD-10AB-42CF-B46E-8DDEDB9E7DE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2.3</a:t>
            </a:r>
            <a:r>
              <a:rPr lang="zh-CN" altLang="en-US" dirty="0"/>
              <a:t> 绘制用例图</a:t>
            </a:r>
            <a:endParaRPr lang="en-US" altLang="zh-CN" dirty="0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用例图：表达参与者与用例关系图形</a:t>
            </a:r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785" y="1628800"/>
            <a:ext cx="7326397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关联关系：参与者和用例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参与者和用例之间的关联关系：参与者参与用例的执行</a:t>
            </a:r>
            <a:endParaRPr lang="en-US" altLang="zh-CN" dirty="0"/>
          </a:p>
          <a:p>
            <a:pPr lvl="1"/>
            <a:r>
              <a:rPr lang="zh-CN" altLang="zh-CN" dirty="0"/>
              <a:t>箭头</a:t>
            </a:r>
            <a:r>
              <a:rPr lang="zh-CN" altLang="en-US" dirty="0"/>
              <a:t>（关联的方向）</a:t>
            </a:r>
            <a:r>
              <a:rPr lang="zh-CN" altLang="zh-CN" dirty="0"/>
              <a:t>并不代表数据流或业务流的方向</a:t>
            </a:r>
            <a:endParaRPr lang="en-US" altLang="zh-CN" dirty="0"/>
          </a:p>
          <a:p>
            <a:pPr lvl="1"/>
            <a:r>
              <a:rPr lang="zh-CN" altLang="zh-CN" dirty="0"/>
              <a:t>箭头代表通信的发起方</a:t>
            </a:r>
            <a:endParaRPr lang="en-US" altLang="zh-CN" dirty="0"/>
          </a:p>
          <a:p>
            <a:pPr lvl="2"/>
            <a:r>
              <a:rPr lang="zh-CN" altLang="zh-CN" dirty="0"/>
              <a:t>箭头由通信的主动方指向被动方，或者说不带箭头的一方会受到带箭头一方的影响</a:t>
            </a:r>
            <a:endParaRPr lang="en-US" altLang="zh-CN" dirty="0"/>
          </a:p>
          <a:p>
            <a:pPr lvl="2"/>
            <a:r>
              <a:rPr lang="zh-CN" altLang="zh-CN" dirty="0"/>
              <a:t>不带箭头意味着没有考虑这种影响的方向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68</a:t>
            </a:fld>
            <a:r>
              <a:rPr lang="en-US" altLang="zh-CN"/>
              <a:t>-</a:t>
            </a:r>
          </a:p>
        </p:txBody>
      </p:sp>
      <p:pic>
        <p:nvPicPr>
          <p:cNvPr id="9218" name="图片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264" y="5000201"/>
            <a:ext cx="5756736" cy="136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83392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实例分析：旅店预订系统</a:t>
            </a:r>
            <a:endParaRPr lang="en-US" altLang="zh-CN"/>
          </a:p>
        </p:txBody>
      </p:sp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AD8B7D0-098E-4C35-A5D1-859D2E3DA95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195" name="图片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3" y="1484784"/>
            <a:ext cx="6411063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F3967C8-7846-4367-BDC6-448B9106886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建模实践：旅游业务申请系统</a:t>
            </a:r>
            <a:endParaRPr lang="en-US" altLang="zh-CN" dirty="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阅读“旅游业务申请系统”问题陈述</a:t>
            </a:r>
          </a:p>
          <a:p>
            <a:pPr lvl="1" eaLnBrk="1" hangingPunct="1"/>
            <a:r>
              <a:rPr lang="zh-CN" altLang="en-US" dirty="0"/>
              <a:t>识别系统参与者</a:t>
            </a:r>
          </a:p>
          <a:p>
            <a:pPr lvl="1" eaLnBrk="1" hangingPunct="1"/>
            <a:r>
              <a:rPr lang="zh-CN" altLang="en-US" dirty="0"/>
              <a:t>识别系统用例</a:t>
            </a:r>
          </a:p>
          <a:p>
            <a:pPr lvl="1" eaLnBrk="1" hangingPunct="1"/>
            <a:r>
              <a:rPr lang="zh-CN" altLang="en-US" dirty="0"/>
              <a:t>绘制用例图</a:t>
            </a:r>
            <a:endParaRPr lang="en-US" altLang="zh-C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获取系统参与者</a:t>
            </a:r>
          </a:p>
        </p:txBody>
      </p:sp>
      <p:sp>
        <p:nvSpPr>
          <p:cNvPr id="727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8F0B5C4-967C-4E05-BA2D-F8C92AFC8B9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81188" y="1071564"/>
          <a:ext cx="8501062" cy="5121275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93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32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抽取角度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外部事物种类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主要日常工作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使用目标系统职责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参与者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典型代表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40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相关用户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前台招待顾客的员工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洽谈客户事宜并为客户办理各种申请和取消手续、完成费用支付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办理申请手续以及相关的取消、支付等后续业务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前台服务员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具体用户代表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负责催款的员工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打印和邮寄旅游确认书和交款单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打印旅游确认书和交款单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收款员工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…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旅行社内的会计人员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财务记帐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不使用本系统，不是参与者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…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宣传和路线管理员工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制作宣传资料、定期维护旅游路线和活动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维护旅游路线和旅游活动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路线管理员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…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8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其他外部事物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财务系统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记帐等财务操作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接收本系统中与现金相关的财务信息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财务系统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800" b="1" kern="100">
                          <a:latin typeface="Times New Roman"/>
                          <a:ea typeface="宋体"/>
                          <a:cs typeface="Times New Roman"/>
                        </a:rPr>
                        <a:t>...</a:t>
                      </a:r>
                      <a:endParaRPr lang="zh-CN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7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外部激励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关注或影响系统的运行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定期自动导出财务信息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时间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从参与者的角度获取用例</a:t>
            </a:r>
          </a:p>
        </p:txBody>
      </p:sp>
      <p:sp>
        <p:nvSpPr>
          <p:cNvPr id="7373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B68DC0D-85DA-43B8-A184-CACD14F42FE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52625" y="1000125"/>
          <a:ext cx="8501064" cy="5643560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0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参与者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主要工作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是否使用系统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  <a:cs typeface="Times New Roman"/>
                        </a:rPr>
                        <a:t>用例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29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前台</a:t>
                      </a:r>
                      <a:br>
                        <a:rPr lang="en-US" alt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</a:b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服务员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向申请人介绍申请情况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为申请人办理申请手续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办理申请手续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对申请参加人的增、删、改、查等日常维护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管理参加者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记录申请人支付信息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完成支付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为申请人取消申请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取消申请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06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收款</a:t>
                      </a:r>
                      <a:br>
                        <a:rPr lang="en-US" alt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</a:b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员工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打印旅游确认书和余额交款单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打印旅游确认书和余额交款单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邮寄旅游确认书和余额交款单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02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路线</a:t>
                      </a:r>
                      <a:br>
                        <a:rPr lang="en-US" alt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</a:b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管理员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制作宣传资料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设计旅游路线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管理路线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设计旅游团（活动）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管理旅游团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调整旅游团价格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设定价格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029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财务</a:t>
                      </a:r>
                      <a:br>
                        <a:rPr lang="en-US" alt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</a:b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系统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记账等财务操作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0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接收与现金相关的财务信息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导出财务信息（被动）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0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时间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定期导出财务信息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导出财务信息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940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辅助</a:t>
                      </a:r>
                      <a:br>
                        <a:rPr lang="en-US" alt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</a:b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用例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系统要区分各种不同的用户身份，并提供不同的功能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/>
                          <a:ea typeface="宋体"/>
                          <a:cs typeface="Times New Roman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/>
                          <a:ea typeface="宋体"/>
                          <a:cs typeface="Times New Roman"/>
                        </a:rPr>
                        <a:t>登录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旅游业务申请系统参考用例图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F09D348-BC12-4EFD-B73D-1F8DE04EEB0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747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37" y="856878"/>
            <a:ext cx="6715125" cy="552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051F290-9931-4E31-A719-B4EE08A5953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用例建模流程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1. </a:t>
            </a:r>
            <a:r>
              <a:rPr lang="zh-CN" altLang="en-US" dirty="0">
                <a:solidFill>
                  <a:srgbClr val="4D4D4D"/>
                </a:solidFill>
              </a:rPr>
              <a:t>获取原始需求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 </a:t>
            </a:r>
            <a:r>
              <a:rPr lang="zh-CN" altLang="en-US" dirty="0">
                <a:solidFill>
                  <a:srgbClr val="4D4D4D"/>
                </a:solidFill>
              </a:rPr>
              <a:t>开发一个可以理解的需求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2.1 </a:t>
            </a:r>
            <a:r>
              <a:rPr lang="zh-CN" altLang="en-US" dirty="0">
                <a:solidFill>
                  <a:srgbClr val="4D4D4D"/>
                </a:solidFill>
              </a:rPr>
              <a:t>识别参与者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2.2 </a:t>
            </a:r>
            <a:r>
              <a:rPr lang="zh-CN" altLang="en-US" dirty="0">
                <a:solidFill>
                  <a:srgbClr val="4D4D4D"/>
                </a:solidFill>
              </a:rPr>
              <a:t>识别用例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2.3 </a:t>
            </a:r>
            <a:r>
              <a:rPr lang="zh-CN" altLang="en-US" dirty="0">
                <a:solidFill>
                  <a:srgbClr val="4D4D4D"/>
                </a:solidFill>
              </a:rPr>
              <a:t>绘制用例图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 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详细、完整地描述需求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编写用例文档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4 </a:t>
            </a:r>
            <a:r>
              <a:rPr lang="zh-CN" altLang="en-US" dirty="0"/>
              <a:t>重构用例模型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4.1 </a:t>
            </a:r>
            <a:r>
              <a:rPr lang="zh-CN" altLang="en-US" dirty="0"/>
              <a:t>识别用例间的关系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4.2 </a:t>
            </a:r>
            <a:r>
              <a:rPr lang="zh-CN" altLang="en-US" dirty="0"/>
              <a:t>对用例进行分包和分级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编写用例文档</a:t>
            </a:r>
          </a:p>
        </p:txBody>
      </p:sp>
      <p:sp>
        <p:nvSpPr>
          <p:cNvPr id="800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用例文档：描述用例与外界交互的规格说明书</a:t>
            </a:r>
          </a:p>
          <a:p>
            <a:pPr lvl="1" eaLnBrk="1" hangingPunct="1">
              <a:defRPr/>
            </a:pPr>
            <a:r>
              <a:rPr lang="zh-CN" altLang="en-US" dirty="0"/>
              <a:t>需求的核心内容，而用例图作为用例文档的索引图</a:t>
            </a:r>
          </a:p>
          <a:p>
            <a:pPr lvl="1" eaLnBrk="1" hangingPunct="1">
              <a:defRPr/>
            </a:pPr>
            <a:r>
              <a:rPr lang="zh-CN" altLang="en-US" dirty="0"/>
              <a:t>进一步的精度：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有层次的</a:t>
            </a:r>
            <a:r>
              <a:rPr lang="zh-CN" altLang="en-US" dirty="0"/>
              <a:t>文档</a:t>
            </a:r>
          </a:p>
          <a:p>
            <a:pPr lvl="1" eaLnBrk="1" hangingPunct="1">
              <a:defRPr/>
            </a:pPr>
            <a:r>
              <a:rPr lang="zh-CN" altLang="en-US" dirty="0"/>
              <a:t>文档中每一句话都有其价值</a:t>
            </a:r>
          </a:p>
        </p:txBody>
      </p:sp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4EA852D-15CF-4940-A9A6-C673BD660F5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00772" name="Text Box 4"/>
          <p:cNvSpPr txBox="1">
            <a:spLocks noChangeArrowheads="1"/>
          </p:cNvSpPr>
          <p:nvPr/>
        </p:nvSpPr>
        <p:spPr bwMode="auto">
          <a:xfrm>
            <a:off x="2063751" y="4724400"/>
            <a:ext cx="7993063" cy="579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32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用例图是骨架，而用例文档则是其内在的肉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37A162F-48A2-4F95-A213-B72937E72BF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有层次的需求组织形式</a:t>
            </a:r>
            <a:endParaRPr lang="en-US" altLang="zh-CN"/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用例（取款）</a:t>
            </a:r>
          </a:p>
          <a:p>
            <a:pPr lvl="1" eaLnBrk="1" hangingPunct="1"/>
            <a:r>
              <a:rPr lang="zh-CN" altLang="en-US"/>
              <a:t>路径（正常取款）</a:t>
            </a:r>
          </a:p>
          <a:p>
            <a:pPr lvl="2" eaLnBrk="1" hangingPunct="1"/>
            <a:r>
              <a:rPr lang="zh-CN" altLang="en-US"/>
              <a:t>步骤（系统验证取款金额合法）</a:t>
            </a:r>
          </a:p>
          <a:p>
            <a:pPr lvl="3" eaLnBrk="1" hangingPunct="1"/>
            <a:r>
              <a:rPr kumimoji="0" lang="zh-CN" altLang="en-US"/>
              <a:t>补充约束（取款金额必须为</a:t>
            </a:r>
            <a:r>
              <a:rPr kumimoji="0" lang="en-US" altLang="zh-CN"/>
              <a:t>50</a:t>
            </a:r>
            <a:r>
              <a:rPr kumimoji="0" lang="zh-CN" altLang="en-US"/>
              <a:t>元的倍数）</a:t>
            </a:r>
            <a:endParaRPr kumimoji="0" lang="en-US" altLang="zh-CN"/>
          </a:p>
        </p:txBody>
      </p:sp>
      <p:sp>
        <p:nvSpPr>
          <p:cNvPr id="77829" name="AutoShape 4"/>
          <p:cNvSpPr>
            <a:spLocks noChangeArrowheads="1"/>
          </p:cNvSpPr>
          <p:nvPr/>
        </p:nvSpPr>
        <p:spPr bwMode="auto">
          <a:xfrm>
            <a:off x="9767888" y="1125539"/>
            <a:ext cx="360362" cy="2592387"/>
          </a:xfrm>
          <a:prstGeom prst="downArrow">
            <a:avLst>
              <a:gd name="adj1" fmla="val 50000"/>
              <a:gd name="adj2" fmla="val 179846"/>
            </a:avLst>
          </a:prstGeom>
          <a:solidFill>
            <a:srgbClr val="99CCFF"/>
          </a:solidFill>
          <a:ln w="9525">
            <a:solidFill>
              <a:srgbClr val="CCFF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1797" name="Text Box 5"/>
          <p:cNvSpPr txBox="1">
            <a:spLocks noChangeArrowheads="1"/>
          </p:cNvSpPr>
          <p:nvPr/>
        </p:nvSpPr>
        <p:spPr bwMode="auto">
          <a:xfrm>
            <a:off x="7535864" y="1052513"/>
            <a:ext cx="2376487" cy="519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低精度，稳定</a:t>
            </a:r>
          </a:p>
        </p:txBody>
      </p:sp>
      <p:sp>
        <p:nvSpPr>
          <p:cNvPr id="801798" name="Text Box 6"/>
          <p:cNvSpPr txBox="1">
            <a:spLocks noChangeArrowheads="1"/>
          </p:cNvSpPr>
          <p:nvPr/>
        </p:nvSpPr>
        <p:spPr bwMode="auto">
          <a:xfrm>
            <a:off x="7175500" y="3054351"/>
            <a:ext cx="28082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高精度，不稳定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4C01133-F147-4459-A70C-743F83B407A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用例文档的组成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用例名、简要描述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参与者与涉众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相关用例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前置条件、后置条件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事件流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基本路径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备选路径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补充约束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字段列表、业务规则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非功能需求、设计约束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待解决问题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相关图</a:t>
            </a:r>
            <a:r>
              <a:rPr lang="en-US" altLang="zh-CN" sz="2800" dirty="0"/>
              <a:t>(</a:t>
            </a:r>
            <a:r>
              <a:rPr lang="zh-CN" altLang="en-US" sz="2800" dirty="0"/>
              <a:t>用例图、活动图、类图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参与者与涉众</a:t>
            </a:r>
            <a:endParaRPr lang="en-US" altLang="zh-CN" dirty="0"/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>
          <a:xfrm>
            <a:off x="695401" y="3284539"/>
            <a:ext cx="10872184" cy="3097212"/>
          </a:xfrm>
        </p:spPr>
        <p:txBody>
          <a:bodyPr/>
          <a:lstStyle/>
          <a:p>
            <a:pPr eaLnBrk="1" hangingPunct="1"/>
            <a:r>
              <a:rPr lang="zh-CN" altLang="en-US" dirty="0"/>
              <a:t>同样是“取钱”</a:t>
            </a:r>
          </a:p>
          <a:p>
            <a:pPr lvl="1" eaLnBrk="1" hangingPunct="1"/>
            <a:r>
              <a:rPr lang="zh-CN" altLang="en-US" dirty="0"/>
              <a:t>为什么家里的抽屉不用密码，取款机要用？</a:t>
            </a:r>
          </a:p>
          <a:p>
            <a:pPr lvl="1" eaLnBrk="1" hangingPunct="1"/>
            <a:r>
              <a:rPr lang="zh-CN" altLang="en-US" dirty="0"/>
              <a:t>为什么取了钱以后要“系统扣除帐户金额</a:t>
            </a:r>
            <a:r>
              <a:rPr lang="en-US" altLang="zh-CN" dirty="0"/>
              <a:t>”</a:t>
            </a:r>
          </a:p>
          <a:p>
            <a:pPr eaLnBrk="1" hangingPunct="1"/>
            <a:r>
              <a:rPr kumimoji="0" lang="zh-CN" altLang="en-US" dirty="0"/>
              <a:t>还有一些因素没有考虑</a:t>
            </a:r>
            <a:r>
              <a:rPr kumimoji="0" lang="en-US" altLang="zh-CN" dirty="0"/>
              <a:t>…</a:t>
            </a:r>
          </a:p>
        </p:txBody>
      </p:sp>
      <p:sp>
        <p:nvSpPr>
          <p:cNvPr id="808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3CEFBF2-9B21-4A58-A92B-3244D4351D0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090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50" y="1484314"/>
            <a:ext cx="38179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9" y="1377950"/>
            <a:ext cx="19335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1160464"/>
            <a:ext cx="1600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654C0BA-D15D-488C-8683-15A3D4A27AC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从涉众角度定义用例</a:t>
            </a:r>
            <a:endParaRPr lang="en-US" altLang="zh-CN" dirty="0"/>
          </a:p>
        </p:txBody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Cockburn</a:t>
            </a:r>
            <a:r>
              <a:rPr lang="zh-CN" altLang="en-US"/>
              <a:t>：用例是</a:t>
            </a:r>
            <a:r>
              <a:rPr lang="zh-CN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涉众之间达成的契约</a:t>
            </a:r>
            <a:r>
              <a:rPr lang="zh-CN" altLang="en-US"/>
              <a:t>，以参与者为达成特定目标和系统交互的方式演绎</a:t>
            </a:r>
            <a:endParaRPr lang="en-US" altLang="zh-CN"/>
          </a:p>
        </p:txBody>
      </p:sp>
      <p:pic>
        <p:nvPicPr>
          <p:cNvPr id="8192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852739"/>
            <a:ext cx="52578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E7D4AC2-65FE-4E99-9D73-B35DDF96543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用例平衡涉众之间的利益</a:t>
            </a:r>
            <a:endParaRPr lang="en-US" altLang="zh-CN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用例平衡涉众之间的利益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涉众是受系统影响的，有自己主张的人或组织，可能的涉众有：</a:t>
            </a: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最终用户、客户、政府、法律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开发人员、管理人员、竞争对手、</a:t>
            </a:r>
            <a:r>
              <a:rPr lang="en-US" altLang="zh-CN"/>
              <a:t>…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对于用户在</a:t>
            </a:r>
            <a:r>
              <a:rPr lang="en-US" altLang="zh-CN"/>
              <a:t>ATM</a:t>
            </a:r>
            <a:r>
              <a:rPr lang="zh-CN" altLang="en-US"/>
              <a:t>取钱的用例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用户：希望方便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银行：希望安全</a:t>
            </a: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法律：保护财产</a:t>
            </a:r>
            <a:endParaRPr lang="en-US" altLang="zh-CN"/>
          </a:p>
        </p:txBody>
      </p:sp>
      <p:pic>
        <p:nvPicPr>
          <p:cNvPr id="8294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3" y="4292601"/>
            <a:ext cx="1600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涉众利益的冲突</a:t>
            </a:r>
            <a:endParaRPr lang="en-US" altLang="zh-CN"/>
          </a:p>
        </p:txBody>
      </p:sp>
      <p:sp>
        <p:nvSpPr>
          <p:cNvPr id="839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用例相当于参与者在台上表演，而最重要的是台下的观众</a:t>
            </a:r>
            <a:r>
              <a:rPr lang="en-US" altLang="zh-CN" sz="2800"/>
              <a:t>(</a:t>
            </a:r>
            <a:r>
              <a:rPr lang="zh-CN" altLang="en-US" sz="2800"/>
              <a:t>涉众</a:t>
            </a:r>
            <a:r>
              <a:rPr lang="en-US" altLang="zh-CN" sz="2800"/>
              <a:t>)</a:t>
            </a:r>
            <a:r>
              <a:rPr lang="zh-CN" altLang="en-US" sz="2800"/>
              <a:t>的利益</a:t>
            </a:r>
          </a:p>
          <a:p>
            <a:pPr eaLnBrk="1" hangingPunct="1"/>
            <a:r>
              <a:rPr lang="zh-CN" altLang="en-US" sz="2800"/>
              <a:t>编写用例文档的过程就是描述如何满足涉众之间的利益，达到涉众利益的平衡</a:t>
            </a:r>
          </a:p>
          <a:p>
            <a:pPr eaLnBrk="1" hangingPunct="1"/>
            <a:r>
              <a:rPr lang="zh-CN" altLang="en-US" sz="2800"/>
              <a:t>涉众有轻重缓急</a:t>
            </a:r>
            <a:endParaRPr lang="en-US" altLang="zh-CN" sz="2800"/>
          </a:p>
        </p:txBody>
      </p:sp>
      <p:sp>
        <p:nvSpPr>
          <p:cNvPr id="8397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021DB33-4AF8-4E51-ABBC-F0CB18F96A1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397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3573464"/>
            <a:ext cx="7324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DA6B7EE-8973-45B4-A929-FA437160E46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寻找涉众的思路</a:t>
            </a:r>
            <a:endParaRPr lang="en-US" altLang="zh-CN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区分涉众与参与者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/>
              <a:t>涉众是与当前用例存在利益关系的人或组织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/>
              <a:t>参与者是启动或参与用例执行过程的人或外部事物</a:t>
            </a:r>
            <a:endParaRPr kumimoji="0"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可能的涉众有：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当事人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上游下游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操作对象的主人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…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前置条件和后置条件</a:t>
            </a:r>
            <a:endParaRPr lang="en-US" altLang="zh-CN" dirty="0"/>
          </a:p>
        </p:txBody>
      </p:sp>
      <p:sp>
        <p:nvSpPr>
          <p:cNvPr id="86020" name="Rectangle 3"/>
          <p:cNvSpPr>
            <a:spLocks noGrp="1" noChangeArrowheads="1"/>
          </p:cNvSpPr>
          <p:nvPr>
            <p:ph idx="1"/>
          </p:nvPr>
        </p:nvSpPr>
        <p:spPr>
          <a:xfrm>
            <a:off x="695401" y="981076"/>
            <a:ext cx="6840759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前置条件约束在用例开始前系统的状态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作为用例的入口限制，它阻止参与者触发该用例，直到满足所有条件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说明在用例触发之前什么必须为真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后置条件约束用例执行后系统的状态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用例执行后什么必须为真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对于存在各种分支事件流的用例，则可以指定多个后置条件</a:t>
            </a:r>
          </a:p>
        </p:txBody>
      </p:sp>
      <p:sp>
        <p:nvSpPr>
          <p:cNvPr id="8601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AC7BFCF-97C2-4821-9E6E-F5A3AED5447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6021" name="图片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1412776"/>
            <a:ext cx="3595687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定义前置、后置条件</a:t>
            </a:r>
            <a:endParaRPr lang="en-US" altLang="zh-CN"/>
          </a:p>
        </p:txBody>
      </p:sp>
      <p:sp>
        <p:nvSpPr>
          <p:cNvPr id="870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只有在用例的使用者将这些条件视为附加价值是才使用</a:t>
            </a:r>
            <a:endParaRPr lang="en-US" altLang="zh-CN" dirty="0"/>
          </a:p>
          <a:p>
            <a:pPr eaLnBrk="1" hangingPunct="1"/>
            <a:r>
              <a:rPr lang="zh-CN" altLang="en-US" dirty="0"/>
              <a:t>条件必须是系统可以感知的</a:t>
            </a:r>
          </a:p>
          <a:p>
            <a:pPr eaLnBrk="1" hangingPunct="1"/>
            <a:r>
              <a:rPr lang="zh-CN" altLang="en-US" dirty="0"/>
              <a:t>前置条件必须是在用例执行前就可以感知</a:t>
            </a:r>
            <a:endParaRPr lang="en-US" altLang="zh-CN" dirty="0"/>
          </a:p>
        </p:txBody>
      </p:sp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8AAA37E-3034-4442-84A0-211CFEFDB59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428182"/>
            <a:ext cx="23812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10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4941069"/>
            <a:ext cx="2524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232400" y="2924944"/>
            <a:ext cx="3608388" cy="792163"/>
            <a:chOff x="2336" y="1888"/>
            <a:chExt cx="2273" cy="499"/>
          </a:xfrm>
        </p:grpSpPr>
        <p:pic>
          <p:nvPicPr>
            <p:cNvPr id="87054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1888"/>
              <a:ext cx="154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5" name="Line 8"/>
            <p:cNvSpPr>
              <a:spLocks noChangeShapeType="1"/>
            </p:cNvSpPr>
            <p:nvPr/>
          </p:nvSpPr>
          <p:spPr bwMode="auto">
            <a:xfrm flipV="1">
              <a:off x="2336" y="2070"/>
              <a:ext cx="725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32401" y="3861568"/>
            <a:ext cx="3617913" cy="825500"/>
            <a:chOff x="2336" y="2478"/>
            <a:chExt cx="2279" cy="520"/>
          </a:xfrm>
        </p:grpSpPr>
        <p:pic>
          <p:nvPicPr>
            <p:cNvPr id="87052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261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3" name="Line 11"/>
            <p:cNvSpPr>
              <a:spLocks noChangeShapeType="1"/>
            </p:cNvSpPr>
            <p:nvPr/>
          </p:nvSpPr>
          <p:spPr bwMode="auto">
            <a:xfrm>
              <a:off x="2336" y="2478"/>
              <a:ext cx="725" cy="22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232400" y="5085532"/>
            <a:ext cx="4464050" cy="600075"/>
            <a:chOff x="2246" y="3249"/>
            <a:chExt cx="2812" cy="378"/>
          </a:xfrm>
        </p:grpSpPr>
        <p:pic>
          <p:nvPicPr>
            <p:cNvPr id="87050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4" y="3249"/>
              <a:ext cx="2154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1" name="Line 14"/>
            <p:cNvSpPr>
              <a:spLocks noChangeShapeType="1"/>
            </p:cNvSpPr>
            <p:nvPr/>
          </p:nvSpPr>
          <p:spPr bwMode="auto">
            <a:xfrm>
              <a:off x="2246" y="3384"/>
              <a:ext cx="635" cy="1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7782F87-0E42-4E8A-8DAD-1F51F8BAA53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应用前置、后置条件</a:t>
            </a:r>
            <a:endParaRPr lang="en-US" altLang="zh-CN"/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zh-CN" dirty="0"/>
              <a:t>前置和后置条件是用例的可选特征，如果系统状态对用例如何启动和如何终止不重要，则可以省略这些条件</a:t>
            </a:r>
            <a:endParaRPr lang="en-US" altLang="zh-CN" dirty="0"/>
          </a:p>
          <a:p>
            <a:pPr eaLnBrk="1" hangingPunct="1"/>
            <a:r>
              <a:rPr lang="zh-CN" altLang="en-US" dirty="0"/>
              <a:t>某些用例依赖于其他用例</a:t>
            </a:r>
          </a:p>
          <a:p>
            <a:pPr lvl="1" eaLnBrk="1" hangingPunct="1"/>
            <a:r>
              <a:rPr lang="zh-CN" altLang="en-US" dirty="0"/>
              <a:t>例如：“登录”和“管理系统”</a:t>
            </a:r>
          </a:p>
          <a:p>
            <a:pPr eaLnBrk="1" hangingPunct="1"/>
            <a:r>
              <a:rPr lang="zh-CN" altLang="en-US" dirty="0"/>
              <a:t>有助于识别漏掉的用例</a:t>
            </a:r>
          </a:p>
          <a:p>
            <a:pPr lvl="1" eaLnBrk="1" hangingPunct="1"/>
            <a:r>
              <a:rPr lang="zh-CN" altLang="en-US" dirty="0"/>
              <a:t>例如：“管理订单”却没有“登录”用例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BED79CD-A2C9-4106-9C9B-EE1CDFFAB2E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事件流</a:t>
            </a:r>
            <a:r>
              <a:rPr lang="en-US" altLang="zh-CN" dirty="0"/>
              <a:t>-</a:t>
            </a:r>
            <a:r>
              <a:rPr kumimoji="0" lang="zh-CN" altLang="en-US" dirty="0"/>
              <a:t>用</a:t>
            </a:r>
            <a:r>
              <a:rPr lang="zh-CN" altLang="en-US" dirty="0"/>
              <a:t>例交互四部曲</a:t>
            </a:r>
          </a:p>
        </p:txBody>
      </p:sp>
      <p:sp>
        <p:nvSpPr>
          <p:cNvPr id="89092" name="Rectangle 3"/>
          <p:cNvSpPr>
            <a:spLocks noChangeArrowheads="1"/>
          </p:cNvSpPr>
          <p:nvPr/>
        </p:nvSpPr>
        <p:spPr bwMode="auto">
          <a:xfrm>
            <a:off x="6024564" y="1809750"/>
            <a:ext cx="2376487" cy="3168650"/>
          </a:xfrm>
          <a:prstGeom prst="rect">
            <a:avLst/>
          </a:prstGeom>
          <a:noFill/>
          <a:ln w="28575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093" name="Group 4"/>
          <p:cNvGrpSpPr>
            <a:grpSpLocks/>
          </p:cNvGrpSpPr>
          <p:nvPr/>
        </p:nvGrpSpPr>
        <p:grpSpPr bwMode="auto">
          <a:xfrm>
            <a:off x="2782889" y="2674938"/>
            <a:ext cx="2016125" cy="1446212"/>
            <a:chOff x="22" y="2659"/>
            <a:chExt cx="1497" cy="957"/>
          </a:xfrm>
        </p:grpSpPr>
        <p:grpSp>
          <p:nvGrpSpPr>
            <p:cNvPr id="89104" name="Group 5"/>
            <p:cNvGrpSpPr>
              <a:grpSpLocks/>
            </p:cNvGrpSpPr>
            <p:nvPr/>
          </p:nvGrpSpPr>
          <p:grpSpPr bwMode="auto">
            <a:xfrm>
              <a:off x="566" y="2659"/>
              <a:ext cx="318" cy="674"/>
              <a:chOff x="1532" y="1866"/>
              <a:chExt cx="294" cy="536"/>
            </a:xfrm>
          </p:grpSpPr>
          <p:sp>
            <p:nvSpPr>
              <p:cNvPr id="89106" name="Oval 6"/>
              <p:cNvSpPr>
                <a:spLocks noChangeArrowheads="1"/>
              </p:cNvSpPr>
              <p:nvPr/>
            </p:nvSpPr>
            <p:spPr bwMode="auto">
              <a:xfrm>
                <a:off x="1606" y="1866"/>
                <a:ext cx="147" cy="146"/>
              </a:xfrm>
              <a:prstGeom prst="ellips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89107" name="Line 7"/>
              <p:cNvSpPr>
                <a:spLocks noChangeShapeType="1"/>
              </p:cNvSpPr>
              <p:nvPr/>
            </p:nvSpPr>
            <p:spPr bwMode="auto">
              <a:xfrm>
                <a:off x="1532" y="2117"/>
                <a:ext cx="29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89108" name="Line 8"/>
              <p:cNvSpPr>
                <a:spLocks noChangeShapeType="1"/>
              </p:cNvSpPr>
              <p:nvPr/>
            </p:nvSpPr>
            <p:spPr bwMode="auto">
              <a:xfrm rot="5400000">
                <a:off x="1542" y="2149"/>
                <a:ext cx="27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89109" name="Line 9"/>
              <p:cNvSpPr>
                <a:spLocks noChangeShapeType="1"/>
              </p:cNvSpPr>
              <p:nvPr/>
            </p:nvSpPr>
            <p:spPr bwMode="auto">
              <a:xfrm flipH="1">
                <a:off x="1535" y="2263"/>
                <a:ext cx="144" cy="139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89110" name="Line 10"/>
              <p:cNvSpPr>
                <a:spLocks noChangeShapeType="1"/>
              </p:cNvSpPr>
              <p:nvPr/>
            </p:nvSpPr>
            <p:spPr bwMode="auto">
              <a:xfrm>
                <a:off x="1682" y="2276"/>
                <a:ext cx="118" cy="126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</p:grpSp>
        <p:sp>
          <p:nvSpPr>
            <p:cNvPr id="89105" name="Text Box 11"/>
            <p:cNvSpPr txBox="1">
              <a:spLocks noChangeArrowheads="1"/>
            </p:cNvSpPr>
            <p:nvPr/>
          </p:nvSpPr>
          <p:spPr bwMode="auto">
            <a:xfrm>
              <a:off x="22" y="3373"/>
              <a:ext cx="1497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kumimoji="0" lang="zh-CN" altLang="en-US" sz="1800">
                <a:latin typeface="Verdana" pitchFamily="34" charset="0"/>
              </a:endParaRPr>
            </a:p>
          </p:txBody>
        </p:sp>
      </p:grpSp>
      <p:sp>
        <p:nvSpPr>
          <p:cNvPr id="813068" name="Line 12"/>
          <p:cNvSpPr>
            <a:spLocks noChangeShapeType="1"/>
          </p:cNvSpPr>
          <p:nvPr/>
        </p:nvSpPr>
        <p:spPr bwMode="auto">
          <a:xfrm>
            <a:off x="4008439" y="2241550"/>
            <a:ext cx="2014537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3069" name="Line 13"/>
          <p:cNvSpPr>
            <a:spLocks noChangeShapeType="1"/>
          </p:cNvSpPr>
          <p:nvPr/>
        </p:nvSpPr>
        <p:spPr bwMode="auto">
          <a:xfrm flipH="1">
            <a:off x="3863975" y="4618038"/>
            <a:ext cx="2160588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3070" name="AutoShape 14"/>
          <p:cNvSpPr>
            <a:spLocks noChangeArrowheads="1"/>
          </p:cNvSpPr>
          <p:nvPr/>
        </p:nvSpPr>
        <p:spPr bwMode="auto">
          <a:xfrm>
            <a:off x="6743701" y="2457450"/>
            <a:ext cx="1008063" cy="865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181" y="19738"/>
                </a:moveTo>
                <a:cubicBezTo>
                  <a:pt x="17231" y="18658"/>
                  <a:pt x="20050" y="14991"/>
                  <a:pt x="20050" y="10800"/>
                </a:cubicBezTo>
                <a:cubicBezTo>
                  <a:pt x="20050" y="5691"/>
                  <a:pt x="15908" y="1550"/>
                  <a:pt x="10800" y="1550"/>
                </a:cubicBezTo>
                <a:cubicBezTo>
                  <a:pt x="5691" y="1550"/>
                  <a:pt x="1550" y="5691"/>
                  <a:pt x="1550" y="10800"/>
                </a:cubicBezTo>
                <a:cubicBezTo>
                  <a:pt x="1549" y="11658"/>
                  <a:pt x="1669" y="12511"/>
                  <a:pt x="1904" y="13336"/>
                </a:cubicBezTo>
                <a:lnTo>
                  <a:pt x="414" y="13762"/>
                </a:lnTo>
                <a:cubicBezTo>
                  <a:pt x="139" y="12798"/>
                  <a:pt x="0" y="11801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693"/>
                  <a:pt x="18309" y="19975"/>
                  <a:pt x="13580" y="21235"/>
                </a:cubicBezTo>
                <a:lnTo>
                  <a:pt x="14276" y="23844"/>
                </a:lnTo>
                <a:lnTo>
                  <a:pt x="10024" y="21381"/>
                </a:lnTo>
                <a:lnTo>
                  <a:pt x="12486" y="17129"/>
                </a:lnTo>
                <a:lnTo>
                  <a:pt x="13181" y="19738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3071" name="AutoShape 15"/>
          <p:cNvSpPr>
            <a:spLocks noChangeArrowheads="1"/>
          </p:cNvSpPr>
          <p:nvPr/>
        </p:nvSpPr>
        <p:spPr bwMode="auto">
          <a:xfrm>
            <a:off x="6743701" y="3538538"/>
            <a:ext cx="1008063" cy="863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181" y="19738"/>
                </a:moveTo>
                <a:cubicBezTo>
                  <a:pt x="17231" y="18658"/>
                  <a:pt x="20050" y="14991"/>
                  <a:pt x="20050" y="10800"/>
                </a:cubicBezTo>
                <a:cubicBezTo>
                  <a:pt x="20050" y="5691"/>
                  <a:pt x="15908" y="1550"/>
                  <a:pt x="10800" y="1550"/>
                </a:cubicBezTo>
                <a:cubicBezTo>
                  <a:pt x="5691" y="1550"/>
                  <a:pt x="1550" y="5691"/>
                  <a:pt x="1550" y="10800"/>
                </a:cubicBezTo>
                <a:cubicBezTo>
                  <a:pt x="1549" y="11658"/>
                  <a:pt x="1669" y="12511"/>
                  <a:pt x="1904" y="13336"/>
                </a:cubicBezTo>
                <a:lnTo>
                  <a:pt x="414" y="13762"/>
                </a:lnTo>
                <a:cubicBezTo>
                  <a:pt x="139" y="12798"/>
                  <a:pt x="0" y="11801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693"/>
                  <a:pt x="18309" y="19975"/>
                  <a:pt x="13580" y="21235"/>
                </a:cubicBezTo>
                <a:lnTo>
                  <a:pt x="14276" y="23844"/>
                </a:lnTo>
                <a:lnTo>
                  <a:pt x="10024" y="21381"/>
                </a:lnTo>
                <a:lnTo>
                  <a:pt x="12486" y="17129"/>
                </a:lnTo>
                <a:lnTo>
                  <a:pt x="13181" y="19738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3072" name="Text Box 16"/>
          <p:cNvSpPr txBox="1">
            <a:spLocks noChangeArrowheads="1"/>
          </p:cNvSpPr>
          <p:nvPr/>
        </p:nvSpPr>
        <p:spPr bwMode="auto">
          <a:xfrm>
            <a:off x="4511675" y="1882776"/>
            <a:ext cx="1296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>
                <a:solidFill>
                  <a:srgbClr val="3333FF"/>
                </a:solidFill>
                <a:latin typeface="Arial" charset="0"/>
              </a:rPr>
              <a:t>1. </a:t>
            </a:r>
            <a:r>
              <a:rPr kumimoji="0" lang="zh-CN" altLang="en-US" sz="2000">
                <a:solidFill>
                  <a:srgbClr val="3333FF"/>
                </a:solidFill>
                <a:latin typeface="Arial" charset="0"/>
              </a:rPr>
              <a:t>动  作</a:t>
            </a:r>
          </a:p>
        </p:txBody>
      </p:sp>
      <p:sp>
        <p:nvSpPr>
          <p:cNvPr id="813073" name="Text Box 17"/>
          <p:cNvSpPr txBox="1">
            <a:spLocks noChangeArrowheads="1"/>
          </p:cNvSpPr>
          <p:nvPr/>
        </p:nvSpPr>
        <p:spPr bwMode="auto">
          <a:xfrm>
            <a:off x="4511676" y="4618039"/>
            <a:ext cx="1655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>
                <a:solidFill>
                  <a:srgbClr val="3333FF"/>
                </a:solidFill>
                <a:latin typeface="Arial" charset="0"/>
              </a:rPr>
              <a:t>4. </a:t>
            </a:r>
            <a:r>
              <a:rPr kumimoji="0" lang="zh-CN" altLang="en-US" sz="2000">
                <a:solidFill>
                  <a:srgbClr val="3333FF"/>
                </a:solidFill>
                <a:latin typeface="Arial" charset="0"/>
              </a:rPr>
              <a:t>回  应</a:t>
            </a:r>
          </a:p>
        </p:txBody>
      </p:sp>
      <p:sp>
        <p:nvSpPr>
          <p:cNvPr id="813074" name="Text Box 18"/>
          <p:cNvSpPr txBox="1">
            <a:spLocks noChangeArrowheads="1"/>
          </p:cNvSpPr>
          <p:nvPr/>
        </p:nvSpPr>
        <p:spPr bwMode="auto">
          <a:xfrm>
            <a:off x="6816726" y="2709864"/>
            <a:ext cx="100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 dirty="0">
                <a:solidFill>
                  <a:srgbClr val="3333FF"/>
                </a:solidFill>
                <a:latin typeface="Arial" charset="0"/>
              </a:rPr>
              <a:t>2.</a:t>
            </a:r>
            <a:r>
              <a:rPr kumimoji="0" lang="zh-CN" altLang="en-US" sz="2000" dirty="0">
                <a:solidFill>
                  <a:srgbClr val="3333FF"/>
                </a:solidFill>
                <a:latin typeface="Arial" charset="0"/>
              </a:rPr>
              <a:t>验证</a:t>
            </a:r>
          </a:p>
        </p:txBody>
      </p:sp>
      <p:sp>
        <p:nvSpPr>
          <p:cNvPr id="813075" name="Text Box 19"/>
          <p:cNvSpPr txBox="1">
            <a:spLocks noChangeArrowheads="1"/>
          </p:cNvSpPr>
          <p:nvPr/>
        </p:nvSpPr>
        <p:spPr bwMode="auto">
          <a:xfrm>
            <a:off x="6816726" y="3789364"/>
            <a:ext cx="100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 dirty="0">
                <a:solidFill>
                  <a:srgbClr val="3333FF"/>
                </a:solidFill>
                <a:latin typeface="Arial" charset="0"/>
              </a:rPr>
              <a:t>3.</a:t>
            </a:r>
            <a:r>
              <a:rPr kumimoji="0" lang="zh-CN" altLang="en-US" sz="2000" dirty="0">
                <a:solidFill>
                  <a:srgbClr val="3333FF"/>
                </a:solidFill>
                <a:latin typeface="Arial" charset="0"/>
              </a:rPr>
              <a:t>处理</a:t>
            </a:r>
          </a:p>
        </p:txBody>
      </p:sp>
      <p:sp>
        <p:nvSpPr>
          <p:cNvPr id="89102" name="Text Box 20"/>
          <p:cNvSpPr txBox="1">
            <a:spLocks noChangeArrowheads="1"/>
          </p:cNvSpPr>
          <p:nvPr/>
        </p:nvSpPr>
        <p:spPr bwMode="auto">
          <a:xfrm>
            <a:off x="6311900" y="1773239"/>
            <a:ext cx="1728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zh-CN" altLang="en-US" sz="2000" u="sng">
                <a:solidFill>
                  <a:srgbClr val="3333FF"/>
                </a:solidFill>
                <a:latin typeface="Arial" charset="0"/>
              </a:rPr>
              <a:t>系  统</a:t>
            </a:r>
          </a:p>
        </p:txBody>
      </p:sp>
      <p:sp>
        <p:nvSpPr>
          <p:cNvPr id="813077" name="Text Box 21"/>
          <p:cNvSpPr txBox="1">
            <a:spLocks noChangeArrowheads="1"/>
          </p:cNvSpPr>
          <p:nvPr/>
        </p:nvSpPr>
        <p:spPr bwMode="auto">
          <a:xfrm>
            <a:off x="1992314" y="5229226"/>
            <a:ext cx="820737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重点写：</a:t>
            </a:r>
            <a:r>
              <a:rPr lang="en-US" altLang="zh-CN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1</a:t>
            </a: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和</a:t>
            </a:r>
            <a:r>
              <a:rPr lang="en-US" altLang="zh-CN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4</a:t>
            </a: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rPr>
              <a:t>（可观测的、体现客户利益的文字）</a:t>
            </a:r>
            <a:endParaRPr lang="en-US" altLang="zh-CN" sz="2800" u="sng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1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81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81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500"/>
                                        <p:tgtEl>
                                          <p:spTgt spid="81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81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" dur="500"/>
                                        <p:tgtEl>
                                          <p:spTgt spid="81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81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8" grpId="0" animBg="1"/>
      <p:bldP spid="813069" grpId="0" animBg="1"/>
      <p:bldP spid="813070" grpId="0" animBg="1"/>
      <p:bldP spid="813071" grpId="0" animBg="1"/>
      <p:bldP spid="813072" grpId="0"/>
      <p:bldP spid="813073" grpId="0"/>
      <p:bldP spid="813074" grpId="0"/>
      <p:bldP spid="81307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99A0B56-ADC9-424B-A7AD-7857AB88935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事件流描述要点</a:t>
            </a:r>
            <a:endParaRPr lang="en-US" altLang="zh-CN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事件流描述要使用户和开发人员互相理解用例的功能，要注意以下几点：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使用业务语言：使用用户平时所使用的语言进行描述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重点描述参与者与系统交互的信息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不使用“例如”、“等”不清晰的表达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不要过多的考虑界面细节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不要描述系统内部处理细节，要描述从系统外部所看到的活动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要明确描述用例的开始和结束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不仅需要描述基本事件流，还需要考虑备选事件流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5D8B5F6-BCCE-43B4-813F-AB201988644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：使用自然语言</a:t>
            </a:r>
            <a:endParaRPr lang="en-US" altLang="zh-CN"/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技术语言：无法与用户沟通</a:t>
            </a:r>
            <a:endParaRPr lang="en-US" altLang="zh-CN">
              <a:solidFill>
                <a:srgbClr val="000000"/>
              </a:solidFill>
            </a:endParaRPr>
          </a:p>
          <a:p>
            <a:pPr lvl="1" eaLnBrk="1" hangingPunct="1"/>
            <a:r>
              <a:rPr lang="zh-CN" altLang="en-US">
                <a:solidFill>
                  <a:srgbClr val="000000"/>
                </a:solidFill>
              </a:rPr>
              <a:t>系统通过</a:t>
            </a:r>
            <a:r>
              <a:rPr lang="en-US" altLang="zh-CN">
                <a:solidFill>
                  <a:srgbClr val="000000"/>
                </a:solidFill>
              </a:rPr>
              <a:t>ADO</a:t>
            </a:r>
            <a:r>
              <a:rPr lang="zh-CN" altLang="en-US">
                <a:solidFill>
                  <a:srgbClr val="000000"/>
                </a:solidFill>
              </a:rPr>
              <a:t>建立数据库连接，传送</a:t>
            </a:r>
            <a:r>
              <a:rPr lang="en-US" altLang="zh-CN">
                <a:solidFill>
                  <a:srgbClr val="000000"/>
                </a:solidFill>
              </a:rPr>
              <a:t>SQL</a:t>
            </a:r>
            <a:r>
              <a:rPr lang="zh-CN" altLang="en-US">
                <a:solidFill>
                  <a:srgbClr val="000000"/>
                </a:solidFill>
              </a:rPr>
              <a:t>查询语句，从“商品表”查询商品的详细信息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自然语言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zh-CN" altLang="en-US">
                <a:solidFill>
                  <a:srgbClr val="000000"/>
                </a:solidFill>
              </a:rPr>
              <a:t>用户语言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1" eaLnBrk="1" hangingPunct="1"/>
            <a:r>
              <a:rPr lang="zh-CN" altLang="en-US">
                <a:solidFill>
                  <a:srgbClr val="000000"/>
                </a:solidFill>
              </a:rPr>
              <a:t>系统按照查询条件搜索商品的详细信息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3A6AF3A-3EB9-4407-957A-A5A99C110D3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例</a:t>
            </a:r>
            <a:r>
              <a:rPr lang="en-US" altLang="zh-CN" sz="4000"/>
              <a:t>2</a:t>
            </a:r>
            <a:r>
              <a:rPr lang="zh-CN" altLang="en-US" sz="4000"/>
              <a:t>：描述参与者与系统交互过程</a:t>
            </a:r>
            <a:endParaRPr lang="en-US" altLang="zh-CN" sz="4000"/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以</a:t>
            </a:r>
            <a:r>
              <a:rPr lang="zh-CN" altLang="en-US"/>
              <a:t>参与者</a:t>
            </a:r>
            <a:r>
              <a:rPr lang="zh-CN" altLang="en-US">
                <a:solidFill>
                  <a:srgbClr val="000000"/>
                </a:solidFill>
              </a:rPr>
              <a:t>或系统作为主语描述</a:t>
            </a:r>
          </a:p>
          <a:p>
            <a:pPr lvl="1" eaLnBrk="1" hangingPunct="1"/>
            <a:r>
              <a:rPr lang="zh-CN" altLang="en-US"/>
              <a:t>参与者</a:t>
            </a:r>
            <a:r>
              <a:rPr lang="en-US" altLang="zh-CN">
                <a:solidFill>
                  <a:srgbClr val="000000"/>
                </a:solidFill>
              </a:rPr>
              <a:t>……</a:t>
            </a:r>
          </a:p>
          <a:p>
            <a:pPr lvl="1" eaLnBrk="1" hangingPunct="1"/>
            <a:r>
              <a:rPr lang="zh-CN" altLang="en-US">
                <a:solidFill>
                  <a:srgbClr val="000000"/>
                </a:solidFill>
              </a:rPr>
              <a:t>系统</a:t>
            </a:r>
            <a:r>
              <a:rPr lang="en-US" altLang="zh-CN">
                <a:solidFill>
                  <a:srgbClr val="000000"/>
                </a:solidFill>
              </a:rPr>
              <a:t>……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示例</a:t>
            </a:r>
          </a:p>
          <a:p>
            <a:pPr lvl="1" eaLnBrk="1" hangingPunct="1"/>
            <a:r>
              <a:rPr lang="zh-CN" altLang="en-US"/>
              <a:t>出纳员接收顾客的付款</a:t>
            </a:r>
            <a:r>
              <a:rPr lang="en-US" altLang="zh-CN"/>
              <a:t>—</a:t>
            </a:r>
            <a:r>
              <a:rPr lang="zh-CN" altLang="en-US"/>
              <a:t>顾客的付款数可能高于商品总额</a:t>
            </a:r>
          </a:p>
          <a:p>
            <a:pPr lvl="1" eaLnBrk="1" hangingPunct="1"/>
            <a:r>
              <a:rPr lang="zh-CN" altLang="en-US"/>
              <a:t>出纳员录入顾客所付的现金总额</a:t>
            </a:r>
          </a:p>
          <a:p>
            <a:pPr lvl="1" eaLnBrk="1" hangingPunct="1"/>
            <a:r>
              <a:rPr lang="zh-CN" altLang="en-US"/>
              <a:t>系统显示出应找还给顾客的余额，打印付款收据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9315052-207C-4536-9F53-D87E3D3C38B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</a:t>
            </a:r>
            <a:r>
              <a:rPr lang="zh-CN" altLang="en-US"/>
              <a:t>：不细化</a:t>
            </a:r>
            <a:r>
              <a:rPr lang="en-US" altLang="zh-CN"/>
              <a:t>GUI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过细的</a:t>
            </a:r>
            <a:r>
              <a:rPr lang="en-US" altLang="zh-CN" dirty="0">
                <a:solidFill>
                  <a:srgbClr val="000000"/>
                </a:solidFill>
              </a:rPr>
              <a:t>GUI</a:t>
            </a:r>
            <a:r>
              <a:rPr lang="zh-CN" altLang="en-US" dirty="0">
                <a:solidFill>
                  <a:srgbClr val="000000"/>
                </a:solidFill>
              </a:rPr>
              <a:t>描述</a:t>
            </a:r>
          </a:p>
          <a:p>
            <a:pPr lvl="1" eaLnBrk="1" hangingPunct="1"/>
            <a:r>
              <a:rPr lang="zh-CN" altLang="en-US" dirty="0">
                <a:solidFill>
                  <a:srgbClr val="000000"/>
                </a:solidFill>
              </a:rPr>
              <a:t>会员从下拉框中选择类别</a:t>
            </a:r>
          </a:p>
          <a:p>
            <a:pPr lvl="1" eaLnBrk="1" hangingPunct="1"/>
            <a:r>
              <a:rPr lang="zh-CN" altLang="en-US" dirty="0">
                <a:solidFill>
                  <a:srgbClr val="000000"/>
                </a:solidFill>
              </a:rPr>
              <a:t>会员在相应文本框中输入查询条件</a:t>
            </a:r>
          </a:p>
          <a:p>
            <a:pPr lvl="1" eaLnBrk="1" hangingPunct="1"/>
            <a:r>
              <a:rPr lang="zh-CN" altLang="en-US" dirty="0">
                <a:solidFill>
                  <a:srgbClr val="000000"/>
                </a:solidFill>
              </a:rPr>
              <a:t>会员点击“确定”按钮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可结合系统界面原型适当描述</a:t>
            </a:r>
            <a:r>
              <a:rPr lang="en-US" altLang="zh-CN" dirty="0">
                <a:solidFill>
                  <a:srgbClr val="000000"/>
                </a:solidFill>
              </a:rPr>
              <a:t>GUI</a:t>
            </a:r>
          </a:p>
          <a:p>
            <a:pPr lvl="1" eaLnBrk="1" hangingPunct="1"/>
            <a:r>
              <a:rPr lang="zh-CN" altLang="en-US" dirty="0">
                <a:solidFill>
                  <a:srgbClr val="000000"/>
                </a:solidFill>
              </a:rPr>
              <a:t>如果需求阶段已经制作了系统原型，可以考虑结合原型在需求中适当地说明一些关键界面元素，界面原型也可作为用例的一部分附加在用例文档中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2748931-3B54-4F36-B179-9B067074902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：分支和循环的描述</a:t>
            </a:r>
            <a:endParaRPr lang="en-US" altLang="zh-CN"/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分支：放到备选路径中</a:t>
            </a:r>
          </a:p>
          <a:p>
            <a:pPr lvl="1" eaLnBrk="1" hangingPunct="1"/>
            <a:r>
              <a:rPr lang="zh-CN" altLang="en-US"/>
              <a:t>参与者的选择</a:t>
            </a:r>
          </a:p>
          <a:p>
            <a:pPr lvl="1" eaLnBrk="1" hangingPunct="1"/>
            <a:r>
              <a:rPr lang="zh-CN" altLang="en-US"/>
              <a:t>另一条成功线路</a:t>
            </a:r>
          </a:p>
          <a:p>
            <a:pPr lvl="1" eaLnBrk="1" hangingPunct="1"/>
            <a:r>
              <a:rPr lang="zh-CN" altLang="en-US"/>
              <a:t>系统进行验证</a:t>
            </a:r>
          </a:p>
          <a:p>
            <a:pPr lvl="1" eaLnBrk="1" hangingPunct="1"/>
            <a:r>
              <a:rPr lang="en-US" altLang="zh-CN"/>
              <a:t>……</a:t>
            </a:r>
          </a:p>
          <a:p>
            <a:pPr eaLnBrk="1" hangingPunct="1"/>
            <a:r>
              <a:rPr lang="zh-CN" altLang="en-US"/>
              <a:t>循环：直接描述</a:t>
            </a: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两种类型的事件流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基本事件流</a:t>
            </a:r>
            <a:endParaRPr lang="en-US" altLang="zh-CN" dirty="0"/>
          </a:p>
          <a:p>
            <a:pPr lvl="1"/>
            <a:r>
              <a:rPr lang="zh-CN" altLang="en-US" dirty="0"/>
              <a:t>用例的主路径、愉快路径（</a:t>
            </a:r>
            <a:r>
              <a:rPr lang="en-US" altLang="zh-CN" dirty="0"/>
              <a:t>Happy Path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通常用来描述一个理想世界，即没有任何错误发生的情况</a:t>
            </a:r>
            <a:endParaRPr lang="en-US" altLang="zh-CN" dirty="0"/>
          </a:p>
          <a:p>
            <a:pPr lvl="1"/>
            <a:r>
              <a:rPr lang="zh-CN" altLang="en-US" dirty="0"/>
              <a:t>复杂的基本流可以分解成多个子流</a:t>
            </a:r>
            <a:endParaRPr lang="en-US" altLang="zh-CN" dirty="0"/>
          </a:p>
          <a:p>
            <a:r>
              <a:rPr lang="zh-CN" altLang="en-US" dirty="0"/>
              <a:t>备选事件流</a:t>
            </a:r>
            <a:endParaRPr lang="en-US" altLang="zh-CN" dirty="0"/>
          </a:p>
          <a:p>
            <a:pPr lvl="1"/>
            <a:r>
              <a:rPr lang="zh-CN" altLang="en-US" dirty="0"/>
              <a:t>基本事件流中的分支或异常情况</a:t>
            </a:r>
            <a:endParaRPr lang="en-US" altLang="zh-CN" dirty="0"/>
          </a:p>
          <a:p>
            <a:pPr lvl="1"/>
            <a:r>
              <a:rPr lang="zh-CN" altLang="en-US" dirty="0"/>
              <a:t>注意如何与基本流衔接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92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1323337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779975B-9BF5-4888-B7E9-E5FF6622410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用例文档中的补充约束</a:t>
            </a:r>
            <a:endParaRPr lang="en-US" altLang="zh-CN"/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用例重点在于描述功能需求，而其它方面的补充约束：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与特定用例相关的补充约束，作为该用例文档中一部分来描述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一些全局性的补充约束，单独形成一份独立的文档，如“补充需求规约”文档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kumimoji="0" lang="zh-CN" altLang="en-US" dirty="0"/>
              <a:t>补充约束</a:t>
            </a:r>
            <a:endParaRPr kumimoji="0"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数据需求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业务规则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/>
              <a:t>非功能需求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/>
              <a:t>设计约束</a:t>
            </a:r>
            <a:endParaRPr kumimoji="0" lang="en-US" altLang="zh-CN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4967938-BA5C-4180-A37B-2F390C57771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补充约束：数据需求</a:t>
            </a:r>
            <a:endParaRPr lang="en-US" altLang="zh-CN" dirty="0"/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描述与用例相关的数据需求</a:t>
            </a:r>
          </a:p>
          <a:p>
            <a:pPr lvl="1" eaLnBrk="1" hangingPunct="1"/>
            <a:r>
              <a:rPr lang="zh-CN" altLang="en-US"/>
              <a:t>不同于数据模型</a:t>
            </a:r>
            <a:r>
              <a:rPr lang="en-US" altLang="zh-CN"/>
              <a:t>—</a:t>
            </a:r>
            <a:r>
              <a:rPr lang="zh-CN" altLang="en-US"/>
              <a:t>只是一部分，但可以用</a:t>
            </a:r>
            <a:r>
              <a:rPr lang="en-US" altLang="zh-CN"/>
              <a:t>E/R</a:t>
            </a:r>
            <a:r>
              <a:rPr lang="zh-CN" altLang="en-US"/>
              <a:t>图或业务对象图作为辅助说明</a:t>
            </a:r>
            <a:endParaRPr lang="en-US" altLang="zh-CN"/>
          </a:p>
          <a:p>
            <a:pPr lvl="1" eaLnBrk="1" hangingPunct="1"/>
            <a:r>
              <a:rPr lang="zh-CN" altLang="en-US"/>
              <a:t>不等于数据字典</a:t>
            </a:r>
            <a:r>
              <a:rPr lang="en-US" altLang="zh-CN"/>
              <a:t>—</a:t>
            </a:r>
            <a:r>
              <a:rPr lang="zh-CN" altLang="en-US"/>
              <a:t>容易过早把时间花在细节上，早期只关注数据本身，不关注实现细节</a:t>
            </a:r>
          </a:p>
          <a:p>
            <a:pPr eaLnBrk="1" hangingPunct="1"/>
            <a:r>
              <a:rPr lang="zh-CN" altLang="en-US"/>
              <a:t>示例</a:t>
            </a:r>
            <a:r>
              <a:rPr lang="en-US" altLang="zh-CN"/>
              <a:t>(</a:t>
            </a:r>
            <a:r>
              <a:rPr lang="zh-CN" altLang="en-US"/>
              <a:t>可按数据字典语法，也可简单描述</a:t>
            </a:r>
            <a:r>
              <a:rPr lang="en-US" altLang="zh-CN"/>
              <a:t>)</a:t>
            </a:r>
          </a:p>
          <a:p>
            <a:pPr lvl="1" eaLnBrk="1" hangingPunct="1"/>
            <a:r>
              <a:rPr kumimoji="0" lang="zh-CN" altLang="en-US"/>
              <a:t>注册信息</a:t>
            </a:r>
            <a:r>
              <a:rPr kumimoji="0" lang="en-US" altLang="zh-CN"/>
              <a:t>=</a:t>
            </a:r>
            <a:r>
              <a:rPr kumimoji="0" lang="zh-CN" altLang="en-US"/>
              <a:t>用户名</a:t>
            </a:r>
            <a:r>
              <a:rPr kumimoji="0" lang="en-US" altLang="zh-CN"/>
              <a:t>+</a:t>
            </a:r>
            <a:r>
              <a:rPr kumimoji="0" lang="zh-CN" altLang="en-US"/>
              <a:t>密码</a:t>
            </a:r>
            <a:r>
              <a:rPr kumimoji="0" lang="en-US" altLang="zh-CN"/>
              <a:t>+email+{</a:t>
            </a:r>
            <a:r>
              <a:rPr kumimoji="0" lang="zh-CN" altLang="en-US"/>
              <a:t>电话</a:t>
            </a:r>
            <a:r>
              <a:rPr kumimoji="0" lang="en-US" altLang="zh-CN"/>
              <a:t>}*</a:t>
            </a:r>
          </a:p>
          <a:p>
            <a:pPr lvl="1" eaLnBrk="1" hangingPunct="1"/>
            <a:r>
              <a:rPr kumimoji="0" lang="zh-CN" altLang="en-US"/>
              <a:t>房间的状态可能有：空闲、已预订、占用</a:t>
            </a:r>
          </a:p>
          <a:p>
            <a:pPr lvl="1" eaLnBrk="1" hangingPunct="1"/>
            <a:r>
              <a:rPr kumimoji="0" lang="en-US" altLang="zh-CN"/>
              <a:t>……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6820C84-FA65-401D-A0D1-F40B3AF29D8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补充约束：业务规则</a:t>
            </a:r>
            <a:endParaRPr lang="en-US" altLang="zh-CN"/>
          </a:p>
        </p:txBody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描述业务逻辑和操作规则</a:t>
            </a:r>
          </a:p>
          <a:p>
            <a:pPr lvl="1" eaLnBrk="1" hangingPunct="1"/>
            <a:r>
              <a:rPr kumimoji="0" lang="zh-CN" altLang="en-US"/>
              <a:t>事实：设备是资产的一种</a:t>
            </a:r>
            <a:endParaRPr kumimoji="0" lang="en-US" altLang="zh-CN"/>
          </a:p>
          <a:p>
            <a:pPr lvl="1" eaLnBrk="1" hangingPunct="1"/>
            <a:r>
              <a:rPr kumimoji="0" lang="zh-CN" altLang="en-US"/>
              <a:t>推理：如果过了计划中的交互日期，货物还没有送到，即为“未按时送货</a:t>
            </a:r>
            <a:r>
              <a:rPr kumimoji="0" lang="en-US" altLang="zh-CN"/>
              <a:t>”</a:t>
            </a:r>
          </a:p>
          <a:p>
            <a:pPr lvl="1" eaLnBrk="1" hangingPunct="1"/>
            <a:r>
              <a:rPr kumimoji="0" lang="zh-CN" altLang="en-US"/>
              <a:t>约束：合同总金额不能超出买方的信用额度</a:t>
            </a:r>
            <a:endParaRPr kumimoji="0" lang="en-US" altLang="zh-CN"/>
          </a:p>
          <a:p>
            <a:pPr eaLnBrk="1" hangingPunct="1"/>
            <a:r>
              <a:rPr kumimoji="0" lang="zh-CN" altLang="en-US"/>
              <a:t>表达业务规则</a:t>
            </a:r>
          </a:p>
          <a:p>
            <a:pPr lvl="1" eaLnBrk="1" hangingPunct="1"/>
            <a:r>
              <a:rPr kumimoji="0" lang="zh-CN" altLang="en-US"/>
              <a:t>文字说明</a:t>
            </a:r>
          </a:p>
          <a:p>
            <a:pPr lvl="1" eaLnBrk="1" hangingPunct="1"/>
            <a:r>
              <a:rPr kumimoji="0" lang="zh-CN" altLang="en-US"/>
              <a:t>决策表</a:t>
            </a:r>
          </a:p>
          <a:p>
            <a:pPr lvl="1" eaLnBrk="1" hangingPunct="1"/>
            <a:r>
              <a:rPr kumimoji="0" lang="en-US" altLang="zh-CN"/>
              <a:t>OCL(</a:t>
            </a:r>
            <a:r>
              <a:rPr kumimoji="0" lang="zh-CN" altLang="en-US"/>
              <a:t>对象约束语言</a:t>
            </a:r>
            <a:r>
              <a:rPr kumimoji="0" lang="en-US" altLang="zh-CN"/>
              <a:t>)</a:t>
            </a:r>
          </a:p>
          <a:p>
            <a:pPr lvl="1" eaLnBrk="1" hangingPunct="1"/>
            <a:r>
              <a:rPr kumimoji="0" lang="en-US" altLang="zh-CN"/>
              <a:t>…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AFF7417-66AF-4801-9D1D-D9C566134F8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补充约束：非功能需求</a:t>
            </a:r>
            <a:endParaRPr lang="en-US" altLang="zh-CN"/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一开始，功能需求决胜；类似产品多了，非功能需求决胜</a:t>
            </a:r>
          </a:p>
          <a:p>
            <a:pPr eaLnBrk="1" hangingPunct="1"/>
            <a:r>
              <a:rPr lang="zh-CN" altLang="en-US"/>
              <a:t>四类非功能需求</a:t>
            </a:r>
          </a:p>
          <a:p>
            <a:pPr lvl="1" eaLnBrk="1" hangingPunct="1"/>
            <a:r>
              <a:rPr lang="zh-CN" altLang="en-US"/>
              <a:t>可用性</a:t>
            </a:r>
          </a:p>
          <a:p>
            <a:pPr lvl="1" eaLnBrk="1" hangingPunct="1"/>
            <a:r>
              <a:rPr lang="zh-CN" altLang="en-US"/>
              <a:t>可靠性</a:t>
            </a:r>
          </a:p>
          <a:p>
            <a:pPr lvl="1" eaLnBrk="1" hangingPunct="1"/>
            <a:r>
              <a:rPr kumimoji="0" lang="zh-CN" altLang="en-US"/>
              <a:t>性能</a:t>
            </a:r>
          </a:p>
          <a:p>
            <a:pPr lvl="1" eaLnBrk="1" hangingPunct="1"/>
            <a:r>
              <a:rPr kumimoji="0" lang="zh-CN" altLang="en-US"/>
              <a:t>可支持性</a:t>
            </a:r>
            <a:endParaRPr kumimoji="0" lang="en-US" altLang="zh-CN"/>
          </a:p>
          <a:p>
            <a:pPr lvl="1" eaLnBrk="1" hangingPunct="1"/>
            <a:r>
              <a:rPr kumimoji="0" lang="en-US" altLang="zh-CN"/>
              <a:t>+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A02F738-2A2B-4281-9168-F9932D06EE9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补充约束：设计约束</a:t>
            </a:r>
            <a:endParaRPr lang="en-US" altLang="zh-CN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/>
              <a:t>本</a:t>
            </a:r>
            <a:r>
              <a:rPr lang="zh-CN" altLang="en-US"/>
              <a:t>质上不是需求，只是从商业、行政、技术上的约束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用</a:t>
            </a:r>
            <a:r>
              <a:rPr lang="en-US" altLang="zh-CN"/>
              <a:t>Oracle</a:t>
            </a:r>
            <a:r>
              <a:rPr lang="zh-CN" altLang="en-US"/>
              <a:t>数据库平台，用</a:t>
            </a:r>
            <a:r>
              <a:rPr lang="en-US" altLang="zh-CN"/>
              <a:t>.Net</a:t>
            </a:r>
            <a:r>
              <a:rPr lang="zh-CN" altLang="en-US"/>
              <a:t>开发</a:t>
            </a:r>
            <a:r>
              <a:rPr lang="en-US" altLang="zh-CN"/>
              <a:t>…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软件必须符合</a:t>
            </a:r>
            <a:r>
              <a:rPr lang="en-US" altLang="zh-CN"/>
              <a:t>ISO×××</a:t>
            </a:r>
            <a:r>
              <a:rPr lang="zh-CN" altLang="en-US"/>
              <a:t>标准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……</a:t>
            </a:r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D828CA0-C44D-4C50-84E2-348DB5DADF1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实践：编写用例文档</a:t>
            </a:r>
            <a:endParaRPr lang="en-US" altLang="zh-CN" dirty="0"/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用例文档参考模板</a:t>
            </a:r>
            <a:endParaRPr lang="en-US" altLang="zh-CN" dirty="0"/>
          </a:p>
          <a:p>
            <a:pPr eaLnBrk="1" hangingPunct="1"/>
            <a:r>
              <a:rPr lang="zh-CN" altLang="en-US" dirty="0"/>
              <a:t>旅店预订系统用例文档</a:t>
            </a:r>
          </a:p>
          <a:p>
            <a:pPr lvl="1" eaLnBrk="1" hangingPunct="1"/>
            <a:r>
              <a:rPr kumimoji="0" lang="zh-CN" altLang="en-US" dirty="0"/>
              <a:t>“</a:t>
            </a:r>
            <a:r>
              <a:rPr kumimoji="0" lang="en-US" altLang="zh-CN" dirty="0"/>
              <a:t>UC01-</a:t>
            </a:r>
            <a:r>
              <a:rPr kumimoji="0" lang="zh-CN" altLang="en-US" dirty="0"/>
              <a:t>预订房间”用例文档</a:t>
            </a:r>
          </a:p>
          <a:p>
            <a:pPr lvl="1" eaLnBrk="1" hangingPunct="1"/>
            <a:r>
              <a:rPr kumimoji="0" lang="zh-CN" altLang="en-US" dirty="0"/>
              <a:t>“</a:t>
            </a:r>
            <a:r>
              <a:rPr kumimoji="0" lang="en-US" altLang="zh-CN" dirty="0"/>
              <a:t>UC02-</a:t>
            </a:r>
            <a:r>
              <a:rPr kumimoji="0" lang="zh-CN" altLang="en-US" dirty="0"/>
              <a:t>取消预订”用例文档</a:t>
            </a:r>
            <a:endParaRPr kumimoji="0" lang="en-US" altLang="zh-CN" dirty="0"/>
          </a:p>
          <a:p>
            <a:pPr eaLnBrk="1" hangingPunct="1"/>
            <a:r>
              <a:rPr kumimoji="0" lang="zh-CN" altLang="en-US" dirty="0"/>
              <a:t>旅行申请系统</a:t>
            </a:r>
            <a:r>
              <a:rPr lang="zh-CN" altLang="en-US" dirty="0"/>
              <a:t>用例文档</a:t>
            </a:r>
          </a:p>
          <a:p>
            <a:pPr lvl="1" eaLnBrk="1" hangingPunct="1"/>
            <a:r>
              <a:rPr kumimoji="0" lang="zh-CN" altLang="en-US" dirty="0"/>
              <a:t>“</a:t>
            </a:r>
            <a:r>
              <a:rPr lang="en-US" altLang="zh-CN" dirty="0"/>
              <a:t>UC01-</a:t>
            </a:r>
            <a:r>
              <a:rPr lang="zh-CN" altLang="en-US" dirty="0"/>
              <a:t>申请旅游团</a:t>
            </a:r>
            <a:r>
              <a:rPr kumimoji="0" lang="zh-CN" altLang="en-US" dirty="0"/>
              <a:t>”</a:t>
            </a:r>
            <a:r>
              <a:rPr lang="zh-CN" altLang="en-US" dirty="0"/>
              <a:t>用例文档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“</a:t>
            </a:r>
            <a:r>
              <a:rPr lang="en-US" altLang="zh-CN" dirty="0"/>
              <a:t>UC02-</a:t>
            </a:r>
            <a:r>
              <a:rPr lang="zh-CN" altLang="en-US" dirty="0"/>
              <a:t>管理参加人”用例文档</a:t>
            </a:r>
            <a:endParaRPr lang="en-US" altLang="zh-CN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C3256FF-079D-4225-A447-2234B59065B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用例建模流程</a:t>
            </a:r>
          </a:p>
        </p:txBody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1. </a:t>
            </a:r>
            <a:r>
              <a:rPr lang="zh-CN" altLang="en-US" dirty="0">
                <a:solidFill>
                  <a:srgbClr val="4D4D4D"/>
                </a:solidFill>
              </a:rPr>
              <a:t>获取原始需求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 </a:t>
            </a:r>
            <a:r>
              <a:rPr lang="zh-CN" altLang="en-US" dirty="0">
                <a:solidFill>
                  <a:srgbClr val="4D4D4D"/>
                </a:solidFill>
              </a:rPr>
              <a:t>开发一个可以理解的需求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2.1 </a:t>
            </a:r>
            <a:r>
              <a:rPr lang="zh-CN" altLang="en-US" dirty="0">
                <a:solidFill>
                  <a:srgbClr val="4D4D4D"/>
                </a:solidFill>
              </a:rPr>
              <a:t>识别参与者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2.2 </a:t>
            </a:r>
            <a:r>
              <a:rPr lang="zh-CN" altLang="en-US" dirty="0">
                <a:solidFill>
                  <a:srgbClr val="4D4D4D"/>
                </a:solidFill>
              </a:rPr>
              <a:t>识别用例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2.3 </a:t>
            </a:r>
            <a:r>
              <a:rPr lang="zh-CN" altLang="en-US" dirty="0">
                <a:solidFill>
                  <a:srgbClr val="4D4D4D"/>
                </a:solidFill>
              </a:rPr>
              <a:t>绘制用例图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4D4D4D"/>
                </a:solidFill>
              </a:rPr>
              <a:t>3 </a:t>
            </a:r>
            <a:r>
              <a:rPr lang="zh-CN" altLang="en-US" dirty="0">
                <a:solidFill>
                  <a:srgbClr val="4D4D4D"/>
                </a:solidFill>
              </a:rPr>
              <a:t>详细、完整地描述需求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4D4D4D"/>
                </a:solidFill>
              </a:rPr>
              <a:t>编写用例文档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重构用例模型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4.1 </a:t>
            </a:r>
            <a:r>
              <a:rPr lang="zh-CN" altLang="en-US" dirty="0"/>
              <a:t>识别用例间的关系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/>
              <a:t>4.2 </a:t>
            </a:r>
            <a:r>
              <a:rPr lang="zh-CN" altLang="en-US" dirty="0"/>
              <a:t>对用例进行分包和分级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重构用例模型</a:t>
            </a:r>
          </a:p>
        </p:txBody>
      </p:sp>
      <p:sp>
        <p:nvSpPr>
          <p:cNvPr id="1024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利用用例建模高级技术重构用例模型</a:t>
            </a:r>
          </a:p>
          <a:p>
            <a:pPr lvl="1"/>
            <a:r>
              <a:rPr lang="zh-CN" altLang="en-US"/>
              <a:t>用例关系</a:t>
            </a:r>
            <a:endParaRPr lang="en-US" altLang="zh-CN"/>
          </a:p>
          <a:p>
            <a:pPr lvl="2"/>
            <a:r>
              <a:rPr lang="zh-CN" altLang="en-US"/>
              <a:t>通过用例关系将复杂的用例进行适当的分解，以便于提高需求的复用性和可扩展性等，从而使用例模型的结构更合理</a:t>
            </a:r>
          </a:p>
          <a:p>
            <a:pPr lvl="1"/>
            <a:r>
              <a:rPr lang="zh-CN" altLang="en-US"/>
              <a:t>用例分级</a:t>
            </a:r>
            <a:endParaRPr lang="en-US" altLang="zh-CN"/>
          </a:p>
          <a:p>
            <a:pPr lvl="2"/>
            <a:r>
              <a:rPr lang="zh-CN" altLang="en-US"/>
              <a:t>可以根据用例的重要程度进行分级，以便后续迭代计划的制定，高级别的用例优先考虑</a:t>
            </a:r>
          </a:p>
          <a:p>
            <a:pPr lvl="1"/>
            <a:r>
              <a:rPr lang="zh-CN" altLang="en-US"/>
              <a:t>用例分包</a:t>
            </a:r>
            <a:endParaRPr lang="en-US" altLang="zh-CN"/>
          </a:p>
          <a:p>
            <a:pPr lvl="2"/>
            <a:r>
              <a:rPr lang="zh-CN" altLang="en-US"/>
              <a:t>将相关的用例打包，通过分包的方式可以将用例图分层表示，以用于大规模系统的用例建模</a:t>
            </a:r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470CD1F-954B-4F19-B9F9-4D91D2EE7DA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B9B4B6D-1E55-49DF-ACB4-39AF7F34FA7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 </a:t>
            </a:r>
            <a:r>
              <a:rPr lang="zh-CN" altLang="en-US"/>
              <a:t>用例关系</a:t>
            </a:r>
          </a:p>
        </p:txBody>
      </p:sp>
      <p:grpSp>
        <p:nvGrpSpPr>
          <p:cNvPr id="103428" name="Group 3"/>
          <p:cNvGrpSpPr>
            <a:grpSpLocks/>
          </p:cNvGrpSpPr>
          <p:nvPr/>
        </p:nvGrpSpPr>
        <p:grpSpPr bwMode="auto">
          <a:xfrm>
            <a:off x="3649067" y="2060848"/>
            <a:ext cx="1943100" cy="366712"/>
            <a:chOff x="2699" y="1113"/>
            <a:chExt cx="1224" cy="231"/>
          </a:xfrm>
        </p:grpSpPr>
        <p:sp>
          <p:nvSpPr>
            <p:cNvPr id="103438" name="Line 4"/>
            <p:cNvSpPr>
              <a:spLocks noChangeShapeType="1"/>
            </p:cNvSpPr>
            <p:nvPr/>
          </p:nvSpPr>
          <p:spPr bwMode="auto">
            <a:xfrm flipV="1">
              <a:off x="2744" y="1298"/>
              <a:ext cx="117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sysDot"/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9" name="Text Box 5"/>
            <p:cNvSpPr txBox="1">
              <a:spLocks noChangeArrowheads="1"/>
            </p:cNvSpPr>
            <p:nvPr/>
          </p:nvSpPr>
          <p:spPr bwMode="auto">
            <a:xfrm>
              <a:off x="2699" y="1113"/>
              <a:ext cx="11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800" b="0">
                  <a:latin typeface="Verdana" pitchFamily="34" charset="0"/>
                </a:rPr>
                <a:t>&lt;&lt;include&gt;&gt;</a:t>
              </a:r>
            </a:p>
          </p:txBody>
        </p:sp>
      </p:grpSp>
      <p:grpSp>
        <p:nvGrpSpPr>
          <p:cNvPr id="103429" name="Group 6"/>
          <p:cNvGrpSpPr>
            <a:grpSpLocks/>
          </p:cNvGrpSpPr>
          <p:nvPr/>
        </p:nvGrpSpPr>
        <p:grpSpPr bwMode="auto">
          <a:xfrm>
            <a:off x="3614737" y="3166939"/>
            <a:ext cx="1943100" cy="366712"/>
            <a:chOff x="2699" y="1113"/>
            <a:chExt cx="1224" cy="231"/>
          </a:xfrm>
        </p:grpSpPr>
        <p:sp>
          <p:nvSpPr>
            <p:cNvPr id="103436" name="Line 7"/>
            <p:cNvSpPr>
              <a:spLocks noChangeShapeType="1"/>
            </p:cNvSpPr>
            <p:nvPr/>
          </p:nvSpPr>
          <p:spPr bwMode="auto">
            <a:xfrm flipV="1">
              <a:off x="2744" y="1298"/>
              <a:ext cx="117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sysDot"/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7" name="Text Box 8"/>
            <p:cNvSpPr txBox="1">
              <a:spLocks noChangeArrowheads="1"/>
            </p:cNvSpPr>
            <p:nvPr/>
          </p:nvSpPr>
          <p:spPr bwMode="auto">
            <a:xfrm>
              <a:off x="2699" y="1113"/>
              <a:ext cx="11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800" b="0">
                  <a:latin typeface="Verdana" pitchFamily="34" charset="0"/>
                </a:rPr>
                <a:t>&lt;&lt;extend&gt;&gt;</a:t>
              </a:r>
            </a:p>
          </p:txBody>
        </p:sp>
      </p:grpSp>
      <p:grpSp>
        <p:nvGrpSpPr>
          <p:cNvPr id="103430" name="Group 9"/>
          <p:cNvGrpSpPr>
            <a:grpSpLocks/>
          </p:cNvGrpSpPr>
          <p:nvPr/>
        </p:nvGrpSpPr>
        <p:grpSpPr bwMode="auto">
          <a:xfrm>
            <a:off x="3687764" y="4510089"/>
            <a:ext cx="1870075" cy="261937"/>
            <a:chOff x="2744" y="1752"/>
            <a:chExt cx="1178" cy="165"/>
          </a:xfrm>
        </p:grpSpPr>
        <p:sp>
          <p:nvSpPr>
            <p:cNvPr id="103434" name="Line 10"/>
            <p:cNvSpPr>
              <a:spLocks noChangeShapeType="1"/>
            </p:cNvSpPr>
            <p:nvPr/>
          </p:nvSpPr>
          <p:spPr bwMode="auto">
            <a:xfrm>
              <a:off x="2744" y="1842"/>
              <a:ext cx="108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5" name="AutoShape 11"/>
            <p:cNvSpPr>
              <a:spLocks noChangeArrowheads="1"/>
            </p:cNvSpPr>
            <p:nvPr/>
          </p:nvSpPr>
          <p:spPr bwMode="auto">
            <a:xfrm rot="-8125339">
              <a:off x="3742" y="1752"/>
              <a:ext cx="180" cy="165"/>
            </a:xfrm>
            <a:prstGeom prst="rtTriangle">
              <a:avLst/>
            </a:prstGeom>
            <a:noFill/>
            <a:ln w="1905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431" name="Text Box 12"/>
          <p:cNvSpPr txBox="1">
            <a:spLocks noChangeArrowheads="1"/>
          </p:cNvSpPr>
          <p:nvPr/>
        </p:nvSpPr>
        <p:spPr bwMode="auto">
          <a:xfrm>
            <a:off x="5702300" y="3212976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>
                <a:latin typeface="Verdana" pitchFamily="34" charset="0"/>
              </a:rPr>
              <a:t>Extend</a:t>
            </a:r>
          </a:p>
        </p:txBody>
      </p:sp>
      <p:sp>
        <p:nvSpPr>
          <p:cNvPr id="103432" name="Text Box 13"/>
          <p:cNvSpPr txBox="1">
            <a:spLocks noChangeArrowheads="1"/>
          </p:cNvSpPr>
          <p:nvPr/>
        </p:nvSpPr>
        <p:spPr bwMode="auto">
          <a:xfrm>
            <a:off x="5736630" y="2060848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latin typeface="Verdana" pitchFamily="34" charset="0"/>
              </a:rPr>
              <a:t>Include</a:t>
            </a:r>
          </a:p>
        </p:txBody>
      </p:sp>
      <p:sp>
        <p:nvSpPr>
          <p:cNvPr id="103433" name="Text Box 14"/>
          <p:cNvSpPr txBox="1">
            <a:spLocks noChangeArrowheads="1"/>
          </p:cNvSpPr>
          <p:nvPr/>
        </p:nvSpPr>
        <p:spPr bwMode="auto">
          <a:xfrm>
            <a:off x="5702300" y="4411663"/>
            <a:ext cx="269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latin typeface="Verdana" pitchFamily="34" charset="0"/>
              </a:rPr>
              <a:t>Generalization</a:t>
            </a: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F1CE17B-7986-40EB-820F-FE01AD1C402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通过关系整理文档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Include(</a:t>
            </a:r>
            <a:r>
              <a:rPr lang="zh-CN" altLang="en-US" dirty="0"/>
              <a:t>包含</a:t>
            </a:r>
            <a:r>
              <a:rPr lang="en-US" altLang="zh-CN" dirty="0"/>
              <a:t>)</a:t>
            </a:r>
          </a:p>
          <a:p>
            <a:pPr lvl="1" eaLnBrk="1" hangingPunct="1"/>
            <a:r>
              <a:rPr lang="zh-CN" altLang="en-US" dirty="0"/>
              <a:t>基用例中复用被包含用例的行为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提取公共步骤，便于复用</a:t>
            </a:r>
          </a:p>
          <a:p>
            <a:pPr eaLnBrk="1" hangingPunct="1"/>
            <a:r>
              <a:rPr lang="en-US" altLang="zh-CN" dirty="0"/>
              <a:t>Extend(</a:t>
            </a:r>
            <a:r>
              <a:rPr lang="zh-CN" altLang="en-US" dirty="0"/>
              <a:t>扩展</a:t>
            </a:r>
            <a:r>
              <a:rPr lang="en-US" altLang="zh-CN" dirty="0"/>
              <a:t>)</a:t>
            </a:r>
          </a:p>
          <a:p>
            <a:pPr lvl="1" eaLnBrk="1" hangingPunct="1"/>
            <a:r>
              <a:rPr lang="zh-CN" altLang="en-US" dirty="0"/>
              <a:t>通过扩展用例对基用例增加附加的行为</a:t>
            </a:r>
            <a:endParaRPr lang="en-US" altLang="zh-CN" dirty="0"/>
          </a:p>
          <a:p>
            <a:pPr eaLnBrk="1" hangingPunct="1"/>
            <a:r>
              <a:rPr lang="en-US" altLang="zh-CN" dirty="0"/>
              <a:t>Generalization(</a:t>
            </a:r>
            <a:r>
              <a:rPr lang="zh-CN" altLang="en-US" dirty="0"/>
              <a:t>泛化</a:t>
            </a:r>
            <a:r>
              <a:rPr lang="en-US" altLang="zh-CN" dirty="0"/>
              <a:t>)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派生用例继承泛化用例的行为并添加新行为</a:t>
            </a: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31C0AD5-90E1-4820-90C9-152F2E6FC70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用例关系：包含</a:t>
            </a:r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包含：表示某个用例中包含了其他用例的行为</a:t>
            </a:r>
          </a:p>
          <a:p>
            <a:pPr lvl="1" eaLnBrk="1" hangingPunct="1"/>
            <a:r>
              <a:rPr lang="zh-CN" altLang="en-US" dirty="0"/>
              <a:t>从两个或多个用例行为中提取公共部分的能力，主要用于支持用例行为的复用</a:t>
            </a:r>
          </a:p>
        </p:txBody>
      </p:sp>
      <p:pic>
        <p:nvPicPr>
          <p:cNvPr id="106501" name="图片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6" y="3429001"/>
            <a:ext cx="5218113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842A993-F8C3-4781-ADB8-A6991769FCE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用例关系：扩展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扩展：某个用例在特定情况下，包含其他用例</a:t>
            </a:r>
            <a:r>
              <a:rPr lang="en-US" altLang="zh-CN" dirty="0"/>
              <a:t>(</a:t>
            </a:r>
            <a:r>
              <a:rPr lang="zh-CN" altLang="en-US" dirty="0"/>
              <a:t>扩展用例</a:t>
            </a:r>
            <a:r>
              <a:rPr lang="en-US" altLang="zh-CN" dirty="0"/>
              <a:t>)</a:t>
            </a:r>
            <a:r>
              <a:rPr lang="zh-CN" altLang="en-US" dirty="0"/>
              <a:t>的行为，表示功能被扩展</a:t>
            </a:r>
          </a:p>
          <a:p>
            <a:pPr lvl="1" eaLnBrk="1" hangingPunct="1"/>
            <a:r>
              <a:rPr lang="zh-CN" altLang="en-US" dirty="0"/>
              <a:t>为了将基用例的一些特殊情况分离出来，在保持基用例本身相对完整的情况下处理这些特殊行为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即不改变基用例，对基用例的行为进行扩展</a:t>
            </a:r>
            <a:endParaRPr lang="en-US" altLang="zh-CN" dirty="0"/>
          </a:p>
        </p:txBody>
      </p:sp>
      <p:pic>
        <p:nvPicPr>
          <p:cNvPr id="105477" name="图片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4" y="4094386"/>
            <a:ext cx="7215187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提炼扩展用例的主要思路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当基用例的行为非常复杂时，针对一些特殊的处理可以提炼为扩展用例</a:t>
            </a:r>
            <a:endParaRPr lang="en-US" altLang="zh-CN" dirty="0"/>
          </a:p>
          <a:p>
            <a:pPr lvl="1"/>
            <a:r>
              <a:rPr lang="zh-CN" altLang="zh-CN" dirty="0"/>
              <a:t>对用例基本行为的可选择特征的描述</a:t>
            </a:r>
            <a:endParaRPr lang="en-US" altLang="zh-CN" dirty="0"/>
          </a:p>
          <a:p>
            <a:pPr lvl="1"/>
            <a:r>
              <a:rPr lang="zh-CN" altLang="zh-CN" dirty="0"/>
              <a:t>复杂的异常处理行为的描述</a:t>
            </a:r>
            <a:endParaRPr lang="en-US" altLang="zh-CN" dirty="0"/>
          </a:p>
          <a:p>
            <a:pPr lvl="1"/>
            <a:r>
              <a:rPr lang="zh-CN" altLang="zh-CN" dirty="0"/>
              <a:t>面向特定用户的特定需求</a:t>
            </a:r>
            <a:endParaRPr lang="en-US" altLang="zh-CN" dirty="0"/>
          </a:p>
          <a:p>
            <a:pPr lvl="1"/>
            <a:r>
              <a:rPr lang="zh-CN" altLang="zh-CN" dirty="0"/>
              <a:t>范围管理和版本管理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105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17209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CB622CE-EA62-473D-B0A5-55059AADB49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扩展 </a:t>
            </a:r>
            <a:r>
              <a:rPr lang="en-US" altLang="zh-CN" dirty="0"/>
              <a:t>VS. </a:t>
            </a:r>
            <a:r>
              <a:rPr lang="zh-CN" altLang="en-US" dirty="0"/>
              <a:t>包含</a:t>
            </a:r>
          </a:p>
        </p:txBody>
      </p:sp>
      <p:pic>
        <p:nvPicPr>
          <p:cNvPr id="10752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247900"/>
            <a:ext cx="5545138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75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4143376"/>
            <a:ext cx="5518150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7526" name="Text Box 5"/>
          <p:cNvSpPr txBox="1">
            <a:spLocks noChangeArrowheads="1"/>
          </p:cNvSpPr>
          <p:nvPr/>
        </p:nvSpPr>
        <p:spPr bwMode="auto">
          <a:xfrm>
            <a:off x="3359150" y="3279775"/>
            <a:ext cx="252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老大知道老二</a:t>
            </a:r>
          </a:p>
        </p:txBody>
      </p:sp>
      <p:sp>
        <p:nvSpPr>
          <p:cNvPr id="107527" name="Text Box 6"/>
          <p:cNvSpPr txBox="1">
            <a:spLocks noChangeArrowheads="1"/>
          </p:cNvSpPr>
          <p:nvPr/>
        </p:nvSpPr>
        <p:spPr bwMode="auto">
          <a:xfrm>
            <a:off x="3359150" y="5006975"/>
            <a:ext cx="252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Arial" charset="0"/>
              </a:rPr>
              <a:t>老二知道老大</a:t>
            </a:r>
          </a:p>
        </p:txBody>
      </p:sp>
      <p:sp>
        <p:nvSpPr>
          <p:cNvPr id="107528" name="AutoShape 7"/>
          <p:cNvSpPr>
            <a:spLocks noChangeArrowheads="1"/>
          </p:cNvSpPr>
          <p:nvPr/>
        </p:nvSpPr>
        <p:spPr bwMode="auto">
          <a:xfrm>
            <a:off x="5808663" y="1341438"/>
            <a:ext cx="4032250" cy="1001712"/>
          </a:xfrm>
          <a:prstGeom prst="cloudCallout">
            <a:avLst>
              <a:gd name="adj1" fmla="val -45551"/>
              <a:gd name="adj2" fmla="val 65847"/>
            </a:avLst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/>
            <a:r>
              <a:rPr kumimoji="0" lang="zh-CN" altLang="en-US">
                <a:solidFill>
                  <a:srgbClr val="FF3300"/>
                </a:solidFill>
                <a:latin typeface="Arial" charset="0"/>
              </a:rPr>
              <a:t>什么时候该我上场呢？不知道！</a:t>
            </a:r>
          </a:p>
        </p:txBody>
      </p:sp>
      <p:sp>
        <p:nvSpPr>
          <p:cNvPr id="107529" name="AutoShape 8"/>
          <p:cNvSpPr>
            <a:spLocks noChangeArrowheads="1"/>
          </p:cNvSpPr>
          <p:nvPr/>
        </p:nvSpPr>
        <p:spPr bwMode="auto">
          <a:xfrm>
            <a:off x="6167438" y="3429001"/>
            <a:ext cx="4032250" cy="1001713"/>
          </a:xfrm>
          <a:prstGeom prst="cloudCallout">
            <a:avLst>
              <a:gd name="adj1" fmla="val -56023"/>
              <a:gd name="adj2" fmla="val 39542"/>
            </a:avLst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/>
            <a:r>
              <a:rPr kumimoji="0" lang="zh-CN" altLang="en-US">
                <a:solidFill>
                  <a:srgbClr val="FF3300"/>
                </a:solidFill>
                <a:latin typeface="Arial" charset="0"/>
              </a:rPr>
              <a:t>出现这种情况，就该我上场了！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 </a:t>
            </a:r>
            <a:r>
              <a:rPr lang="en-US" altLang="zh-CN" dirty="0"/>
              <a:t>VS. </a:t>
            </a:r>
            <a:r>
              <a:rPr lang="zh-CN" altLang="en-US" dirty="0"/>
              <a:t>包含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107</a:t>
            </a:fld>
            <a:r>
              <a:rPr lang="en-US" altLang="zh-CN"/>
              <a:t>-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1991544" y="1626840"/>
          <a:ext cx="8136904" cy="3962400"/>
        </p:xfrm>
        <a:graphic>
          <a:graphicData uri="http://schemas.openxmlformats.org/drawingml/2006/table">
            <a:tbl>
              <a:tblPr firstCol="1" lastRow="1" lastCol="1" bandRow="1" bandCol="1">
                <a:tableStyleId>{08FB837D-C827-4EFA-A057-4D05807E0F7C}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941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出发点</a:t>
                      </a:r>
                      <a:br>
                        <a:rPr lang="en-US" sz="2000" kern="100" dirty="0">
                          <a:effectLst/>
                        </a:rPr>
                      </a:br>
                      <a:r>
                        <a:rPr lang="zh-CN" sz="2000" kern="100" dirty="0">
                          <a:effectLst/>
                        </a:rPr>
                        <a:t>不同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包含关系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便于子用例流的复用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扩展关系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通过扩展点在不影响基用例的情况下附加行为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413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达到的效果不同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包含关系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基用例中的一部分业务放在子用例中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4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扩展关系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基用例处理一般情况，一些特殊业务放在子用例中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26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执行子用例</a:t>
                      </a:r>
                      <a:br>
                        <a:rPr lang="en-US" sz="2000" kern="100" dirty="0">
                          <a:effectLst/>
                        </a:rPr>
                      </a:br>
                      <a:r>
                        <a:rPr lang="zh-CN" sz="2000" kern="100" dirty="0">
                          <a:effectLst/>
                        </a:rPr>
                        <a:t>方式不同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包含关系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基用例中直接引用子用例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7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扩展关系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主用例达到一定条件触发扩展点，子用例通过扩展点触发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77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使用方式</a:t>
                      </a:r>
                      <a:br>
                        <a:rPr lang="en-US" sz="2000" kern="100" dirty="0">
                          <a:effectLst/>
                        </a:rPr>
                      </a:br>
                      <a:r>
                        <a:rPr lang="zh-CN" sz="2000" kern="100" dirty="0">
                          <a:effectLst/>
                        </a:rPr>
                        <a:t>不同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包含关系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基用例不够完整，一般要联合子用例为参与者提供价值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7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扩展关系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基用例相对完整，可以单独为参与者提供价值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77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依赖方向</a:t>
                      </a:r>
                      <a:br>
                        <a:rPr lang="en-US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sz="20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不同</a:t>
                      </a: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包含关系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主用例依赖子用例，子用例相对独立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94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b="0" kern="100" dirty="0">
                          <a:effectLst/>
                        </a:rPr>
                        <a:t>扩展关系</a:t>
                      </a:r>
                      <a:endParaRPr lang="zh-CN" sz="2000" b="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子用例依赖主用例，主用例相对独立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320" marR="6832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1199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D597BB9-E078-432E-B728-4768FF45EE3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用例关系：泛化</a:t>
            </a:r>
            <a:endParaRPr lang="en-US" altLang="zh-CN"/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泛化：</a:t>
            </a:r>
            <a:r>
              <a:rPr lang="zh-CN" altLang="en-US" sz="3700">
                <a:latin typeface="宋体" pitchFamily="2" charset="-122"/>
              </a:rPr>
              <a:t>表示子用例继承了父用例</a:t>
            </a:r>
          </a:p>
          <a:p>
            <a:pPr lvl="1" eaLnBrk="1" hangingPunct="1"/>
            <a:r>
              <a:rPr lang="zh-CN" altLang="en-US"/>
              <a:t>用例间的泛化关系表明子用例继承父用例中定义的所有属性、行为序列和扩展点，并且参与父用例中所有的关系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3284984"/>
            <a:ext cx="4547414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慎重用例间的泛化关系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109</a:t>
            </a:fld>
            <a:r>
              <a:rPr lang="en-US" altLang="zh-CN"/>
              <a:t>-</a:t>
            </a:r>
          </a:p>
        </p:txBody>
      </p:sp>
      <p:pic>
        <p:nvPicPr>
          <p:cNvPr id="11267" name="图片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44824"/>
            <a:ext cx="3627769" cy="2721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图片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649" y="1196752"/>
            <a:ext cx="4651102" cy="394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799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23EE543-20EF-4C7A-9A85-DAB6C16C674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将泛化转换成扩展</a:t>
            </a:r>
          </a:p>
        </p:txBody>
      </p:sp>
      <p:pic>
        <p:nvPicPr>
          <p:cNvPr id="12290" name="图片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2204864"/>
            <a:ext cx="786365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7838D1A-FFCF-4CCB-8386-786AF82E7CE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75" y="260350"/>
            <a:ext cx="8369300" cy="647700"/>
          </a:xfrm>
        </p:spPr>
        <p:txBody>
          <a:bodyPr/>
          <a:lstStyle/>
          <a:p>
            <a:pPr eaLnBrk="1" hangingPunct="1"/>
            <a:r>
              <a:rPr lang="zh-CN" altLang="en-US"/>
              <a:t>旅游申请系统重构后的用例模型</a:t>
            </a:r>
            <a:endParaRPr lang="en-US" altLang="zh-CN"/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1071563"/>
            <a:ext cx="6715125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D51AA6D-D6B5-437C-932D-2F101EA6F86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4.2 </a:t>
            </a:r>
            <a:r>
              <a:rPr lang="zh-CN" altLang="en-US" dirty="0"/>
              <a:t>用例分包：组织模型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对于大规模系统，当用例数量很多时，难以在一个层次上一次性描述所有用例</a:t>
            </a:r>
            <a:endParaRPr lang="en-US" altLang="zh-CN" dirty="0"/>
          </a:p>
          <a:p>
            <a:pPr eaLnBrk="1" hangingPunct="1"/>
            <a:r>
              <a:rPr lang="zh-CN" altLang="en-US" dirty="0"/>
              <a:t>用例分包</a:t>
            </a:r>
          </a:p>
          <a:p>
            <a:pPr lvl="1" eaLnBrk="1" hangingPunct="1"/>
            <a:r>
              <a:rPr lang="zh-CN" altLang="en-US" dirty="0"/>
              <a:t>让系统的用例图能够更为清晰的表现出系统的业务逻辑关系和层次</a:t>
            </a:r>
          </a:p>
          <a:p>
            <a:pPr lvl="1" eaLnBrk="1" hangingPunct="1"/>
            <a:r>
              <a:rPr lang="zh-CN" altLang="en-US" dirty="0"/>
              <a:t>对系统进行模块的分割，这种分割将影响到系统今后的开发、系统的最终表现形式</a:t>
            </a:r>
          </a:p>
        </p:txBody>
      </p:sp>
    </p:spTree>
    <p:extLst>
      <p:ext uri="{BB962C8B-B14F-4D97-AF65-F5344CB8AC3E}">
        <p14:creationId xmlns:p14="http://schemas.microsoft.com/office/powerpoint/2010/main" val="15504077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分包策略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常见的分包方式</a:t>
            </a:r>
          </a:p>
          <a:p>
            <a:pPr lvl="1"/>
            <a:r>
              <a:rPr lang="zh-CN" altLang="en-US" dirty="0"/>
              <a:t>基于业务主题的分包</a:t>
            </a:r>
          </a:p>
          <a:p>
            <a:pPr lvl="1"/>
            <a:r>
              <a:rPr lang="zh-CN" altLang="en-US" dirty="0"/>
              <a:t>按照参与者分包</a:t>
            </a:r>
          </a:p>
          <a:p>
            <a:pPr lvl="1"/>
            <a:r>
              <a:rPr lang="zh-CN" altLang="en-US" dirty="0"/>
              <a:t>基于开发团队的分包</a:t>
            </a:r>
          </a:p>
          <a:p>
            <a:pPr lvl="1"/>
            <a:r>
              <a:rPr lang="zh-CN" altLang="en-US" dirty="0"/>
              <a:t>基于发布情况的分包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113</a:t>
            </a:fld>
            <a:r>
              <a:rPr lang="en-US" altLang="zh-CN"/>
              <a:t>-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24001" y="4725144"/>
            <a:ext cx="8893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rPr>
              <a:t>先按主题分包，主题内再考虑开发团队和发布情况</a:t>
            </a:r>
          </a:p>
        </p:txBody>
      </p:sp>
    </p:spTree>
    <p:extLst>
      <p:ext uri="{BB962C8B-B14F-4D97-AF65-F5344CB8AC3E}">
        <p14:creationId xmlns:p14="http://schemas.microsoft.com/office/powerpoint/2010/main" val="138153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0CE0897-53A6-4C63-8B46-0426B9763D4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利用分包机制组织用例模型</a:t>
            </a:r>
          </a:p>
        </p:txBody>
      </p:sp>
      <p:pic>
        <p:nvPicPr>
          <p:cNvPr id="1198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1773238"/>
            <a:ext cx="6911975" cy="340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87026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595FAA1-2C42-4059-BCEA-1C316F920D9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“申请”包的子视图</a:t>
            </a:r>
          </a:p>
        </p:txBody>
      </p:sp>
      <p:pic>
        <p:nvPicPr>
          <p:cNvPr id="1208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484313"/>
            <a:ext cx="5976938" cy="377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908449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2D78A96-2B68-4773-BA5E-8236B679652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受理和审查包的子视图</a:t>
            </a:r>
          </a:p>
        </p:txBody>
      </p:sp>
      <p:pic>
        <p:nvPicPr>
          <p:cNvPr id="1218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773239"/>
            <a:ext cx="8748712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35367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4.3</a:t>
            </a:r>
            <a:r>
              <a:rPr lang="zh-CN" altLang="en-US" dirty="0"/>
              <a:t>为什么要对用例进行分级</a:t>
            </a:r>
          </a:p>
        </p:txBody>
      </p:sp>
      <p:sp>
        <p:nvSpPr>
          <p:cNvPr id="1136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用例和迭代开发</a:t>
            </a:r>
          </a:p>
          <a:p>
            <a:pPr lvl="1" eaLnBrk="1" hangingPunct="1"/>
            <a:r>
              <a:rPr lang="zh-CN" altLang="en-US" sz="2400"/>
              <a:t>迭代开发中开发周期的定义是围绕用例来组织的</a:t>
            </a:r>
          </a:p>
          <a:p>
            <a:pPr lvl="1" eaLnBrk="1" hangingPunct="1"/>
            <a:r>
              <a:rPr lang="zh-CN" altLang="en-US" sz="2400"/>
              <a:t>一个迭代周期要被指派一个到多个用例，如果完全版本的用例在一个迭代周期中处理起来太复杂的话，那就采用简化版本的用例</a:t>
            </a:r>
          </a:p>
          <a:p>
            <a:pPr lvl="1" eaLnBrk="1" hangingPunct="1"/>
            <a:endParaRPr lang="zh-CN" altLang="en-US" sz="2400"/>
          </a:p>
        </p:txBody>
      </p:sp>
      <p:sp>
        <p:nvSpPr>
          <p:cNvPr id="11366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8B742D4-2791-45C1-8DBD-6F31CBE2630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3669" name="Rectangle 4"/>
          <p:cNvSpPr>
            <a:spLocks noChangeArrowheads="1"/>
          </p:cNvSpPr>
          <p:nvPr/>
        </p:nvSpPr>
        <p:spPr bwMode="auto">
          <a:xfrm>
            <a:off x="2497138" y="3140968"/>
            <a:ext cx="1439862" cy="719137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charset="0"/>
              </a:rPr>
              <a:t>迭代周期</a:t>
            </a:r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5089526" y="3140968"/>
            <a:ext cx="1439863" cy="719137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charset="0"/>
              </a:rPr>
              <a:t>迭代周期</a:t>
            </a: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auto">
          <a:xfrm>
            <a:off x="7680326" y="3140968"/>
            <a:ext cx="1439863" cy="719137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charset="0"/>
              </a:rPr>
              <a:t>迭代周期</a:t>
            </a:r>
          </a:p>
        </p:txBody>
      </p:sp>
      <p:sp>
        <p:nvSpPr>
          <p:cNvPr id="113672" name="AutoShape 7"/>
          <p:cNvSpPr>
            <a:spLocks noChangeArrowheads="1"/>
          </p:cNvSpPr>
          <p:nvPr/>
        </p:nvSpPr>
        <p:spPr bwMode="auto">
          <a:xfrm>
            <a:off x="4152900" y="3285429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13673" name="Oval 8"/>
          <p:cNvSpPr>
            <a:spLocks noChangeArrowheads="1"/>
          </p:cNvSpPr>
          <p:nvPr/>
        </p:nvSpPr>
        <p:spPr bwMode="auto">
          <a:xfrm>
            <a:off x="2495550" y="4220467"/>
            <a:ext cx="1511300" cy="57626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charset="0"/>
              </a:rPr>
              <a:t>用例</a:t>
            </a:r>
            <a:r>
              <a:rPr kumimoji="0" lang="en-US" altLang="zh-CN" sz="1600">
                <a:latin typeface="Arial" charset="0"/>
              </a:rPr>
              <a:t>A</a:t>
            </a:r>
          </a:p>
          <a:p>
            <a:pPr algn="ctr" eaLnBrk="0" hangingPunct="0"/>
            <a:r>
              <a:rPr kumimoji="0" lang="en-US" altLang="zh-CN" sz="1600">
                <a:latin typeface="Arial" charset="0"/>
              </a:rPr>
              <a:t>-</a:t>
            </a:r>
            <a:r>
              <a:rPr kumimoji="0" lang="zh-CN" altLang="en-US" sz="1600">
                <a:latin typeface="Arial" charset="0"/>
              </a:rPr>
              <a:t>简化版本</a:t>
            </a:r>
          </a:p>
        </p:txBody>
      </p:sp>
      <p:sp>
        <p:nvSpPr>
          <p:cNvPr id="113674" name="Oval 9"/>
          <p:cNvSpPr>
            <a:spLocks noChangeArrowheads="1"/>
          </p:cNvSpPr>
          <p:nvPr/>
        </p:nvSpPr>
        <p:spPr bwMode="auto">
          <a:xfrm>
            <a:off x="5016500" y="4220467"/>
            <a:ext cx="1511300" cy="57626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charset="0"/>
              </a:rPr>
              <a:t>用例</a:t>
            </a:r>
            <a:r>
              <a:rPr kumimoji="0" lang="en-US" altLang="zh-CN" sz="1600">
                <a:latin typeface="Arial" charset="0"/>
              </a:rPr>
              <a:t>A</a:t>
            </a:r>
          </a:p>
          <a:p>
            <a:pPr algn="ctr" eaLnBrk="0" hangingPunct="0"/>
            <a:r>
              <a:rPr kumimoji="0" lang="en-US" altLang="zh-CN" sz="1600">
                <a:latin typeface="Arial" charset="0"/>
              </a:rPr>
              <a:t>-</a:t>
            </a:r>
            <a:r>
              <a:rPr kumimoji="0" lang="zh-CN" altLang="en-US" sz="1600">
                <a:latin typeface="Arial" charset="0"/>
              </a:rPr>
              <a:t>完整版本</a:t>
            </a:r>
          </a:p>
        </p:txBody>
      </p:sp>
      <p:sp>
        <p:nvSpPr>
          <p:cNvPr id="113675" name="Oval 10"/>
          <p:cNvSpPr>
            <a:spLocks noChangeArrowheads="1"/>
          </p:cNvSpPr>
          <p:nvPr/>
        </p:nvSpPr>
        <p:spPr bwMode="auto">
          <a:xfrm>
            <a:off x="7751763" y="4076005"/>
            <a:ext cx="1511300" cy="57626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charset="0"/>
              </a:rPr>
              <a:t>用例</a:t>
            </a:r>
            <a:r>
              <a:rPr kumimoji="0" lang="en-US" altLang="zh-CN" sz="1600">
                <a:latin typeface="Arial" charset="0"/>
              </a:rPr>
              <a:t>B</a:t>
            </a:r>
          </a:p>
        </p:txBody>
      </p:sp>
      <p:sp>
        <p:nvSpPr>
          <p:cNvPr id="113676" name="Oval 11"/>
          <p:cNvSpPr>
            <a:spLocks noChangeArrowheads="1"/>
          </p:cNvSpPr>
          <p:nvPr/>
        </p:nvSpPr>
        <p:spPr bwMode="auto">
          <a:xfrm>
            <a:off x="7753350" y="4723705"/>
            <a:ext cx="1511300" cy="57626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charset="0"/>
              </a:rPr>
              <a:t>用例</a:t>
            </a:r>
            <a:r>
              <a:rPr kumimoji="0" lang="en-US" altLang="zh-CN" sz="1600">
                <a:latin typeface="Arial" charset="0"/>
              </a:rPr>
              <a:t>C</a:t>
            </a:r>
          </a:p>
        </p:txBody>
      </p:sp>
      <p:sp>
        <p:nvSpPr>
          <p:cNvPr id="113677" name="AutoShape 12"/>
          <p:cNvSpPr>
            <a:spLocks noChangeArrowheads="1"/>
          </p:cNvSpPr>
          <p:nvPr/>
        </p:nvSpPr>
        <p:spPr bwMode="auto">
          <a:xfrm>
            <a:off x="6743700" y="3285429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用例分级实施策略</a:t>
            </a:r>
            <a:r>
              <a:rPr lang="en-US" altLang="zh-CN"/>
              <a:t>-1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可以使用一个简单的但是有些不精确的分类方法，如将用例划分成高、中、低三个等级</a:t>
            </a:r>
          </a:p>
        </p:txBody>
      </p:sp>
      <p:sp>
        <p:nvSpPr>
          <p:cNvPr id="11469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3426B78-0B6C-485F-BAED-1304CF5DAC1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2960808"/>
            <a:ext cx="8285427" cy="190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7BD209E-E603-4F22-8D3A-63FB81BAE7B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用例分级原则</a:t>
            </a: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用例分级的一个基本原则</a:t>
            </a:r>
          </a:p>
          <a:p>
            <a:pPr lvl="1" eaLnBrk="1" hangingPunct="1"/>
            <a:r>
              <a:rPr lang="zh-CN" altLang="en-US" sz="2400" dirty="0"/>
              <a:t>高级别用例是那些对系统核心架构影响最大的用例</a:t>
            </a:r>
          </a:p>
          <a:p>
            <a:pPr eaLnBrk="1" hangingPunct="1"/>
            <a:r>
              <a:rPr lang="zh-CN" altLang="en-US" sz="2800" dirty="0"/>
              <a:t>提高用例级别的特性：</a:t>
            </a:r>
          </a:p>
          <a:p>
            <a:pPr lvl="1" eaLnBrk="1" hangingPunct="1"/>
            <a:r>
              <a:rPr lang="en-US" altLang="zh-CN" sz="2400" dirty="0"/>
              <a:t>(1) </a:t>
            </a:r>
            <a:r>
              <a:rPr lang="zh-CN" altLang="en-US" sz="2400" dirty="0"/>
              <a:t>对架构设计有重要影响的用例，如在领域层中增加多个类的用例或者需要持久化的用例</a:t>
            </a:r>
          </a:p>
          <a:p>
            <a:pPr lvl="1" eaLnBrk="1" hangingPunct="1"/>
            <a:r>
              <a:rPr lang="en-US" altLang="zh-CN" sz="2400" dirty="0"/>
              <a:t>(2) </a:t>
            </a:r>
            <a:r>
              <a:rPr lang="zh-CN" altLang="en-US" sz="2400" dirty="0"/>
              <a:t>体现系统核心业务流程的用例</a:t>
            </a:r>
          </a:p>
          <a:p>
            <a:pPr lvl="1" eaLnBrk="1" hangingPunct="1"/>
            <a:r>
              <a:rPr lang="en-US" altLang="zh-CN" sz="2400" dirty="0"/>
              <a:t>(3) </a:t>
            </a:r>
            <a:r>
              <a:rPr lang="zh-CN" altLang="en-US" sz="2400" dirty="0"/>
              <a:t>存在开发风险的用例</a:t>
            </a:r>
          </a:p>
          <a:p>
            <a:pPr lvl="1" eaLnBrk="1" hangingPunct="1"/>
            <a:r>
              <a:rPr lang="en-US" altLang="zh-CN" sz="2400" dirty="0"/>
              <a:t>(4) </a:t>
            </a:r>
            <a:r>
              <a:rPr lang="zh-CN" altLang="en-US" sz="2400" dirty="0"/>
              <a:t>涉及新技术或需要创新的用例</a:t>
            </a:r>
          </a:p>
          <a:p>
            <a:pPr lvl="1" eaLnBrk="1" hangingPunct="1"/>
            <a:r>
              <a:rPr lang="en-US" altLang="zh-CN" sz="2400" dirty="0"/>
              <a:t>(5) </a:t>
            </a:r>
            <a:r>
              <a:rPr lang="zh-CN" altLang="en-US" sz="2400" dirty="0"/>
              <a:t>能够尽快投入使用并带来直接经济效益的用例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用例分级实施策略</a:t>
            </a:r>
            <a:r>
              <a:rPr lang="en-US" altLang="zh-CN"/>
              <a:t>-2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依照上述的影响用例级别的特性给用例打分（特性也可能带有权值）</a:t>
            </a:r>
          </a:p>
        </p:txBody>
      </p:sp>
      <p:sp>
        <p:nvSpPr>
          <p:cNvPr id="1167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A715BC0-8154-4E7B-8C1B-D6969241B66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120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DBEA6A-A7D0-49D1-B367-83B0343C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50" y="2348880"/>
            <a:ext cx="9801584" cy="3753066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9A184AE-BF9C-45C8-B146-FEFA3A4E7FA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121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内容安排</a:t>
            </a:r>
            <a:endParaRPr lang="en-US" altLang="zh-CN"/>
          </a:p>
        </p:txBody>
      </p:sp>
      <p:sp>
        <p:nvSpPr>
          <p:cNvPr id="74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理解需求</a:t>
            </a:r>
            <a:endParaRPr lang="en-US" altLang="zh-CN" dirty="0">
              <a:solidFill>
                <a:srgbClr val="4D4D4D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需求获取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4D4D4D"/>
                </a:solidFill>
              </a:rPr>
              <a:t>用例建模流程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4D4D4D"/>
                </a:solidFill>
                <a:cs typeface="+mn-cs"/>
              </a:rPr>
              <a:t>获取原始需求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4D4D4D"/>
                </a:solidFill>
                <a:cs typeface="+mn-cs"/>
              </a:rPr>
              <a:t>构建初始用例模型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4D4D4D"/>
                </a:solidFill>
                <a:cs typeface="+mn-cs"/>
              </a:rPr>
              <a:t>编写用例文档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4D4D4D"/>
                </a:solidFill>
                <a:cs typeface="+mn-cs"/>
              </a:rPr>
              <a:t>重构用例模型</a:t>
            </a:r>
            <a:endParaRPr lang="en-US" altLang="zh-CN" dirty="0">
              <a:solidFill>
                <a:srgbClr val="4D4D4D"/>
              </a:solidFill>
              <a:cs typeface="+mn-cs"/>
            </a:endParaRPr>
          </a:p>
          <a:p>
            <a:pPr eaLnBrk="1" hangingPunct="1">
              <a:defRPr/>
            </a:pPr>
            <a:r>
              <a:rPr kumimoji="0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其他问题</a:t>
            </a:r>
            <a:endParaRPr kumimoji="0"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978060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用例建模中的常见问题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用例不是功能分解</a:t>
            </a:r>
            <a:endParaRPr lang="en-US" altLang="zh-CN" dirty="0"/>
          </a:p>
          <a:p>
            <a:pPr lvl="1"/>
            <a:r>
              <a:rPr lang="zh-CN" altLang="en-US" dirty="0"/>
              <a:t>用例使用过程中最容易出现的问题</a:t>
            </a:r>
            <a:endParaRPr lang="en-US" altLang="zh-CN" dirty="0"/>
          </a:p>
          <a:p>
            <a:pPr lvl="1"/>
            <a:r>
              <a:rPr lang="zh-CN" altLang="en-US" dirty="0"/>
              <a:t>用例是“因”，功能是“果”</a:t>
            </a:r>
            <a:endParaRPr lang="en-US" altLang="zh-CN" dirty="0"/>
          </a:p>
          <a:p>
            <a:pPr lvl="1"/>
            <a:r>
              <a:rPr lang="zh-CN" altLang="en-US" dirty="0"/>
              <a:t>用例是目标，不是过程；按照价值分解，而不是功能模块、过程的分解</a:t>
            </a:r>
            <a:endParaRPr lang="en-US" altLang="zh-CN" dirty="0"/>
          </a:p>
          <a:p>
            <a:r>
              <a:rPr lang="zh-CN" altLang="en-US" dirty="0"/>
              <a:t>用例图的误区</a:t>
            </a:r>
            <a:endParaRPr lang="en-US" altLang="zh-CN" dirty="0"/>
          </a:p>
          <a:p>
            <a:pPr lvl="1"/>
            <a:r>
              <a:rPr lang="zh-CN" altLang="en-US" dirty="0"/>
              <a:t>仅展现</a:t>
            </a:r>
            <a:r>
              <a:rPr lang="zh-CN" altLang="zh-CN" dirty="0"/>
              <a:t>所有的参与者、用例以及它们之间的关系</a:t>
            </a:r>
            <a:endParaRPr lang="en-US" altLang="zh-CN" dirty="0"/>
          </a:p>
          <a:p>
            <a:pPr lvl="1"/>
            <a:r>
              <a:rPr lang="zh-CN" altLang="en-US" dirty="0"/>
              <a:t>每个用例产生相对独立，向参与者提供价值</a:t>
            </a:r>
            <a:endParaRPr lang="en-US" altLang="zh-CN" dirty="0"/>
          </a:p>
          <a:p>
            <a:r>
              <a:rPr lang="zh-CN" altLang="en-US" dirty="0"/>
              <a:t>用例关系的使用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122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295109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用例与需求规约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用例模型由用例图、参与者文档和用例文档组成，通过这三部分来表示系统需求</a:t>
            </a:r>
            <a:endParaRPr lang="en-US" altLang="zh-CN" dirty="0"/>
          </a:p>
          <a:p>
            <a:r>
              <a:rPr lang="zh-CN" altLang="zh-CN" dirty="0"/>
              <a:t>补充规约文档</a:t>
            </a:r>
            <a:endParaRPr lang="en-US" altLang="zh-CN" dirty="0"/>
          </a:p>
          <a:p>
            <a:pPr lvl="1"/>
            <a:r>
              <a:rPr lang="zh-CN" altLang="zh-CN" dirty="0"/>
              <a:t>需求规约中还应该包含对数据要求、非功能需求、设计约束、用户界面、验收标准等内容的约定</a:t>
            </a:r>
            <a:endParaRPr lang="en-US" altLang="zh-CN" dirty="0"/>
          </a:p>
          <a:p>
            <a:r>
              <a:rPr lang="zh-CN" altLang="zh-CN" dirty="0"/>
              <a:t>数据规约文档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123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8309420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E1D037C-979D-474A-84E1-3F328345044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124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用例建模的适用场合</a:t>
            </a:r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用例是从参与者角度捕获系统功能，当系统只有一个或没有参与者时，显然不是非常有效的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用例捕获功能需求，因此对于系统的非功能需求不是有效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当遇到下述情况时，用例是需求捕获的最好选择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系统由功能需求所主导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系统具有很多类型的用户，系统对他们提供不同的功能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系统具有很多接口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当遇到下述情况时，用例是一个糟糕的选择：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系统由非功能需求所主导（如：</a:t>
            </a:r>
            <a:r>
              <a:rPr lang="en-US" altLang="zh-CN" sz="2000" dirty="0" err="1"/>
              <a:t>google</a:t>
            </a:r>
            <a:r>
              <a:rPr lang="zh-CN" altLang="en-US" sz="2000" dirty="0"/>
              <a:t>）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系统具有很少的用户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系统具有很少的接口（非内部功能）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/>
              <a:t>如：嵌入式系统、算法复杂但接口少的系统等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用例与项目管理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用例可作为项目估算的依据</a:t>
            </a:r>
            <a:endParaRPr lang="en-US" altLang="zh-CN" dirty="0"/>
          </a:p>
          <a:p>
            <a:pPr lvl="1"/>
            <a:r>
              <a:rPr lang="zh-CN" altLang="en-US" dirty="0"/>
              <a:t>从基于功能点的估算，到基于用例的估算方法</a:t>
            </a:r>
            <a:endParaRPr lang="en-US" altLang="zh-CN" dirty="0"/>
          </a:p>
          <a:p>
            <a:r>
              <a:rPr lang="zh-CN" altLang="zh-CN" dirty="0"/>
              <a:t>用例可作为制定后续开发计划和迭代计划的基础</a:t>
            </a:r>
            <a:endParaRPr lang="en-US" altLang="zh-CN" dirty="0"/>
          </a:p>
          <a:p>
            <a:pPr lvl="1"/>
            <a:r>
              <a:rPr lang="zh-CN" altLang="en-US" dirty="0"/>
              <a:t>用例驱动的迭代开发</a:t>
            </a:r>
            <a:endParaRPr lang="en-US" altLang="zh-CN" dirty="0"/>
          </a:p>
          <a:p>
            <a:r>
              <a:rPr lang="zh-CN" altLang="zh-CN" dirty="0"/>
              <a:t>用例提供了项目的可追踪性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-</a:t>
            </a:r>
            <a:fld id="{5754343B-143F-433B-AAA2-B251BF3FFF11}" type="slidenum">
              <a:rPr lang="en-US" altLang="zh-CN" smtClean="0"/>
              <a:pPr>
                <a:defRPr/>
              </a:pPr>
              <a:t>125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19927364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用例与用户故事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用户故事（</a:t>
            </a:r>
            <a:r>
              <a:rPr lang="en-US" altLang="zh-CN" dirty="0"/>
              <a:t>Use Story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一种轻量级的、有效的用户需求描述方式</a:t>
            </a:r>
            <a:endParaRPr lang="en-US" altLang="zh-CN" dirty="0"/>
          </a:p>
          <a:p>
            <a:r>
              <a:rPr lang="zh-CN" altLang="en-US" dirty="0"/>
              <a:t>都是从用户角度描述需求，但不同点：</a:t>
            </a:r>
            <a:endParaRPr lang="en-US" altLang="zh-CN" dirty="0"/>
          </a:p>
          <a:p>
            <a:pPr lvl="1"/>
            <a:r>
              <a:rPr lang="zh-CN" altLang="en-US" dirty="0"/>
              <a:t>用例：规范化、系统化，包含不同的用例场景</a:t>
            </a:r>
            <a:endParaRPr lang="en-US" altLang="zh-CN" dirty="0"/>
          </a:p>
          <a:p>
            <a:pPr lvl="1"/>
            <a:r>
              <a:rPr lang="zh-CN" altLang="en-US" dirty="0"/>
              <a:t>用户故事：以</a:t>
            </a:r>
            <a:r>
              <a:rPr lang="zh-CN" altLang="en-US" dirty="0">
                <a:solidFill>
                  <a:srgbClr val="FF0000"/>
                </a:solidFill>
              </a:rPr>
              <a:t>用例场景</a:t>
            </a:r>
            <a:r>
              <a:rPr lang="zh-CN" altLang="en-US" dirty="0"/>
              <a:t>为基础，轻量级的需求描述方式，是敏捷方法中主流的需求建模技术</a:t>
            </a:r>
            <a:endParaRPr lang="en-US" altLang="zh-CN" dirty="0"/>
          </a:p>
          <a:p>
            <a:r>
              <a:rPr lang="zh-CN" altLang="en-US" dirty="0"/>
              <a:t>用户故事的描述方式</a:t>
            </a:r>
            <a:endParaRPr lang="en-US" altLang="zh-CN" dirty="0"/>
          </a:p>
          <a:p>
            <a:pPr lvl="1"/>
            <a:r>
              <a:rPr lang="zh-CN" altLang="en-US" dirty="0"/>
              <a:t>作为***（角色，</a:t>
            </a:r>
            <a:r>
              <a:rPr lang="en-US" altLang="zh-CN" dirty="0"/>
              <a:t>Who</a:t>
            </a:r>
            <a:r>
              <a:rPr lang="zh-CN" altLang="en-US" dirty="0"/>
              <a:t>），希望通过系统***（解决方案、功能要求，</a:t>
            </a:r>
            <a:r>
              <a:rPr lang="en-US" altLang="zh-CN" dirty="0"/>
              <a:t>What</a:t>
            </a:r>
            <a:r>
              <a:rPr lang="zh-CN" altLang="en-US" dirty="0"/>
              <a:t>），以便达成***业务目的、要解决的业务问题（</a:t>
            </a:r>
            <a:r>
              <a:rPr lang="en-US" altLang="zh-CN" dirty="0"/>
              <a:t>Why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058F2F-ED1A-42C4-8B90-EED290165636}" type="slidenum">
              <a:rPr lang="en-US" altLang="zh-CN" smtClean="0"/>
              <a:pPr>
                <a:defRPr/>
              </a:pPr>
              <a:t>126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10532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6625" y="1928816"/>
            <a:ext cx="7772400" cy="1755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8800" dirty="0"/>
              <a:t>谢 谢</a:t>
            </a:r>
            <a:r>
              <a:rPr lang="en-US" altLang="zh-CN" sz="8800" dirty="0"/>
              <a:t>!</a:t>
            </a:r>
            <a:endParaRPr lang="zh-CN" altLang="en-US" sz="880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模板">
  <a:themeElements>
    <a:clrScheme name="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模板">
      <a:majorFont>
        <a:latin typeface="Tahoma"/>
        <a:ea typeface="幼圆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1258</TotalTime>
  <Words>6440</Words>
  <Application>Microsoft Office PowerPoint</Application>
  <PresentationFormat>宽屏</PresentationFormat>
  <Paragraphs>988</Paragraphs>
  <Slides>127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127</vt:i4>
      </vt:variant>
    </vt:vector>
  </HeadingPairs>
  <TitlesOfParts>
    <vt:vector size="139" baseType="lpstr">
      <vt:lpstr>华文楷体</vt:lpstr>
      <vt:lpstr>隶书</vt:lpstr>
      <vt:lpstr>宋体</vt:lpstr>
      <vt:lpstr>微软雅黑</vt:lpstr>
      <vt:lpstr>幼圆</vt:lpstr>
      <vt:lpstr>Arial</vt:lpstr>
      <vt:lpstr>Monotype Corsiva</vt:lpstr>
      <vt:lpstr>Tahoma</vt:lpstr>
      <vt:lpstr>Times New Roman</vt:lpstr>
      <vt:lpstr>Verdana</vt:lpstr>
      <vt:lpstr>Wingdings</vt:lpstr>
      <vt:lpstr>模板</vt:lpstr>
      <vt:lpstr>UML2面向对象分析与设计 Object-Oriented Analysis &amp; Design with UML2</vt:lpstr>
      <vt:lpstr>学习路线图</vt:lpstr>
      <vt:lpstr>第04章 用例建模</vt:lpstr>
      <vt:lpstr>第04章 用例建模</vt:lpstr>
      <vt:lpstr>第04章 用例建模</vt:lpstr>
      <vt:lpstr>需求—建造“正确”的系统</vt:lpstr>
      <vt:lpstr>需求工程的主要活动</vt:lpstr>
      <vt:lpstr>需求难在何处：石头问题</vt:lpstr>
      <vt:lpstr>需求：也需要开发</vt:lpstr>
      <vt:lpstr>需求问题：对策</vt:lpstr>
      <vt:lpstr>以用例为中心组织需求</vt:lpstr>
      <vt:lpstr>用例的昨天</vt:lpstr>
      <vt:lpstr>第04章 用例建模</vt:lpstr>
      <vt:lpstr>需求获取</vt:lpstr>
      <vt:lpstr>从业务模型获取需求</vt:lpstr>
      <vt:lpstr>1. 业务改进点</vt:lpstr>
      <vt:lpstr>寻找业务改进点</vt:lpstr>
      <vt:lpstr>改进点1：流程控制</vt:lpstr>
      <vt:lpstr>改进点2：复杂业务逻辑</vt:lpstr>
      <vt:lpstr>改进点3：访问和操作业务对象</vt:lpstr>
      <vt:lpstr>改进点4：自动化业务</vt:lpstr>
      <vt:lpstr>2. 远景(Vision)</vt:lpstr>
      <vt:lpstr>定义项目远景</vt:lpstr>
      <vt:lpstr>远景说明</vt:lpstr>
      <vt:lpstr>3. 导出系统需求</vt:lpstr>
      <vt:lpstr>实例分析：旅店系统开发背景</vt:lpstr>
      <vt:lpstr>远景：旅店预订系统</vt:lpstr>
      <vt:lpstr>结合远景，获取系统需求</vt:lpstr>
      <vt:lpstr>第04章 用例建模</vt:lpstr>
      <vt:lpstr>用例建模流程</vt:lpstr>
      <vt:lpstr>用例建模流程</vt:lpstr>
      <vt:lpstr>1.需求从何而来</vt:lpstr>
      <vt:lpstr>涉众无法直接提供需求</vt:lpstr>
      <vt:lpstr>需求获取技术</vt:lpstr>
      <vt:lpstr>需求获取技术对比</vt:lpstr>
      <vt:lpstr>用例建模流程</vt:lpstr>
      <vt:lpstr>2.1 识别参与者(Actor)</vt:lpstr>
      <vt:lpstr>参与者要点分析</vt:lpstr>
      <vt:lpstr>要点：与系统进行信息交互</vt:lpstr>
      <vt:lpstr>要点：任何事物</vt:lpstr>
      <vt:lpstr>任何事物：小人与圣小猪-1</vt:lpstr>
      <vt:lpstr>小人与圣小猪-2</vt:lpstr>
      <vt:lpstr>思考：参与者与系统边界？</vt:lpstr>
      <vt:lpstr>识别参与者的思路</vt:lpstr>
      <vt:lpstr>参与者的命名</vt:lpstr>
      <vt:lpstr>参与者之间的关系：泛化</vt:lpstr>
      <vt:lpstr>参与者地位</vt:lpstr>
      <vt:lpstr>文档化参与者</vt:lpstr>
      <vt:lpstr>思考：识别参与者？</vt:lpstr>
      <vt:lpstr>2.2 识别用例</vt:lpstr>
      <vt:lpstr>用例要点</vt:lpstr>
      <vt:lpstr>要点：用例止于系统边界</vt:lpstr>
      <vt:lpstr>要点：有意义的目标</vt:lpstr>
      <vt:lpstr>要点：结果值由系统生成</vt:lpstr>
      <vt:lpstr>要点：业务语言而非技术语言</vt:lpstr>
      <vt:lpstr>要点：用户观点而非系统观点</vt:lpstr>
      <vt:lpstr>用例 VS. 功能</vt:lpstr>
      <vt:lpstr>确定用例</vt:lpstr>
      <vt:lpstr>用例命名</vt:lpstr>
      <vt:lpstr>用例粒度</vt:lpstr>
      <vt:lpstr>用例粒度（续）</vt:lpstr>
      <vt:lpstr>用例粒度：四轮马车</vt:lpstr>
      <vt:lpstr>用例粒度：四轮马车（续）</vt:lpstr>
      <vt:lpstr>用例粒度：四轮马车（续）</vt:lpstr>
      <vt:lpstr>思考：识别用例-1</vt:lpstr>
      <vt:lpstr>思考：识别用例-2</vt:lpstr>
      <vt:lpstr>2.3 绘制用例图</vt:lpstr>
      <vt:lpstr>关联关系：参与者和用例</vt:lpstr>
      <vt:lpstr>实例分析：旅店预订系统</vt:lpstr>
      <vt:lpstr>建模实践：旅游业务申请系统</vt:lpstr>
      <vt:lpstr>获取系统参与者</vt:lpstr>
      <vt:lpstr>从参与者的角度获取用例</vt:lpstr>
      <vt:lpstr>旅游业务申请系统参考用例图</vt:lpstr>
      <vt:lpstr>用例建模流程</vt:lpstr>
      <vt:lpstr>编写用例文档</vt:lpstr>
      <vt:lpstr>有层次的需求组织形式</vt:lpstr>
      <vt:lpstr>用例文档的组成</vt:lpstr>
      <vt:lpstr>参与者与涉众</vt:lpstr>
      <vt:lpstr>从涉众角度定义用例</vt:lpstr>
      <vt:lpstr>用例平衡涉众之间的利益</vt:lpstr>
      <vt:lpstr>涉众利益的冲突</vt:lpstr>
      <vt:lpstr>寻找涉众的思路</vt:lpstr>
      <vt:lpstr>前置条件和后置条件</vt:lpstr>
      <vt:lpstr>定义前置、后置条件</vt:lpstr>
      <vt:lpstr>应用前置、后置条件</vt:lpstr>
      <vt:lpstr>事件流-用例交互四部曲</vt:lpstr>
      <vt:lpstr>事件流描述要点</vt:lpstr>
      <vt:lpstr>例1：使用自然语言</vt:lpstr>
      <vt:lpstr>例2：描述参与者与系统交互过程</vt:lpstr>
      <vt:lpstr>例3：不细化GUI</vt:lpstr>
      <vt:lpstr>例4：分支和循环的描述</vt:lpstr>
      <vt:lpstr>两种类型的事件流</vt:lpstr>
      <vt:lpstr>用例文档中的补充约束</vt:lpstr>
      <vt:lpstr>补充约束：数据需求</vt:lpstr>
      <vt:lpstr>补充约束：业务规则</vt:lpstr>
      <vt:lpstr>补充约束：非功能需求</vt:lpstr>
      <vt:lpstr>补充约束：设计约束</vt:lpstr>
      <vt:lpstr>实践：编写用例文档</vt:lpstr>
      <vt:lpstr>用例建模流程</vt:lpstr>
      <vt:lpstr>重构用例模型</vt:lpstr>
      <vt:lpstr>4.1 用例关系</vt:lpstr>
      <vt:lpstr>通过关系整理文档</vt:lpstr>
      <vt:lpstr>用例关系：包含</vt:lpstr>
      <vt:lpstr>用例关系：扩展</vt:lpstr>
      <vt:lpstr>提炼扩展用例的主要思路</vt:lpstr>
      <vt:lpstr>扩展 VS. 包含</vt:lpstr>
      <vt:lpstr>扩展 VS. 包含</vt:lpstr>
      <vt:lpstr>用例关系：泛化</vt:lpstr>
      <vt:lpstr>慎重用例间的泛化关系</vt:lpstr>
      <vt:lpstr>将泛化转换成扩展</vt:lpstr>
      <vt:lpstr>旅游申请系统重构后的用例模型</vt:lpstr>
      <vt:lpstr>4.2 用例分包：组织模型</vt:lpstr>
      <vt:lpstr>分包策略</vt:lpstr>
      <vt:lpstr>利用分包机制组织用例模型</vt:lpstr>
      <vt:lpstr>“申请”包的子视图</vt:lpstr>
      <vt:lpstr>受理和审查包的子视图</vt:lpstr>
      <vt:lpstr>4.3为什么要对用例进行分级</vt:lpstr>
      <vt:lpstr>用例分级实施策略-1</vt:lpstr>
      <vt:lpstr>用例分级原则</vt:lpstr>
      <vt:lpstr>用例分级实施策略-2</vt:lpstr>
      <vt:lpstr>内容安排</vt:lpstr>
      <vt:lpstr>用例建模中的常见问题</vt:lpstr>
      <vt:lpstr>用例与需求规约</vt:lpstr>
      <vt:lpstr>用例建模的适用场合</vt:lpstr>
      <vt:lpstr>用例与项目管理</vt:lpstr>
      <vt:lpstr>用例与用户故事</vt:lpstr>
      <vt:lpstr>谢 谢!</vt:lpstr>
    </vt:vector>
  </TitlesOfParts>
  <Company>buaa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面向对象分析设计课程讲义</dc:title>
  <dc:creator>thbin</dc:creator>
  <cp:lastModifiedBy>Tan Huobin</cp:lastModifiedBy>
  <cp:revision>452</cp:revision>
  <cp:lastPrinted>1601-01-01T00:00:00Z</cp:lastPrinted>
  <dcterms:created xsi:type="dcterms:W3CDTF">2005-09-05T02:45:08Z</dcterms:created>
  <dcterms:modified xsi:type="dcterms:W3CDTF">2020-02-26T12:54:26Z</dcterms:modified>
  <cp:category>UML</cp:category>
</cp:coreProperties>
</file>