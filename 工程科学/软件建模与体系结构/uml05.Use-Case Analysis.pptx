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5" r:id="rId1"/>
  </p:sldMasterIdLst>
  <p:notesMasterIdLst>
    <p:notesMasterId r:id="rId97"/>
  </p:notesMasterIdLst>
  <p:handoutMasterIdLst>
    <p:handoutMasterId r:id="rId98"/>
  </p:handoutMasterIdLst>
  <p:sldIdLst>
    <p:sldId id="399" r:id="rId2"/>
    <p:sldId id="339" r:id="rId3"/>
    <p:sldId id="257" r:id="rId4"/>
    <p:sldId id="260" r:id="rId5"/>
    <p:sldId id="261" r:id="rId6"/>
    <p:sldId id="262" r:id="rId7"/>
    <p:sldId id="264" r:id="rId8"/>
    <p:sldId id="265" r:id="rId9"/>
    <p:sldId id="342" r:id="rId10"/>
    <p:sldId id="343" r:id="rId11"/>
    <p:sldId id="266" r:id="rId12"/>
    <p:sldId id="267" r:id="rId13"/>
    <p:sldId id="268" r:id="rId14"/>
    <p:sldId id="365" r:id="rId15"/>
    <p:sldId id="366" r:id="rId16"/>
    <p:sldId id="367" r:id="rId17"/>
    <p:sldId id="269" r:id="rId18"/>
    <p:sldId id="270" r:id="rId19"/>
    <p:sldId id="274" r:id="rId20"/>
    <p:sldId id="337" r:id="rId21"/>
    <p:sldId id="275" r:id="rId22"/>
    <p:sldId id="276" r:id="rId23"/>
    <p:sldId id="277" r:id="rId24"/>
    <p:sldId id="278" r:id="rId25"/>
    <p:sldId id="280" r:id="rId26"/>
    <p:sldId id="282" r:id="rId27"/>
    <p:sldId id="283" r:id="rId28"/>
    <p:sldId id="284" r:id="rId29"/>
    <p:sldId id="285" r:id="rId30"/>
    <p:sldId id="286" r:id="rId31"/>
    <p:sldId id="287" r:id="rId32"/>
    <p:sldId id="340" r:id="rId33"/>
    <p:sldId id="341" r:id="rId34"/>
    <p:sldId id="289" r:id="rId35"/>
    <p:sldId id="290" r:id="rId36"/>
    <p:sldId id="291" r:id="rId37"/>
    <p:sldId id="292" r:id="rId38"/>
    <p:sldId id="293" r:id="rId39"/>
    <p:sldId id="294" r:id="rId40"/>
    <p:sldId id="295" r:id="rId41"/>
    <p:sldId id="296" r:id="rId42"/>
    <p:sldId id="297" r:id="rId43"/>
    <p:sldId id="299" r:id="rId44"/>
    <p:sldId id="300" r:id="rId45"/>
    <p:sldId id="301" r:id="rId46"/>
    <p:sldId id="334" r:id="rId47"/>
    <p:sldId id="344" r:id="rId48"/>
    <p:sldId id="336" r:id="rId49"/>
    <p:sldId id="303" r:id="rId50"/>
    <p:sldId id="304" r:id="rId51"/>
    <p:sldId id="305" r:id="rId52"/>
    <p:sldId id="306" r:id="rId53"/>
    <p:sldId id="338" r:id="rId54"/>
    <p:sldId id="307" r:id="rId55"/>
    <p:sldId id="308" r:id="rId56"/>
    <p:sldId id="309" r:id="rId57"/>
    <p:sldId id="310" r:id="rId58"/>
    <p:sldId id="311" r:id="rId59"/>
    <p:sldId id="312" r:id="rId60"/>
    <p:sldId id="313" r:id="rId61"/>
    <p:sldId id="359" r:id="rId62"/>
    <p:sldId id="370" r:id="rId63"/>
    <p:sldId id="371" r:id="rId64"/>
    <p:sldId id="372" r:id="rId65"/>
    <p:sldId id="314" r:id="rId66"/>
    <p:sldId id="315" r:id="rId67"/>
    <p:sldId id="316" r:id="rId68"/>
    <p:sldId id="361" r:id="rId69"/>
    <p:sldId id="345" r:id="rId70"/>
    <p:sldId id="346" r:id="rId71"/>
    <p:sldId id="347" r:id="rId72"/>
    <p:sldId id="348" r:id="rId73"/>
    <p:sldId id="349" r:id="rId74"/>
    <p:sldId id="317" r:id="rId75"/>
    <p:sldId id="318" r:id="rId76"/>
    <p:sldId id="319" r:id="rId77"/>
    <p:sldId id="320" r:id="rId78"/>
    <p:sldId id="350" r:id="rId79"/>
    <p:sldId id="352" r:id="rId80"/>
    <p:sldId id="351" r:id="rId81"/>
    <p:sldId id="353" r:id="rId82"/>
    <p:sldId id="354" r:id="rId83"/>
    <p:sldId id="362" r:id="rId84"/>
    <p:sldId id="363" r:id="rId85"/>
    <p:sldId id="364" r:id="rId86"/>
    <p:sldId id="355" r:id="rId87"/>
    <p:sldId id="356" r:id="rId88"/>
    <p:sldId id="357" r:id="rId89"/>
    <p:sldId id="322" r:id="rId90"/>
    <p:sldId id="323" r:id="rId91"/>
    <p:sldId id="324" r:id="rId92"/>
    <p:sldId id="325" r:id="rId93"/>
    <p:sldId id="327" r:id="rId94"/>
    <p:sldId id="358" r:id="rId95"/>
    <p:sldId id="382" r:id="rId96"/>
  </p:sldIdLst>
  <p:sldSz cx="12192000" cy="6858000"/>
  <p:notesSz cx="7099300" cy="10234613"/>
  <p:defaultTextStyle>
    <a:defPPr>
      <a:defRPr lang="en-US"/>
    </a:defPPr>
    <a:lvl1pPr algn="l" rtl="0" fontAlgn="base">
      <a:spcBef>
        <a:spcPct val="0"/>
      </a:spcBef>
      <a:spcAft>
        <a:spcPct val="0"/>
      </a:spcAft>
      <a:defRPr kumimoji="1" sz="2400" b="1" kern="1200">
        <a:solidFill>
          <a:schemeClr val="tx1"/>
        </a:solidFill>
        <a:latin typeface="Tahoma" pitchFamily="34" charset="0"/>
        <a:ea typeface="宋体" pitchFamily="2" charset="-122"/>
        <a:cs typeface="+mn-cs"/>
      </a:defRPr>
    </a:lvl1pPr>
    <a:lvl2pPr marL="457200" algn="l" rtl="0" fontAlgn="base">
      <a:spcBef>
        <a:spcPct val="0"/>
      </a:spcBef>
      <a:spcAft>
        <a:spcPct val="0"/>
      </a:spcAft>
      <a:defRPr kumimoji="1" sz="2400" b="1" kern="1200">
        <a:solidFill>
          <a:schemeClr val="tx1"/>
        </a:solidFill>
        <a:latin typeface="Tahoma" pitchFamily="34" charset="0"/>
        <a:ea typeface="宋体" pitchFamily="2" charset="-122"/>
        <a:cs typeface="+mn-cs"/>
      </a:defRPr>
    </a:lvl2pPr>
    <a:lvl3pPr marL="914400" algn="l" rtl="0" fontAlgn="base">
      <a:spcBef>
        <a:spcPct val="0"/>
      </a:spcBef>
      <a:spcAft>
        <a:spcPct val="0"/>
      </a:spcAft>
      <a:defRPr kumimoji="1" sz="2400" b="1" kern="1200">
        <a:solidFill>
          <a:schemeClr val="tx1"/>
        </a:solidFill>
        <a:latin typeface="Tahoma" pitchFamily="34" charset="0"/>
        <a:ea typeface="宋体" pitchFamily="2" charset="-122"/>
        <a:cs typeface="+mn-cs"/>
      </a:defRPr>
    </a:lvl3pPr>
    <a:lvl4pPr marL="1371600" algn="l" rtl="0" fontAlgn="base">
      <a:spcBef>
        <a:spcPct val="0"/>
      </a:spcBef>
      <a:spcAft>
        <a:spcPct val="0"/>
      </a:spcAft>
      <a:defRPr kumimoji="1" sz="2400" b="1" kern="1200">
        <a:solidFill>
          <a:schemeClr val="tx1"/>
        </a:solidFill>
        <a:latin typeface="Tahoma" pitchFamily="34" charset="0"/>
        <a:ea typeface="宋体" pitchFamily="2" charset="-122"/>
        <a:cs typeface="+mn-cs"/>
      </a:defRPr>
    </a:lvl4pPr>
    <a:lvl5pPr marL="1828800" algn="l" rtl="0" fontAlgn="base">
      <a:spcBef>
        <a:spcPct val="0"/>
      </a:spcBef>
      <a:spcAft>
        <a:spcPct val="0"/>
      </a:spcAft>
      <a:defRPr kumimoji="1" sz="2400" b="1" kern="1200">
        <a:solidFill>
          <a:schemeClr val="tx1"/>
        </a:solidFill>
        <a:latin typeface="Tahoma" pitchFamily="34" charset="0"/>
        <a:ea typeface="宋体" pitchFamily="2" charset="-122"/>
        <a:cs typeface="+mn-cs"/>
      </a:defRPr>
    </a:lvl5pPr>
    <a:lvl6pPr marL="2286000" algn="l" defTabSz="914400" rtl="0" eaLnBrk="1" latinLnBrk="0" hangingPunct="1">
      <a:defRPr kumimoji="1" sz="2400" b="1" kern="1200">
        <a:solidFill>
          <a:schemeClr val="tx1"/>
        </a:solidFill>
        <a:latin typeface="Tahoma" pitchFamily="34" charset="0"/>
        <a:ea typeface="宋体" pitchFamily="2" charset="-122"/>
        <a:cs typeface="+mn-cs"/>
      </a:defRPr>
    </a:lvl6pPr>
    <a:lvl7pPr marL="2743200" algn="l" defTabSz="914400" rtl="0" eaLnBrk="1" latinLnBrk="0" hangingPunct="1">
      <a:defRPr kumimoji="1" sz="2400" b="1" kern="1200">
        <a:solidFill>
          <a:schemeClr val="tx1"/>
        </a:solidFill>
        <a:latin typeface="Tahoma" pitchFamily="34" charset="0"/>
        <a:ea typeface="宋体" pitchFamily="2" charset="-122"/>
        <a:cs typeface="+mn-cs"/>
      </a:defRPr>
    </a:lvl7pPr>
    <a:lvl8pPr marL="3200400" algn="l" defTabSz="914400" rtl="0" eaLnBrk="1" latinLnBrk="0" hangingPunct="1">
      <a:defRPr kumimoji="1" sz="2400" b="1" kern="1200">
        <a:solidFill>
          <a:schemeClr val="tx1"/>
        </a:solidFill>
        <a:latin typeface="Tahoma" pitchFamily="34" charset="0"/>
        <a:ea typeface="宋体" pitchFamily="2" charset="-122"/>
        <a:cs typeface="+mn-cs"/>
      </a:defRPr>
    </a:lvl8pPr>
    <a:lvl9pPr marL="3657600" algn="l" defTabSz="914400" rtl="0" eaLnBrk="1" latinLnBrk="0" hangingPunct="1">
      <a:defRPr kumimoji="1" sz="2400" b="1" kern="1200">
        <a:solidFill>
          <a:schemeClr val="tx1"/>
        </a:solidFill>
        <a:latin typeface="Tahoma" pitchFamily="34" charset="0"/>
        <a:ea typeface="宋体"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6699"/>
    <a:srgbClr val="99CCFF"/>
    <a:srgbClr val="808000"/>
    <a:srgbClr val="333300"/>
    <a:srgbClr val="003300"/>
    <a:srgbClr val="336699"/>
    <a:srgbClr val="0099CC"/>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autoAdjust="0"/>
    <p:restoredTop sz="91491" autoAdjust="0"/>
  </p:normalViewPr>
  <p:slideViewPr>
    <p:cSldViewPr>
      <p:cViewPr varScale="1">
        <p:scale>
          <a:sx n="101" d="100"/>
          <a:sy n="101" d="100"/>
        </p:scale>
        <p:origin x="876" y="7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9744"/>
    </p:cViewPr>
  </p:sorterViewPr>
  <p:notesViewPr>
    <p:cSldViewPr>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handoutMaster" Target="handoutMasters/handoutMaster1.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0594"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defTabSz="990600">
              <a:defRPr sz="1300" b="0">
                <a:latin typeface="Arial" charset="0"/>
              </a:defRPr>
            </a:lvl1pPr>
          </a:lstStyle>
          <a:p>
            <a:pPr>
              <a:defRPr/>
            </a:pPr>
            <a:endParaRPr lang="zh-CN" altLang="en-US"/>
          </a:p>
        </p:txBody>
      </p:sp>
      <p:sp>
        <p:nvSpPr>
          <p:cNvPr id="110595" name="Rectangle 3"/>
          <p:cNvSpPr>
            <a:spLocks noGrp="1" noChangeArrowheads="1"/>
          </p:cNvSpPr>
          <p:nvPr>
            <p:ph type="dt" sz="quarter" idx="1"/>
          </p:nvPr>
        </p:nvSpPr>
        <p:spPr bwMode="auto">
          <a:xfrm>
            <a:off x="4021138"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defTabSz="990600">
              <a:defRPr sz="1300" b="0">
                <a:latin typeface="Arial" charset="0"/>
              </a:defRPr>
            </a:lvl1pPr>
          </a:lstStyle>
          <a:p>
            <a:pPr>
              <a:defRPr/>
            </a:pPr>
            <a:endParaRPr lang="en-US" altLang="zh-CN"/>
          </a:p>
        </p:txBody>
      </p:sp>
      <p:sp>
        <p:nvSpPr>
          <p:cNvPr id="110596" name="Rectangle 4"/>
          <p:cNvSpPr>
            <a:spLocks noGrp="1" noChangeArrowheads="1"/>
          </p:cNvSpPr>
          <p:nvPr>
            <p:ph type="ftr" sz="quarter" idx="2"/>
          </p:nvPr>
        </p:nvSpPr>
        <p:spPr bwMode="auto">
          <a:xfrm>
            <a:off x="0"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defTabSz="990600">
              <a:defRPr sz="1300" b="0">
                <a:latin typeface="Arial" charset="0"/>
              </a:defRPr>
            </a:lvl1pPr>
          </a:lstStyle>
          <a:p>
            <a:pPr>
              <a:defRPr/>
            </a:pPr>
            <a:endParaRPr lang="en-US" altLang="zh-CN"/>
          </a:p>
        </p:txBody>
      </p:sp>
      <p:sp>
        <p:nvSpPr>
          <p:cNvPr id="110597" name="Rectangle 5"/>
          <p:cNvSpPr>
            <a:spLocks noGrp="1" noChangeArrowheads="1"/>
          </p:cNvSpPr>
          <p:nvPr>
            <p:ph type="sldNum" sz="quarter" idx="3"/>
          </p:nvPr>
        </p:nvSpPr>
        <p:spPr bwMode="auto">
          <a:xfrm>
            <a:off x="4021138"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defTabSz="990600">
              <a:defRPr sz="1300" b="0">
                <a:latin typeface="Arial" charset="0"/>
              </a:defRPr>
            </a:lvl1pPr>
          </a:lstStyle>
          <a:p>
            <a:pPr>
              <a:defRPr/>
            </a:pPr>
            <a:fld id="{6457A214-3559-4BD8-A032-319DD952FC99}" type="slidenum">
              <a:rPr lang="zh-CN" altLang="en-US"/>
              <a:pPr>
                <a:defRPr/>
              </a:pPr>
              <a:t>‹#›</a:t>
            </a:fld>
            <a:endParaRPr lang="en-US" altLang="zh-CN"/>
          </a:p>
        </p:txBody>
      </p:sp>
    </p:spTree>
    <p:extLst>
      <p:ext uri="{BB962C8B-B14F-4D97-AF65-F5344CB8AC3E}">
        <p14:creationId xmlns:p14="http://schemas.microsoft.com/office/powerpoint/2010/main" val="163354350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6738" name="Rectangle 2"/>
          <p:cNvSpPr>
            <a:spLocks noGrp="1" noChangeArrowheads="1"/>
          </p:cNvSpPr>
          <p:nvPr>
            <p:ph type="hdr" sz="quarter"/>
          </p:nvPr>
        </p:nvSpPr>
        <p:spPr bwMode="auto">
          <a:xfrm>
            <a:off x="0"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defTabSz="990600">
              <a:defRPr sz="1300" b="0">
                <a:latin typeface="Arial" charset="0"/>
              </a:defRPr>
            </a:lvl1pPr>
          </a:lstStyle>
          <a:p>
            <a:pPr>
              <a:defRPr/>
            </a:pPr>
            <a:endParaRPr lang="zh-CN" altLang="en-US"/>
          </a:p>
        </p:txBody>
      </p:sp>
      <p:sp>
        <p:nvSpPr>
          <p:cNvPr id="116739" name="Rectangle 3"/>
          <p:cNvSpPr>
            <a:spLocks noGrp="1" noChangeArrowheads="1"/>
          </p:cNvSpPr>
          <p:nvPr>
            <p:ph type="dt" idx="1"/>
          </p:nvPr>
        </p:nvSpPr>
        <p:spPr bwMode="auto">
          <a:xfrm>
            <a:off x="4021138" y="0"/>
            <a:ext cx="3076575" cy="511175"/>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defTabSz="990600">
              <a:defRPr sz="1300" b="0">
                <a:latin typeface="Arial" charset="0"/>
              </a:defRPr>
            </a:lvl1pPr>
          </a:lstStyle>
          <a:p>
            <a:pPr>
              <a:defRPr/>
            </a:pPr>
            <a:endParaRPr lang="en-US" altLang="zh-CN"/>
          </a:p>
        </p:txBody>
      </p:sp>
      <p:sp>
        <p:nvSpPr>
          <p:cNvPr id="115716" name="Rectangle 4"/>
          <p:cNvSpPr>
            <a:spLocks noGrp="1" noRot="1" noChangeAspect="1" noChangeArrowheads="1" noTextEdit="1"/>
          </p:cNvSpPr>
          <p:nvPr>
            <p:ph type="sldImg" idx="2"/>
          </p:nvPr>
        </p:nvSpPr>
        <p:spPr bwMode="auto">
          <a:xfrm>
            <a:off x="139700" y="768350"/>
            <a:ext cx="6819900" cy="38369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6741" name="Rectangle 5"/>
          <p:cNvSpPr>
            <a:spLocks noGrp="1" noChangeArrowheads="1"/>
          </p:cNvSpPr>
          <p:nvPr>
            <p:ph type="body" sz="quarter" idx="3"/>
          </p:nvPr>
        </p:nvSpPr>
        <p:spPr bwMode="auto">
          <a:xfrm>
            <a:off x="709613" y="4860925"/>
            <a:ext cx="5680075" cy="4605338"/>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16742" name="Rectangle 6"/>
          <p:cNvSpPr>
            <a:spLocks noGrp="1" noChangeArrowheads="1"/>
          </p:cNvSpPr>
          <p:nvPr>
            <p:ph type="ftr" sz="quarter" idx="4"/>
          </p:nvPr>
        </p:nvSpPr>
        <p:spPr bwMode="auto">
          <a:xfrm>
            <a:off x="0"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defTabSz="990600">
              <a:defRPr sz="1300" b="0">
                <a:latin typeface="Arial" charset="0"/>
              </a:defRPr>
            </a:lvl1pPr>
          </a:lstStyle>
          <a:p>
            <a:pPr>
              <a:defRPr/>
            </a:pPr>
            <a:endParaRPr lang="en-US" altLang="zh-CN"/>
          </a:p>
        </p:txBody>
      </p:sp>
      <p:sp>
        <p:nvSpPr>
          <p:cNvPr id="116743" name="Rectangle 7"/>
          <p:cNvSpPr>
            <a:spLocks noGrp="1" noChangeArrowheads="1"/>
          </p:cNvSpPr>
          <p:nvPr>
            <p:ph type="sldNum" sz="quarter" idx="5"/>
          </p:nvPr>
        </p:nvSpPr>
        <p:spPr bwMode="auto">
          <a:xfrm>
            <a:off x="4021138" y="9721850"/>
            <a:ext cx="3076575" cy="511175"/>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defTabSz="990600">
              <a:defRPr sz="1300" b="0">
                <a:latin typeface="Arial" charset="0"/>
              </a:defRPr>
            </a:lvl1pPr>
          </a:lstStyle>
          <a:p>
            <a:pPr>
              <a:defRPr/>
            </a:pPr>
            <a:fld id="{5D5963AB-51D7-4B56-957C-52AD6A606A3F}" type="slidenum">
              <a:rPr lang="zh-CN" altLang="en-US"/>
              <a:pPr>
                <a:defRPr/>
              </a:pPr>
              <a:t>‹#›</a:t>
            </a:fld>
            <a:endParaRPr lang="en-US" altLang="zh-CN"/>
          </a:p>
        </p:txBody>
      </p:sp>
    </p:spTree>
    <p:extLst>
      <p:ext uri="{BB962C8B-B14F-4D97-AF65-F5344CB8AC3E}">
        <p14:creationId xmlns:p14="http://schemas.microsoft.com/office/powerpoint/2010/main" val="373117104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fld id="{D480844E-F4FD-48E7-AF9D-74752E5C694F}" type="slidenum">
              <a:rPr lang="zh-CN" altLang="en-US" sz="1200" b="0" smtClean="0">
                <a:latin typeface="Arial" charset="0"/>
              </a:rPr>
              <a:pPr eaLnBrk="1" hangingPunct="1"/>
              <a:t>3</a:t>
            </a:fld>
            <a:endParaRPr lang="en-US" altLang="zh-CN" sz="1200" b="0">
              <a:latin typeface="Arial" charset="0"/>
            </a:endParaRPr>
          </a:p>
        </p:txBody>
      </p:sp>
      <p:sp>
        <p:nvSpPr>
          <p:cNvPr id="103427" name="Rectangle 2"/>
          <p:cNvSpPr>
            <a:spLocks noGrp="1" noRot="1" noChangeAspect="1" noChangeArrowheads="1" noTextEdit="1"/>
          </p:cNvSpPr>
          <p:nvPr>
            <p:ph type="sldImg"/>
          </p:nvPr>
        </p:nvSpPr>
        <p:spPr>
          <a:ln/>
        </p:spPr>
      </p:sp>
      <p:sp>
        <p:nvSpPr>
          <p:cNvPr id="1034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2342243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fld id="{D0D9924F-B564-4DFC-BA7D-056901D563B7}" type="slidenum">
              <a:rPr lang="zh-CN" altLang="en-US" sz="1200" b="0" smtClean="0">
                <a:latin typeface="Arial" charset="0"/>
              </a:rPr>
              <a:pPr eaLnBrk="1" hangingPunct="1"/>
              <a:t>4</a:t>
            </a:fld>
            <a:endParaRPr lang="en-US" altLang="zh-CN" sz="1200" b="0">
              <a:latin typeface="Arial" charset="0"/>
            </a:endParaRPr>
          </a:p>
        </p:txBody>
      </p:sp>
      <p:sp>
        <p:nvSpPr>
          <p:cNvPr id="104451" name="Rectangle 2"/>
          <p:cNvSpPr>
            <a:spLocks noGrp="1" noRot="1" noChangeAspect="1" noChangeArrowheads="1" noTextEdit="1"/>
          </p:cNvSpPr>
          <p:nvPr>
            <p:ph type="sldImg"/>
          </p:nvPr>
        </p:nvSpPr>
        <p:spPr>
          <a:ln/>
        </p:spPr>
      </p:sp>
      <p:sp>
        <p:nvSpPr>
          <p:cNvPr id="1044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5998117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fld id="{79F5178A-0E0C-4592-90FC-D321D6991B48}" type="slidenum">
              <a:rPr lang="zh-CN" altLang="en-US" sz="1200" b="0" smtClean="0">
                <a:latin typeface="Arial" charset="0"/>
              </a:rPr>
              <a:pPr eaLnBrk="1" hangingPunct="1"/>
              <a:t>5</a:t>
            </a:fld>
            <a:endParaRPr lang="en-US" altLang="zh-CN" sz="1200" b="0">
              <a:latin typeface="Arial" charset="0"/>
            </a:endParaRPr>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13177307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fld id="{581246E2-0704-4C70-BC43-D6E1EAD1DDA8}" type="slidenum">
              <a:rPr lang="zh-CN" altLang="en-US" sz="1200" b="0" smtClean="0">
                <a:latin typeface="Arial" charset="0"/>
              </a:rPr>
              <a:pPr eaLnBrk="1" hangingPunct="1"/>
              <a:t>11</a:t>
            </a:fld>
            <a:endParaRPr lang="en-US" altLang="zh-CN" sz="1200" b="0">
              <a:latin typeface="Arial" charset="0"/>
            </a:endParaRPr>
          </a:p>
        </p:txBody>
      </p:sp>
      <p:sp>
        <p:nvSpPr>
          <p:cNvPr id="106499" name="Rectangle 2"/>
          <p:cNvSpPr>
            <a:spLocks noGrp="1" noRot="1" noChangeAspect="1" noChangeArrowheads="1" noTextEdit="1"/>
          </p:cNvSpPr>
          <p:nvPr>
            <p:ph type="sldImg"/>
          </p:nvPr>
        </p:nvSpPr>
        <p:spPr>
          <a:ln/>
        </p:spPr>
      </p:sp>
      <p:sp>
        <p:nvSpPr>
          <p:cNvPr id="1065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8265992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fld id="{1EA1E969-04DF-4D71-885C-333EAA0CD6ED}" type="slidenum">
              <a:rPr lang="zh-CN" altLang="en-US" sz="1200" b="0" smtClean="0">
                <a:latin typeface="Arial" charset="0"/>
              </a:rPr>
              <a:pPr eaLnBrk="1" hangingPunct="1"/>
              <a:t>16</a:t>
            </a:fld>
            <a:endParaRPr lang="en-US" altLang="zh-CN" sz="1200" b="0">
              <a:latin typeface="Arial" charset="0"/>
            </a:endParaRPr>
          </a:p>
        </p:txBody>
      </p:sp>
      <p:sp>
        <p:nvSpPr>
          <p:cNvPr id="108547" name="Rectangle 2"/>
          <p:cNvSpPr>
            <a:spLocks noGrp="1" noRot="1" noChangeAspect="1" noChangeArrowheads="1" noTextEdit="1"/>
          </p:cNvSpPr>
          <p:nvPr>
            <p:ph type="sldImg"/>
          </p:nvPr>
        </p:nvSpPr>
        <p:spPr>
          <a:ln/>
        </p:spPr>
      </p:sp>
      <p:sp>
        <p:nvSpPr>
          <p:cNvPr id="1085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zh-CN" altLang="en-US"/>
              <a:t>通过用例建模获取系统</a:t>
            </a:r>
            <a:r>
              <a:rPr lang="en-US" altLang="zh-CN"/>
              <a:t>60%-80%</a:t>
            </a:r>
            <a:r>
              <a:rPr lang="zh-CN" altLang="en-US"/>
              <a:t>的需求后，从中找出</a:t>
            </a:r>
            <a:r>
              <a:rPr lang="en-US" altLang="zh-CN"/>
              <a:t>5%-10%</a:t>
            </a:r>
            <a:r>
              <a:rPr lang="zh-CN" altLang="en-US"/>
              <a:t>重要的用例，来定义系统候选体系架构，如果变化则只影响这个迭代周期</a:t>
            </a:r>
          </a:p>
          <a:p>
            <a:pPr eaLnBrk="1" hangingPunct="1"/>
            <a:endParaRPr lang="zh-CN" altLang="en-US"/>
          </a:p>
        </p:txBody>
      </p:sp>
    </p:spTree>
    <p:extLst>
      <p:ext uri="{BB962C8B-B14F-4D97-AF65-F5344CB8AC3E}">
        <p14:creationId xmlns:p14="http://schemas.microsoft.com/office/powerpoint/2010/main" val="29560684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fld id="{258869BE-F31A-4464-867C-5F11EC4FAEBE}" type="slidenum">
              <a:rPr lang="zh-CN" altLang="en-US" sz="1200" b="0" smtClean="0">
                <a:latin typeface="Arial" charset="0"/>
              </a:rPr>
              <a:pPr eaLnBrk="1" hangingPunct="1"/>
              <a:t>17</a:t>
            </a:fld>
            <a:endParaRPr lang="en-US" altLang="zh-CN" sz="1200" b="0">
              <a:latin typeface="Arial" charset="0"/>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7818832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fld id="{3727EE92-8489-4595-A628-5E3F01880E2E}" type="slidenum">
              <a:rPr lang="zh-CN" altLang="en-US" sz="1200" b="0" smtClean="0">
                <a:latin typeface="Arial" charset="0"/>
              </a:rPr>
              <a:pPr eaLnBrk="1" hangingPunct="1"/>
              <a:t>21</a:t>
            </a:fld>
            <a:endParaRPr lang="en-US" altLang="zh-CN" sz="1200" b="0">
              <a:latin typeface="Arial" charset="0"/>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3168281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fld id="{A84EC856-CCAA-4590-A480-3097759F46E3}" type="slidenum">
              <a:rPr lang="zh-CN" altLang="en-US" sz="1200" b="0" smtClean="0">
                <a:latin typeface="Arial" charset="0"/>
              </a:rPr>
              <a:pPr eaLnBrk="1" hangingPunct="1"/>
              <a:t>26</a:t>
            </a:fld>
            <a:endParaRPr lang="en-US" altLang="zh-CN" sz="1200" b="0">
              <a:latin typeface="Arial" charset="0"/>
            </a:endParaRPr>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zh-CN"/>
          </a:p>
        </p:txBody>
      </p:sp>
    </p:spTree>
    <p:extLst>
      <p:ext uri="{BB962C8B-B14F-4D97-AF65-F5344CB8AC3E}">
        <p14:creationId xmlns:p14="http://schemas.microsoft.com/office/powerpoint/2010/main" val="33392235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fld id="{D86D7BB7-C610-4632-B73A-B0CD735BF9E0}" type="slidenum">
              <a:rPr lang="zh-CN" altLang="en-US" sz="1200" b="0" smtClean="0">
                <a:latin typeface="Arial" charset="0"/>
              </a:rPr>
              <a:pPr eaLnBrk="1" hangingPunct="1"/>
              <a:t>34</a:t>
            </a:fld>
            <a:endParaRPr lang="en-US" altLang="zh-CN" sz="1200" b="0">
              <a:latin typeface="Arial" charset="0"/>
            </a:endParaRPr>
          </a:p>
        </p:txBody>
      </p:sp>
      <p:sp>
        <p:nvSpPr>
          <p:cNvPr id="111619" name="Rectangle 2"/>
          <p:cNvSpPr>
            <a:spLocks noGrp="1" noRot="1" noChangeAspect="1" noChangeArrowheads="1" noTextEdit="1"/>
          </p:cNvSpPr>
          <p:nvPr>
            <p:ph type="sldImg"/>
          </p:nvPr>
        </p:nvSpPr>
        <p:spPr>
          <a:ln/>
        </p:spPr>
      </p:sp>
      <p:sp>
        <p:nvSpPr>
          <p:cNvPr id="1116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33511614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EEE20FB-A289-4B39-9688-1C9374CEA5C0}" type="slidenum">
              <a:rPr lang="zh-CN" altLang="en-US" smtClean="0"/>
              <a:pPr>
                <a:defRPr/>
              </a:pPr>
              <a:t>62</a:t>
            </a:fld>
            <a:endParaRPr lang="en-US" altLang="zh-CN"/>
          </a:p>
        </p:txBody>
      </p:sp>
    </p:spTree>
    <p:extLst>
      <p:ext uri="{BB962C8B-B14F-4D97-AF65-F5344CB8AC3E}">
        <p14:creationId xmlns:p14="http://schemas.microsoft.com/office/powerpoint/2010/main" val="16249739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fld id="{EE275D30-797A-4B29-9F21-2F0C84261B8D}" type="slidenum">
              <a:rPr lang="zh-CN" altLang="en-US" sz="1200" b="0" smtClean="0">
                <a:latin typeface="Arial" charset="0"/>
              </a:rPr>
              <a:pPr eaLnBrk="1" hangingPunct="1"/>
              <a:t>65</a:t>
            </a:fld>
            <a:endParaRPr lang="en-US" altLang="zh-CN" sz="1200" b="0">
              <a:latin typeface="Arial" charset="0"/>
            </a:endParaRPr>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a:t>此处可以考虑增加交互纵览图的内容</a:t>
            </a:r>
            <a:endParaRPr lang="en-US" altLang="zh-CN"/>
          </a:p>
        </p:txBody>
      </p:sp>
    </p:spTree>
    <p:extLst>
      <p:ext uri="{BB962C8B-B14F-4D97-AF65-F5344CB8AC3E}">
        <p14:creationId xmlns:p14="http://schemas.microsoft.com/office/powerpoint/2010/main" val="34451575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fld id="{36F435E8-1FF9-49B5-8BAB-7E7CB6604AF1}" type="slidenum">
              <a:rPr lang="zh-CN" altLang="en-US" sz="1200" b="0" smtClean="0">
                <a:latin typeface="Arial" charset="0"/>
              </a:rPr>
              <a:pPr eaLnBrk="1" hangingPunct="1"/>
              <a:t>71</a:t>
            </a:fld>
            <a:endParaRPr lang="en-US" altLang="zh-CN" sz="1200" b="0">
              <a:latin typeface="Arial" charset="0"/>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p>
        </p:txBody>
      </p:sp>
    </p:spTree>
    <p:extLst>
      <p:ext uri="{BB962C8B-B14F-4D97-AF65-F5344CB8AC3E}">
        <p14:creationId xmlns:p14="http://schemas.microsoft.com/office/powerpoint/2010/main" val="263178849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5" descr="logo_smal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680"/>
            <a:ext cx="3190875" cy="838200"/>
          </a:xfrm>
          <a:prstGeom prst="rect">
            <a:avLst/>
          </a:prstGeom>
          <a:noFill/>
          <a:ln>
            <a:noFill/>
          </a:ln>
          <a:effectLst>
            <a:softEdge rad="3175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6"/>
          <p:cNvSpPr>
            <a:spLocks noChangeArrowheads="1"/>
          </p:cNvSpPr>
          <p:nvPr/>
        </p:nvSpPr>
        <p:spPr bwMode="auto">
          <a:xfrm>
            <a:off x="0" y="6656388"/>
            <a:ext cx="12192000" cy="228600"/>
          </a:xfrm>
          <a:prstGeom prst="rect">
            <a:avLst/>
          </a:prstGeom>
          <a:solidFill>
            <a:schemeClr val="folHlink"/>
          </a:solidFill>
          <a:ln w="9525">
            <a:solidFill>
              <a:schemeClr val="tx1"/>
            </a:solidFill>
            <a:miter lim="800000"/>
            <a:headEnd/>
            <a:tailEnd/>
          </a:ln>
          <a:effectLst/>
        </p:spPr>
        <p:txBody>
          <a:bodyPr wrap="none" anchor="ctr"/>
          <a:lstStyle/>
          <a:p>
            <a:pPr>
              <a:defRPr/>
            </a:pPr>
            <a:endParaRPr lang="zh-CN" altLang="en-US" sz="2400"/>
          </a:p>
        </p:txBody>
      </p:sp>
      <p:sp>
        <p:nvSpPr>
          <p:cNvPr id="6" name="Rectangle 7"/>
          <p:cNvSpPr>
            <a:spLocks noChangeArrowheads="1"/>
          </p:cNvSpPr>
          <p:nvPr/>
        </p:nvSpPr>
        <p:spPr bwMode="auto">
          <a:xfrm>
            <a:off x="4470400" y="6324600"/>
            <a:ext cx="3048000" cy="457200"/>
          </a:xfrm>
          <a:prstGeom prst="rect">
            <a:avLst/>
          </a:prstGeom>
          <a:noFill/>
          <a:ln w="9525">
            <a:noFill/>
            <a:miter lim="800000"/>
            <a:headEnd/>
            <a:tailEnd/>
          </a:ln>
          <a:effectLst/>
        </p:spPr>
        <p:txBody>
          <a:bodyPr anchor="b"/>
          <a:lstStyle/>
          <a:p>
            <a:pPr algn="ctr">
              <a:defRPr/>
            </a:pPr>
            <a:endParaRPr kumimoji="0" lang="en-US" altLang="zh-CN" sz="1400" b="0"/>
          </a:p>
        </p:txBody>
      </p:sp>
      <p:pic>
        <p:nvPicPr>
          <p:cNvPr id="7" name="Picture 9" descr="nbl12_1_1_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14417" y="5948366"/>
            <a:ext cx="2438400" cy="6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074" name="Rectangle 2"/>
          <p:cNvSpPr>
            <a:spLocks noGrp="1" noChangeArrowheads="1"/>
          </p:cNvSpPr>
          <p:nvPr>
            <p:ph type="ctrTitle"/>
          </p:nvPr>
        </p:nvSpPr>
        <p:spPr>
          <a:xfrm>
            <a:off x="912284" y="2565400"/>
            <a:ext cx="10363200" cy="1143000"/>
          </a:xfrm>
        </p:spPr>
        <p:txBody>
          <a:bodyPr/>
          <a:lstStyle>
            <a:lvl1pPr algn="ctr" fontAlgn="ctr">
              <a:defRPr sz="4800" baseline="0">
                <a:effectLst>
                  <a:outerShdw blurRad="38100" dist="38100" dir="2700000" algn="tl">
                    <a:srgbClr val="C0C0C0"/>
                  </a:outerShdw>
                </a:effectLst>
                <a:latin typeface="Arial" charset="0"/>
                <a:ea typeface="微软雅黑" panose="020B0503020204020204" pitchFamily="34" charset="-122"/>
              </a:defRPr>
            </a:lvl1pPr>
          </a:lstStyle>
          <a:p>
            <a:r>
              <a:rPr lang="zh-CN" altLang="en-US" dirty="0"/>
              <a:t>单击此处编辑母版标题样式</a:t>
            </a:r>
          </a:p>
        </p:txBody>
      </p:sp>
      <p:sp>
        <p:nvSpPr>
          <p:cNvPr id="131075" name="Rectangle 3"/>
          <p:cNvSpPr>
            <a:spLocks noGrp="1" noChangeArrowheads="1"/>
          </p:cNvSpPr>
          <p:nvPr>
            <p:ph type="subTitle" idx="1"/>
          </p:nvPr>
        </p:nvSpPr>
        <p:spPr>
          <a:xfrm>
            <a:off x="1828800" y="3860800"/>
            <a:ext cx="85344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8" name="Rectangle 4"/>
          <p:cNvSpPr>
            <a:spLocks noGrp="1" noChangeArrowheads="1"/>
          </p:cNvSpPr>
          <p:nvPr>
            <p:ph type="dt" sz="half" idx="10"/>
          </p:nvPr>
        </p:nvSpPr>
        <p:spPr>
          <a:xfrm>
            <a:off x="1320800" y="6248400"/>
            <a:ext cx="2540000" cy="457200"/>
          </a:xfrm>
        </p:spPr>
        <p:txBody>
          <a:bodyPr/>
          <a:lstStyle>
            <a:lvl1pPr>
              <a:defRPr>
                <a:solidFill>
                  <a:schemeClr val="bg2"/>
                </a:solidFill>
              </a:defRPr>
            </a:lvl1pPr>
          </a:lstStyle>
          <a:p>
            <a:pPr>
              <a:defRPr/>
            </a:pPr>
            <a:endParaRPr lang="en-US" altLang="zh-CN"/>
          </a:p>
        </p:txBody>
      </p:sp>
      <p:sp>
        <p:nvSpPr>
          <p:cNvPr id="9" name="Rectangle 8"/>
          <p:cNvSpPr>
            <a:spLocks noGrp="1" noChangeArrowheads="1"/>
          </p:cNvSpPr>
          <p:nvPr>
            <p:ph type="sldNum" sz="quarter" idx="11"/>
          </p:nvPr>
        </p:nvSpPr>
        <p:spPr>
          <a:xfrm>
            <a:off x="8737600" y="6245225"/>
            <a:ext cx="2844800" cy="476250"/>
          </a:xfrm>
        </p:spPr>
        <p:txBody>
          <a:bodyPr/>
          <a:lstStyle>
            <a:lvl1pPr>
              <a:defRPr sz="1400">
                <a:solidFill>
                  <a:schemeClr val="tx1"/>
                </a:solidFill>
              </a:defRPr>
            </a:lvl1pPr>
          </a:lstStyle>
          <a:p>
            <a:pPr>
              <a:defRPr/>
            </a:pPr>
            <a:fld id="{55A6ACB9-5BFE-4EF3-B91C-463DEBBCCA89}" type="slidenum">
              <a:rPr lang="zh-CN" altLang="en-US"/>
              <a:pPr>
                <a:defRPr/>
              </a:pPr>
              <a:t>‹#›</a:t>
            </a:fld>
            <a:endParaRPr lang="en-US" altLang="zh-CN"/>
          </a:p>
        </p:txBody>
      </p:sp>
    </p:spTree>
    <p:extLst>
      <p:ext uri="{BB962C8B-B14F-4D97-AF65-F5344CB8AC3E}">
        <p14:creationId xmlns:p14="http://schemas.microsoft.com/office/powerpoint/2010/main" val="33581299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9"/>
          <p:cNvSpPr>
            <a:spLocks noGrp="1" noChangeArrowheads="1"/>
          </p:cNvSpPr>
          <p:nvPr>
            <p:ph type="sldNum" sz="quarter" idx="12"/>
          </p:nvPr>
        </p:nvSpPr>
        <p:spPr>
          <a:ln/>
        </p:spPr>
        <p:txBody>
          <a:bodyPr/>
          <a:lstStyle>
            <a:lvl1pPr>
              <a:defRPr/>
            </a:lvl1pPr>
          </a:lstStyle>
          <a:p>
            <a:pPr>
              <a:defRPr/>
            </a:pPr>
            <a:r>
              <a:rPr lang="en-US" altLang="zh-CN"/>
              <a:t>-</a:t>
            </a:r>
            <a:fld id="{74C2F54C-52AD-47FC-B80B-56D32F7F9136}" type="slidenum">
              <a:rPr lang="en-US" altLang="zh-CN"/>
              <a:pPr>
                <a:defRPr/>
              </a:pPr>
              <a:t>‹#›</a:t>
            </a:fld>
            <a:r>
              <a:rPr lang="en-US" altLang="zh-CN"/>
              <a:t>-</a:t>
            </a:r>
          </a:p>
        </p:txBody>
      </p:sp>
    </p:spTree>
    <p:extLst>
      <p:ext uri="{BB962C8B-B14F-4D97-AF65-F5344CB8AC3E}">
        <p14:creationId xmlns:p14="http://schemas.microsoft.com/office/powerpoint/2010/main" val="2773496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3"/>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9"/>
          <p:cNvSpPr>
            <a:spLocks noGrp="1" noChangeArrowheads="1"/>
          </p:cNvSpPr>
          <p:nvPr>
            <p:ph type="sldNum" sz="quarter" idx="12"/>
          </p:nvPr>
        </p:nvSpPr>
        <p:spPr>
          <a:ln/>
        </p:spPr>
        <p:txBody>
          <a:bodyPr/>
          <a:lstStyle>
            <a:lvl1pPr>
              <a:defRPr/>
            </a:lvl1pPr>
          </a:lstStyle>
          <a:p>
            <a:pPr>
              <a:defRPr/>
            </a:pPr>
            <a:r>
              <a:rPr lang="en-US" altLang="zh-CN"/>
              <a:t>-</a:t>
            </a:r>
            <a:fld id="{D6E6B468-02A4-41FE-B3CE-B77921BD89DB}" type="slidenum">
              <a:rPr lang="en-US" altLang="zh-CN"/>
              <a:pPr>
                <a:defRPr/>
              </a:pPr>
              <a:t>‹#›</a:t>
            </a:fld>
            <a:r>
              <a:rPr lang="en-US" altLang="zh-CN"/>
              <a:t>-</a:t>
            </a:r>
          </a:p>
        </p:txBody>
      </p:sp>
    </p:spTree>
    <p:extLst>
      <p:ext uri="{BB962C8B-B14F-4D97-AF65-F5344CB8AC3E}">
        <p14:creationId xmlns:p14="http://schemas.microsoft.com/office/powerpoint/2010/main" val="1907607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1007535" y="981076"/>
            <a:ext cx="5177367"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388102" y="981076"/>
            <a:ext cx="5179484" cy="5400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9"/>
          <p:cNvSpPr>
            <a:spLocks noGrp="1" noChangeArrowheads="1"/>
          </p:cNvSpPr>
          <p:nvPr>
            <p:ph type="sldNum" sz="quarter" idx="12"/>
          </p:nvPr>
        </p:nvSpPr>
        <p:spPr>
          <a:ln/>
        </p:spPr>
        <p:txBody>
          <a:bodyPr/>
          <a:lstStyle>
            <a:lvl1pPr>
              <a:defRPr/>
            </a:lvl1pPr>
          </a:lstStyle>
          <a:p>
            <a:pPr>
              <a:defRPr/>
            </a:pPr>
            <a:r>
              <a:rPr lang="en-US" altLang="zh-CN"/>
              <a:t>-</a:t>
            </a:r>
            <a:fld id="{313B5030-E818-4E33-B39F-291F5E9F4D7A}" type="slidenum">
              <a:rPr lang="en-US" altLang="zh-CN"/>
              <a:pPr>
                <a:defRPr/>
              </a:pPr>
              <a:t>‹#›</a:t>
            </a:fld>
            <a:r>
              <a:rPr lang="en-US" altLang="zh-CN"/>
              <a:t>-</a:t>
            </a:r>
          </a:p>
        </p:txBody>
      </p:sp>
    </p:spTree>
    <p:extLst>
      <p:ext uri="{BB962C8B-B14F-4D97-AF65-F5344CB8AC3E}">
        <p14:creationId xmlns:p14="http://schemas.microsoft.com/office/powerpoint/2010/main" val="2089399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9"/>
          <p:cNvSpPr>
            <a:spLocks noGrp="1" noChangeArrowheads="1"/>
          </p:cNvSpPr>
          <p:nvPr>
            <p:ph type="sldNum" sz="quarter" idx="12"/>
          </p:nvPr>
        </p:nvSpPr>
        <p:spPr>
          <a:ln/>
        </p:spPr>
        <p:txBody>
          <a:bodyPr/>
          <a:lstStyle>
            <a:lvl1pPr>
              <a:defRPr/>
            </a:lvl1pPr>
          </a:lstStyle>
          <a:p>
            <a:pPr>
              <a:defRPr/>
            </a:pPr>
            <a:r>
              <a:rPr lang="en-US" altLang="zh-CN"/>
              <a:t>-</a:t>
            </a:r>
            <a:fld id="{3606F398-8D4B-4DEB-B16A-FAF288C18440}" type="slidenum">
              <a:rPr lang="en-US" altLang="zh-CN"/>
              <a:pPr>
                <a:defRPr/>
              </a:pPr>
              <a:t>‹#›</a:t>
            </a:fld>
            <a:r>
              <a:rPr lang="en-US" altLang="zh-CN"/>
              <a:t>-</a:t>
            </a:r>
          </a:p>
        </p:txBody>
      </p:sp>
    </p:spTree>
    <p:extLst>
      <p:ext uri="{BB962C8B-B14F-4D97-AF65-F5344CB8AC3E}">
        <p14:creationId xmlns:p14="http://schemas.microsoft.com/office/powerpoint/2010/main" val="7474159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9"/>
          <p:cNvSpPr>
            <a:spLocks noGrp="1" noChangeArrowheads="1"/>
          </p:cNvSpPr>
          <p:nvPr>
            <p:ph type="sldNum" sz="quarter" idx="12"/>
          </p:nvPr>
        </p:nvSpPr>
        <p:spPr>
          <a:ln/>
        </p:spPr>
        <p:txBody>
          <a:bodyPr/>
          <a:lstStyle>
            <a:lvl1pPr>
              <a:defRPr/>
            </a:lvl1pPr>
          </a:lstStyle>
          <a:p>
            <a:pPr>
              <a:defRPr/>
            </a:pPr>
            <a:r>
              <a:rPr lang="en-US" altLang="zh-CN"/>
              <a:t>-</a:t>
            </a:r>
            <a:fld id="{032872BE-FA2C-46C2-A169-1F30EC6FAD64}" type="slidenum">
              <a:rPr lang="en-US" altLang="zh-CN"/>
              <a:pPr>
                <a:defRPr/>
              </a:pPr>
              <a:t>‹#›</a:t>
            </a:fld>
            <a:r>
              <a:rPr lang="en-US" altLang="zh-CN"/>
              <a:t>-</a:t>
            </a:r>
          </a:p>
        </p:txBody>
      </p:sp>
    </p:spTree>
    <p:extLst>
      <p:ext uri="{BB962C8B-B14F-4D97-AF65-F5344CB8AC3E}">
        <p14:creationId xmlns:p14="http://schemas.microsoft.com/office/powerpoint/2010/main" val="600803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9"/>
          <p:cNvSpPr>
            <a:spLocks noGrp="1" noChangeArrowheads="1"/>
          </p:cNvSpPr>
          <p:nvPr>
            <p:ph type="sldNum" sz="quarter" idx="12"/>
          </p:nvPr>
        </p:nvSpPr>
        <p:spPr>
          <a:ln/>
        </p:spPr>
        <p:txBody>
          <a:bodyPr/>
          <a:lstStyle>
            <a:lvl1pPr>
              <a:defRPr/>
            </a:lvl1pPr>
          </a:lstStyle>
          <a:p>
            <a:pPr>
              <a:defRPr/>
            </a:pPr>
            <a:r>
              <a:rPr lang="en-US" altLang="zh-CN"/>
              <a:t>-</a:t>
            </a:r>
            <a:fld id="{DFCFE3A8-A593-4639-BBAE-F87840FCABEA}" type="slidenum">
              <a:rPr lang="en-US" altLang="zh-CN"/>
              <a:pPr>
                <a:defRPr/>
              </a:pPr>
              <a:t>‹#›</a:t>
            </a:fld>
            <a:r>
              <a:rPr lang="en-US" altLang="zh-CN"/>
              <a:t>-</a:t>
            </a:r>
          </a:p>
        </p:txBody>
      </p:sp>
    </p:spTree>
    <p:extLst>
      <p:ext uri="{BB962C8B-B14F-4D97-AF65-F5344CB8AC3E}">
        <p14:creationId xmlns:p14="http://schemas.microsoft.com/office/powerpoint/2010/main" val="132888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2" y="273050"/>
            <a:ext cx="4011084"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9"/>
          <p:cNvSpPr>
            <a:spLocks noGrp="1" noChangeArrowheads="1"/>
          </p:cNvSpPr>
          <p:nvPr>
            <p:ph type="sldNum" sz="quarter" idx="12"/>
          </p:nvPr>
        </p:nvSpPr>
        <p:spPr>
          <a:ln/>
        </p:spPr>
        <p:txBody>
          <a:bodyPr/>
          <a:lstStyle>
            <a:lvl1pPr>
              <a:defRPr/>
            </a:lvl1pPr>
          </a:lstStyle>
          <a:p>
            <a:pPr>
              <a:defRPr/>
            </a:pPr>
            <a:r>
              <a:rPr lang="en-US" altLang="zh-CN"/>
              <a:t>-</a:t>
            </a:r>
            <a:fld id="{5B838669-9B40-452C-9C7C-05CE661747FF}" type="slidenum">
              <a:rPr lang="en-US" altLang="zh-CN"/>
              <a:pPr>
                <a:defRPr/>
              </a:pPr>
              <a:t>‹#›</a:t>
            </a:fld>
            <a:r>
              <a:rPr lang="en-US" altLang="zh-CN"/>
              <a:t>-</a:t>
            </a:r>
          </a:p>
        </p:txBody>
      </p:sp>
    </p:spTree>
    <p:extLst>
      <p:ext uri="{BB962C8B-B14F-4D97-AF65-F5344CB8AC3E}">
        <p14:creationId xmlns:p14="http://schemas.microsoft.com/office/powerpoint/2010/main" val="1701902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9"/>
          <p:cNvSpPr>
            <a:spLocks noGrp="1" noChangeArrowheads="1"/>
          </p:cNvSpPr>
          <p:nvPr>
            <p:ph type="sldNum" sz="quarter" idx="12"/>
          </p:nvPr>
        </p:nvSpPr>
        <p:spPr>
          <a:ln/>
        </p:spPr>
        <p:txBody>
          <a:bodyPr/>
          <a:lstStyle>
            <a:lvl1pPr>
              <a:defRPr/>
            </a:lvl1pPr>
          </a:lstStyle>
          <a:p>
            <a:pPr>
              <a:defRPr/>
            </a:pPr>
            <a:r>
              <a:rPr lang="en-US" altLang="zh-CN"/>
              <a:t>-</a:t>
            </a:r>
            <a:fld id="{DF5EE5D7-DA54-4996-B04D-BEB0C65CB3ED}" type="slidenum">
              <a:rPr lang="en-US" altLang="zh-CN"/>
              <a:pPr>
                <a:defRPr/>
              </a:pPr>
              <a:t>‹#›</a:t>
            </a:fld>
            <a:r>
              <a:rPr lang="en-US" altLang="zh-CN"/>
              <a:t>-</a:t>
            </a:r>
          </a:p>
        </p:txBody>
      </p:sp>
    </p:spTree>
    <p:extLst>
      <p:ext uri="{BB962C8B-B14F-4D97-AF65-F5344CB8AC3E}">
        <p14:creationId xmlns:p14="http://schemas.microsoft.com/office/powerpoint/2010/main" val="9975554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9"/>
          <p:cNvSpPr>
            <a:spLocks noGrp="1" noChangeArrowheads="1"/>
          </p:cNvSpPr>
          <p:nvPr>
            <p:ph type="sldNum" sz="quarter" idx="12"/>
          </p:nvPr>
        </p:nvSpPr>
        <p:spPr>
          <a:ln/>
        </p:spPr>
        <p:txBody>
          <a:bodyPr/>
          <a:lstStyle>
            <a:lvl1pPr>
              <a:defRPr/>
            </a:lvl1pPr>
          </a:lstStyle>
          <a:p>
            <a:pPr>
              <a:defRPr/>
            </a:pPr>
            <a:r>
              <a:rPr lang="en-US" altLang="zh-CN"/>
              <a:t>-</a:t>
            </a:r>
            <a:fld id="{013A5948-C572-4A45-8388-DE4E873D8B50}" type="slidenum">
              <a:rPr lang="en-US" altLang="zh-CN"/>
              <a:pPr>
                <a:defRPr/>
              </a:pPr>
              <a:t>‹#›</a:t>
            </a:fld>
            <a:r>
              <a:rPr lang="en-US" altLang="zh-CN"/>
              <a:t>-</a:t>
            </a:r>
          </a:p>
        </p:txBody>
      </p:sp>
    </p:spTree>
    <p:extLst>
      <p:ext uri="{BB962C8B-B14F-4D97-AF65-F5344CB8AC3E}">
        <p14:creationId xmlns:p14="http://schemas.microsoft.com/office/powerpoint/2010/main" val="10499672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51902" y="260350"/>
            <a:ext cx="2715684" cy="6121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98500" y="260350"/>
            <a:ext cx="7950200" cy="6121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9"/>
          <p:cNvSpPr>
            <a:spLocks noGrp="1" noChangeArrowheads="1"/>
          </p:cNvSpPr>
          <p:nvPr>
            <p:ph type="sldNum" sz="quarter" idx="12"/>
          </p:nvPr>
        </p:nvSpPr>
        <p:spPr>
          <a:ln/>
        </p:spPr>
        <p:txBody>
          <a:bodyPr/>
          <a:lstStyle>
            <a:lvl1pPr>
              <a:defRPr/>
            </a:lvl1pPr>
          </a:lstStyle>
          <a:p>
            <a:pPr>
              <a:defRPr/>
            </a:pPr>
            <a:r>
              <a:rPr lang="en-US" altLang="zh-CN"/>
              <a:t>-</a:t>
            </a:r>
            <a:fld id="{EA087514-DBC3-4F18-B126-1E056A3FAD03}" type="slidenum">
              <a:rPr lang="en-US" altLang="zh-CN"/>
              <a:pPr>
                <a:defRPr/>
              </a:pPr>
              <a:t>‹#›</a:t>
            </a:fld>
            <a:r>
              <a:rPr lang="en-US" altLang="zh-CN"/>
              <a:t>-</a:t>
            </a:r>
          </a:p>
        </p:txBody>
      </p:sp>
    </p:spTree>
    <p:extLst>
      <p:ext uri="{BB962C8B-B14F-4D97-AF65-F5344CB8AC3E}">
        <p14:creationId xmlns:p14="http://schemas.microsoft.com/office/powerpoint/2010/main" val="33543093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698502" y="260350"/>
            <a:ext cx="10581217" cy="647700"/>
          </a:xfrm>
        </p:spPr>
        <p:txBody>
          <a:bodyPr/>
          <a:lstStyle/>
          <a:p>
            <a:r>
              <a:rPr lang="zh-CN" altLang="en-US"/>
              <a:t>单击此处编辑母版标题样式</a:t>
            </a:r>
          </a:p>
        </p:txBody>
      </p:sp>
      <p:sp>
        <p:nvSpPr>
          <p:cNvPr id="3" name="表格占位符 2"/>
          <p:cNvSpPr>
            <a:spLocks noGrp="1"/>
          </p:cNvSpPr>
          <p:nvPr>
            <p:ph type="tbl" idx="1"/>
          </p:nvPr>
        </p:nvSpPr>
        <p:spPr>
          <a:xfrm>
            <a:off x="1007533" y="981076"/>
            <a:ext cx="10560051" cy="5400675"/>
          </a:xfrm>
        </p:spPr>
        <p:txBody>
          <a:bodyPr/>
          <a:lstStyle/>
          <a:p>
            <a:pPr lvl="0"/>
            <a:endParaRPr lang="zh-CN" altLang="en-US" noProof="0"/>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9"/>
          <p:cNvSpPr>
            <a:spLocks noGrp="1" noChangeArrowheads="1"/>
          </p:cNvSpPr>
          <p:nvPr>
            <p:ph type="sldNum" sz="quarter" idx="12"/>
          </p:nvPr>
        </p:nvSpPr>
        <p:spPr>
          <a:ln/>
        </p:spPr>
        <p:txBody>
          <a:bodyPr/>
          <a:lstStyle>
            <a:lvl1pPr>
              <a:defRPr/>
            </a:lvl1pPr>
          </a:lstStyle>
          <a:p>
            <a:pPr>
              <a:defRPr/>
            </a:pPr>
            <a:r>
              <a:rPr lang="en-US" altLang="zh-CN"/>
              <a:t>-</a:t>
            </a:r>
            <a:fld id="{6479F1E9-65E1-40DC-A5C5-996A70B92A35}" type="slidenum">
              <a:rPr lang="en-US" altLang="zh-CN"/>
              <a:pPr>
                <a:defRPr/>
              </a:pPr>
              <a:t>‹#›</a:t>
            </a:fld>
            <a:r>
              <a:rPr lang="en-US" altLang="zh-CN"/>
              <a:t>-</a:t>
            </a:r>
          </a:p>
        </p:txBody>
      </p:sp>
    </p:spTree>
    <p:extLst>
      <p:ext uri="{BB962C8B-B14F-4D97-AF65-F5344CB8AC3E}">
        <p14:creationId xmlns:p14="http://schemas.microsoft.com/office/powerpoint/2010/main" val="41909012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a:xfrm>
            <a:off x="698502" y="260350"/>
            <a:ext cx="10581217" cy="647700"/>
          </a:xfrm>
        </p:spPr>
        <p:txBody>
          <a:bodyPr/>
          <a:lstStyle/>
          <a:p>
            <a:r>
              <a:rPr lang="zh-CN" altLang="en-US"/>
              <a:t>单击此处编辑母版标题样式</a:t>
            </a:r>
          </a:p>
        </p:txBody>
      </p:sp>
      <p:sp>
        <p:nvSpPr>
          <p:cNvPr id="3" name="文本占位符 2"/>
          <p:cNvSpPr>
            <a:spLocks noGrp="1"/>
          </p:cNvSpPr>
          <p:nvPr>
            <p:ph type="body" sz="half" idx="1"/>
          </p:nvPr>
        </p:nvSpPr>
        <p:spPr>
          <a:xfrm>
            <a:off x="1007533" y="981075"/>
            <a:ext cx="10560051" cy="26241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1007533" y="3757616"/>
            <a:ext cx="10560051" cy="26241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9"/>
          <p:cNvSpPr>
            <a:spLocks noGrp="1" noChangeArrowheads="1"/>
          </p:cNvSpPr>
          <p:nvPr>
            <p:ph type="sldNum" sz="quarter" idx="12"/>
          </p:nvPr>
        </p:nvSpPr>
        <p:spPr>
          <a:ln/>
        </p:spPr>
        <p:txBody>
          <a:bodyPr/>
          <a:lstStyle>
            <a:lvl1pPr>
              <a:defRPr/>
            </a:lvl1pPr>
          </a:lstStyle>
          <a:p>
            <a:pPr>
              <a:defRPr/>
            </a:pPr>
            <a:r>
              <a:rPr lang="en-US" altLang="zh-CN"/>
              <a:t>-</a:t>
            </a:r>
            <a:fld id="{ED612CAB-A7E8-42E7-B19B-FAF31ED16A78}" type="slidenum">
              <a:rPr lang="en-US" altLang="zh-CN"/>
              <a:pPr>
                <a:defRPr/>
              </a:pPr>
              <a:t>‹#›</a:t>
            </a:fld>
            <a:r>
              <a:rPr lang="en-US" altLang="zh-CN"/>
              <a:t>-</a:t>
            </a:r>
          </a:p>
        </p:txBody>
      </p:sp>
    </p:spTree>
    <p:extLst>
      <p:ext uri="{BB962C8B-B14F-4D97-AF65-F5344CB8AC3E}">
        <p14:creationId xmlns:p14="http://schemas.microsoft.com/office/powerpoint/2010/main" val="4868757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98502" y="260350"/>
            <a:ext cx="10581217" cy="647700"/>
          </a:xfrm>
        </p:spPr>
        <p:txBody>
          <a:bodyPr/>
          <a:lstStyle/>
          <a:p>
            <a:r>
              <a:rPr lang="zh-CN" altLang="en-US"/>
              <a:t>单击此处编辑母版标题样式</a:t>
            </a:r>
          </a:p>
        </p:txBody>
      </p:sp>
      <p:sp>
        <p:nvSpPr>
          <p:cNvPr id="3" name="文本占位符 2"/>
          <p:cNvSpPr>
            <a:spLocks noGrp="1"/>
          </p:cNvSpPr>
          <p:nvPr>
            <p:ph type="body" sz="half" idx="1"/>
          </p:nvPr>
        </p:nvSpPr>
        <p:spPr>
          <a:xfrm>
            <a:off x="1007535" y="981076"/>
            <a:ext cx="5177367" cy="54006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388102" y="981076"/>
            <a:ext cx="5179484" cy="54006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9"/>
          <p:cNvSpPr>
            <a:spLocks noGrp="1" noChangeArrowheads="1"/>
          </p:cNvSpPr>
          <p:nvPr>
            <p:ph type="sldNum" sz="quarter" idx="12"/>
          </p:nvPr>
        </p:nvSpPr>
        <p:spPr>
          <a:ln/>
        </p:spPr>
        <p:txBody>
          <a:bodyPr/>
          <a:lstStyle>
            <a:lvl1pPr>
              <a:defRPr/>
            </a:lvl1pPr>
          </a:lstStyle>
          <a:p>
            <a:pPr>
              <a:defRPr/>
            </a:pPr>
            <a:r>
              <a:rPr lang="en-US" altLang="zh-CN"/>
              <a:t>-</a:t>
            </a:r>
            <a:fld id="{6B3EEB90-CB8C-413F-818F-0FDB1445C3FE}" type="slidenum">
              <a:rPr lang="en-US" altLang="zh-CN"/>
              <a:pPr>
                <a:defRPr/>
              </a:pPr>
              <a:t>‹#›</a:t>
            </a:fld>
            <a:r>
              <a:rPr lang="en-US" altLang="zh-CN"/>
              <a:t>-</a:t>
            </a:r>
          </a:p>
        </p:txBody>
      </p:sp>
    </p:spTree>
    <p:extLst>
      <p:ext uri="{BB962C8B-B14F-4D97-AF65-F5344CB8AC3E}">
        <p14:creationId xmlns:p14="http://schemas.microsoft.com/office/powerpoint/2010/main" val="470739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146" name="Picture 10"/>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0" y="-1588"/>
            <a:ext cx="12177708" cy="262703"/>
          </a:xfrm>
          <a:prstGeom prst="rect">
            <a:avLst/>
          </a:prstGeom>
          <a:noFill/>
          <a:ln>
            <a:noFill/>
          </a:ln>
          <a:effectLst>
            <a:softEdge rad="63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8" name="Picture 12"/>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0" y="6407153"/>
            <a:ext cx="12192000"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9" name="Rectangle 3"/>
          <p:cNvSpPr>
            <a:spLocks noGrp="1" noChangeArrowheads="1"/>
          </p:cNvSpPr>
          <p:nvPr>
            <p:ph type="title"/>
          </p:nvPr>
        </p:nvSpPr>
        <p:spPr bwMode="auto">
          <a:xfrm>
            <a:off x="1007533" y="260648"/>
            <a:ext cx="10063501"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dirty="0"/>
              <a:t>单击此处编辑母版标题样式</a:t>
            </a:r>
          </a:p>
        </p:txBody>
      </p:sp>
      <p:sp>
        <p:nvSpPr>
          <p:cNvPr id="6150" name="Rectangle 4"/>
          <p:cNvSpPr>
            <a:spLocks noGrp="1" noChangeArrowheads="1"/>
          </p:cNvSpPr>
          <p:nvPr>
            <p:ph type="body" idx="1"/>
          </p:nvPr>
        </p:nvSpPr>
        <p:spPr bwMode="auto">
          <a:xfrm>
            <a:off x="695401" y="981076"/>
            <a:ext cx="10872184" cy="540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30053" name="Rectangle 5"/>
          <p:cNvSpPr>
            <a:spLocks noGrp="1" noChangeArrowheads="1"/>
          </p:cNvSpPr>
          <p:nvPr>
            <p:ph type="dt" sz="half" idx="2"/>
          </p:nvPr>
        </p:nvSpPr>
        <p:spPr bwMode="auto">
          <a:xfrm>
            <a:off x="1219200" y="6324600"/>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0" sz="1400" b="0"/>
            </a:lvl1pPr>
          </a:lstStyle>
          <a:p>
            <a:pPr>
              <a:defRPr/>
            </a:pPr>
            <a:endParaRPr lang="en-US" altLang="zh-CN"/>
          </a:p>
        </p:txBody>
      </p:sp>
      <p:sp>
        <p:nvSpPr>
          <p:cNvPr id="130054" name="Rectangle 6"/>
          <p:cNvSpPr>
            <a:spLocks noGrp="1" noChangeArrowheads="1"/>
          </p:cNvSpPr>
          <p:nvPr>
            <p:ph type="ftr" sz="quarter" idx="3"/>
          </p:nvPr>
        </p:nvSpPr>
        <p:spPr bwMode="auto">
          <a:xfrm>
            <a:off x="4470400" y="6324600"/>
            <a:ext cx="3048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400" b="0"/>
            </a:lvl1pPr>
          </a:lstStyle>
          <a:p>
            <a:pPr>
              <a:defRPr/>
            </a:pPr>
            <a:endParaRPr lang="en-US" altLang="zh-CN"/>
          </a:p>
        </p:txBody>
      </p:sp>
      <p:sp>
        <p:nvSpPr>
          <p:cNvPr id="130056" name="Rectangle 8"/>
          <p:cNvSpPr>
            <a:spLocks noChangeArrowheads="1"/>
          </p:cNvSpPr>
          <p:nvPr/>
        </p:nvSpPr>
        <p:spPr bwMode="auto">
          <a:xfrm>
            <a:off x="0" y="6656388"/>
            <a:ext cx="12192000" cy="228600"/>
          </a:xfrm>
          <a:prstGeom prst="rect">
            <a:avLst/>
          </a:prstGeom>
          <a:solidFill>
            <a:schemeClr val="folHlink"/>
          </a:solidFill>
          <a:ln w="9525">
            <a:solidFill>
              <a:schemeClr val="tx1"/>
            </a:solidFill>
            <a:miter lim="800000"/>
            <a:headEnd/>
            <a:tailEnd/>
          </a:ln>
          <a:effectLst/>
        </p:spPr>
        <p:txBody>
          <a:bodyPr wrap="none" anchor="ctr"/>
          <a:lstStyle/>
          <a:p>
            <a:pPr>
              <a:defRPr/>
            </a:pPr>
            <a:endParaRPr lang="zh-CN" altLang="en-US" sz="2400"/>
          </a:p>
        </p:txBody>
      </p:sp>
      <p:sp>
        <p:nvSpPr>
          <p:cNvPr id="130057" name="Rectangle 9"/>
          <p:cNvSpPr>
            <a:spLocks noGrp="1" noChangeArrowheads="1"/>
          </p:cNvSpPr>
          <p:nvPr>
            <p:ph type="sldNum" sz="quarter" idx="4"/>
          </p:nvPr>
        </p:nvSpPr>
        <p:spPr bwMode="auto">
          <a:xfrm>
            <a:off x="8737600" y="6408738"/>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b="0">
                <a:solidFill>
                  <a:srgbClr val="4D4D4D"/>
                </a:solidFill>
                <a:latin typeface="Arial" charset="0"/>
              </a:defRPr>
            </a:lvl1pPr>
          </a:lstStyle>
          <a:p>
            <a:pPr>
              <a:defRPr/>
            </a:pPr>
            <a:r>
              <a:rPr lang="en-US" altLang="zh-CN"/>
              <a:t>-</a:t>
            </a:r>
            <a:fld id="{84D0465F-A6A2-4704-8971-06036326BA03}" type="slidenum">
              <a:rPr lang="en-US" altLang="zh-CN"/>
              <a:pPr>
                <a:defRPr/>
              </a:pPr>
              <a:t>‹#›</a:t>
            </a:fld>
            <a:r>
              <a:rPr lang="en-US" altLang="zh-CN"/>
              <a:t>-</a:t>
            </a:r>
          </a:p>
        </p:txBody>
      </p:sp>
      <p:pic>
        <p:nvPicPr>
          <p:cNvPr id="6155" name="Picture 14"/>
          <p:cNvPicPr>
            <a:picLocks noChangeAspect="1" noChangeArrowheads="1"/>
          </p:cNvPicPr>
          <p:nvPr userDrawn="1"/>
        </p:nvPicPr>
        <p:blipFill>
          <a:blip r:embed="rId18">
            <a:extLst>
              <a:ext uri="{28A0092B-C50C-407E-A947-70E740481C1C}">
                <a14:useLocalDpi xmlns:a14="http://schemas.microsoft.com/office/drawing/2010/main" val="0"/>
              </a:ext>
            </a:extLst>
          </a:blip>
          <a:srcRect/>
          <a:stretch>
            <a:fillRect/>
          </a:stretch>
        </p:blipFill>
        <p:spPr bwMode="auto">
          <a:xfrm>
            <a:off x="9137588" y="5734050"/>
            <a:ext cx="827027" cy="8075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6" name="Picture 15"/>
          <p:cNvPicPr>
            <a:picLocks noChangeAspect="1" noChangeArrowheads="1"/>
          </p:cNvPicPr>
          <p:nvPr userDrawn="1"/>
        </p:nvPicPr>
        <p:blipFill>
          <a:blip r:embed="rId19">
            <a:extLst>
              <a:ext uri="{28A0092B-C50C-407E-A947-70E740481C1C}">
                <a14:useLocalDpi xmlns:a14="http://schemas.microsoft.com/office/drawing/2010/main" val="0"/>
              </a:ext>
            </a:extLst>
          </a:blip>
          <a:srcRect/>
          <a:stretch>
            <a:fillRect/>
          </a:stretch>
        </p:blipFill>
        <p:spPr bwMode="auto">
          <a:xfrm>
            <a:off x="9930141" y="5805491"/>
            <a:ext cx="2247567" cy="64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064" name="Text Box 16"/>
          <p:cNvSpPr txBox="1">
            <a:spLocks noChangeArrowheads="1"/>
          </p:cNvSpPr>
          <p:nvPr userDrawn="1"/>
        </p:nvSpPr>
        <p:spPr bwMode="auto">
          <a:xfrm>
            <a:off x="46569" y="6626225"/>
            <a:ext cx="4271433" cy="304800"/>
          </a:xfrm>
          <a:prstGeom prst="rect">
            <a:avLst/>
          </a:prstGeom>
          <a:noFill/>
          <a:ln w="9525">
            <a:noFill/>
            <a:miter lim="800000"/>
            <a:headEnd/>
            <a:tailEnd/>
          </a:ln>
          <a:effectLst/>
        </p:spPr>
        <p:txBody>
          <a:bodyPr>
            <a:spAutoFit/>
          </a:bodyPr>
          <a:lstStyle/>
          <a:p>
            <a:pPr>
              <a:spcBef>
                <a:spcPct val="50000"/>
              </a:spcBef>
              <a:defRPr/>
            </a:pPr>
            <a:r>
              <a:rPr lang="en-US" altLang="zh-CN" sz="1400" b="0">
                <a:latin typeface="Arial" charset="0"/>
              </a:rPr>
              <a:t>Copyright © thbin@buaa.edu.cn</a:t>
            </a:r>
          </a:p>
        </p:txBody>
      </p:sp>
      <p:sp>
        <p:nvSpPr>
          <p:cNvPr id="130065" name="Text Box 17"/>
          <p:cNvSpPr txBox="1">
            <a:spLocks noChangeArrowheads="1"/>
          </p:cNvSpPr>
          <p:nvPr userDrawn="1"/>
        </p:nvSpPr>
        <p:spPr bwMode="auto">
          <a:xfrm>
            <a:off x="7920569" y="6626225"/>
            <a:ext cx="4271433" cy="304800"/>
          </a:xfrm>
          <a:prstGeom prst="rect">
            <a:avLst/>
          </a:prstGeom>
          <a:noFill/>
          <a:ln w="9525">
            <a:noFill/>
            <a:miter lim="800000"/>
            <a:headEnd/>
            <a:tailEnd/>
          </a:ln>
          <a:effectLst/>
        </p:spPr>
        <p:txBody>
          <a:bodyPr>
            <a:spAutoFit/>
          </a:bodyPr>
          <a:lstStyle/>
          <a:p>
            <a:pPr algn="r">
              <a:spcBef>
                <a:spcPct val="50000"/>
              </a:spcBef>
              <a:defRPr/>
            </a:pPr>
            <a:r>
              <a:rPr lang="en-US" altLang="zh-CN" sz="1400" b="0" dirty="0">
                <a:latin typeface="Arial" charset="0"/>
              </a:rPr>
              <a:t>College of Software, BUAA</a:t>
            </a:r>
          </a:p>
        </p:txBody>
      </p:sp>
    </p:spTree>
  </p:cSld>
  <p:clrMap bg1="lt1" tx1="dk1" bg2="lt2" tx2="dk2" accent1="accent1" accent2="accent2" accent3="accent3" accent4="accent4" accent5="accent5" accent6="accent6" hlink="hlink" folHlink="folHlink"/>
  <p:sldLayoutIdLst>
    <p:sldLayoutId id="2147483739"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 id="2147483737" r:id="rId13"/>
    <p:sldLayoutId id="2147483738" r:id="rId14"/>
  </p:sldLayoutIdLst>
  <p:hf hdr="0" ftr="0" dt="0"/>
  <p:txStyles>
    <p:titleStyle>
      <a:lvl1pPr algn="l" rtl="0" eaLnBrk="0" fontAlgn="base" hangingPunct="0">
        <a:spcBef>
          <a:spcPct val="0"/>
        </a:spcBef>
        <a:spcAft>
          <a:spcPct val="0"/>
        </a:spcAft>
        <a:defRPr kumimoji="1" sz="4400" b="1">
          <a:solidFill>
            <a:schemeClr val="tx2"/>
          </a:solidFill>
          <a:latin typeface="+mj-lt"/>
          <a:ea typeface="+mj-ea"/>
          <a:cs typeface="+mj-cs"/>
        </a:defRPr>
      </a:lvl1pPr>
      <a:lvl2pPr algn="l" rtl="0" eaLnBrk="0" fontAlgn="base" hangingPunct="0">
        <a:spcBef>
          <a:spcPct val="0"/>
        </a:spcBef>
        <a:spcAft>
          <a:spcPct val="0"/>
        </a:spcAft>
        <a:defRPr kumimoji="1" sz="4800" b="1">
          <a:solidFill>
            <a:schemeClr val="tx2"/>
          </a:solidFill>
          <a:latin typeface="Tahoma" pitchFamily="34" charset="0"/>
          <a:ea typeface="幼圆" pitchFamily="49" charset="-122"/>
        </a:defRPr>
      </a:lvl2pPr>
      <a:lvl3pPr algn="l" rtl="0" eaLnBrk="0" fontAlgn="base" hangingPunct="0">
        <a:spcBef>
          <a:spcPct val="0"/>
        </a:spcBef>
        <a:spcAft>
          <a:spcPct val="0"/>
        </a:spcAft>
        <a:defRPr kumimoji="1" sz="4800" b="1">
          <a:solidFill>
            <a:schemeClr val="tx2"/>
          </a:solidFill>
          <a:latin typeface="Tahoma" pitchFamily="34" charset="0"/>
          <a:ea typeface="幼圆" pitchFamily="49" charset="-122"/>
        </a:defRPr>
      </a:lvl3pPr>
      <a:lvl4pPr algn="l" rtl="0" eaLnBrk="0" fontAlgn="base" hangingPunct="0">
        <a:spcBef>
          <a:spcPct val="0"/>
        </a:spcBef>
        <a:spcAft>
          <a:spcPct val="0"/>
        </a:spcAft>
        <a:defRPr kumimoji="1" sz="4800" b="1">
          <a:solidFill>
            <a:schemeClr val="tx2"/>
          </a:solidFill>
          <a:latin typeface="Tahoma" pitchFamily="34" charset="0"/>
          <a:ea typeface="幼圆" pitchFamily="49" charset="-122"/>
        </a:defRPr>
      </a:lvl4pPr>
      <a:lvl5pPr algn="l" rtl="0" eaLnBrk="0" fontAlgn="base" hangingPunct="0">
        <a:spcBef>
          <a:spcPct val="0"/>
        </a:spcBef>
        <a:spcAft>
          <a:spcPct val="0"/>
        </a:spcAft>
        <a:defRPr kumimoji="1" sz="4800" b="1">
          <a:solidFill>
            <a:schemeClr val="tx2"/>
          </a:solidFill>
          <a:latin typeface="Tahoma" pitchFamily="34" charset="0"/>
          <a:ea typeface="幼圆" pitchFamily="49" charset="-122"/>
        </a:defRPr>
      </a:lvl5pPr>
      <a:lvl6pPr marL="457200" algn="l" rtl="0" fontAlgn="base">
        <a:spcBef>
          <a:spcPct val="0"/>
        </a:spcBef>
        <a:spcAft>
          <a:spcPct val="0"/>
        </a:spcAft>
        <a:defRPr kumimoji="1" sz="4800" b="1">
          <a:solidFill>
            <a:schemeClr val="tx2"/>
          </a:solidFill>
          <a:latin typeface="Tahoma" pitchFamily="34" charset="0"/>
          <a:ea typeface="幼圆" pitchFamily="49" charset="-122"/>
        </a:defRPr>
      </a:lvl6pPr>
      <a:lvl7pPr marL="914400" algn="l" rtl="0" fontAlgn="base">
        <a:spcBef>
          <a:spcPct val="0"/>
        </a:spcBef>
        <a:spcAft>
          <a:spcPct val="0"/>
        </a:spcAft>
        <a:defRPr kumimoji="1" sz="4800" b="1">
          <a:solidFill>
            <a:schemeClr val="tx2"/>
          </a:solidFill>
          <a:latin typeface="Tahoma" pitchFamily="34" charset="0"/>
          <a:ea typeface="幼圆" pitchFamily="49" charset="-122"/>
        </a:defRPr>
      </a:lvl7pPr>
      <a:lvl8pPr marL="1371600" algn="l" rtl="0" fontAlgn="base">
        <a:spcBef>
          <a:spcPct val="0"/>
        </a:spcBef>
        <a:spcAft>
          <a:spcPct val="0"/>
        </a:spcAft>
        <a:defRPr kumimoji="1" sz="4800" b="1">
          <a:solidFill>
            <a:schemeClr val="tx2"/>
          </a:solidFill>
          <a:latin typeface="Tahoma" pitchFamily="34" charset="0"/>
          <a:ea typeface="幼圆" pitchFamily="49" charset="-122"/>
        </a:defRPr>
      </a:lvl8pPr>
      <a:lvl9pPr marL="1828800" algn="l" rtl="0" fontAlgn="base">
        <a:spcBef>
          <a:spcPct val="0"/>
        </a:spcBef>
        <a:spcAft>
          <a:spcPct val="0"/>
        </a:spcAft>
        <a:defRPr kumimoji="1" sz="4800" b="1">
          <a:solidFill>
            <a:schemeClr val="tx2"/>
          </a:solidFill>
          <a:latin typeface="Tahoma" pitchFamily="34" charset="0"/>
          <a:ea typeface="幼圆" pitchFamily="49" charset="-122"/>
        </a:defRPr>
      </a:lvl9pPr>
    </p:titleStyle>
    <p:bodyStyle>
      <a:lvl1pPr marL="342900" indent="-342900" algn="l" rtl="0" eaLnBrk="0" fontAlgn="base" hangingPunct="0">
        <a:spcBef>
          <a:spcPct val="20000"/>
        </a:spcBef>
        <a:spcAft>
          <a:spcPct val="0"/>
        </a:spcAft>
        <a:buClr>
          <a:srgbClr val="A50021"/>
        </a:buClr>
        <a:buSzPct val="80000"/>
        <a:buFont typeface="Wingdings" pitchFamily="2" charset="2"/>
        <a:buChar char="þ"/>
        <a:defRPr kumimoji="1" sz="3200" b="0" baseline="0">
          <a:solidFill>
            <a:schemeClr val="tx1"/>
          </a:solidFill>
          <a:latin typeface="+mn-lt"/>
          <a:ea typeface="微软雅黑" panose="020B0503020204020204" pitchFamily="34" charset="-122"/>
          <a:cs typeface="+mn-cs"/>
        </a:defRPr>
      </a:lvl1pPr>
      <a:lvl2pPr marL="742950" indent="-285750" algn="l" rtl="0" eaLnBrk="0" fontAlgn="base" hangingPunct="0">
        <a:spcBef>
          <a:spcPct val="20000"/>
        </a:spcBef>
        <a:spcAft>
          <a:spcPct val="0"/>
        </a:spcAft>
        <a:buClr>
          <a:schemeClr val="tx2"/>
        </a:buClr>
        <a:buSzPct val="70000"/>
        <a:buFont typeface="Wingdings" pitchFamily="2" charset="2"/>
        <a:buChar char="u"/>
        <a:defRPr kumimoji="1" sz="2800" b="0" baseline="0">
          <a:solidFill>
            <a:schemeClr val="tx1"/>
          </a:solidFill>
          <a:latin typeface="+mn-lt"/>
          <a:ea typeface="微软雅黑" panose="020B0503020204020204" pitchFamily="34" charset="-122"/>
        </a:defRPr>
      </a:lvl2pPr>
      <a:lvl3pPr marL="1143000" indent="-228600" algn="l" rtl="0" eaLnBrk="0" fontAlgn="base" hangingPunct="0">
        <a:spcBef>
          <a:spcPct val="20000"/>
        </a:spcBef>
        <a:spcAft>
          <a:spcPct val="0"/>
        </a:spcAft>
        <a:buClr>
          <a:schemeClr val="hlink"/>
        </a:buClr>
        <a:buSzPct val="70000"/>
        <a:buFont typeface="Wingdings" pitchFamily="2" charset="2"/>
        <a:buChar char="Ø"/>
        <a:defRPr kumimoji="1" sz="2400" b="0" baseline="0">
          <a:solidFill>
            <a:schemeClr val="tx1"/>
          </a:solidFill>
          <a:latin typeface="+mn-lt"/>
          <a:ea typeface="微软雅黑" panose="020B0503020204020204" pitchFamily="34" charset="-122"/>
        </a:defRPr>
      </a:lvl3pPr>
      <a:lvl4pPr marL="1600200" indent="-228600" algn="l" rtl="0" eaLnBrk="0" fontAlgn="base" hangingPunct="0">
        <a:spcBef>
          <a:spcPct val="20000"/>
        </a:spcBef>
        <a:spcAft>
          <a:spcPct val="0"/>
        </a:spcAft>
        <a:buClr>
          <a:schemeClr val="folHlink"/>
        </a:buClr>
        <a:buSzPct val="70000"/>
        <a:buFont typeface="Wingdings" pitchFamily="2" charset="2"/>
        <a:buChar char="ü"/>
        <a:defRPr kumimoji="1" sz="2000" b="0" baseline="0">
          <a:solidFill>
            <a:schemeClr val="tx1"/>
          </a:solidFill>
          <a:latin typeface="+mn-lt"/>
          <a:ea typeface="微软雅黑" panose="020B0503020204020204" pitchFamily="34" charset="-122"/>
        </a:defRPr>
      </a:lvl4pPr>
      <a:lvl5pPr marL="2057400" indent="-228600" algn="l" rtl="0" eaLnBrk="0" fontAlgn="base" hangingPunct="0">
        <a:spcBef>
          <a:spcPct val="20000"/>
        </a:spcBef>
        <a:spcAft>
          <a:spcPct val="0"/>
        </a:spcAft>
        <a:buClr>
          <a:schemeClr val="hlink"/>
        </a:buClr>
        <a:buSzPct val="70000"/>
        <a:buFont typeface="Wingdings" pitchFamily="2" charset="2"/>
        <a:buChar char="n"/>
        <a:defRPr kumimoji="1" sz="2000" b="0" baseline="0">
          <a:solidFill>
            <a:schemeClr val="tx1"/>
          </a:solidFill>
          <a:latin typeface="+mn-lt"/>
          <a:ea typeface="微软雅黑" panose="020B0503020204020204" pitchFamily="34" charset="-122"/>
        </a:defRPr>
      </a:lvl5pPr>
      <a:lvl6pPr marL="2514600" indent="-228600" algn="l" rtl="0" fontAlgn="base">
        <a:spcBef>
          <a:spcPct val="20000"/>
        </a:spcBef>
        <a:spcAft>
          <a:spcPct val="0"/>
        </a:spcAft>
        <a:buClr>
          <a:schemeClr val="hlink"/>
        </a:buClr>
        <a:buSzPct val="70000"/>
        <a:buFont typeface="Wingdings" pitchFamily="2" charset="2"/>
        <a:buChar char="n"/>
        <a:defRPr kumimoji="1" sz="2400" b="1">
          <a:solidFill>
            <a:schemeClr val="tx1"/>
          </a:solidFill>
          <a:latin typeface="+mn-lt"/>
          <a:ea typeface="+mn-ea"/>
        </a:defRPr>
      </a:lvl6pPr>
      <a:lvl7pPr marL="2971800" indent="-228600" algn="l" rtl="0" fontAlgn="base">
        <a:spcBef>
          <a:spcPct val="20000"/>
        </a:spcBef>
        <a:spcAft>
          <a:spcPct val="0"/>
        </a:spcAft>
        <a:buClr>
          <a:schemeClr val="hlink"/>
        </a:buClr>
        <a:buSzPct val="70000"/>
        <a:buFont typeface="Wingdings" pitchFamily="2" charset="2"/>
        <a:buChar char="n"/>
        <a:defRPr kumimoji="1" sz="2400" b="1">
          <a:solidFill>
            <a:schemeClr val="tx1"/>
          </a:solidFill>
          <a:latin typeface="+mn-lt"/>
          <a:ea typeface="+mn-ea"/>
        </a:defRPr>
      </a:lvl7pPr>
      <a:lvl8pPr marL="3429000" indent="-228600" algn="l" rtl="0" fontAlgn="base">
        <a:spcBef>
          <a:spcPct val="20000"/>
        </a:spcBef>
        <a:spcAft>
          <a:spcPct val="0"/>
        </a:spcAft>
        <a:buClr>
          <a:schemeClr val="hlink"/>
        </a:buClr>
        <a:buSzPct val="70000"/>
        <a:buFont typeface="Wingdings" pitchFamily="2" charset="2"/>
        <a:buChar char="n"/>
        <a:defRPr kumimoji="1" sz="2400" b="1">
          <a:solidFill>
            <a:schemeClr val="tx1"/>
          </a:solidFill>
          <a:latin typeface="+mn-lt"/>
          <a:ea typeface="+mn-ea"/>
        </a:defRPr>
      </a:lvl8pPr>
      <a:lvl9pPr marL="3886200" indent="-228600" algn="l" rtl="0" fontAlgn="base">
        <a:spcBef>
          <a:spcPct val="20000"/>
        </a:spcBef>
        <a:spcAft>
          <a:spcPct val="0"/>
        </a:spcAft>
        <a:buClr>
          <a:schemeClr val="hlink"/>
        </a:buClr>
        <a:buSzPct val="70000"/>
        <a:buFont typeface="Wingdings" pitchFamily="2" charset="2"/>
        <a:buChar char="n"/>
        <a:defRPr kumimoji="1" sz="24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image" Target="../media/image8.wmf"/><Relationship Id="rId7" Type="http://schemas.openxmlformats.org/officeDocument/2006/relationships/image" Target="../media/image12.wmf"/><Relationship Id="rId2" Type="http://schemas.openxmlformats.org/officeDocument/2006/relationships/image" Target="../media/image7.wmf"/><Relationship Id="rId1" Type="http://schemas.openxmlformats.org/officeDocument/2006/relationships/slideLayout" Target="../slideLayouts/slideLayout2.xml"/><Relationship Id="rId6" Type="http://schemas.openxmlformats.org/officeDocument/2006/relationships/image" Target="../media/image11.wmf"/><Relationship Id="rId5" Type="http://schemas.openxmlformats.org/officeDocument/2006/relationships/image" Target="../media/image10.wmf"/><Relationship Id="rId10" Type="http://schemas.openxmlformats.org/officeDocument/2006/relationships/image" Target="../media/image15.wmf"/><Relationship Id="rId4" Type="http://schemas.openxmlformats.org/officeDocument/2006/relationships/image" Target="../media/image9.wmf"/><Relationship Id="rId9" Type="http://schemas.openxmlformats.org/officeDocument/2006/relationships/image" Target="../media/image14.wm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7.wmf"/><Relationship Id="rId7" Type="http://schemas.openxmlformats.org/officeDocument/2006/relationships/image" Target="../media/image10.wmf"/><Relationship Id="rId2" Type="http://schemas.openxmlformats.org/officeDocument/2006/relationships/image" Target="../media/image16.wmf"/><Relationship Id="rId1" Type="http://schemas.openxmlformats.org/officeDocument/2006/relationships/slideLayout" Target="../slideLayouts/slideLayout2.xml"/><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18.w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5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28.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5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0" name="Rectangle 2"/>
          <p:cNvSpPr>
            <a:spLocks noGrp="1" noChangeArrowheads="1"/>
          </p:cNvSpPr>
          <p:nvPr>
            <p:ph type="ctrTitle"/>
          </p:nvPr>
        </p:nvSpPr>
        <p:spPr>
          <a:xfrm>
            <a:off x="1524000" y="2132013"/>
            <a:ext cx="9144000" cy="1790700"/>
          </a:xfrm>
        </p:spPr>
        <p:txBody>
          <a:bodyPr/>
          <a:lstStyle/>
          <a:p>
            <a:pPr eaLnBrk="1" hangingPunct="1">
              <a:defRPr/>
            </a:pPr>
            <a:r>
              <a:rPr lang="en-US" altLang="zh-CN" u="sng" dirty="0">
                <a:solidFill>
                  <a:srgbClr val="A50021"/>
                </a:solidFill>
                <a:latin typeface="华文楷体" pitchFamily="2" charset="-122"/>
                <a:ea typeface="华文楷体" pitchFamily="2" charset="-122"/>
              </a:rPr>
              <a:t>UML2</a:t>
            </a:r>
            <a:r>
              <a:rPr lang="zh-CN" altLang="en-US" u="sng" dirty="0">
                <a:solidFill>
                  <a:srgbClr val="A50021"/>
                </a:solidFill>
                <a:latin typeface="华文楷体" pitchFamily="2" charset="-122"/>
                <a:ea typeface="华文楷体" pitchFamily="2" charset="-122"/>
              </a:rPr>
              <a:t>面向对象分析与设计</a:t>
            </a:r>
            <a:br>
              <a:rPr lang="zh-CN" altLang="en-US" sz="4000" dirty="0"/>
            </a:br>
            <a:r>
              <a:rPr lang="en-US" altLang="zh-CN" sz="3200" i="1" dirty="0"/>
              <a:t>Object-Oriented Analysis &amp; Design with UML2</a:t>
            </a:r>
          </a:p>
        </p:txBody>
      </p:sp>
      <p:sp>
        <p:nvSpPr>
          <p:cNvPr id="3075" name="Rectangle 3"/>
          <p:cNvSpPr>
            <a:spLocks noGrp="1" noChangeArrowheads="1"/>
          </p:cNvSpPr>
          <p:nvPr>
            <p:ph type="subTitle" idx="1"/>
          </p:nvPr>
        </p:nvSpPr>
        <p:spPr>
          <a:xfrm>
            <a:off x="2895600" y="4340225"/>
            <a:ext cx="6400800" cy="1752600"/>
          </a:xfrm>
        </p:spPr>
        <p:txBody>
          <a:bodyPr/>
          <a:lstStyle/>
          <a:p>
            <a:pPr eaLnBrk="1" hangingPunct="1"/>
            <a:r>
              <a:rPr lang="zh-CN" altLang="en-US"/>
              <a:t>谭火彬</a:t>
            </a:r>
          </a:p>
        </p:txBody>
      </p:sp>
    </p:spTree>
    <p:extLst>
      <p:ext uri="{BB962C8B-B14F-4D97-AF65-F5344CB8AC3E}">
        <p14:creationId xmlns:p14="http://schemas.microsoft.com/office/powerpoint/2010/main" val="3812404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30450037-E243-41EE-814E-5C98FB5456A2}" type="slidenum">
              <a:rPr lang="en-US" altLang="zh-CN" sz="1200" b="0">
                <a:solidFill>
                  <a:srgbClr val="4D4D4D"/>
                </a:solidFill>
                <a:latin typeface="Arial" charset="0"/>
              </a:rPr>
              <a:pPr eaLnBrk="1" hangingPunct="1"/>
              <a:t>2</a:t>
            </a:fld>
            <a:r>
              <a:rPr lang="en-US" altLang="zh-CN" sz="1200" b="0">
                <a:solidFill>
                  <a:srgbClr val="4D4D4D"/>
                </a:solidFill>
                <a:latin typeface="Arial" charset="0"/>
              </a:rPr>
              <a:t>-</a:t>
            </a:r>
          </a:p>
        </p:txBody>
      </p:sp>
      <p:sp>
        <p:nvSpPr>
          <p:cNvPr id="4099" name="Rectangle 2"/>
          <p:cNvSpPr>
            <a:spLocks noGrp="1" noChangeArrowheads="1"/>
          </p:cNvSpPr>
          <p:nvPr>
            <p:ph type="title"/>
          </p:nvPr>
        </p:nvSpPr>
        <p:spPr/>
        <p:txBody>
          <a:bodyPr/>
          <a:lstStyle/>
          <a:p>
            <a:pPr eaLnBrk="1" hangingPunct="1"/>
            <a:r>
              <a:rPr lang="zh-CN" altLang="en-US"/>
              <a:t>学习路线图</a:t>
            </a:r>
            <a:endParaRPr lang="en-US" altLang="zh-CN"/>
          </a:p>
        </p:txBody>
      </p:sp>
      <p:grpSp>
        <p:nvGrpSpPr>
          <p:cNvPr id="4100" name="Group 3"/>
          <p:cNvGrpSpPr>
            <a:grpSpLocks/>
          </p:cNvGrpSpPr>
          <p:nvPr/>
        </p:nvGrpSpPr>
        <p:grpSpPr bwMode="auto">
          <a:xfrm>
            <a:off x="1703389" y="1557338"/>
            <a:ext cx="8785225" cy="3960812"/>
            <a:chOff x="113" y="980"/>
            <a:chExt cx="5534" cy="2495"/>
          </a:xfrm>
        </p:grpSpPr>
        <p:sp>
          <p:nvSpPr>
            <p:cNvPr id="4102" name="Rectangle 4"/>
            <p:cNvSpPr>
              <a:spLocks noChangeArrowheads="1"/>
            </p:cNvSpPr>
            <p:nvPr/>
          </p:nvSpPr>
          <p:spPr bwMode="auto">
            <a:xfrm>
              <a:off x="113" y="980"/>
              <a:ext cx="5534" cy="2495"/>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a:p>
          </p:txBody>
        </p:sp>
        <p:sp>
          <p:nvSpPr>
            <p:cNvPr id="4103" name="Rectangle 5"/>
            <p:cNvSpPr>
              <a:spLocks noChangeArrowheads="1"/>
            </p:cNvSpPr>
            <p:nvPr/>
          </p:nvSpPr>
          <p:spPr bwMode="auto">
            <a:xfrm>
              <a:off x="158" y="1298"/>
              <a:ext cx="453" cy="317"/>
            </a:xfrm>
            <a:prstGeom prst="rect">
              <a:avLst/>
            </a:prstGeom>
            <a:solidFill>
              <a:srgbClr val="808080"/>
            </a:solidFill>
            <a:ln w="9525">
              <a:solidFill>
                <a:srgbClr val="333333"/>
              </a:solidFill>
              <a:miter lim="800000"/>
              <a:headEnd/>
              <a:tailEnd/>
            </a:ln>
          </p:spPr>
          <p:txBody>
            <a:bodyPr wrap="none" anchor="ctr"/>
            <a:lstStyle/>
            <a:p>
              <a:pPr algn="ctr"/>
              <a:r>
                <a:rPr lang="en-US" altLang="zh-CN" u="sng">
                  <a:solidFill>
                    <a:srgbClr val="660066"/>
                  </a:solidFill>
                  <a:latin typeface="Monotype Corsiva" pitchFamily="66" charset="0"/>
                </a:rPr>
                <a:t>OO</a:t>
              </a:r>
            </a:p>
          </p:txBody>
        </p:sp>
        <p:sp>
          <p:nvSpPr>
            <p:cNvPr id="4104" name="Rectangle 6"/>
            <p:cNvSpPr>
              <a:spLocks noChangeArrowheads="1"/>
            </p:cNvSpPr>
            <p:nvPr/>
          </p:nvSpPr>
          <p:spPr bwMode="auto">
            <a:xfrm>
              <a:off x="158" y="1978"/>
              <a:ext cx="453" cy="317"/>
            </a:xfrm>
            <a:prstGeom prst="rect">
              <a:avLst/>
            </a:prstGeom>
            <a:solidFill>
              <a:srgbClr val="808080"/>
            </a:solidFill>
            <a:ln w="9525">
              <a:solidFill>
                <a:srgbClr val="333333"/>
              </a:solidFill>
              <a:miter lim="800000"/>
              <a:headEnd/>
              <a:tailEnd/>
            </a:ln>
          </p:spPr>
          <p:txBody>
            <a:bodyPr wrap="none" anchor="ctr"/>
            <a:lstStyle/>
            <a:p>
              <a:pPr algn="ctr"/>
              <a:r>
                <a:rPr lang="en-US" altLang="zh-CN" b="0">
                  <a:solidFill>
                    <a:srgbClr val="660066"/>
                  </a:solidFill>
                  <a:latin typeface="Monotype Corsiva" pitchFamily="66" charset="0"/>
                </a:rPr>
                <a:t>UML</a:t>
              </a:r>
            </a:p>
          </p:txBody>
        </p:sp>
        <p:grpSp>
          <p:nvGrpSpPr>
            <p:cNvPr id="4105" name="Group 7"/>
            <p:cNvGrpSpPr>
              <a:grpSpLocks/>
            </p:cNvGrpSpPr>
            <p:nvPr/>
          </p:nvGrpSpPr>
          <p:grpSpPr bwMode="auto">
            <a:xfrm>
              <a:off x="1473" y="1615"/>
              <a:ext cx="1089" cy="540"/>
              <a:chOff x="1413" y="3657"/>
              <a:chExt cx="1089" cy="540"/>
            </a:xfrm>
          </p:grpSpPr>
          <p:sp>
            <p:nvSpPr>
              <p:cNvPr id="4144" name="Rectangle 8"/>
              <p:cNvSpPr>
                <a:spLocks noChangeArrowheads="1"/>
              </p:cNvSpPr>
              <p:nvPr/>
            </p:nvSpPr>
            <p:spPr bwMode="auto">
              <a:xfrm>
                <a:off x="1565" y="3657"/>
                <a:ext cx="635" cy="454"/>
              </a:xfrm>
              <a:prstGeom prst="rect">
                <a:avLst/>
              </a:prstGeom>
              <a:solidFill>
                <a:srgbClr val="808080"/>
              </a:solidFill>
              <a:ln w="9525">
                <a:solidFill>
                  <a:srgbClr val="333333"/>
                </a:solidFill>
                <a:miter lim="800000"/>
                <a:headEnd/>
                <a:tailEnd/>
              </a:ln>
            </p:spPr>
            <p:txBody>
              <a:bodyPr wrap="none" anchor="ctr"/>
              <a:lstStyle/>
              <a:p>
                <a:endParaRPr lang="zh-CN" altLang="en-US"/>
              </a:p>
            </p:txBody>
          </p:sp>
          <p:pic>
            <p:nvPicPr>
              <p:cNvPr id="4145" name="Picture 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3" y="3748"/>
                <a:ext cx="1089" cy="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4106" name="AutoShape 10"/>
            <p:cNvCxnSpPr>
              <a:cxnSpLocks noChangeShapeType="1"/>
              <a:stCxn id="4103" idx="3"/>
              <a:endCxn id="4133" idx="1"/>
            </p:cNvCxnSpPr>
            <p:nvPr/>
          </p:nvCxnSpPr>
          <p:spPr bwMode="auto">
            <a:xfrm>
              <a:off x="611" y="1457"/>
              <a:ext cx="207" cy="385"/>
            </a:xfrm>
            <a:prstGeom prst="curvedConnector3">
              <a:avLst>
                <a:gd name="adj1" fmla="val 49759"/>
              </a:avLst>
            </a:prstGeom>
            <a:noFill/>
            <a:ln w="19050">
              <a:solidFill>
                <a:srgbClr val="800000"/>
              </a:solidFill>
              <a:miter lim="800000"/>
              <a:headEnd/>
              <a:tailEnd type="stealth" w="lg" len="lg"/>
            </a:ln>
            <a:extLst>
              <a:ext uri="{909E8E84-426E-40DD-AFC4-6F175D3DCCD1}">
                <a14:hiddenFill xmlns:a14="http://schemas.microsoft.com/office/drawing/2010/main">
                  <a:noFill/>
                </a14:hiddenFill>
              </a:ext>
            </a:extLst>
          </p:spPr>
        </p:cxnSp>
        <p:cxnSp>
          <p:nvCxnSpPr>
            <p:cNvPr id="4107" name="AutoShape 11"/>
            <p:cNvCxnSpPr>
              <a:cxnSpLocks noChangeShapeType="1"/>
              <a:stCxn id="4104" idx="3"/>
              <a:endCxn id="4133" idx="1"/>
            </p:cNvCxnSpPr>
            <p:nvPr/>
          </p:nvCxnSpPr>
          <p:spPr bwMode="auto">
            <a:xfrm flipV="1">
              <a:off x="611" y="1842"/>
              <a:ext cx="207" cy="295"/>
            </a:xfrm>
            <a:prstGeom prst="curvedConnector3">
              <a:avLst>
                <a:gd name="adj1" fmla="val 49759"/>
              </a:avLst>
            </a:prstGeom>
            <a:noFill/>
            <a:ln w="19050">
              <a:solidFill>
                <a:srgbClr val="800000"/>
              </a:solidFill>
              <a:miter lim="800000"/>
              <a:headEnd/>
              <a:tailEnd type="stealth" w="lg" len="lg"/>
            </a:ln>
            <a:extLst>
              <a:ext uri="{909E8E84-426E-40DD-AFC4-6F175D3DCCD1}">
                <a14:hiddenFill xmlns:a14="http://schemas.microsoft.com/office/drawing/2010/main">
                  <a:noFill/>
                </a14:hiddenFill>
              </a:ext>
            </a:extLst>
          </p:spPr>
        </p:cxnSp>
        <p:cxnSp>
          <p:nvCxnSpPr>
            <p:cNvPr id="4108" name="AutoShape 12"/>
            <p:cNvCxnSpPr>
              <a:cxnSpLocks noChangeShapeType="1"/>
              <a:stCxn id="4133" idx="3"/>
              <a:endCxn id="4144" idx="1"/>
            </p:cNvCxnSpPr>
            <p:nvPr/>
          </p:nvCxnSpPr>
          <p:spPr bwMode="auto">
            <a:xfrm>
              <a:off x="1453" y="1842"/>
              <a:ext cx="172" cy="0"/>
            </a:xfrm>
            <a:prstGeom prst="straightConnector1">
              <a:avLst/>
            </a:prstGeom>
            <a:noFill/>
            <a:ln w="19050">
              <a:solidFill>
                <a:srgbClr val="800000"/>
              </a:solidFill>
              <a:miter lim="800000"/>
              <a:headEnd/>
              <a:tailEnd type="stealth" w="lg" len="lg"/>
            </a:ln>
            <a:extLst>
              <a:ext uri="{909E8E84-426E-40DD-AFC4-6F175D3DCCD1}">
                <a14:hiddenFill xmlns:a14="http://schemas.microsoft.com/office/drawing/2010/main">
                  <a:noFill/>
                </a14:hiddenFill>
              </a:ext>
            </a:extLst>
          </p:spPr>
        </p:cxnSp>
        <p:cxnSp>
          <p:nvCxnSpPr>
            <p:cNvPr id="4109" name="AutoShape 13"/>
            <p:cNvCxnSpPr>
              <a:cxnSpLocks noChangeShapeType="1"/>
              <a:stCxn id="4141" idx="3"/>
              <a:endCxn id="4135" idx="1"/>
            </p:cNvCxnSpPr>
            <p:nvPr/>
          </p:nvCxnSpPr>
          <p:spPr bwMode="auto">
            <a:xfrm flipV="1">
              <a:off x="3244" y="1841"/>
              <a:ext cx="433" cy="1"/>
            </a:xfrm>
            <a:prstGeom prst="straightConnector1">
              <a:avLst/>
            </a:prstGeom>
            <a:noFill/>
            <a:ln w="19050">
              <a:solidFill>
                <a:srgbClr val="800000"/>
              </a:solidFill>
              <a:miter lim="800000"/>
              <a:headEnd/>
              <a:tailEnd type="stealth" w="lg" len="lg"/>
            </a:ln>
            <a:extLst>
              <a:ext uri="{909E8E84-426E-40DD-AFC4-6F175D3DCCD1}">
                <a14:hiddenFill xmlns:a14="http://schemas.microsoft.com/office/drawing/2010/main">
                  <a:noFill/>
                </a14:hiddenFill>
              </a:ext>
            </a:extLst>
          </p:spPr>
        </p:cxnSp>
        <p:sp>
          <p:nvSpPr>
            <p:cNvPr id="781326" name="Text Box 14"/>
            <p:cNvSpPr txBox="1">
              <a:spLocks noChangeArrowheads="1"/>
            </p:cNvSpPr>
            <p:nvPr/>
          </p:nvSpPr>
          <p:spPr bwMode="auto">
            <a:xfrm>
              <a:off x="3153" y="1595"/>
              <a:ext cx="635" cy="288"/>
            </a:xfrm>
            <a:prstGeom prst="rect">
              <a:avLst/>
            </a:prstGeom>
            <a:noFill/>
            <a:ln w="9525">
              <a:noFill/>
              <a:miter lim="800000"/>
              <a:headEnd/>
              <a:tailEnd/>
            </a:ln>
            <a:effectLst/>
          </p:spPr>
          <p:txBody>
            <a:bodyPr>
              <a:spAutoFit/>
            </a:bodyPr>
            <a:lstStyle/>
            <a:p>
              <a:pPr algn="ctr">
                <a:spcBef>
                  <a:spcPct val="50000"/>
                </a:spcBef>
                <a:defRPr/>
              </a:pPr>
              <a:r>
                <a:rPr lang="en-US" altLang="zh-CN">
                  <a:solidFill>
                    <a:srgbClr val="FF6600"/>
                  </a:solidFill>
                  <a:effectLst>
                    <a:outerShdw blurRad="38100" dist="38100" dir="2700000" algn="tl">
                      <a:srgbClr val="C0C0C0"/>
                    </a:outerShdw>
                  </a:effectLst>
                </a:rPr>
                <a:t>OOP</a:t>
              </a:r>
            </a:p>
          </p:txBody>
        </p:sp>
        <p:sp>
          <p:nvSpPr>
            <p:cNvPr id="781327" name="Text Box 15"/>
            <p:cNvSpPr txBox="1">
              <a:spLocks noChangeArrowheads="1"/>
            </p:cNvSpPr>
            <p:nvPr/>
          </p:nvSpPr>
          <p:spPr bwMode="auto">
            <a:xfrm>
              <a:off x="3153" y="1781"/>
              <a:ext cx="635" cy="288"/>
            </a:xfrm>
            <a:prstGeom prst="rect">
              <a:avLst/>
            </a:prstGeom>
            <a:noFill/>
            <a:ln w="9525">
              <a:noFill/>
              <a:miter lim="800000"/>
              <a:headEnd/>
              <a:tailEnd/>
            </a:ln>
            <a:effectLst/>
          </p:spPr>
          <p:txBody>
            <a:bodyPr>
              <a:spAutoFit/>
            </a:bodyPr>
            <a:lstStyle/>
            <a:p>
              <a:pPr algn="ctr">
                <a:spcBef>
                  <a:spcPct val="50000"/>
                </a:spcBef>
                <a:defRPr/>
              </a:pPr>
              <a:r>
                <a:rPr lang="en-US" altLang="zh-CN">
                  <a:solidFill>
                    <a:srgbClr val="FF6600"/>
                  </a:solidFill>
                  <a:effectLst>
                    <a:outerShdw blurRad="38100" dist="38100" dir="2700000" algn="tl">
                      <a:srgbClr val="C0C0C0"/>
                    </a:outerShdw>
                  </a:effectLst>
                </a:rPr>
                <a:t>DP</a:t>
              </a:r>
            </a:p>
          </p:txBody>
        </p:sp>
        <p:sp>
          <p:nvSpPr>
            <p:cNvPr id="781328" name="Text Box 16"/>
            <p:cNvSpPr txBox="1">
              <a:spLocks noChangeArrowheads="1"/>
            </p:cNvSpPr>
            <p:nvPr/>
          </p:nvSpPr>
          <p:spPr bwMode="auto">
            <a:xfrm>
              <a:off x="2064" y="2477"/>
              <a:ext cx="1406" cy="231"/>
            </a:xfrm>
            <a:prstGeom prst="rect">
              <a:avLst/>
            </a:prstGeom>
            <a:noFill/>
            <a:ln w="9525">
              <a:noFill/>
              <a:miter lim="800000"/>
              <a:headEnd/>
              <a:tailEnd/>
            </a:ln>
            <a:effectLst/>
          </p:spPr>
          <p:txBody>
            <a:bodyPr>
              <a:spAutoFit/>
            </a:bodyPr>
            <a:lstStyle/>
            <a:p>
              <a:pPr algn="ctr">
                <a:spcBef>
                  <a:spcPct val="50000"/>
                </a:spcBef>
                <a:defRPr/>
              </a:pPr>
              <a:r>
                <a:rPr lang="en-US" altLang="zh-CN" sz="1800" dirty="0">
                  <a:solidFill>
                    <a:srgbClr val="336699"/>
                  </a:solidFill>
                  <a:effectLst>
                    <a:outerShdw blurRad="38100" dist="38100" dir="2700000" algn="tl">
                      <a:srgbClr val="C0C0C0"/>
                    </a:outerShdw>
                  </a:effectLst>
                  <a:latin typeface="Times New Roman"/>
                </a:rPr>
                <a:t>…</a:t>
              </a:r>
              <a:r>
                <a:rPr lang="en-US" altLang="zh-CN" sz="1800" dirty="0">
                  <a:solidFill>
                    <a:srgbClr val="336699"/>
                  </a:solidFill>
                  <a:effectLst>
                    <a:outerShdw blurRad="38100" dist="38100" dir="2700000" algn="tl">
                      <a:srgbClr val="C0C0C0"/>
                    </a:outerShdw>
                  </a:effectLst>
                </a:rPr>
                <a:t> </a:t>
              </a:r>
              <a:r>
                <a:rPr lang="zh-CN" altLang="en-US" sz="1800" dirty="0">
                  <a:solidFill>
                    <a:srgbClr val="336699"/>
                  </a:solidFill>
                  <a:effectLst>
                    <a:outerShdw blurRad="38100" dist="38100" dir="2700000" algn="tl">
                      <a:srgbClr val="C0C0C0"/>
                    </a:outerShdw>
                  </a:effectLst>
                </a:rPr>
                <a:t>教学案例</a:t>
              </a:r>
              <a:r>
                <a:rPr lang="en-US" altLang="zh-CN" sz="1800" dirty="0">
                  <a:solidFill>
                    <a:srgbClr val="336699"/>
                  </a:solidFill>
                  <a:effectLst>
                    <a:outerShdw blurRad="38100" dist="38100" dir="2700000" algn="tl">
                      <a:srgbClr val="C0C0C0"/>
                    </a:outerShdw>
                  </a:effectLst>
                </a:rPr>
                <a:t> </a:t>
              </a:r>
              <a:r>
                <a:rPr lang="en-US" altLang="zh-CN" sz="1800" dirty="0">
                  <a:solidFill>
                    <a:srgbClr val="336699"/>
                  </a:solidFill>
                  <a:effectLst>
                    <a:outerShdw blurRad="38100" dist="38100" dir="2700000" algn="tl">
                      <a:srgbClr val="C0C0C0"/>
                    </a:outerShdw>
                  </a:effectLst>
                  <a:latin typeface="Times New Roman"/>
                </a:rPr>
                <a:t>…</a:t>
              </a:r>
              <a:endParaRPr lang="en-US" altLang="zh-CN" sz="1800" dirty="0">
                <a:solidFill>
                  <a:srgbClr val="336699"/>
                </a:solidFill>
                <a:effectLst>
                  <a:outerShdw blurRad="38100" dist="38100" dir="2700000" algn="tl">
                    <a:srgbClr val="C0C0C0"/>
                  </a:outerShdw>
                </a:effectLst>
              </a:endParaRPr>
            </a:p>
          </p:txBody>
        </p:sp>
        <p:sp>
          <p:nvSpPr>
            <p:cNvPr id="4113" name="Freeform 17"/>
            <p:cNvSpPr>
              <a:spLocks/>
            </p:cNvSpPr>
            <p:nvPr/>
          </p:nvSpPr>
          <p:spPr bwMode="auto">
            <a:xfrm>
              <a:off x="250" y="2447"/>
              <a:ext cx="4808" cy="212"/>
            </a:xfrm>
            <a:custGeom>
              <a:avLst/>
              <a:gdLst>
                <a:gd name="T0" fmla="*/ 0 w 4650"/>
                <a:gd name="T1" fmla="*/ 166 h 212"/>
                <a:gd name="T2" fmla="*/ 727 w 4650"/>
                <a:gd name="T3" fmla="*/ 30 h 212"/>
                <a:gd name="T4" fmla="*/ 4268 w 4650"/>
                <a:gd name="T5" fmla="*/ 30 h 212"/>
                <a:gd name="T6" fmla="*/ 4947 w 4650"/>
                <a:gd name="T7" fmla="*/ 212 h 212"/>
                <a:gd name="T8" fmla="*/ 0 60000 65536"/>
                <a:gd name="T9" fmla="*/ 0 60000 65536"/>
                <a:gd name="T10" fmla="*/ 0 60000 65536"/>
                <a:gd name="T11" fmla="*/ 0 60000 65536"/>
                <a:gd name="T12" fmla="*/ 0 w 4650"/>
                <a:gd name="T13" fmla="*/ 0 h 212"/>
                <a:gd name="T14" fmla="*/ 4650 w 4650"/>
                <a:gd name="T15" fmla="*/ 212 h 212"/>
              </a:gdLst>
              <a:ahLst/>
              <a:cxnLst>
                <a:cxn ang="T8">
                  <a:pos x="T0" y="T1"/>
                </a:cxn>
                <a:cxn ang="T9">
                  <a:pos x="T2" y="T3"/>
                </a:cxn>
                <a:cxn ang="T10">
                  <a:pos x="T4" y="T5"/>
                </a:cxn>
                <a:cxn ang="T11">
                  <a:pos x="T6" y="T7"/>
                </a:cxn>
              </a:cxnLst>
              <a:rect l="T12" t="T13" r="T14" b="T15"/>
              <a:pathLst>
                <a:path w="4650" h="212">
                  <a:moveTo>
                    <a:pt x="0" y="166"/>
                  </a:moveTo>
                  <a:cubicBezTo>
                    <a:pt x="7" y="109"/>
                    <a:pt x="15" y="53"/>
                    <a:pt x="680" y="30"/>
                  </a:cubicBezTo>
                  <a:cubicBezTo>
                    <a:pt x="1345" y="7"/>
                    <a:pt x="3334" y="0"/>
                    <a:pt x="3992" y="30"/>
                  </a:cubicBezTo>
                  <a:cubicBezTo>
                    <a:pt x="4650" y="60"/>
                    <a:pt x="4521" y="182"/>
                    <a:pt x="4627" y="212"/>
                  </a:cubicBezTo>
                </a:path>
              </a:pathLst>
            </a:custGeom>
            <a:noFill/>
            <a:ln w="25400">
              <a:solidFill>
                <a:schemeClr val="hlink"/>
              </a:solidFill>
              <a:miter lim="800000"/>
              <a:headEnd/>
              <a:tailEnd type="stealth" w="lg" len="lg"/>
            </a:ln>
            <a:extLst>
              <a:ext uri="{909E8E84-426E-40DD-AFC4-6F175D3DCCD1}">
                <a14:hiddenFill xmlns:a14="http://schemas.microsoft.com/office/drawing/2010/main">
                  <a:solidFill>
                    <a:srgbClr val="FFFFFF"/>
                  </a:solidFill>
                </a14:hiddenFill>
              </a:ext>
            </a:extLst>
          </p:spPr>
          <p:txBody>
            <a:bodyPr wrap="none"/>
            <a:lstStyle/>
            <a:p>
              <a:endParaRPr lang="zh-CN" altLang="en-US"/>
            </a:p>
          </p:txBody>
        </p:sp>
        <p:cxnSp>
          <p:nvCxnSpPr>
            <p:cNvPr id="4114" name="AutoShape 18"/>
            <p:cNvCxnSpPr>
              <a:cxnSpLocks noChangeShapeType="1"/>
              <a:endCxn id="4120" idx="0"/>
            </p:cNvCxnSpPr>
            <p:nvPr/>
          </p:nvCxnSpPr>
          <p:spPr bwMode="auto">
            <a:xfrm>
              <a:off x="5219" y="2108"/>
              <a:ext cx="88" cy="505"/>
            </a:xfrm>
            <a:prstGeom prst="curvedConnector2">
              <a:avLst/>
            </a:prstGeom>
            <a:noFill/>
            <a:ln w="19050">
              <a:solidFill>
                <a:srgbClr val="800000"/>
              </a:solidFill>
              <a:miter lim="800000"/>
              <a:headEnd/>
              <a:tailEnd type="stealth" w="lg" len="lg"/>
            </a:ln>
            <a:extLst>
              <a:ext uri="{909E8E84-426E-40DD-AFC4-6F175D3DCCD1}">
                <a14:hiddenFill xmlns:a14="http://schemas.microsoft.com/office/drawing/2010/main">
                  <a:noFill/>
                </a14:hiddenFill>
              </a:ext>
            </a:extLst>
          </p:spPr>
        </p:cxnSp>
        <p:sp>
          <p:nvSpPr>
            <p:cNvPr id="781331" name="Text Box 19"/>
            <p:cNvSpPr txBox="1">
              <a:spLocks noChangeArrowheads="1"/>
            </p:cNvSpPr>
            <p:nvPr/>
          </p:nvSpPr>
          <p:spPr bwMode="auto">
            <a:xfrm>
              <a:off x="1384" y="2795"/>
              <a:ext cx="2631" cy="365"/>
            </a:xfrm>
            <a:prstGeom prst="rect">
              <a:avLst/>
            </a:prstGeom>
            <a:noFill/>
            <a:ln w="9525">
              <a:noFill/>
              <a:miter lim="800000"/>
              <a:headEnd/>
              <a:tailEnd/>
            </a:ln>
            <a:effectLst/>
          </p:spPr>
          <p:txBody>
            <a:bodyPr>
              <a:spAutoFit/>
            </a:bodyPr>
            <a:lstStyle/>
            <a:p>
              <a:pPr algn="ctr">
                <a:spcBef>
                  <a:spcPct val="50000"/>
                </a:spcBef>
                <a:defRPr/>
              </a:pPr>
              <a:r>
                <a:rPr lang="zh-CN" altLang="en-US" sz="3200" u="sng">
                  <a:solidFill>
                    <a:srgbClr val="660066"/>
                  </a:solidFill>
                  <a:effectLst>
                    <a:outerShdw blurRad="38100" dist="38100" dir="2700000" algn="tl">
                      <a:srgbClr val="C0C0C0"/>
                    </a:outerShdw>
                  </a:effectLst>
                  <a:ea typeface="隶书" pitchFamily="49" charset="-122"/>
                </a:rPr>
                <a:t>学 习 路 线 图</a:t>
              </a:r>
            </a:p>
          </p:txBody>
        </p:sp>
        <p:grpSp>
          <p:nvGrpSpPr>
            <p:cNvPr id="4116" name="Group 20"/>
            <p:cNvGrpSpPr>
              <a:grpSpLocks/>
            </p:cNvGrpSpPr>
            <p:nvPr/>
          </p:nvGrpSpPr>
          <p:grpSpPr bwMode="auto">
            <a:xfrm>
              <a:off x="2381" y="1343"/>
              <a:ext cx="908" cy="998"/>
              <a:chOff x="2154" y="1253"/>
              <a:chExt cx="908" cy="998"/>
            </a:xfrm>
          </p:grpSpPr>
          <p:sp>
            <p:nvSpPr>
              <p:cNvPr id="4141" name="Rectangle 21"/>
              <p:cNvSpPr>
                <a:spLocks noChangeArrowheads="1"/>
              </p:cNvSpPr>
              <p:nvPr/>
            </p:nvSpPr>
            <p:spPr bwMode="auto">
              <a:xfrm>
                <a:off x="2200" y="1253"/>
                <a:ext cx="817" cy="998"/>
              </a:xfrm>
              <a:prstGeom prst="rect">
                <a:avLst/>
              </a:prstGeom>
              <a:solidFill>
                <a:srgbClr val="99CCFF"/>
              </a:solidFill>
              <a:ln w="9525">
                <a:solidFill>
                  <a:srgbClr val="666699"/>
                </a:solidFill>
                <a:miter lim="800000"/>
                <a:headEnd/>
                <a:tailEnd/>
              </a:ln>
            </p:spPr>
            <p:txBody>
              <a:bodyPr wrap="none" anchor="ctr"/>
              <a:lstStyle/>
              <a:p>
                <a:endParaRPr lang="zh-CN" altLang="en-US"/>
              </a:p>
            </p:txBody>
          </p:sp>
          <p:pic>
            <p:nvPicPr>
              <p:cNvPr id="4142" name="Picture 2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00" y="1705"/>
                <a:ext cx="862" cy="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4143"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4" y="1253"/>
                <a:ext cx="816" cy="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grpSp>
          <p:nvGrpSpPr>
            <p:cNvPr id="4117" name="Group 24"/>
            <p:cNvGrpSpPr>
              <a:grpSpLocks/>
            </p:cNvGrpSpPr>
            <p:nvPr/>
          </p:nvGrpSpPr>
          <p:grpSpPr bwMode="auto">
            <a:xfrm>
              <a:off x="3676" y="1242"/>
              <a:ext cx="1543" cy="1198"/>
              <a:chOff x="3560" y="1152"/>
              <a:chExt cx="1543" cy="1198"/>
            </a:xfrm>
          </p:grpSpPr>
          <p:sp>
            <p:nvSpPr>
              <p:cNvPr id="4135" name="Rectangle 25"/>
              <p:cNvSpPr>
                <a:spLocks noChangeArrowheads="1"/>
              </p:cNvSpPr>
              <p:nvPr/>
            </p:nvSpPr>
            <p:spPr bwMode="auto">
              <a:xfrm>
                <a:off x="3561" y="1152"/>
                <a:ext cx="1542" cy="1198"/>
              </a:xfrm>
              <a:prstGeom prst="rect">
                <a:avLst/>
              </a:prstGeom>
              <a:solidFill>
                <a:srgbClr val="99CCFF"/>
              </a:solidFill>
              <a:ln w="9525">
                <a:solidFill>
                  <a:srgbClr val="666699"/>
                </a:solidFill>
                <a:miter lim="800000"/>
                <a:headEnd/>
                <a:tailEnd/>
              </a:ln>
            </p:spPr>
            <p:txBody>
              <a:bodyPr wrap="none" anchor="ctr"/>
              <a:lstStyle/>
              <a:p>
                <a:endParaRPr lang="zh-CN" altLang="en-US"/>
              </a:p>
            </p:txBody>
          </p:sp>
          <p:pic>
            <p:nvPicPr>
              <p:cNvPr id="4136" name="Picture 2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60" y="1207"/>
                <a:ext cx="544" cy="4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37" name="Picture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32" y="1797"/>
                <a:ext cx="771"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38" name="Picture 28"/>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059" y="1253"/>
                <a:ext cx="544" cy="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39" name="Picture 2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59" y="1194"/>
                <a:ext cx="544" cy="4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40" name="Picture 30"/>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561" y="1797"/>
                <a:ext cx="816" cy="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cxnSp>
          <p:nvCxnSpPr>
            <p:cNvPr id="4118" name="AutoShape 31"/>
            <p:cNvCxnSpPr>
              <a:cxnSpLocks noChangeShapeType="1"/>
              <a:stCxn id="4144" idx="3"/>
              <a:endCxn id="4141" idx="1"/>
            </p:cNvCxnSpPr>
            <p:nvPr/>
          </p:nvCxnSpPr>
          <p:spPr bwMode="auto">
            <a:xfrm>
              <a:off x="2260" y="1842"/>
              <a:ext cx="167" cy="0"/>
            </a:xfrm>
            <a:prstGeom prst="straightConnector1">
              <a:avLst/>
            </a:prstGeom>
            <a:noFill/>
            <a:ln w="19050">
              <a:solidFill>
                <a:srgbClr val="800000"/>
              </a:solidFill>
              <a:miter lim="800000"/>
              <a:headEnd/>
              <a:tailEnd type="stealth" w="lg" len="lg"/>
            </a:ln>
            <a:extLst>
              <a:ext uri="{909E8E84-426E-40DD-AFC4-6F175D3DCCD1}">
                <a14:hiddenFill xmlns:a14="http://schemas.microsoft.com/office/drawing/2010/main">
                  <a:noFill/>
                </a14:hiddenFill>
              </a:ext>
            </a:extLst>
          </p:spPr>
        </p:cxnSp>
        <p:sp>
          <p:nvSpPr>
            <p:cNvPr id="4119" name="Line 32"/>
            <p:cNvSpPr>
              <a:spLocks noChangeShapeType="1"/>
            </p:cNvSpPr>
            <p:nvPr/>
          </p:nvSpPr>
          <p:spPr bwMode="auto">
            <a:xfrm>
              <a:off x="3788" y="1842"/>
              <a:ext cx="1406" cy="0"/>
            </a:xfrm>
            <a:prstGeom prst="line">
              <a:avLst/>
            </a:prstGeom>
            <a:noFill/>
            <a:ln w="25400" cap="rnd">
              <a:solidFill>
                <a:srgbClr val="008080"/>
              </a:solidFill>
              <a:prstDash val="sysDot"/>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4120" name="Rectangle 33"/>
            <p:cNvSpPr>
              <a:spLocks noChangeArrowheads="1"/>
            </p:cNvSpPr>
            <p:nvPr/>
          </p:nvSpPr>
          <p:spPr bwMode="auto">
            <a:xfrm>
              <a:off x="5012" y="2613"/>
              <a:ext cx="590" cy="499"/>
            </a:xfrm>
            <a:prstGeom prst="rect">
              <a:avLst/>
            </a:prstGeom>
            <a:solidFill>
              <a:srgbClr val="99CCFF"/>
            </a:solidFill>
            <a:ln w="9525">
              <a:solidFill>
                <a:srgbClr val="666699"/>
              </a:solidFill>
              <a:miter lim="800000"/>
              <a:headEnd/>
              <a:tailEnd/>
            </a:ln>
          </p:spPr>
          <p:txBody>
            <a:bodyPr wrap="none" anchor="ctr"/>
            <a:lstStyle/>
            <a:p>
              <a:pPr algn="ctr">
                <a:lnSpc>
                  <a:spcPct val="50000"/>
                </a:lnSpc>
              </a:pPr>
              <a:r>
                <a:rPr lang="en-US" altLang="zh-CN" b="0">
                  <a:latin typeface="Times New Roman" pitchFamily="18" charset="0"/>
                </a:rPr>
                <a:t>……</a:t>
              </a:r>
              <a:br>
                <a:rPr lang="en-US" altLang="zh-CN" b="0"/>
              </a:br>
              <a:r>
                <a:rPr lang="en-US" altLang="zh-CN" b="0">
                  <a:latin typeface="Times New Roman" pitchFamily="18" charset="0"/>
                </a:rPr>
                <a:t>……</a:t>
              </a:r>
              <a:br>
                <a:rPr lang="en-US" altLang="zh-CN" b="0"/>
              </a:br>
              <a:r>
                <a:rPr lang="en-US" altLang="zh-CN" b="0">
                  <a:latin typeface="Times New Roman" pitchFamily="18" charset="0"/>
                </a:rPr>
                <a:t>……</a:t>
              </a:r>
              <a:br>
                <a:rPr lang="en-US" altLang="zh-CN" b="0"/>
              </a:br>
              <a:r>
                <a:rPr lang="en-US" altLang="zh-CN" b="0">
                  <a:latin typeface="Times New Roman" pitchFamily="18" charset="0"/>
                </a:rPr>
                <a:t>……</a:t>
              </a:r>
              <a:endParaRPr lang="en-US" altLang="zh-CN" b="0"/>
            </a:p>
          </p:txBody>
        </p:sp>
        <p:grpSp>
          <p:nvGrpSpPr>
            <p:cNvPr id="4121" name="Group 34"/>
            <p:cNvGrpSpPr>
              <a:grpSpLocks/>
            </p:cNvGrpSpPr>
            <p:nvPr/>
          </p:nvGrpSpPr>
          <p:grpSpPr bwMode="auto">
            <a:xfrm>
              <a:off x="784" y="1615"/>
              <a:ext cx="952" cy="454"/>
              <a:chOff x="784" y="1615"/>
              <a:chExt cx="952" cy="454"/>
            </a:xfrm>
          </p:grpSpPr>
          <p:sp>
            <p:nvSpPr>
              <p:cNvPr id="4133" name="Rectangle 35"/>
              <p:cNvSpPr>
                <a:spLocks noChangeArrowheads="1"/>
              </p:cNvSpPr>
              <p:nvPr/>
            </p:nvSpPr>
            <p:spPr bwMode="auto">
              <a:xfrm>
                <a:off x="818" y="1615"/>
                <a:ext cx="635" cy="454"/>
              </a:xfrm>
              <a:prstGeom prst="rect">
                <a:avLst/>
              </a:prstGeom>
              <a:solidFill>
                <a:srgbClr val="808080"/>
              </a:solidFill>
              <a:ln w="9525">
                <a:solidFill>
                  <a:srgbClr val="333333"/>
                </a:solidFill>
                <a:miter lim="800000"/>
                <a:headEnd/>
                <a:tailEnd/>
              </a:ln>
            </p:spPr>
            <p:txBody>
              <a:bodyPr wrap="none" anchor="ctr"/>
              <a:lstStyle/>
              <a:p>
                <a:endParaRPr lang="zh-CN" altLang="en-US"/>
              </a:p>
            </p:txBody>
          </p:sp>
          <p:pic>
            <p:nvPicPr>
              <p:cNvPr id="4134" name="Picture 36"/>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84" y="1657"/>
                <a:ext cx="952"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4122" name="Group 37"/>
            <p:cNvGrpSpPr>
              <a:grpSpLocks/>
            </p:cNvGrpSpPr>
            <p:nvPr/>
          </p:nvGrpSpPr>
          <p:grpSpPr bwMode="auto">
            <a:xfrm>
              <a:off x="113" y="1117"/>
              <a:ext cx="5262" cy="1649"/>
              <a:chOff x="113" y="1117"/>
              <a:chExt cx="5262" cy="1649"/>
            </a:xfrm>
          </p:grpSpPr>
          <p:sp>
            <p:nvSpPr>
              <p:cNvPr id="781350" name="Text Box 38"/>
              <p:cNvSpPr txBox="1">
                <a:spLocks noChangeArrowheads="1"/>
              </p:cNvSpPr>
              <p:nvPr/>
            </p:nvSpPr>
            <p:spPr bwMode="auto">
              <a:xfrm>
                <a:off x="113" y="1162"/>
                <a:ext cx="226" cy="288"/>
              </a:xfrm>
              <a:prstGeom prst="rect">
                <a:avLst/>
              </a:prstGeom>
              <a:noFill/>
              <a:ln w="9525">
                <a:noFill/>
                <a:miter lim="800000"/>
                <a:headEnd/>
                <a:tailEnd/>
              </a:ln>
              <a:effec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spcBef>
                    <a:spcPct val="50000"/>
                  </a:spcBef>
                </a:pPr>
                <a:r>
                  <a:rPr lang="en-US" altLang="zh-CN">
                    <a:solidFill>
                      <a:schemeClr val="bg2"/>
                    </a:solidFill>
                    <a:effectLst>
                      <a:outerShdw blurRad="38100" dist="38100" dir="2700000" algn="tl">
                        <a:srgbClr val="C0C0C0"/>
                      </a:outerShdw>
                    </a:effectLst>
                  </a:rPr>
                  <a:t>1</a:t>
                </a:r>
              </a:p>
            </p:txBody>
          </p:sp>
          <p:sp>
            <p:nvSpPr>
              <p:cNvPr id="781351" name="Text Box 39"/>
              <p:cNvSpPr txBox="1">
                <a:spLocks noChangeArrowheads="1"/>
              </p:cNvSpPr>
              <p:nvPr/>
            </p:nvSpPr>
            <p:spPr bwMode="auto">
              <a:xfrm>
                <a:off x="113" y="1827"/>
                <a:ext cx="226" cy="288"/>
              </a:xfrm>
              <a:prstGeom prst="rect">
                <a:avLst/>
              </a:prstGeom>
              <a:noFill/>
              <a:ln w="9525">
                <a:noFill/>
                <a:miter lim="800000"/>
                <a:headEnd/>
                <a:tailEnd/>
              </a:ln>
              <a:effec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spcBef>
                    <a:spcPct val="50000"/>
                  </a:spcBef>
                </a:pPr>
                <a:r>
                  <a:rPr lang="en-US" altLang="zh-CN">
                    <a:solidFill>
                      <a:schemeClr val="bg2"/>
                    </a:solidFill>
                    <a:effectLst>
                      <a:outerShdw blurRad="38100" dist="38100" dir="2700000" algn="tl">
                        <a:srgbClr val="C0C0C0"/>
                      </a:outerShdw>
                    </a:effectLst>
                  </a:rPr>
                  <a:t>2</a:t>
                </a:r>
              </a:p>
            </p:txBody>
          </p:sp>
          <p:sp>
            <p:nvSpPr>
              <p:cNvPr id="781352" name="Text Box 40"/>
              <p:cNvSpPr txBox="1">
                <a:spLocks noChangeArrowheads="1"/>
              </p:cNvSpPr>
              <p:nvPr/>
            </p:nvSpPr>
            <p:spPr bwMode="auto">
              <a:xfrm>
                <a:off x="884" y="1480"/>
                <a:ext cx="226" cy="288"/>
              </a:xfrm>
              <a:prstGeom prst="rect">
                <a:avLst/>
              </a:prstGeom>
              <a:noFill/>
              <a:ln w="9525">
                <a:noFill/>
                <a:miter lim="800000"/>
                <a:headEnd/>
                <a:tailEnd/>
              </a:ln>
              <a:effec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spcBef>
                    <a:spcPct val="50000"/>
                  </a:spcBef>
                </a:pPr>
                <a:r>
                  <a:rPr lang="en-US" altLang="zh-CN">
                    <a:effectLst>
                      <a:outerShdw blurRad="38100" dist="38100" dir="2700000" algn="tl">
                        <a:srgbClr val="C0C0C0"/>
                      </a:outerShdw>
                    </a:effectLst>
                  </a:rPr>
                  <a:t>3</a:t>
                </a:r>
              </a:p>
            </p:txBody>
          </p:sp>
          <p:sp>
            <p:nvSpPr>
              <p:cNvPr id="781353" name="Text Box 41"/>
              <p:cNvSpPr txBox="1">
                <a:spLocks noChangeArrowheads="1"/>
              </p:cNvSpPr>
              <p:nvPr/>
            </p:nvSpPr>
            <p:spPr bwMode="auto">
              <a:xfrm>
                <a:off x="1701" y="1464"/>
                <a:ext cx="226" cy="288"/>
              </a:xfrm>
              <a:prstGeom prst="rect">
                <a:avLst/>
              </a:prstGeom>
              <a:noFill/>
              <a:ln w="9525">
                <a:noFill/>
                <a:miter lim="800000"/>
                <a:headEnd/>
                <a:tailEnd/>
              </a:ln>
              <a:effec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spcBef>
                    <a:spcPct val="50000"/>
                  </a:spcBef>
                </a:pPr>
                <a:r>
                  <a:rPr lang="en-US" altLang="zh-CN">
                    <a:effectLst>
                      <a:outerShdw blurRad="38100" dist="38100" dir="2700000" algn="tl">
                        <a:srgbClr val="C0C0C0"/>
                      </a:outerShdw>
                    </a:effectLst>
                  </a:rPr>
                  <a:t>4</a:t>
                </a:r>
              </a:p>
            </p:txBody>
          </p:sp>
          <p:sp>
            <p:nvSpPr>
              <p:cNvPr id="781354" name="Text Box 42"/>
              <p:cNvSpPr txBox="1">
                <a:spLocks noChangeArrowheads="1"/>
              </p:cNvSpPr>
              <p:nvPr/>
            </p:nvSpPr>
            <p:spPr bwMode="auto">
              <a:xfrm>
                <a:off x="2472" y="1162"/>
                <a:ext cx="226" cy="288"/>
              </a:xfrm>
              <a:prstGeom prst="rect">
                <a:avLst/>
              </a:prstGeom>
              <a:noFill/>
              <a:ln w="9525">
                <a:noFill/>
                <a:miter lim="800000"/>
                <a:headEnd/>
                <a:tailEnd/>
              </a:ln>
              <a:effec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spcBef>
                    <a:spcPct val="50000"/>
                  </a:spcBef>
                </a:pPr>
                <a:r>
                  <a:rPr lang="en-US" altLang="zh-CN">
                    <a:solidFill>
                      <a:schemeClr val="hlink"/>
                    </a:solidFill>
                    <a:effectLst>
                      <a:outerShdw blurRad="38100" dist="38100" dir="2700000" algn="tl">
                        <a:srgbClr val="C0C0C0"/>
                      </a:outerShdw>
                    </a:effectLst>
                  </a:rPr>
                  <a:t>5</a:t>
                </a:r>
              </a:p>
            </p:txBody>
          </p:sp>
          <p:sp>
            <p:nvSpPr>
              <p:cNvPr id="781355" name="Text Box 43"/>
              <p:cNvSpPr txBox="1">
                <a:spLocks noChangeArrowheads="1"/>
              </p:cNvSpPr>
              <p:nvPr/>
            </p:nvSpPr>
            <p:spPr bwMode="auto">
              <a:xfrm>
                <a:off x="3334" y="1373"/>
                <a:ext cx="226" cy="288"/>
              </a:xfrm>
              <a:prstGeom prst="rect">
                <a:avLst/>
              </a:prstGeom>
              <a:noFill/>
              <a:ln w="9525">
                <a:noFill/>
                <a:miter lim="800000"/>
                <a:headEnd/>
                <a:tailEnd/>
              </a:ln>
              <a:effec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spcBef>
                    <a:spcPct val="50000"/>
                  </a:spcBef>
                </a:pPr>
                <a:r>
                  <a:rPr lang="en-US" altLang="zh-CN">
                    <a:solidFill>
                      <a:srgbClr val="A50021"/>
                    </a:solidFill>
                    <a:effectLst>
                      <a:outerShdw blurRad="38100" dist="38100" dir="2700000" algn="tl">
                        <a:srgbClr val="C0C0C0"/>
                      </a:outerShdw>
                    </a:effectLst>
                  </a:rPr>
                  <a:t>6</a:t>
                </a:r>
              </a:p>
            </p:txBody>
          </p:sp>
          <p:sp>
            <p:nvSpPr>
              <p:cNvPr id="781356" name="Text Box 44"/>
              <p:cNvSpPr txBox="1">
                <a:spLocks noChangeArrowheads="1"/>
              </p:cNvSpPr>
              <p:nvPr/>
            </p:nvSpPr>
            <p:spPr bwMode="auto">
              <a:xfrm>
                <a:off x="3334" y="1963"/>
                <a:ext cx="226" cy="288"/>
              </a:xfrm>
              <a:prstGeom prst="rect">
                <a:avLst/>
              </a:prstGeom>
              <a:noFill/>
              <a:ln w="9525">
                <a:noFill/>
                <a:miter lim="800000"/>
                <a:headEnd/>
                <a:tailEnd/>
              </a:ln>
              <a:effec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spcBef>
                    <a:spcPct val="50000"/>
                  </a:spcBef>
                </a:pPr>
                <a:r>
                  <a:rPr lang="en-US" altLang="zh-CN">
                    <a:solidFill>
                      <a:srgbClr val="A50021"/>
                    </a:solidFill>
                    <a:effectLst>
                      <a:outerShdw blurRad="38100" dist="38100" dir="2700000" algn="tl">
                        <a:srgbClr val="C0C0C0"/>
                      </a:outerShdw>
                    </a:effectLst>
                  </a:rPr>
                  <a:t>7</a:t>
                </a:r>
              </a:p>
            </p:txBody>
          </p:sp>
          <p:sp>
            <p:nvSpPr>
              <p:cNvPr id="781357" name="Text Box 45"/>
              <p:cNvSpPr txBox="1">
                <a:spLocks noChangeArrowheads="1"/>
              </p:cNvSpPr>
              <p:nvPr/>
            </p:nvSpPr>
            <p:spPr bwMode="auto">
              <a:xfrm>
                <a:off x="3833" y="1117"/>
                <a:ext cx="226" cy="288"/>
              </a:xfrm>
              <a:prstGeom prst="rect">
                <a:avLst/>
              </a:prstGeom>
              <a:noFill/>
              <a:ln w="9525">
                <a:noFill/>
                <a:miter lim="800000"/>
                <a:headEnd/>
                <a:tailEnd/>
              </a:ln>
              <a:effec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spcBef>
                    <a:spcPct val="50000"/>
                  </a:spcBef>
                </a:pPr>
                <a:r>
                  <a:rPr lang="en-US" altLang="zh-CN">
                    <a:solidFill>
                      <a:srgbClr val="A50021"/>
                    </a:solidFill>
                    <a:effectLst>
                      <a:outerShdw blurRad="38100" dist="38100" dir="2700000" algn="tl">
                        <a:srgbClr val="C0C0C0"/>
                      </a:outerShdw>
                    </a:effectLst>
                  </a:rPr>
                  <a:t>8</a:t>
                </a:r>
              </a:p>
            </p:txBody>
          </p:sp>
          <p:sp>
            <p:nvSpPr>
              <p:cNvPr id="781358" name="Text Box 46"/>
              <p:cNvSpPr txBox="1">
                <a:spLocks noChangeArrowheads="1"/>
              </p:cNvSpPr>
              <p:nvPr/>
            </p:nvSpPr>
            <p:spPr bwMode="auto">
              <a:xfrm>
                <a:off x="3833" y="2251"/>
                <a:ext cx="226" cy="288"/>
              </a:xfrm>
              <a:prstGeom prst="rect">
                <a:avLst/>
              </a:prstGeom>
              <a:noFill/>
              <a:ln w="9525">
                <a:noFill/>
                <a:miter lim="800000"/>
                <a:headEnd/>
                <a:tailEnd/>
              </a:ln>
              <a:effec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spcBef>
                    <a:spcPct val="50000"/>
                  </a:spcBef>
                </a:pPr>
                <a:r>
                  <a:rPr lang="en-US" altLang="zh-CN">
                    <a:solidFill>
                      <a:srgbClr val="A50021"/>
                    </a:solidFill>
                    <a:effectLst>
                      <a:outerShdw blurRad="38100" dist="38100" dir="2700000" algn="tl">
                        <a:srgbClr val="C0C0C0"/>
                      </a:outerShdw>
                    </a:effectLst>
                  </a:rPr>
                  <a:t>9</a:t>
                </a:r>
              </a:p>
            </p:txBody>
          </p:sp>
          <p:sp>
            <p:nvSpPr>
              <p:cNvPr id="781359" name="Text Box 47"/>
              <p:cNvSpPr txBox="1">
                <a:spLocks noChangeArrowheads="1"/>
              </p:cNvSpPr>
              <p:nvPr/>
            </p:nvSpPr>
            <p:spPr bwMode="auto">
              <a:xfrm>
                <a:off x="5012" y="2478"/>
                <a:ext cx="363" cy="288"/>
              </a:xfrm>
              <a:prstGeom prst="rect">
                <a:avLst/>
              </a:prstGeom>
              <a:noFill/>
              <a:ln w="9525">
                <a:noFill/>
                <a:miter lim="800000"/>
                <a:headEnd/>
                <a:tailEnd/>
              </a:ln>
              <a:effectLst/>
            </p:spPr>
            <p:txBody>
              <a:bodyPr>
                <a:spAutoFit/>
              </a:bodyPr>
              <a:lstStyle/>
              <a:p>
                <a:pPr>
                  <a:spcBef>
                    <a:spcPct val="50000"/>
                  </a:spcBef>
                  <a:defRPr/>
                </a:pPr>
                <a:r>
                  <a:rPr lang="en-US" altLang="zh-CN">
                    <a:solidFill>
                      <a:srgbClr val="A50021"/>
                    </a:solidFill>
                    <a:effectLst>
                      <a:outerShdw blurRad="38100" dist="38100" dir="2700000" algn="tl">
                        <a:srgbClr val="C0C0C0"/>
                      </a:outerShdw>
                    </a:effectLst>
                  </a:rPr>
                  <a:t>10</a:t>
                </a:r>
              </a:p>
            </p:txBody>
          </p:sp>
        </p:grpSp>
      </p:grpSp>
      <p:sp>
        <p:nvSpPr>
          <p:cNvPr id="781360" name="Rectangle 48"/>
          <p:cNvSpPr>
            <a:spLocks noChangeArrowheads="1"/>
          </p:cNvSpPr>
          <p:nvPr/>
        </p:nvSpPr>
        <p:spPr bwMode="auto">
          <a:xfrm>
            <a:off x="5375275" y="2133600"/>
            <a:ext cx="1296988" cy="1582738"/>
          </a:xfrm>
          <a:prstGeom prst="rect">
            <a:avLst/>
          </a:prstGeom>
          <a:noFill/>
          <a:ln w="3175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81360"/>
                                        </p:tgtEl>
                                        <p:attrNameLst>
                                          <p:attrName>style.visibility</p:attrName>
                                        </p:attrNameLst>
                                      </p:cBhvr>
                                      <p:to>
                                        <p:strVal val="visible"/>
                                      </p:to>
                                    </p:set>
                                    <p:animEffect transition="in" filter="dissolve">
                                      <p:cBhvr>
                                        <p:cTn id="7" dur="500"/>
                                        <p:tgtEl>
                                          <p:spTgt spid="7813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136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82" name="Rectangle 2"/>
          <p:cNvSpPr>
            <a:spLocks noGrp="1" noChangeArrowheads="1"/>
          </p:cNvSpPr>
          <p:nvPr>
            <p:ph type="ctrTitle"/>
          </p:nvPr>
        </p:nvSpPr>
        <p:spPr/>
        <p:txBody>
          <a:bodyPr/>
          <a:lstStyle/>
          <a:p>
            <a:pPr eaLnBrk="1" hangingPunct="1">
              <a:defRPr/>
            </a:pPr>
            <a:r>
              <a:rPr lang="zh-CN" altLang="en-US" dirty="0">
                <a:ea typeface="华文楷体" pitchFamily="2" charset="-122"/>
              </a:rPr>
              <a:t>第</a:t>
            </a:r>
            <a:r>
              <a:rPr lang="en-US" altLang="zh-CN" dirty="0">
                <a:ea typeface="华文楷体" pitchFamily="2" charset="-122"/>
              </a:rPr>
              <a:t>05</a:t>
            </a:r>
            <a:r>
              <a:rPr lang="zh-CN" altLang="en-US" dirty="0">
                <a:ea typeface="华文楷体" pitchFamily="2" charset="-122"/>
              </a:rPr>
              <a:t>章 用例分析</a:t>
            </a:r>
            <a:endParaRPr lang="en-US" altLang="zh-CN" dirty="0">
              <a:ea typeface="华文楷体" pitchFamily="2" charset="-122"/>
            </a:endParaRPr>
          </a:p>
        </p:txBody>
      </p:sp>
      <p:sp>
        <p:nvSpPr>
          <p:cNvPr id="5123" name="Rectangle 3"/>
          <p:cNvSpPr>
            <a:spLocks noGrp="1" noChangeArrowheads="1"/>
          </p:cNvSpPr>
          <p:nvPr>
            <p:ph type="subTitle" idx="1"/>
          </p:nvPr>
        </p:nvSpPr>
        <p:spPr>
          <a:xfrm>
            <a:off x="1524000" y="3860800"/>
            <a:ext cx="9144000" cy="1752600"/>
          </a:xfrm>
        </p:spPr>
        <p:txBody>
          <a:bodyPr/>
          <a:lstStyle/>
          <a:p>
            <a:pPr eaLnBrk="1" hangingPunct="1"/>
            <a:r>
              <a:rPr lang="en-US" altLang="zh-CN" i="1" dirty="0">
                <a:solidFill>
                  <a:srgbClr val="003399"/>
                </a:solidFill>
              </a:rPr>
              <a:t>Use Case Analysis</a:t>
            </a:r>
            <a:endParaRPr lang="zh-CN" altLang="en-US" i="1" dirty="0">
              <a:solidFill>
                <a:srgbClr val="00339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4F0FB7D6-B3B6-4355-90A9-788A5A375D89}" type="slidenum">
              <a:rPr lang="en-US" altLang="zh-CN" sz="1200" b="0">
                <a:solidFill>
                  <a:srgbClr val="4D4D4D"/>
                </a:solidFill>
                <a:latin typeface="Arial" charset="0"/>
              </a:rPr>
              <a:pPr eaLnBrk="1" hangingPunct="1"/>
              <a:t>4</a:t>
            </a:fld>
            <a:r>
              <a:rPr lang="en-US" altLang="zh-CN" sz="1200" b="0">
                <a:solidFill>
                  <a:srgbClr val="4D4D4D"/>
                </a:solidFill>
                <a:latin typeface="Arial" charset="0"/>
              </a:rPr>
              <a:t>-</a:t>
            </a:r>
          </a:p>
        </p:txBody>
      </p:sp>
      <p:sp>
        <p:nvSpPr>
          <p:cNvPr id="6147" name="Rectangle 2"/>
          <p:cNvSpPr>
            <a:spLocks noGrp="1" noChangeArrowheads="1"/>
          </p:cNvSpPr>
          <p:nvPr>
            <p:ph type="title"/>
          </p:nvPr>
        </p:nvSpPr>
        <p:spPr/>
        <p:txBody>
          <a:bodyPr/>
          <a:lstStyle/>
          <a:p>
            <a:pPr eaLnBrk="1" hangingPunct="1"/>
            <a:r>
              <a:rPr lang="zh-CN" altLang="en-US"/>
              <a:t>内容安排</a:t>
            </a:r>
            <a:endParaRPr lang="en-US" altLang="zh-CN"/>
          </a:p>
        </p:txBody>
      </p:sp>
      <p:sp>
        <p:nvSpPr>
          <p:cNvPr id="6148" name="Rectangle 3"/>
          <p:cNvSpPr>
            <a:spLocks noGrp="1" noChangeArrowheads="1"/>
          </p:cNvSpPr>
          <p:nvPr>
            <p:ph type="body" idx="1"/>
          </p:nvPr>
        </p:nvSpPr>
        <p:spPr/>
        <p:txBody>
          <a:bodyPr/>
          <a:lstStyle/>
          <a:p>
            <a:pPr eaLnBrk="1" hangingPunct="1"/>
            <a:r>
              <a:rPr lang="zh-CN" altLang="en-US" dirty="0"/>
              <a:t>理解分析</a:t>
            </a:r>
          </a:p>
          <a:p>
            <a:pPr eaLnBrk="1" hangingPunct="1"/>
            <a:r>
              <a:rPr kumimoji="0" lang="zh-CN" altLang="en-US" dirty="0"/>
              <a:t>从用例开始分析</a:t>
            </a:r>
          </a:p>
          <a:p>
            <a:pPr eaLnBrk="1" hangingPunct="1"/>
            <a:r>
              <a:rPr kumimoji="0" lang="zh-CN" altLang="en-US" dirty="0"/>
              <a:t>架构分析</a:t>
            </a:r>
          </a:p>
          <a:p>
            <a:pPr eaLnBrk="1" hangingPunct="1"/>
            <a:r>
              <a:rPr kumimoji="0" lang="zh-CN" altLang="en-US" dirty="0"/>
              <a:t>构造用例实现</a:t>
            </a:r>
          </a:p>
          <a:p>
            <a:pPr eaLnBrk="1" hangingPunct="1"/>
            <a:r>
              <a:rPr kumimoji="0" lang="zh-CN" altLang="en-US" dirty="0"/>
              <a:t>定义分析类</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5A95F11A-FC7F-4EEA-A1BD-FA55239FFB15}" type="slidenum">
              <a:rPr lang="en-US" altLang="zh-CN" sz="1200" b="0">
                <a:solidFill>
                  <a:srgbClr val="4D4D4D"/>
                </a:solidFill>
                <a:latin typeface="Arial" charset="0"/>
              </a:rPr>
              <a:pPr eaLnBrk="1" hangingPunct="1"/>
              <a:t>5</a:t>
            </a:fld>
            <a:r>
              <a:rPr lang="en-US" altLang="zh-CN" sz="1200" b="0">
                <a:solidFill>
                  <a:srgbClr val="4D4D4D"/>
                </a:solidFill>
                <a:latin typeface="Arial" charset="0"/>
              </a:rPr>
              <a:t>-</a:t>
            </a:r>
          </a:p>
        </p:txBody>
      </p:sp>
      <p:sp>
        <p:nvSpPr>
          <p:cNvPr id="7171" name="Rectangle 2"/>
          <p:cNvSpPr>
            <a:spLocks noGrp="1" noChangeArrowheads="1"/>
          </p:cNvSpPr>
          <p:nvPr>
            <p:ph type="title"/>
          </p:nvPr>
        </p:nvSpPr>
        <p:spPr/>
        <p:txBody>
          <a:bodyPr/>
          <a:lstStyle/>
          <a:p>
            <a:pPr eaLnBrk="1" hangingPunct="1"/>
            <a:r>
              <a:rPr lang="zh-CN" altLang="en-US"/>
              <a:t>内容安排</a:t>
            </a:r>
            <a:endParaRPr lang="en-US" altLang="zh-CN"/>
          </a:p>
        </p:txBody>
      </p:sp>
      <p:sp>
        <p:nvSpPr>
          <p:cNvPr id="692227" name="Rectangle 3"/>
          <p:cNvSpPr>
            <a:spLocks noGrp="1" noChangeArrowheads="1"/>
          </p:cNvSpPr>
          <p:nvPr>
            <p:ph type="body" idx="1"/>
          </p:nvPr>
        </p:nvSpPr>
        <p:spPr/>
        <p:txBody>
          <a:bodyPr/>
          <a:lstStyle/>
          <a:p>
            <a:pPr eaLnBrk="1" hangingPunct="1">
              <a:defRPr/>
            </a:pPr>
            <a:r>
              <a:rPr lang="zh-CN" altLang="en-US" dirty="0">
                <a:solidFill>
                  <a:schemeClr val="hlink"/>
                </a:solidFill>
                <a:effectLst>
                  <a:outerShdw blurRad="38100" dist="38100" dir="2700000" algn="tl">
                    <a:srgbClr val="C0C0C0"/>
                  </a:outerShdw>
                </a:effectLst>
              </a:rPr>
              <a:t>理解分析</a:t>
            </a:r>
          </a:p>
          <a:p>
            <a:pPr eaLnBrk="1" hangingPunct="1">
              <a:defRPr/>
            </a:pPr>
            <a:r>
              <a:rPr kumimoji="0" lang="zh-CN" altLang="en-US" dirty="0"/>
              <a:t>从用例开始分析</a:t>
            </a:r>
          </a:p>
          <a:p>
            <a:pPr eaLnBrk="1" hangingPunct="1">
              <a:defRPr/>
            </a:pPr>
            <a:r>
              <a:rPr kumimoji="0" lang="zh-CN" altLang="en-US" dirty="0"/>
              <a:t>架构分析</a:t>
            </a:r>
          </a:p>
          <a:p>
            <a:pPr eaLnBrk="1" hangingPunct="1">
              <a:defRPr/>
            </a:pPr>
            <a:r>
              <a:rPr kumimoji="0" lang="zh-CN" altLang="en-US" dirty="0"/>
              <a:t>构造用例实现</a:t>
            </a:r>
          </a:p>
          <a:p>
            <a:pPr eaLnBrk="1" hangingPunct="1">
              <a:defRPr/>
            </a:pPr>
            <a:r>
              <a:rPr kumimoji="0" lang="zh-CN" altLang="en-US" dirty="0"/>
              <a:t>定义分析类</a:t>
            </a:r>
            <a:endParaRPr kumimoji="0" lang="en-US" altLang="zh-C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8641AA6F-B19E-49E0-9143-AFDBC1363367}" type="slidenum">
              <a:rPr lang="en-US" altLang="zh-CN" sz="1200" b="0">
                <a:solidFill>
                  <a:srgbClr val="4D4D4D"/>
                </a:solidFill>
                <a:latin typeface="Arial" charset="0"/>
              </a:rPr>
              <a:pPr eaLnBrk="1" hangingPunct="1"/>
              <a:t>6</a:t>
            </a:fld>
            <a:r>
              <a:rPr lang="en-US" altLang="zh-CN" sz="1200" b="0">
                <a:solidFill>
                  <a:srgbClr val="4D4D4D"/>
                </a:solidFill>
                <a:latin typeface="Arial" charset="0"/>
              </a:rPr>
              <a:t>-</a:t>
            </a:r>
          </a:p>
        </p:txBody>
      </p:sp>
      <p:sp>
        <p:nvSpPr>
          <p:cNvPr id="8195" name="Rectangle 2"/>
          <p:cNvSpPr>
            <a:spLocks noGrp="1" noChangeArrowheads="1"/>
          </p:cNvSpPr>
          <p:nvPr>
            <p:ph type="title"/>
          </p:nvPr>
        </p:nvSpPr>
        <p:spPr/>
        <p:txBody>
          <a:bodyPr/>
          <a:lstStyle/>
          <a:p>
            <a:pPr eaLnBrk="1" hangingPunct="1"/>
            <a:r>
              <a:rPr lang="zh-CN" altLang="en-US"/>
              <a:t>分析</a:t>
            </a:r>
            <a:endParaRPr lang="en-US" altLang="zh-CN"/>
          </a:p>
        </p:txBody>
      </p:sp>
      <p:sp>
        <p:nvSpPr>
          <p:cNvPr id="694275" name="Rectangle 3"/>
          <p:cNvSpPr>
            <a:spLocks noGrp="1" noChangeArrowheads="1"/>
          </p:cNvSpPr>
          <p:nvPr>
            <p:ph type="body" idx="1"/>
          </p:nvPr>
        </p:nvSpPr>
        <p:spPr/>
        <p:txBody>
          <a:bodyPr/>
          <a:lstStyle/>
          <a:p>
            <a:pPr eaLnBrk="1" hangingPunct="1">
              <a:lnSpc>
                <a:spcPct val="90000"/>
              </a:lnSpc>
              <a:defRPr/>
            </a:pPr>
            <a:r>
              <a:rPr lang="zh-CN" altLang="en-US" dirty="0"/>
              <a:t>分析</a:t>
            </a:r>
          </a:p>
          <a:p>
            <a:pPr lvl="1" eaLnBrk="1" hangingPunct="1">
              <a:lnSpc>
                <a:spcPct val="90000"/>
              </a:lnSpc>
              <a:defRPr/>
            </a:pPr>
            <a:r>
              <a:rPr lang="zh-CN" altLang="en-US" dirty="0"/>
              <a:t>为了满足需求模型中所描述的功能，系统内部应该有什么样的业务核心机制</a:t>
            </a:r>
            <a:r>
              <a:rPr lang="en-US" altLang="zh-CN" dirty="0"/>
              <a:t>(</a:t>
            </a:r>
            <a:r>
              <a:rPr lang="zh-CN" altLang="en-US" dirty="0"/>
              <a:t>做什么？</a:t>
            </a:r>
            <a:r>
              <a:rPr lang="en-US" altLang="zh-CN" dirty="0"/>
              <a:t>)</a:t>
            </a:r>
          </a:p>
          <a:p>
            <a:pPr eaLnBrk="1" hangingPunct="1">
              <a:lnSpc>
                <a:spcPct val="90000"/>
              </a:lnSpc>
              <a:defRPr/>
            </a:pPr>
            <a:r>
              <a:rPr lang="zh-CN" altLang="en-US" dirty="0"/>
              <a:t>分析的目标开发一系列模型，</a:t>
            </a:r>
            <a:r>
              <a:rPr lang="zh-CN" altLang="en-US"/>
              <a:t>以描述软件</a:t>
            </a:r>
            <a:r>
              <a:rPr lang="zh-CN" altLang="en-US" dirty="0"/>
              <a:t>核心成分，从而满足客户定义的需求：</a:t>
            </a:r>
            <a:r>
              <a:rPr lang="zh-CN" altLang="en-US" u="sng" dirty="0">
                <a:solidFill>
                  <a:schemeClr val="hlink"/>
                </a:solidFill>
                <a:effectLst>
                  <a:outerShdw blurRad="38100" dist="38100" dir="2700000" algn="tl">
                    <a:srgbClr val="C0C0C0"/>
                  </a:outerShdw>
                </a:effectLst>
              </a:rPr>
              <a:t>分析模型</a:t>
            </a:r>
          </a:p>
          <a:p>
            <a:pPr lvl="1" eaLnBrk="1" hangingPunct="1">
              <a:lnSpc>
                <a:spcPct val="90000"/>
              </a:lnSpc>
              <a:defRPr/>
            </a:pPr>
            <a:r>
              <a:rPr lang="zh-CN" altLang="en-US" dirty="0"/>
              <a:t>包括两个层次：架构分析和用例分析</a:t>
            </a:r>
            <a:endParaRPr lang="en-US" altLang="zh-CN" dirty="0"/>
          </a:p>
          <a:p>
            <a:pPr lvl="1" eaLnBrk="1" hangingPunct="1">
              <a:lnSpc>
                <a:spcPct val="90000"/>
              </a:lnSpc>
              <a:defRPr/>
            </a:pPr>
            <a:r>
              <a:rPr lang="zh-CN" altLang="en-US" dirty="0"/>
              <a:t>包括两类模型：静态结构</a:t>
            </a:r>
            <a:r>
              <a:rPr lang="en-US" altLang="zh-CN" dirty="0"/>
              <a:t>(</a:t>
            </a:r>
            <a:r>
              <a:rPr lang="zh-CN" altLang="en-US" dirty="0"/>
              <a:t>包图、类图</a:t>
            </a:r>
            <a:r>
              <a:rPr lang="en-US" altLang="zh-CN" dirty="0"/>
              <a:t>)</a:t>
            </a:r>
            <a:r>
              <a:rPr lang="zh-CN" altLang="en-US" dirty="0"/>
              <a:t>和动态交互</a:t>
            </a:r>
            <a:r>
              <a:rPr lang="en-US" altLang="zh-CN" dirty="0"/>
              <a:t>(</a:t>
            </a:r>
            <a:r>
              <a:rPr lang="zh-CN" altLang="en-US" dirty="0"/>
              <a:t>顺序图、通信图</a:t>
            </a:r>
            <a:r>
              <a:rPr lang="en-US" altLang="zh-CN" dirty="0"/>
              <a:t>)</a:t>
            </a:r>
          </a:p>
          <a:p>
            <a:pPr lvl="1" eaLnBrk="1" hangingPunct="1">
              <a:lnSpc>
                <a:spcPct val="90000"/>
              </a:lnSpc>
              <a:defRPr/>
            </a:pPr>
            <a:r>
              <a:rPr lang="zh-CN" altLang="en-US" dirty="0"/>
              <a:t>模型元素按照架构来组织，各类视图按照</a:t>
            </a:r>
            <a:r>
              <a:rPr lang="zh-CN" altLang="en-US" dirty="0">
                <a:solidFill>
                  <a:schemeClr val="hlink"/>
                </a:solidFill>
              </a:rPr>
              <a:t>用例实现</a:t>
            </a:r>
            <a:r>
              <a:rPr lang="en-US" altLang="zh-CN" dirty="0">
                <a:solidFill>
                  <a:schemeClr val="tx2"/>
                </a:solidFill>
              </a:rPr>
              <a:t>(</a:t>
            </a:r>
            <a:r>
              <a:rPr lang="zh-CN" altLang="en-US" dirty="0">
                <a:solidFill>
                  <a:schemeClr val="tx2"/>
                </a:solidFill>
              </a:rPr>
              <a:t>协作</a:t>
            </a:r>
            <a:r>
              <a:rPr lang="en-US" altLang="zh-CN" dirty="0">
                <a:solidFill>
                  <a:schemeClr val="tx2"/>
                </a:solidFill>
              </a:rPr>
              <a:t>)</a:t>
            </a:r>
            <a:r>
              <a:rPr lang="zh-CN" altLang="en-US" dirty="0"/>
              <a:t>来组织</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C21B2865-B7DA-41D4-B160-B7117F15505C}" type="slidenum">
              <a:rPr lang="en-US" altLang="zh-CN" sz="1200" b="0">
                <a:solidFill>
                  <a:srgbClr val="4D4D4D"/>
                </a:solidFill>
                <a:latin typeface="Arial" charset="0"/>
              </a:rPr>
              <a:pPr eaLnBrk="1" hangingPunct="1"/>
              <a:t>7</a:t>
            </a:fld>
            <a:r>
              <a:rPr lang="en-US" altLang="zh-CN" sz="1200" b="0">
                <a:solidFill>
                  <a:srgbClr val="4D4D4D"/>
                </a:solidFill>
                <a:latin typeface="Arial" charset="0"/>
              </a:rPr>
              <a:t>-</a:t>
            </a:r>
          </a:p>
        </p:txBody>
      </p:sp>
      <p:sp>
        <p:nvSpPr>
          <p:cNvPr id="9219" name="Rectangle 2"/>
          <p:cNvSpPr>
            <a:spLocks noGrp="1" noChangeArrowheads="1"/>
          </p:cNvSpPr>
          <p:nvPr>
            <p:ph type="title"/>
          </p:nvPr>
        </p:nvSpPr>
        <p:spPr/>
        <p:txBody>
          <a:bodyPr/>
          <a:lstStyle/>
          <a:p>
            <a:pPr eaLnBrk="1" hangingPunct="1"/>
            <a:r>
              <a:rPr lang="zh-CN" altLang="en-US"/>
              <a:t>从需求到分析</a:t>
            </a:r>
          </a:p>
        </p:txBody>
      </p:sp>
      <p:pic>
        <p:nvPicPr>
          <p:cNvPr id="922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4063" y="1579563"/>
            <a:ext cx="3625850" cy="3649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24" name="AutoShape 4"/>
          <p:cNvSpPr>
            <a:spLocks noChangeArrowheads="1"/>
          </p:cNvSpPr>
          <p:nvPr/>
        </p:nvSpPr>
        <p:spPr bwMode="auto">
          <a:xfrm>
            <a:off x="5291138" y="3092450"/>
            <a:ext cx="1871662" cy="863600"/>
          </a:xfrm>
          <a:prstGeom prst="notchedRightArrow">
            <a:avLst>
              <a:gd name="adj1" fmla="val 49778"/>
              <a:gd name="adj2" fmla="val 51543"/>
            </a:avLst>
          </a:prstGeom>
          <a:solidFill>
            <a:srgbClr val="FFFF99"/>
          </a:solidFill>
          <a:ln w="9525">
            <a:solidFill>
              <a:srgbClr val="800000"/>
            </a:solidFill>
            <a:miter lim="800000"/>
            <a:headEnd/>
            <a:tailEnd/>
          </a:ln>
          <a:effectLst/>
        </p:spPr>
        <p:txBody>
          <a:bodyPr wrap="none" anchor="ctr"/>
          <a:lstStyle/>
          <a:p>
            <a:pPr algn="ctr">
              <a:defRPr/>
            </a:pPr>
            <a:r>
              <a:rPr lang="en-US" altLang="zh-CN" sz="2000">
                <a:effectLst>
                  <a:outerShdw blurRad="38100" dist="38100" dir="2700000" algn="tl">
                    <a:srgbClr val="FFFFFF"/>
                  </a:outerShdw>
                </a:effectLst>
              </a:rPr>
              <a:t>Analysis workflow</a:t>
            </a:r>
          </a:p>
        </p:txBody>
      </p:sp>
      <p:grpSp>
        <p:nvGrpSpPr>
          <p:cNvPr id="2" name="Group 5"/>
          <p:cNvGrpSpPr>
            <a:grpSpLocks/>
          </p:cNvGrpSpPr>
          <p:nvPr/>
        </p:nvGrpSpPr>
        <p:grpSpPr bwMode="auto">
          <a:xfrm>
            <a:off x="7234238" y="1579563"/>
            <a:ext cx="2894012" cy="3649662"/>
            <a:chOff x="3597" y="995"/>
            <a:chExt cx="1823" cy="2299"/>
          </a:xfrm>
        </p:grpSpPr>
        <p:pic>
          <p:nvPicPr>
            <p:cNvPr id="9223"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97" y="995"/>
              <a:ext cx="1823" cy="2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96" y="1820"/>
              <a:ext cx="1619" cy="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25" name="Text Box 8"/>
            <p:cNvSpPr txBox="1">
              <a:spLocks noChangeArrowheads="1"/>
            </p:cNvSpPr>
            <p:nvPr/>
          </p:nvSpPr>
          <p:spPr bwMode="auto">
            <a:xfrm>
              <a:off x="4459" y="2966"/>
              <a:ext cx="95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spcBef>
                  <a:spcPct val="50000"/>
                </a:spcBef>
              </a:pPr>
              <a:r>
                <a:rPr lang="en-US" altLang="zh-CN" sz="1400" b="0">
                  <a:latin typeface="Arial" charset="0"/>
                </a:rPr>
                <a:t>Analysis Class</a:t>
              </a:r>
            </a:p>
          </p:txBody>
        </p:sp>
        <p:pic>
          <p:nvPicPr>
            <p:cNvPr id="9226" name="Picture 9"/>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696" y="2614"/>
              <a:ext cx="862" cy="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9227" name="Picture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32" y="2432"/>
              <a:ext cx="998" cy="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9228"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87" y="1428"/>
              <a:ext cx="681" cy="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696324"/>
                                        </p:tgtEl>
                                        <p:attrNameLst>
                                          <p:attrName>style.visibility</p:attrName>
                                        </p:attrNameLst>
                                      </p:cBhvr>
                                      <p:to>
                                        <p:strVal val="visible"/>
                                      </p:to>
                                    </p:set>
                                    <p:animEffect transition="in" filter="strips(downRight)">
                                      <p:cBhvr>
                                        <p:cTn id="7" dur="500"/>
                                        <p:tgtEl>
                                          <p:spTgt spid="6963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dissolve">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632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B0678DFF-9B1E-4CB5-9336-A6C3762516E3}" type="slidenum">
              <a:rPr lang="en-US" altLang="zh-CN" sz="1200" b="0">
                <a:solidFill>
                  <a:srgbClr val="4D4D4D"/>
                </a:solidFill>
                <a:latin typeface="Arial" charset="0"/>
              </a:rPr>
              <a:pPr eaLnBrk="1" hangingPunct="1"/>
              <a:t>8</a:t>
            </a:fld>
            <a:r>
              <a:rPr lang="en-US" altLang="zh-CN" sz="1200" b="0">
                <a:solidFill>
                  <a:srgbClr val="4D4D4D"/>
                </a:solidFill>
                <a:latin typeface="Arial" charset="0"/>
              </a:rPr>
              <a:t>-</a:t>
            </a:r>
          </a:p>
        </p:txBody>
      </p:sp>
      <p:sp>
        <p:nvSpPr>
          <p:cNvPr id="10243" name="Rectangle 2"/>
          <p:cNvSpPr>
            <a:spLocks noGrp="1" noChangeArrowheads="1"/>
          </p:cNvSpPr>
          <p:nvPr>
            <p:ph type="title"/>
          </p:nvPr>
        </p:nvSpPr>
        <p:spPr/>
        <p:txBody>
          <a:bodyPr/>
          <a:lstStyle/>
          <a:p>
            <a:pPr eaLnBrk="1" hangingPunct="1"/>
            <a:r>
              <a:rPr lang="zh-CN" altLang="en-US"/>
              <a:t>分析与需求的关系</a:t>
            </a:r>
            <a:endParaRPr lang="en-US" altLang="zh-CN"/>
          </a:p>
        </p:txBody>
      </p:sp>
      <p:sp>
        <p:nvSpPr>
          <p:cNvPr id="697347" name="Rectangle 3"/>
          <p:cNvSpPr>
            <a:spLocks noGrp="1" noChangeArrowheads="1"/>
          </p:cNvSpPr>
          <p:nvPr>
            <p:ph type="body" idx="1"/>
          </p:nvPr>
        </p:nvSpPr>
        <p:spPr/>
        <p:txBody>
          <a:bodyPr/>
          <a:lstStyle/>
          <a:p>
            <a:pPr eaLnBrk="1" hangingPunct="1">
              <a:lnSpc>
                <a:spcPct val="90000"/>
              </a:lnSpc>
              <a:defRPr/>
            </a:pPr>
            <a:r>
              <a:rPr lang="zh-CN" altLang="en-US"/>
              <a:t>分析是建立在需求收集的基础上</a:t>
            </a:r>
          </a:p>
          <a:p>
            <a:pPr lvl="1" eaLnBrk="1" hangingPunct="1">
              <a:lnSpc>
                <a:spcPct val="90000"/>
              </a:lnSpc>
              <a:defRPr/>
            </a:pPr>
            <a:r>
              <a:rPr lang="zh-CN" altLang="en-US"/>
              <a:t>分析模型建立在用例模型的基础上</a:t>
            </a:r>
          </a:p>
          <a:p>
            <a:pPr lvl="1" eaLnBrk="1" hangingPunct="1">
              <a:lnSpc>
                <a:spcPct val="90000"/>
              </a:lnSpc>
              <a:defRPr/>
            </a:pPr>
            <a:r>
              <a:rPr lang="zh-CN" altLang="en-US"/>
              <a:t>用例模型确定了分析模型的结构（通过</a:t>
            </a:r>
            <a:r>
              <a:rPr lang="zh-CN" altLang="en-US">
                <a:solidFill>
                  <a:schemeClr val="hlink"/>
                </a:solidFill>
                <a:effectLst>
                  <a:outerShdw blurRad="38100" dist="38100" dir="2700000" algn="tl">
                    <a:srgbClr val="C0C0C0"/>
                  </a:outerShdw>
                </a:effectLst>
              </a:rPr>
              <a:t>用例实现</a:t>
            </a:r>
            <a:r>
              <a:rPr lang="en-US" altLang="zh-CN">
                <a:solidFill>
                  <a:schemeClr val="tx2"/>
                </a:solidFill>
                <a:effectLst>
                  <a:outerShdw blurRad="38100" dist="38100" dir="2700000" algn="tl">
                    <a:srgbClr val="C0C0C0"/>
                  </a:outerShdw>
                </a:effectLst>
              </a:rPr>
              <a:t>(</a:t>
            </a:r>
            <a:r>
              <a:rPr lang="zh-CN" altLang="en-US">
                <a:solidFill>
                  <a:schemeClr val="tx2"/>
                </a:solidFill>
                <a:effectLst>
                  <a:outerShdw blurRad="38100" dist="38100" dir="2700000" algn="tl">
                    <a:srgbClr val="C0C0C0"/>
                  </a:outerShdw>
                </a:effectLst>
              </a:rPr>
              <a:t>协作</a:t>
            </a:r>
            <a:r>
              <a:rPr lang="en-US" altLang="zh-CN">
                <a:solidFill>
                  <a:schemeClr val="tx2"/>
                </a:solidFill>
                <a:effectLst>
                  <a:outerShdw blurRad="38100" dist="38100" dir="2700000" algn="tl">
                    <a:srgbClr val="C0C0C0"/>
                  </a:outerShdw>
                </a:effectLst>
              </a:rPr>
              <a:t>)</a:t>
            </a:r>
            <a:r>
              <a:rPr lang="zh-CN" altLang="en-US"/>
              <a:t>来组织分析模型）</a:t>
            </a:r>
          </a:p>
          <a:p>
            <a:pPr lvl="1" eaLnBrk="1" hangingPunct="1">
              <a:lnSpc>
                <a:spcPct val="90000"/>
              </a:lnSpc>
              <a:defRPr/>
            </a:pPr>
            <a:r>
              <a:rPr lang="zh-CN" altLang="en-US"/>
              <a:t>用户视角理解用户问题过渡到开发团队视角分析用户问题</a:t>
            </a:r>
          </a:p>
          <a:p>
            <a:pPr lvl="2" eaLnBrk="1" hangingPunct="1">
              <a:lnSpc>
                <a:spcPct val="90000"/>
              </a:lnSpc>
              <a:defRPr/>
            </a:pPr>
            <a:r>
              <a:rPr lang="zh-CN" altLang="en-US"/>
              <a:t>与需求一样，它还是在问题域中</a:t>
            </a:r>
          </a:p>
          <a:p>
            <a:pPr lvl="2" eaLnBrk="1" hangingPunct="1">
              <a:lnSpc>
                <a:spcPct val="90000"/>
              </a:lnSpc>
              <a:defRPr/>
            </a:pPr>
            <a:r>
              <a:rPr lang="zh-CN" altLang="en-US"/>
              <a:t>从用户视角跨入开发团队视角</a:t>
            </a:r>
          </a:p>
          <a:p>
            <a:pPr lvl="1" eaLnBrk="1" hangingPunct="1">
              <a:lnSpc>
                <a:spcPct val="90000"/>
              </a:lnSpc>
              <a:defRPr/>
            </a:pPr>
            <a:r>
              <a:rPr lang="zh-CN" altLang="en-US"/>
              <a:t>分析与需求捕获在很大程度上重叠，这两个活动常常相辅相成，为了澄清和找出任何遗漏或歪曲的需求，常常需要在需求之上作一些分析</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700096FD-B269-42EA-B72C-56127C2ED154}" type="slidenum">
              <a:rPr lang="en-US" altLang="zh-CN" sz="1200" b="0">
                <a:solidFill>
                  <a:srgbClr val="4D4D4D"/>
                </a:solidFill>
                <a:latin typeface="Arial" charset="0"/>
              </a:rPr>
              <a:pPr eaLnBrk="1" hangingPunct="1"/>
              <a:t>9</a:t>
            </a:fld>
            <a:r>
              <a:rPr lang="en-US" altLang="zh-CN" sz="1200" b="0">
                <a:solidFill>
                  <a:srgbClr val="4D4D4D"/>
                </a:solidFill>
                <a:latin typeface="Arial" charset="0"/>
              </a:rPr>
              <a:t>-</a:t>
            </a:r>
          </a:p>
        </p:txBody>
      </p:sp>
      <p:sp>
        <p:nvSpPr>
          <p:cNvPr id="11267" name="Rectangle 2"/>
          <p:cNvSpPr>
            <a:spLocks noGrp="1" noChangeArrowheads="1"/>
          </p:cNvSpPr>
          <p:nvPr>
            <p:ph type="title"/>
          </p:nvPr>
        </p:nvSpPr>
        <p:spPr/>
        <p:txBody>
          <a:bodyPr/>
          <a:lstStyle/>
          <a:p>
            <a:pPr eaLnBrk="1" hangingPunct="1"/>
            <a:r>
              <a:rPr lang="zh-CN" altLang="en-US"/>
              <a:t>分析的</a:t>
            </a:r>
            <a:r>
              <a:rPr lang="en-US" altLang="zh-CN"/>
              <a:t>”</a:t>
            </a:r>
            <a:r>
              <a:rPr lang="zh-CN" altLang="en-US"/>
              <a:t>度”</a:t>
            </a:r>
          </a:p>
        </p:txBody>
      </p:sp>
      <p:sp>
        <p:nvSpPr>
          <p:cNvPr id="11268" name="Rectangle 3"/>
          <p:cNvSpPr>
            <a:spLocks noGrp="1" noChangeArrowheads="1"/>
          </p:cNvSpPr>
          <p:nvPr>
            <p:ph type="body" idx="1"/>
          </p:nvPr>
        </p:nvSpPr>
        <p:spPr/>
        <p:txBody>
          <a:bodyPr/>
          <a:lstStyle/>
          <a:p>
            <a:pPr eaLnBrk="1" hangingPunct="1"/>
            <a:r>
              <a:rPr lang="zh-CN" altLang="en-US"/>
              <a:t>面向对象分析是以对象的视角去理解业务问题</a:t>
            </a:r>
          </a:p>
          <a:p>
            <a:pPr lvl="1" eaLnBrk="1" hangingPunct="1"/>
            <a:r>
              <a:rPr lang="zh-CN" altLang="en-US"/>
              <a:t>不同于以自然语言描述的需求</a:t>
            </a:r>
          </a:p>
          <a:p>
            <a:pPr lvl="1" eaLnBrk="1" hangingPunct="1"/>
            <a:r>
              <a:rPr lang="zh-CN" altLang="en-US"/>
              <a:t>也不同于以技术语言去表示的设计</a:t>
            </a:r>
          </a:p>
          <a:p>
            <a:pPr eaLnBrk="1" hangingPunct="1"/>
            <a:r>
              <a:rPr lang="zh-CN" altLang="en-US"/>
              <a:t>如何把握这种介于业务和技术之间的分析活动的“度”是非常关键的</a:t>
            </a:r>
          </a:p>
          <a:p>
            <a:pPr lvl="1" eaLnBrk="1" hangingPunct="1"/>
            <a:r>
              <a:rPr lang="zh-CN" altLang="en-US"/>
              <a:t>过渡的分析会陷入设计误区，从而难以有效的达到分析的目标</a:t>
            </a:r>
          </a:p>
          <a:p>
            <a:pPr lvl="1" eaLnBrk="1" hangingPunct="1"/>
            <a:r>
              <a:rPr lang="zh-CN" altLang="en-US"/>
              <a:t>不够深入的分析则容易遗漏那些重要的信息，从而无法及早发现并处理需求中的问题</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C4B58E5E-6A7F-433F-959F-5BCAE979AC03}" type="slidenum">
              <a:rPr lang="en-US" altLang="zh-CN" sz="1200" b="0">
                <a:solidFill>
                  <a:srgbClr val="4D4D4D"/>
                </a:solidFill>
                <a:latin typeface="Arial" charset="0"/>
              </a:rPr>
              <a:pPr eaLnBrk="1" hangingPunct="1"/>
              <a:t>10</a:t>
            </a:fld>
            <a:r>
              <a:rPr lang="en-US" altLang="zh-CN" sz="1200" b="0">
                <a:solidFill>
                  <a:srgbClr val="4D4D4D"/>
                </a:solidFill>
                <a:latin typeface="Arial" charset="0"/>
              </a:rPr>
              <a:t>-</a:t>
            </a:r>
          </a:p>
        </p:txBody>
      </p:sp>
      <p:sp>
        <p:nvSpPr>
          <p:cNvPr id="12291" name="Rectangle 2"/>
          <p:cNvSpPr>
            <a:spLocks noGrp="1" noChangeArrowheads="1"/>
          </p:cNvSpPr>
          <p:nvPr>
            <p:ph type="title"/>
          </p:nvPr>
        </p:nvSpPr>
        <p:spPr/>
        <p:txBody>
          <a:bodyPr/>
          <a:lstStyle/>
          <a:p>
            <a:pPr eaLnBrk="1" hangingPunct="1"/>
            <a:r>
              <a:rPr lang="zh-CN" altLang="en-US"/>
              <a:t>把握分析的“度”</a:t>
            </a:r>
          </a:p>
        </p:txBody>
      </p:sp>
      <p:sp>
        <p:nvSpPr>
          <p:cNvPr id="12292" name="Rectangle 3"/>
          <p:cNvSpPr>
            <a:spLocks noGrp="1" noChangeArrowheads="1"/>
          </p:cNvSpPr>
          <p:nvPr>
            <p:ph type="body" idx="1"/>
          </p:nvPr>
        </p:nvSpPr>
        <p:spPr/>
        <p:txBody>
          <a:bodyPr/>
          <a:lstStyle/>
          <a:p>
            <a:pPr eaLnBrk="1" hangingPunct="1">
              <a:lnSpc>
                <a:spcPct val="80000"/>
              </a:lnSpc>
            </a:pPr>
            <a:r>
              <a:rPr lang="zh-CN" altLang="en-US"/>
              <a:t>把整个分析活动限制在业务问题域词汇，而不考虑任何技术领域的实现策略</a:t>
            </a:r>
          </a:p>
          <a:p>
            <a:pPr lvl="1" eaLnBrk="1" hangingPunct="1">
              <a:lnSpc>
                <a:spcPct val="80000"/>
              </a:lnSpc>
            </a:pPr>
            <a:r>
              <a:rPr lang="zh-CN" altLang="en-US"/>
              <a:t>保持对系统结构和行为的精确和简单陈述</a:t>
            </a:r>
          </a:p>
          <a:p>
            <a:pPr lvl="1" eaLnBrk="1" hangingPunct="1">
              <a:lnSpc>
                <a:spcPct val="80000"/>
              </a:lnSpc>
            </a:pPr>
            <a:r>
              <a:rPr lang="zh-CN" altLang="en-US"/>
              <a:t>所有与实现相关内容都留给设计和实现阶段来考虑</a:t>
            </a:r>
          </a:p>
          <a:p>
            <a:pPr eaLnBrk="1" hangingPunct="1">
              <a:lnSpc>
                <a:spcPct val="80000"/>
              </a:lnSpc>
            </a:pPr>
            <a:r>
              <a:rPr lang="zh-CN" altLang="en-US"/>
              <a:t>一些具体的分析原则：</a:t>
            </a:r>
          </a:p>
          <a:p>
            <a:pPr lvl="1" eaLnBrk="1" hangingPunct="1">
              <a:lnSpc>
                <a:spcPct val="80000"/>
              </a:lnSpc>
            </a:pPr>
            <a:r>
              <a:rPr lang="zh-CN" altLang="en-US"/>
              <a:t>分析模型使用业务语言</a:t>
            </a:r>
          </a:p>
          <a:p>
            <a:pPr lvl="1" eaLnBrk="1" hangingPunct="1">
              <a:lnSpc>
                <a:spcPct val="80000"/>
              </a:lnSpc>
            </a:pPr>
            <a:r>
              <a:rPr lang="zh-CN" altLang="en-US"/>
              <a:t>分析类和关系等应该是业务中明确存在的</a:t>
            </a:r>
          </a:p>
          <a:p>
            <a:pPr lvl="1" eaLnBrk="1" hangingPunct="1">
              <a:lnSpc>
                <a:spcPct val="80000"/>
              </a:lnSpc>
            </a:pPr>
            <a:r>
              <a:rPr lang="zh-CN" altLang="en-US"/>
              <a:t>分析是对需求模型的重新表述，是以理想化的方式来实现用例行为，不考虑技术实现</a:t>
            </a:r>
          </a:p>
          <a:p>
            <a:pPr lvl="1" eaLnBrk="1" hangingPunct="1">
              <a:lnSpc>
                <a:spcPct val="80000"/>
              </a:lnSpc>
            </a:pPr>
            <a:r>
              <a:rPr lang="zh-CN" altLang="en-US"/>
              <a:t>分析侧重于系统主要部分，关注核心的业务场景；对支撑性行为、非功能需求等不做深入的分析</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941B4B8F-BB5E-4CBC-9224-F8F551256ED9}" type="slidenum">
              <a:rPr lang="en-US" altLang="zh-CN" sz="1200" b="0">
                <a:solidFill>
                  <a:srgbClr val="4D4D4D"/>
                </a:solidFill>
                <a:latin typeface="Arial" charset="0"/>
              </a:rPr>
              <a:pPr eaLnBrk="1" hangingPunct="1"/>
              <a:t>11</a:t>
            </a:fld>
            <a:r>
              <a:rPr lang="en-US" altLang="zh-CN" sz="1200" b="0">
                <a:solidFill>
                  <a:srgbClr val="4D4D4D"/>
                </a:solidFill>
                <a:latin typeface="Arial" charset="0"/>
              </a:rPr>
              <a:t>-</a:t>
            </a:r>
          </a:p>
        </p:txBody>
      </p:sp>
      <p:sp>
        <p:nvSpPr>
          <p:cNvPr id="13315" name="Rectangle 2"/>
          <p:cNvSpPr>
            <a:spLocks noGrp="1" noChangeArrowheads="1"/>
          </p:cNvSpPr>
          <p:nvPr>
            <p:ph type="title"/>
          </p:nvPr>
        </p:nvSpPr>
        <p:spPr/>
        <p:txBody>
          <a:bodyPr/>
          <a:lstStyle/>
          <a:p>
            <a:pPr eaLnBrk="1" hangingPunct="1"/>
            <a:r>
              <a:rPr lang="zh-CN" altLang="en-US"/>
              <a:t>内容安排</a:t>
            </a:r>
            <a:endParaRPr lang="en-US" altLang="zh-CN"/>
          </a:p>
        </p:txBody>
      </p:sp>
      <p:sp>
        <p:nvSpPr>
          <p:cNvPr id="698371" name="Rectangle 3"/>
          <p:cNvSpPr>
            <a:spLocks noGrp="1" noChangeArrowheads="1"/>
          </p:cNvSpPr>
          <p:nvPr>
            <p:ph type="body" idx="1"/>
          </p:nvPr>
        </p:nvSpPr>
        <p:spPr/>
        <p:txBody>
          <a:bodyPr/>
          <a:lstStyle/>
          <a:p>
            <a:pPr eaLnBrk="1" hangingPunct="1">
              <a:defRPr/>
            </a:pPr>
            <a:r>
              <a:rPr lang="zh-CN" altLang="en-US" dirty="0">
                <a:solidFill>
                  <a:srgbClr val="4D4D4D"/>
                </a:solidFill>
              </a:rPr>
              <a:t>理解分析</a:t>
            </a:r>
          </a:p>
          <a:p>
            <a:pPr eaLnBrk="1" hangingPunct="1">
              <a:defRPr/>
            </a:pPr>
            <a:r>
              <a:rPr kumimoji="0" lang="zh-CN" altLang="en-US" dirty="0">
                <a:solidFill>
                  <a:schemeClr val="hlink"/>
                </a:solidFill>
                <a:effectLst>
                  <a:outerShdw blurRad="38100" dist="38100" dir="2700000" algn="tl">
                    <a:srgbClr val="C0C0C0"/>
                  </a:outerShdw>
                </a:effectLst>
              </a:rPr>
              <a:t>从用例开始分析</a:t>
            </a:r>
          </a:p>
          <a:p>
            <a:pPr eaLnBrk="1" hangingPunct="1">
              <a:defRPr/>
            </a:pPr>
            <a:r>
              <a:rPr kumimoji="0" lang="zh-CN" altLang="en-US" dirty="0"/>
              <a:t>架构分析</a:t>
            </a:r>
          </a:p>
          <a:p>
            <a:pPr eaLnBrk="1" hangingPunct="1">
              <a:defRPr/>
            </a:pPr>
            <a:r>
              <a:rPr kumimoji="0" lang="zh-CN" altLang="en-US" dirty="0"/>
              <a:t>构造用例实现</a:t>
            </a:r>
          </a:p>
          <a:p>
            <a:pPr eaLnBrk="1" hangingPunct="1">
              <a:defRPr/>
            </a:pPr>
            <a:r>
              <a:rPr kumimoji="0" lang="zh-CN" altLang="en-US" dirty="0"/>
              <a:t>定义分析类</a:t>
            </a:r>
            <a:endParaRPr kumimoji="0" lang="en-US" altLang="zh-C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B41E4B1C-5A3D-4FA7-8C9E-196CA2260EEA}" type="slidenum">
              <a:rPr lang="en-US" altLang="zh-CN" sz="1200" b="0">
                <a:solidFill>
                  <a:srgbClr val="4D4D4D"/>
                </a:solidFill>
                <a:latin typeface="Arial" charset="0"/>
              </a:rPr>
              <a:pPr eaLnBrk="1" hangingPunct="1"/>
              <a:t>12</a:t>
            </a:fld>
            <a:r>
              <a:rPr lang="en-US" altLang="zh-CN" sz="1200" b="0">
                <a:solidFill>
                  <a:srgbClr val="4D4D4D"/>
                </a:solidFill>
                <a:latin typeface="Arial" charset="0"/>
              </a:rPr>
              <a:t>-</a:t>
            </a:r>
          </a:p>
        </p:txBody>
      </p:sp>
      <p:sp>
        <p:nvSpPr>
          <p:cNvPr id="14339" name="Rectangle 2"/>
          <p:cNvSpPr>
            <a:spLocks noGrp="1" noChangeArrowheads="1"/>
          </p:cNvSpPr>
          <p:nvPr>
            <p:ph type="title"/>
          </p:nvPr>
        </p:nvSpPr>
        <p:spPr/>
        <p:txBody>
          <a:bodyPr/>
          <a:lstStyle/>
          <a:p>
            <a:pPr eaLnBrk="1" hangingPunct="1"/>
            <a:r>
              <a:rPr lang="zh-CN" altLang="en-US"/>
              <a:t>如何开始分析？</a:t>
            </a:r>
          </a:p>
        </p:txBody>
      </p:sp>
      <p:sp>
        <p:nvSpPr>
          <p:cNvPr id="700419" name="Text Box 3"/>
          <p:cNvSpPr txBox="1">
            <a:spLocks noChangeArrowheads="1"/>
          </p:cNvSpPr>
          <p:nvPr/>
        </p:nvSpPr>
        <p:spPr bwMode="auto">
          <a:xfrm>
            <a:off x="3071814" y="2852739"/>
            <a:ext cx="6048375" cy="701675"/>
          </a:xfrm>
          <a:prstGeom prst="rect">
            <a:avLst/>
          </a:prstGeom>
          <a:noFill/>
          <a:ln w="9525">
            <a:noFill/>
            <a:miter lim="800000"/>
            <a:headEnd/>
            <a:tailEnd/>
          </a:ln>
          <a:effectLst/>
        </p:spPr>
        <p:txBody>
          <a:bodyPr>
            <a:spAutoFit/>
          </a:bodyPr>
          <a:lstStyle/>
          <a:p>
            <a:pPr algn="ctr">
              <a:spcBef>
                <a:spcPct val="50000"/>
              </a:spcBef>
              <a:defRPr/>
            </a:pPr>
            <a:r>
              <a:rPr lang="zh-CN" altLang="en-US" sz="4000" i="1" u="sng">
                <a:solidFill>
                  <a:srgbClr val="660066"/>
                </a:solidFill>
                <a:effectLst>
                  <a:outerShdw blurRad="38100" dist="38100" dir="2700000" algn="tl">
                    <a:srgbClr val="C0C0C0"/>
                  </a:outerShdw>
                </a:effectLst>
                <a:latin typeface="隶书" pitchFamily="49" charset="-122"/>
                <a:ea typeface="隶书" pitchFamily="49" charset="-122"/>
              </a:rPr>
              <a:t>从 用 例 开 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00419"/>
                                        </p:tgtEl>
                                        <p:attrNameLst>
                                          <p:attrName>style.visibility</p:attrName>
                                        </p:attrNameLst>
                                      </p:cBhvr>
                                      <p:to>
                                        <p:strVal val="visible"/>
                                      </p:to>
                                    </p:set>
                                    <p:animEffect transition="in" filter="dissolve">
                                      <p:cBhvr>
                                        <p:cTn id="7" dur="500"/>
                                        <p:tgtEl>
                                          <p:spTgt spid="7004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041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78014A80-F71E-4BDC-8AF7-11279DAE06FF}" type="slidenum">
              <a:rPr lang="en-US" altLang="zh-CN" sz="1200" b="0">
                <a:solidFill>
                  <a:srgbClr val="4D4D4D"/>
                </a:solidFill>
                <a:latin typeface="Arial" charset="0"/>
              </a:rPr>
              <a:pPr eaLnBrk="1" hangingPunct="1"/>
              <a:t>13</a:t>
            </a:fld>
            <a:r>
              <a:rPr lang="en-US" altLang="zh-CN" sz="1200" b="0">
                <a:solidFill>
                  <a:srgbClr val="4D4D4D"/>
                </a:solidFill>
                <a:latin typeface="Arial" charset="0"/>
              </a:rPr>
              <a:t>-</a:t>
            </a:r>
          </a:p>
        </p:txBody>
      </p:sp>
      <p:sp>
        <p:nvSpPr>
          <p:cNvPr id="15363" name="Rectangle 2"/>
          <p:cNvSpPr>
            <a:spLocks noGrp="1" noChangeArrowheads="1"/>
          </p:cNvSpPr>
          <p:nvPr>
            <p:ph type="title"/>
          </p:nvPr>
        </p:nvSpPr>
        <p:spPr/>
        <p:txBody>
          <a:bodyPr/>
          <a:lstStyle/>
          <a:p>
            <a:pPr eaLnBrk="1" hangingPunct="1"/>
            <a:r>
              <a:rPr lang="zh-CN" altLang="en-US"/>
              <a:t>分析模型与用例模型</a:t>
            </a:r>
          </a:p>
        </p:txBody>
      </p:sp>
      <p:sp>
        <p:nvSpPr>
          <p:cNvPr id="701443" name="Rectangle 3"/>
          <p:cNvSpPr>
            <a:spLocks noChangeArrowheads="1"/>
          </p:cNvSpPr>
          <p:nvPr/>
        </p:nvSpPr>
        <p:spPr bwMode="auto">
          <a:xfrm>
            <a:off x="5878514" y="3140076"/>
            <a:ext cx="3889375" cy="2017713"/>
          </a:xfrm>
          <a:prstGeom prst="rect">
            <a:avLst/>
          </a:prstGeom>
          <a:solidFill>
            <a:srgbClr val="FF99CC"/>
          </a:solidFill>
          <a:ln w="28575">
            <a:solidFill>
              <a:srgbClr val="FF00FF"/>
            </a:solidFill>
            <a:miter lim="800000"/>
            <a:headEnd type="none" w="sm" len="sm"/>
            <a:tailEnd type="none" w="sm" len="sm"/>
          </a:ln>
          <a:effectLst>
            <a:outerShdw dist="107763" dir="2700000" algn="ctr" rotWithShape="0">
              <a:schemeClr val="bg2">
                <a:alpha val="50000"/>
              </a:schemeClr>
            </a:outerShdw>
          </a:effectLst>
        </p:spPr>
        <p:txBody>
          <a:bodyPr wrap="none" anchor="ctr"/>
          <a:lstStyle/>
          <a:p>
            <a:pPr>
              <a:defRPr/>
            </a:pPr>
            <a:endParaRPr lang="zh-CN" altLang="en-US"/>
          </a:p>
        </p:txBody>
      </p:sp>
      <p:sp>
        <p:nvSpPr>
          <p:cNvPr id="15365" name="Rectangle 4"/>
          <p:cNvSpPr>
            <a:spLocks noChangeArrowheads="1"/>
          </p:cNvSpPr>
          <p:nvPr/>
        </p:nvSpPr>
        <p:spPr bwMode="auto">
          <a:xfrm>
            <a:off x="6167438" y="3429000"/>
            <a:ext cx="1008062" cy="431800"/>
          </a:xfrm>
          <a:prstGeom prst="rect">
            <a:avLst/>
          </a:prstGeom>
          <a:solidFill>
            <a:srgbClr val="99CCFF"/>
          </a:solidFill>
          <a:ln w="12700">
            <a:solidFill>
              <a:schemeClr val="hlink"/>
            </a:solidFill>
            <a:miter lim="800000"/>
            <a:headEnd type="none" w="sm" len="sm"/>
            <a:tailEnd type="none" w="sm" len="sm"/>
          </a:ln>
        </p:spPr>
        <p:txBody>
          <a:bodyPr wrap="none" anchor="ctr"/>
          <a:lstStyle/>
          <a:p>
            <a:endParaRPr lang="zh-CN" altLang="en-US"/>
          </a:p>
        </p:txBody>
      </p:sp>
      <p:sp>
        <p:nvSpPr>
          <p:cNvPr id="15366" name="Rectangle 5"/>
          <p:cNvSpPr>
            <a:spLocks noChangeArrowheads="1"/>
          </p:cNvSpPr>
          <p:nvPr/>
        </p:nvSpPr>
        <p:spPr bwMode="auto">
          <a:xfrm>
            <a:off x="8543926" y="3357563"/>
            <a:ext cx="504825" cy="863600"/>
          </a:xfrm>
          <a:prstGeom prst="rect">
            <a:avLst/>
          </a:prstGeom>
          <a:solidFill>
            <a:srgbClr val="99CCFF"/>
          </a:solidFill>
          <a:ln w="12700">
            <a:solidFill>
              <a:schemeClr val="hlink"/>
            </a:solidFill>
            <a:miter lim="800000"/>
            <a:headEnd type="none" w="sm" len="sm"/>
            <a:tailEnd type="none" w="sm" len="sm"/>
          </a:ln>
        </p:spPr>
        <p:txBody>
          <a:bodyPr wrap="none" anchor="ctr"/>
          <a:lstStyle/>
          <a:p>
            <a:endParaRPr lang="zh-CN" altLang="en-US"/>
          </a:p>
        </p:txBody>
      </p:sp>
      <p:sp>
        <p:nvSpPr>
          <p:cNvPr id="15367" name="Rectangle 6"/>
          <p:cNvSpPr>
            <a:spLocks noChangeArrowheads="1"/>
          </p:cNvSpPr>
          <p:nvPr/>
        </p:nvSpPr>
        <p:spPr bwMode="auto">
          <a:xfrm>
            <a:off x="6383338" y="4292601"/>
            <a:ext cx="792162" cy="792163"/>
          </a:xfrm>
          <a:prstGeom prst="rect">
            <a:avLst/>
          </a:prstGeom>
          <a:solidFill>
            <a:srgbClr val="99CCFF"/>
          </a:solidFill>
          <a:ln w="12700">
            <a:solidFill>
              <a:schemeClr val="hlink"/>
            </a:solidFill>
            <a:miter lim="800000"/>
            <a:headEnd type="none" w="sm" len="sm"/>
            <a:tailEnd type="none" w="sm" len="sm"/>
          </a:ln>
        </p:spPr>
        <p:txBody>
          <a:bodyPr wrap="none" anchor="ctr"/>
          <a:lstStyle/>
          <a:p>
            <a:endParaRPr lang="zh-CN" altLang="en-US"/>
          </a:p>
        </p:txBody>
      </p:sp>
      <p:sp>
        <p:nvSpPr>
          <p:cNvPr id="15368" name="Rectangle 7"/>
          <p:cNvSpPr>
            <a:spLocks noChangeArrowheads="1"/>
          </p:cNvSpPr>
          <p:nvPr/>
        </p:nvSpPr>
        <p:spPr bwMode="auto">
          <a:xfrm>
            <a:off x="8039100" y="4652963"/>
            <a:ext cx="1511300" cy="431800"/>
          </a:xfrm>
          <a:prstGeom prst="rect">
            <a:avLst/>
          </a:prstGeom>
          <a:solidFill>
            <a:srgbClr val="99CCFF"/>
          </a:solidFill>
          <a:ln w="12700">
            <a:solidFill>
              <a:schemeClr val="hlink"/>
            </a:solidFill>
            <a:miter lim="800000"/>
            <a:headEnd type="none" w="sm" len="sm"/>
            <a:tailEnd type="none" w="sm" len="sm"/>
          </a:ln>
        </p:spPr>
        <p:txBody>
          <a:bodyPr wrap="none" anchor="ctr"/>
          <a:lstStyle/>
          <a:p>
            <a:endParaRPr lang="zh-CN" altLang="en-US"/>
          </a:p>
        </p:txBody>
      </p:sp>
      <p:sp>
        <p:nvSpPr>
          <p:cNvPr id="15369" name="Line 8"/>
          <p:cNvSpPr>
            <a:spLocks noChangeShapeType="1"/>
          </p:cNvSpPr>
          <p:nvPr/>
        </p:nvSpPr>
        <p:spPr bwMode="auto">
          <a:xfrm flipV="1">
            <a:off x="7175501" y="3789364"/>
            <a:ext cx="1368425" cy="719137"/>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5370" name="Line 9"/>
          <p:cNvSpPr>
            <a:spLocks noChangeShapeType="1"/>
          </p:cNvSpPr>
          <p:nvPr/>
        </p:nvSpPr>
        <p:spPr bwMode="auto">
          <a:xfrm flipV="1">
            <a:off x="8831263" y="4221163"/>
            <a:ext cx="0" cy="431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5371" name="Line 10"/>
          <p:cNvSpPr>
            <a:spLocks noChangeShapeType="1"/>
          </p:cNvSpPr>
          <p:nvPr/>
        </p:nvSpPr>
        <p:spPr bwMode="auto">
          <a:xfrm>
            <a:off x="7175500" y="4797425"/>
            <a:ext cx="863600" cy="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5372" name="Line 11"/>
          <p:cNvSpPr>
            <a:spLocks noChangeShapeType="1"/>
          </p:cNvSpPr>
          <p:nvPr/>
        </p:nvSpPr>
        <p:spPr bwMode="auto">
          <a:xfrm>
            <a:off x="6670675" y="3860800"/>
            <a:ext cx="0" cy="431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5373" name="Oval 12"/>
          <p:cNvSpPr>
            <a:spLocks noChangeArrowheads="1"/>
          </p:cNvSpPr>
          <p:nvPr/>
        </p:nvSpPr>
        <p:spPr bwMode="auto">
          <a:xfrm>
            <a:off x="6743701" y="2205039"/>
            <a:ext cx="1008063" cy="504825"/>
          </a:xfrm>
          <a:prstGeom prst="ellipse">
            <a:avLst/>
          </a:pr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374" name="Oval 13"/>
          <p:cNvSpPr>
            <a:spLocks noChangeArrowheads="1"/>
          </p:cNvSpPr>
          <p:nvPr/>
        </p:nvSpPr>
        <p:spPr bwMode="auto">
          <a:xfrm>
            <a:off x="8183563" y="2132014"/>
            <a:ext cx="1079500" cy="504825"/>
          </a:xfrm>
          <a:prstGeom prst="ellipse">
            <a:avLst/>
          </a:prstGeom>
          <a:noFill/>
          <a:ln w="28575">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5375" name="Line 14"/>
          <p:cNvSpPr>
            <a:spLocks noChangeShapeType="1"/>
          </p:cNvSpPr>
          <p:nvPr/>
        </p:nvSpPr>
        <p:spPr bwMode="auto">
          <a:xfrm>
            <a:off x="7391401" y="2708275"/>
            <a:ext cx="1368425" cy="649288"/>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5376" name="Line 15"/>
          <p:cNvSpPr>
            <a:spLocks noChangeShapeType="1"/>
          </p:cNvSpPr>
          <p:nvPr/>
        </p:nvSpPr>
        <p:spPr bwMode="auto">
          <a:xfrm>
            <a:off x="8759825" y="2636839"/>
            <a:ext cx="0" cy="720725"/>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5377" name="Line 16"/>
          <p:cNvSpPr>
            <a:spLocks noChangeShapeType="1"/>
          </p:cNvSpPr>
          <p:nvPr/>
        </p:nvSpPr>
        <p:spPr bwMode="auto">
          <a:xfrm flipH="1" flipV="1">
            <a:off x="6670676" y="2060575"/>
            <a:ext cx="288925" cy="215900"/>
          </a:xfrm>
          <a:prstGeom prst="line">
            <a:avLst/>
          </a:prstGeom>
          <a:noFill/>
          <a:ln w="190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701457" name="Text Box 17"/>
          <p:cNvSpPr txBox="1">
            <a:spLocks noChangeArrowheads="1"/>
          </p:cNvSpPr>
          <p:nvPr/>
        </p:nvSpPr>
        <p:spPr bwMode="auto">
          <a:xfrm>
            <a:off x="2279352" y="2276872"/>
            <a:ext cx="2376488" cy="457200"/>
          </a:xfrm>
          <a:prstGeom prst="rect">
            <a:avLst/>
          </a:prstGeom>
          <a:noFill/>
          <a:ln w="12700">
            <a:noFill/>
            <a:miter lim="800000"/>
            <a:headEnd type="none" w="sm" len="sm"/>
            <a:tailEnd type="none" w="sm" len="sm"/>
          </a:ln>
          <a:effectLst/>
        </p:spPr>
        <p:txBody>
          <a:bodyPr>
            <a:spAutoFit/>
          </a:bodyPr>
          <a:lstStyle/>
          <a:p>
            <a:pPr eaLnBrk="0" hangingPunct="0">
              <a:spcBef>
                <a:spcPct val="50000"/>
              </a:spcBef>
              <a:defRPr/>
            </a:pPr>
            <a:r>
              <a:rPr kumimoji="0" lang="zh-CN" altLang="en-US" dirty="0">
                <a:solidFill>
                  <a:srgbClr val="FF3300"/>
                </a:solidFill>
                <a:effectLst>
                  <a:outerShdw blurRad="38100" dist="38100" dir="2700000" algn="tl">
                    <a:srgbClr val="C0C0C0"/>
                  </a:outerShdw>
                </a:effectLst>
                <a:latin typeface="Arial" charset="0"/>
              </a:rPr>
              <a:t>用例：外观</a:t>
            </a:r>
          </a:p>
        </p:txBody>
      </p:sp>
      <p:sp>
        <p:nvSpPr>
          <p:cNvPr id="701458" name="Text Box 18"/>
          <p:cNvSpPr txBox="1">
            <a:spLocks noChangeArrowheads="1"/>
          </p:cNvSpPr>
          <p:nvPr/>
        </p:nvSpPr>
        <p:spPr bwMode="auto">
          <a:xfrm>
            <a:off x="1817824" y="3879851"/>
            <a:ext cx="3054041" cy="461665"/>
          </a:xfrm>
          <a:prstGeom prst="rect">
            <a:avLst/>
          </a:prstGeom>
          <a:noFill/>
          <a:ln w="12700">
            <a:noFill/>
            <a:miter lim="800000"/>
            <a:headEnd type="none" w="sm" len="sm"/>
            <a:tailEnd type="none" w="sm" len="sm"/>
          </a:ln>
          <a:effectLst/>
        </p:spPr>
        <p:txBody>
          <a:bodyPr wrap="none">
            <a:spAutoFit/>
          </a:bodyPr>
          <a:lstStyle/>
          <a:p>
            <a:pPr eaLnBrk="0" hangingPunct="0">
              <a:defRPr/>
            </a:pPr>
            <a:r>
              <a:rPr kumimoji="0" lang="zh-CN" altLang="en-US" dirty="0">
                <a:solidFill>
                  <a:srgbClr val="FF3300"/>
                </a:solidFill>
                <a:effectLst>
                  <a:outerShdw blurRad="38100" dist="38100" dir="2700000" algn="tl">
                    <a:srgbClr val="C0C0C0"/>
                  </a:outerShdw>
                </a:effectLst>
                <a:latin typeface="Arial" charset="0"/>
              </a:rPr>
              <a:t>分析</a:t>
            </a:r>
            <a:r>
              <a:rPr kumimoji="0" lang="en-US" altLang="zh-CN" dirty="0">
                <a:solidFill>
                  <a:srgbClr val="FF3300"/>
                </a:solidFill>
                <a:effectLst>
                  <a:outerShdw blurRad="38100" dist="38100" dir="2700000" algn="tl">
                    <a:srgbClr val="C0C0C0"/>
                  </a:outerShdw>
                </a:effectLst>
                <a:latin typeface="Arial" charset="0"/>
              </a:rPr>
              <a:t>/</a:t>
            </a:r>
            <a:r>
              <a:rPr kumimoji="0" lang="zh-CN" altLang="en-US" dirty="0">
                <a:solidFill>
                  <a:srgbClr val="FF3300"/>
                </a:solidFill>
                <a:effectLst>
                  <a:outerShdw blurRad="38100" dist="38100" dir="2700000" algn="tl">
                    <a:srgbClr val="C0C0C0"/>
                  </a:outerShdw>
                </a:effectLst>
                <a:latin typeface="Arial" charset="0"/>
              </a:rPr>
              <a:t>设计：内部机理</a:t>
            </a:r>
          </a:p>
        </p:txBody>
      </p:sp>
      <p:sp>
        <p:nvSpPr>
          <p:cNvPr id="15380" name="AutoShape 19"/>
          <p:cNvSpPr>
            <a:spLocks noChangeArrowheads="1"/>
          </p:cNvSpPr>
          <p:nvPr/>
        </p:nvSpPr>
        <p:spPr bwMode="auto">
          <a:xfrm>
            <a:off x="4871865" y="2276476"/>
            <a:ext cx="1120775" cy="485775"/>
          </a:xfrm>
          <a:prstGeom prst="rightArrow">
            <a:avLst>
              <a:gd name="adj1" fmla="val 50000"/>
              <a:gd name="adj2" fmla="val 57680"/>
            </a:avLst>
          </a:prstGeom>
          <a:solidFill>
            <a:srgbClr val="3366FF"/>
          </a:solidFill>
          <a:ln w="12700">
            <a:solidFill>
              <a:schemeClr val="tx1"/>
            </a:solidFill>
            <a:miter lim="800000"/>
            <a:headEnd type="none" w="sm" len="sm"/>
            <a:tailEnd type="none" w="sm" len="sm"/>
          </a:ln>
        </p:spPr>
        <p:txBody>
          <a:bodyPr wrap="none" anchor="ctr"/>
          <a:lstStyle/>
          <a:p>
            <a:endParaRPr lang="zh-CN" altLang="en-US"/>
          </a:p>
        </p:txBody>
      </p:sp>
      <p:sp>
        <p:nvSpPr>
          <p:cNvPr id="15381" name="AutoShape 20"/>
          <p:cNvSpPr>
            <a:spLocks noChangeArrowheads="1"/>
          </p:cNvSpPr>
          <p:nvPr/>
        </p:nvSpPr>
        <p:spPr bwMode="auto">
          <a:xfrm>
            <a:off x="4871865" y="3860801"/>
            <a:ext cx="1120775" cy="485775"/>
          </a:xfrm>
          <a:prstGeom prst="rightArrow">
            <a:avLst>
              <a:gd name="adj1" fmla="val 50000"/>
              <a:gd name="adj2" fmla="val 57680"/>
            </a:avLst>
          </a:prstGeom>
          <a:solidFill>
            <a:srgbClr val="3366FF"/>
          </a:solidFill>
          <a:ln w="12700">
            <a:solidFill>
              <a:schemeClr val="tx1"/>
            </a:solidFill>
            <a:miter lim="800000"/>
            <a:headEnd type="none" w="sm" len="sm"/>
            <a:tailEnd type="none" w="sm" len="sm"/>
          </a:ln>
        </p:spPr>
        <p:txBody>
          <a:bodyPr wrap="none" anchor="ctr"/>
          <a:lstStyle/>
          <a:p>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5CB163A8-CCAD-44C1-B48A-2930AA9EE7DC}" type="slidenum">
              <a:rPr lang="en-US" altLang="zh-CN" sz="1200" b="0">
                <a:solidFill>
                  <a:srgbClr val="4D4D4D"/>
                </a:solidFill>
                <a:latin typeface="Arial" charset="0"/>
              </a:rPr>
              <a:pPr eaLnBrk="1" hangingPunct="1"/>
              <a:t>14</a:t>
            </a:fld>
            <a:r>
              <a:rPr lang="en-US" altLang="zh-CN" sz="1200" b="0">
                <a:solidFill>
                  <a:srgbClr val="4D4D4D"/>
                </a:solidFill>
                <a:latin typeface="Arial" charset="0"/>
              </a:rPr>
              <a:t>-</a:t>
            </a:r>
          </a:p>
        </p:txBody>
      </p:sp>
      <p:sp>
        <p:nvSpPr>
          <p:cNvPr id="18435" name="Rectangle 2"/>
          <p:cNvSpPr>
            <a:spLocks noGrp="1" noChangeArrowheads="1"/>
          </p:cNvSpPr>
          <p:nvPr>
            <p:ph type="title"/>
          </p:nvPr>
        </p:nvSpPr>
        <p:spPr/>
        <p:txBody>
          <a:bodyPr/>
          <a:lstStyle/>
          <a:p>
            <a:pPr eaLnBrk="1" hangingPunct="1"/>
            <a:r>
              <a:rPr lang="zh-CN" altLang="en-US" dirty="0"/>
              <a:t>从用例开始分析迭代</a:t>
            </a:r>
          </a:p>
        </p:txBody>
      </p:sp>
      <p:sp>
        <p:nvSpPr>
          <p:cNvPr id="18436" name="Rectangle 3"/>
          <p:cNvSpPr>
            <a:spLocks noGrp="1" noChangeArrowheads="1"/>
          </p:cNvSpPr>
          <p:nvPr>
            <p:ph type="body" idx="1"/>
          </p:nvPr>
        </p:nvSpPr>
        <p:spPr/>
        <p:txBody>
          <a:bodyPr/>
          <a:lstStyle/>
          <a:p>
            <a:pPr eaLnBrk="1" hangingPunct="1"/>
            <a:r>
              <a:rPr lang="zh-CN" altLang="en-US" dirty="0"/>
              <a:t>迭代开发是现代软件开发的主流，而迭代的基础就是用例</a:t>
            </a:r>
          </a:p>
          <a:p>
            <a:pPr eaLnBrk="1" hangingPunct="1"/>
            <a:r>
              <a:rPr lang="zh-CN" altLang="en-US" dirty="0"/>
              <a:t>从用例开始分析基本思路</a:t>
            </a:r>
          </a:p>
          <a:p>
            <a:pPr lvl="1" eaLnBrk="1" hangingPunct="1">
              <a:lnSpc>
                <a:spcPct val="90000"/>
              </a:lnSpc>
            </a:pPr>
            <a:r>
              <a:rPr lang="zh-CN" altLang="en-US" dirty="0"/>
              <a:t>用例分级：根据风险、重要性以及项目组的能力确定用例以及用例相关路径的优先级</a:t>
            </a:r>
            <a:endParaRPr lang="en-US" altLang="zh-CN" dirty="0"/>
          </a:p>
          <a:p>
            <a:pPr eaLnBrk="1" hangingPunct="1">
              <a:lnSpc>
                <a:spcPct val="90000"/>
              </a:lnSpc>
            </a:pPr>
            <a:r>
              <a:rPr lang="zh-CN" altLang="en-US" dirty="0"/>
              <a:t>早期迭代关注的重点（架构）</a:t>
            </a:r>
            <a:endParaRPr lang="en-US" altLang="zh-CN" dirty="0"/>
          </a:p>
          <a:p>
            <a:pPr lvl="1" eaLnBrk="1" hangingPunct="1">
              <a:lnSpc>
                <a:spcPct val="90000"/>
              </a:lnSpc>
            </a:pPr>
            <a:r>
              <a:rPr lang="zh-CN" altLang="en-US" dirty="0"/>
              <a:t>核心业务的主要部分</a:t>
            </a:r>
            <a:endParaRPr lang="en-US" altLang="zh-CN" dirty="0"/>
          </a:p>
          <a:p>
            <a:pPr lvl="1" eaLnBrk="1" hangingPunct="1">
              <a:lnSpc>
                <a:spcPct val="90000"/>
              </a:lnSpc>
            </a:pPr>
            <a:r>
              <a:rPr lang="zh-CN" altLang="en-US" dirty="0"/>
              <a:t>系统架构有重要影响</a:t>
            </a:r>
            <a:endParaRPr lang="en-US" altLang="zh-CN" dirty="0"/>
          </a:p>
          <a:p>
            <a:pPr lvl="1" eaLnBrk="1" hangingPunct="1">
              <a:lnSpc>
                <a:spcPct val="90000"/>
              </a:lnSpc>
            </a:pPr>
            <a:r>
              <a:rPr lang="zh-CN" altLang="en-US" dirty="0"/>
              <a:t>影响系统性能等其他关键非功能需求的部分</a:t>
            </a:r>
            <a:endParaRPr lang="en-US" altLang="zh-CN" dirty="0"/>
          </a:p>
          <a:p>
            <a:pPr lvl="1" eaLnBrk="1" hangingPunct="1">
              <a:lnSpc>
                <a:spcPct val="90000"/>
              </a:lnSpc>
            </a:pPr>
            <a:r>
              <a:rPr lang="zh-CN" altLang="en-US" dirty="0"/>
              <a:t>存在高风险的部分，如新技术、新产品</a:t>
            </a:r>
          </a:p>
        </p:txBody>
      </p:sp>
    </p:spTree>
    <p:extLst>
      <p:ext uri="{BB962C8B-B14F-4D97-AF65-F5344CB8AC3E}">
        <p14:creationId xmlns:p14="http://schemas.microsoft.com/office/powerpoint/2010/main" val="463331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70470D07-5591-40FA-8C9B-11922B56FA23}" type="slidenum">
              <a:rPr lang="en-US" altLang="zh-CN" sz="1200" b="0">
                <a:solidFill>
                  <a:srgbClr val="4D4D4D"/>
                </a:solidFill>
                <a:latin typeface="Arial" charset="0"/>
              </a:rPr>
              <a:pPr eaLnBrk="1" hangingPunct="1"/>
              <a:t>15</a:t>
            </a:fld>
            <a:r>
              <a:rPr lang="en-US" altLang="zh-CN" sz="1200" b="0">
                <a:solidFill>
                  <a:srgbClr val="4D4D4D"/>
                </a:solidFill>
                <a:latin typeface="Arial" charset="0"/>
              </a:rPr>
              <a:t>-</a:t>
            </a:r>
          </a:p>
        </p:txBody>
      </p:sp>
      <p:sp>
        <p:nvSpPr>
          <p:cNvPr id="19459" name="Rectangle 2"/>
          <p:cNvSpPr>
            <a:spLocks noGrp="1" noChangeArrowheads="1"/>
          </p:cNvSpPr>
          <p:nvPr>
            <p:ph type="title"/>
          </p:nvPr>
        </p:nvSpPr>
        <p:spPr/>
        <p:txBody>
          <a:bodyPr/>
          <a:lstStyle/>
          <a:p>
            <a:pPr eaLnBrk="1" hangingPunct="1"/>
            <a:r>
              <a:rPr lang="zh-CN" altLang="en-US" sz="4000" dirty="0"/>
              <a:t>利用早期迭代建立软件架构</a:t>
            </a:r>
          </a:p>
        </p:txBody>
      </p:sp>
      <p:pic>
        <p:nvPicPr>
          <p:cNvPr id="19460"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0375" y="1341438"/>
            <a:ext cx="6191250" cy="434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Tree>
    <p:extLst>
      <p:ext uri="{BB962C8B-B14F-4D97-AF65-F5344CB8AC3E}">
        <p14:creationId xmlns:p14="http://schemas.microsoft.com/office/powerpoint/2010/main" val="12415347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57F8F410-21FE-4F59-BC30-4107D6219BB5}" type="slidenum">
              <a:rPr lang="en-US" altLang="zh-CN" sz="1200" b="0">
                <a:solidFill>
                  <a:srgbClr val="4D4D4D"/>
                </a:solidFill>
                <a:latin typeface="Arial" charset="0"/>
              </a:rPr>
              <a:pPr eaLnBrk="1" hangingPunct="1"/>
              <a:t>16</a:t>
            </a:fld>
            <a:r>
              <a:rPr lang="en-US" altLang="zh-CN" sz="1200" b="0">
                <a:solidFill>
                  <a:srgbClr val="4D4D4D"/>
                </a:solidFill>
                <a:latin typeface="Arial" charset="0"/>
              </a:rPr>
              <a:t>-</a:t>
            </a:r>
          </a:p>
        </p:txBody>
      </p:sp>
      <p:sp>
        <p:nvSpPr>
          <p:cNvPr id="20483" name="Rectangle 2"/>
          <p:cNvSpPr>
            <a:spLocks noGrp="1" noChangeArrowheads="1"/>
          </p:cNvSpPr>
          <p:nvPr>
            <p:ph type="title"/>
          </p:nvPr>
        </p:nvSpPr>
        <p:spPr/>
        <p:txBody>
          <a:bodyPr/>
          <a:lstStyle/>
          <a:p>
            <a:pPr eaLnBrk="1" hangingPunct="1"/>
            <a:r>
              <a:rPr lang="zh-CN" altLang="en-US"/>
              <a:t>定义良好的迭代周期</a:t>
            </a:r>
          </a:p>
        </p:txBody>
      </p:sp>
      <p:pic>
        <p:nvPicPr>
          <p:cNvPr id="20484"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54250" y="868363"/>
            <a:ext cx="76581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707588" name="Rectangle 4"/>
          <p:cNvSpPr>
            <a:spLocks noChangeArrowheads="1"/>
          </p:cNvSpPr>
          <p:nvPr/>
        </p:nvSpPr>
        <p:spPr bwMode="auto">
          <a:xfrm>
            <a:off x="1847851" y="5497514"/>
            <a:ext cx="8353425" cy="955675"/>
          </a:xfrm>
          <a:prstGeom prst="rect">
            <a:avLst/>
          </a:prstGeom>
          <a:solidFill>
            <a:srgbClr val="CCFFFF"/>
          </a:solidFill>
          <a:ln w="9525" algn="ctr">
            <a:solidFill>
              <a:srgbClr val="99CCFF"/>
            </a:solidFill>
            <a:miter lim="800000"/>
            <a:headEnd/>
            <a:tailEnd/>
          </a:ln>
          <a:effectLst/>
        </p:spPr>
        <p:txBody>
          <a:bodyPr>
            <a:spAutoFit/>
          </a:bodyPr>
          <a:lstStyle/>
          <a:p>
            <a:pPr>
              <a:defRPr/>
            </a:pPr>
            <a:r>
              <a:rPr kumimoji="0" lang="zh-CN" altLang="en-US" sz="2800" dirty="0">
                <a:effectLst>
                  <a:outerShdw blurRad="38100" dist="38100" dir="2700000" algn="tl">
                    <a:srgbClr val="FFFFFF"/>
                  </a:outerShdw>
                </a:effectLst>
                <a:latin typeface="Arial" charset="0"/>
                <a:ea typeface="幼圆" pitchFamily="49" charset="-122"/>
              </a:rPr>
              <a:t>通过用例建模获取系统</a:t>
            </a:r>
            <a:r>
              <a:rPr kumimoji="0" lang="en-US" altLang="zh-CN" sz="2800" dirty="0">
                <a:effectLst>
                  <a:outerShdw blurRad="38100" dist="38100" dir="2700000" algn="tl">
                    <a:srgbClr val="FFFFFF"/>
                  </a:outerShdw>
                </a:effectLst>
                <a:latin typeface="Arial" charset="0"/>
                <a:ea typeface="幼圆" pitchFamily="49" charset="-122"/>
              </a:rPr>
              <a:t>60%-80%</a:t>
            </a:r>
            <a:r>
              <a:rPr kumimoji="0" lang="zh-CN" altLang="en-US" sz="2800" dirty="0">
                <a:effectLst>
                  <a:outerShdw blurRad="38100" dist="38100" dir="2700000" algn="tl">
                    <a:srgbClr val="FFFFFF"/>
                  </a:outerShdw>
                </a:effectLst>
                <a:latin typeface="Arial" charset="0"/>
                <a:ea typeface="幼圆" pitchFamily="49" charset="-122"/>
              </a:rPr>
              <a:t>的需求后，从中找出</a:t>
            </a:r>
            <a:r>
              <a:rPr kumimoji="0" lang="en-US" altLang="zh-CN" sz="2800" dirty="0">
                <a:effectLst>
                  <a:outerShdw blurRad="38100" dist="38100" dir="2700000" algn="tl">
                    <a:srgbClr val="FFFFFF"/>
                  </a:outerShdw>
                </a:effectLst>
                <a:latin typeface="Arial" charset="0"/>
                <a:ea typeface="幼圆" pitchFamily="49" charset="-122"/>
              </a:rPr>
              <a:t>5%-10%</a:t>
            </a:r>
            <a:r>
              <a:rPr kumimoji="0" lang="zh-CN" altLang="en-US" sz="2800" dirty="0">
                <a:effectLst>
                  <a:outerShdw blurRad="38100" dist="38100" dir="2700000" algn="tl">
                    <a:srgbClr val="FFFFFF"/>
                  </a:outerShdw>
                </a:effectLst>
                <a:latin typeface="Arial" charset="0"/>
                <a:ea typeface="幼圆" pitchFamily="49" charset="-122"/>
              </a:rPr>
              <a:t>重要的用例，来定义系统备选架构</a:t>
            </a:r>
          </a:p>
        </p:txBody>
      </p:sp>
    </p:spTree>
    <p:extLst>
      <p:ext uri="{BB962C8B-B14F-4D97-AF65-F5344CB8AC3E}">
        <p14:creationId xmlns:p14="http://schemas.microsoft.com/office/powerpoint/2010/main" val="24788934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07588"/>
                                        </p:tgtEl>
                                        <p:attrNameLst>
                                          <p:attrName>style.visibility</p:attrName>
                                        </p:attrNameLst>
                                      </p:cBhvr>
                                      <p:to>
                                        <p:strVal val="visible"/>
                                      </p:to>
                                    </p:set>
                                    <p:animEffect transition="in" filter="dissolve">
                                      <p:cBhvr>
                                        <p:cTn id="7" dur="500"/>
                                        <p:tgtEl>
                                          <p:spTgt spid="7075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758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A6AB0ED4-1616-4830-937C-54DBEBA05C04}" type="slidenum">
              <a:rPr lang="en-US" altLang="zh-CN" sz="1200" b="0">
                <a:solidFill>
                  <a:srgbClr val="4D4D4D"/>
                </a:solidFill>
                <a:latin typeface="Arial" charset="0"/>
              </a:rPr>
              <a:pPr eaLnBrk="1" hangingPunct="1"/>
              <a:t>17</a:t>
            </a:fld>
            <a:r>
              <a:rPr lang="en-US" altLang="zh-CN" sz="1200" b="0">
                <a:solidFill>
                  <a:srgbClr val="4D4D4D"/>
                </a:solidFill>
                <a:latin typeface="Arial" charset="0"/>
              </a:rPr>
              <a:t>-</a:t>
            </a:r>
          </a:p>
        </p:txBody>
      </p:sp>
      <p:sp>
        <p:nvSpPr>
          <p:cNvPr id="16387" name="Rectangle 2"/>
          <p:cNvSpPr>
            <a:spLocks noGrp="1" noChangeArrowheads="1"/>
          </p:cNvSpPr>
          <p:nvPr>
            <p:ph type="title"/>
          </p:nvPr>
        </p:nvSpPr>
        <p:spPr/>
        <p:txBody>
          <a:bodyPr/>
          <a:lstStyle/>
          <a:p>
            <a:pPr eaLnBrk="1" hangingPunct="1"/>
            <a:r>
              <a:rPr lang="zh-CN" altLang="en-US"/>
              <a:t>分析阶段的用例</a:t>
            </a:r>
            <a:r>
              <a:rPr lang="en-US" altLang="zh-CN"/>
              <a:t>—</a:t>
            </a:r>
            <a:r>
              <a:rPr lang="zh-CN" altLang="en-US"/>
              <a:t>用例实现</a:t>
            </a:r>
            <a:endParaRPr lang="en-US" altLang="zh-CN"/>
          </a:p>
        </p:txBody>
      </p:sp>
      <p:sp>
        <p:nvSpPr>
          <p:cNvPr id="16388" name="Rectangle 3"/>
          <p:cNvSpPr>
            <a:spLocks noGrp="1" noChangeArrowheads="1"/>
          </p:cNvSpPr>
          <p:nvPr>
            <p:ph type="body" idx="1"/>
          </p:nvPr>
        </p:nvSpPr>
        <p:spPr/>
        <p:txBody>
          <a:bodyPr/>
          <a:lstStyle/>
          <a:p>
            <a:pPr eaLnBrk="1" hangingPunct="1"/>
            <a:r>
              <a:rPr lang="zh-CN" altLang="en-US" dirty="0"/>
              <a:t>用例实现</a:t>
            </a:r>
            <a:r>
              <a:rPr lang="en-US" altLang="zh-CN" dirty="0">
                <a:solidFill>
                  <a:schemeClr val="tx2"/>
                </a:solidFill>
              </a:rPr>
              <a:t>(UML2</a:t>
            </a:r>
            <a:r>
              <a:rPr lang="zh-CN" altLang="en-US" dirty="0">
                <a:solidFill>
                  <a:schemeClr val="tx2"/>
                </a:solidFill>
              </a:rPr>
              <a:t>协作，</a:t>
            </a:r>
            <a:r>
              <a:rPr lang="en-US" altLang="zh-CN" dirty="0">
                <a:solidFill>
                  <a:schemeClr val="tx2"/>
                </a:solidFill>
              </a:rPr>
              <a:t>Collaboration)</a:t>
            </a:r>
            <a:r>
              <a:rPr lang="zh-CN" altLang="en-US" dirty="0"/>
              <a:t>是设计</a:t>
            </a:r>
            <a:r>
              <a:rPr lang="en-US" altLang="zh-CN" dirty="0"/>
              <a:t>(</a:t>
            </a:r>
            <a:r>
              <a:rPr lang="zh-CN" altLang="en-US" dirty="0"/>
              <a:t>分析</a:t>
            </a:r>
            <a:r>
              <a:rPr lang="en-US" altLang="zh-CN" dirty="0"/>
              <a:t>)</a:t>
            </a:r>
            <a:r>
              <a:rPr lang="zh-CN" altLang="en-US" dirty="0"/>
              <a:t>模型中系统用例的表达式</a:t>
            </a:r>
          </a:p>
          <a:p>
            <a:pPr lvl="1" eaLnBrk="1" hangingPunct="1"/>
            <a:r>
              <a:rPr lang="zh-CN" altLang="en-US" dirty="0"/>
              <a:t>使用构造型</a:t>
            </a:r>
            <a:r>
              <a:rPr lang="en-US" altLang="zh-CN" sz="2400" dirty="0"/>
              <a:t>&lt;&lt;use-case realization&gt;&gt;</a:t>
            </a:r>
            <a:r>
              <a:rPr lang="zh-CN" altLang="en-US" sz="2400" dirty="0"/>
              <a:t>，</a:t>
            </a:r>
            <a:r>
              <a:rPr lang="en-US" altLang="zh-CN" sz="2400" dirty="0"/>
              <a:t>EA</a:t>
            </a:r>
            <a:r>
              <a:rPr lang="zh-CN" altLang="en-US" sz="2400" dirty="0"/>
              <a:t>中直接使用协作（</a:t>
            </a:r>
            <a:r>
              <a:rPr lang="en-US" altLang="zh-CN" sz="2400" dirty="0"/>
              <a:t>Collaboration</a:t>
            </a:r>
            <a:r>
              <a:rPr lang="zh-CN" altLang="en-US" sz="2400" dirty="0"/>
              <a:t>）来表示</a:t>
            </a:r>
            <a:endParaRPr lang="en-US" altLang="zh-CN" sz="2400" dirty="0"/>
          </a:p>
          <a:p>
            <a:pPr lvl="1" eaLnBrk="1" hangingPunct="1"/>
            <a:r>
              <a:rPr lang="zh-CN" altLang="en-US" dirty="0"/>
              <a:t>描述了对象间的协作以完成用例目标</a:t>
            </a:r>
          </a:p>
          <a:p>
            <a:pPr lvl="1" eaLnBrk="1" hangingPunct="1"/>
            <a:r>
              <a:rPr lang="zh-CN" altLang="en-US" dirty="0"/>
              <a:t>将用例模型中的用例和设计</a:t>
            </a:r>
            <a:r>
              <a:rPr lang="en-US" altLang="zh-CN" dirty="0"/>
              <a:t>(</a:t>
            </a:r>
            <a:r>
              <a:rPr lang="zh-CN" altLang="en-US" dirty="0"/>
              <a:t>分析</a:t>
            </a:r>
            <a:r>
              <a:rPr lang="en-US" altLang="zh-CN" dirty="0"/>
              <a:t>)</a:t>
            </a:r>
            <a:r>
              <a:rPr lang="zh-CN" altLang="en-US" dirty="0"/>
              <a:t>模型中的类和关系连接在一起</a:t>
            </a:r>
          </a:p>
          <a:p>
            <a:pPr lvl="1" eaLnBrk="1" hangingPunct="1"/>
            <a:r>
              <a:rPr lang="zh-CN" altLang="en-US" dirty="0"/>
              <a:t>说明了每个用例必须用那些类来实现</a:t>
            </a:r>
          </a:p>
          <a:p>
            <a:pPr eaLnBrk="1" hangingPunct="1"/>
            <a:r>
              <a:rPr lang="zh-CN" altLang="en-US" dirty="0"/>
              <a:t>用例实现提供了从分析和设计到需求的可跟踪性</a:t>
            </a:r>
            <a:endParaRPr lang="en-US" altLang="zh-C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161B4649-60A5-4DCF-99DB-85ED6C295C86}" type="slidenum">
              <a:rPr lang="en-US" altLang="zh-CN" sz="1200" b="0">
                <a:solidFill>
                  <a:srgbClr val="4D4D4D"/>
                </a:solidFill>
                <a:latin typeface="Arial" charset="0"/>
              </a:rPr>
              <a:pPr eaLnBrk="1" hangingPunct="1"/>
              <a:t>18</a:t>
            </a:fld>
            <a:r>
              <a:rPr lang="en-US" altLang="zh-CN" sz="1200" b="0">
                <a:solidFill>
                  <a:srgbClr val="4D4D4D"/>
                </a:solidFill>
                <a:latin typeface="Arial" charset="0"/>
              </a:rPr>
              <a:t>-</a:t>
            </a:r>
          </a:p>
        </p:txBody>
      </p:sp>
      <p:sp>
        <p:nvSpPr>
          <p:cNvPr id="17411" name="Rectangle 2"/>
          <p:cNvSpPr>
            <a:spLocks noGrp="1" noChangeArrowheads="1"/>
          </p:cNvSpPr>
          <p:nvPr>
            <p:ph type="title"/>
          </p:nvPr>
        </p:nvSpPr>
        <p:spPr/>
        <p:txBody>
          <a:bodyPr/>
          <a:lstStyle/>
          <a:p>
            <a:pPr eaLnBrk="1" hangingPunct="1"/>
            <a:r>
              <a:rPr lang="zh-CN" altLang="en-US"/>
              <a:t>创建用例实现</a:t>
            </a:r>
            <a:endParaRPr lang="en-US" altLang="zh-CN"/>
          </a:p>
        </p:txBody>
      </p:sp>
      <p:pic>
        <p:nvPicPr>
          <p:cNvPr id="1741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6276" y="1196976"/>
            <a:ext cx="5472113" cy="1535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45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00375" y="3457576"/>
            <a:ext cx="1390650"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5"/>
          <p:cNvGrpSpPr>
            <a:grpSpLocks/>
          </p:cNvGrpSpPr>
          <p:nvPr/>
        </p:nvGrpSpPr>
        <p:grpSpPr bwMode="auto">
          <a:xfrm>
            <a:off x="4727575" y="3097213"/>
            <a:ext cx="5672138" cy="2419350"/>
            <a:chOff x="2018" y="1951"/>
            <a:chExt cx="3573" cy="1524"/>
          </a:xfrm>
        </p:grpSpPr>
        <p:pic>
          <p:nvPicPr>
            <p:cNvPr id="17415"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9" y="1951"/>
              <a:ext cx="2892" cy="1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6" name="AutoShape 7"/>
            <p:cNvSpPr>
              <a:spLocks noChangeArrowheads="1"/>
            </p:cNvSpPr>
            <p:nvPr/>
          </p:nvSpPr>
          <p:spPr bwMode="auto">
            <a:xfrm>
              <a:off x="2018" y="2586"/>
              <a:ext cx="453" cy="181"/>
            </a:xfrm>
            <a:prstGeom prst="rightArrow">
              <a:avLst>
                <a:gd name="adj1" fmla="val 50000"/>
                <a:gd name="adj2" fmla="val 62569"/>
              </a:avLst>
            </a:prstGeom>
            <a:solidFill>
              <a:srgbClr val="FF0000"/>
            </a:solidFill>
            <a:ln w="9525">
              <a:solidFill>
                <a:srgbClr val="800000"/>
              </a:solidFill>
              <a:miter lim="800000"/>
              <a:headEnd/>
              <a:tailEnd/>
            </a:ln>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04516"/>
                                        </p:tgtEl>
                                        <p:attrNameLst>
                                          <p:attrName>style.visibility</p:attrName>
                                        </p:attrNameLst>
                                      </p:cBhvr>
                                      <p:to>
                                        <p:strVal val="visible"/>
                                      </p:to>
                                    </p:set>
                                    <p:animEffect transition="in" filter="dissolve">
                                      <p:cBhvr>
                                        <p:cTn id="7" dur="500"/>
                                        <p:tgtEl>
                                          <p:spTgt spid="7045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lide(fromLeft)">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p:txBody>
          <a:bodyPr/>
          <a:lstStyle/>
          <a:p>
            <a:pPr eaLnBrk="1" hangingPunct="1"/>
            <a:r>
              <a:rPr lang="zh-CN" altLang="en-US" sz="4000"/>
              <a:t>实例</a:t>
            </a:r>
            <a:r>
              <a:rPr lang="en-US" altLang="zh-CN" sz="4000"/>
              <a:t>-</a:t>
            </a:r>
            <a:r>
              <a:rPr lang="zh-CN" altLang="en-US" sz="4000"/>
              <a:t>旅店预订系统的迭代和用例实现</a:t>
            </a:r>
            <a:endParaRPr lang="en-US" altLang="zh-CN" sz="4000"/>
          </a:p>
        </p:txBody>
      </p:sp>
      <p:sp>
        <p:nvSpPr>
          <p:cNvPr id="2150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10F67C48-9B0F-4DDA-8E9C-EA3F1C2F6808}" type="slidenum">
              <a:rPr lang="en-US" altLang="zh-CN" sz="1200" b="0">
                <a:solidFill>
                  <a:srgbClr val="4D4D4D"/>
                </a:solidFill>
                <a:latin typeface="Arial" charset="0"/>
              </a:rPr>
              <a:pPr eaLnBrk="1" hangingPunct="1"/>
              <a:t>19</a:t>
            </a:fld>
            <a:r>
              <a:rPr lang="en-US" altLang="zh-CN" sz="1200" b="0">
                <a:solidFill>
                  <a:srgbClr val="4D4D4D"/>
                </a:solidFill>
                <a:latin typeface="Arial" charset="0"/>
              </a:rPr>
              <a:t>-</a:t>
            </a:r>
          </a:p>
        </p:txBody>
      </p:sp>
      <p:pic>
        <p:nvPicPr>
          <p:cNvPr id="70963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1" y="1518444"/>
            <a:ext cx="4321175" cy="3821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96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0825" y="1395413"/>
            <a:ext cx="3455988" cy="166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5"/>
          <p:cNvGrpSpPr>
            <a:grpSpLocks/>
          </p:cNvGrpSpPr>
          <p:nvPr/>
        </p:nvGrpSpPr>
        <p:grpSpPr bwMode="auto">
          <a:xfrm>
            <a:off x="6600825" y="3411538"/>
            <a:ext cx="3671888" cy="2393950"/>
            <a:chOff x="3152" y="2115"/>
            <a:chExt cx="2313" cy="1508"/>
          </a:xfrm>
        </p:grpSpPr>
        <p:pic>
          <p:nvPicPr>
            <p:cNvPr id="21511"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52" y="2115"/>
              <a:ext cx="2313" cy="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12"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52" y="2890"/>
              <a:ext cx="2313" cy="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09635"/>
                                        </p:tgtEl>
                                        <p:attrNameLst>
                                          <p:attrName>style.visibility</p:attrName>
                                        </p:attrNameLst>
                                      </p:cBhvr>
                                      <p:to>
                                        <p:strVal val="visible"/>
                                      </p:to>
                                    </p:set>
                                    <p:animEffect transition="in" filter="dissolve">
                                      <p:cBhvr>
                                        <p:cTn id="7" dur="500"/>
                                        <p:tgtEl>
                                          <p:spTgt spid="7096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09636"/>
                                        </p:tgtEl>
                                        <p:attrNameLst>
                                          <p:attrName>style.visibility</p:attrName>
                                        </p:attrNameLst>
                                      </p:cBhvr>
                                      <p:to>
                                        <p:strVal val="visible"/>
                                      </p:to>
                                    </p:set>
                                    <p:animEffect transition="in" filter="dissolve">
                                      <p:cBhvr>
                                        <p:cTn id="12" dur="500"/>
                                        <p:tgtEl>
                                          <p:spTgt spid="7096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23A3B175-753F-47C7-9C1B-6CAC3E9EA1A8}" type="slidenum">
              <a:rPr lang="en-US" altLang="zh-CN" sz="1200" b="0">
                <a:solidFill>
                  <a:srgbClr val="4D4D4D"/>
                </a:solidFill>
                <a:latin typeface="Arial" charset="0"/>
              </a:rPr>
              <a:pPr eaLnBrk="1" hangingPunct="1"/>
              <a:t>20</a:t>
            </a:fld>
            <a:r>
              <a:rPr lang="en-US" altLang="zh-CN" sz="1200" b="0">
                <a:solidFill>
                  <a:srgbClr val="4D4D4D"/>
                </a:solidFill>
                <a:latin typeface="Arial" charset="0"/>
              </a:rPr>
              <a:t>-</a:t>
            </a:r>
          </a:p>
        </p:txBody>
      </p:sp>
      <p:sp>
        <p:nvSpPr>
          <p:cNvPr id="22531" name="Rectangle 2"/>
          <p:cNvSpPr>
            <a:spLocks noGrp="1" noChangeArrowheads="1"/>
          </p:cNvSpPr>
          <p:nvPr>
            <p:ph type="title"/>
          </p:nvPr>
        </p:nvSpPr>
        <p:spPr/>
        <p:txBody>
          <a:bodyPr/>
          <a:lstStyle/>
          <a:p>
            <a:pPr eaLnBrk="1" hangingPunct="1"/>
            <a:r>
              <a:rPr lang="zh-CN" altLang="en-US" sz="4000"/>
              <a:t>实例</a:t>
            </a:r>
            <a:r>
              <a:rPr lang="en-US" altLang="zh-CN" sz="4000"/>
              <a:t>-</a:t>
            </a:r>
            <a:r>
              <a:rPr lang="zh-CN" altLang="en-US" sz="4000"/>
              <a:t>旅游申请系统迭代</a:t>
            </a:r>
            <a:r>
              <a:rPr lang="en-US" altLang="zh-CN" sz="4000"/>
              <a:t>1</a:t>
            </a:r>
          </a:p>
        </p:txBody>
      </p:sp>
      <p:pic>
        <p:nvPicPr>
          <p:cNvPr id="22532"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1089" y="1268414"/>
            <a:ext cx="7056437" cy="421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FF8A3EC4-C10E-44A5-97D6-4EED3AB4BCA9}" type="slidenum">
              <a:rPr lang="en-US" altLang="zh-CN" sz="1200" b="0">
                <a:solidFill>
                  <a:srgbClr val="4D4D4D"/>
                </a:solidFill>
                <a:latin typeface="Arial" charset="0"/>
              </a:rPr>
              <a:pPr eaLnBrk="1" hangingPunct="1"/>
              <a:t>21</a:t>
            </a:fld>
            <a:r>
              <a:rPr lang="en-US" altLang="zh-CN" sz="1200" b="0">
                <a:solidFill>
                  <a:srgbClr val="4D4D4D"/>
                </a:solidFill>
                <a:latin typeface="Arial" charset="0"/>
              </a:rPr>
              <a:t>-</a:t>
            </a:r>
          </a:p>
        </p:txBody>
      </p:sp>
      <p:sp>
        <p:nvSpPr>
          <p:cNvPr id="23555" name="Rectangle 2"/>
          <p:cNvSpPr>
            <a:spLocks noGrp="1" noChangeArrowheads="1"/>
          </p:cNvSpPr>
          <p:nvPr>
            <p:ph type="title"/>
          </p:nvPr>
        </p:nvSpPr>
        <p:spPr/>
        <p:txBody>
          <a:bodyPr/>
          <a:lstStyle/>
          <a:p>
            <a:pPr eaLnBrk="1" hangingPunct="1"/>
            <a:r>
              <a:rPr lang="zh-CN" altLang="en-US"/>
              <a:t>内容安排</a:t>
            </a:r>
            <a:endParaRPr lang="en-US" altLang="zh-CN"/>
          </a:p>
        </p:txBody>
      </p:sp>
      <p:sp>
        <p:nvSpPr>
          <p:cNvPr id="710659" name="Rectangle 3"/>
          <p:cNvSpPr>
            <a:spLocks noGrp="1" noChangeArrowheads="1"/>
          </p:cNvSpPr>
          <p:nvPr>
            <p:ph type="body" idx="1"/>
          </p:nvPr>
        </p:nvSpPr>
        <p:spPr/>
        <p:txBody>
          <a:bodyPr/>
          <a:lstStyle/>
          <a:p>
            <a:pPr eaLnBrk="1" hangingPunct="1">
              <a:defRPr/>
            </a:pPr>
            <a:r>
              <a:rPr lang="zh-CN" altLang="en-US" dirty="0">
                <a:solidFill>
                  <a:srgbClr val="4D4D4D"/>
                </a:solidFill>
              </a:rPr>
              <a:t>理解分析</a:t>
            </a:r>
          </a:p>
          <a:p>
            <a:pPr eaLnBrk="1" hangingPunct="1">
              <a:defRPr/>
            </a:pPr>
            <a:r>
              <a:rPr kumimoji="0" lang="zh-CN" altLang="en-US" dirty="0">
                <a:solidFill>
                  <a:srgbClr val="4D4D4D"/>
                </a:solidFill>
              </a:rPr>
              <a:t>从用例开始分析</a:t>
            </a:r>
          </a:p>
          <a:p>
            <a:pPr eaLnBrk="1" hangingPunct="1">
              <a:defRPr/>
            </a:pPr>
            <a:r>
              <a:rPr kumimoji="0" lang="zh-CN" altLang="en-US" dirty="0">
                <a:solidFill>
                  <a:schemeClr val="hlink"/>
                </a:solidFill>
                <a:effectLst>
                  <a:outerShdw blurRad="38100" dist="38100" dir="2700000" algn="tl">
                    <a:srgbClr val="C0C0C0"/>
                  </a:outerShdw>
                </a:effectLst>
              </a:rPr>
              <a:t>架构分析</a:t>
            </a:r>
          </a:p>
          <a:p>
            <a:pPr eaLnBrk="1" hangingPunct="1">
              <a:defRPr/>
            </a:pPr>
            <a:r>
              <a:rPr kumimoji="0" lang="zh-CN" altLang="en-US" dirty="0"/>
              <a:t>构造用例实现</a:t>
            </a:r>
          </a:p>
          <a:p>
            <a:pPr eaLnBrk="1" hangingPunct="1">
              <a:defRPr/>
            </a:pPr>
            <a:r>
              <a:rPr kumimoji="0" lang="zh-CN" altLang="en-US" dirty="0"/>
              <a:t>定义分析类</a:t>
            </a:r>
            <a:endParaRPr kumimoji="0" lang="en-US" altLang="zh-C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A7FF2C9D-0260-472A-A88A-28DE4A7ED41D}" type="slidenum">
              <a:rPr lang="en-US" altLang="zh-CN" sz="1200" b="0">
                <a:solidFill>
                  <a:srgbClr val="4D4D4D"/>
                </a:solidFill>
                <a:latin typeface="Arial" charset="0"/>
              </a:rPr>
              <a:pPr eaLnBrk="1" hangingPunct="1"/>
              <a:t>22</a:t>
            </a:fld>
            <a:r>
              <a:rPr lang="en-US" altLang="zh-CN" sz="1200" b="0">
                <a:solidFill>
                  <a:srgbClr val="4D4D4D"/>
                </a:solidFill>
                <a:latin typeface="Arial" charset="0"/>
              </a:rPr>
              <a:t>-</a:t>
            </a:r>
          </a:p>
        </p:txBody>
      </p:sp>
      <p:sp>
        <p:nvSpPr>
          <p:cNvPr id="24579" name="Rectangle 2"/>
          <p:cNvSpPr>
            <a:spLocks noGrp="1" noChangeArrowheads="1"/>
          </p:cNvSpPr>
          <p:nvPr>
            <p:ph type="title"/>
          </p:nvPr>
        </p:nvSpPr>
        <p:spPr/>
        <p:txBody>
          <a:bodyPr/>
          <a:lstStyle/>
          <a:p>
            <a:pPr eaLnBrk="1" hangingPunct="1"/>
            <a:r>
              <a:rPr lang="zh-CN" altLang="en-US" dirty="0"/>
              <a:t>架构分析</a:t>
            </a:r>
            <a:endParaRPr lang="en-US" altLang="zh-CN" dirty="0"/>
          </a:p>
        </p:txBody>
      </p:sp>
      <p:sp>
        <p:nvSpPr>
          <p:cNvPr id="712707" name="Rectangle 3"/>
          <p:cNvSpPr>
            <a:spLocks noGrp="1" noChangeArrowheads="1"/>
          </p:cNvSpPr>
          <p:nvPr>
            <p:ph type="body" idx="1"/>
          </p:nvPr>
        </p:nvSpPr>
        <p:spPr/>
        <p:txBody>
          <a:bodyPr/>
          <a:lstStyle/>
          <a:p>
            <a:pPr eaLnBrk="1" hangingPunct="1">
              <a:defRPr/>
            </a:pPr>
            <a:r>
              <a:rPr lang="zh-CN" altLang="en-US" dirty="0"/>
              <a:t>架构分析的过程就是定义系统</a:t>
            </a:r>
            <a:r>
              <a:rPr lang="zh-CN" altLang="en-US" dirty="0">
                <a:solidFill>
                  <a:schemeClr val="hlink"/>
                </a:solidFill>
                <a:effectLst>
                  <a:outerShdw blurRad="38100" dist="38100" dir="2700000" algn="tl">
                    <a:srgbClr val="C0C0C0"/>
                  </a:outerShdw>
                </a:effectLst>
              </a:rPr>
              <a:t>高层组织结构</a:t>
            </a:r>
            <a:r>
              <a:rPr lang="zh-CN" altLang="en-US" dirty="0"/>
              <a:t>和核心</a:t>
            </a:r>
            <a:r>
              <a:rPr lang="zh-CN" altLang="en-US" dirty="0">
                <a:solidFill>
                  <a:schemeClr val="hlink"/>
                </a:solidFill>
                <a:effectLst>
                  <a:outerShdw blurRad="38100" dist="38100" dir="2700000" algn="tl">
                    <a:srgbClr val="C0C0C0"/>
                  </a:outerShdw>
                </a:effectLst>
              </a:rPr>
              <a:t>架构机制</a:t>
            </a:r>
            <a:r>
              <a:rPr lang="zh-CN" altLang="en-US" dirty="0"/>
              <a:t>的过程</a:t>
            </a:r>
          </a:p>
          <a:p>
            <a:pPr lvl="1" eaLnBrk="1" hangingPunct="1">
              <a:defRPr/>
            </a:pPr>
            <a:r>
              <a:rPr lang="en-US" altLang="zh-CN" dirty="0"/>
              <a:t>1.</a:t>
            </a:r>
            <a:r>
              <a:rPr lang="zh-CN" altLang="en-US" dirty="0"/>
              <a:t>定义系统高层组织结构</a:t>
            </a:r>
            <a:r>
              <a:rPr lang="en-US" altLang="zh-CN" dirty="0"/>
              <a:t>—</a:t>
            </a:r>
            <a:r>
              <a:rPr lang="zh-CN" altLang="en-US" dirty="0"/>
              <a:t>备选架构</a:t>
            </a:r>
            <a:endParaRPr lang="en-US" altLang="zh-CN" dirty="0"/>
          </a:p>
          <a:p>
            <a:pPr lvl="1" eaLnBrk="1" hangingPunct="1">
              <a:defRPr/>
            </a:pPr>
            <a:r>
              <a:rPr lang="en-US" altLang="zh-CN" dirty="0"/>
              <a:t>2.</a:t>
            </a:r>
            <a:r>
              <a:rPr lang="zh-CN" altLang="en-US" dirty="0"/>
              <a:t>确定系统通用架构机制</a:t>
            </a:r>
            <a:r>
              <a:rPr lang="en-US" altLang="zh-CN" dirty="0"/>
              <a:t>—</a:t>
            </a:r>
            <a:r>
              <a:rPr lang="zh-CN" altLang="en-US" dirty="0"/>
              <a:t>分析机制</a:t>
            </a:r>
          </a:p>
          <a:p>
            <a:pPr lvl="1" eaLnBrk="1" hangingPunct="1">
              <a:defRPr/>
            </a:pPr>
            <a:r>
              <a:rPr lang="en-US" altLang="zh-CN" dirty="0"/>
              <a:t>3.</a:t>
            </a:r>
            <a:r>
              <a:rPr lang="zh-CN" altLang="en-US" dirty="0"/>
              <a:t>提取系统的关键抽象以揭示系统必须能够处理的核心概念</a:t>
            </a:r>
            <a:r>
              <a:rPr lang="en-US" altLang="zh-CN" dirty="0"/>
              <a:t>—</a:t>
            </a:r>
            <a:r>
              <a:rPr lang="zh-CN" altLang="en-US" dirty="0"/>
              <a:t>关键抽象</a:t>
            </a:r>
          </a:p>
          <a:p>
            <a:pPr lvl="1" eaLnBrk="1" hangingPunct="1">
              <a:defRPr/>
            </a:pPr>
            <a:r>
              <a:rPr lang="en-US" altLang="zh-CN" dirty="0">
                <a:solidFill>
                  <a:srgbClr val="4D4D4D"/>
                </a:solidFill>
              </a:rPr>
              <a:t>4. </a:t>
            </a:r>
            <a:r>
              <a:rPr lang="zh-CN" altLang="en-US" dirty="0">
                <a:solidFill>
                  <a:srgbClr val="4D4D4D"/>
                </a:solidFill>
              </a:rPr>
              <a:t>创建用例实现来启动用例分析</a:t>
            </a:r>
            <a:r>
              <a:rPr lang="en-US" altLang="zh-CN" dirty="0">
                <a:solidFill>
                  <a:srgbClr val="4D4D4D"/>
                </a:solidFill>
              </a:rPr>
              <a:t>—</a:t>
            </a:r>
            <a:r>
              <a:rPr lang="zh-CN" altLang="en-US" dirty="0">
                <a:solidFill>
                  <a:srgbClr val="4D4D4D"/>
                </a:solidFill>
              </a:rPr>
              <a:t>用例实现</a:t>
            </a:r>
            <a:r>
              <a:rPr lang="zh-CN" altLang="en-US" dirty="0"/>
              <a:t> </a:t>
            </a:r>
          </a:p>
          <a:p>
            <a:pPr lvl="1" eaLnBrk="1" hangingPunct="1">
              <a:defRPr/>
            </a:pPr>
            <a:endParaRPr lang="en-US" altLang="zh-CN"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3C8B2568-91EA-41DB-8372-F4B1D4339D9E}" type="slidenum">
              <a:rPr lang="en-US" altLang="zh-CN" sz="1200" b="0">
                <a:solidFill>
                  <a:srgbClr val="4D4D4D"/>
                </a:solidFill>
                <a:latin typeface="Arial" charset="0"/>
              </a:rPr>
              <a:pPr eaLnBrk="1" hangingPunct="1"/>
              <a:t>23</a:t>
            </a:fld>
            <a:r>
              <a:rPr lang="en-US" altLang="zh-CN" sz="1200" b="0">
                <a:solidFill>
                  <a:srgbClr val="4D4D4D"/>
                </a:solidFill>
                <a:latin typeface="Arial" charset="0"/>
              </a:rPr>
              <a:t>-</a:t>
            </a:r>
          </a:p>
        </p:txBody>
      </p:sp>
      <p:sp>
        <p:nvSpPr>
          <p:cNvPr id="25603" name="Rectangle 2"/>
          <p:cNvSpPr>
            <a:spLocks noGrp="1" noChangeArrowheads="1"/>
          </p:cNvSpPr>
          <p:nvPr>
            <p:ph type="title"/>
          </p:nvPr>
        </p:nvSpPr>
        <p:spPr/>
        <p:txBody>
          <a:bodyPr/>
          <a:lstStyle/>
          <a:p>
            <a:pPr eaLnBrk="1" hangingPunct="1"/>
            <a:r>
              <a:rPr lang="en-US" altLang="zh-CN" dirty="0"/>
              <a:t>1.</a:t>
            </a:r>
            <a:r>
              <a:rPr lang="zh-CN" altLang="en-US" dirty="0"/>
              <a:t>定义备选架构</a:t>
            </a:r>
          </a:p>
        </p:txBody>
      </p:sp>
      <p:sp>
        <p:nvSpPr>
          <p:cNvPr id="25604" name="Rectangle 3"/>
          <p:cNvSpPr>
            <a:spLocks noGrp="1" noChangeArrowheads="1"/>
          </p:cNvSpPr>
          <p:nvPr>
            <p:ph type="body" idx="1"/>
          </p:nvPr>
        </p:nvSpPr>
        <p:spPr/>
        <p:txBody>
          <a:bodyPr/>
          <a:lstStyle/>
          <a:p>
            <a:pPr eaLnBrk="1" hangingPunct="1"/>
            <a:r>
              <a:rPr lang="zh-CN" altLang="en-US" dirty="0"/>
              <a:t>定义备选架构</a:t>
            </a:r>
            <a:endParaRPr lang="en-US" altLang="zh-CN" dirty="0"/>
          </a:p>
          <a:p>
            <a:pPr lvl="1" eaLnBrk="1" hangingPunct="1"/>
            <a:r>
              <a:rPr lang="zh-CN" altLang="en-US" dirty="0"/>
              <a:t>架构的初始草图</a:t>
            </a:r>
          </a:p>
          <a:p>
            <a:pPr lvl="1" eaLnBrk="1" hangingPunct="1"/>
            <a:r>
              <a:rPr lang="zh-CN" altLang="en-US" dirty="0"/>
              <a:t>初步定义系统的分层与组织</a:t>
            </a:r>
          </a:p>
          <a:p>
            <a:pPr lvl="1" eaLnBrk="1" hangingPunct="1"/>
            <a:r>
              <a:rPr lang="zh-CN" altLang="en-US" dirty="0"/>
              <a:t>初步定义一组在架构方面具有重要意义的元素，以作为分析的基础</a:t>
            </a:r>
          </a:p>
          <a:p>
            <a:pPr lvl="1" eaLnBrk="1" hangingPunct="1"/>
            <a:r>
              <a:rPr lang="zh-CN" altLang="en-US" dirty="0"/>
              <a:t>初步定义一组分析机制</a:t>
            </a:r>
          </a:p>
          <a:p>
            <a:pPr lvl="1" eaLnBrk="1" hangingPunct="1"/>
            <a:r>
              <a:rPr lang="zh-CN" altLang="en-US" dirty="0"/>
              <a:t>定义要在当前迭代中处理的用例实现</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A1192142-A18A-4BF4-9D81-43DAC9E04886}" type="slidenum">
              <a:rPr lang="en-US" altLang="zh-CN" sz="1200" b="0">
                <a:solidFill>
                  <a:srgbClr val="4D4D4D"/>
                </a:solidFill>
                <a:latin typeface="Arial" charset="0"/>
              </a:rPr>
              <a:pPr eaLnBrk="1" hangingPunct="1"/>
              <a:t>24</a:t>
            </a:fld>
            <a:r>
              <a:rPr lang="en-US" altLang="zh-CN" sz="1200" b="0">
                <a:solidFill>
                  <a:srgbClr val="4D4D4D"/>
                </a:solidFill>
                <a:latin typeface="Arial" charset="0"/>
              </a:rPr>
              <a:t>-</a:t>
            </a:r>
          </a:p>
        </p:txBody>
      </p:sp>
      <p:sp>
        <p:nvSpPr>
          <p:cNvPr id="26627" name="Rectangle 2"/>
          <p:cNvSpPr>
            <a:spLocks noGrp="1" noChangeArrowheads="1"/>
          </p:cNvSpPr>
          <p:nvPr>
            <p:ph type="title"/>
          </p:nvPr>
        </p:nvSpPr>
        <p:spPr/>
        <p:txBody>
          <a:bodyPr/>
          <a:lstStyle/>
          <a:p>
            <a:pPr eaLnBrk="1" hangingPunct="1"/>
            <a:r>
              <a:rPr lang="zh-CN" altLang="en-US" dirty="0"/>
              <a:t>备选架构模式</a:t>
            </a:r>
            <a:endParaRPr lang="en-US" altLang="zh-CN" dirty="0"/>
          </a:p>
        </p:txBody>
      </p:sp>
      <p:sp>
        <p:nvSpPr>
          <p:cNvPr id="26628" name="Rectangle 3"/>
          <p:cNvSpPr>
            <a:spLocks noGrp="1" noChangeArrowheads="1"/>
          </p:cNvSpPr>
          <p:nvPr>
            <p:ph type="body" idx="1"/>
          </p:nvPr>
        </p:nvSpPr>
        <p:spPr/>
        <p:txBody>
          <a:bodyPr/>
          <a:lstStyle/>
          <a:p>
            <a:pPr eaLnBrk="1" hangingPunct="1"/>
            <a:r>
              <a:rPr lang="zh-CN" altLang="en-US" dirty="0"/>
              <a:t>架构模式表示了对软件系统的一个基础结构组织形式。它提供了一套预定义子系统，详细说明它们的职责，并且包括组织它们之间的规则和指南</a:t>
            </a:r>
          </a:p>
          <a:p>
            <a:pPr lvl="1" eaLnBrk="1" hangingPunct="1"/>
            <a:r>
              <a:rPr lang="zh-CN" altLang="en-US" dirty="0"/>
              <a:t>层</a:t>
            </a:r>
          </a:p>
          <a:p>
            <a:pPr lvl="1" eaLnBrk="1" hangingPunct="1"/>
            <a:r>
              <a:rPr lang="zh-CN" altLang="en-US" dirty="0"/>
              <a:t>模型</a:t>
            </a:r>
            <a:r>
              <a:rPr lang="en-US" altLang="zh-CN" dirty="0"/>
              <a:t>-</a:t>
            </a:r>
            <a:r>
              <a:rPr lang="zh-CN" altLang="en-US" dirty="0"/>
              <a:t>视图</a:t>
            </a:r>
            <a:r>
              <a:rPr lang="en-US" altLang="zh-CN" dirty="0"/>
              <a:t>-</a:t>
            </a:r>
            <a:r>
              <a:rPr lang="zh-CN" altLang="en-US" dirty="0"/>
              <a:t>控制器</a:t>
            </a:r>
            <a:r>
              <a:rPr lang="en-US" altLang="zh-CN" dirty="0"/>
              <a:t>(M-V-C)</a:t>
            </a:r>
          </a:p>
          <a:p>
            <a:pPr lvl="1" eaLnBrk="1" hangingPunct="1"/>
            <a:r>
              <a:rPr lang="zh-CN" altLang="en-US" dirty="0"/>
              <a:t>管道和过滤器</a:t>
            </a:r>
          </a:p>
          <a:p>
            <a:pPr lvl="1" eaLnBrk="1" hangingPunct="1"/>
            <a:r>
              <a:rPr lang="zh-CN" altLang="en-US" dirty="0"/>
              <a:t>黑板</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5861B07D-87DA-4336-8B38-9F20D12AB7FD}" type="slidenum">
              <a:rPr lang="en-US" altLang="zh-CN" sz="1200" b="0">
                <a:solidFill>
                  <a:srgbClr val="4D4D4D"/>
                </a:solidFill>
                <a:latin typeface="Arial" charset="0"/>
              </a:rPr>
              <a:pPr eaLnBrk="1" hangingPunct="1"/>
              <a:t>25</a:t>
            </a:fld>
            <a:r>
              <a:rPr lang="en-US" altLang="zh-CN" sz="1200" b="0">
                <a:solidFill>
                  <a:srgbClr val="4D4D4D"/>
                </a:solidFill>
                <a:latin typeface="Arial" charset="0"/>
              </a:rPr>
              <a:t>-</a:t>
            </a:r>
          </a:p>
        </p:txBody>
      </p:sp>
      <p:sp>
        <p:nvSpPr>
          <p:cNvPr id="27651" name="Rectangle 2"/>
          <p:cNvSpPr>
            <a:spLocks noGrp="1" noChangeArrowheads="1"/>
          </p:cNvSpPr>
          <p:nvPr>
            <p:ph type="title"/>
          </p:nvPr>
        </p:nvSpPr>
        <p:spPr/>
        <p:txBody>
          <a:bodyPr/>
          <a:lstStyle/>
          <a:p>
            <a:pPr eaLnBrk="1" hangingPunct="1"/>
            <a:r>
              <a:rPr lang="zh-CN" altLang="en-US" dirty="0"/>
              <a:t>分层架构动机</a:t>
            </a:r>
          </a:p>
        </p:txBody>
      </p:sp>
      <p:sp>
        <p:nvSpPr>
          <p:cNvPr id="27652" name="Rectangle 3"/>
          <p:cNvSpPr>
            <a:spLocks noGrp="1" noChangeArrowheads="1"/>
          </p:cNvSpPr>
          <p:nvPr>
            <p:ph type="body" idx="1"/>
          </p:nvPr>
        </p:nvSpPr>
        <p:spPr/>
        <p:txBody>
          <a:bodyPr/>
          <a:lstStyle/>
          <a:p>
            <a:pPr eaLnBrk="1" hangingPunct="1"/>
            <a:r>
              <a:rPr lang="zh-CN" altLang="en-US"/>
              <a:t>将应用逻辑作为单独的构件从系统中分离出来，以便这些构件在其他系统中能得到重用</a:t>
            </a:r>
          </a:p>
          <a:p>
            <a:pPr eaLnBrk="1" hangingPunct="1"/>
            <a:r>
              <a:rPr lang="zh-CN" altLang="en-US"/>
              <a:t>将各个层次分配到各个不同的物理计算节点，或者分配给不同的进程。这样可以改善系统性能、更好地支持客户和服务器系统中的信息共享和协调</a:t>
            </a:r>
          </a:p>
          <a:p>
            <a:pPr eaLnBrk="1" hangingPunct="1"/>
            <a:r>
              <a:rPr lang="zh-CN" altLang="en-US"/>
              <a:t>将不同层的开发任务在开发者之间适当地分配，这可以有效地利用开发人员的专长和开发技巧，并且能够提高并行开发能力</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0E8678A2-65BC-43A8-90A3-B5CAC0CA1B3A}" type="slidenum">
              <a:rPr lang="en-US" altLang="zh-CN" sz="1200" b="0">
                <a:solidFill>
                  <a:srgbClr val="4D4D4D"/>
                </a:solidFill>
                <a:latin typeface="Arial" charset="0"/>
              </a:rPr>
              <a:pPr eaLnBrk="1" hangingPunct="1"/>
              <a:t>26</a:t>
            </a:fld>
            <a:r>
              <a:rPr lang="en-US" altLang="zh-CN" sz="1200" b="0">
                <a:solidFill>
                  <a:srgbClr val="4D4D4D"/>
                </a:solidFill>
                <a:latin typeface="Arial" charset="0"/>
              </a:rPr>
              <a:t>-</a:t>
            </a:r>
          </a:p>
        </p:txBody>
      </p:sp>
      <p:sp>
        <p:nvSpPr>
          <p:cNvPr id="28675" name="Rectangle 2"/>
          <p:cNvSpPr>
            <a:spLocks noGrp="1" noChangeArrowheads="1"/>
          </p:cNvSpPr>
          <p:nvPr>
            <p:ph type="title"/>
          </p:nvPr>
        </p:nvSpPr>
        <p:spPr/>
        <p:txBody>
          <a:bodyPr/>
          <a:lstStyle/>
          <a:p>
            <a:pPr eaLnBrk="1" hangingPunct="1"/>
            <a:r>
              <a:rPr lang="zh-CN" altLang="en-US" dirty="0"/>
              <a:t>分析阶段备选分层架构</a:t>
            </a:r>
            <a:r>
              <a:rPr lang="en-US" altLang="zh-CN" dirty="0"/>
              <a:t>B-C-E</a:t>
            </a:r>
            <a:endParaRPr lang="zh-CN" altLang="en-US" dirty="0"/>
          </a:p>
        </p:txBody>
      </p:sp>
      <p:pic>
        <p:nvPicPr>
          <p:cNvPr id="286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7350" y="1052513"/>
            <a:ext cx="6840538" cy="5226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F79E9A77-ED46-4054-997E-88AD91E0EE32}" type="slidenum">
              <a:rPr lang="en-US" altLang="zh-CN" sz="1200" b="0">
                <a:solidFill>
                  <a:srgbClr val="4D4D4D"/>
                </a:solidFill>
                <a:latin typeface="Arial" charset="0"/>
              </a:rPr>
              <a:pPr eaLnBrk="1" hangingPunct="1"/>
              <a:t>27</a:t>
            </a:fld>
            <a:r>
              <a:rPr lang="en-US" altLang="zh-CN" sz="1200" b="0">
                <a:solidFill>
                  <a:srgbClr val="4D4D4D"/>
                </a:solidFill>
                <a:latin typeface="Arial" charset="0"/>
              </a:rPr>
              <a:t>-</a:t>
            </a:r>
          </a:p>
        </p:txBody>
      </p:sp>
      <p:sp>
        <p:nvSpPr>
          <p:cNvPr id="29699" name="Rectangle 2"/>
          <p:cNvSpPr>
            <a:spLocks noGrp="1" noChangeArrowheads="1"/>
          </p:cNvSpPr>
          <p:nvPr>
            <p:ph type="title"/>
          </p:nvPr>
        </p:nvSpPr>
        <p:spPr/>
        <p:txBody>
          <a:bodyPr/>
          <a:lstStyle/>
          <a:p>
            <a:pPr eaLnBrk="1" hangingPunct="1"/>
            <a:r>
              <a:rPr lang="en-US" altLang="zh-CN" dirty="0"/>
              <a:t>B-C-E</a:t>
            </a:r>
            <a:r>
              <a:rPr lang="zh-CN" altLang="en-US" dirty="0"/>
              <a:t>三层架构解析</a:t>
            </a:r>
          </a:p>
        </p:txBody>
      </p:sp>
      <p:sp>
        <p:nvSpPr>
          <p:cNvPr id="29700" name="Rectangle 3"/>
          <p:cNvSpPr>
            <a:spLocks noGrp="1" noChangeArrowheads="1"/>
          </p:cNvSpPr>
          <p:nvPr>
            <p:ph type="body" idx="1"/>
          </p:nvPr>
        </p:nvSpPr>
        <p:spPr/>
        <p:txBody>
          <a:bodyPr/>
          <a:lstStyle/>
          <a:p>
            <a:pPr eaLnBrk="1" hangingPunct="1"/>
            <a:r>
              <a:rPr lang="zh-CN" altLang="en-US"/>
              <a:t>以构造型</a:t>
            </a:r>
            <a:r>
              <a:rPr lang="en-US" altLang="zh-CN"/>
              <a:t>&lt;&lt;layer&gt;&gt;</a:t>
            </a:r>
            <a:r>
              <a:rPr lang="zh-CN" altLang="en-US"/>
              <a:t>表示系统不同层次</a:t>
            </a:r>
            <a:endParaRPr lang="en-US" altLang="zh-CN"/>
          </a:p>
          <a:p>
            <a:pPr eaLnBrk="1" hangingPunct="1"/>
            <a:r>
              <a:rPr lang="zh-CN" altLang="en-US"/>
              <a:t>以</a:t>
            </a:r>
            <a:r>
              <a:rPr lang="en-US" altLang="zh-CN"/>
              <a:t>B-C-E</a:t>
            </a:r>
            <a:r>
              <a:rPr lang="zh-CN" altLang="en-US"/>
              <a:t>三层划分系统三类处理逻辑</a:t>
            </a:r>
          </a:p>
          <a:p>
            <a:pPr lvl="1" eaLnBrk="1" hangingPunct="1"/>
            <a:r>
              <a:rPr lang="zh-CN" altLang="en-US"/>
              <a:t>边界层</a:t>
            </a:r>
            <a:r>
              <a:rPr lang="en-US" altLang="zh-CN"/>
              <a:t>(Boundary)</a:t>
            </a:r>
            <a:r>
              <a:rPr lang="zh-CN" altLang="en-US"/>
              <a:t>负责系统与参与者之间的交互</a:t>
            </a:r>
            <a:endParaRPr lang="en-US" altLang="zh-CN"/>
          </a:p>
          <a:p>
            <a:pPr lvl="1" eaLnBrk="1" hangingPunct="1"/>
            <a:r>
              <a:rPr lang="zh-CN" altLang="en-US"/>
              <a:t>控制层</a:t>
            </a:r>
            <a:r>
              <a:rPr lang="en-US" altLang="zh-CN"/>
              <a:t>(Control)</a:t>
            </a:r>
            <a:r>
              <a:rPr lang="zh-CN" altLang="en-US"/>
              <a:t>处理系统的控制逻辑</a:t>
            </a:r>
            <a:endParaRPr lang="en-US" altLang="zh-CN"/>
          </a:p>
          <a:p>
            <a:pPr lvl="1" eaLnBrk="1" hangingPunct="1"/>
            <a:r>
              <a:rPr lang="zh-CN" altLang="en-US"/>
              <a:t>实体层</a:t>
            </a:r>
            <a:r>
              <a:rPr lang="en-US" altLang="zh-CN"/>
              <a:t>(Entity)</a:t>
            </a:r>
            <a:r>
              <a:rPr lang="zh-CN" altLang="en-US"/>
              <a:t>管理系统使用的信息</a:t>
            </a:r>
            <a:endParaRPr lang="en-US" altLang="zh-CN"/>
          </a:p>
          <a:p>
            <a:pPr eaLnBrk="1" hangingPunct="1"/>
            <a:r>
              <a:rPr lang="zh-CN" altLang="en-US"/>
              <a:t>层之间建立依赖关系</a:t>
            </a:r>
            <a:endParaRPr lang="en-US" altLang="zh-C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C3214F67-9A8E-4490-9F51-E51DFDB61C3D}" type="slidenum">
              <a:rPr lang="en-US" altLang="zh-CN" sz="1200" b="0">
                <a:solidFill>
                  <a:srgbClr val="4D4D4D"/>
                </a:solidFill>
                <a:latin typeface="Arial" charset="0"/>
              </a:rPr>
              <a:pPr eaLnBrk="1" hangingPunct="1"/>
              <a:t>28</a:t>
            </a:fld>
            <a:r>
              <a:rPr lang="en-US" altLang="zh-CN" sz="1200" b="0">
                <a:solidFill>
                  <a:srgbClr val="4D4D4D"/>
                </a:solidFill>
                <a:latin typeface="Arial" charset="0"/>
              </a:rPr>
              <a:t>-</a:t>
            </a:r>
          </a:p>
        </p:txBody>
      </p:sp>
      <p:sp>
        <p:nvSpPr>
          <p:cNvPr id="30723" name="Rectangle 2"/>
          <p:cNvSpPr>
            <a:spLocks noGrp="1" noChangeArrowheads="1"/>
          </p:cNvSpPr>
          <p:nvPr>
            <p:ph type="title"/>
          </p:nvPr>
        </p:nvSpPr>
        <p:spPr/>
        <p:txBody>
          <a:bodyPr/>
          <a:lstStyle/>
          <a:p>
            <a:pPr eaLnBrk="1" hangingPunct="1"/>
            <a:r>
              <a:rPr lang="en-US" altLang="zh-CN" dirty="0"/>
              <a:t>2.</a:t>
            </a:r>
            <a:r>
              <a:rPr lang="zh-CN" altLang="en-US" dirty="0"/>
              <a:t>架构机制</a:t>
            </a:r>
            <a:endParaRPr lang="en-US" altLang="zh-CN" dirty="0"/>
          </a:p>
        </p:txBody>
      </p:sp>
      <p:sp>
        <p:nvSpPr>
          <p:cNvPr id="720899" name="Rectangle 3"/>
          <p:cNvSpPr>
            <a:spLocks noGrp="1" noChangeArrowheads="1"/>
          </p:cNvSpPr>
          <p:nvPr>
            <p:ph type="body" idx="1"/>
          </p:nvPr>
        </p:nvSpPr>
        <p:spPr/>
        <p:txBody>
          <a:bodyPr/>
          <a:lstStyle/>
          <a:p>
            <a:pPr eaLnBrk="1" hangingPunct="1">
              <a:lnSpc>
                <a:spcPct val="90000"/>
              </a:lnSpc>
              <a:defRPr/>
            </a:pPr>
            <a:r>
              <a:rPr lang="zh-CN" altLang="en-US" dirty="0"/>
              <a:t>架构机制是对通用问题的决策、方针和实践</a:t>
            </a:r>
          </a:p>
          <a:p>
            <a:pPr lvl="1" eaLnBrk="1" hangingPunct="1">
              <a:lnSpc>
                <a:spcPct val="90000"/>
              </a:lnSpc>
              <a:defRPr/>
            </a:pPr>
            <a:r>
              <a:rPr lang="zh-CN" altLang="en-US" dirty="0"/>
              <a:t>架构机制描述了针对一个经常发生的问题的一种通用解决方案</a:t>
            </a:r>
          </a:p>
          <a:p>
            <a:pPr lvl="1" eaLnBrk="1" hangingPunct="1">
              <a:lnSpc>
                <a:spcPct val="90000"/>
              </a:lnSpc>
              <a:defRPr/>
            </a:pPr>
            <a:r>
              <a:rPr lang="zh-CN" altLang="en-US" dirty="0"/>
              <a:t>作为系统架构的一部分，架构机制常常集中和定位在系统的</a:t>
            </a:r>
            <a:r>
              <a:rPr lang="zh-CN" altLang="en-US" dirty="0">
                <a:solidFill>
                  <a:schemeClr val="hlink"/>
                </a:solidFill>
                <a:effectLst>
                  <a:outerShdw blurRad="38100" dist="38100" dir="2700000" algn="tl">
                    <a:srgbClr val="C0C0C0"/>
                  </a:outerShdw>
                </a:effectLst>
              </a:rPr>
              <a:t>非功能需求</a:t>
            </a:r>
            <a:r>
              <a:rPr lang="zh-CN" altLang="en-US" dirty="0"/>
              <a:t>上</a:t>
            </a:r>
          </a:p>
          <a:p>
            <a:pPr eaLnBrk="1" hangingPunct="1">
              <a:lnSpc>
                <a:spcPct val="90000"/>
              </a:lnSpc>
              <a:defRPr/>
            </a:pPr>
            <a:r>
              <a:rPr lang="zh-CN" altLang="en-US" dirty="0"/>
              <a:t>三类架构机制</a:t>
            </a:r>
          </a:p>
          <a:p>
            <a:pPr lvl="1" eaLnBrk="1" hangingPunct="1">
              <a:lnSpc>
                <a:spcPct val="90000"/>
              </a:lnSpc>
              <a:defRPr/>
            </a:pPr>
            <a:r>
              <a:rPr lang="zh-CN" altLang="en-US" dirty="0"/>
              <a:t>分析机制（概念）</a:t>
            </a:r>
          </a:p>
          <a:p>
            <a:pPr lvl="1" eaLnBrk="1" hangingPunct="1">
              <a:lnSpc>
                <a:spcPct val="90000"/>
              </a:lnSpc>
              <a:defRPr/>
            </a:pPr>
            <a:r>
              <a:rPr lang="zh-CN" altLang="en-US" dirty="0"/>
              <a:t>设计机制（具体）</a:t>
            </a:r>
          </a:p>
          <a:p>
            <a:pPr lvl="1" eaLnBrk="1" hangingPunct="1">
              <a:lnSpc>
                <a:spcPct val="90000"/>
              </a:lnSpc>
              <a:defRPr/>
            </a:pPr>
            <a:r>
              <a:rPr lang="zh-CN" altLang="en-US" dirty="0"/>
              <a:t>实现机制（实际）</a:t>
            </a:r>
            <a:endParaRPr lang="en-US" altLang="zh-C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2378FA35-3E47-47CD-B242-698D34556837}" type="slidenum">
              <a:rPr lang="en-US" altLang="zh-CN" sz="1200" b="0">
                <a:solidFill>
                  <a:srgbClr val="4D4D4D"/>
                </a:solidFill>
                <a:latin typeface="Arial" charset="0"/>
              </a:rPr>
              <a:pPr eaLnBrk="1" hangingPunct="1"/>
              <a:t>29</a:t>
            </a:fld>
            <a:r>
              <a:rPr lang="en-US" altLang="zh-CN" sz="1200" b="0">
                <a:solidFill>
                  <a:srgbClr val="4D4D4D"/>
                </a:solidFill>
                <a:latin typeface="Arial" charset="0"/>
              </a:rPr>
              <a:t>-</a:t>
            </a:r>
          </a:p>
        </p:txBody>
      </p:sp>
      <p:sp>
        <p:nvSpPr>
          <p:cNvPr id="31747" name="Rectangle 2"/>
          <p:cNvSpPr>
            <a:spLocks noGrp="1" noChangeArrowheads="1"/>
          </p:cNvSpPr>
          <p:nvPr>
            <p:ph type="title"/>
          </p:nvPr>
        </p:nvSpPr>
        <p:spPr/>
        <p:txBody>
          <a:bodyPr/>
          <a:lstStyle/>
          <a:p>
            <a:pPr eaLnBrk="1" hangingPunct="1"/>
            <a:r>
              <a:rPr lang="zh-CN" altLang="en-US"/>
              <a:t>为什么使用分析机制</a:t>
            </a:r>
            <a:endParaRPr lang="en-US" altLang="zh-CN"/>
          </a:p>
        </p:txBody>
      </p:sp>
      <p:pic>
        <p:nvPicPr>
          <p:cNvPr id="3174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4826" y="1247776"/>
            <a:ext cx="3952875" cy="347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1924" name="Rectangle 4"/>
          <p:cNvSpPr>
            <a:spLocks noChangeArrowheads="1"/>
          </p:cNvSpPr>
          <p:nvPr/>
        </p:nvSpPr>
        <p:spPr bwMode="auto">
          <a:xfrm>
            <a:off x="1595438" y="5065714"/>
            <a:ext cx="8964612" cy="955675"/>
          </a:xfrm>
          <a:prstGeom prst="rect">
            <a:avLst/>
          </a:prstGeom>
          <a:solidFill>
            <a:srgbClr val="CCFFFF"/>
          </a:solidFill>
          <a:ln w="9525" algn="ctr">
            <a:solidFill>
              <a:srgbClr val="99CCFF"/>
            </a:solidFill>
            <a:miter lim="800000"/>
            <a:headEnd/>
            <a:tailEnd/>
          </a:ln>
          <a:effectLst/>
        </p:spPr>
        <p:txBody>
          <a:bodyPr>
            <a:spAutoFit/>
          </a:bodyPr>
          <a:lstStyle/>
          <a:p>
            <a:pPr>
              <a:defRPr/>
            </a:pPr>
            <a:r>
              <a:rPr kumimoji="0" lang="zh-CN" altLang="en-US" sz="2800">
                <a:effectLst>
                  <a:outerShdw blurRad="38100" dist="38100" dir="2700000" algn="tl">
                    <a:srgbClr val="FFFFFF"/>
                  </a:outerShdw>
                </a:effectLst>
                <a:latin typeface="Arial" charset="0"/>
                <a:ea typeface="幼圆" pitchFamily="49" charset="-122"/>
              </a:rPr>
              <a:t>分析机制用于在分析阶段中向设计人员提供复杂行为的简短表示，从而减少分析的复杂性并提高分析的一致性</a:t>
            </a:r>
            <a:endParaRPr kumimoji="0" lang="en-US" altLang="zh-CN" sz="2800">
              <a:effectLst>
                <a:outerShdw blurRad="38100" dist="38100" dir="2700000" algn="tl">
                  <a:srgbClr val="FFFFFF"/>
                </a:outerShdw>
              </a:effectLst>
              <a:latin typeface="Arial" charset="0"/>
              <a:ea typeface="幼圆" pitchFamily="49" charset="-122"/>
            </a:endParaRPr>
          </a:p>
        </p:txBody>
      </p:sp>
      <p:sp>
        <p:nvSpPr>
          <p:cNvPr id="721925" name="AutoShape 5"/>
          <p:cNvSpPr>
            <a:spLocks noChangeArrowheads="1"/>
          </p:cNvSpPr>
          <p:nvPr/>
        </p:nvSpPr>
        <p:spPr bwMode="auto">
          <a:xfrm>
            <a:off x="5375276" y="1054100"/>
            <a:ext cx="5076825" cy="1511300"/>
          </a:xfrm>
          <a:prstGeom prst="wedgeRectCallout">
            <a:avLst>
              <a:gd name="adj1" fmla="val -58662"/>
              <a:gd name="adj2" fmla="val 11556"/>
            </a:avLst>
          </a:prstGeom>
          <a:solidFill>
            <a:schemeClr val="bg1"/>
          </a:solidFill>
          <a:ln w="9525">
            <a:solidFill>
              <a:schemeClr val="tx1"/>
            </a:solidFill>
            <a:miter lim="800000"/>
            <a:headEnd/>
            <a:tailEnd/>
          </a:ln>
        </p:spPr>
        <p:txBody>
          <a:bodyPr/>
          <a:lstStyle/>
          <a:p>
            <a:r>
              <a:rPr lang="zh-CN" altLang="en-US"/>
              <a:t>哦！不好了，我发现有一组类具有需要永久保存的数据。如果我现在还不知道将使用什么数据库的话，我如何去设计它们呢？</a:t>
            </a:r>
            <a:endParaRPr lang="en-US" altLang="zh-CN"/>
          </a:p>
        </p:txBody>
      </p:sp>
      <p:sp>
        <p:nvSpPr>
          <p:cNvPr id="721926" name="AutoShape 6"/>
          <p:cNvSpPr>
            <a:spLocks noChangeArrowheads="1"/>
          </p:cNvSpPr>
          <p:nvPr/>
        </p:nvSpPr>
        <p:spPr bwMode="auto">
          <a:xfrm>
            <a:off x="5411788" y="3070225"/>
            <a:ext cx="5148262" cy="1511300"/>
          </a:xfrm>
          <a:prstGeom prst="wedgeRectCallout">
            <a:avLst>
              <a:gd name="adj1" fmla="val -62227"/>
              <a:gd name="adj2" fmla="val -31093"/>
            </a:avLst>
          </a:prstGeom>
          <a:solidFill>
            <a:schemeClr val="bg1"/>
          </a:solidFill>
          <a:ln w="9525">
            <a:solidFill>
              <a:schemeClr val="tx1"/>
            </a:solidFill>
            <a:miter lim="800000"/>
            <a:headEnd/>
            <a:tailEnd/>
          </a:ln>
        </p:spPr>
        <p:txBody>
          <a:bodyPr/>
          <a:lstStyle/>
          <a:p>
            <a:r>
              <a:rPr lang="zh-CN" altLang="en-US" dirty="0"/>
              <a:t>没关系，这就是我们为什么要有一个持久性分析机制的原因。我们了解得还不充分，我们可以先标记下来，设计时再仔细定义其的存储结构和方式</a:t>
            </a:r>
            <a:endParaRPr lang="en-US" altLang="zh-CN"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21925"/>
                                        </p:tgtEl>
                                        <p:attrNameLst>
                                          <p:attrName>style.visibility</p:attrName>
                                        </p:attrNameLst>
                                      </p:cBhvr>
                                      <p:to>
                                        <p:strVal val="visible"/>
                                      </p:to>
                                    </p:set>
                                    <p:animEffect transition="in" filter="dissolve">
                                      <p:cBhvr>
                                        <p:cTn id="7" dur="500"/>
                                        <p:tgtEl>
                                          <p:spTgt spid="72192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21926"/>
                                        </p:tgtEl>
                                        <p:attrNameLst>
                                          <p:attrName>style.visibility</p:attrName>
                                        </p:attrNameLst>
                                      </p:cBhvr>
                                      <p:to>
                                        <p:strVal val="visible"/>
                                      </p:to>
                                    </p:set>
                                    <p:animEffect transition="in" filter="dissolve">
                                      <p:cBhvr>
                                        <p:cTn id="12" dur="500"/>
                                        <p:tgtEl>
                                          <p:spTgt spid="7219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21924"/>
                                        </p:tgtEl>
                                        <p:attrNameLst>
                                          <p:attrName>style.visibility</p:attrName>
                                        </p:attrNameLst>
                                      </p:cBhvr>
                                      <p:to>
                                        <p:strVal val="visible"/>
                                      </p:to>
                                    </p:set>
                                    <p:animEffect transition="in" filter="dissolve">
                                      <p:cBhvr>
                                        <p:cTn id="17" dur="500"/>
                                        <p:tgtEl>
                                          <p:spTgt spid="721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1924" grpId="0" animBg="1"/>
      <p:bldP spid="721925" grpId="0" animBg="1"/>
      <p:bldP spid="721926"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A4E0E4AC-D943-4AB2-841C-5B36E63FCBB3}" type="slidenum">
              <a:rPr lang="en-US" altLang="zh-CN" sz="1200" b="0">
                <a:solidFill>
                  <a:srgbClr val="4D4D4D"/>
                </a:solidFill>
                <a:latin typeface="Arial" charset="0"/>
              </a:rPr>
              <a:pPr eaLnBrk="1" hangingPunct="1"/>
              <a:t>30</a:t>
            </a:fld>
            <a:r>
              <a:rPr lang="en-US" altLang="zh-CN" sz="1200" b="0">
                <a:solidFill>
                  <a:srgbClr val="4D4D4D"/>
                </a:solidFill>
                <a:latin typeface="Arial" charset="0"/>
              </a:rPr>
              <a:t>-</a:t>
            </a:r>
          </a:p>
        </p:txBody>
      </p:sp>
      <p:sp>
        <p:nvSpPr>
          <p:cNvPr id="32771" name="Rectangle 2"/>
          <p:cNvSpPr>
            <a:spLocks noGrp="1" noChangeArrowheads="1"/>
          </p:cNvSpPr>
          <p:nvPr>
            <p:ph type="title"/>
          </p:nvPr>
        </p:nvSpPr>
        <p:spPr/>
        <p:txBody>
          <a:bodyPr/>
          <a:lstStyle/>
          <a:p>
            <a:pPr eaLnBrk="1" hangingPunct="1"/>
            <a:r>
              <a:rPr lang="zh-CN" altLang="en-US"/>
              <a:t>常见的分析机制</a:t>
            </a:r>
            <a:endParaRPr lang="en-US" altLang="zh-CN"/>
          </a:p>
        </p:txBody>
      </p:sp>
      <p:sp>
        <p:nvSpPr>
          <p:cNvPr id="32772" name="Rectangle 3"/>
          <p:cNvSpPr>
            <a:spLocks noGrp="1" noChangeArrowheads="1"/>
          </p:cNvSpPr>
          <p:nvPr>
            <p:ph type="body" idx="1"/>
          </p:nvPr>
        </p:nvSpPr>
        <p:spPr/>
        <p:txBody>
          <a:bodyPr/>
          <a:lstStyle/>
          <a:p>
            <a:pPr eaLnBrk="1" hangingPunct="1"/>
            <a:r>
              <a:rPr lang="zh-CN" altLang="en-US" dirty="0"/>
              <a:t>持久性</a:t>
            </a:r>
            <a:r>
              <a:rPr lang="en-US" altLang="zh-CN" dirty="0"/>
              <a:t>(Persistency)</a:t>
            </a:r>
          </a:p>
          <a:p>
            <a:pPr eaLnBrk="1" hangingPunct="1"/>
            <a:r>
              <a:rPr kumimoji="0" lang="zh-CN" altLang="en-US" dirty="0"/>
              <a:t>分布</a:t>
            </a:r>
            <a:r>
              <a:rPr kumimoji="0" lang="en-US" altLang="zh-CN" dirty="0"/>
              <a:t>(Distribution)</a:t>
            </a:r>
          </a:p>
          <a:p>
            <a:pPr eaLnBrk="1" hangingPunct="1"/>
            <a:r>
              <a:rPr kumimoji="0" lang="zh-CN" altLang="en-US" dirty="0"/>
              <a:t>安全性</a:t>
            </a:r>
            <a:r>
              <a:rPr kumimoji="0" lang="en-US" altLang="zh-CN" dirty="0"/>
              <a:t>(Security)</a:t>
            </a:r>
          </a:p>
          <a:p>
            <a:pPr eaLnBrk="1" hangingPunct="1"/>
            <a:r>
              <a:rPr kumimoji="0" lang="zh-CN" altLang="en-US" dirty="0"/>
              <a:t>遗留接口</a:t>
            </a:r>
            <a:r>
              <a:rPr kumimoji="0" lang="en-US" altLang="zh-CN" dirty="0"/>
              <a:t>(Legacy Interface)</a:t>
            </a:r>
          </a:p>
          <a:p>
            <a:pPr eaLnBrk="1" hangingPunct="1"/>
            <a:r>
              <a:rPr kumimoji="0" lang="zh-CN" altLang="en-US" dirty="0"/>
              <a:t>事务管理</a:t>
            </a:r>
            <a:r>
              <a:rPr kumimoji="0" lang="en-US" altLang="zh-CN" dirty="0"/>
              <a:t>(Transaction Management)</a:t>
            </a:r>
          </a:p>
          <a:p>
            <a:pPr eaLnBrk="1" hangingPunct="1"/>
            <a:r>
              <a:rPr kumimoji="0" lang="zh-CN" altLang="en-US" dirty="0"/>
              <a:t>进程控制和同步</a:t>
            </a:r>
            <a:r>
              <a:rPr kumimoji="0" lang="en-US" altLang="zh-CN" dirty="0"/>
              <a:t>(Process Control and Synchronization)</a:t>
            </a:r>
          </a:p>
          <a:p>
            <a:pPr eaLnBrk="1" hangingPunct="1"/>
            <a:r>
              <a:rPr kumimoji="0" lang="zh-CN" altLang="en-US" dirty="0"/>
              <a:t>通信</a:t>
            </a:r>
            <a:r>
              <a:rPr kumimoji="0" lang="en-US" altLang="zh-CN" dirty="0"/>
              <a:t>(Communication)</a:t>
            </a:r>
          </a:p>
          <a:p>
            <a:pPr eaLnBrk="1" hangingPunct="1"/>
            <a:r>
              <a:rPr kumimoji="0" lang="en-US" altLang="zh-CN" dirty="0"/>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F6259E56-E7DA-4237-A30D-581066F12C4B}" type="slidenum">
              <a:rPr lang="en-US" altLang="zh-CN" sz="1200" b="0">
                <a:solidFill>
                  <a:srgbClr val="4D4D4D"/>
                </a:solidFill>
                <a:latin typeface="Arial" charset="0"/>
              </a:rPr>
              <a:pPr eaLnBrk="1" hangingPunct="1"/>
              <a:t>31</a:t>
            </a:fld>
            <a:r>
              <a:rPr lang="en-US" altLang="zh-CN" sz="1200" b="0">
                <a:solidFill>
                  <a:srgbClr val="4D4D4D"/>
                </a:solidFill>
                <a:latin typeface="Arial" charset="0"/>
              </a:rPr>
              <a:t>-</a:t>
            </a:r>
          </a:p>
        </p:txBody>
      </p:sp>
      <p:sp>
        <p:nvSpPr>
          <p:cNvPr id="33795" name="Rectangle 2"/>
          <p:cNvSpPr>
            <a:spLocks noGrp="1" noChangeArrowheads="1"/>
          </p:cNvSpPr>
          <p:nvPr>
            <p:ph type="title"/>
          </p:nvPr>
        </p:nvSpPr>
        <p:spPr/>
        <p:txBody>
          <a:bodyPr/>
          <a:lstStyle/>
          <a:p>
            <a:pPr eaLnBrk="1" hangingPunct="1"/>
            <a:r>
              <a:rPr kumimoji="0" lang="zh-CN" altLang="en-US"/>
              <a:t>分</a:t>
            </a:r>
            <a:r>
              <a:rPr lang="zh-CN" altLang="en-US"/>
              <a:t>析机制特性</a:t>
            </a:r>
          </a:p>
        </p:txBody>
      </p:sp>
      <p:sp>
        <p:nvSpPr>
          <p:cNvPr id="33796" name="Rectangle 3"/>
          <p:cNvSpPr>
            <a:spLocks noGrp="1" noChangeArrowheads="1"/>
          </p:cNvSpPr>
          <p:nvPr>
            <p:ph type="body" idx="1"/>
          </p:nvPr>
        </p:nvSpPr>
        <p:spPr/>
        <p:txBody>
          <a:bodyPr/>
          <a:lstStyle/>
          <a:p>
            <a:pPr eaLnBrk="1" hangingPunct="1"/>
            <a:r>
              <a:rPr lang="zh-CN" altLang="en-US" dirty="0"/>
              <a:t>分析机制特性定义了一些系统的非功能性需求</a:t>
            </a:r>
            <a:endParaRPr lang="en-US" altLang="zh-CN" dirty="0"/>
          </a:p>
          <a:p>
            <a:pPr eaLnBrk="1" hangingPunct="1"/>
            <a:r>
              <a:rPr lang="zh-CN" altLang="en-US" dirty="0"/>
              <a:t>例：持久性机制特性</a:t>
            </a:r>
          </a:p>
          <a:p>
            <a:pPr lvl="1" eaLnBrk="1" hangingPunct="1"/>
            <a:r>
              <a:rPr lang="zh-CN" altLang="en-US" dirty="0"/>
              <a:t>粒度：对象大小</a:t>
            </a:r>
            <a:endParaRPr lang="en-US" altLang="zh-CN" dirty="0"/>
          </a:p>
          <a:p>
            <a:pPr lvl="1" eaLnBrk="1" hangingPunct="1"/>
            <a:r>
              <a:rPr lang="zh-CN" altLang="en-US" dirty="0"/>
              <a:t>容量：对象数量</a:t>
            </a:r>
            <a:endParaRPr lang="en-US" altLang="zh-CN" dirty="0"/>
          </a:p>
          <a:p>
            <a:pPr lvl="1" eaLnBrk="1" hangingPunct="1"/>
            <a:r>
              <a:rPr kumimoji="0" lang="zh-CN" altLang="en-US" dirty="0"/>
              <a:t>访问频率：对对象进行</a:t>
            </a:r>
            <a:r>
              <a:rPr kumimoji="0" lang="en-US" altLang="zh-CN" dirty="0"/>
              <a:t>CRUD</a:t>
            </a:r>
            <a:r>
              <a:rPr kumimoji="0" lang="zh-CN" altLang="en-US" dirty="0"/>
              <a:t>操作频率</a:t>
            </a:r>
          </a:p>
          <a:p>
            <a:pPr lvl="1" eaLnBrk="1" hangingPunct="1"/>
            <a:r>
              <a:rPr lang="zh-CN" altLang="en-US" dirty="0"/>
              <a:t>存储时间：对象保存的时间</a:t>
            </a:r>
            <a:endParaRPr lang="en-US" altLang="zh-CN" dirty="0"/>
          </a:p>
          <a:p>
            <a:pPr lvl="1" eaLnBrk="1" hangingPunct="1"/>
            <a:r>
              <a:rPr lang="zh-CN" altLang="en-US" dirty="0"/>
              <a:t>存取机制：对象的标识和检索</a:t>
            </a:r>
            <a:endParaRPr lang="en-US" altLang="zh-C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208C6AF3-D6A9-46D1-ABEB-7D64C84E96B7}" type="slidenum">
              <a:rPr lang="en-US" altLang="zh-CN" sz="1200" b="0">
                <a:solidFill>
                  <a:srgbClr val="4D4D4D"/>
                </a:solidFill>
                <a:latin typeface="Arial" charset="0"/>
              </a:rPr>
              <a:pPr eaLnBrk="1" hangingPunct="1"/>
              <a:t>32</a:t>
            </a:fld>
            <a:r>
              <a:rPr lang="en-US" altLang="zh-CN" sz="1200" b="0">
                <a:solidFill>
                  <a:srgbClr val="4D4D4D"/>
                </a:solidFill>
                <a:latin typeface="Arial" charset="0"/>
              </a:rPr>
              <a:t>-</a:t>
            </a:r>
          </a:p>
        </p:txBody>
      </p:sp>
      <p:sp>
        <p:nvSpPr>
          <p:cNvPr id="35843" name="Rectangle 2"/>
          <p:cNvSpPr>
            <a:spLocks noGrp="1" noChangeArrowheads="1"/>
          </p:cNvSpPr>
          <p:nvPr>
            <p:ph type="title"/>
          </p:nvPr>
        </p:nvSpPr>
        <p:spPr/>
        <p:txBody>
          <a:bodyPr/>
          <a:lstStyle/>
          <a:p>
            <a:pPr eaLnBrk="1" hangingPunct="1"/>
            <a:r>
              <a:rPr lang="en-US" altLang="zh-CN"/>
              <a:t>3.</a:t>
            </a:r>
            <a:r>
              <a:rPr lang="zh-CN" altLang="en-US"/>
              <a:t>关键抽象</a:t>
            </a:r>
          </a:p>
        </p:txBody>
      </p:sp>
      <p:sp>
        <p:nvSpPr>
          <p:cNvPr id="35844" name="Rectangle 3"/>
          <p:cNvSpPr>
            <a:spLocks noGrp="1" noChangeArrowheads="1"/>
          </p:cNvSpPr>
          <p:nvPr>
            <p:ph type="body" idx="1"/>
          </p:nvPr>
        </p:nvSpPr>
        <p:spPr/>
        <p:txBody>
          <a:bodyPr/>
          <a:lstStyle/>
          <a:p>
            <a:pPr eaLnBrk="1" hangingPunct="1">
              <a:lnSpc>
                <a:spcPct val="90000"/>
              </a:lnSpc>
            </a:pPr>
            <a:r>
              <a:rPr lang="zh-CN" altLang="en-US" dirty="0"/>
              <a:t>关键抽象是一个通常在需求上被揭示的概念，系统必须能够对其处理</a:t>
            </a:r>
          </a:p>
          <a:p>
            <a:pPr lvl="1" eaLnBrk="1" hangingPunct="1">
              <a:lnSpc>
                <a:spcPct val="90000"/>
              </a:lnSpc>
            </a:pPr>
            <a:r>
              <a:rPr lang="zh-CN" altLang="en-US" dirty="0"/>
              <a:t>来源于业务，体现了业务的核心价值，即业务需要处理哪些信息；这些信息所构成的实体即可作为初步的实体分析类</a:t>
            </a:r>
          </a:p>
          <a:p>
            <a:pPr lvl="1" eaLnBrk="1" hangingPunct="1">
              <a:lnSpc>
                <a:spcPct val="90000"/>
              </a:lnSpc>
            </a:pPr>
            <a:r>
              <a:rPr lang="zh-CN" altLang="en-US" dirty="0"/>
              <a:t>领域专家建立系统的初始关键抽象候选集合</a:t>
            </a:r>
            <a:endParaRPr lang="en-US" altLang="zh-CN" dirty="0"/>
          </a:p>
          <a:p>
            <a:pPr lvl="1" eaLnBrk="1" hangingPunct="1">
              <a:lnSpc>
                <a:spcPct val="90000"/>
              </a:lnSpc>
            </a:pPr>
            <a:r>
              <a:rPr lang="zh-CN" altLang="en-US" dirty="0"/>
              <a:t>再结合业务对象模型、需求和词汇表等业务文档资料进行补充和完善</a:t>
            </a:r>
          </a:p>
          <a:p>
            <a:pPr lvl="1" eaLnBrk="1" hangingPunct="1">
              <a:lnSpc>
                <a:spcPct val="90000"/>
              </a:lnSpc>
            </a:pPr>
            <a:r>
              <a:rPr lang="zh-CN" altLang="en-US" dirty="0"/>
              <a:t>通过一个或多个类图来展示关键抽象，并为其编写简要的说明</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4D6B5390-1C41-48A9-B766-4640C69598E0}" type="slidenum">
              <a:rPr lang="en-US" altLang="zh-CN" sz="1200" b="0">
                <a:solidFill>
                  <a:srgbClr val="4D4D4D"/>
                </a:solidFill>
                <a:latin typeface="Arial" charset="0"/>
              </a:rPr>
              <a:pPr eaLnBrk="1" hangingPunct="1"/>
              <a:t>33</a:t>
            </a:fld>
            <a:r>
              <a:rPr lang="en-US" altLang="zh-CN" sz="1200" b="0">
                <a:solidFill>
                  <a:srgbClr val="4D4D4D"/>
                </a:solidFill>
                <a:latin typeface="Arial" charset="0"/>
              </a:rPr>
              <a:t>-</a:t>
            </a:r>
          </a:p>
        </p:txBody>
      </p:sp>
      <p:sp>
        <p:nvSpPr>
          <p:cNvPr id="36867" name="Rectangle 2"/>
          <p:cNvSpPr>
            <a:spLocks noGrp="1" noChangeArrowheads="1"/>
          </p:cNvSpPr>
          <p:nvPr>
            <p:ph type="title"/>
          </p:nvPr>
        </p:nvSpPr>
        <p:spPr/>
        <p:txBody>
          <a:bodyPr/>
          <a:lstStyle/>
          <a:p>
            <a:pPr eaLnBrk="1" hangingPunct="1"/>
            <a:r>
              <a:rPr lang="zh-CN" altLang="en-US"/>
              <a:t>旅游申请系统中的关键抽象</a:t>
            </a:r>
          </a:p>
        </p:txBody>
      </p:sp>
      <p:pic>
        <p:nvPicPr>
          <p:cNvPr id="36868" name="Picture 14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0875" y="1700213"/>
            <a:ext cx="8496300" cy="353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615813C4-1C3D-4A54-8722-E7A6D342F00E}" type="slidenum">
              <a:rPr lang="en-US" altLang="zh-CN" sz="1200" b="0">
                <a:solidFill>
                  <a:srgbClr val="4D4D4D"/>
                </a:solidFill>
                <a:latin typeface="Arial" charset="0"/>
              </a:rPr>
              <a:pPr eaLnBrk="1" hangingPunct="1"/>
              <a:t>34</a:t>
            </a:fld>
            <a:r>
              <a:rPr lang="en-US" altLang="zh-CN" sz="1200" b="0">
                <a:solidFill>
                  <a:srgbClr val="4D4D4D"/>
                </a:solidFill>
                <a:latin typeface="Arial" charset="0"/>
              </a:rPr>
              <a:t>-</a:t>
            </a:r>
          </a:p>
        </p:txBody>
      </p:sp>
      <p:sp>
        <p:nvSpPr>
          <p:cNvPr id="37891" name="Rectangle 2"/>
          <p:cNvSpPr>
            <a:spLocks noGrp="1" noChangeArrowheads="1"/>
          </p:cNvSpPr>
          <p:nvPr>
            <p:ph type="title"/>
          </p:nvPr>
        </p:nvSpPr>
        <p:spPr/>
        <p:txBody>
          <a:bodyPr/>
          <a:lstStyle/>
          <a:p>
            <a:pPr eaLnBrk="1" hangingPunct="1"/>
            <a:r>
              <a:rPr lang="zh-CN" altLang="en-US"/>
              <a:t>内容安排</a:t>
            </a:r>
            <a:endParaRPr lang="en-US" altLang="zh-CN"/>
          </a:p>
        </p:txBody>
      </p:sp>
      <p:sp>
        <p:nvSpPr>
          <p:cNvPr id="726019" name="Rectangle 3"/>
          <p:cNvSpPr>
            <a:spLocks noGrp="1" noChangeArrowheads="1"/>
          </p:cNvSpPr>
          <p:nvPr>
            <p:ph type="body" idx="1"/>
          </p:nvPr>
        </p:nvSpPr>
        <p:spPr/>
        <p:txBody>
          <a:bodyPr/>
          <a:lstStyle/>
          <a:p>
            <a:pPr eaLnBrk="1" hangingPunct="1">
              <a:defRPr/>
            </a:pPr>
            <a:r>
              <a:rPr lang="zh-CN" altLang="en-US" dirty="0">
                <a:solidFill>
                  <a:srgbClr val="4D4D4D"/>
                </a:solidFill>
              </a:rPr>
              <a:t>理解分析</a:t>
            </a:r>
          </a:p>
          <a:p>
            <a:pPr eaLnBrk="1" hangingPunct="1">
              <a:defRPr/>
            </a:pPr>
            <a:r>
              <a:rPr kumimoji="0" lang="zh-CN" altLang="en-US" dirty="0">
                <a:solidFill>
                  <a:srgbClr val="4D4D4D"/>
                </a:solidFill>
              </a:rPr>
              <a:t>从用例开始分析</a:t>
            </a:r>
          </a:p>
          <a:p>
            <a:pPr eaLnBrk="1" hangingPunct="1">
              <a:defRPr/>
            </a:pPr>
            <a:r>
              <a:rPr kumimoji="0" lang="zh-CN" altLang="en-US" dirty="0">
                <a:solidFill>
                  <a:srgbClr val="4D4D4D"/>
                </a:solidFill>
              </a:rPr>
              <a:t>架构分析</a:t>
            </a:r>
          </a:p>
          <a:p>
            <a:pPr eaLnBrk="1" hangingPunct="1">
              <a:defRPr/>
            </a:pPr>
            <a:r>
              <a:rPr kumimoji="0" lang="zh-CN" altLang="en-US" dirty="0">
                <a:solidFill>
                  <a:schemeClr val="hlink"/>
                </a:solidFill>
                <a:effectLst>
                  <a:outerShdw blurRad="38100" dist="38100" dir="2700000" algn="tl">
                    <a:srgbClr val="C0C0C0"/>
                  </a:outerShdw>
                </a:effectLst>
              </a:rPr>
              <a:t>构造用例实现</a:t>
            </a:r>
          </a:p>
          <a:p>
            <a:pPr eaLnBrk="1" hangingPunct="1">
              <a:defRPr/>
            </a:pPr>
            <a:r>
              <a:rPr kumimoji="0" lang="zh-CN" altLang="en-US" dirty="0"/>
              <a:t>定义分析类</a:t>
            </a:r>
            <a:endParaRPr kumimoji="0" lang="en-US" altLang="zh-CN"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10EF8329-BDA0-41FD-A866-3DC80FECA725}" type="slidenum">
              <a:rPr lang="en-US" altLang="zh-CN" sz="1200" b="0">
                <a:solidFill>
                  <a:srgbClr val="4D4D4D"/>
                </a:solidFill>
                <a:latin typeface="Arial" charset="0"/>
              </a:rPr>
              <a:pPr eaLnBrk="1" hangingPunct="1"/>
              <a:t>35</a:t>
            </a:fld>
            <a:r>
              <a:rPr lang="en-US" altLang="zh-CN" sz="1200" b="0">
                <a:solidFill>
                  <a:srgbClr val="4D4D4D"/>
                </a:solidFill>
                <a:latin typeface="Arial" charset="0"/>
              </a:rPr>
              <a:t>-</a:t>
            </a:r>
          </a:p>
        </p:txBody>
      </p:sp>
      <p:sp>
        <p:nvSpPr>
          <p:cNvPr id="38915" name="Rectangle 2"/>
          <p:cNvSpPr>
            <a:spLocks noGrp="1" noChangeArrowheads="1"/>
          </p:cNvSpPr>
          <p:nvPr>
            <p:ph type="title"/>
          </p:nvPr>
        </p:nvSpPr>
        <p:spPr/>
        <p:txBody>
          <a:bodyPr/>
          <a:lstStyle/>
          <a:p>
            <a:pPr eaLnBrk="1" hangingPunct="1"/>
            <a:r>
              <a:rPr lang="zh-CN" altLang="en-US"/>
              <a:t>构造用例实现</a:t>
            </a:r>
          </a:p>
        </p:txBody>
      </p:sp>
      <p:sp>
        <p:nvSpPr>
          <p:cNvPr id="38916" name="Rectangle 3"/>
          <p:cNvSpPr>
            <a:spLocks noGrp="1" noChangeArrowheads="1"/>
          </p:cNvSpPr>
          <p:nvPr>
            <p:ph type="body" idx="1"/>
          </p:nvPr>
        </p:nvSpPr>
        <p:spPr/>
        <p:txBody>
          <a:bodyPr/>
          <a:lstStyle/>
          <a:p>
            <a:pPr eaLnBrk="1" hangingPunct="1">
              <a:lnSpc>
                <a:spcPct val="80000"/>
              </a:lnSpc>
            </a:pPr>
            <a:r>
              <a:rPr lang="en-US" altLang="zh-CN" dirty="0" err="1"/>
              <a:t>构造用例实现是分析最核心的工作</a:t>
            </a:r>
            <a:endParaRPr lang="en-US" altLang="zh-CN" dirty="0"/>
          </a:p>
          <a:p>
            <a:pPr lvl="1" eaLnBrk="1" hangingPunct="1">
              <a:lnSpc>
                <a:spcPct val="80000"/>
              </a:lnSpc>
            </a:pPr>
            <a:r>
              <a:rPr lang="en-US" altLang="zh-CN" dirty="0" err="1"/>
              <a:t>获得实现用例行为所必须的分析类</a:t>
            </a:r>
            <a:endParaRPr lang="en-US" altLang="zh-CN" dirty="0"/>
          </a:p>
          <a:p>
            <a:pPr lvl="1" eaLnBrk="1" hangingPunct="1">
              <a:lnSpc>
                <a:spcPct val="80000"/>
              </a:lnSpc>
            </a:pPr>
            <a:r>
              <a:rPr lang="en-US" altLang="zh-CN" dirty="0" err="1"/>
              <a:t>利用这些分析类来描述其实现逻辑</a:t>
            </a:r>
            <a:endParaRPr lang="en-US" altLang="zh-CN" dirty="0"/>
          </a:p>
          <a:p>
            <a:pPr eaLnBrk="1" hangingPunct="1">
              <a:lnSpc>
                <a:spcPct val="80000"/>
              </a:lnSpc>
            </a:pPr>
            <a:r>
              <a:rPr lang="en-US" altLang="zh-CN" dirty="0" err="1"/>
              <a:t>针对每一个用例实现</a:t>
            </a:r>
            <a:r>
              <a:rPr lang="en-US" altLang="zh-CN" dirty="0"/>
              <a:t>：</a:t>
            </a:r>
          </a:p>
          <a:p>
            <a:pPr lvl="1" eaLnBrk="1" hangingPunct="1">
              <a:lnSpc>
                <a:spcPct val="80000"/>
              </a:lnSpc>
            </a:pPr>
            <a:r>
              <a:rPr lang="en-US" altLang="zh-CN" dirty="0"/>
              <a:t>1. </a:t>
            </a:r>
            <a:r>
              <a:rPr lang="en-US" altLang="zh-CN" dirty="0" err="1"/>
              <a:t>完善用例文档</a:t>
            </a:r>
            <a:endParaRPr lang="en-US" altLang="zh-CN" dirty="0"/>
          </a:p>
          <a:p>
            <a:pPr lvl="1" eaLnBrk="1" hangingPunct="1">
              <a:lnSpc>
                <a:spcPct val="80000"/>
              </a:lnSpc>
            </a:pPr>
            <a:r>
              <a:rPr lang="en-US" altLang="zh-CN" dirty="0"/>
              <a:t>2. </a:t>
            </a:r>
            <a:r>
              <a:rPr lang="zh-CN" altLang="en-US" dirty="0"/>
              <a:t>识别分析类</a:t>
            </a:r>
          </a:p>
          <a:p>
            <a:pPr lvl="2" eaLnBrk="1" hangingPunct="1">
              <a:lnSpc>
                <a:spcPct val="80000"/>
              </a:lnSpc>
            </a:pPr>
            <a:r>
              <a:rPr lang="zh-CN" altLang="en-US" dirty="0"/>
              <a:t>边界类、控制类和实体类</a:t>
            </a:r>
          </a:p>
          <a:p>
            <a:pPr lvl="1" eaLnBrk="1" hangingPunct="1">
              <a:lnSpc>
                <a:spcPct val="80000"/>
              </a:lnSpc>
            </a:pPr>
            <a:r>
              <a:rPr lang="en-US" altLang="zh-CN" dirty="0"/>
              <a:t>3. </a:t>
            </a:r>
            <a:r>
              <a:rPr lang="en-US" altLang="zh-CN" dirty="0" err="1"/>
              <a:t>分析交互</a:t>
            </a:r>
            <a:endParaRPr lang="en-US" altLang="zh-CN" dirty="0"/>
          </a:p>
          <a:p>
            <a:pPr lvl="2" eaLnBrk="1" hangingPunct="1">
              <a:lnSpc>
                <a:spcPct val="80000"/>
              </a:lnSpc>
            </a:pPr>
            <a:r>
              <a:rPr lang="zh-CN" altLang="en-US" dirty="0"/>
              <a:t>将用例行为分配给类</a:t>
            </a:r>
            <a:endParaRPr lang="en-US" altLang="zh-CN" dirty="0"/>
          </a:p>
          <a:p>
            <a:pPr lvl="1" eaLnBrk="1" hangingPunct="1">
              <a:lnSpc>
                <a:spcPct val="80000"/>
              </a:lnSpc>
            </a:pPr>
            <a:r>
              <a:rPr lang="en-US" altLang="zh-CN" dirty="0"/>
              <a:t>4. </a:t>
            </a:r>
            <a:r>
              <a:rPr lang="en-US" altLang="zh-CN" dirty="0" err="1"/>
              <a:t>完成参与类类图</a:t>
            </a:r>
            <a:endParaRPr lang="en-US" altLang="zh-CN" dirty="0"/>
          </a:p>
          <a:p>
            <a:pPr lvl="2" eaLnBrk="1" hangingPunct="1">
              <a:lnSpc>
                <a:spcPct val="80000"/>
              </a:lnSpc>
            </a:pPr>
            <a:r>
              <a:rPr lang="zh-CN" altLang="en-US" dirty="0"/>
              <a:t>参与用例实现的类的类图</a:t>
            </a:r>
          </a:p>
          <a:p>
            <a:pPr lvl="1" eaLnBrk="1" hangingPunct="1">
              <a:lnSpc>
                <a:spcPct val="80000"/>
              </a:lnSpc>
            </a:pPr>
            <a:r>
              <a:rPr lang="en-US" altLang="zh-CN" dirty="0"/>
              <a:t>5. </a:t>
            </a:r>
            <a:r>
              <a:rPr lang="zh-CN" altLang="en-US" dirty="0"/>
              <a:t>处理用例关系</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04BAC68A-E535-44B4-8067-1E3DFD0DEC5A}" type="slidenum">
              <a:rPr lang="en-US" altLang="zh-CN" sz="1200" b="0">
                <a:solidFill>
                  <a:srgbClr val="4D4D4D"/>
                </a:solidFill>
                <a:latin typeface="Arial" charset="0"/>
              </a:rPr>
              <a:pPr eaLnBrk="1" hangingPunct="1"/>
              <a:t>36</a:t>
            </a:fld>
            <a:r>
              <a:rPr lang="en-US" altLang="zh-CN" sz="1200" b="0">
                <a:solidFill>
                  <a:srgbClr val="4D4D4D"/>
                </a:solidFill>
                <a:latin typeface="Arial" charset="0"/>
              </a:rPr>
              <a:t>-</a:t>
            </a:r>
          </a:p>
        </p:txBody>
      </p:sp>
      <p:sp>
        <p:nvSpPr>
          <p:cNvPr id="39939" name="Rectangle 2"/>
          <p:cNvSpPr>
            <a:spLocks noGrp="1" noChangeArrowheads="1"/>
          </p:cNvSpPr>
          <p:nvPr>
            <p:ph type="title"/>
          </p:nvPr>
        </p:nvSpPr>
        <p:spPr/>
        <p:txBody>
          <a:bodyPr/>
          <a:lstStyle/>
          <a:p>
            <a:pPr eaLnBrk="1" hangingPunct="1"/>
            <a:r>
              <a:rPr lang="en-US" altLang="zh-CN"/>
              <a:t>1.</a:t>
            </a:r>
            <a:r>
              <a:rPr lang="zh-CN" altLang="en-US"/>
              <a:t>完善用例文档</a:t>
            </a:r>
          </a:p>
        </p:txBody>
      </p:sp>
      <p:sp>
        <p:nvSpPr>
          <p:cNvPr id="729091" name="Rectangle 3"/>
          <p:cNvSpPr>
            <a:spLocks noGrp="1" noChangeArrowheads="1"/>
          </p:cNvSpPr>
          <p:nvPr>
            <p:ph type="body" idx="1"/>
          </p:nvPr>
        </p:nvSpPr>
        <p:spPr/>
        <p:txBody>
          <a:bodyPr/>
          <a:lstStyle/>
          <a:p>
            <a:pPr eaLnBrk="1" hangingPunct="1">
              <a:lnSpc>
                <a:spcPct val="90000"/>
              </a:lnSpc>
              <a:defRPr/>
            </a:pPr>
            <a:r>
              <a:rPr lang="zh-CN" altLang="en-US"/>
              <a:t>需求阶段的用例文档是</a:t>
            </a:r>
            <a:r>
              <a:rPr lang="zh-CN" altLang="en-US" u="sng">
                <a:solidFill>
                  <a:schemeClr val="hlink"/>
                </a:solidFill>
              </a:rPr>
              <a:t>从用户角度</a:t>
            </a:r>
            <a:r>
              <a:rPr lang="zh-CN" altLang="en-US"/>
              <a:t>看待用户问题，侧重描述交互的</a:t>
            </a:r>
            <a:r>
              <a:rPr lang="en-US" altLang="zh-CN"/>
              <a:t>1</a:t>
            </a:r>
            <a:r>
              <a:rPr lang="zh-CN" altLang="en-US"/>
              <a:t>、</a:t>
            </a:r>
            <a:r>
              <a:rPr lang="en-US" altLang="zh-CN"/>
              <a:t>4</a:t>
            </a:r>
            <a:r>
              <a:rPr lang="zh-CN" altLang="en-US"/>
              <a:t>步</a:t>
            </a:r>
            <a:endParaRPr lang="en-US" altLang="zh-CN"/>
          </a:p>
          <a:p>
            <a:pPr eaLnBrk="1" hangingPunct="1">
              <a:lnSpc>
                <a:spcPct val="90000"/>
              </a:lnSpc>
              <a:defRPr/>
            </a:pPr>
            <a:r>
              <a:rPr lang="zh-CN" altLang="en-US"/>
              <a:t>分析阶段则需要</a:t>
            </a:r>
            <a:r>
              <a:rPr lang="zh-CN" altLang="en-US" u="sng">
                <a:solidFill>
                  <a:schemeClr val="hlink"/>
                </a:solidFill>
              </a:rPr>
              <a:t>从系统角度</a:t>
            </a:r>
            <a:r>
              <a:rPr lang="zh-CN" altLang="en-US"/>
              <a:t>看待用户问题，重点关注交互的</a:t>
            </a:r>
            <a:r>
              <a:rPr lang="en-US" altLang="zh-CN"/>
              <a:t>2</a:t>
            </a:r>
            <a:r>
              <a:rPr lang="zh-CN" altLang="en-US"/>
              <a:t>、</a:t>
            </a:r>
            <a:r>
              <a:rPr lang="en-US" altLang="zh-CN"/>
              <a:t>3</a:t>
            </a:r>
            <a:r>
              <a:rPr lang="zh-CN" altLang="en-US"/>
              <a:t>步：即系统如何响应用户请求；此时可以对需求阶段用例文档中系统的处理流程进一步细化</a:t>
            </a:r>
            <a:endParaRPr lang="en-US" altLang="zh-CN"/>
          </a:p>
          <a:p>
            <a:pPr lvl="1" eaLnBrk="1" hangingPunct="1">
              <a:lnSpc>
                <a:spcPct val="90000"/>
              </a:lnSpc>
              <a:defRPr/>
            </a:pPr>
            <a:r>
              <a:rPr lang="zh-CN" altLang="en-US"/>
              <a:t>获取理解系统必要的</a:t>
            </a:r>
            <a:r>
              <a:rPr lang="zh-CN" altLang="en-US">
                <a:solidFill>
                  <a:schemeClr val="hlink"/>
                </a:solidFill>
                <a:effectLst>
                  <a:outerShdw blurRad="38100" dist="38100" dir="2700000" algn="tl">
                    <a:srgbClr val="C0C0C0"/>
                  </a:outerShdw>
                </a:effectLst>
              </a:rPr>
              <a:t>内部行为</a:t>
            </a:r>
            <a:r>
              <a:rPr lang="zh-CN" altLang="en-US"/>
              <a:t>所需的其他信息：从“黑盒”到“白盒”的过渡</a:t>
            </a:r>
            <a:endParaRPr lang="en-US" altLang="zh-CN"/>
          </a:p>
          <a:p>
            <a:pPr lvl="1" eaLnBrk="1" hangingPunct="1">
              <a:lnSpc>
                <a:spcPct val="90000"/>
              </a:lnSpc>
              <a:defRPr/>
            </a:pPr>
            <a:r>
              <a:rPr lang="zh-CN" altLang="en-US"/>
              <a:t>有些情况下，可能找到一些不正确或不易理解的需求；此时，原始的用例事件流也需要进行更新</a:t>
            </a:r>
            <a:endParaRPr kumimoji="0" lang="en-US" altLang="zh-C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A9BD2D43-8FCF-4D15-B42F-9AFB99BAF0FD}" type="slidenum">
              <a:rPr lang="en-US" altLang="zh-CN" sz="1200" b="0">
                <a:solidFill>
                  <a:srgbClr val="4D4D4D"/>
                </a:solidFill>
                <a:latin typeface="Arial" charset="0"/>
              </a:rPr>
              <a:pPr eaLnBrk="1" hangingPunct="1"/>
              <a:t>37</a:t>
            </a:fld>
            <a:r>
              <a:rPr lang="en-US" altLang="zh-CN" sz="1200" b="0">
                <a:solidFill>
                  <a:srgbClr val="4D4D4D"/>
                </a:solidFill>
                <a:latin typeface="Arial" charset="0"/>
              </a:rPr>
              <a:t>-</a:t>
            </a:r>
          </a:p>
        </p:txBody>
      </p:sp>
      <p:sp>
        <p:nvSpPr>
          <p:cNvPr id="40963" name="Rectangle 2"/>
          <p:cNvSpPr>
            <a:spLocks noGrp="1" noChangeArrowheads="1"/>
          </p:cNvSpPr>
          <p:nvPr>
            <p:ph type="title"/>
          </p:nvPr>
        </p:nvSpPr>
        <p:spPr/>
        <p:txBody>
          <a:bodyPr/>
          <a:lstStyle/>
          <a:p>
            <a:pPr eaLnBrk="1" hangingPunct="1"/>
            <a:r>
              <a:rPr lang="zh-CN" altLang="en-US"/>
              <a:t>示例：完善用例文档</a:t>
            </a:r>
          </a:p>
        </p:txBody>
      </p:sp>
      <p:grpSp>
        <p:nvGrpSpPr>
          <p:cNvPr id="2" name="Group 3"/>
          <p:cNvGrpSpPr>
            <a:grpSpLocks/>
          </p:cNvGrpSpPr>
          <p:nvPr/>
        </p:nvGrpSpPr>
        <p:grpSpPr bwMode="auto">
          <a:xfrm>
            <a:off x="1919289" y="1330326"/>
            <a:ext cx="4105275" cy="3965575"/>
            <a:chOff x="249" y="838"/>
            <a:chExt cx="2586" cy="2498"/>
          </a:xfrm>
        </p:grpSpPr>
        <p:pic>
          <p:nvPicPr>
            <p:cNvPr id="4097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9" y="838"/>
              <a:ext cx="876" cy="1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71" name="Text Box 5"/>
            <p:cNvSpPr txBox="1">
              <a:spLocks noChangeArrowheads="1"/>
            </p:cNvSpPr>
            <p:nvPr/>
          </p:nvSpPr>
          <p:spPr bwMode="auto">
            <a:xfrm>
              <a:off x="793" y="2471"/>
              <a:ext cx="2042" cy="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buFont typeface="Wingdings" pitchFamily="2" charset="2"/>
                <a:buChar char="l"/>
              </a:pPr>
              <a:r>
                <a:rPr lang="zh-CN" altLang="zh-CN" sz="2800" dirty="0"/>
                <a:t>系统</a:t>
              </a:r>
              <a:r>
                <a:rPr lang="zh-CN" altLang="en-US" sz="2800" dirty="0"/>
                <a:t>计算并</a:t>
              </a:r>
              <a:r>
                <a:rPr lang="zh-CN" altLang="zh-CN" sz="2800" dirty="0"/>
                <a:t>显示旅行费用的总额和申请订金金额</a:t>
              </a:r>
              <a:endParaRPr lang="en-US" altLang="zh-CN" sz="2800" dirty="0"/>
            </a:p>
          </p:txBody>
        </p:sp>
        <p:cxnSp>
          <p:nvCxnSpPr>
            <p:cNvPr id="40972" name="AutoShape 6"/>
            <p:cNvCxnSpPr>
              <a:cxnSpLocks noChangeShapeType="1"/>
              <a:endCxn id="40971" idx="1"/>
            </p:cNvCxnSpPr>
            <p:nvPr/>
          </p:nvCxnSpPr>
          <p:spPr bwMode="auto">
            <a:xfrm rot="16200000" flipH="1">
              <a:off x="347" y="2324"/>
              <a:ext cx="785" cy="106"/>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grpSp>
      <p:grpSp>
        <p:nvGrpSpPr>
          <p:cNvPr id="3" name="Group 7"/>
          <p:cNvGrpSpPr>
            <a:grpSpLocks/>
          </p:cNvGrpSpPr>
          <p:nvPr/>
        </p:nvGrpSpPr>
        <p:grpSpPr bwMode="auto">
          <a:xfrm>
            <a:off x="3792538" y="1268413"/>
            <a:ext cx="6553200" cy="4248150"/>
            <a:chOff x="1429" y="799"/>
            <a:chExt cx="4128" cy="2676"/>
          </a:xfrm>
        </p:grpSpPr>
        <p:pic>
          <p:nvPicPr>
            <p:cNvPr id="40966"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 y="799"/>
              <a:ext cx="876" cy="1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7" name="Text Box 9"/>
            <p:cNvSpPr txBox="1">
              <a:spLocks noChangeArrowheads="1"/>
            </p:cNvSpPr>
            <p:nvPr/>
          </p:nvSpPr>
          <p:spPr bwMode="auto">
            <a:xfrm>
              <a:off x="3515" y="2341"/>
              <a:ext cx="2042" cy="1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buFont typeface="Wingdings" pitchFamily="2" charset="2"/>
                <a:buChar char="l"/>
              </a:pPr>
              <a:r>
                <a:rPr lang="zh-CN" altLang="en-US" sz="2800" dirty="0"/>
                <a:t>系统根据旅游团价格和参加人情况计算费用总额以及订金金额，</a:t>
              </a:r>
              <a:r>
                <a:rPr lang="en-US" altLang="zh-CN" sz="2800" dirty="0"/>
                <a:t>……</a:t>
              </a:r>
            </a:p>
          </p:txBody>
        </p:sp>
        <p:cxnSp>
          <p:nvCxnSpPr>
            <p:cNvPr id="40968" name="AutoShape 10"/>
            <p:cNvCxnSpPr>
              <a:cxnSpLocks noChangeShapeType="1"/>
              <a:endCxn id="40967" idx="1"/>
            </p:cNvCxnSpPr>
            <p:nvPr/>
          </p:nvCxnSpPr>
          <p:spPr bwMode="auto">
            <a:xfrm rot="16200000" flipH="1">
              <a:off x="3047" y="2307"/>
              <a:ext cx="829" cy="106"/>
            </a:xfrm>
            <a:prstGeom prst="bentConnector2">
              <a:avLst/>
            </a:prstGeom>
            <a:noFill/>
            <a:ln w="9525">
              <a:solidFill>
                <a:schemeClr val="tx1"/>
              </a:solidFill>
              <a:miter lim="800000"/>
              <a:headEnd/>
              <a:tailEnd type="triangle" w="med" len="med"/>
            </a:ln>
            <a:extLst>
              <a:ext uri="{909E8E84-426E-40DD-AFC4-6F175D3DCCD1}">
                <a14:hiddenFill xmlns:a14="http://schemas.microsoft.com/office/drawing/2010/main">
                  <a:noFill/>
                </a14:hiddenFill>
              </a:ext>
            </a:extLst>
          </p:spPr>
        </p:cxnSp>
        <p:sp>
          <p:nvSpPr>
            <p:cNvPr id="40969" name="AutoShape 11"/>
            <p:cNvSpPr>
              <a:spLocks noChangeArrowheads="1"/>
            </p:cNvSpPr>
            <p:nvPr/>
          </p:nvSpPr>
          <p:spPr bwMode="auto">
            <a:xfrm>
              <a:off x="1429" y="1026"/>
              <a:ext cx="1407" cy="318"/>
            </a:xfrm>
            <a:prstGeom prst="rightArrow">
              <a:avLst>
                <a:gd name="adj1" fmla="val 53463"/>
                <a:gd name="adj2" fmla="val 46519"/>
              </a:avLst>
            </a:prstGeom>
            <a:solidFill>
              <a:srgbClr val="FF0000"/>
            </a:solidFill>
            <a:ln w="9525">
              <a:solidFill>
                <a:srgbClr val="800000"/>
              </a:solidFill>
              <a:miter lim="800000"/>
              <a:headEnd/>
              <a:tailEnd/>
            </a:ln>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slide(from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DD8AAC0D-A4B5-4EFD-B722-C043ABEF9E1A}" type="slidenum">
              <a:rPr lang="en-US" altLang="zh-CN" sz="1200" b="0">
                <a:solidFill>
                  <a:srgbClr val="4D4D4D"/>
                </a:solidFill>
                <a:latin typeface="Arial" charset="0"/>
              </a:rPr>
              <a:pPr eaLnBrk="1" hangingPunct="1"/>
              <a:t>38</a:t>
            </a:fld>
            <a:r>
              <a:rPr lang="en-US" altLang="zh-CN" sz="1200" b="0">
                <a:solidFill>
                  <a:srgbClr val="4D4D4D"/>
                </a:solidFill>
                <a:latin typeface="Arial" charset="0"/>
              </a:rPr>
              <a:t>-</a:t>
            </a:r>
          </a:p>
        </p:txBody>
      </p:sp>
      <p:sp>
        <p:nvSpPr>
          <p:cNvPr id="41987" name="Rectangle 2"/>
          <p:cNvSpPr>
            <a:spLocks noGrp="1" noChangeArrowheads="1"/>
          </p:cNvSpPr>
          <p:nvPr>
            <p:ph type="title"/>
          </p:nvPr>
        </p:nvSpPr>
        <p:spPr/>
        <p:txBody>
          <a:bodyPr/>
          <a:lstStyle/>
          <a:p>
            <a:pPr eaLnBrk="1" hangingPunct="1"/>
            <a:r>
              <a:rPr lang="en-US" altLang="zh-CN"/>
              <a:t>2. </a:t>
            </a:r>
            <a:r>
              <a:rPr lang="zh-CN" altLang="en-US"/>
              <a:t>从用例行为中识别分析类</a:t>
            </a:r>
            <a:endParaRPr lang="en-US" altLang="zh-CN"/>
          </a:p>
        </p:txBody>
      </p:sp>
      <p:sp>
        <p:nvSpPr>
          <p:cNvPr id="41988" name="Rectangle 3"/>
          <p:cNvSpPr>
            <a:spLocks noGrp="1" noChangeArrowheads="1"/>
          </p:cNvSpPr>
          <p:nvPr>
            <p:ph type="body" idx="1"/>
          </p:nvPr>
        </p:nvSpPr>
        <p:spPr/>
        <p:txBody>
          <a:bodyPr/>
          <a:lstStyle/>
          <a:p>
            <a:pPr eaLnBrk="1" hangingPunct="1">
              <a:lnSpc>
                <a:spcPct val="90000"/>
              </a:lnSpc>
            </a:pPr>
            <a:r>
              <a:rPr lang="zh-CN" altLang="en-US"/>
              <a:t>在对象技术中，一个用例的全部行为都是由相应的类来完成的</a:t>
            </a:r>
          </a:p>
          <a:p>
            <a:pPr eaLnBrk="1" hangingPunct="1">
              <a:lnSpc>
                <a:spcPct val="90000"/>
              </a:lnSpc>
            </a:pPr>
            <a:r>
              <a:rPr lang="zh-CN" altLang="en-US"/>
              <a:t>这些行为必须被分配到类中</a:t>
            </a:r>
          </a:p>
          <a:p>
            <a:pPr lvl="1" eaLnBrk="1" hangingPunct="1">
              <a:lnSpc>
                <a:spcPct val="90000"/>
              </a:lnSpc>
            </a:pPr>
            <a:r>
              <a:rPr lang="zh-CN" altLang="en-US"/>
              <a:t>分析阶段就是对这个过程的第一次尝试</a:t>
            </a:r>
          </a:p>
          <a:p>
            <a:pPr lvl="1" eaLnBrk="1" hangingPunct="1">
              <a:lnSpc>
                <a:spcPct val="90000"/>
              </a:lnSpc>
            </a:pPr>
            <a:r>
              <a:rPr lang="zh-CN" altLang="en-US"/>
              <a:t>这是一个从“无”到“有”的跨越</a:t>
            </a:r>
            <a:endParaRPr lang="en-US" altLang="zh-CN"/>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4591B9C1-531B-4EC3-99F9-B2F83F7AF627}" type="slidenum">
              <a:rPr lang="en-US" altLang="zh-CN" sz="1200" b="0">
                <a:solidFill>
                  <a:srgbClr val="4D4D4D"/>
                </a:solidFill>
                <a:latin typeface="Arial" charset="0"/>
              </a:rPr>
              <a:pPr eaLnBrk="1" hangingPunct="1"/>
              <a:t>39</a:t>
            </a:fld>
            <a:r>
              <a:rPr lang="en-US" altLang="zh-CN" sz="1200" b="0">
                <a:solidFill>
                  <a:srgbClr val="4D4D4D"/>
                </a:solidFill>
                <a:latin typeface="Arial" charset="0"/>
              </a:rPr>
              <a:t>-</a:t>
            </a:r>
          </a:p>
        </p:txBody>
      </p:sp>
      <p:sp>
        <p:nvSpPr>
          <p:cNvPr id="43011" name="Rectangle 2"/>
          <p:cNvSpPr>
            <a:spLocks noGrp="1" noChangeArrowheads="1"/>
          </p:cNvSpPr>
          <p:nvPr>
            <p:ph type="title"/>
          </p:nvPr>
        </p:nvSpPr>
        <p:spPr/>
        <p:txBody>
          <a:bodyPr/>
          <a:lstStyle/>
          <a:p>
            <a:pPr eaLnBrk="1" hangingPunct="1"/>
            <a:r>
              <a:rPr lang="zh-CN" altLang="en-US"/>
              <a:t>分析类：达成目标的第一步</a:t>
            </a:r>
            <a:endParaRPr lang="en-US" altLang="zh-CN"/>
          </a:p>
        </p:txBody>
      </p:sp>
      <p:pic>
        <p:nvPicPr>
          <p:cNvPr id="4301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9650" y="1385889"/>
            <a:ext cx="7600950" cy="391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2164" name="Text Box 4"/>
          <p:cNvSpPr txBox="1">
            <a:spLocks noChangeArrowheads="1"/>
          </p:cNvSpPr>
          <p:nvPr/>
        </p:nvSpPr>
        <p:spPr bwMode="auto">
          <a:xfrm>
            <a:off x="2927350" y="5226050"/>
            <a:ext cx="1943100" cy="579438"/>
          </a:xfrm>
          <a:prstGeom prst="rect">
            <a:avLst/>
          </a:prstGeom>
          <a:noFill/>
          <a:ln w="9525">
            <a:noFill/>
            <a:miter lim="800000"/>
            <a:headEnd/>
            <a:tailEnd/>
          </a:ln>
          <a:effectLst/>
        </p:spPr>
        <p:txBody>
          <a:bodyPr>
            <a:spAutoFit/>
          </a:bodyPr>
          <a:lstStyle/>
          <a:p>
            <a:pPr algn="ctr">
              <a:buFont typeface="Wingdings" pitchFamily="2" charset="2"/>
              <a:buNone/>
              <a:defRPr/>
            </a:pPr>
            <a:r>
              <a:rPr lang="zh-CN" altLang="en-US" sz="3200">
                <a:solidFill>
                  <a:schemeClr val="hlink"/>
                </a:solidFill>
                <a:effectLst>
                  <a:outerShdw blurRad="38100" dist="38100" dir="2700000" algn="tl">
                    <a:srgbClr val="C0C0C0"/>
                  </a:outerShdw>
                </a:effectLst>
              </a:rPr>
              <a:t>用例分析</a:t>
            </a:r>
            <a:endParaRPr lang="en-US" altLang="zh-CN" sz="3200">
              <a:solidFill>
                <a:schemeClr val="hlink"/>
              </a:solidFill>
              <a:effectLst>
                <a:outerShdw blurRad="38100" dist="38100" dir="2700000" algn="tl">
                  <a:srgbClr val="C0C0C0"/>
                </a:outerShdw>
              </a:effectLst>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CA107954-3853-457B-9C67-110F001554CD}" type="slidenum">
              <a:rPr lang="en-US" altLang="zh-CN" sz="1200" b="0">
                <a:solidFill>
                  <a:srgbClr val="4D4D4D"/>
                </a:solidFill>
                <a:latin typeface="Arial" charset="0"/>
              </a:rPr>
              <a:pPr eaLnBrk="1" hangingPunct="1"/>
              <a:t>40</a:t>
            </a:fld>
            <a:r>
              <a:rPr lang="en-US" altLang="zh-CN" sz="1200" b="0">
                <a:solidFill>
                  <a:srgbClr val="4D4D4D"/>
                </a:solidFill>
                <a:latin typeface="Arial" charset="0"/>
              </a:rPr>
              <a:t>-</a:t>
            </a:r>
          </a:p>
        </p:txBody>
      </p:sp>
      <p:sp>
        <p:nvSpPr>
          <p:cNvPr id="44035" name="Rectangle 2"/>
          <p:cNvSpPr>
            <a:spLocks noGrp="1" noChangeArrowheads="1"/>
          </p:cNvSpPr>
          <p:nvPr>
            <p:ph type="title"/>
          </p:nvPr>
        </p:nvSpPr>
        <p:spPr/>
        <p:txBody>
          <a:bodyPr/>
          <a:lstStyle/>
          <a:p>
            <a:pPr eaLnBrk="1" hangingPunct="1"/>
            <a:r>
              <a:rPr lang="zh-CN" altLang="en-US"/>
              <a:t>什么是分析类</a:t>
            </a:r>
            <a:endParaRPr lang="en-US" altLang="zh-CN"/>
          </a:p>
        </p:txBody>
      </p:sp>
      <p:sp>
        <p:nvSpPr>
          <p:cNvPr id="44036" name="Rectangle 3"/>
          <p:cNvSpPr>
            <a:spLocks noGrp="1" noChangeArrowheads="1"/>
          </p:cNvSpPr>
          <p:nvPr>
            <p:ph type="body" idx="1"/>
          </p:nvPr>
        </p:nvSpPr>
        <p:spPr/>
        <p:txBody>
          <a:bodyPr/>
          <a:lstStyle/>
          <a:p>
            <a:pPr eaLnBrk="1" hangingPunct="1"/>
            <a:r>
              <a:rPr lang="zh-CN" altLang="en-US" dirty="0"/>
              <a:t>分析类代表了“系统中必须具备职责和行为的事物”的早期概念模型</a:t>
            </a:r>
          </a:p>
          <a:p>
            <a:pPr eaLnBrk="1" hangingPunct="1"/>
            <a:r>
              <a:rPr lang="zh-CN" altLang="en-US" dirty="0"/>
              <a:t>分析类处理主要的功能需求，模型化问题域对象</a:t>
            </a:r>
          </a:p>
          <a:p>
            <a:pPr eaLnBrk="1" hangingPunct="1"/>
            <a:r>
              <a:rPr lang="zh-CN" altLang="en-US" dirty="0"/>
              <a:t>根据备选架构定义三类分析类</a:t>
            </a:r>
          </a:p>
          <a:p>
            <a:pPr lvl="1" eaLnBrk="1" hangingPunct="1"/>
            <a:r>
              <a:rPr lang="zh-CN" altLang="en-US" dirty="0"/>
              <a:t>边界类：系统及其参与者的边界</a:t>
            </a:r>
            <a:endParaRPr lang="en-US" altLang="zh-CN" dirty="0"/>
          </a:p>
          <a:p>
            <a:pPr lvl="1" eaLnBrk="1" hangingPunct="1"/>
            <a:r>
              <a:rPr lang="zh-CN" altLang="en-US" dirty="0"/>
              <a:t>控制类：系统的控制逻辑</a:t>
            </a:r>
          </a:p>
          <a:p>
            <a:pPr lvl="1" eaLnBrk="1" hangingPunct="1"/>
            <a:r>
              <a:rPr lang="zh-CN" altLang="en-US" dirty="0"/>
              <a:t>实体类：系统使用的信息</a:t>
            </a:r>
            <a:endParaRPr lang="en-US" altLang="zh-CN"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54DD059C-D157-4219-B0D4-4157A5375C40}" type="slidenum">
              <a:rPr lang="en-US" altLang="zh-CN" sz="1200" b="0">
                <a:solidFill>
                  <a:srgbClr val="4D4D4D"/>
                </a:solidFill>
                <a:latin typeface="Arial" charset="0"/>
              </a:rPr>
              <a:pPr eaLnBrk="1" hangingPunct="1"/>
              <a:t>41</a:t>
            </a:fld>
            <a:r>
              <a:rPr lang="en-US" altLang="zh-CN" sz="1200" b="0">
                <a:solidFill>
                  <a:srgbClr val="4D4D4D"/>
                </a:solidFill>
                <a:latin typeface="Arial" charset="0"/>
              </a:rPr>
              <a:t>-</a:t>
            </a:r>
          </a:p>
        </p:txBody>
      </p:sp>
      <p:sp>
        <p:nvSpPr>
          <p:cNvPr id="45059" name="Rectangle 2"/>
          <p:cNvSpPr>
            <a:spLocks noGrp="1" noChangeArrowheads="1"/>
          </p:cNvSpPr>
          <p:nvPr>
            <p:ph type="title"/>
          </p:nvPr>
        </p:nvSpPr>
        <p:spPr/>
        <p:txBody>
          <a:bodyPr/>
          <a:lstStyle/>
          <a:p>
            <a:pPr eaLnBrk="1" hangingPunct="1"/>
            <a:r>
              <a:rPr lang="zh-CN" altLang="en-US"/>
              <a:t>边界类</a:t>
            </a:r>
          </a:p>
        </p:txBody>
      </p:sp>
      <p:sp>
        <p:nvSpPr>
          <p:cNvPr id="45060" name="Rectangle 3"/>
          <p:cNvSpPr>
            <a:spLocks noGrp="1" noChangeArrowheads="1"/>
          </p:cNvSpPr>
          <p:nvPr>
            <p:ph type="body" idx="1"/>
          </p:nvPr>
        </p:nvSpPr>
        <p:spPr/>
        <p:txBody>
          <a:bodyPr/>
          <a:lstStyle/>
          <a:p>
            <a:pPr eaLnBrk="1" hangingPunct="1"/>
            <a:r>
              <a:rPr lang="zh-CN" altLang="en-US"/>
              <a:t>边界类表示系统与参与者之间的边界</a:t>
            </a:r>
            <a:endParaRPr lang="en-US" altLang="zh-CN"/>
          </a:p>
          <a:p>
            <a:pPr lvl="1" eaLnBrk="1" hangingPunct="1"/>
            <a:r>
              <a:rPr lang="zh-CN" altLang="en-US"/>
              <a:t>代表系统与环境的交互</a:t>
            </a:r>
          </a:p>
          <a:p>
            <a:pPr lvl="1" eaLnBrk="1" hangingPunct="1"/>
            <a:r>
              <a:rPr lang="zh-CN" altLang="en-US"/>
              <a:t>是接口和外部事物的中间体</a:t>
            </a:r>
          </a:p>
          <a:p>
            <a:pPr lvl="1" eaLnBrk="1" hangingPunct="1"/>
            <a:r>
              <a:rPr lang="zh-CN" altLang="en-US"/>
              <a:t>构造型</a:t>
            </a:r>
            <a:r>
              <a:rPr lang="en-US" altLang="zh-CN"/>
              <a:t>&lt;&lt;boundary&gt;&gt;</a:t>
            </a:r>
          </a:p>
          <a:p>
            <a:pPr eaLnBrk="1" hangingPunct="1"/>
            <a:r>
              <a:rPr lang="zh-CN" altLang="en-US"/>
              <a:t>两类边界类</a:t>
            </a:r>
          </a:p>
          <a:p>
            <a:pPr lvl="1" eaLnBrk="1" hangingPunct="1"/>
            <a:r>
              <a:rPr lang="zh-CN" altLang="en-US"/>
              <a:t>用户界面类</a:t>
            </a:r>
          </a:p>
          <a:p>
            <a:pPr lvl="1" eaLnBrk="1" hangingPunct="1"/>
            <a:r>
              <a:rPr lang="zh-CN" altLang="en-US"/>
              <a:t>系统和设备接口类</a:t>
            </a:r>
          </a:p>
        </p:txBody>
      </p:sp>
      <p:pic>
        <p:nvPicPr>
          <p:cNvPr id="4506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8526" y="3141664"/>
            <a:ext cx="2449513" cy="202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2"/>
          <p:cNvSpPr>
            <a:spLocks noGrp="1" noChangeArrowheads="1"/>
          </p:cNvSpPr>
          <p:nvPr>
            <p:ph type="title"/>
          </p:nvPr>
        </p:nvSpPr>
        <p:spPr/>
        <p:txBody>
          <a:bodyPr/>
          <a:lstStyle/>
          <a:p>
            <a:pPr eaLnBrk="1" hangingPunct="1"/>
            <a:r>
              <a:rPr kumimoji="0" lang="zh-CN" altLang="en-US"/>
              <a:t>示例：识别</a:t>
            </a:r>
            <a:r>
              <a:rPr lang="zh-CN" altLang="en-US"/>
              <a:t>边界类</a:t>
            </a:r>
            <a:endParaRPr lang="en-US" altLang="zh-CN"/>
          </a:p>
        </p:txBody>
      </p:sp>
      <p:sp>
        <p:nvSpPr>
          <p:cNvPr id="46084" name="Rectangle 3"/>
          <p:cNvSpPr>
            <a:spLocks noGrp="1" noChangeArrowheads="1"/>
          </p:cNvSpPr>
          <p:nvPr>
            <p:ph idx="1"/>
          </p:nvPr>
        </p:nvSpPr>
        <p:spPr/>
        <p:txBody>
          <a:bodyPr/>
          <a:lstStyle/>
          <a:p>
            <a:pPr eaLnBrk="1" hangingPunct="1"/>
            <a:r>
              <a:rPr lang="zh-CN" altLang="en-US"/>
              <a:t>每对参与者</a:t>
            </a:r>
            <a:r>
              <a:rPr lang="en-US" altLang="zh-CN"/>
              <a:t>/</a:t>
            </a:r>
            <a:r>
              <a:rPr lang="zh-CN" altLang="en-US"/>
              <a:t>用例定义一个边界类</a:t>
            </a:r>
            <a:endParaRPr lang="en-US" altLang="zh-CN"/>
          </a:p>
        </p:txBody>
      </p:sp>
      <p:sp>
        <p:nvSpPr>
          <p:cNvPr id="4608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A762AF50-8277-4482-96F4-01811B8EF456}" type="slidenum">
              <a:rPr lang="en-US" altLang="zh-CN" sz="1200" b="0">
                <a:solidFill>
                  <a:srgbClr val="4D4D4D"/>
                </a:solidFill>
                <a:latin typeface="Arial" charset="0"/>
              </a:rPr>
              <a:pPr eaLnBrk="1" hangingPunct="1"/>
              <a:t>42</a:t>
            </a:fld>
            <a:r>
              <a:rPr lang="en-US" altLang="zh-CN" sz="1200" b="0">
                <a:solidFill>
                  <a:srgbClr val="4D4D4D"/>
                </a:solidFill>
                <a:latin typeface="Arial" charset="0"/>
              </a:rPr>
              <a:t>-</a:t>
            </a:r>
          </a:p>
        </p:txBody>
      </p:sp>
      <p:pic>
        <p:nvPicPr>
          <p:cNvPr id="46085" name="Picture 1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7350" y="1900239"/>
            <a:ext cx="6408738"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EB712868-CEE5-4E00-832F-6A917253B08A}" type="slidenum">
              <a:rPr lang="en-US" altLang="zh-CN" sz="1200" b="0">
                <a:solidFill>
                  <a:srgbClr val="4D4D4D"/>
                </a:solidFill>
                <a:latin typeface="Arial" charset="0"/>
              </a:rPr>
              <a:pPr eaLnBrk="1" hangingPunct="1"/>
              <a:t>43</a:t>
            </a:fld>
            <a:r>
              <a:rPr lang="en-US" altLang="zh-CN" sz="1200" b="0">
                <a:solidFill>
                  <a:srgbClr val="4D4D4D"/>
                </a:solidFill>
                <a:latin typeface="Arial" charset="0"/>
              </a:rPr>
              <a:t>-</a:t>
            </a:r>
          </a:p>
        </p:txBody>
      </p:sp>
      <p:sp>
        <p:nvSpPr>
          <p:cNvPr id="48131" name="Rectangle 2"/>
          <p:cNvSpPr>
            <a:spLocks noGrp="1" noChangeArrowheads="1"/>
          </p:cNvSpPr>
          <p:nvPr>
            <p:ph type="title"/>
          </p:nvPr>
        </p:nvSpPr>
        <p:spPr/>
        <p:txBody>
          <a:bodyPr/>
          <a:lstStyle/>
          <a:p>
            <a:pPr eaLnBrk="1" hangingPunct="1"/>
            <a:r>
              <a:rPr lang="zh-CN" altLang="en-US"/>
              <a:t>控制类</a:t>
            </a:r>
          </a:p>
        </p:txBody>
      </p:sp>
      <p:sp>
        <p:nvSpPr>
          <p:cNvPr id="48132" name="Rectangle 3"/>
          <p:cNvSpPr>
            <a:spLocks noGrp="1" noChangeArrowheads="1"/>
          </p:cNvSpPr>
          <p:nvPr>
            <p:ph type="body" idx="1"/>
          </p:nvPr>
        </p:nvSpPr>
        <p:spPr/>
        <p:txBody>
          <a:bodyPr/>
          <a:lstStyle/>
          <a:p>
            <a:pPr eaLnBrk="1" hangingPunct="1"/>
            <a:r>
              <a:rPr lang="zh-CN" altLang="en-US"/>
              <a:t>控制类表示系统的控制逻辑</a:t>
            </a:r>
          </a:p>
          <a:p>
            <a:pPr lvl="1" eaLnBrk="1" hangingPunct="1"/>
            <a:r>
              <a:rPr lang="zh-CN" altLang="en-US"/>
              <a:t>系统行为的协调器</a:t>
            </a:r>
          </a:p>
          <a:p>
            <a:pPr lvl="1" eaLnBrk="1" hangingPunct="1"/>
            <a:r>
              <a:rPr kumimoji="0" lang="zh-CN" altLang="en-US"/>
              <a:t>构造型</a:t>
            </a:r>
            <a:r>
              <a:rPr kumimoji="0" lang="en-US" altLang="zh-CN"/>
              <a:t>&lt;&lt;control&gt;&gt;</a:t>
            </a:r>
          </a:p>
          <a:p>
            <a:pPr eaLnBrk="1" hangingPunct="1"/>
            <a:r>
              <a:rPr lang="zh-CN" altLang="en-US"/>
              <a:t>识别控制类</a:t>
            </a:r>
            <a:endParaRPr lang="en-US" altLang="zh-CN"/>
          </a:p>
          <a:p>
            <a:pPr lvl="1" eaLnBrk="1" hangingPunct="1"/>
            <a:r>
              <a:rPr lang="zh-CN" altLang="en-US"/>
              <a:t>在系统开发早期，为一个用例定义一个控制类，负责该用例的控制逻辑</a:t>
            </a:r>
          </a:p>
          <a:p>
            <a:pPr lvl="1" eaLnBrk="1" hangingPunct="1"/>
            <a:r>
              <a:rPr kumimoji="0" lang="zh-CN" altLang="en-US"/>
              <a:t>针对复杂用例，可为备选路径分别定义不同控制类</a:t>
            </a:r>
            <a:endParaRPr kumimoji="0" lang="en-US" altLang="zh-CN"/>
          </a:p>
        </p:txBody>
      </p:sp>
      <p:pic>
        <p:nvPicPr>
          <p:cNvPr id="48133"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8888" y="1773238"/>
            <a:ext cx="2087562" cy="145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098DA8D1-D6AE-4735-98EF-76883A0781CD}" type="slidenum">
              <a:rPr lang="en-US" altLang="zh-CN" sz="1200" b="0">
                <a:solidFill>
                  <a:srgbClr val="4D4D4D"/>
                </a:solidFill>
                <a:latin typeface="Arial" charset="0"/>
              </a:rPr>
              <a:pPr eaLnBrk="1" hangingPunct="1"/>
              <a:t>44</a:t>
            </a:fld>
            <a:r>
              <a:rPr lang="en-US" altLang="zh-CN" sz="1200" b="0">
                <a:solidFill>
                  <a:srgbClr val="4D4D4D"/>
                </a:solidFill>
                <a:latin typeface="Arial" charset="0"/>
              </a:rPr>
              <a:t>-</a:t>
            </a:r>
          </a:p>
        </p:txBody>
      </p:sp>
      <p:sp>
        <p:nvSpPr>
          <p:cNvPr id="49155" name="Rectangle 2"/>
          <p:cNvSpPr>
            <a:spLocks noGrp="1" noChangeArrowheads="1"/>
          </p:cNvSpPr>
          <p:nvPr>
            <p:ph type="title"/>
          </p:nvPr>
        </p:nvSpPr>
        <p:spPr/>
        <p:txBody>
          <a:bodyPr/>
          <a:lstStyle/>
          <a:p>
            <a:pPr eaLnBrk="1" hangingPunct="1"/>
            <a:r>
              <a:rPr lang="zh-CN" altLang="en-US"/>
              <a:t>示例：识别控制类</a:t>
            </a:r>
            <a:endParaRPr lang="en-US" altLang="zh-CN"/>
          </a:p>
        </p:txBody>
      </p:sp>
      <p:sp>
        <p:nvSpPr>
          <p:cNvPr id="49156" name="Rectangle 3"/>
          <p:cNvSpPr>
            <a:spLocks noGrp="1" noChangeArrowheads="1"/>
          </p:cNvSpPr>
          <p:nvPr>
            <p:ph type="body" idx="1"/>
          </p:nvPr>
        </p:nvSpPr>
        <p:spPr/>
        <p:txBody>
          <a:bodyPr/>
          <a:lstStyle/>
          <a:p>
            <a:pPr eaLnBrk="1" hangingPunct="1"/>
            <a:r>
              <a:rPr lang="zh-CN" altLang="en-US"/>
              <a:t>通常，每个用例定义一个控制类</a:t>
            </a:r>
          </a:p>
          <a:p>
            <a:pPr lvl="1" eaLnBrk="1" hangingPunct="1"/>
            <a:r>
              <a:rPr lang="zh-CN" altLang="en-US"/>
              <a:t>随着分析的继续，一个复杂用例的控制类可以发展为多个</a:t>
            </a:r>
            <a:endParaRPr lang="en-US" altLang="zh-CN"/>
          </a:p>
        </p:txBody>
      </p:sp>
      <p:pic>
        <p:nvPicPr>
          <p:cNvPr id="49157"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50" y="2781300"/>
            <a:ext cx="5975350" cy="3398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A0C07EC7-8337-4201-BD7F-D67F890D5942}" type="slidenum">
              <a:rPr lang="en-US" altLang="zh-CN" sz="1200" b="0">
                <a:solidFill>
                  <a:srgbClr val="4D4D4D"/>
                </a:solidFill>
                <a:latin typeface="Arial" charset="0"/>
              </a:rPr>
              <a:pPr eaLnBrk="1" hangingPunct="1"/>
              <a:t>45</a:t>
            </a:fld>
            <a:r>
              <a:rPr lang="en-US" altLang="zh-CN" sz="1200" b="0">
                <a:solidFill>
                  <a:srgbClr val="4D4D4D"/>
                </a:solidFill>
                <a:latin typeface="Arial" charset="0"/>
              </a:rPr>
              <a:t>-</a:t>
            </a:r>
          </a:p>
        </p:txBody>
      </p:sp>
      <p:sp>
        <p:nvSpPr>
          <p:cNvPr id="50179" name="Rectangle 2"/>
          <p:cNvSpPr>
            <a:spLocks noGrp="1" noChangeArrowheads="1"/>
          </p:cNvSpPr>
          <p:nvPr>
            <p:ph type="title"/>
          </p:nvPr>
        </p:nvSpPr>
        <p:spPr/>
        <p:txBody>
          <a:bodyPr/>
          <a:lstStyle/>
          <a:p>
            <a:pPr eaLnBrk="1" hangingPunct="1"/>
            <a:r>
              <a:rPr lang="zh-CN" altLang="en-US"/>
              <a:t>实体类</a:t>
            </a:r>
            <a:endParaRPr lang="en-US" altLang="zh-CN"/>
          </a:p>
        </p:txBody>
      </p:sp>
      <p:sp>
        <p:nvSpPr>
          <p:cNvPr id="50180" name="Rectangle 3"/>
          <p:cNvSpPr>
            <a:spLocks noGrp="1" noChangeArrowheads="1"/>
          </p:cNvSpPr>
          <p:nvPr>
            <p:ph type="body" idx="1"/>
          </p:nvPr>
        </p:nvSpPr>
        <p:spPr/>
        <p:txBody>
          <a:bodyPr/>
          <a:lstStyle/>
          <a:p>
            <a:pPr eaLnBrk="1" hangingPunct="1"/>
            <a:r>
              <a:rPr lang="zh-CN" altLang="en-US"/>
              <a:t>实体代表了待开发系统的核心概念</a:t>
            </a:r>
          </a:p>
          <a:p>
            <a:pPr eaLnBrk="1" hangingPunct="1"/>
            <a:r>
              <a:rPr lang="zh-CN" altLang="en-US"/>
              <a:t>实体类提供了另一个理解系统的观点</a:t>
            </a:r>
          </a:p>
          <a:p>
            <a:pPr lvl="1" eaLnBrk="1" hangingPunct="1"/>
            <a:r>
              <a:rPr kumimoji="0" lang="zh-CN" altLang="en-US"/>
              <a:t>显示了系统的逻辑数据结构</a:t>
            </a:r>
          </a:p>
          <a:p>
            <a:pPr lvl="1" eaLnBrk="1" hangingPunct="1"/>
            <a:r>
              <a:rPr kumimoji="0" lang="zh-CN" altLang="en-US"/>
              <a:t>传统的面向对象方法就是从这个角度进行分析和设计</a:t>
            </a:r>
          </a:p>
          <a:p>
            <a:pPr eaLnBrk="1" hangingPunct="1"/>
            <a:r>
              <a:rPr kumimoji="0" lang="zh-CN" altLang="en-US"/>
              <a:t>使用构造型</a:t>
            </a:r>
            <a:r>
              <a:rPr kumimoji="0" lang="en-US" altLang="zh-CN"/>
              <a:t>&lt;&lt;entity&gt;&gt;</a:t>
            </a:r>
          </a:p>
          <a:p>
            <a:pPr eaLnBrk="1" hangingPunct="1"/>
            <a:r>
              <a:rPr kumimoji="0" lang="zh-CN" altLang="en-US"/>
              <a:t>可以从以下中找到实体类</a:t>
            </a:r>
          </a:p>
          <a:p>
            <a:pPr lvl="1" eaLnBrk="1" hangingPunct="1"/>
            <a:r>
              <a:rPr kumimoji="0" lang="zh-CN" altLang="en-US"/>
              <a:t>用例事件流</a:t>
            </a:r>
            <a:r>
              <a:rPr kumimoji="0" lang="en-US" altLang="zh-CN"/>
              <a:t>(</a:t>
            </a:r>
            <a:r>
              <a:rPr kumimoji="0" lang="zh-CN" altLang="en-US"/>
              <a:t>需求</a:t>
            </a:r>
            <a:r>
              <a:rPr kumimoji="0" lang="en-US" altLang="zh-CN"/>
              <a:t>) </a:t>
            </a:r>
            <a:r>
              <a:rPr kumimoji="0" lang="zh-CN" altLang="en-US"/>
              <a:t>、业务模型</a:t>
            </a:r>
            <a:r>
              <a:rPr kumimoji="0" lang="en-US" altLang="zh-CN"/>
              <a:t>(</a:t>
            </a:r>
            <a:r>
              <a:rPr kumimoji="0" lang="zh-CN" altLang="en-US"/>
              <a:t>业务建模</a:t>
            </a:r>
            <a:r>
              <a:rPr kumimoji="0" lang="en-US" altLang="zh-CN"/>
              <a:t>) </a:t>
            </a:r>
            <a:r>
              <a:rPr kumimoji="0" lang="zh-CN" altLang="en-US"/>
              <a:t>、词汇表</a:t>
            </a:r>
            <a:r>
              <a:rPr kumimoji="0" lang="en-US" altLang="zh-CN"/>
              <a:t>(</a:t>
            </a:r>
            <a:r>
              <a:rPr kumimoji="0" lang="zh-CN" altLang="en-US"/>
              <a:t>需求</a:t>
            </a:r>
            <a:r>
              <a:rPr kumimoji="0" lang="en-US" altLang="zh-CN"/>
              <a:t>)</a:t>
            </a:r>
            <a:endParaRPr kumimoji="0" lang="zh-CN" altLang="en-US"/>
          </a:p>
        </p:txBody>
      </p:sp>
      <p:pic>
        <p:nvPicPr>
          <p:cNvPr id="50181"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67663" y="3644900"/>
            <a:ext cx="2305050" cy="157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F14267B1-6DCB-43F6-B186-380B66F3D727}" type="slidenum">
              <a:rPr lang="en-US" altLang="zh-CN" sz="1200" b="0">
                <a:solidFill>
                  <a:srgbClr val="4D4D4D"/>
                </a:solidFill>
                <a:latin typeface="Arial" charset="0"/>
              </a:rPr>
              <a:pPr eaLnBrk="1" hangingPunct="1"/>
              <a:t>46</a:t>
            </a:fld>
            <a:r>
              <a:rPr lang="en-US" altLang="zh-CN" sz="1200" b="0">
                <a:solidFill>
                  <a:srgbClr val="4D4D4D"/>
                </a:solidFill>
                <a:latin typeface="Arial" charset="0"/>
              </a:rPr>
              <a:t>-</a:t>
            </a:r>
          </a:p>
        </p:txBody>
      </p:sp>
      <p:sp>
        <p:nvSpPr>
          <p:cNvPr id="51203" name="Rectangle 2"/>
          <p:cNvSpPr>
            <a:spLocks noGrp="1" noChangeArrowheads="1"/>
          </p:cNvSpPr>
          <p:nvPr>
            <p:ph type="title"/>
          </p:nvPr>
        </p:nvSpPr>
        <p:spPr/>
        <p:txBody>
          <a:bodyPr/>
          <a:lstStyle/>
          <a:p>
            <a:pPr eaLnBrk="1" hangingPunct="1"/>
            <a:r>
              <a:rPr lang="zh-CN" altLang="en-US"/>
              <a:t>识别实体类</a:t>
            </a:r>
            <a:endParaRPr lang="en-US" altLang="zh-CN"/>
          </a:p>
        </p:txBody>
      </p:sp>
      <p:sp>
        <p:nvSpPr>
          <p:cNvPr id="51204" name="Rectangle 3"/>
          <p:cNvSpPr>
            <a:spLocks noGrp="1" noChangeArrowheads="1"/>
          </p:cNvSpPr>
          <p:nvPr>
            <p:ph type="body" idx="1"/>
          </p:nvPr>
        </p:nvSpPr>
        <p:spPr/>
        <p:txBody>
          <a:bodyPr/>
          <a:lstStyle/>
          <a:p>
            <a:pPr eaLnBrk="1" hangingPunct="1"/>
            <a:r>
              <a:rPr lang="zh-CN" altLang="en-US"/>
              <a:t>分析用例事件流中的</a:t>
            </a:r>
            <a:r>
              <a:rPr lang="zh-CN" altLang="en-US">
                <a:solidFill>
                  <a:schemeClr val="hlink"/>
                </a:solidFill>
              </a:rPr>
              <a:t>名词</a:t>
            </a:r>
            <a:r>
              <a:rPr lang="zh-CN" altLang="en-US"/>
              <a:t>、</a:t>
            </a:r>
            <a:r>
              <a:rPr lang="zh-CN" altLang="en-US">
                <a:solidFill>
                  <a:schemeClr val="hlink"/>
                </a:solidFill>
              </a:rPr>
              <a:t>名词短语</a:t>
            </a:r>
            <a:r>
              <a:rPr lang="zh-CN" altLang="en-US"/>
              <a:t>找出系统所需的实体对象，这些名词可能是：</a:t>
            </a:r>
          </a:p>
          <a:p>
            <a:pPr lvl="1" eaLnBrk="1" hangingPunct="1"/>
            <a:r>
              <a:rPr lang="zh-CN" altLang="en-US"/>
              <a:t>对象、对象的特征和状态</a:t>
            </a:r>
          </a:p>
          <a:p>
            <a:pPr lvl="1" eaLnBrk="1" hangingPunct="1"/>
            <a:r>
              <a:rPr lang="zh-CN" altLang="en-US"/>
              <a:t>参与者、描述信息、系统之外的</a:t>
            </a:r>
          </a:p>
          <a:p>
            <a:pPr eaLnBrk="1" hangingPunct="1"/>
            <a:r>
              <a:rPr lang="zh-CN" altLang="en-US"/>
              <a:t>从这些名词、名词短语中进行筛选，抽取出系统对象，并抽象成类</a:t>
            </a:r>
            <a:endParaRPr lang="en-US" altLang="zh-CN"/>
          </a:p>
          <a:p>
            <a:pPr lvl="1" eaLnBrk="1" hangingPunct="1"/>
            <a:r>
              <a:rPr kumimoji="0" lang="zh-CN" altLang="en-US"/>
              <a:t>综合考虑在系统中的意义、作用和职责</a:t>
            </a:r>
          </a:p>
          <a:p>
            <a:pPr eaLnBrk="1" hangingPunct="1"/>
            <a:r>
              <a:rPr lang="zh-CN" altLang="en-US"/>
              <a:t>对于所识别的类进行命名</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3A98BFBB-CDD8-41AB-8997-25038EC15E3D}" type="slidenum">
              <a:rPr lang="en-US" altLang="zh-CN" sz="1200" b="0">
                <a:solidFill>
                  <a:srgbClr val="4D4D4D"/>
                </a:solidFill>
                <a:latin typeface="Arial" charset="0"/>
              </a:rPr>
              <a:pPr eaLnBrk="1" hangingPunct="1"/>
              <a:t>47</a:t>
            </a:fld>
            <a:r>
              <a:rPr lang="en-US" altLang="zh-CN" sz="1200" b="0">
                <a:solidFill>
                  <a:srgbClr val="4D4D4D"/>
                </a:solidFill>
                <a:latin typeface="Arial" charset="0"/>
              </a:rPr>
              <a:t>-</a:t>
            </a:r>
          </a:p>
        </p:txBody>
      </p:sp>
      <p:sp>
        <p:nvSpPr>
          <p:cNvPr id="52227" name="Rectangle 2"/>
          <p:cNvSpPr>
            <a:spLocks noGrp="1" noChangeArrowheads="1"/>
          </p:cNvSpPr>
          <p:nvPr>
            <p:ph type="title"/>
          </p:nvPr>
        </p:nvSpPr>
        <p:spPr/>
        <p:txBody>
          <a:bodyPr/>
          <a:lstStyle/>
          <a:p>
            <a:pPr eaLnBrk="1" hangingPunct="1"/>
            <a:r>
              <a:rPr lang="zh-CN" altLang="en-US"/>
              <a:t>指南：名词筛选法识别实体类</a:t>
            </a:r>
          </a:p>
        </p:txBody>
      </p:sp>
      <p:sp>
        <p:nvSpPr>
          <p:cNvPr id="52228" name="Rectangle 3"/>
          <p:cNvSpPr>
            <a:spLocks noGrp="1" noChangeArrowheads="1"/>
          </p:cNvSpPr>
          <p:nvPr>
            <p:ph type="body" idx="1"/>
          </p:nvPr>
        </p:nvSpPr>
        <p:spPr/>
        <p:txBody>
          <a:bodyPr/>
          <a:lstStyle/>
          <a:p>
            <a:pPr eaLnBrk="1" hangingPunct="1">
              <a:lnSpc>
                <a:spcPct val="90000"/>
              </a:lnSpc>
            </a:pPr>
            <a:r>
              <a:rPr lang="zh-CN" altLang="en-US" dirty="0"/>
              <a:t>名词筛选法识别实体类的基本思路：</a:t>
            </a:r>
          </a:p>
          <a:p>
            <a:pPr lvl="1" eaLnBrk="1" hangingPunct="1">
              <a:lnSpc>
                <a:spcPct val="90000"/>
              </a:lnSpc>
            </a:pPr>
            <a:r>
              <a:rPr lang="zh-CN" altLang="en-US" dirty="0"/>
              <a:t>将用例事件流作为输入，找出名词或名词性短语，形成了实体类的初始候选列表</a:t>
            </a:r>
          </a:p>
          <a:p>
            <a:pPr lvl="1" eaLnBrk="1" hangingPunct="1">
              <a:lnSpc>
                <a:spcPct val="90000"/>
              </a:lnSpc>
            </a:pPr>
            <a:r>
              <a:rPr lang="zh-CN" altLang="en-US" dirty="0"/>
              <a:t>合并那些含义相同的名词</a:t>
            </a:r>
          </a:p>
          <a:p>
            <a:pPr lvl="1" eaLnBrk="1" hangingPunct="1">
              <a:lnSpc>
                <a:spcPct val="90000"/>
              </a:lnSpc>
            </a:pPr>
            <a:r>
              <a:rPr lang="zh-CN" altLang="en-US" dirty="0"/>
              <a:t>删除那些系统不需要处理的名词</a:t>
            </a:r>
          </a:p>
          <a:p>
            <a:pPr lvl="1" eaLnBrk="1" hangingPunct="1">
              <a:lnSpc>
                <a:spcPct val="90000"/>
              </a:lnSpc>
            </a:pPr>
            <a:r>
              <a:rPr lang="zh-CN" altLang="en-US" dirty="0"/>
              <a:t>删除作为参与者的名词</a:t>
            </a:r>
          </a:p>
          <a:p>
            <a:pPr lvl="1" eaLnBrk="1" hangingPunct="1">
              <a:lnSpc>
                <a:spcPct val="90000"/>
              </a:lnSpc>
            </a:pPr>
            <a:r>
              <a:rPr lang="zh-CN" altLang="en-US" dirty="0"/>
              <a:t>删除与实现相关的名词</a:t>
            </a:r>
          </a:p>
          <a:p>
            <a:pPr lvl="1" eaLnBrk="1" hangingPunct="1">
              <a:lnSpc>
                <a:spcPct val="90000"/>
              </a:lnSpc>
            </a:pPr>
            <a:r>
              <a:rPr lang="zh-CN" altLang="en-US" dirty="0"/>
              <a:t>删除那些作为其他实体类属性的名词</a:t>
            </a:r>
          </a:p>
          <a:p>
            <a:pPr lvl="1" eaLnBrk="1" hangingPunct="1">
              <a:lnSpc>
                <a:spcPct val="90000"/>
              </a:lnSpc>
            </a:pPr>
            <a:r>
              <a:rPr lang="zh-CN" altLang="en-US" dirty="0"/>
              <a:t>对剩余的名词，综合考虑它在当前用例以及整个系统中的含义、作用以及职责，并基于此确定合适的名字，作为初始实体类存在</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C34C962F-E8FA-4EB7-B9AA-CBD1DE9FA7C2}" type="slidenum">
              <a:rPr lang="en-US" altLang="zh-CN" sz="1200" b="0">
                <a:solidFill>
                  <a:srgbClr val="4D4D4D"/>
                </a:solidFill>
                <a:latin typeface="Arial" charset="0"/>
              </a:rPr>
              <a:pPr eaLnBrk="1" hangingPunct="1"/>
              <a:t>48</a:t>
            </a:fld>
            <a:r>
              <a:rPr lang="en-US" altLang="zh-CN" sz="1200" b="0">
                <a:solidFill>
                  <a:srgbClr val="4D4D4D"/>
                </a:solidFill>
                <a:latin typeface="Arial" charset="0"/>
              </a:rPr>
              <a:t>-</a:t>
            </a:r>
          </a:p>
        </p:txBody>
      </p:sp>
      <p:sp>
        <p:nvSpPr>
          <p:cNvPr id="53251" name="Rectangle 2"/>
          <p:cNvSpPr>
            <a:spLocks noGrp="1" noChangeArrowheads="1"/>
          </p:cNvSpPr>
          <p:nvPr>
            <p:ph type="title"/>
          </p:nvPr>
        </p:nvSpPr>
        <p:spPr/>
        <p:txBody>
          <a:bodyPr/>
          <a:lstStyle/>
          <a:p>
            <a:pPr eaLnBrk="1" hangingPunct="1"/>
            <a:r>
              <a:rPr lang="zh-CN" altLang="en-US" dirty="0"/>
              <a:t>识别实体类</a:t>
            </a:r>
            <a:endParaRPr lang="en-US" altLang="zh-CN" dirty="0"/>
          </a:p>
        </p:txBody>
      </p:sp>
      <p:sp>
        <p:nvSpPr>
          <p:cNvPr id="53252" name="Rectangle 3"/>
          <p:cNvSpPr>
            <a:spLocks noGrp="1" noChangeArrowheads="1"/>
          </p:cNvSpPr>
          <p:nvPr>
            <p:ph type="body" idx="1"/>
          </p:nvPr>
        </p:nvSpPr>
        <p:spPr/>
        <p:txBody>
          <a:bodyPr/>
          <a:lstStyle/>
          <a:p>
            <a:pPr eaLnBrk="1" hangingPunct="1">
              <a:lnSpc>
                <a:spcPct val="90000"/>
              </a:lnSpc>
            </a:pPr>
            <a:r>
              <a:rPr lang="zh-CN" altLang="en-US" dirty="0"/>
              <a:t>在实际应用中，依赖于类似项目的经验和对业务及系统的理解（或领域专家意见），来获取系统关键抽象，作为初始的实体类，再辅以名词筛选法补充完善实体类</a:t>
            </a:r>
            <a:endParaRPr lang="en-US" altLang="zh-CN" dirty="0"/>
          </a:p>
          <a:p>
            <a:pPr eaLnBrk="1" hangingPunct="1">
              <a:lnSpc>
                <a:spcPct val="90000"/>
              </a:lnSpc>
            </a:pPr>
            <a:r>
              <a:rPr lang="zh-CN" altLang="en-US" dirty="0"/>
              <a:t>此外，还有其他实体类的来源</a:t>
            </a:r>
            <a:endParaRPr lang="en-US" altLang="zh-CN" dirty="0"/>
          </a:p>
          <a:p>
            <a:pPr lvl="1" eaLnBrk="1" hangingPunct="1">
              <a:lnSpc>
                <a:spcPct val="90000"/>
              </a:lnSpc>
            </a:pPr>
            <a:r>
              <a:rPr lang="zh-CN" altLang="en-US" dirty="0"/>
              <a:t>系统原始需求书</a:t>
            </a:r>
            <a:r>
              <a:rPr lang="en-US" altLang="zh-CN" dirty="0"/>
              <a:t>/</a:t>
            </a:r>
            <a:r>
              <a:rPr lang="zh-CN" altLang="en-US" dirty="0"/>
              <a:t>问题描述</a:t>
            </a:r>
          </a:p>
          <a:p>
            <a:pPr lvl="1" eaLnBrk="1" hangingPunct="1">
              <a:lnSpc>
                <a:spcPct val="90000"/>
              </a:lnSpc>
            </a:pPr>
            <a:r>
              <a:rPr lang="zh-CN" altLang="en-US" dirty="0"/>
              <a:t>该领域相关文献、专家意见或个人知识</a:t>
            </a:r>
          </a:p>
          <a:p>
            <a:pPr lvl="1" eaLnBrk="1" hangingPunct="1">
              <a:lnSpc>
                <a:spcPct val="90000"/>
              </a:lnSpc>
            </a:pPr>
            <a:r>
              <a:rPr lang="zh-CN" altLang="en-US" dirty="0"/>
              <a:t>过去的类似系统</a:t>
            </a:r>
          </a:p>
          <a:p>
            <a:pPr eaLnBrk="1" hangingPunct="1">
              <a:lnSpc>
                <a:spcPct val="90000"/>
              </a:lnSpc>
            </a:pPr>
            <a:r>
              <a:rPr lang="zh-CN" altLang="en-US" dirty="0"/>
              <a:t>后续职责分配中可能识别一些新的实体类</a:t>
            </a:r>
          </a:p>
          <a:p>
            <a:pPr eaLnBrk="1" hangingPunct="1">
              <a:lnSpc>
                <a:spcPct val="90000"/>
              </a:lnSpc>
            </a:pPr>
            <a:r>
              <a:rPr lang="zh-CN" altLang="en-US" dirty="0"/>
              <a:t>实体类的命名要用该领域中最经常使用的名称</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03D3BE35-6CCE-44EF-88F4-AB97C9EAA72A}" type="slidenum">
              <a:rPr lang="en-US" altLang="zh-CN" sz="1200" b="0">
                <a:solidFill>
                  <a:srgbClr val="4D4D4D"/>
                </a:solidFill>
                <a:latin typeface="Arial" charset="0"/>
              </a:rPr>
              <a:pPr eaLnBrk="1" hangingPunct="1"/>
              <a:t>49</a:t>
            </a:fld>
            <a:r>
              <a:rPr lang="en-US" altLang="zh-CN" sz="1200" b="0">
                <a:solidFill>
                  <a:srgbClr val="4D4D4D"/>
                </a:solidFill>
                <a:latin typeface="Arial" charset="0"/>
              </a:rPr>
              <a:t>-</a:t>
            </a:r>
          </a:p>
        </p:txBody>
      </p:sp>
      <p:sp>
        <p:nvSpPr>
          <p:cNvPr id="54275" name="Rectangle 2"/>
          <p:cNvSpPr>
            <a:spLocks noGrp="1" noChangeArrowheads="1"/>
          </p:cNvSpPr>
          <p:nvPr>
            <p:ph type="title"/>
          </p:nvPr>
        </p:nvSpPr>
        <p:spPr/>
        <p:txBody>
          <a:bodyPr/>
          <a:lstStyle/>
          <a:p>
            <a:pPr eaLnBrk="1" hangingPunct="1"/>
            <a:r>
              <a:rPr lang="zh-CN" altLang="en-US"/>
              <a:t>示例：候选实体类</a:t>
            </a:r>
            <a:endParaRPr lang="en-US" altLang="zh-CN"/>
          </a:p>
        </p:txBody>
      </p:sp>
      <p:sp>
        <p:nvSpPr>
          <p:cNvPr id="54276" name="Rectangle 3"/>
          <p:cNvSpPr>
            <a:spLocks noGrp="1" noChangeArrowheads="1"/>
          </p:cNvSpPr>
          <p:nvPr>
            <p:ph type="body" idx="1"/>
          </p:nvPr>
        </p:nvSpPr>
        <p:spPr/>
        <p:txBody>
          <a:bodyPr/>
          <a:lstStyle/>
          <a:p>
            <a:pPr eaLnBrk="1" hangingPunct="1"/>
            <a:r>
              <a:rPr lang="zh-CN" altLang="en-US"/>
              <a:t>“支付”用例基本路径中的候选实体类</a:t>
            </a:r>
            <a:endParaRPr lang="en-US" altLang="zh-CN"/>
          </a:p>
        </p:txBody>
      </p:sp>
      <p:pic>
        <p:nvPicPr>
          <p:cNvPr id="54277"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913" y="2303464"/>
            <a:ext cx="6337300" cy="350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E2D6345D-893C-4245-ABF7-6954CEF5F0D2}" type="slidenum">
              <a:rPr lang="en-US" altLang="zh-CN" sz="1200" b="0">
                <a:solidFill>
                  <a:srgbClr val="4D4D4D"/>
                </a:solidFill>
                <a:latin typeface="Arial" charset="0"/>
              </a:rPr>
              <a:pPr eaLnBrk="1" hangingPunct="1"/>
              <a:t>50</a:t>
            </a:fld>
            <a:r>
              <a:rPr lang="en-US" altLang="zh-CN" sz="1200" b="0">
                <a:solidFill>
                  <a:srgbClr val="4D4D4D"/>
                </a:solidFill>
                <a:latin typeface="Arial" charset="0"/>
              </a:rPr>
              <a:t>-</a:t>
            </a:r>
          </a:p>
        </p:txBody>
      </p:sp>
      <p:sp>
        <p:nvSpPr>
          <p:cNvPr id="55299" name="Rectangle 2"/>
          <p:cNvSpPr>
            <a:spLocks noGrp="1" noChangeArrowheads="1"/>
          </p:cNvSpPr>
          <p:nvPr>
            <p:ph type="title"/>
          </p:nvPr>
        </p:nvSpPr>
        <p:spPr/>
        <p:txBody>
          <a:bodyPr/>
          <a:lstStyle/>
          <a:p>
            <a:pPr eaLnBrk="1" hangingPunct="1"/>
            <a:r>
              <a:rPr lang="zh-CN" altLang="en-US"/>
              <a:t>示例：总结：分析类</a:t>
            </a:r>
            <a:endParaRPr lang="en-US" altLang="zh-CN"/>
          </a:p>
        </p:txBody>
      </p:sp>
      <p:pic>
        <p:nvPicPr>
          <p:cNvPr id="55300"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3388" y="1412875"/>
            <a:ext cx="8642350" cy="4630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7A0DF8A2-BA23-43D4-B607-99F5C7844CD9}" type="slidenum">
              <a:rPr lang="en-US" altLang="zh-CN" sz="1200" b="0">
                <a:solidFill>
                  <a:srgbClr val="4D4D4D"/>
                </a:solidFill>
                <a:latin typeface="Arial" charset="0"/>
              </a:rPr>
              <a:pPr eaLnBrk="1" hangingPunct="1"/>
              <a:t>51</a:t>
            </a:fld>
            <a:r>
              <a:rPr lang="en-US" altLang="zh-CN" sz="1200" b="0">
                <a:solidFill>
                  <a:srgbClr val="4D4D4D"/>
                </a:solidFill>
                <a:latin typeface="Arial" charset="0"/>
              </a:rPr>
              <a:t>-</a:t>
            </a:r>
          </a:p>
        </p:txBody>
      </p:sp>
      <p:sp>
        <p:nvSpPr>
          <p:cNvPr id="56323" name="Rectangle 2"/>
          <p:cNvSpPr>
            <a:spLocks noGrp="1" noChangeArrowheads="1"/>
          </p:cNvSpPr>
          <p:nvPr>
            <p:ph type="title"/>
          </p:nvPr>
        </p:nvSpPr>
        <p:spPr/>
        <p:txBody>
          <a:bodyPr/>
          <a:lstStyle/>
          <a:p>
            <a:pPr eaLnBrk="1" hangingPunct="1"/>
            <a:r>
              <a:rPr lang="zh-CN" altLang="en-US"/>
              <a:t>总结：从用例中识别分析类</a:t>
            </a:r>
            <a:endParaRPr lang="en-US" altLang="zh-CN"/>
          </a:p>
        </p:txBody>
      </p:sp>
      <p:pic>
        <p:nvPicPr>
          <p:cNvPr id="7434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2526" y="3448050"/>
            <a:ext cx="7129463"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6325" name="Group 4"/>
          <p:cNvGrpSpPr>
            <a:grpSpLocks/>
          </p:cNvGrpSpPr>
          <p:nvPr/>
        </p:nvGrpSpPr>
        <p:grpSpPr bwMode="auto">
          <a:xfrm>
            <a:off x="3071814" y="981075"/>
            <a:ext cx="5832475" cy="2089150"/>
            <a:chOff x="975" y="618"/>
            <a:chExt cx="3674" cy="1316"/>
          </a:xfrm>
        </p:grpSpPr>
        <p:pic>
          <p:nvPicPr>
            <p:cNvPr id="56326"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5" y="618"/>
              <a:ext cx="3674" cy="9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7" name="AutoShape 6"/>
            <p:cNvSpPr>
              <a:spLocks noChangeArrowheads="1"/>
            </p:cNvSpPr>
            <p:nvPr/>
          </p:nvSpPr>
          <p:spPr bwMode="auto">
            <a:xfrm>
              <a:off x="2653" y="1480"/>
              <a:ext cx="272" cy="454"/>
            </a:xfrm>
            <a:prstGeom prst="downArrow">
              <a:avLst>
                <a:gd name="adj1" fmla="val 50000"/>
                <a:gd name="adj2" fmla="val 41728"/>
              </a:avLst>
            </a:prstGeom>
            <a:solidFill>
              <a:schemeClr val="hlink"/>
            </a:solidFill>
            <a:ln w="9525">
              <a:solidFill>
                <a:srgbClr val="800000"/>
              </a:solidFill>
              <a:miter lim="800000"/>
              <a:headEnd/>
              <a:tailEnd/>
            </a:ln>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43427"/>
                                        </p:tgtEl>
                                        <p:attrNameLst>
                                          <p:attrName>style.visibility</p:attrName>
                                        </p:attrNameLst>
                                      </p:cBhvr>
                                      <p:to>
                                        <p:strVal val="visible"/>
                                      </p:to>
                                    </p:set>
                                    <p:animEffect transition="in" filter="dissolve">
                                      <p:cBhvr>
                                        <p:cTn id="7" dur="500"/>
                                        <p:tgtEl>
                                          <p:spTgt spid="7434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lstStyle/>
          <a:p>
            <a:pPr eaLnBrk="1" hangingPunct="1"/>
            <a:r>
              <a:rPr lang="zh-CN" altLang="en-US"/>
              <a:t>实例</a:t>
            </a:r>
            <a:r>
              <a:rPr lang="en-US" altLang="zh-CN"/>
              <a:t>-</a:t>
            </a:r>
            <a:r>
              <a:rPr lang="zh-CN" altLang="en-US"/>
              <a:t>旅店预订系统中识别分析类</a:t>
            </a:r>
            <a:endParaRPr lang="en-US" altLang="zh-CN"/>
          </a:p>
        </p:txBody>
      </p:sp>
      <p:sp>
        <p:nvSpPr>
          <p:cNvPr id="5734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41742771-B57C-4AA6-B66E-1A3D66F638A9}" type="slidenum">
              <a:rPr lang="en-US" altLang="zh-CN" sz="1200" b="0">
                <a:solidFill>
                  <a:srgbClr val="4D4D4D"/>
                </a:solidFill>
                <a:latin typeface="Arial" charset="0"/>
              </a:rPr>
              <a:pPr eaLnBrk="1" hangingPunct="1"/>
              <a:t>52</a:t>
            </a:fld>
            <a:r>
              <a:rPr lang="en-US" altLang="zh-CN" sz="1200" b="0">
                <a:solidFill>
                  <a:srgbClr val="4D4D4D"/>
                </a:solidFill>
                <a:latin typeface="Arial" charset="0"/>
              </a:rPr>
              <a:t>-</a:t>
            </a:r>
          </a:p>
        </p:txBody>
      </p:sp>
      <p:pic>
        <p:nvPicPr>
          <p:cNvPr id="5734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2957" y="1065211"/>
            <a:ext cx="2592388" cy="229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44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5189" y="3500439"/>
            <a:ext cx="2447925" cy="1004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44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03389" y="4724400"/>
            <a:ext cx="3455987"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4454"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48301" y="1125538"/>
            <a:ext cx="1484313" cy="525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44455"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35863" y="1268413"/>
            <a:ext cx="2736850" cy="489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44452"/>
                                        </p:tgtEl>
                                        <p:attrNameLst>
                                          <p:attrName>style.visibility</p:attrName>
                                        </p:attrNameLst>
                                      </p:cBhvr>
                                      <p:to>
                                        <p:strVal val="visible"/>
                                      </p:to>
                                    </p:set>
                                    <p:animEffect transition="in" filter="dissolve">
                                      <p:cBhvr>
                                        <p:cTn id="7" dur="500"/>
                                        <p:tgtEl>
                                          <p:spTgt spid="7444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44453"/>
                                        </p:tgtEl>
                                        <p:attrNameLst>
                                          <p:attrName>style.visibility</p:attrName>
                                        </p:attrNameLst>
                                      </p:cBhvr>
                                      <p:to>
                                        <p:strVal val="visible"/>
                                      </p:to>
                                    </p:set>
                                    <p:animEffect transition="in" filter="dissolve">
                                      <p:cBhvr>
                                        <p:cTn id="12" dur="500"/>
                                        <p:tgtEl>
                                          <p:spTgt spid="74445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744454"/>
                                        </p:tgtEl>
                                        <p:attrNameLst>
                                          <p:attrName>style.visibility</p:attrName>
                                        </p:attrNameLst>
                                      </p:cBhvr>
                                      <p:to>
                                        <p:strVal val="visible"/>
                                      </p:to>
                                    </p:set>
                                    <p:animEffect transition="in" filter="dissolve">
                                      <p:cBhvr>
                                        <p:cTn id="17" dur="500"/>
                                        <p:tgtEl>
                                          <p:spTgt spid="74445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744455"/>
                                        </p:tgtEl>
                                        <p:attrNameLst>
                                          <p:attrName>style.visibility</p:attrName>
                                        </p:attrNameLst>
                                      </p:cBhvr>
                                      <p:to>
                                        <p:strVal val="visible"/>
                                      </p:to>
                                    </p:set>
                                    <p:animEffect transition="in" filter="dissolve">
                                      <p:cBhvr>
                                        <p:cTn id="22" dur="500"/>
                                        <p:tgtEl>
                                          <p:spTgt spid="7444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3FA3B56A-150E-4D37-AD95-A5B903AD7CE9}" type="slidenum">
              <a:rPr lang="en-US" altLang="zh-CN" sz="1200" b="0">
                <a:solidFill>
                  <a:srgbClr val="4D4D4D"/>
                </a:solidFill>
                <a:latin typeface="Arial" charset="0"/>
              </a:rPr>
              <a:pPr eaLnBrk="1" hangingPunct="1"/>
              <a:t>53</a:t>
            </a:fld>
            <a:r>
              <a:rPr lang="en-US" altLang="zh-CN" sz="1200" b="0">
                <a:solidFill>
                  <a:srgbClr val="4D4D4D"/>
                </a:solidFill>
                <a:latin typeface="Arial" charset="0"/>
              </a:rPr>
              <a:t>-</a:t>
            </a:r>
          </a:p>
        </p:txBody>
      </p:sp>
      <p:sp>
        <p:nvSpPr>
          <p:cNvPr id="58371" name="Rectangle 2"/>
          <p:cNvSpPr>
            <a:spLocks noGrp="1" noChangeArrowheads="1"/>
          </p:cNvSpPr>
          <p:nvPr>
            <p:ph type="title"/>
          </p:nvPr>
        </p:nvSpPr>
        <p:spPr/>
        <p:txBody>
          <a:bodyPr/>
          <a:lstStyle/>
          <a:p>
            <a:pPr eaLnBrk="1" hangingPunct="1"/>
            <a:r>
              <a:rPr lang="zh-CN" altLang="en-US"/>
              <a:t>实例</a:t>
            </a:r>
            <a:r>
              <a:rPr lang="en-US" altLang="zh-CN"/>
              <a:t>-</a:t>
            </a:r>
            <a:r>
              <a:rPr lang="zh-CN" altLang="en-US"/>
              <a:t>旅游申请系统中的分析类</a:t>
            </a:r>
            <a:endParaRPr lang="en-US" altLang="zh-CN"/>
          </a:p>
        </p:txBody>
      </p:sp>
      <p:pic>
        <p:nvPicPr>
          <p:cNvPr id="58372"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7850" y="1052514"/>
            <a:ext cx="4476750" cy="267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3"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851" y="4221163"/>
            <a:ext cx="4659313" cy="196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4"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6725" y="4221164"/>
            <a:ext cx="3455988" cy="190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75" name="Picture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72263" y="1341439"/>
            <a:ext cx="3600450" cy="240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CD7F8BC5-A57F-41E6-82FE-536EF54E0AA0}" type="slidenum">
              <a:rPr lang="en-US" altLang="zh-CN" sz="1200" b="0">
                <a:solidFill>
                  <a:srgbClr val="4D4D4D"/>
                </a:solidFill>
                <a:latin typeface="Arial" charset="0"/>
              </a:rPr>
              <a:pPr eaLnBrk="1" hangingPunct="1"/>
              <a:t>54</a:t>
            </a:fld>
            <a:r>
              <a:rPr lang="en-US" altLang="zh-CN" sz="1200" b="0">
                <a:solidFill>
                  <a:srgbClr val="4D4D4D"/>
                </a:solidFill>
                <a:latin typeface="Arial" charset="0"/>
              </a:rPr>
              <a:t>-</a:t>
            </a:r>
          </a:p>
        </p:txBody>
      </p:sp>
      <p:sp>
        <p:nvSpPr>
          <p:cNvPr id="59395" name="Rectangle 2"/>
          <p:cNvSpPr>
            <a:spLocks noGrp="1" noChangeArrowheads="1"/>
          </p:cNvSpPr>
          <p:nvPr>
            <p:ph type="title"/>
          </p:nvPr>
        </p:nvSpPr>
        <p:spPr/>
        <p:txBody>
          <a:bodyPr/>
          <a:lstStyle/>
          <a:p>
            <a:pPr eaLnBrk="1" hangingPunct="1"/>
            <a:r>
              <a:rPr lang="en-US" altLang="zh-CN"/>
              <a:t>3. </a:t>
            </a:r>
            <a:r>
              <a:rPr lang="zh-CN" altLang="en-US"/>
              <a:t>将用例行为分配给类</a:t>
            </a:r>
            <a:endParaRPr lang="en-US" altLang="zh-CN"/>
          </a:p>
        </p:txBody>
      </p:sp>
      <p:sp>
        <p:nvSpPr>
          <p:cNvPr id="59396" name="Rectangle 3"/>
          <p:cNvSpPr>
            <a:spLocks noGrp="1" noChangeArrowheads="1"/>
          </p:cNvSpPr>
          <p:nvPr>
            <p:ph type="body" idx="1"/>
          </p:nvPr>
        </p:nvSpPr>
        <p:spPr/>
        <p:txBody>
          <a:bodyPr/>
          <a:lstStyle/>
          <a:p>
            <a:pPr eaLnBrk="1" hangingPunct="1"/>
            <a:r>
              <a:rPr lang="zh-CN" altLang="en-US"/>
              <a:t>面向对象系统是通过对象间的协作实现需求的</a:t>
            </a:r>
          </a:p>
          <a:p>
            <a:pPr lvl="1" eaLnBrk="1" hangingPunct="1"/>
            <a:r>
              <a:rPr kumimoji="0" lang="zh-CN" altLang="en-US"/>
              <a:t>需求阶段通过自然语言描述</a:t>
            </a:r>
          </a:p>
          <a:p>
            <a:pPr lvl="1" eaLnBrk="1" hangingPunct="1"/>
            <a:r>
              <a:rPr kumimoji="0" lang="zh-CN" altLang="en-US"/>
              <a:t>分析设计阶段采用图形化方式描述协作过程</a:t>
            </a:r>
            <a:endParaRPr kumimoji="0" lang="en-US" altLang="zh-CN"/>
          </a:p>
          <a:p>
            <a:pPr lvl="1" eaLnBrk="1" hangingPunct="1"/>
            <a:r>
              <a:rPr lang="zh-CN" altLang="en-US"/>
              <a:t>利用交互图将用例行为分配给分析类</a:t>
            </a:r>
          </a:p>
        </p:txBody>
      </p:sp>
      <p:pic>
        <p:nvPicPr>
          <p:cNvPr id="5939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8300" y="4221410"/>
            <a:ext cx="19050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8"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24789" y="4221409"/>
            <a:ext cx="1990725" cy="118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9399"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8213" y="3861048"/>
            <a:ext cx="1390650"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400" name="AutoShape 7"/>
          <p:cNvSpPr>
            <a:spLocks noChangeArrowheads="1"/>
          </p:cNvSpPr>
          <p:nvPr/>
        </p:nvSpPr>
        <p:spPr bwMode="auto">
          <a:xfrm rot="-5400000">
            <a:off x="4224338" y="4364285"/>
            <a:ext cx="431800" cy="720725"/>
          </a:xfrm>
          <a:prstGeom prst="downArrow">
            <a:avLst>
              <a:gd name="adj1" fmla="val 50000"/>
              <a:gd name="adj2" fmla="val 41728"/>
            </a:avLst>
          </a:prstGeom>
          <a:solidFill>
            <a:schemeClr val="hlink"/>
          </a:solidFill>
          <a:ln w="9525">
            <a:solidFill>
              <a:srgbClr val="800000"/>
            </a:solidFill>
            <a:miter lim="800000"/>
            <a:headEnd/>
            <a:tailEnd/>
          </a:ln>
        </p:spPr>
        <p:txBody>
          <a:bodyPr wrap="none" anchor="ctr"/>
          <a:lstStyle/>
          <a:p>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5FFBB9CF-1EDA-4BE7-BC8C-BD72440A097A}" type="slidenum">
              <a:rPr lang="en-US" altLang="zh-CN" sz="1200" b="0">
                <a:solidFill>
                  <a:srgbClr val="4D4D4D"/>
                </a:solidFill>
                <a:latin typeface="Arial" charset="0"/>
              </a:rPr>
              <a:pPr eaLnBrk="1" hangingPunct="1"/>
              <a:t>55</a:t>
            </a:fld>
            <a:r>
              <a:rPr lang="en-US" altLang="zh-CN" sz="1200" b="0">
                <a:solidFill>
                  <a:srgbClr val="4D4D4D"/>
                </a:solidFill>
                <a:latin typeface="Arial" charset="0"/>
              </a:rPr>
              <a:t>-</a:t>
            </a:r>
          </a:p>
        </p:txBody>
      </p:sp>
      <p:sp>
        <p:nvSpPr>
          <p:cNvPr id="60419" name="Rectangle 2"/>
          <p:cNvSpPr>
            <a:spLocks noGrp="1" noChangeArrowheads="1"/>
          </p:cNvSpPr>
          <p:nvPr>
            <p:ph type="title"/>
          </p:nvPr>
        </p:nvSpPr>
        <p:spPr/>
        <p:txBody>
          <a:bodyPr/>
          <a:lstStyle/>
          <a:p>
            <a:pPr eaLnBrk="1" hangingPunct="1"/>
            <a:r>
              <a:rPr lang="zh-CN" altLang="en-US"/>
              <a:t>顺序图</a:t>
            </a:r>
            <a:r>
              <a:rPr lang="en-US" altLang="zh-CN"/>
              <a:t>Sequence Diagram</a:t>
            </a:r>
          </a:p>
        </p:txBody>
      </p:sp>
      <p:sp>
        <p:nvSpPr>
          <p:cNvPr id="746499" name="Rectangle 3"/>
          <p:cNvSpPr>
            <a:spLocks noGrp="1" noChangeArrowheads="1"/>
          </p:cNvSpPr>
          <p:nvPr>
            <p:ph type="body" idx="1"/>
          </p:nvPr>
        </p:nvSpPr>
        <p:spPr/>
        <p:txBody>
          <a:bodyPr/>
          <a:lstStyle/>
          <a:p>
            <a:pPr eaLnBrk="1" hangingPunct="1">
              <a:defRPr/>
            </a:pPr>
            <a:r>
              <a:rPr lang="zh-CN" altLang="en-US" dirty="0"/>
              <a:t>顺序图是一种交互图，描述对象之间的</a:t>
            </a:r>
            <a:r>
              <a:rPr lang="zh-CN" altLang="en-US" dirty="0">
                <a:solidFill>
                  <a:schemeClr val="hlink"/>
                </a:solidFill>
                <a:effectLst>
                  <a:outerShdw blurRad="38100" dist="38100" dir="2700000" algn="tl">
                    <a:srgbClr val="C0C0C0"/>
                  </a:outerShdw>
                </a:effectLst>
              </a:rPr>
              <a:t>动态交互</a:t>
            </a:r>
            <a:r>
              <a:rPr lang="zh-CN" altLang="en-US" dirty="0"/>
              <a:t>关系，着重体现对象间消息传递的时间顺序</a:t>
            </a:r>
          </a:p>
          <a:p>
            <a:pPr lvl="1" eaLnBrk="1" hangingPunct="1">
              <a:defRPr/>
            </a:pPr>
            <a:r>
              <a:rPr lang="zh-CN" altLang="en-US" dirty="0"/>
              <a:t>对象</a:t>
            </a:r>
            <a:r>
              <a:rPr lang="en-US" altLang="zh-CN" dirty="0"/>
              <a:t>(Object)</a:t>
            </a:r>
            <a:r>
              <a:rPr lang="zh-CN" altLang="en-US" dirty="0"/>
              <a:t>：对象、对象的生命线、对象的执行发生和对象的删除</a:t>
            </a:r>
          </a:p>
          <a:p>
            <a:pPr lvl="1" eaLnBrk="1" hangingPunct="1">
              <a:defRPr/>
            </a:pPr>
            <a:r>
              <a:rPr lang="zh-CN" altLang="en-US" dirty="0"/>
              <a:t>消息</a:t>
            </a:r>
            <a:r>
              <a:rPr lang="en-US" altLang="zh-CN" dirty="0"/>
              <a:t>(Message)</a:t>
            </a:r>
            <a:r>
              <a:rPr lang="zh-CN" altLang="en-US" dirty="0"/>
              <a:t>：简单消息、同步消息、异步消息、返回消息</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29925226-7F94-4DEA-9765-72A3CBC628BE}" type="slidenum">
              <a:rPr lang="en-US" altLang="zh-CN" sz="1200" b="0">
                <a:solidFill>
                  <a:srgbClr val="4D4D4D"/>
                </a:solidFill>
                <a:latin typeface="Arial" charset="0"/>
              </a:rPr>
              <a:pPr eaLnBrk="1" hangingPunct="1"/>
              <a:t>56</a:t>
            </a:fld>
            <a:r>
              <a:rPr lang="en-US" altLang="zh-CN" sz="1200" b="0">
                <a:solidFill>
                  <a:srgbClr val="4D4D4D"/>
                </a:solidFill>
                <a:latin typeface="Arial" charset="0"/>
              </a:rPr>
              <a:t>-</a:t>
            </a:r>
          </a:p>
        </p:txBody>
      </p:sp>
      <p:sp>
        <p:nvSpPr>
          <p:cNvPr id="61443" name="Rectangle 2"/>
          <p:cNvSpPr>
            <a:spLocks noGrp="1" noChangeArrowheads="1"/>
          </p:cNvSpPr>
          <p:nvPr>
            <p:ph type="title"/>
          </p:nvPr>
        </p:nvSpPr>
        <p:spPr/>
        <p:txBody>
          <a:bodyPr/>
          <a:lstStyle/>
          <a:p>
            <a:pPr eaLnBrk="1" hangingPunct="1"/>
            <a:r>
              <a:rPr lang="zh-CN" altLang="en-US"/>
              <a:t>顺序图剖析</a:t>
            </a:r>
          </a:p>
        </p:txBody>
      </p:sp>
      <p:pic>
        <p:nvPicPr>
          <p:cNvPr id="1026" name="图片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5561" y="1556792"/>
            <a:ext cx="8264617" cy="3960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F8781FBB-D36A-4B24-8A4A-AAD741B75138}" type="slidenum">
              <a:rPr lang="en-US" altLang="zh-CN" sz="1200" b="0">
                <a:solidFill>
                  <a:srgbClr val="4D4D4D"/>
                </a:solidFill>
                <a:latin typeface="Arial" charset="0"/>
              </a:rPr>
              <a:pPr eaLnBrk="1" hangingPunct="1"/>
              <a:t>57</a:t>
            </a:fld>
            <a:r>
              <a:rPr lang="en-US" altLang="zh-CN" sz="1200" b="0">
                <a:solidFill>
                  <a:srgbClr val="4D4D4D"/>
                </a:solidFill>
                <a:latin typeface="Arial" charset="0"/>
              </a:rPr>
              <a:t>-</a:t>
            </a:r>
          </a:p>
        </p:txBody>
      </p:sp>
      <p:sp>
        <p:nvSpPr>
          <p:cNvPr id="62467" name="Rectangle 2"/>
          <p:cNvSpPr>
            <a:spLocks noGrp="1" noChangeArrowheads="1"/>
          </p:cNvSpPr>
          <p:nvPr>
            <p:ph type="title"/>
          </p:nvPr>
        </p:nvSpPr>
        <p:spPr/>
        <p:txBody>
          <a:bodyPr/>
          <a:lstStyle/>
          <a:p>
            <a:pPr eaLnBrk="1" hangingPunct="1"/>
            <a:r>
              <a:rPr kumimoji="0" lang="zh-CN" altLang="en-US"/>
              <a:t>利用</a:t>
            </a:r>
            <a:r>
              <a:rPr lang="zh-CN" altLang="en-US"/>
              <a:t>顺序图进行职责分配</a:t>
            </a:r>
          </a:p>
        </p:txBody>
      </p:sp>
      <p:sp>
        <p:nvSpPr>
          <p:cNvPr id="62468" name="Rectangle 3"/>
          <p:cNvSpPr>
            <a:spLocks noGrp="1" noChangeArrowheads="1"/>
          </p:cNvSpPr>
          <p:nvPr>
            <p:ph type="body" idx="1"/>
          </p:nvPr>
        </p:nvSpPr>
        <p:spPr/>
        <p:txBody>
          <a:bodyPr/>
          <a:lstStyle/>
          <a:p>
            <a:pPr eaLnBrk="1" hangingPunct="1"/>
            <a:r>
              <a:rPr lang="zh-CN" altLang="en-US" sz="2800"/>
              <a:t>以</a:t>
            </a:r>
            <a:r>
              <a:rPr lang="en-US" altLang="zh-CN" sz="2800"/>
              <a:t>B-C-E</a:t>
            </a:r>
            <a:r>
              <a:rPr lang="zh-CN" altLang="en-US" sz="2800"/>
              <a:t>的方式绘制顺序图，并以</a:t>
            </a:r>
            <a:r>
              <a:rPr lang="en-US" altLang="zh-CN" sz="2800"/>
              <a:t>Control</a:t>
            </a:r>
            <a:r>
              <a:rPr lang="zh-CN" altLang="en-US" sz="2800"/>
              <a:t>类将控制逻辑隐藏起来</a:t>
            </a:r>
          </a:p>
          <a:p>
            <a:pPr eaLnBrk="1" hangingPunct="1"/>
            <a:r>
              <a:rPr lang="zh-CN" altLang="en-US" sz="2800"/>
              <a:t>可以将对象之间的信息传递以“</a:t>
            </a:r>
            <a:r>
              <a:rPr lang="en-US" altLang="zh-CN" sz="2800"/>
              <a:t>//”</a:t>
            </a:r>
            <a:r>
              <a:rPr lang="zh-CN" altLang="en-US" sz="2800"/>
              <a:t>的方式标记，表明初步进行类的职责分配，该项信息尚未制定完全</a:t>
            </a:r>
          </a:p>
          <a:p>
            <a:pPr eaLnBrk="1" hangingPunct="1"/>
            <a:r>
              <a:rPr lang="zh-CN" altLang="en-US" sz="2800"/>
              <a:t>可以利用白话的方式将信息进行的说明，在信息长度不够时，可以加上</a:t>
            </a:r>
            <a:r>
              <a:rPr lang="en-US" altLang="zh-CN" sz="2800"/>
              <a:t>UML</a:t>
            </a:r>
            <a:r>
              <a:rPr lang="zh-CN" altLang="en-US" sz="2800"/>
              <a:t>的注释来做说明</a:t>
            </a:r>
          </a:p>
          <a:p>
            <a:pPr eaLnBrk="1" hangingPunct="1"/>
            <a:r>
              <a:rPr lang="zh-CN" altLang="en-US" sz="2800"/>
              <a:t>分析阶段顺序图中所找出的对象可以放置到分析阶段的类图上，反之，也可以由分析阶段的类图上找出顺序图中所需的对象</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3BD409F1-CADF-4382-AA8E-7000E9BD56D0}" type="slidenum">
              <a:rPr lang="en-US" altLang="zh-CN" sz="1200" b="0">
                <a:solidFill>
                  <a:srgbClr val="4D4D4D"/>
                </a:solidFill>
                <a:latin typeface="Arial" charset="0"/>
              </a:rPr>
              <a:pPr eaLnBrk="1" hangingPunct="1"/>
              <a:t>58</a:t>
            </a:fld>
            <a:r>
              <a:rPr lang="en-US" altLang="zh-CN" sz="1200" b="0">
                <a:solidFill>
                  <a:srgbClr val="4D4D4D"/>
                </a:solidFill>
                <a:latin typeface="Arial" charset="0"/>
              </a:rPr>
              <a:t>-</a:t>
            </a:r>
          </a:p>
        </p:txBody>
      </p:sp>
      <p:sp>
        <p:nvSpPr>
          <p:cNvPr id="63491" name="Rectangle 2"/>
          <p:cNvSpPr>
            <a:spLocks noGrp="1" noChangeArrowheads="1"/>
          </p:cNvSpPr>
          <p:nvPr>
            <p:ph type="title"/>
          </p:nvPr>
        </p:nvSpPr>
        <p:spPr/>
        <p:txBody>
          <a:bodyPr/>
          <a:lstStyle/>
          <a:p>
            <a:pPr eaLnBrk="1" hangingPunct="1"/>
            <a:r>
              <a:rPr lang="zh-CN" altLang="en-US"/>
              <a:t>指南：将职责分配到分析类</a:t>
            </a:r>
            <a:endParaRPr lang="en-US" altLang="zh-CN"/>
          </a:p>
        </p:txBody>
      </p:sp>
      <p:sp>
        <p:nvSpPr>
          <p:cNvPr id="63492" name="Rectangle 3"/>
          <p:cNvSpPr>
            <a:spLocks noGrp="1" noChangeArrowheads="1"/>
          </p:cNvSpPr>
          <p:nvPr>
            <p:ph type="body" idx="1"/>
          </p:nvPr>
        </p:nvSpPr>
        <p:spPr/>
        <p:txBody>
          <a:bodyPr/>
          <a:lstStyle/>
          <a:p>
            <a:pPr eaLnBrk="1" hangingPunct="1"/>
            <a:r>
              <a:rPr lang="zh-CN" altLang="en-US" dirty="0"/>
              <a:t>以分析类的构造型作为分配标准</a:t>
            </a:r>
          </a:p>
          <a:p>
            <a:pPr lvl="1" eaLnBrk="1" hangingPunct="1"/>
            <a:r>
              <a:rPr lang="zh-CN" altLang="en-US" dirty="0"/>
              <a:t>边界类：承担与参与者进行通信的职责</a:t>
            </a:r>
          </a:p>
          <a:p>
            <a:pPr lvl="1" eaLnBrk="1" hangingPunct="1"/>
            <a:r>
              <a:rPr lang="zh-CN" altLang="en-US" dirty="0"/>
              <a:t>控制类：承担协调用例参与者与数据操作之间交互的职责</a:t>
            </a:r>
            <a:endParaRPr lang="en-US" altLang="zh-CN" dirty="0"/>
          </a:p>
          <a:p>
            <a:pPr lvl="1" eaLnBrk="1" hangingPunct="1"/>
            <a:r>
              <a:rPr lang="zh-CN" altLang="en-US" dirty="0"/>
              <a:t>实体类：承担对被封装的内部数据进行操作的职责</a:t>
            </a:r>
            <a:endParaRPr lang="en-US" altLang="zh-CN"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5BB31D0E-0EE3-42F2-A686-5248295FA3D0}" type="slidenum">
              <a:rPr lang="en-US" altLang="zh-CN" sz="1200" b="0">
                <a:solidFill>
                  <a:srgbClr val="4D4D4D"/>
                </a:solidFill>
                <a:latin typeface="Arial" charset="0"/>
              </a:rPr>
              <a:pPr eaLnBrk="1" hangingPunct="1"/>
              <a:t>59</a:t>
            </a:fld>
            <a:r>
              <a:rPr lang="en-US" altLang="zh-CN" sz="1200" b="0">
                <a:solidFill>
                  <a:srgbClr val="4D4D4D"/>
                </a:solidFill>
                <a:latin typeface="Arial" charset="0"/>
              </a:rPr>
              <a:t>-</a:t>
            </a:r>
          </a:p>
        </p:txBody>
      </p:sp>
      <p:sp>
        <p:nvSpPr>
          <p:cNvPr id="64515" name="Rectangle 2"/>
          <p:cNvSpPr>
            <a:spLocks noGrp="1" noChangeArrowheads="1"/>
          </p:cNvSpPr>
          <p:nvPr>
            <p:ph type="title"/>
          </p:nvPr>
        </p:nvSpPr>
        <p:spPr/>
        <p:txBody>
          <a:bodyPr/>
          <a:lstStyle/>
          <a:p>
            <a:pPr eaLnBrk="1" hangingPunct="1"/>
            <a:r>
              <a:rPr lang="zh-CN" altLang="en-US"/>
              <a:t>指南：将职责分配到分析类</a:t>
            </a:r>
            <a:r>
              <a:rPr lang="en-US" altLang="zh-CN"/>
              <a:t>(</a:t>
            </a:r>
            <a:r>
              <a:rPr lang="zh-CN" altLang="en-US"/>
              <a:t>续</a:t>
            </a:r>
            <a:r>
              <a:rPr lang="en-US" altLang="zh-CN"/>
              <a:t>)</a:t>
            </a:r>
          </a:p>
        </p:txBody>
      </p:sp>
      <p:sp>
        <p:nvSpPr>
          <p:cNvPr id="64516" name="Rectangle 3"/>
          <p:cNvSpPr>
            <a:spLocks noGrp="1" noChangeArrowheads="1"/>
          </p:cNvSpPr>
          <p:nvPr>
            <p:ph type="body" idx="1"/>
          </p:nvPr>
        </p:nvSpPr>
        <p:spPr/>
        <p:txBody>
          <a:bodyPr/>
          <a:lstStyle/>
          <a:p>
            <a:pPr eaLnBrk="1" hangingPunct="1">
              <a:lnSpc>
                <a:spcPct val="90000"/>
              </a:lnSpc>
            </a:pPr>
            <a:r>
              <a:rPr lang="zh-CN" altLang="en-US" dirty="0"/>
              <a:t>专家模式：将职责分配给具有当前职责所需要的数据的类</a:t>
            </a:r>
            <a:endParaRPr lang="en-US" altLang="zh-CN" dirty="0"/>
          </a:p>
          <a:p>
            <a:pPr lvl="1" eaLnBrk="1" hangingPunct="1">
              <a:lnSpc>
                <a:spcPct val="90000"/>
              </a:lnSpc>
            </a:pPr>
            <a:r>
              <a:rPr lang="zh-CN" altLang="en-US" dirty="0"/>
              <a:t>如果一个类有这个数据，就将职责分配给这个类</a:t>
            </a:r>
          </a:p>
          <a:p>
            <a:pPr lvl="1" eaLnBrk="1" hangingPunct="1">
              <a:lnSpc>
                <a:spcPct val="90000"/>
              </a:lnSpc>
            </a:pPr>
            <a:r>
              <a:rPr lang="zh-CN" altLang="en-US" dirty="0"/>
              <a:t>如果多个类有这个数据</a:t>
            </a:r>
          </a:p>
          <a:p>
            <a:pPr lvl="2" eaLnBrk="1" hangingPunct="1">
              <a:lnSpc>
                <a:spcPct val="90000"/>
              </a:lnSpc>
            </a:pPr>
            <a:r>
              <a:rPr lang="zh-CN" altLang="en-US" dirty="0"/>
              <a:t>将职责分配给其中的一个类，并对其它类增加一个关系</a:t>
            </a:r>
          </a:p>
          <a:p>
            <a:pPr lvl="2" eaLnBrk="1" hangingPunct="1">
              <a:lnSpc>
                <a:spcPct val="90000"/>
              </a:lnSpc>
            </a:pPr>
            <a:r>
              <a:rPr lang="zh-CN" altLang="en-US" dirty="0"/>
              <a:t>将职责放在控制类中，并对需要该职责的类增加关系</a:t>
            </a:r>
          </a:p>
          <a:p>
            <a:pPr lvl="2" eaLnBrk="1" hangingPunct="1">
              <a:lnSpc>
                <a:spcPct val="90000"/>
              </a:lnSpc>
            </a:pPr>
            <a:r>
              <a:rPr lang="zh-CN" altLang="en-US" dirty="0"/>
              <a:t>创建一个新类，将职责分配给该类，并对需要该职责的类增加关系</a:t>
            </a:r>
            <a:endParaRPr lang="en-US" altLang="zh-CN"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69921527-9C45-4483-867C-98724B3DFEAF}" type="slidenum">
              <a:rPr lang="en-US" altLang="zh-CN" sz="1200" b="0">
                <a:solidFill>
                  <a:srgbClr val="4D4D4D"/>
                </a:solidFill>
                <a:latin typeface="Arial" charset="0"/>
              </a:rPr>
              <a:pPr eaLnBrk="1" hangingPunct="1"/>
              <a:t>60</a:t>
            </a:fld>
            <a:r>
              <a:rPr lang="en-US" altLang="zh-CN" sz="1200" b="0">
                <a:solidFill>
                  <a:srgbClr val="4D4D4D"/>
                </a:solidFill>
                <a:latin typeface="Arial" charset="0"/>
              </a:rPr>
              <a:t>-</a:t>
            </a:r>
          </a:p>
        </p:txBody>
      </p:sp>
      <p:sp>
        <p:nvSpPr>
          <p:cNvPr id="65539" name="Rectangle 2"/>
          <p:cNvSpPr>
            <a:spLocks noGrp="1" noChangeArrowheads="1"/>
          </p:cNvSpPr>
          <p:nvPr>
            <p:ph type="title"/>
          </p:nvPr>
        </p:nvSpPr>
        <p:spPr/>
        <p:txBody>
          <a:bodyPr/>
          <a:lstStyle/>
          <a:p>
            <a:pPr eaLnBrk="1" hangingPunct="1"/>
            <a:r>
              <a:rPr lang="zh-CN" altLang="en-US"/>
              <a:t>实例：进行职责分配</a:t>
            </a:r>
            <a:endParaRPr lang="en-US" altLang="zh-CN"/>
          </a:p>
        </p:txBody>
      </p:sp>
      <p:pic>
        <p:nvPicPr>
          <p:cNvPr id="75161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2476" y="836613"/>
            <a:ext cx="8105775" cy="5949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51619"/>
                                        </p:tgtEl>
                                        <p:attrNameLst>
                                          <p:attrName>style.visibility</p:attrName>
                                        </p:attrNameLst>
                                      </p:cBhvr>
                                      <p:to>
                                        <p:strVal val="visible"/>
                                      </p:to>
                                    </p:set>
                                    <p:animEffect transition="in" filter="dissolve">
                                      <p:cBhvr>
                                        <p:cTn id="7" dur="500"/>
                                        <p:tgtEl>
                                          <p:spTgt spid="7516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02C66E88-7B1A-4738-989A-6319BA5F8221}" type="slidenum">
              <a:rPr lang="en-US" altLang="zh-CN" sz="1200" b="0">
                <a:solidFill>
                  <a:srgbClr val="4D4D4D"/>
                </a:solidFill>
                <a:latin typeface="Arial" charset="0"/>
              </a:rPr>
              <a:pPr eaLnBrk="1" hangingPunct="1"/>
              <a:t>61</a:t>
            </a:fld>
            <a:r>
              <a:rPr lang="en-US" altLang="zh-CN" sz="1200" b="0">
                <a:solidFill>
                  <a:srgbClr val="4D4D4D"/>
                </a:solidFill>
                <a:latin typeface="Arial" charset="0"/>
              </a:rPr>
              <a:t>-</a:t>
            </a:r>
          </a:p>
        </p:txBody>
      </p:sp>
      <p:sp>
        <p:nvSpPr>
          <p:cNvPr id="66563" name="Rectangle 2"/>
          <p:cNvSpPr>
            <a:spLocks noGrp="1" noChangeArrowheads="1"/>
          </p:cNvSpPr>
          <p:nvPr>
            <p:ph type="title"/>
          </p:nvPr>
        </p:nvSpPr>
        <p:spPr/>
        <p:txBody>
          <a:bodyPr/>
          <a:lstStyle/>
          <a:p>
            <a:pPr eaLnBrk="1" hangingPunct="1"/>
            <a:r>
              <a:rPr lang="zh-CN" altLang="en-US"/>
              <a:t>实例：进行职责分配</a:t>
            </a:r>
          </a:p>
        </p:txBody>
      </p:sp>
      <p:pic>
        <p:nvPicPr>
          <p:cNvPr id="6656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2300" y="817564"/>
            <a:ext cx="5867400" cy="606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顺序图中的交互片段</a:t>
            </a:r>
          </a:p>
        </p:txBody>
      </p:sp>
      <p:sp>
        <p:nvSpPr>
          <p:cNvPr id="3" name="内容占位符 2"/>
          <p:cNvSpPr>
            <a:spLocks noGrp="1"/>
          </p:cNvSpPr>
          <p:nvPr>
            <p:ph idx="1"/>
          </p:nvPr>
        </p:nvSpPr>
        <p:spPr/>
        <p:txBody>
          <a:bodyPr/>
          <a:lstStyle/>
          <a:p>
            <a:r>
              <a:rPr lang="zh-CN" altLang="zh-CN" dirty="0"/>
              <a:t>顺序图主要用于描述顺序的执行流程，对于简单分支或循环，可直接描述</a:t>
            </a:r>
            <a:endParaRPr lang="en-US" altLang="zh-CN" dirty="0"/>
          </a:p>
          <a:p>
            <a:pPr lvl="1"/>
            <a:r>
              <a:rPr lang="zh-CN" altLang="zh-CN" dirty="0"/>
              <a:t>执行的条件用</a:t>
            </a:r>
            <a:r>
              <a:rPr lang="en-US" altLang="zh-CN" dirty="0"/>
              <a:t>[ ]</a:t>
            </a:r>
            <a:r>
              <a:rPr lang="zh-CN" altLang="zh-CN" dirty="0"/>
              <a:t>括起来描述，表示条件为真时才执行，否则不执行</a:t>
            </a:r>
            <a:endParaRPr lang="en-US" altLang="zh-CN" dirty="0"/>
          </a:p>
          <a:p>
            <a:pPr lvl="1"/>
            <a:r>
              <a:rPr lang="zh-CN" altLang="zh-CN" dirty="0"/>
              <a:t>循环条件要在条件前加上“</a:t>
            </a:r>
            <a:r>
              <a:rPr lang="en-US" altLang="zh-CN" dirty="0"/>
              <a:t>*</a:t>
            </a:r>
            <a:r>
              <a:rPr lang="zh-CN" altLang="zh-CN" dirty="0"/>
              <a:t>”来描述，表示条件为真时重复执行</a:t>
            </a:r>
            <a:endParaRPr lang="en-US" altLang="zh-CN" dirty="0"/>
          </a:p>
          <a:p>
            <a:pPr lvl="1"/>
            <a:r>
              <a:rPr lang="zh-CN" altLang="en-US" dirty="0"/>
              <a:t>其他</a:t>
            </a:r>
            <a:r>
              <a:rPr lang="zh-CN" altLang="zh-CN" kern="1200" dirty="0">
                <a:latin typeface="Arial" charset="0"/>
                <a:ea typeface="宋体" pitchFamily="2" charset="-122"/>
              </a:rPr>
              <a:t>约束用</a:t>
            </a:r>
            <a:r>
              <a:rPr lang="en-US" altLang="zh-CN" kern="1200" dirty="0">
                <a:latin typeface="Arial" charset="0"/>
                <a:ea typeface="宋体" pitchFamily="2" charset="-122"/>
              </a:rPr>
              <a:t>{ }</a:t>
            </a:r>
            <a:r>
              <a:rPr lang="zh-CN" altLang="zh-CN" kern="1200" dirty="0">
                <a:latin typeface="Arial" charset="0"/>
                <a:ea typeface="宋体" pitchFamily="2" charset="-122"/>
              </a:rPr>
              <a:t>括起来</a:t>
            </a:r>
            <a:endParaRPr lang="en-US" altLang="zh-CN" kern="1200" dirty="0">
              <a:latin typeface="Arial" charset="0"/>
              <a:ea typeface="宋体" pitchFamily="2" charset="-122"/>
            </a:endParaRPr>
          </a:p>
          <a:p>
            <a:r>
              <a:rPr lang="en-US" altLang="zh-CN" dirty="0"/>
              <a:t>UML 2</a:t>
            </a:r>
            <a:r>
              <a:rPr lang="zh-CN" altLang="zh-CN" dirty="0"/>
              <a:t>为顺序图提供了</a:t>
            </a:r>
            <a:r>
              <a:rPr lang="zh-CN" altLang="en-US" dirty="0"/>
              <a:t>交互片段来</a:t>
            </a:r>
            <a:r>
              <a:rPr lang="zh-CN" altLang="zh-CN" dirty="0"/>
              <a:t>描述分支、循环、并发等各种非顺序的情况</a:t>
            </a:r>
            <a:endParaRPr lang="zh-CN" altLang="en-US" dirty="0"/>
          </a:p>
        </p:txBody>
      </p:sp>
      <p:sp>
        <p:nvSpPr>
          <p:cNvPr id="4" name="灯片编号占位符 3"/>
          <p:cNvSpPr>
            <a:spLocks noGrp="1"/>
          </p:cNvSpPr>
          <p:nvPr>
            <p:ph type="sldNum" sz="quarter" idx="12"/>
          </p:nvPr>
        </p:nvSpPr>
        <p:spPr/>
        <p:txBody>
          <a:bodyPr/>
          <a:lstStyle/>
          <a:p>
            <a:pPr>
              <a:defRPr/>
            </a:pPr>
            <a:r>
              <a:rPr lang="en-US" altLang="zh-CN"/>
              <a:t>-</a:t>
            </a:r>
            <a:fld id="{888AA8E8-F900-44F8-B607-EDD861952B28}" type="slidenum">
              <a:rPr lang="en-US" altLang="zh-CN" smtClean="0"/>
              <a:pPr>
                <a:defRPr/>
              </a:pPr>
              <a:t>62</a:t>
            </a:fld>
            <a:r>
              <a:rPr lang="en-US" altLang="zh-CN"/>
              <a:t>-</a:t>
            </a:r>
          </a:p>
        </p:txBody>
      </p:sp>
    </p:spTree>
    <p:extLst>
      <p:ext uri="{BB962C8B-B14F-4D97-AF65-F5344CB8AC3E}">
        <p14:creationId xmlns:p14="http://schemas.microsoft.com/office/powerpoint/2010/main" val="16143318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常见的交互片段</a:t>
            </a:r>
          </a:p>
        </p:txBody>
      </p:sp>
      <p:sp>
        <p:nvSpPr>
          <p:cNvPr id="3" name="内容占位符 2"/>
          <p:cNvSpPr>
            <a:spLocks noGrp="1"/>
          </p:cNvSpPr>
          <p:nvPr>
            <p:ph idx="1"/>
          </p:nvPr>
        </p:nvSpPr>
        <p:spPr/>
        <p:txBody>
          <a:bodyPr/>
          <a:lstStyle/>
          <a:p>
            <a:r>
              <a:rPr lang="zh-CN" altLang="en-US" dirty="0"/>
              <a:t>可选</a:t>
            </a:r>
            <a:r>
              <a:rPr lang="en-US" altLang="zh-CN" dirty="0"/>
              <a:t>(opt)</a:t>
            </a:r>
          </a:p>
          <a:p>
            <a:pPr lvl="1"/>
            <a:r>
              <a:rPr lang="zh-CN" altLang="zh-CN" dirty="0"/>
              <a:t>该片段只有在守卫条件成立时才执行</a:t>
            </a:r>
            <a:endParaRPr lang="en-US" altLang="zh-CN" dirty="0"/>
          </a:p>
          <a:p>
            <a:r>
              <a:rPr lang="zh-CN" altLang="en-US" dirty="0"/>
              <a:t>选择</a:t>
            </a:r>
            <a:r>
              <a:rPr lang="en-US" altLang="zh-CN" dirty="0"/>
              <a:t>(alt)</a:t>
            </a:r>
          </a:p>
          <a:p>
            <a:pPr lvl="1"/>
            <a:r>
              <a:rPr lang="zh-CN" altLang="zh-CN" dirty="0"/>
              <a:t>用水平虚线分割成几个分区。每个分区都有守卫条件，当守卫条件为真时执行</a:t>
            </a:r>
            <a:endParaRPr lang="en-US" altLang="zh-CN" dirty="0"/>
          </a:p>
          <a:p>
            <a:r>
              <a:rPr lang="zh-CN" altLang="en-US" dirty="0"/>
              <a:t>循环</a:t>
            </a:r>
            <a:r>
              <a:rPr lang="en-US" altLang="zh-CN" dirty="0"/>
              <a:t>(loop)</a:t>
            </a:r>
          </a:p>
          <a:p>
            <a:pPr lvl="1"/>
            <a:r>
              <a:rPr lang="zh-CN" altLang="zh-CN" dirty="0"/>
              <a:t>在守卫条件为真的情况下循环执行</a:t>
            </a:r>
            <a:endParaRPr lang="en-US" altLang="zh-CN" dirty="0"/>
          </a:p>
          <a:p>
            <a:r>
              <a:rPr lang="zh-CN" altLang="en-US" dirty="0"/>
              <a:t>并行</a:t>
            </a:r>
            <a:r>
              <a:rPr lang="en-US" altLang="zh-CN" dirty="0"/>
              <a:t>(par)</a:t>
            </a:r>
          </a:p>
          <a:p>
            <a:pPr lvl="1"/>
            <a:r>
              <a:rPr lang="zh-CN" altLang="zh-CN" dirty="0"/>
              <a:t>几个分区要并行（或并发）执行</a:t>
            </a:r>
            <a:endParaRPr lang="zh-CN" altLang="en-US" dirty="0"/>
          </a:p>
        </p:txBody>
      </p:sp>
      <p:sp>
        <p:nvSpPr>
          <p:cNvPr id="4" name="灯片编号占位符 3"/>
          <p:cNvSpPr>
            <a:spLocks noGrp="1"/>
          </p:cNvSpPr>
          <p:nvPr>
            <p:ph type="sldNum" sz="quarter" idx="12"/>
          </p:nvPr>
        </p:nvSpPr>
        <p:spPr/>
        <p:txBody>
          <a:bodyPr/>
          <a:lstStyle/>
          <a:p>
            <a:pPr>
              <a:defRPr/>
            </a:pPr>
            <a:r>
              <a:rPr lang="en-US" altLang="zh-CN"/>
              <a:t>-</a:t>
            </a:r>
            <a:fld id="{888AA8E8-F900-44F8-B607-EDD861952B28}" type="slidenum">
              <a:rPr lang="en-US" altLang="zh-CN" smtClean="0"/>
              <a:pPr>
                <a:defRPr/>
              </a:pPr>
              <a:t>63</a:t>
            </a:fld>
            <a:r>
              <a:rPr lang="en-US" altLang="zh-CN"/>
              <a:t>-</a:t>
            </a:r>
          </a:p>
        </p:txBody>
      </p:sp>
    </p:spTree>
    <p:extLst>
      <p:ext uri="{BB962C8B-B14F-4D97-AF65-F5344CB8AC3E}">
        <p14:creationId xmlns:p14="http://schemas.microsoft.com/office/powerpoint/2010/main" val="392529972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使用循环交互片段</a:t>
            </a:r>
          </a:p>
        </p:txBody>
      </p:sp>
      <p:sp>
        <p:nvSpPr>
          <p:cNvPr id="4" name="灯片编号占位符 3"/>
          <p:cNvSpPr>
            <a:spLocks noGrp="1"/>
          </p:cNvSpPr>
          <p:nvPr>
            <p:ph type="sldNum" sz="quarter" idx="12"/>
          </p:nvPr>
        </p:nvSpPr>
        <p:spPr/>
        <p:txBody>
          <a:bodyPr/>
          <a:lstStyle/>
          <a:p>
            <a:pPr>
              <a:defRPr/>
            </a:pPr>
            <a:r>
              <a:rPr lang="en-US" altLang="zh-CN"/>
              <a:t>-</a:t>
            </a:r>
            <a:fld id="{888AA8E8-F900-44F8-B607-EDD861952B28}" type="slidenum">
              <a:rPr lang="en-US" altLang="zh-CN" smtClean="0"/>
              <a:pPr>
                <a:defRPr/>
              </a:pPr>
              <a:t>64</a:t>
            </a:fld>
            <a:r>
              <a:rPr lang="en-US" altLang="zh-CN"/>
              <a:t>-</a:t>
            </a:r>
          </a:p>
        </p:txBody>
      </p:sp>
      <p:pic>
        <p:nvPicPr>
          <p:cNvPr id="3074" name="图片 4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23593" y="1412776"/>
            <a:ext cx="7472877" cy="4172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5879844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9392A78C-D406-4ABB-BAE0-752ADC3ED795}" type="slidenum">
              <a:rPr lang="en-US" altLang="zh-CN" sz="1200" b="0">
                <a:solidFill>
                  <a:srgbClr val="4D4D4D"/>
                </a:solidFill>
                <a:latin typeface="Arial" charset="0"/>
              </a:rPr>
              <a:pPr eaLnBrk="1" hangingPunct="1"/>
              <a:t>65</a:t>
            </a:fld>
            <a:r>
              <a:rPr lang="en-US" altLang="zh-CN" sz="1200" b="0">
                <a:solidFill>
                  <a:srgbClr val="4D4D4D"/>
                </a:solidFill>
                <a:latin typeface="Arial" charset="0"/>
              </a:rPr>
              <a:t>-</a:t>
            </a:r>
          </a:p>
        </p:txBody>
      </p:sp>
      <p:sp>
        <p:nvSpPr>
          <p:cNvPr id="67587" name="Rectangle 2"/>
          <p:cNvSpPr>
            <a:spLocks noGrp="1" noChangeArrowheads="1"/>
          </p:cNvSpPr>
          <p:nvPr>
            <p:ph type="title"/>
          </p:nvPr>
        </p:nvSpPr>
        <p:spPr/>
        <p:txBody>
          <a:bodyPr/>
          <a:lstStyle/>
          <a:p>
            <a:pPr eaLnBrk="1" hangingPunct="1"/>
            <a:r>
              <a:rPr lang="zh-CN" altLang="en-US"/>
              <a:t>通过多个交互图分析用例</a:t>
            </a:r>
            <a:endParaRPr lang="en-US" altLang="zh-CN"/>
          </a:p>
        </p:txBody>
      </p:sp>
      <p:pic>
        <p:nvPicPr>
          <p:cNvPr id="6758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63751" y="1484314"/>
            <a:ext cx="1882775" cy="432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8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24339" y="1773239"/>
            <a:ext cx="6048375" cy="359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4F87BEA2-A1E5-49A0-8619-1988CD07E319}" type="slidenum">
              <a:rPr lang="en-US" altLang="zh-CN" sz="1200" b="0">
                <a:solidFill>
                  <a:srgbClr val="4D4D4D"/>
                </a:solidFill>
                <a:latin typeface="Arial" charset="0"/>
              </a:rPr>
              <a:pPr eaLnBrk="1" hangingPunct="1"/>
              <a:t>66</a:t>
            </a:fld>
            <a:r>
              <a:rPr lang="en-US" altLang="zh-CN" sz="1200" b="0">
                <a:solidFill>
                  <a:srgbClr val="4D4D4D"/>
                </a:solidFill>
                <a:latin typeface="Arial" charset="0"/>
              </a:rPr>
              <a:t>-</a:t>
            </a:r>
          </a:p>
        </p:txBody>
      </p:sp>
      <p:sp>
        <p:nvSpPr>
          <p:cNvPr id="68611" name="Rectangle 2"/>
          <p:cNvSpPr>
            <a:spLocks noGrp="1" noChangeArrowheads="1"/>
          </p:cNvSpPr>
          <p:nvPr>
            <p:ph type="title"/>
          </p:nvPr>
        </p:nvSpPr>
        <p:spPr/>
        <p:txBody>
          <a:bodyPr/>
          <a:lstStyle/>
          <a:p>
            <a:pPr eaLnBrk="1" hangingPunct="1"/>
            <a:r>
              <a:rPr lang="en-US" altLang="zh-CN"/>
              <a:t>4. VOPC</a:t>
            </a:r>
            <a:r>
              <a:rPr lang="zh-CN" altLang="en-US"/>
              <a:t>图</a:t>
            </a:r>
          </a:p>
        </p:txBody>
      </p:sp>
      <p:sp>
        <p:nvSpPr>
          <p:cNvPr id="68612" name="Rectangle 3"/>
          <p:cNvSpPr>
            <a:spLocks noGrp="1" noChangeArrowheads="1"/>
          </p:cNvSpPr>
          <p:nvPr>
            <p:ph type="body" idx="1"/>
          </p:nvPr>
        </p:nvSpPr>
        <p:spPr/>
        <p:txBody>
          <a:bodyPr/>
          <a:lstStyle/>
          <a:p>
            <a:pPr eaLnBrk="1" hangingPunct="1">
              <a:lnSpc>
                <a:spcPct val="90000"/>
              </a:lnSpc>
            </a:pPr>
            <a:r>
              <a:rPr kumimoji="0" lang="zh-CN" altLang="en-US"/>
              <a:t>对于每个“用例实现</a:t>
            </a:r>
            <a:r>
              <a:rPr kumimoji="0" lang="en-US" altLang="zh-CN"/>
              <a:t>”</a:t>
            </a:r>
            <a:r>
              <a:rPr kumimoji="0" lang="zh-CN" altLang="en-US"/>
              <a:t>都存在若干张交互图进行描述，而这些交互图中会使用到各种分析类的对象</a:t>
            </a:r>
          </a:p>
          <a:p>
            <a:pPr eaLnBrk="1" hangingPunct="1">
              <a:lnSpc>
                <a:spcPct val="90000"/>
              </a:lnSpc>
            </a:pPr>
            <a:r>
              <a:rPr kumimoji="0" lang="zh-CN" altLang="en-US"/>
              <a:t>对于每一个“用例实现</a:t>
            </a:r>
            <a:r>
              <a:rPr kumimoji="0" lang="en-US" altLang="zh-CN"/>
              <a:t>”</a:t>
            </a:r>
            <a:r>
              <a:rPr kumimoji="0" lang="zh-CN" altLang="en-US"/>
              <a:t>，需要绘制与之相关的类图，即</a:t>
            </a:r>
            <a:r>
              <a:rPr kumimoji="0" lang="en-US" altLang="zh-CN"/>
              <a:t>VOPC</a:t>
            </a:r>
            <a:r>
              <a:rPr kumimoji="0" lang="zh-CN" altLang="en-US"/>
              <a:t>图</a:t>
            </a:r>
            <a:endParaRPr kumimoji="0" lang="en-US" altLang="zh-CN"/>
          </a:p>
          <a:p>
            <a:pPr lvl="1" eaLnBrk="1" hangingPunct="1">
              <a:lnSpc>
                <a:spcPct val="90000"/>
              </a:lnSpc>
            </a:pPr>
            <a:r>
              <a:rPr lang="zh-CN" altLang="en-US"/>
              <a:t>参与类类图</a:t>
            </a:r>
            <a:r>
              <a:rPr lang="en-US" altLang="zh-CN"/>
              <a:t>(VOPC, </a:t>
            </a:r>
            <a:r>
              <a:rPr lang="en-US" altLang="zh-CN" sz="2400"/>
              <a:t>View Of Participating Classes Class Diagram</a:t>
            </a:r>
            <a:r>
              <a:rPr lang="en-US" altLang="zh-CN"/>
              <a:t>)</a:t>
            </a:r>
          </a:p>
          <a:p>
            <a:pPr lvl="1" eaLnBrk="1" hangingPunct="1">
              <a:lnSpc>
                <a:spcPct val="90000"/>
              </a:lnSpc>
            </a:pPr>
            <a:r>
              <a:rPr lang="zh-CN" altLang="en-US"/>
              <a:t>类图中的元素来自于交互图中的对象</a:t>
            </a:r>
          </a:p>
          <a:p>
            <a:pPr lvl="1" eaLnBrk="1" hangingPunct="1">
              <a:lnSpc>
                <a:spcPct val="90000"/>
              </a:lnSpc>
            </a:pPr>
            <a:r>
              <a:rPr lang="zh-CN" altLang="en-US"/>
              <a:t>类图中的关系来自于交互图中的消息</a:t>
            </a:r>
            <a:r>
              <a:rPr lang="en-US" altLang="zh-CN"/>
              <a:t>(</a:t>
            </a:r>
            <a:r>
              <a:rPr lang="zh-CN" altLang="en-US"/>
              <a:t>和业务对象模型</a:t>
            </a:r>
            <a:r>
              <a:rPr lang="en-US" altLang="zh-CN"/>
              <a:t>)</a:t>
            </a:r>
            <a:r>
              <a:rPr lang="zh-CN" altLang="en-US"/>
              <a:t>，分析阶段主要使用关联关系，也可根据业务模型引入泛化、聚合等关系</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F7AA5D93-DA68-4ED5-BF8C-B94170FFA924}" type="slidenum">
              <a:rPr lang="en-US" altLang="zh-CN" sz="1200" b="0">
                <a:solidFill>
                  <a:srgbClr val="4D4D4D"/>
                </a:solidFill>
                <a:latin typeface="Arial" charset="0"/>
              </a:rPr>
              <a:pPr eaLnBrk="1" hangingPunct="1"/>
              <a:t>67</a:t>
            </a:fld>
            <a:r>
              <a:rPr lang="en-US" altLang="zh-CN" sz="1200" b="0">
                <a:solidFill>
                  <a:srgbClr val="4D4D4D"/>
                </a:solidFill>
                <a:latin typeface="Arial" charset="0"/>
              </a:rPr>
              <a:t>-</a:t>
            </a:r>
          </a:p>
        </p:txBody>
      </p:sp>
      <p:sp>
        <p:nvSpPr>
          <p:cNvPr id="69635" name="Rectangle 2"/>
          <p:cNvSpPr>
            <a:spLocks noGrp="1" noChangeArrowheads="1"/>
          </p:cNvSpPr>
          <p:nvPr>
            <p:ph type="title"/>
          </p:nvPr>
        </p:nvSpPr>
        <p:spPr/>
        <p:txBody>
          <a:bodyPr/>
          <a:lstStyle/>
          <a:p>
            <a:pPr eaLnBrk="1" hangingPunct="1"/>
            <a:r>
              <a:rPr lang="zh-CN" altLang="en-US"/>
              <a:t>实例：绘制</a:t>
            </a:r>
            <a:r>
              <a:rPr lang="en-US" altLang="zh-CN"/>
              <a:t>VOPC</a:t>
            </a:r>
            <a:r>
              <a:rPr lang="zh-CN" altLang="en-US"/>
              <a:t>类图</a:t>
            </a:r>
            <a:endParaRPr lang="en-US" altLang="zh-CN"/>
          </a:p>
        </p:txBody>
      </p:sp>
      <p:pic>
        <p:nvPicPr>
          <p:cNvPr id="75571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1313" y="981076"/>
            <a:ext cx="5473700" cy="524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571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9288" y="1412876"/>
            <a:ext cx="3168650" cy="2468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755716"/>
                                        </p:tgtEl>
                                        <p:attrNameLst>
                                          <p:attrName>style.visibility</p:attrName>
                                        </p:attrNameLst>
                                      </p:cBhvr>
                                      <p:to>
                                        <p:strVal val="visible"/>
                                      </p:to>
                                    </p:set>
                                    <p:animEffect transition="in" filter="dissolve">
                                      <p:cBhvr>
                                        <p:cTn id="7" dur="500"/>
                                        <p:tgtEl>
                                          <p:spTgt spid="7557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755715"/>
                                        </p:tgtEl>
                                        <p:attrNameLst>
                                          <p:attrName>style.visibility</p:attrName>
                                        </p:attrNameLst>
                                      </p:cBhvr>
                                      <p:to>
                                        <p:strVal val="visible"/>
                                      </p:to>
                                    </p:set>
                                    <p:animEffect transition="in" filter="dissolve">
                                      <p:cBhvr>
                                        <p:cTn id="12" dur="500"/>
                                        <p:tgtEl>
                                          <p:spTgt spid="7557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521B167A-79EB-439A-BDE7-5FD99A6AB262}" type="slidenum">
              <a:rPr lang="en-US" altLang="zh-CN" sz="1200" b="0">
                <a:solidFill>
                  <a:srgbClr val="4D4D4D"/>
                </a:solidFill>
                <a:latin typeface="Arial" charset="0"/>
              </a:rPr>
              <a:pPr eaLnBrk="1" hangingPunct="1"/>
              <a:t>68</a:t>
            </a:fld>
            <a:r>
              <a:rPr lang="en-US" altLang="zh-CN" sz="1200" b="0">
                <a:solidFill>
                  <a:srgbClr val="4D4D4D"/>
                </a:solidFill>
                <a:latin typeface="Arial" charset="0"/>
              </a:rPr>
              <a:t>-</a:t>
            </a:r>
          </a:p>
        </p:txBody>
      </p:sp>
      <p:sp>
        <p:nvSpPr>
          <p:cNvPr id="70659" name="Rectangle 2"/>
          <p:cNvSpPr>
            <a:spLocks noGrp="1" noChangeArrowheads="1"/>
          </p:cNvSpPr>
          <p:nvPr>
            <p:ph type="title"/>
          </p:nvPr>
        </p:nvSpPr>
        <p:spPr/>
        <p:txBody>
          <a:bodyPr/>
          <a:lstStyle/>
          <a:p>
            <a:pPr eaLnBrk="1" hangingPunct="1"/>
            <a:r>
              <a:rPr lang="zh-CN" altLang="en-US"/>
              <a:t>实例：绘制</a:t>
            </a:r>
            <a:r>
              <a:rPr lang="en-US" altLang="zh-CN"/>
              <a:t>VOPC</a:t>
            </a:r>
            <a:r>
              <a:rPr lang="zh-CN" altLang="en-US"/>
              <a:t>类图</a:t>
            </a:r>
            <a:endParaRPr lang="en-US" altLang="zh-CN"/>
          </a:p>
        </p:txBody>
      </p:sp>
      <p:pic>
        <p:nvPicPr>
          <p:cNvPr id="70660"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2888" y="839789"/>
            <a:ext cx="6697662" cy="568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BB0BE2E7-8A93-4E64-9CC6-797A3632CBD5}" type="slidenum">
              <a:rPr lang="en-US" altLang="zh-CN" sz="1200" b="0">
                <a:solidFill>
                  <a:srgbClr val="4D4D4D"/>
                </a:solidFill>
                <a:latin typeface="Arial" charset="0"/>
              </a:rPr>
              <a:pPr eaLnBrk="1" hangingPunct="1"/>
              <a:t>69</a:t>
            </a:fld>
            <a:r>
              <a:rPr lang="en-US" altLang="zh-CN" sz="1200" b="0">
                <a:solidFill>
                  <a:srgbClr val="4D4D4D"/>
                </a:solidFill>
                <a:latin typeface="Arial" charset="0"/>
              </a:rPr>
              <a:t>-</a:t>
            </a:r>
          </a:p>
        </p:txBody>
      </p:sp>
      <p:sp>
        <p:nvSpPr>
          <p:cNvPr id="71683" name="Rectangle 2"/>
          <p:cNvSpPr>
            <a:spLocks noGrp="1" noChangeArrowheads="1"/>
          </p:cNvSpPr>
          <p:nvPr>
            <p:ph type="title"/>
          </p:nvPr>
        </p:nvSpPr>
        <p:spPr/>
        <p:txBody>
          <a:bodyPr/>
          <a:lstStyle/>
          <a:p>
            <a:pPr eaLnBrk="1" hangingPunct="1"/>
            <a:r>
              <a:rPr lang="en-US" altLang="zh-CN"/>
              <a:t>5. </a:t>
            </a:r>
            <a:r>
              <a:rPr lang="zh-CN" altLang="en-US"/>
              <a:t>处理用例间的关系</a:t>
            </a:r>
          </a:p>
        </p:txBody>
      </p:sp>
      <p:sp>
        <p:nvSpPr>
          <p:cNvPr id="71684" name="Rectangle 3"/>
          <p:cNvSpPr>
            <a:spLocks noGrp="1" noChangeArrowheads="1"/>
          </p:cNvSpPr>
          <p:nvPr>
            <p:ph type="body" idx="1"/>
          </p:nvPr>
        </p:nvSpPr>
        <p:spPr/>
        <p:txBody>
          <a:bodyPr/>
          <a:lstStyle/>
          <a:p>
            <a:pPr eaLnBrk="1" hangingPunct="1">
              <a:lnSpc>
                <a:spcPct val="90000"/>
              </a:lnSpc>
            </a:pPr>
            <a:r>
              <a:rPr lang="zh-CN" altLang="en-US" sz="2800"/>
              <a:t>前面的过程是针对单个用例开展的</a:t>
            </a:r>
          </a:p>
          <a:p>
            <a:pPr lvl="1" eaLnBrk="1" hangingPunct="1">
              <a:lnSpc>
                <a:spcPct val="90000"/>
              </a:lnSpc>
            </a:pPr>
            <a:r>
              <a:rPr lang="zh-CN" altLang="en-US" sz="2400"/>
              <a:t>用例间存在关系时，两个用例的分析过程互相影响</a:t>
            </a:r>
          </a:p>
          <a:p>
            <a:pPr eaLnBrk="1" hangingPunct="1">
              <a:lnSpc>
                <a:spcPct val="90000"/>
              </a:lnSpc>
            </a:pPr>
            <a:r>
              <a:rPr lang="zh-CN" altLang="en-US" sz="2800"/>
              <a:t>包含关系表达了基用例对子用例的直接引用</a:t>
            </a:r>
          </a:p>
          <a:p>
            <a:pPr lvl="1" eaLnBrk="1" hangingPunct="1">
              <a:lnSpc>
                <a:spcPct val="90000"/>
              </a:lnSpc>
            </a:pPr>
            <a:r>
              <a:rPr lang="zh-CN" altLang="en-US" sz="2400"/>
              <a:t>这种引用在分析阶段即表现为基用例实现对子用例实现的交互的引用</a:t>
            </a:r>
          </a:p>
          <a:p>
            <a:pPr lvl="1" eaLnBrk="1" hangingPunct="1">
              <a:lnSpc>
                <a:spcPct val="90000"/>
              </a:lnSpc>
            </a:pPr>
            <a:r>
              <a:rPr lang="zh-CN" altLang="en-US" sz="2400"/>
              <a:t>可以采用</a:t>
            </a:r>
            <a:r>
              <a:rPr lang="en-US" altLang="zh-CN" sz="2400"/>
              <a:t>UML2</a:t>
            </a:r>
            <a:r>
              <a:rPr lang="zh-CN" altLang="en-US" sz="2400"/>
              <a:t>所提供的</a:t>
            </a:r>
            <a:r>
              <a:rPr lang="en-US" altLang="zh-CN" sz="2400"/>
              <a:t>ref</a:t>
            </a:r>
            <a:r>
              <a:rPr lang="zh-CN" altLang="en-US" sz="2400"/>
              <a:t>片段来表达：即在基用例实现的顺序图中通过</a:t>
            </a:r>
            <a:r>
              <a:rPr lang="en-US" altLang="zh-CN" sz="2400"/>
              <a:t>ref</a:t>
            </a:r>
            <a:r>
              <a:rPr lang="zh-CN" altLang="en-US" sz="2400"/>
              <a:t>引用子用例的顺序图片段，以包含子用例实现的行为</a:t>
            </a:r>
          </a:p>
          <a:p>
            <a:pPr eaLnBrk="1" hangingPunct="1">
              <a:lnSpc>
                <a:spcPct val="90000"/>
              </a:lnSpc>
            </a:pPr>
            <a:r>
              <a:rPr lang="zh-CN" altLang="en-US" sz="2800"/>
              <a:t>包含关系具体分析过程如下：</a:t>
            </a:r>
          </a:p>
          <a:p>
            <a:pPr lvl="1" eaLnBrk="1" hangingPunct="1">
              <a:lnSpc>
                <a:spcPct val="90000"/>
              </a:lnSpc>
            </a:pPr>
            <a:r>
              <a:rPr lang="zh-CN" altLang="en-US" sz="2400"/>
              <a:t>为子用例定义一个边界类，该边界类可以看做是基用例对子用例的调用接口，由基用例的控制类来启动该边界类</a:t>
            </a:r>
          </a:p>
          <a:p>
            <a:pPr lvl="1" eaLnBrk="1" hangingPunct="1">
              <a:lnSpc>
                <a:spcPct val="90000"/>
              </a:lnSpc>
            </a:pPr>
            <a:r>
              <a:rPr lang="zh-CN" altLang="en-US" sz="2400"/>
              <a:t>基用例实现通过横向分拆或纵向分拆的方式引用子用例实现的交互</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D322FF4C-7E3C-485B-83EF-53CBEB5D2535}" type="slidenum">
              <a:rPr lang="en-US" altLang="zh-CN" sz="1200" b="0">
                <a:solidFill>
                  <a:srgbClr val="4D4D4D"/>
                </a:solidFill>
                <a:latin typeface="Arial" charset="0"/>
              </a:rPr>
              <a:pPr eaLnBrk="1" hangingPunct="1"/>
              <a:t>70</a:t>
            </a:fld>
            <a:r>
              <a:rPr lang="en-US" altLang="zh-CN" sz="1200" b="0">
                <a:solidFill>
                  <a:srgbClr val="4D4D4D"/>
                </a:solidFill>
                <a:latin typeface="Arial" charset="0"/>
              </a:rPr>
              <a:t>-</a:t>
            </a:r>
          </a:p>
        </p:txBody>
      </p:sp>
      <p:sp>
        <p:nvSpPr>
          <p:cNvPr id="72707" name="Rectangle 2"/>
          <p:cNvSpPr>
            <a:spLocks noGrp="1" noChangeArrowheads="1"/>
          </p:cNvSpPr>
          <p:nvPr>
            <p:ph type="title"/>
          </p:nvPr>
        </p:nvSpPr>
        <p:spPr/>
        <p:txBody>
          <a:bodyPr/>
          <a:lstStyle/>
          <a:p>
            <a:pPr eaLnBrk="1" hangingPunct="1"/>
            <a:r>
              <a:rPr lang="zh-CN" altLang="en-US"/>
              <a:t>处理用例间的关系</a:t>
            </a:r>
          </a:p>
        </p:txBody>
      </p:sp>
      <p:sp>
        <p:nvSpPr>
          <p:cNvPr id="72708" name="Rectangle 3"/>
          <p:cNvSpPr>
            <a:spLocks noGrp="1" noChangeArrowheads="1"/>
          </p:cNvSpPr>
          <p:nvPr>
            <p:ph type="body" idx="1"/>
          </p:nvPr>
        </p:nvSpPr>
        <p:spPr/>
        <p:txBody>
          <a:bodyPr/>
          <a:lstStyle/>
          <a:p>
            <a:pPr eaLnBrk="1" hangingPunct="1">
              <a:lnSpc>
                <a:spcPct val="90000"/>
              </a:lnSpc>
            </a:pPr>
            <a:r>
              <a:rPr lang="zh-CN" altLang="en-US" sz="2800"/>
              <a:t>扩展关系中基用例并不知道子用例的存在，而是通过扩展点描述了可扩展的行为接口，由子用例去实现这些扩展点</a:t>
            </a:r>
          </a:p>
          <a:p>
            <a:pPr lvl="1" eaLnBrk="1" hangingPunct="1">
              <a:lnSpc>
                <a:spcPct val="90000"/>
              </a:lnSpc>
            </a:pPr>
            <a:r>
              <a:rPr lang="zh-CN" altLang="en-US" sz="2400"/>
              <a:t>对于用例分析来说，扩展关系中的基用例实现定义并使用指定的接口来描述其所需要的行为</a:t>
            </a:r>
          </a:p>
          <a:p>
            <a:pPr lvl="1" eaLnBrk="1" hangingPunct="1">
              <a:lnSpc>
                <a:spcPct val="90000"/>
              </a:lnSpc>
            </a:pPr>
            <a:r>
              <a:rPr lang="zh-CN" altLang="en-US" sz="2400"/>
              <a:t>相应地，其子用例实现则是来实现这些接口所描述的行为</a:t>
            </a:r>
          </a:p>
          <a:p>
            <a:pPr eaLnBrk="1" hangingPunct="1">
              <a:lnSpc>
                <a:spcPct val="90000"/>
              </a:lnSpc>
            </a:pPr>
            <a:r>
              <a:rPr lang="zh-CN" altLang="en-US" sz="2800"/>
              <a:t>扩展关系的具体分析过程如下所示：</a:t>
            </a:r>
          </a:p>
          <a:p>
            <a:pPr lvl="1" eaLnBrk="1" hangingPunct="1">
              <a:lnSpc>
                <a:spcPct val="90000"/>
              </a:lnSpc>
            </a:pPr>
            <a:r>
              <a:rPr lang="zh-CN" altLang="en-US" sz="2400"/>
              <a:t>为基用例的每一个扩展点定义一个边界类；该边界类是一个系统接口类，描述了基用例所需扩展行为</a:t>
            </a:r>
          </a:p>
          <a:p>
            <a:pPr lvl="1" eaLnBrk="1" hangingPunct="1">
              <a:lnSpc>
                <a:spcPct val="90000"/>
              </a:lnSpc>
            </a:pPr>
            <a:r>
              <a:rPr lang="zh-CN" altLang="en-US" sz="2400"/>
              <a:t>针对每一个扩展用例，以该边界类的职责作为启动消息，分析职责的内部实现</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D7420C6E-0B26-4F2A-841C-68E85AFDA078}" type="slidenum">
              <a:rPr lang="en-US" altLang="zh-CN" sz="1200" b="0">
                <a:solidFill>
                  <a:srgbClr val="4D4D4D"/>
                </a:solidFill>
                <a:latin typeface="Arial" charset="0"/>
              </a:rPr>
              <a:pPr eaLnBrk="1" hangingPunct="1"/>
              <a:t>71</a:t>
            </a:fld>
            <a:r>
              <a:rPr lang="en-US" altLang="zh-CN" sz="1200" b="0">
                <a:solidFill>
                  <a:srgbClr val="4D4D4D"/>
                </a:solidFill>
                <a:latin typeface="Arial" charset="0"/>
              </a:rPr>
              <a:t>-</a:t>
            </a:r>
          </a:p>
        </p:txBody>
      </p:sp>
      <p:sp>
        <p:nvSpPr>
          <p:cNvPr id="73731" name="Rectangle 2"/>
          <p:cNvSpPr>
            <a:spLocks noGrp="1" noChangeArrowheads="1"/>
          </p:cNvSpPr>
          <p:nvPr>
            <p:ph type="title"/>
          </p:nvPr>
        </p:nvSpPr>
        <p:spPr/>
        <p:txBody>
          <a:bodyPr/>
          <a:lstStyle/>
          <a:p>
            <a:pPr eaLnBrk="1" hangingPunct="1"/>
            <a:r>
              <a:rPr lang="zh-CN" altLang="en-US"/>
              <a:t>内容安排</a:t>
            </a:r>
            <a:endParaRPr lang="en-US" altLang="zh-CN"/>
          </a:p>
        </p:txBody>
      </p:sp>
      <p:sp>
        <p:nvSpPr>
          <p:cNvPr id="790531" name="Rectangle 3"/>
          <p:cNvSpPr>
            <a:spLocks noGrp="1" noChangeArrowheads="1"/>
          </p:cNvSpPr>
          <p:nvPr>
            <p:ph type="body" idx="1"/>
          </p:nvPr>
        </p:nvSpPr>
        <p:spPr/>
        <p:txBody>
          <a:bodyPr/>
          <a:lstStyle/>
          <a:p>
            <a:pPr eaLnBrk="1" hangingPunct="1">
              <a:defRPr/>
            </a:pPr>
            <a:r>
              <a:rPr lang="zh-CN" altLang="en-US" dirty="0">
                <a:solidFill>
                  <a:srgbClr val="4D4D4D"/>
                </a:solidFill>
              </a:rPr>
              <a:t>理解分析</a:t>
            </a:r>
          </a:p>
          <a:p>
            <a:pPr eaLnBrk="1" hangingPunct="1">
              <a:defRPr/>
            </a:pPr>
            <a:r>
              <a:rPr kumimoji="0" lang="zh-CN" altLang="en-US" dirty="0">
                <a:solidFill>
                  <a:srgbClr val="4D4D4D"/>
                </a:solidFill>
              </a:rPr>
              <a:t>从用例开始分析</a:t>
            </a:r>
          </a:p>
          <a:p>
            <a:pPr eaLnBrk="1" hangingPunct="1">
              <a:defRPr/>
            </a:pPr>
            <a:r>
              <a:rPr kumimoji="0" lang="zh-CN" altLang="en-US" dirty="0">
                <a:solidFill>
                  <a:srgbClr val="4D4D4D"/>
                </a:solidFill>
              </a:rPr>
              <a:t>架构分析</a:t>
            </a:r>
          </a:p>
          <a:p>
            <a:pPr eaLnBrk="1" hangingPunct="1">
              <a:defRPr/>
            </a:pPr>
            <a:r>
              <a:rPr kumimoji="0" lang="zh-CN" altLang="en-US" dirty="0">
                <a:solidFill>
                  <a:srgbClr val="4D4D4D"/>
                </a:solidFill>
              </a:rPr>
              <a:t>构造用例实现</a:t>
            </a:r>
          </a:p>
          <a:p>
            <a:pPr eaLnBrk="1" hangingPunct="1">
              <a:defRPr/>
            </a:pPr>
            <a:r>
              <a:rPr kumimoji="0" lang="zh-CN" altLang="en-US" dirty="0">
                <a:solidFill>
                  <a:schemeClr val="hlink"/>
                </a:solidFill>
                <a:effectLst>
                  <a:outerShdw blurRad="38100" dist="38100" dir="2700000" algn="tl">
                    <a:srgbClr val="C0C0C0"/>
                  </a:outerShdw>
                </a:effectLst>
              </a:rPr>
              <a:t>定义分析类</a:t>
            </a:r>
            <a:endParaRPr kumimoji="0" lang="en-US" altLang="zh-CN" dirty="0">
              <a:solidFill>
                <a:schemeClr val="hlink"/>
              </a:solidFill>
              <a:effectLst>
                <a:outerShdw blurRad="38100" dist="38100" dir="2700000" algn="tl">
                  <a:srgbClr val="C0C0C0"/>
                </a:outerShdw>
              </a:effectLst>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FE9B4240-3376-4FAE-8407-3C69BD49BE85}" type="slidenum">
              <a:rPr lang="en-US" altLang="zh-CN" sz="1200" b="0">
                <a:solidFill>
                  <a:srgbClr val="4D4D4D"/>
                </a:solidFill>
                <a:latin typeface="Arial" charset="0"/>
              </a:rPr>
              <a:pPr eaLnBrk="1" hangingPunct="1"/>
              <a:t>72</a:t>
            </a:fld>
            <a:r>
              <a:rPr lang="en-US" altLang="zh-CN" sz="1200" b="0">
                <a:solidFill>
                  <a:srgbClr val="4D4D4D"/>
                </a:solidFill>
                <a:latin typeface="Arial" charset="0"/>
              </a:rPr>
              <a:t>-</a:t>
            </a:r>
          </a:p>
        </p:txBody>
      </p:sp>
      <p:sp>
        <p:nvSpPr>
          <p:cNvPr id="74755" name="Rectangle 2"/>
          <p:cNvSpPr>
            <a:spLocks noGrp="1" noChangeArrowheads="1"/>
          </p:cNvSpPr>
          <p:nvPr>
            <p:ph type="title"/>
          </p:nvPr>
        </p:nvSpPr>
        <p:spPr/>
        <p:txBody>
          <a:bodyPr/>
          <a:lstStyle/>
          <a:p>
            <a:pPr eaLnBrk="1" hangingPunct="1"/>
            <a:r>
              <a:rPr lang="zh-CN" altLang="en-US"/>
              <a:t>定义分析类</a:t>
            </a:r>
          </a:p>
        </p:txBody>
      </p:sp>
      <p:sp>
        <p:nvSpPr>
          <p:cNvPr id="74756" name="Rectangle 3"/>
          <p:cNvSpPr>
            <a:spLocks noGrp="1" noChangeArrowheads="1"/>
          </p:cNvSpPr>
          <p:nvPr>
            <p:ph type="body" idx="1"/>
          </p:nvPr>
        </p:nvSpPr>
        <p:spPr/>
        <p:txBody>
          <a:bodyPr/>
          <a:lstStyle/>
          <a:p>
            <a:pPr eaLnBrk="1" hangingPunct="1">
              <a:lnSpc>
                <a:spcPct val="90000"/>
              </a:lnSpc>
            </a:pPr>
            <a:r>
              <a:rPr lang="zh-CN" altLang="en-US"/>
              <a:t>定义分析类</a:t>
            </a:r>
          </a:p>
          <a:p>
            <a:pPr lvl="1" eaLnBrk="1" hangingPunct="1">
              <a:lnSpc>
                <a:spcPct val="90000"/>
              </a:lnSpc>
            </a:pPr>
            <a:r>
              <a:rPr lang="zh-CN" altLang="en-US"/>
              <a:t>最终目标是从系统的角度明确说明每一个分析类的职责和属性以及类之间的关系，从而构造系统的分析类视图</a:t>
            </a:r>
          </a:p>
          <a:p>
            <a:pPr lvl="1" eaLnBrk="1" hangingPunct="1">
              <a:lnSpc>
                <a:spcPct val="90000"/>
              </a:lnSpc>
            </a:pPr>
            <a:r>
              <a:rPr lang="zh-CN" altLang="en-US"/>
              <a:t>并根据这些视图来描述和理解目标系统，从而为后续的设计提供基本的素材 </a:t>
            </a:r>
          </a:p>
          <a:p>
            <a:pPr lvl="1" eaLnBrk="1" hangingPunct="1">
              <a:lnSpc>
                <a:spcPct val="90000"/>
              </a:lnSpc>
            </a:pPr>
            <a:r>
              <a:rPr lang="zh-CN" altLang="en-US"/>
              <a:t>在构造用例实现的过程中已经获得了分析类的基本定义，但那是在单个用例实现的基础上完成的，主要关注的是用例事件流的交互过程，而对单个类自身的特征和行为缺少统一的考虑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6F9A2B7E-9BD1-4CA4-A841-B7B803E6DD38}" type="slidenum">
              <a:rPr lang="en-US" altLang="zh-CN" sz="1200" b="0">
                <a:solidFill>
                  <a:srgbClr val="4D4D4D"/>
                </a:solidFill>
                <a:latin typeface="Arial" charset="0"/>
              </a:rPr>
              <a:pPr eaLnBrk="1" hangingPunct="1"/>
              <a:t>73</a:t>
            </a:fld>
            <a:r>
              <a:rPr lang="en-US" altLang="zh-CN" sz="1200" b="0">
                <a:solidFill>
                  <a:srgbClr val="4D4D4D"/>
                </a:solidFill>
                <a:latin typeface="Arial" charset="0"/>
              </a:rPr>
              <a:t>-</a:t>
            </a:r>
          </a:p>
        </p:txBody>
      </p:sp>
      <p:sp>
        <p:nvSpPr>
          <p:cNvPr id="75779" name="Rectangle 2"/>
          <p:cNvSpPr>
            <a:spLocks noGrp="1" noChangeArrowheads="1"/>
          </p:cNvSpPr>
          <p:nvPr>
            <p:ph type="title"/>
          </p:nvPr>
        </p:nvSpPr>
        <p:spPr/>
        <p:txBody>
          <a:bodyPr/>
          <a:lstStyle/>
          <a:p>
            <a:pPr eaLnBrk="1" hangingPunct="1"/>
            <a:r>
              <a:rPr lang="zh-CN" altLang="en-US"/>
              <a:t>定义分析类的过程</a:t>
            </a:r>
          </a:p>
        </p:txBody>
      </p:sp>
      <p:sp>
        <p:nvSpPr>
          <p:cNvPr id="75780" name="Rectangle 3"/>
          <p:cNvSpPr>
            <a:spLocks noGrp="1" noChangeArrowheads="1"/>
          </p:cNvSpPr>
          <p:nvPr>
            <p:ph type="body" idx="1"/>
          </p:nvPr>
        </p:nvSpPr>
        <p:spPr/>
        <p:txBody>
          <a:bodyPr/>
          <a:lstStyle/>
          <a:p>
            <a:pPr eaLnBrk="1" hangingPunct="1"/>
            <a:r>
              <a:rPr lang="zh-CN" altLang="en-US" dirty="0"/>
              <a:t>从单个分析类入手，完成如下工作：</a:t>
            </a:r>
          </a:p>
          <a:p>
            <a:pPr lvl="1" eaLnBrk="1" hangingPunct="1"/>
            <a:r>
              <a:rPr lang="en-US" altLang="zh-CN" dirty="0"/>
              <a:t>1. </a:t>
            </a:r>
            <a:r>
              <a:rPr lang="zh-CN" altLang="en-US" dirty="0"/>
              <a:t>定义职责</a:t>
            </a:r>
          </a:p>
          <a:p>
            <a:pPr lvl="1" eaLnBrk="1" hangingPunct="1"/>
            <a:r>
              <a:rPr lang="en-US" altLang="zh-CN" dirty="0"/>
              <a:t>2. </a:t>
            </a:r>
            <a:r>
              <a:rPr lang="zh-CN" altLang="en-US" dirty="0"/>
              <a:t>定义属性</a:t>
            </a:r>
          </a:p>
          <a:p>
            <a:pPr lvl="1" eaLnBrk="1" hangingPunct="1"/>
            <a:r>
              <a:rPr lang="en-US" altLang="zh-CN" dirty="0"/>
              <a:t>3. </a:t>
            </a:r>
            <a:r>
              <a:rPr lang="zh-CN" altLang="en-US" dirty="0"/>
              <a:t>定义关系</a:t>
            </a:r>
          </a:p>
          <a:p>
            <a:pPr lvl="2" eaLnBrk="1" hangingPunct="1"/>
            <a:r>
              <a:rPr lang="en-US" altLang="zh-CN" dirty="0"/>
              <a:t>3.1 </a:t>
            </a:r>
            <a:r>
              <a:rPr lang="zh-CN" altLang="en-US" dirty="0"/>
              <a:t>关联关系</a:t>
            </a:r>
          </a:p>
          <a:p>
            <a:pPr lvl="2" eaLnBrk="1" hangingPunct="1"/>
            <a:r>
              <a:rPr lang="en-US" altLang="zh-CN" dirty="0"/>
              <a:t>3.2 </a:t>
            </a:r>
            <a:r>
              <a:rPr lang="zh-CN" altLang="en-US" dirty="0"/>
              <a:t>聚合关系</a:t>
            </a:r>
          </a:p>
          <a:p>
            <a:pPr lvl="2" eaLnBrk="1" hangingPunct="1"/>
            <a:r>
              <a:rPr lang="en-US" altLang="zh-CN" dirty="0"/>
              <a:t>3.3 </a:t>
            </a:r>
            <a:r>
              <a:rPr lang="zh-CN" altLang="en-US" dirty="0"/>
              <a:t>泛化关系</a:t>
            </a:r>
          </a:p>
          <a:p>
            <a:pPr lvl="1" eaLnBrk="1" hangingPunct="1"/>
            <a:r>
              <a:rPr lang="en-US" altLang="zh-CN" dirty="0"/>
              <a:t>4. </a:t>
            </a:r>
            <a:r>
              <a:rPr lang="zh-CN" altLang="en-US" dirty="0"/>
              <a:t>限定分析机制</a:t>
            </a:r>
          </a:p>
          <a:p>
            <a:pPr lvl="1" eaLnBrk="1" hangingPunct="1"/>
            <a:r>
              <a:rPr lang="en-US" altLang="zh-CN" dirty="0"/>
              <a:t>5. </a:t>
            </a:r>
            <a:r>
              <a:rPr lang="zh-CN" altLang="en-US" dirty="0"/>
              <a:t>统一分析类</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B2F7FE1F-8B5B-44CE-86AE-1A31106D0E7B}" type="slidenum">
              <a:rPr lang="en-US" altLang="zh-CN" sz="1200" b="0">
                <a:solidFill>
                  <a:srgbClr val="4D4D4D"/>
                </a:solidFill>
                <a:latin typeface="Arial" charset="0"/>
              </a:rPr>
              <a:pPr eaLnBrk="1" hangingPunct="1"/>
              <a:t>74</a:t>
            </a:fld>
            <a:r>
              <a:rPr lang="en-US" altLang="zh-CN" sz="1200" b="0">
                <a:solidFill>
                  <a:srgbClr val="4D4D4D"/>
                </a:solidFill>
                <a:latin typeface="Arial" charset="0"/>
              </a:rPr>
              <a:t>-</a:t>
            </a:r>
          </a:p>
        </p:txBody>
      </p:sp>
      <p:sp>
        <p:nvSpPr>
          <p:cNvPr id="76803" name="Rectangle 2"/>
          <p:cNvSpPr>
            <a:spLocks noGrp="1" noChangeArrowheads="1"/>
          </p:cNvSpPr>
          <p:nvPr>
            <p:ph type="title"/>
          </p:nvPr>
        </p:nvSpPr>
        <p:spPr/>
        <p:txBody>
          <a:bodyPr/>
          <a:lstStyle/>
          <a:p>
            <a:pPr eaLnBrk="1" hangingPunct="1"/>
            <a:r>
              <a:rPr lang="en-US" altLang="zh-CN" dirty="0"/>
              <a:t>1. </a:t>
            </a:r>
            <a:r>
              <a:rPr lang="zh-CN" altLang="en-US" dirty="0"/>
              <a:t>定义分析类的职责</a:t>
            </a:r>
            <a:endParaRPr lang="en-US" altLang="zh-CN" dirty="0"/>
          </a:p>
        </p:txBody>
      </p:sp>
      <p:sp>
        <p:nvSpPr>
          <p:cNvPr id="76804" name="Rectangle 3"/>
          <p:cNvSpPr>
            <a:spLocks noGrp="1" noChangeArrowheads="1"/>
          </p:cNvSpPr>
          <p:nvPr>
            <p:ph type="body" idx="1"/>
          </p:nvPr>
        </p:nvSpPr>
        <p:spPr/>
        <p:txBody>
          <a:bodyPr/>
          <a:lstStyle/>
          <a:p>
            <a:pPr eaLnBrk="1" hangingPunct="1"/>
            <a:r>
              <a:rPr lang="zh-CN" altLang="en-US" dirty="0"/>
              <a:t>职责是要求某个类的对象所要履行的行为契约，在设计中将演化为类的操作</a:t>
            </a:r>
            <a:r>
              <a:rPr lang="en-US" altLang="zh-CN" dirty="0"/>
              <a:t>(</a:t>
            </a:r>
            <a:r>
              <a:rPr lang="zh-CN" altLang="en-US" dirty="0"/>
              <a:t>一个或多个</a:t>
            </a:r>
            <a:r>
              <a:rPr lang="en-US" altLang="zh-CN" dirty="0"/>
              <a:t>)</a:t>
            </a:r>
          </a:p>
          <a:p>
            <a:pPr eaLnBrk="1" hangingPunct="1"/>
            <a:r>
              <a:rPr lang="zh-CN" altLang="en-US" dirty="0"/>
              <a:t>获取类的职责</a:t>
            </a:r>
            <a:endParaRPr lang="en-US" altLang="zh-CN" dirty="0"/>
          </a:p>
          <a:p>
            <a:pPr lvl="1" eaLnBrk="1" hangingPunct="1"/>
            <a:r>
              <a:rPr lang="zh-CN" altLang="en-US" dirty="0"/>
              <a:t>从交互图中的消息</a:t>
            </a:r>
          </a:p>
          <a:p>
            <a:pPr lvl="1" eaLnBrk="1" hangingPunct="1"/>
            <a:r>
              <a:rPr lang="zh-CN" altLang="en-US" dirty="0"/>
              <a:t>从非功能需求中</a:t>
            </a:r>
          </a:p>
          <a:p>
            <a:pPr eaLnBrk="1" hangingPunct="1"/>
            <a:r>
              <a:rPr lang="zh-CN" altLang="en-US" dirty="0"/>
              <a:t>分析阶段表示类的职责</a:t>
            </a:r>
          </a:p>
          <a:p>
            <a:pPr lvl="1" eaLnBrk="1" hangingPunct="1"/>
            <a:r>
              <a:rPr lang="en-US" altLang="zh-CN" dirty="0"/>
              <a:t>“</a:t>
            </a:r>
            <a:r>
              <a:rPr lang="zh-CN" altLang="en-US" dirty="0"/>
              <a:t>分析</a:t>
            </a:r>
            <a:r>
              <a:rPr lang="en-US" altLang="zh-CN" dirty="0"/>
              <a:t>”</a:t>
            </a:r>
            <a:r>
              <a:rPr lang="zh-CN" altLang="en-US" dirty="0"/>
              <a:t>操作，约定分析操作前加</a:t>
            </a:r>
            <a:r>
              <a:rPr lang="en-US" altLang="zh-CN" dirty="0"/>
              <a:t>“//”</a:t>
            </a:r>
          </a:p>
          <a:p>
            <a:pPr lvl="1" eaLnBrk="1" hangingPunct="1"/>
            <a:r>
              <a:rPr lang="zh-CN" altLang="en-US" dirty="0"/>
              <a:t>文本描述</a:t>
            </a:r>
            <a:endParaRPr lang="en-US" altLang="zh-CN"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7445E595-CC9E-46A1-9E06-ED49856A9D64}" type="slidenum">
              <a:rPr lang="en-US" altLang="zh-CN" sz="1200" b="0">
                <a:solidFill>
                  <a:srgbClr val="4D4D4D"/>
                </a:solidFill>
                <a:latin typeface="Arial" charset="0"/>
              </a:rPr>
              <a:pPr eaLnBrk="1" hangingPunct="1"/>
              <a:t>75</a:t>
            </a:fld>
            <a:r>
              <a:rPr lang="en-US" altLang="zh-CN" sz="1200" b="0">
                <a:solidFill>
                  <a:srgbClr val="4D4D4D"/>
                </a:solidFill>
                <a:latin typeface="Arial" charset="0"/>
              </a:rPr>
              <a:t>-</a:t>
            </a:r>
          </a:p>
        </p:txBody>
      </p:sp>
      <p:sp>
        <p:nvSpPr>
          <p:cNvPr id="77827" name="Rectangle 2"/>
          <p:cNvSpPr>
            <a:spLocks noGrp="1" noChangeArrowheads="1"/>
          </p:cNvSpPr>
          <p:nvPr>
            <p:ph type="title"/>
          </p:nvPr>
        </p:nvSpPr>
        <p:spPr/>
        <p:txBody>
          <a:bodyPr/>
          <a:lstStyle/>
          <a:p>
            <a:pPr eaLnBrk="1" hangingPunct="1"/>
            <a:r>
              <a:rPr lang="zh-CN" altLang="en-US"/>
              <a:t>实例：利用分析操作表示职责</a:t>
            </a:r>
            <a:endParaRPr lang="en-US" altLang="zh-CN"/>
          </a:p>
        </p:txBody>
      </p:sp>
      <p:pic>
        <p:nvPicPr>
          <p:cNvPr id="778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9288" y="1165226"/>
            <a:ext cx="8640762" cy="442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灯片编号占位符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F364C632-588B-4A69-AC4D-84B359B44AEB}" type="slidenum">
              <a:rPr lang="en-US" altLang="zh-CN" sz="1200" b="0">
                <a:solidFill>
                  <a:srgbClr val="4D4D4D"/>
                </a:solidFill>
                <a:latin typeface="Arial" charset="0"/>
              </a:rPr>
              <a:pPr eaLnBrk="1" hangingPunct="1"/>
              <a:t>76</a:t>
            </a:fld>
            <a:r>
              <a:rPr lang="en-US" altLang="zh-CN" sz="1200" b="0">
                <a:solidFill>
                  <a:srgbClr val="4D4D4D"/>
                </a:solidFill>
                <a:latin typeface="Arial" charset="0"/>
              </a:rPr>
              <a:t>-</a:t>
            </a:r>
          </a:p>
        </p:txBody>
      </p:sp>
      <p:sp>
        <p:nvSpPr>
          <p:cNvPr id="78851" name="Rectangle 2"/>
          <p:cNvSpPr>
            <a:spLocks noGrp="1" noChangeArrowheads="1"/>
          </p:cNvSpPr>
          <p:nvPr>
            <p:ph type="title"/>
          </p:nvPr>
        </p:nvSpPr>
        <p:spPr/>
        <p:txBody>
          <a:bodyPr/>
          <a:lstStyle/>
          <a:p>
            <a:pPr eaLnBrk="1" hangingPunct="1"/>
            <a:r>
              <a:rPr lang="zh-CN" altLang="en-US"/>
              <a:t>利用文本方式描述职责</a:t>
            </a:r>
            <a:endParaRPr lang="en-US" altLang="zh-CN"/>
          </a:p>
        </p:txBody>
      </p:sp>
      <p:sp>
        <p:nvSpPr>
          <p:cNvPr id="78852" name="Rectangle 3"/>
          <p:cNvSpPr>
            <a:spLocks noGrp="1" noChangeArrowheads="1"/>
          </p:cNvSpPr>
          <p:nvPr>
            <p:ph type="body" sz="half" idx="1"/>
          </p:nvPr>
        </p:nvSpPr>
        <p:spPr/>
        <p:txBody>
          <a:bodyPr/>
          <a:lstStyle/>
          <a:p>
            <a:pPr eaLnBrk="1" hangingPunct="1"/>
            <a:r>
              <a:rPr lang="zh-CN" altLang="en-US" sz="2800"/>
              <a:t>可以直接利用文字描述单个类的职责</a:t>
            </a:r>
            <a:endParaRPr lang="en-US" altLang="zh-CN" sz="2800"/>
          </a:p>
          <a:p>
            <a:pPr eaLnBrk="1" hangingPunct="1"/>
            <a:r>
              <a:rPr lang="zh-CN" altLang="en-US" sz="2800"/>
              <a:t>传统的面向对象方法提供了一种“</a:t>
            </a:r>
            <a:r>
              <a:rPr lang="en-US" altLang="zh-CN" sz="2800"/>
              <a:t>CRC</a:t>
            </a:r>
            <a:r>
              <a:rPr lang="zh-CN" altLang="en-US" sz="2800"/>
              <a:t>卡”的技术可以更好地描述类的职责</a:t>
            </a:r>
          </a:p>
          <a:p>
            <a:pPr eaLnBrk="1" hangingPunct="1"/>
            <a:r>
              <a:rPr kumimoji="0" lang="en-US" altLang="zh-CN" sz="2800"/>
              <a:t>CRC</a:t>
            </a:r>
            <a:r>
              <a:rPr kumimoji="0" lang="zh-CN" altLang="en-US" sz="2800"/>
              <a:t>卡由三部分组成，即类</a:t>
            </a:r>
            <a:r>
              <a:rPr kumimoji="0" lang="en-US" altLang="zh-CN" sz="2800"/>
              <a:t>(Class)</a:t>
            </a:r>
            <a:r>
              <a:rPr kumimoji="0" lang="zh-CN" altLang="en-US" sz="2800"/>
              <a:t>、职责</a:t>
            </a:r>
            <a:r>
              <a:rPr kumimoji="0" lang="en-US" altLang="zh-CN" sz="2800"/>
              <a:t>(Responsibility)</a:t>
            </a:r>
            <a:r>
              <a:rPr kumimoji="0" lang="zh-CN" altLang="en-US" sz="2800"/>
              <a:t>、协作</a:t>
            </a:r>
            <a:r>
              <a:rPr kumimoji="0" lang="en-US" altLang="zh-CN" sz="2800"/>
              <a:t>(Collaborator)</a:t>
            </a:r>
          </a:p>
          <a:p>
            <a:pPr lvl="1" eaLnBrk="1" hangingPunct="1"/>
            <a:endParaRPr lang="zh-CN" altLang="en-US" sz="2400"/>
          </a:p>
        </p:txBody>
      </p:sp>
      <p:graphicFrame>
        <p:nvGraphicFramePr>
          <p:cNvPr id="758788" name="Group 4"/>
          <p:cNvGraphicFramePr>
            <a:graphicFrameLocks noGrp="1"/>
          </p:cNvGraphicFramePr>
          <p:nvPr>
            <p:ph sz="half" idx="2"/>
          </p:nvPr>
        </p:nvGraphicFramePr>
        <p:xfrm>
          <a:off x="3719514" y="3590925"/>
          <a:ext cx="4465637" cy="2073276"/>
        </p:xfrm>
        <a:graphic>
          <a:graphicData uri="http://schemas.openxmlformats.org/drawingml/2006/table">
            <a:tbl>
              <a:tblPr/>
              <a:tblGrid>
                <a:gridCol w="1873250">
                  <a:extLst>
                    <a:ext uri="{9D8B030D-6E8A-4147-A177-3AD203B41FA5}">
                      <a16:colId xmlns:a16="http://schemas.microsoft.com/office/drawing/2014/main" val="20000"/>
                    </a:ext>
                  </a:extLst>
                </a:gridCol>
                <a:gridCol w="2592387">
                  <a:extLst>
                    <a:ext uri="{9D8B030D-6E8A-4147-A177-3AD203B41FA5}">
                      <a16:colId xmlns:a16="http://schemas.microsoft.com/office/drawing/2014/main" val="20001"/>
                    </a:ext>
                  </a:extLst>
                </a:gridCol>
              </a:tblGrid>
              <a:tr h="518319">
                <a:tc gridSpan="2">
                  <a:txBody>
                    <a:bodyPr/>
                    <a:lstStyle/>
                    <a:p>
                      <a:pPr marL="0" marR="0" lvl="0" indent="0" algn="ctr" defTabSz="914400" rtl="0" eaLnBrk="1" fontAlgn="base" latinLnBrk="0" hangingPunct="1">
                        <a:lnSpc>
                          <a:spcPct val="100000"/>
                        </a:lnSpc>
                        <a:spcBef>
                          <a:spcPct val="20000"/>
                        </a:spcBef>
                        <a:spcAft>
                          <a:spcPct val="0"/>
                        </a:spcAft>
                        <a:buClr>
                          <a:srgbClr val="A50021"/>
                        </a:buClr>
                        <a:buSzPct val="80000"/>
                        <a:buFont typeface="Wingdings" pitchFamily="2" charset="2"/>
                        <a:buNone/>
                        <a:tabLst/>
                      </a:pPr>
                      <a:r>
                        <a:rPr kumimoji="1" lang="zh-CN" altLang="en-US" sz="2800" b="1" i="0" u="none" strike="noStrike" cap="none" normalizeH="0" baseline="0">
                          <a:ln>
                            <a:noFill/>
                          </a:ln>
                          <a:solidFill>
                            <a:srgbClr val="A50021"/>
                          </a:solidFill>
                          <a:effectLst>
                            <a:outerShdw blurRad="38100" dist="38100" dir="2700000" algn="tl">
                              <a:srgbClr val="C0C0C0"/>
                            </a:outerShdw>
                          </a:effectLst>
                          <a:latin typeface="Tahoma" pitchFamily="34" charset="0"/>
                          <a:ea typeface="宋体" pitchFamily="2" charset="-122"/>
                        </a:rPr>
                        <a:t>类名</a:t>
                      </a:r>
                      <a:endParaRPr kumimoji="1" lang="en-US" altLang="zh-CN" sz="2800" b="1" i="0" u="none" strike="noStrike" cap="none" normalizeH="0" baseline="0">
                        <a:ln>
                          <a:noFill/>
                        </a:ln>
                        <a:solidFill>
                          <a:srgbClr val="A50021"/>
                        </a:solidFill>
                        <a:effectLst>
                          <a:outerShdw blurRad="38100" dist="38100" dir="2700000" algn="tl">
                            <a:srgbClr val="C0C0C0"/>
                          </a:outerShdw>
                        </a:effectLst>
                        <a:latin typeface="Tahoma" pitchFamily="34" charset="0"/>
                        <a:ea typeface="宋体" pitchFamily="2" charset="-122"/>
                      </a:endParaRPr>
                    </a:p>
                  </a:txBody>
                  <a:tcPr marT="45734" marB="45734" horzOverflow="overflow">
                    <a:lnL w="28575"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518319">
                <a:tc>
                  <a:txBody>
                    <a:bodyPr/>
                    <a:lstStyle/>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itchFamily="2" charset="2"/>
                        <a:buNone/>
                        <a:tabLst/>
                      </a:pPr>
                      <a:r>
                        <a:rPr kumimoji="1" lang="zh-CN" altLang="en-US" sz="2800" b="1" i="0" u="none" strike="noStrike" cap="none" normalizeH="0" baseline="0">
                          <a:ln>
                            <a:noFill/>
                          </a:ln>
                          <a:solidFill>
                            <a:schemeClr val="tx2"/>
                          </a:solidFill>
                          <a:effectLst>
                            <a:outerShdw blurRad="38100" dist="38100" dir="2700000" algn="tl">
                              <a:srgbClr val="C0C0C0"/>
                            </a:outerShdw>
                          </a:effectLst>
                          <a:latin typeface="Tahoma" pitchFamily="34" charset="0"/>
                          <a:ea typeface="宋体" pitchFamily="2" charset="-122"/>
                        </a:rPr>
                        <a:t>职责</a:t>
                      </a:r>
                      <a:r>
                        <a:rPr kumimoji="1" lang="en-US" altLang="zh-CN" sz="2800" b="1" i="0" u="none" strike="noStrike" cap="none" normalizeH="0" baseline="0">
                          <a:ln>
                            <a:noFill/>
                          </a:ln>
                          <a:solidFill>
                            <a:schemeClr val="tx2"/>
                          </a:solidFill>
                          <a:effectLst>
                            <a:outerShdw blurRad="38100" dist="38100" dir="2700000" algn="tl">
                              <a:srgbClr val="C0C0C0"/>
                            </a:outerShdw>
                          </a:effectLst>
                          <a:latin typeface="Tahoma" pitchFamily="34" charset="0"/>
                          <a:ea typeface="宋体" pitchFamily="2" charset="-122"/>
                        </a:rPr>
                        <a:t>1</a:t>
                      </a:r>
                    </a:p>
                  </a:txBody>
                  <a:tcPr marT="45734" marB="4573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itchFamily="2" charset="2"/>
                        <a:buNone/>
                        <a:tabLst/>
                      </a:pPr>
                      <a:r>
                        <a:rPr kumimoji="1" lang="zh-CN" altLang="en-US" sz="2800" b="1" i="0" u="none" strike="noStrike" cap="none" normalizeH="0" baseline="0">
                          <a:ln>
                            <a:noFill/>
                          </a:ln>
                          <a:solidFill>
                            <a:schemeClr val="tx2"/>
                          </a:solidFill>
                          <a:effectLst>
                            <a:outerShdw blurRad="38100" dist="38100" dir="2700000" algn="tl">
                              <a:srgbClr val="C0C0C0"/>
                            </a:outerShdw>
                          </a:effectLst>
                          <a:latin typeface="Tahoma" pitchFamily="34" charset="0"/>
                          <a:ea typeface="宋体" pitchFamily="2" charset="-122"/>
                        </a:rPr>
                        <a:t>职责</a:t>
                      </a:r>
                      <a:r>
                        <a:rPr kumimoji="1" lang="en-US" altLang="zh-CN" sz="2800" b="1" i="0" u="none" strike="noStrike" cap="none" normalizeH="0" baseline="0">
                          <a:ln>
                            <a:noFill/>
                          </a:ln>
                          <a:solidFill>
                            <a:schemeClr val="tx2"/>
                          </a:solidFill>
                          <a:effectLst>
                            <a:outerShdw blurRad="38100" dist="38100" dir="2700000" algn="tl">
                              <a:srgbClr val="C0C0C0"/>
                            </a:outerShdw>
                          </a:effectLst>
                          <a:latin typeface="Tahoma" pitchFamily="34" charset="0"/>
                          <a:ea typeface="宋体" pitchFamily="2" charset="-122"/>
                        </a:rPr>
                        <a:t>1</a:t>
                      </a:r>
                      <a:r>
                        <a:rPr kumimoji="1" lang="zh-CN" altLang="en-US" sz="2800" b="1" i="0" u="none" strike="noStrike" cap="none" normalizeH="0" baseline="0">
                          <a:ln>
                            <a:noFill/>
                          </a:ln>
                          <a:solidFill>
                            <a:schemeClr val="tx2"/>
                          </a:solidFill>
                          <a:effectLst>
                            <a:outerShdw blurRad="38100" dist="38100" dir="2700000" algn="tl">
                              <a:srgbClr val="C0C0C0"/>
                            </a:outerShdw>
                          </a:effectLst>
                          <a:latin typeface="Tahoma" pitchFamily="34" charset="0"/>
                          <a:ea typeface="宋体" pitchFamily="2" charset="-122"/>
                        </a:rPr>
                        <a:t>的协作</a:t>
                      </a:r>
                      <a:endParaRPr kumimoji="1" lang="en-US" altLang="zh-CN" sz="2800" b="1" i="0" u="none" strike="noStrike" cap="none" normalizeH="0" baseline="0">
                        <a:ln>
                          <a:noFill/>
                        </a:ln>
                        <a:solidFill>
                          <a:schemeClr val="tx2"/>
                        </a:solidFill>
                        <a:effectLst>
                          <a:outerShdw blurRad="38100" dist="38100" dir="2700000" algn="tl">
                            <a:srgbClr val="C0C0C0"/>
                          </a:outerShdw>
                        </a:effectLst>
                        <a:latin typeface="Tahoma" pitchFamily="34" charset="0"/>
                        <a:ea typeface="宋体" pitchFamily="2" charset="-122"/>
                      </a:endParaRPr>
                    </a:p>
                  </a:txBody>
                  <a:tcPr marT="45734" marB="4573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8319">
                <a:tc>
                  <a:txBody>
                    <a:bodyPr/>
                    <a:lstStyle/>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itchFamily="2" charset="2"/>
                        <a:buNone/>
                        <a:tabLst/>
                      </a:pPr>
                      <a:r>
                        <a:rPr kumimoji="1" lang="zh-CN" altLang="en-US" sz="2800" b="1" i="0" u="none" strike="noStrike" cap="none" normalizeH="0" baseline="0">
                          <a:ln>
                            <a:noFill/>
                          </a:ln>
                          <a:solidFill>
                            <a:schemeClr val="tx2"/>
                          </a:solidFill>
                          <a:effectLst>
                            <a:outerShdw blurRad="38100" dist="38100" dir="2700000" algn="tl">
                              <a:srgbClr val="C0C0C0"/>
                            </a:outerShdw>
                          </a:effectLst>
                          <a:latin typeface="Tahoma" pitchFamily="34" charset="0"/>
                          <a:ea typeface="宋体" pitchFamily="2" charset="-122"/>
                        </a:rPr>
                        <a:t>职责</a:t>
                      </a:r>
                      <a:r>
                        <a:rPr kumimoji="1" lang="en-US" altLang="zh-CN" sz="2800" b="1" i="0" u="none" strike="noStrike" cap="none" normalizeH="0" baseline="0">
                          <a:ln>
                            <a:noFill/>
                          </a:ln>
                          <a:solidFill>
                            <a:schemeClr val="tx2"/>
                          </a:solidFill>
                          <a:effectLst>
                            <a:outerShdw blurRad="38100" dist="38100" dir="2700000" algn="tl">
                              <a:srgbClr val="C0C0C0"/>
                            </a:outerShdw>
                          </a:effectLst>
                          <a:latin typeface="Tahoma" pitchFamily="34" charset="0"/>
                          <a:ea typeface="宋体" pitchFamily="2" charset="-122"/>
                        </a:rPr>
                        <a:t>2</a:t>
                      </a:r>
                    </a:p>
                  </a:txBody>
                  <a:tcPr marT="45734" marB="4573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itchFamily="2" charset="2"/>
                        <a:buNone/>
                        <a:tabLst/>
                      </a:pPr>
                      <a:r>
                        <a:rPr kumimoji="1" lang="zh-CN" altLang="en-US" sz="2800" b="1" i="0" u="none" strike="noStrike" cap="none" normalizeH="0" baseline="0">
                          <a:ln>
                            <a:noFill/>
                          </a:ln>
                          <a:solidFill>
                            <a:schemeClr val="tx2"/>
                          </a:solidFill>
                          <a:effectLst>
                            <a:outerShdw blurRad="38100" dist="38100" dir="2700000" algn="tl">
                              <a:srgbClr val="C0C0C0"/>
                            </a:outerShdw>
                          </a:effectLst>
                          <a:latin typeface="Tahoma" pitchFamily="34" charset="0"/>
                          <a:ea typeface="宋体" pitchFamily="2" charset="-122"/>
                        </a:rPr>
                        <a:t>职责</a:t>
                      </a:r>
                      <a:r>
                        <a:rPr kumimoji="1" lang="en-US" altLang="zh-CN" sz="2800" b="1" i="0" u="none" strike="noStrike" cap="none" normalizeH="0" baseline="0">
                          <a:ln>
                            <a:noFill/>
                          </a:ln>
                          <a:solidFill>
                            <a:schemeClr val="tx2"/>
                          </a:solidFill>
                          <a:effectLst>
                            <a:outerShdw blurRad="38100" dist="38100" dir="2700000" algn="tl">
                              <a:srgbClr val="C0C0C0"/>
                            </a:outerShdw>
                          </a:effectLst>
                          <a:latin typeface="Tahoma" pitchFamily="34" charset="0"/>
                          <a:ea typeface="宋体" pitchFamily="2" charset="-122"/>
                        </a:rPr>
                        <a:t>2</a:t>
                      </a:r>
                      <a:r>
                        <a:rPr kumimoji="1" lang="zh-CN" altLang="en-US" sz="2800" b="1" i="0" u="none" strike="noStrike" cap="none" normalizeH="0" baseline="0">
                          <a:ln>
                            <a:noFill/>
                          </a:ln>
                          <a:solidFill>
                            <a:schemeClr val="tx2"/>
                          </a:solidFill>
                          <a:effectLst>
                            <a:outerShdw blurRad="38100" dist="38100" dir="2700000" algn="tl">
                              <a:srgbClr val="C0C0C0"/>
                            </a:outerShdw>
                          </a:effectLst>
                          <a:latin typeface="Tahoma" pitchFamily="34" charset="0"/>
                          <a:ea typeface="宋体" pitchFamily="2" charset="-122"/>
                        </a:rPr>
                        <a:t>的协作</a:t>
                      </a:r>
                    </a:p>
                  </a:txBody>
                  <a:tcPr marT="45734" marB="4573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18319">
                <a:tc>
                  <a:txBody>
                    <a:bodyPr/>
                    <a:lstStyle/>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itchFamily="2" charset="2"/>
                        <a:buNone/>
                        <a:tabLst/>
                      </a:pPr>
                      <a:r>
                        <a:rPr kumimoji="1" lang="en-US" altLang="zh-CN" sz="2800" b="1" i="0" u="none" strike="noStrike" cap="none" normalizeH="0" baseline="0">
                          <a:ln>
                            <a:noFill/>
                          </a:ln>
                          <a:solidFill>
                            <a:schemeClr val="tx2"/>
                          </a:solidFill>
                          <a:effectLst>
                            <a:outerShdw blurRad="38100" dist="38100" dir="2700000" algn="tl">
                              <a:srgbClr val="C0C0C0"/>
                            </a:outerShdw>
                          </a:effectLst>
                          <a:latin typeface="Tahoma" pitchFamily="34" charset="0"/>
                          <a:ea typeface="宋体" pitchFamily="2" charset="-122"/>
                        </a:rPr>
                        <a:t>…</a:t>
                      </a:r>
                    </a:p>
                  </a:txBody>
                  <a:tcPr marT="45734" marB="45734"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A50021"/>
                        </a:buClr>
                        <a:buSzPct val="80000"/>
                        <a:buFont typeface="Wingdings" pitchFamily="2" charset="2"/>
                        <a:buNone/>
                        <a:tabLst/>
                      </a:pPr>
                      <a:r>
                        <a:rPr kumimoji="1" lang="en-US" altLang="zh-CN" sz="2800" b="1" i="0" u="none" strike="noStrike" cap="none" normalizeH="0" baseline="0">
                          <a:ln>
                            <a:noFill/>
                          </a:ln>
                          <a:solidFill>
                            <a:schemeClr val="tx2"/>
                          </a:solidFill>
                          <a:effectLst>
                            <a:outerShdw blurRad="38100" dist="38100" dir="2700000" algn="tl">
                              <a:srgbClr val="C0C0C0"/>
                            </a:outerShdw>
                          </a:effectLst>
                          <a:latin typeface="Tahoma" pitchFamily="34" charset="0"/>
                          <a:ea typeface="宋体" pitchFamily="2" charset="-122"/>
                        </a:rPr>
                        <a:t>…</a:t>
                      </a:r>
                    </a:p>
                  </a:txBody>
                  <a:tcPr marT="45734" marB="45734"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B965C0E1-6D24-4B75-9AA2-884EDA838D38}" type="slidenum">
              <a:rPr lang="en-US" altLang="zh-CN" sz="1200" b="0">
                <a:solidFill>
                  <a:srgbClr val="4D4D4D"/>
                </a:solidFill>
                <a:latin typeface="Arial" charset="0"/>
              </a:rPr>
              <a:pPr eaLnBrk="1" hangingPunct="1"/>
              <a:t>77</a:t>
            </a:fld>
            <a:r>
              <a:rPr lang="en-US" altLang="zh-CN" sz="1200" b="0">
                <a:solidFill>
                  <a:srgbClr val="4D4D4D"/>
                </a:solidFill>
                <a:latin typeface="Arial" charset="0"/>
              </a:rPr>
              <a:t>-</a:t>
            </a:r>
          </a:p>
        </p:txBody>
      </p:sp>
      <p:sp>
        <p:nvSpPr>
          <p:cNvPr id="79875" name="Rectangle 2"/>
          <p:cNvSpPr>
            <a:spLocks noGrp="1" noChangeArrowheads="1"/>
          </p:cNvSpPr>
          <p:nvPr>
            <p:ph type="title"/>
          </p:nvPr>
        </p:nvSpPr>
        <p:spPr/>
        <p:txBody>
          <a:bodyPr/>
          <a:lstStyle/>
          <a:p>
            <a:pPr eaLnBrk="1" hangingPunct="1"/>
            <a:r>
              <a:rPr lang="zh-CN" altLang="en-US"/>
              <a:t>保持类职责的一致性</a:t>
            </a:r>
            <a:endParaRPr lang="en-US" altLang="zh-CN"/>
          </a:p>
        </p:txBody>
      </p:sp>
      <p:sp>
        <p:nvSpPr>
          <p:cNvPr id="79876" name="Rectangle 3"/>
          <p:cNvSpPr>
            <a:spLocks noGrp="1" noChangeArrowheads="1"/>
          </p:cNvSpPr>
          <p:nvPr>
            <p:ph type="body" idx="1"/>
          </p:nvPr>
        </p:nvSpPr>
        <p:spPr/>
        <p:txBody>
          <a:bodyPr/>
          <a:lstStyle/>
          <a:p>
            <a:pPr eaLnBrk="1" hangingPunct="1"/>
            <a:r>
              <a:rPr lang="zh-CN" altLang="en-US" dirty="0"/>
              <a:t>从每个用例实现中发现类的职责，之后，要从系统整体角度定义类的职责</a:t>
            </a:r>
            <a:endParaRPr lang="en-US" altLang="zh-CN" dirty="0"/>
          </a:p>
          <a:p>
            <a:pPr lvl="1" eaLnBrk="1" hangingPunct="1"/>
            <a:r>
              <a:rPr lang="zh-CN" altLang="en-US" dirty="0"/>
              <a:t>类中的互不相干职责</a:t>
            </a:r>
          </a:p>
          <a:p>
            <a:pPr lvl="1" eaLnBrk="1" hangingPunct="1"/>
            <a:r>
              <a:rPr lang="zh-CN" altLang="en-US" dirty="0"/>
              <a:t>跨类的职责冗余</a:t>
            </a:r>
          </a:p>
          <a:p>
            <a:pPr lvl="1" eaLnBrk="1" hangingPunct="1"/>
            <a:r>
              <a:rPr lang="zh-CN" altLang="en-US" dirty="0"/>
              <a:t>一个职责的类</a:t>
            </a:r>
          </a:p>
          <a:p>
            <a:pPr lvl="1" eaLnBrk="1" hangingPunct="1"/>
            <a:r>
              <a:rPr lang="zh-CN" altLang="en-US" dirty="0"/>
              <a:t>没有职责的类</a:t>
            </a:r>
          </a:p>
          <a:p>
            <a:pPr lvl="1" eaLnBrk="1" hangingPunct="1"/>
            <a:r>
              <a:rPr lang="zh-CN" altLang="en-US" dirty="0"/>
              <a:t>行为的更佳分配</a:t>
            </a:r>
          </a:p>
          <a:p>
            <a:pPr lvl="1" eaLnBrk="1" hangingPunct="1"/>
            <a:r>
              <a:rPr lang="zh-CN" altLang="en-US" dirty="0"/>
              <a:t>与许多其它类交互的类</a:t>
            </a:r>
            <a:endParaRPr lang="en-US" altLang="zh-CN"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DE58DA86-65B3-4582-A609-A42DCF2C9B0F}" type="slidenum">
              <a:rPr lang="en-US" altLang="zh-CN" sz="1200" b="0">
                <a:solidFill>
                  <a:srgbClr val="4D4D4D"/>
                </a:solidFill>
                <a:latin typeface="Arial" charset="0"/>
              </a:rPr>
              <a:pPr eaLnBrk="1" hangingPunct="1"/>
              <a:t>78</a:t>
            </a:fld>
            <a:r>
              <a:rPr lang="en-US" altLang="zh-CN" sz="1200" b="0">
                <a:solidFill>
                  <a:srgbClr val="4D4D4D"/>
                </a:solidFill>
                <a:latin typeface="Arial" charset="0"/>
              </a:rPr>
              <a:t>-</a:t>
            </a:r>
          </a:p>
        </p:txBody>
      </p:sp>
      <p:sp>
        <p:nvSpPr>
          <p:cNvPr id="80899" name="Rectangle 2"/>
          <p:cNvSpPr>
            <a:spLocks noGrp="1" noChangeArrowheads="1"/>
          </p:cNvSpPr>
          <p:nvPr>
            <p:ph type="title"/>
          </p:nvPr>
        </p:nvSpPr>
        <p:spPr/>
        <p:txBody>
          <a:bodyPr/>
          <a:lstStyle/>
          <a:p>
            <a:pPr eaLnBrk="1" hangingPunct="1"/>
            <a:r>
              <a:rPr lang="en-US" altLang="zh-CN"/>
              <a:t>2. </a:t>
            </a:r>
            <a:r>
              <a:rPr lang="zh-CN" altLang="en-US"/>
              <a:t>定义分析类的属性</a:t>
            </a:r>
          </a:p>
        </p:txBody>
      </p:sp>
      <p:sp>
        <p:nvSpPr>
          <p:cNvPr id="80900" name="Rectangle 3"/>
          <p:cNvSpPr>
            <a:spLocks noGrp="1" noChangeArrowheads="1"/>
          </p:cNvSpPr>
          <p:nvPr>
            <p:ph type="body" idx="1"/>
          </p:nvPr>
        </p:nvSpPr>
        <p:spPr/>
        <p:txBody>
          <a:bodyPr/>
          <a:lstStyle/>
          <a:p>
            <a:pPr eaLnBrk="1" hangingPunct="1">
              <a:lnSpc>
                <a:spcPct val="80000"/>
              </a:lnSpc>
            </a:pPr>
            <a:r>
              <a:rPr lang="zh-CN" altLang="en-US" sz="2800" dirty="0"/>
              <a:t>属性</a:t>
            </a:r>
            <a:r>
              <a:rPr lang="en-US" altLang="zh-CN" sz="2800" dirty="0"/>
              <a:t>(Attribute)</a:t>
            </a:r>
            <a:r>
              <a:rPr lang="zh-CN" altLang="en-US" sz="2800" dirty="0"/>
              <a:t>是类的已命名属性，用来存储对象的数据信息，是没有职责的原子事物</a:t>
            </a:r>
          </a:p>
          <a:p>
            <a:pPr lvl="1" eaLnBrk="1" hangingPunct="1">
              <a:lnSpc>
                <a:spcPct val="80000"/>
              </a:lnSpc>
            </a:pPr>
            <a:r>
              <a:rPr lang="zh-CN" altLang="en-US" sz="2400" dirty="0"/>
              <a:t>属性名是一个名词，清楚地表达了属性保留的信息</a:t>
            </a:r>
          </a:p>
          <a:p>
            <a:pPr lvl="1" eaLnBrk="1" hangingPunct="1">
              <a:lnSpc>
                <a:spcPct val="80000"/>
              </a:lnSpc>
            </a:pPr>
            <a:r>
              <a:rPr lang="zh-CN" altLang="en-US" sz="2400" dirty="0"/>
              <a:t>可以利用文字详细说明属性中将要存储的相关信息</a:t>
            </a:r>
          </a:p>
          <a:p>
            <a:pPr lvl="1" eaLnBrk="1" hangingPunct="1">
              <a:lnSpc>
                <a:spcPct val="80000"/>
              </a:lnSpc>
            </a:pPr>
            <a:r>
              <a:rPr lang="zh-CN" altLang="en-US" sz="2400" dirty="0"/>
              <a:t>属性类型应来自业务领域，与编程语言无关</a:t>
            </a:r>
          </a:p>
          <a:p>
            <a:pPr eaLnBrk="1" hangingPunct="1">
              <a:lnSpc>
                <a:spcPct val="80000"/>
              </a:lnSpc>
            </a:pPr>
            <a:r>
              <a:rPr lang="zh-CN" altLang="en-US" sz="2800" dirty="0"/>
              <a:t>从以下几个方面来定义属性：</a:t>
            </a:r>
          </a:p>
          <a:p>
            <a:pPr lvl="1" eaLnBrk="1" hangingPunct="1">
              <a:lnSpc>
                <a:spcPct val="80000"/>
              </a:lnSpc>
            </a:pPr>
            <a:r>
              <a:rPr lang="zh-CN" altLang="en-US" sz="2400" dirty="0"/>
              <a:t>识别分析类的过程中，也可同时发现类的属性，包括：接在所有格后面的名词或形容词（即某某的属性）、不能成为类的名词以及字段列表中所描述的数据需求</a:t>
            </a:r>
          </a:p>
          <a:p>
            <a:pPr lvl="1" eaLnBrk="1" hangingPunct="1">
              <a:lnSpc>
                <a:spcPct val="80000"/>
              </a:lnSpc>
            </a:pPr>
            <a:r>
              <a:rPr lang="zh-CN" altLang="en-US" sz="2400" dirty="0"/>
              <a:t>作为一般业务常识，是否有从类职责范围考虑所应包括的属性</a:t>
            </a:r>
          </a:p>
          <a:p>
            <a:pPr lvl="1" eaLnBrk="1" hangingPunct="1">
              <a:lnSpc>
                <a:spcPct val="80000"/>
              </a:lnSpc>
            </a:pPr>
            <a:r>
              <a:rPr lang="zh-CN" altLang="en-US" sz="2400" dirty="0"/>
              <a:t>该业务领域的专家意见以及过去的类似系统</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C4788701-4384-4152-AB75-4100490FF70F}" type="slidenum">
              <a:rPr lang="en-US" altLang="zh-CN" sz="1200" b="0">
                <a:solidFill>
                  <a:srgbClr val="4D4D4D"/>
                </a:solidFill>
                <a:latin typeface="Arial" charset="0"/>
              </a:rPr>
              <a:pPr eaLnBrk="1" hangingPunct="1"/>
              <a:t>79</a:t>
            </a:fld>
            <a:r>
              <a:rPr lang="en-US" altLang="zh-CN" sz="1200" b="0">
                <a:solidFill>
                  <a:srgbClr val="4D4D4D"/>
                </a:solidFill>
                <a:latin typeface="Arial" charset="0"/>
              </a:rPr>
              <a:t>-</a:t>
            </a:r>
          </a:p>
        </p:txBody>
      </p:sp>
      <p:sp>
        <p:nvSpPr>
          <p:cNvPr id="81923" name="Rectangle 2"/>
          <p:cNvSpPr>
            <a:spLocks noGrp="1" noChangeArrowheads="1"/>
          </p:cNvSpPr>
          <p:nvPr>
            <p:ph type="title"/>
          </p:nvPr>
        </p:nvSpPr>
        <p:spPr/>
        <p:txBody>
          <a:bodyPr/>
          <a:lstStyle/>
          <a:p>
            <a:pPr eaLnBrk="1" hangingPunct="1"/>
            <a:r>
              <a:rPr lang="zh-CN" altLang="en-US"/>
              <a:t>实例：为分析类添加属性</a:t>
            </a:r>
          </a:p>
        </p:txBody>
      </p:sp>
      <p:pic>
        <p:nvPicPr>
          <p:cNvPr id="8192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4826" y="1347789"/>
            <a:ext cx="8570913" cy="4529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97AE2257-0C00-4355-A352-2C541E037777}" type="slidenum">
              <a:rPr lang="en-US" altLang="zh-CN" sz="1200" b="0">
                <a:solidFill>
                  <a:srgbClr val="4D4D4D"/>
                </a:solidFill>
                <a:latin typeface="Arial" charset="0"/>
              </a:rPr>
              <a:pPr eaLnBrk="1" hangingPunct="1"/>
              <a:t>80</a:t>
            </a:fld>
            <a:r>
              <a:rPr lang="en-US" altLang="zh-CN" sz="1200" b="0">
                <a:solidFill>
                  <a:srgbClr val="4D4D4D"/>
                </a:solidFill>
                <a:latin typeface="Arial" charset="0"/>
              </a:rPr>
              <a:t>-</a:t>
            </a:r>
          </a:p>
        </p:txBody>
      </p:sp>
      <p:sp>
        <p:nvSpPr>
          <p:cNvPr id="82947" name="Rectangle 2"/>
          <p:cNvSpPr>
            <a:spLocks noGrp="1" noChangeArrowheads="1"/>
          </p:cNvSpPr>
          <p:nvPr>
            <p:ph type="title"/>
          </p:nvPr>
        </p:nvSpPr>
        <p:spPr/>
        <p:txBody>
          <a:bodyPr/>
          <a:lstStyle/>
          <a:p>
            <a:pPr eaLnBrk="1" hangingPunct="1"/>
            <a:r>
              <a:rPr lang="en-US" altLang="zh-CN"/>
              <a:t>3. </a:t>
            </a:r>
            <a:r>
              <a:rPr lang="zh-CN" altLang="en-US"/>
              <a:t>定义分析类的关系</a:t>
            </a:r>
          </a:p>
        </p:txBody>
      </p:sp>
      <p:sp>
        <p:nvSpPr>
          <p:cNvPr id="82948" name="Rectangle 3"/>
          <p:cNvSpPr>
            <a:spLocks noGrp="1" noChangeArrowheads="1"/>
          </p:cNvSpPr>
          <p:nvPr>
            <p:ph type="body" idx="1"/>
          </p:nvPr>
        </p:nvSpPr>
        <p:spPr/>
        <p:txBody>
          <a:bodyPr/>
          <a:lstStyle/>
          <a:p>
            <a:pPr eaLnBrk="1" hangingPunct="1"/>
            <a:r>
              <a:rPr lang="zh-CN" altLang="en-US"/>
              <a:t>对象不能孤立地存在，它们之间需要频繁地通过消息进行交互从而执行有用的工作，并达到用例的目标</a:t>
            </a:r>
          </a:p>
          <a:p>
            <a:pPr eaLnBrk="1" hangingPunct="1"/>
            <a:r>
              <a:rPr lang="zh-CN" altLang="en-US"/>
              <a:t>为此，相应的类之间也应该存在特定的关系来支持这种交互过程</a:t>
            </a:r>
          </a:p>
          <a:p>
            <a:pPr lvl="1" eaLnBrk="1" hangingPunct="1"/>
            <a:r>
              <a:rPr lang="en-US" altLang="zh-CN"/>
              <a:t>3.1 </a:t>
            </a:r>
            <a:r>
              <a:rPr lang="zh-CN" altLang="en-US"/>
              <a:t>关联关系：协作关系</a:t>
            </a:r>
          </a:p>
          <a:p>
            <a:pPr lvl="1" eaLnBrk="1" hangingPunct="1"/>
            <a:r>
              <a:rPr lang="en-US" altLang="zh-CN"/>
              <a:t>3.2 </a:t>
            </a:r>
            <a:r>
              <a:rPr lang="zh-CN" altLang="en-US"/>
              <a:t>聚合关系：整体</a:t>
            </a:r>
            <a:r>
              <a:rPr lang="en-US" altLang="zh-CN"/>
              <a:t>-</a:t>
            </a:r>
            <a:r>
              <a:rPr lang="zh-CN" altLang="en-US"/>
              <a:t>部分</a:t>
            </a:r>
          </a:p>
          <a:p>
            <a:pPr lvl="1" eaLnBrk="1" hangingPunct="1"/>
            <a:r>
              <a:rPr lang="en-US" altLang="zh-CN"/>
              <a:t>3.3 </a:t>
            </a:r>
            <a:r>
              <a:rPr lang="zh-CN" altLang="en-US"/>
              <a:t>泛化关系：抽象</a:t>
            </a:r>
            <a:r>
              <a:rPr lang="en-US" altLang="zh-CN"/>
              <a:t>-</a:t>
            </a:r>
            <a:r>
              <a:rPr lang="zh-CN" altLang="en-US"/>
              <a:t>具体</a:t>
            </a:r>
          </a:p>
          <a:p>
            <a:pPr lvl="1" eaLnBrk="1" hangingPunct="1"/>
            <a:endParaRPr lang="zh-CN"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2B526AC9-6297-46C9-81C5-E9922E31195C}" type="slidenum">
              <a:rPr lang="en-US" altLang="zh-CN" sz="1200" b="0">
                <a:solidFill>
                  <a:srgbClr val="4D4D4D"/>
                </a:solidFill>
                <a:latin typeface="Arial" charset="0"/>
              </a:rPr>
              <a:pPr eaLnBrk="1" hangingPunct="1"/>
              <a:t>81</a:t>
            </a:fld>
            <a:r>
              <a:rPr lang="en-US" altLang="zh-CN" sz="1200" b="0">
                <a:solidFill>
                  <a:srgbClr val="4D4D4D"/>
                </a:solidFill>
                <a:latin typeface="Arial" charset="0"/>
              </a:rPr>
              <a:t>-</a:t>
            </a:r>
          </a:p>
        </p:txBody>
      </p:sp>
      <p:sp>
        <p:nvSpPr>
          <p:cNvPr id="83971" name="Rectangle 2"/>
          <p:cNvSpPr>
            <a:spLocks noGrp="1" noChangeArrowheads="1"/>
          </p:cNvSpPr>
          <p:nvPr>
            <p:ph type="title"/>
          </p:nvPr>
        </p:nvSpPr>
        <p:spPr/>
        <p:txBody>
          <a:bodyPr/>
          <a:lstStyle/>
          <a:p>
            <a:pPr eaLnBrk="1" hangingPunct="1"/>
            <a:r>
              <a:rPr lang="en-US" altLang="zh-CN"/>
              <a:t>3.1 </a:t>
            </a:r>
            <a:r>
              <a:rPr lang="zh-CN" altLang="en-US"/>
              <a:t>关联关系</a:t>
            </a:r>
          </a:p>
        </p:txBody>
      </p:sp>
      <p:sp>
        <p:nvSpPr>
          <p:cNvPr id="83972" name="Rectangle 3"/>
          <p:cNvSpPr>
            <a:spLocks noGrp="1" noChangeArrowheads="1"/>
          </p:cNvSpPr>
          <p:nvPr>
            <p:ph type="body" idx="1"/>
          </p:nvPr>
        </p:nvSpPr>
        <p:spPr/>
        <p:txBody>
          <a:bodyPr/>
          <a:lstStyle/>
          <a:p>
            <a:pPr eaLnBrk="1" hangingPunct="1">
              <a:lnSpc>
                <a:spcPct val="90000"/>
              </a:lnSpc>
            </a:pPr>
            <a:r>
              <a:rPr lang="zh-CN" altLang="en-US"/>
              <a:t>关联是类之间的一种结构化关系，是类之间的语义联系</a:t>
            </a:r>
          </a:p>
          <a:p>
            <a:pPr lvl="1" eaLnBrk="1" hangingPunct="1">
              <a:lnSpc>
                <a:spcPct val="90000"/>
              </a:lnSpc>
            </a:pPr>
            <a:r>
              <a:rPr lang="zh-CN" altLang="en-US"/>
              <a:t>表明类的对象之间存在着链接</a:t>
            </a:r>
          </a:p>
          <a:p>
            <a:pPr lvl="1" eaLnBrk="1" hangingPunct="1">
              <a:lnSpc>
                <a:spcPct val="90000"/>
              </a:lnSpc>
            </a:pPr>
            <a:r>
              <a:rPr lang="zh-CN" altLang="en-US"/>
              <a:t>对象是类的实例，而链接是关联的实例</a:t>
            </a:r>
          </a:p>
          <a:p>
            <a:pPr eaLnBrk="1" hangingPunct="1">
              <a:lnSpc>
                <a:spcPct val="90000"/>
              </a:lnSpc>
            </a:pPr>
            <a:r>
              <a:rPr lang="zh-CN" altLang="en-US"/>
              <a:t>识别关联的基本思路</a:t>
            </a:r>
          </a:p>
          <a:p>
            <a:pPr lvl="1" eaLnBrk="1" hangingPunct="1">
              <a:lnSpc>
                <a:spcPct val="90000"/>
              </a:lnSpc>
            </a:pPr>
            <a:r>
              <a:rPr lang="zh-CN" altLang="en-US"/>
              <a:t>从交互模型中发现对象之间的链接，从而在相应的类上建立关联关系：如</a:t>
            </a:r>
            <a:r>
              <a:rPr lang="en-US" altLang="zh-CN"/>
              <a:t>VOPC</a:t>
            </a:r>
            <a:r>
              <a:rPr lang="zh-CN" altLang="en-US"/>
              <a:t>图中关联关系</a:t>
            </a:r>
            <a:endParaRPr lang="en-US" altLang="zh-CN"/>
          </a:p>
          <a:p>
            <a:pPr lvl="1" eaLnBrk="1" hangingPunct="1">
              <a:lnSpc>
                <a:spcPct val="90000"/>
              </a:lnSpc>
            </a:pPr>
            <a:r>
              <a:rPr lang="zh-CN" altLang="en-US"/>
              <a:t>从业务领域出发，分析领域中所存在的实体类之间的语义联系，为那些存在语义联系的类之间建立关联关系：如实体类之间的各种语义联系</a:t>
            </a:r>
            <a:endParaRPr lang="en-US" altLang="zh-CN"/>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815E2607-46FF-4254-92BF-C429B97C4FF5}" type="slidenum">
              <a:rPr lang="en-US" altLang="zh-CN" sz="1200" b="0">
                <a:solidFill>
                  <a:srgbClr val="4D4D4D"/>
                </a:solidFill>
                <a:latin typeface="Arial" charset="0"/>
              </a:rPr>
              <a:pPr eaLnBrk="1" hangingPunct="1"/>
              <a:t>82</a:t>
            </a:fld>
            <a:r>
              <a:rPr lang="en-US" altLang="zh-CN" sz="1200" b="0">
                <a:solidFill>
                  <a:srgbClr val="4D4D4D"/>
                </a:solidFill>
                <a:latin typeface="Arial" charset="0"/>
              </a:rPr>
              <a:t>-</a:t>
            </a:r>
          </a:p>
        </p:txBody>
      </p:sp>
      <p:sp>
        <p:nvSpPr>
          <p:cNvPr id="84995" name="Rectangle 2"/>
          <p:cNvSpPr>
            <a:spLocks noGrp="1" noChangeArrowheads="1"/>
          </p:cNvSpPr>
          <p:nvPr>
            <p:ph type="title"/>
          </p:nvPr>
        </p:nvSpPr>
        <p:spPr/>
        <p:txBody>
          <a:bodyPr/>
          <a:lstStyle/>
          <a:p>
            <a:pPr eaLnBrk="1" hangingPunct="1"/>
            <a:r>
              <a:rPr lang="zh-CN" altLang="en-US"/>
              <a:t>实例：实体类之间的关联关系 </a:t>
            </a:r>
          </a:p>
        </p:txBody>
      </p:sp>
      <p:pic>
        <p:nvPicPr>
          <p:cNvPr id="8499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7851" y="2205039"/>
            <a:ext cx="8424863" cy="235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2"/>
          <p:cNvSpPr>
            <a:spLocks noGrp="1" noChangeArrowheads="1"/>
          </p:cNvSpPr>
          <p:nvPr>
            <p:ph type="title"/>
          </p:nvPr>
        </p:nvSpPr>
        <p:spPr/>
        <p:txBody>
          <a:bodyPr/>
          <a:lstStyle/>
          <a:p>
            <a:pPr eaLnBrk="1" hangingPunct="1"/>
            <a:r>
              <a:rPr lang="zh-CN" altLang="en-US"/>
              <a:t>细化关联关系</a:t>
            </a:r>
          </a:p>
        </p:txBody>
      </p:sp>
      <p:sp>
        <p:nvSpPr>
          <p:cNvPr id="86020" name="Rectangle 3"/>
          <p:cNvSpPr>
            <a:spLocks noGrp="1" noChangeArrowheads="1"/>
          </p:cNvSpPr>
          <p:nvPr>
            <p:ph idx="1"/>
          </p:nvPr>
        </p:nvSpPr>
        <p:spPr/>
        <p:txBody>
          <a:bodyPr/>
          <a:lstStyle/>
          <a:p>
            <a:pPr eaLnBrk="1" hangingPunct="1"/>
            <a:r>
              <a:rPr lang="zh-CN" altLang="en-US" dirty="0"/>
              <a:t>关联具有：名称、端点和角色名、多重性</a:t>
            </a:r>
          </a:p>
          <a:p>
            <a:pPr lvl="1" eaLnBrk="1" hangingPunct="1"/>
            <a:r>
              <a:rPr lang="zh-CN" altLang="en-US" dirty="0"/>
              <a:t>名称：动词短语</a:t>
            </a:r>
          </a:p>
          <a:p>
            <a:pPr lvl="1" eaLnBrk="1" hangingPunct="1"/>
            <a:r>
              <a:rPr lang="zh-CN" altLang="en-US" dirty="0"/>
              <a:t>端点和端点名</a:t>
            </a:r>
          </a:p>
          <a:p>
            <a:pPr lvl="1" eaLnBrk="1" hangingPunct="1"/>
            <a:r>
              <a:rPr lang="zh-CN" altLang="en-US" dirty="0"/>
              <a:t>多重性表达式：</a:t>
            </a:r>
            <a:r>
              <a:rPr lang="zh-CN" altLang="en-US" sz="2400" dirty="0"/>
              <a:t>*，</a:t>
            </a:r>
            <a:r>
              <a:rPr lang="en-US" altLang="zh-CN" sz="2400" dirty="0"/>
              <a:t>1..*</a:t>
            </a:r>
            <a:r>
              <a:rPr lang="zh-CN" altLang="en-US" sz="2400" dirty="0"/>
              <a:t>，</a:t>
            </a:r>
            <a:r>
              <a:rPr lang="en-US" altLang="zh-CN" sz="2400" dirty="0"/>
              <a:t>1-40</a:t>
            </a:r>
            <a:r>
              <a:rPr lang="zh-CN" altLang="en-US" sz="2400" dirty="0"/>
              <a:t>，</a:t>
            </a:r>
            <a:r>
              <a:rPr lang="en-US" altLang="zh-CN" sz="2400" dirty="0"/>
              <a:t>5</a:t>
            </a:r>
            <a:r>
              <a:rPr lang="zh-CN" altLang="en-US" sz="2400" dirty="0"/>
              <a:t>，</a:t>
            </a:r>
            <a:r>
              <a:rPr lang="en-US" altLang="zh-CN" sz="2400" dirty="0"/>
              <a:t>3,5,8</a:t>
            </a:r>
            <a:r>
              <a:rPr lang="zh-CN" altLang="en-US" sz="2400" dirty="0"/>
              <a:t>，</a:t>
            </a:r>
            <a:r>
              <a:rPr lang="en-US" altLang="zh-CN" sz="2400" dirty="0"/>
              <a:t>…</a:t>
            </a:r>
          </a:p>
          <a:p>
            <a:pPr lvl="1" eaLnBrk="1" hangingPunct="1"/>
            <a:endParaRPr lang="zh-CN" altLang="en-US" dirty="0"/>
          </a:p>
        </p:txBody>
      </p:sp>
      <p:sp>
        <p:nvSpPr>
          <p:cNvPr id="86018" name="灯片编号占位符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171C7812-CBED-4DAB-9171-2C2CF7A7A467}" type="slidenum">
              <a:rPr lang="en-US" altLang="zh-CN" sz="1200" b="0">
                <a:solidFill>
                  <a:srgbClr val="4D4D4D"/>
                </a:solidFill>
                <a:latin typeface="Arial" charset="0"/>
              </a:rPr>
              <a:pPr eaLnBrk="1" hangingPunct="1"/>
              <a:t>83</a:t>
            </a:fld>
            <a:r>
              <a:rPr lang="en-US" altLang="zh-CN" sz="1200" b="0">
                <a:solidFill>
                  <a:srgbClr val="4D4D4D"/>
                </a:solidFill>
                <a:latin typeface="Arial" charset="0"/>
              </a:rPr>
              <a:t>-</a:t>
            </a:r>
          </a:p>
        </p:txBody>
      </p:sp>
      <p:pic>
        <p:nvPicPr>
          <p:cNvPr id="86021"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3250" y="3716338"/>
            <a:ext cx="6121400" cy="1293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BBD12DAB-B949-4B53-96A2-8436DC92256F}" type="slidenum">
              <a:rPr lang="en-US" altLang="zh-CN" sz="1200" b="0">
                <a:solidFill>
                  <a:srgbClr val="4D4D4D"/>
                </a:solidFill>
                <a:latin typeface="Arial" charset="0"/>
              </a:rPr>
              <a:pPr eaLnBrk="1" hangingPunct="1"/>
              <a:t>84</a:t>
            </a:fld>
            <a:r>
              <a:rPr lang="en-US" altLang="zh-CN" sz="1200" b="0">
                <a:solidFill>
                  <a:srgbClr val="4D4D4D"/>
                </a:solidFill>
                <a:latin typeface="Arial" charset="0"/>
              </a:rPr>
              <a:t>-</a:t>
            </a:r>
          </a:p>
        </p:txBody>
      </p:sp>
      <p:sp>
        <p:nvSpPr>
          <p:cNvPr id="87043" name="Rectangle 2"/>
          <p:cNvSpPr>
            <a:spLocks noGrp="1" noChangeArrowheads="1"/>
          </p:cNvSpPr>
          <p:nvPr>
            <p:ph type="title"/>
          </p:nvPr>
        </p:nvSpPr>
        <p:spPr/>
        <p:txBody>
          <a:bodyPr/>
          <a:lstStyle/>
          <a:p>
            <a:pPr eaLnBrk="1" hangingPunct="1"/>
            <a:r>
              <a:rPr lang="zh-CN" altLang="en-US"/>
              <a:t>自反关联</a:t>
            </a:r>
          </a:p>
        </p:txBody>
      </p:sp>
      <p:sp>
        <p:nvSpPr>
          <p:cNvPr id="87044" name="Rectangle 3"/>
          <p:cNvSpPr>
            <a:spLocks noGrp="1" noChangeArrowheads="1"/>
          </p:cNvSpPr>
          <p:nvPr>
            <p:ph type="body" idx="1"/>
          </p:nvPr>
        </p:nvSpPr>
        <p:spPr/>
        <p:txBody>
          <a:bodyPr/>
          <a:lstStyle/>
          <a:p>
            <a:pPr eaLnBrk="1" hangingPunct="1"/>
            <a:r>
              <a:rPr lang="zh-CN" altLang="en-US"/>
              <a:t>自反关联是指一个类自身之间存在关联，它表明同一个类的不同对象之间存在链接 </a:t>
            </a:r>
          </a:p>
        </p:txBody>
      </p:sp>
      <p:pic>
        <p:nvPicPr>
          <p:cNvPr id="8704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7213" y="2924175"/>
            <a:ext cx="338455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D6F7A3E9-555C-4ED9-BB4B-55EE344D3C43}" type="slidenum">
              <a:rPr lang="en-US" altLang="zh-CN" sz="1200" b="0">
                <a:solidFill>
                  <a:srgbClr val="4D4D4D"/>
                </a:solidFill>
                <a:latin typeface="Arial" charset="0"/>
              </a:rPr>
              <a:pPr eaLnBrk="1" hangingPunct="1"/>
              <a:t>85</a:t>
            </a:fld>
            <a:r>
              <a:rPr lang="en-US" altLang="zh-CN" sz="1200" b="0">
                <a:solidFill>
                  <a:srgbClr val="4D4D4D"/>
                </a:solidFill>
                <a:latin typeface="Arial" charset="0"/>
              </a:rPr>
              <a:t>-</a:t>
            </a:r>
          </a:p>
        </p:txBody>
      </p:sp>
      <p:sp>
        <p:nvSpPr>
          <p:cNvPr id="88067" name="Rectangle 2"/>
          <p:cNvSpPr>
            <a:spLocks noGrp="1" noChangeArrowheads="1"/>
          </p:cNvSpPr>
          <p:nvPr>
            <p:ph type="title"/>
          </p:nvPr>
        </p:nvSpPr>
        <p:spPr/>
        <p:txBody>
          <a:bodyPr/>
          <a:lstStyle/>
          <a:p>
            <a:pPr eaLnBrk="1" hangingPunct="1"/>
            <a:r>
              <a:rPr lang="zh-CN" altLang="en-US"/>
              <a:t>关联类</a:t>
            </a:r>
          </a:p>
        </p:txBody>
      </p:sp>
      <p:sp>
        <p:nvSpPr>
          <p:cNvPr id="88068" name="Rectangle 3"/>
          <p:cNvSpPr>
            <a:spLocks noGrp="1" noChangeArrowheads="1"/>
          </p:cNvSpPr>
          <p:nvPr>
            <p:ph type="body" idx="1"/>
          </p:nvPr>
        </p:nvSpPr>
        <p:spPr/>
        <p:txBody>
          <a:bodyPr/>
          <a:lstStyle/>
          <a:p>
            <a:pPr eaLnBrk="1" hangingPunct="1"/>
            <a:r>
              <a:rPr lang="zh-CN" altLang="en-US"/>
              <a:t>关联类</a:t>
            </a:r>
            <a:r>
              <a:rPr lang="en-US" altLang="zh-CN"/>
              <a:t>(Association Class)</a:t>
            </a:r>
          </a:p>
          <a:p>
            <a:pPr lvl="1" eaLnBrk="1" hangingPunct="1"/>
            <a:r>
              <a:rPr lang="zh-CN" altLang="en-US"/>
              <a:t>是一种被附加到关联上的类，用来描述该关联自身所拥有的属性和行为</a:t>
            </a:r>
          </a:p>
          <a:p>
            <a:pPr lvl="1" eaLnBrk="1" hangingPunct="1"/>
            <a:r>
              <a:rPr lang="zh-CN" altLang="en-US"/>
              <a:t>当某些属于关联自身的特征信息无法被附加到关联两端的类时，就需要为该关联定义关联类 </a:t>
            </a:r>
          </a:p>
        </p:txBody>
      </p:sp>
      <p:pic>
        <p:nvPicPr>
          <p:cNvPr id="88069"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6276" y="3789040"/>
            <a:ext cx="5256213" cy="214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694F7D42-5A8B-4017-8877-5C540FB638CD}" type="slidenum">
              <a:rPr lang="en-US" altLang="zh-CN" sz="1200" b="0">
                <a:solidFill>
                  <a:srgbClr val="4D4D4D"/>
                </a:solidFill>
                <a:latin typeface="Arial" charset="0"/>
              </a:rPr>
              <a:pPr eaLnBrk="1" hangingPunct="1"/>
              <a:t>86</a:t>
            </a:fld>
            <a:r>
              <a:rPr lang="en-US" altLang="zh-CN" sz="1200" b="0">
                <a:solidFill>
                  <a:srgbClr val="4D4D4D"/>
                </a:solidFill>
                <a:latin typeface="Arial" charset="0"/>
              </a:rPr>
              <a:t>-</a:t>
            </a:r>
          </a:p>
        </p:txBody>
      </p:sp>
      <p:sp>
        <p:nvSpPr>
          <p:cNvPr id="89091" name="Rectangle 2"/>
          <p:cNvSpPr>
            <a:spLocks noGrp="1" noChangeArrowheads="1"/>
          </p:cNvSpPr>
          <p:nvPr>
            <p:ph type="title"/>
          </p:nvPr>
        </p:nvSpPr>
        <p:spPr/>
        <p:txBody>
          <a:bodyPr/>
          <a:lstStyle/>
          <a:p>
            <a:pPr eaLnBrk="1" hangingPunct="1"/>
            <a:r>
              <a:rPr lang="en-US" altLang="zh-CN"/>
              <a:t>3.2 </a:t>
            </a:r>
            <a:r>
              <a:rPr lang="zh-CN" altLang="en-US"/>
              <a:t>聚合关系</a:t>
            </a:r>
          </a:p>
        </p:txBody>
      </p:sp>
      <p:sp>
        <p:nvSpPr>
          <p:cNvPr id="89092" name="Rectangle 3"/>
          <p:cNvSpPr>
            <a:spLocks noGrp="1" noChangeArrowheads="1"/>
          </p:cNvSpPr>
          <p:nvPr>
            <p:ph type="body" idx="1"/>
          </p:nvPr>
        </p:nvSpPr>
        <p:spPr/>
        <p:txBody>
          <a:bodyPr/>
          <a:lstStyle/>
          <a:p>
            <a:pPr eaLnBrk="1" hangingPunct="1">
              <a:lnSpc>
                <a:spcPct val="90000"/>
              </a:lnSpc>
            </a:pPr>
            <a:r>
              <a:rPr lang="zh-CN" altLang="en-US"/>
              <a:t>聚合</a:t>
            </a:r>
            <a:r>
              <a:rPr lang="en-US" altLang="zh-CN"/>
              <a:t>(Aggregation)</a:t>
            </a:r>
            <a:r>
              <a:rPr lang="zh-CN" altLang="en-US"/>
              <a:t>关系是一种特殊的关联关系</a:t>
            </a:r>
          </a:p>
          <a:p>
            <a:pPr lvl="1" eaLnBrk="1" hangingPunct="1">
              <a:lnSpc>
                <a:spcPct val="90000"/>
              </a:lnSpc>
            </a:pPr>
            <a:r>
              <a:rPr lang="zh-CN" altLang="en-US"/>
              <a:t>除了拥有关联关系所有的基本特征之外</a:t>
            </a:r>
          </a:p>
          <a:p>
            <a:pPr lvl="1" eaLnBrk="1" hangingPunct="1">
              <a:lnSpc>
                <a:spcPct val="90000"/>
              </a:lnSpc>
            </a:pPr>
            <a:r>
              <a:rPr lang="zh-CN" altLang="en-US"/>
              <a:t>两个关联的类还分别代表“整体”和“部分”，意味着整体包含部分</a:t>
            </a:r>
          </a:p>
          <a:p>
            <a:pPr eaLnBrk="1" hangingPunct="1">
              <a:lnSpc>
                <a:spcPct val="90000"/>
              </a:lnSpc>
            </a:pPr>
            <a:r>
              <a:rPr lang="zh-CN" altLang="en-US"/>
              <a:t>可以在已有的关联关系基础上，通过分析两个关联的类之间是否存在如何语义来识别聚合关系</a:t>
            </a:r>
            <a:endParaRPr lang="en-US" altLang="zh-CN"/>
          </a:p>
          <a:p>
            <a:pPr lvl="1" eaLnBrk="1" hangingPunct="1">
              <a:lnSpc>
                <a:spcPct val="90000"/>
              </a:lnSpc>
            </a:pPr>
            <a:r>
              <a:rPr lang="en-US" altLang="zh-CN"/>
              <a:t>A</a:t>
            </a:r>
            <a:r>
              <a:rPr lang="zh-CN" altLang="en-US"/>
              <a:t>（整体）由</a:t>
            </a:r>
            <a:r>
              <a:rPr lang="en-US" altLang="zh-CN"/>
              <a:t>B</a:t>
            </a:r>
            <a:r>
              <a:rPr lang="zh-CN" altLang="en-US"/>
              <a:t>（部分）构成</a:t>
            </a:r>
          </a:p>
          <a:p>
            <a:pPr lvl="1" eaLnBrk="1" hangingPunct="1">
              <a:lnSpc>
                <a:spcPct val="90000"/>
              </a:lnSpc>
            </a:pPr>
            <a:r>
              <a:rPr lang="en-US" altLang="zh-CN"/>
              <a:t>B</a:t>
            </a:r>
            <a:r>
              <a:rPr lang="zh-CN" altLang="en-US"/>
              <a:t>（部分）是</a:t>
            </a:r>
            <a:r>
              <a:rPr lang="en-US" altLang="zh-CN"/>
              <a:t>A</a:t>
            </a:r>
            <a:r>
              <a:rPr lang="zh-CN" altLang="en-US"/>
              <a:t>（整体）的一部分</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35D01656-AA3F-466C-942F-0FE4CA62B9F3}" type="slidenum">
              <a:rPr lang="en-US" altLang="zh-CN" sz="1200" b="0">
                <a:solidFill>
                  <a:srgbClr val="4D4D4D"/>
                </a:solidFill>
                <a:latin typeface="Arial" charset="0"/>
              </a:rPr>
              <a:pPr eaLnBrk="1" hangingPunct="1"/>
              <a:t>87</a:t>
            </a:fld>
            <a:r>
              <a:rPr lang="en-US" altLang="zh-CN" sz="1200" b="0">
                <a:solidFill>
                  <a:srgbClr val="4D4D4D"/>
                </a:solidFill>
                <a:latin typeface="Arial" charset="0"/>
              </a:rPr>
              <a:t>-</a:t>
            </a:r>
          </a:p>
        </p:txBody>
      </p:sp>
      <p:sp>
        <p:nvSpPr>
          <p:cNvPr id="90115" name="Rectangle 2"/>
          <p:cNvSpPr>
            <a:spLocks noGrp="1" noChangeArrowheads="1"/>
          </p:cNvSpPr>
          <p:nvPr>
            <p:ph type="title"/>
          </p:nvPr>
        </p:nvSpPr>
        <p:spPr/>
        <p:txBody>
          <a:bodyPr/>
          <a:lstStyle/>
          <a:p>
            <a:pPr eaLnBrk="1" hangingPunct="1"/>
            <a:r>
              <a:rPr lang="en-US" altLang="zh-CN"/>
              <a:t>3.3 </a:t>
            </a:r>
            <a:r>
              <a:rPr lang="zh-CN" altLang="en-US"/>
              <a:t>泛化关系</a:t>
            </a:r>
          </a:p>
        </p:txBody>
      </p:sp>
      <p:sp>
        <p:nvSpPr>
          <p:cNvPr id="90116" name="Rectangle 3"/>
          <p:cNvSpPr>
            <a:spLocks noGrp="1" noChangeArrowheads="1"/>
          </p:cNvSpPr>
          <p:nvPr>
            <p:ph type="body" idx="1"/>
          </p:nvPr>
        </p:nvSpPr>
        <p:spPr/>
        <p:txBody>
          <a:bodyPr/>
          <a:lstStyle/>
          <a:p>
            <a:pPr eaLnBrk="1" hangingPunct="1"/>
            <a:r>
              <a:rPr lang="zh-CN" altLang="en-US"/>
              <a:t>泛化是指类间的结构关系、亲子关系</a:t>
            </a:r>
          </a:p>
          <a:p>
            <a:pPr lvl="1" eaLnBrk="1" hangingPunct="1"/>
            <a:r>
              <a:rPr lang="zh-CN" altLang="en-US"/>
              <a:t>子类继承父类所具有的属性、操作和关联</a:t>
            </a:r>
          </a:p>
          <a:p>
            <a:pPr eaLnBrk="1" hangingPunct="1"/>
            <a:r>
              <a:rPr lang="zh-CN" altLang="en-US"/>
              <a:t>分析阶段的泛化关系主要来自与业务对象模型，针对实体类，结合业务领域的需求，从两个方面来提取泛化关系：</a:t>
            </a:r>
          </a:p>
          <a:p>
            <a:pPr lvl="1" eaLnBrk="1" hangingPunct="1"/>
            <a:r>
              <a:rPr lang="zh-CN" altLang="en-US"/>
              <a:t>是否有类似的结构和行为的类，从而可以抽取出通用的结构和行为构成父类</a:t>
            </a:r>
          </a:p>
          <a:p>
            <a:pPr lvl="1" eaLnBrk="1" hangingPunct="1"/>
            <a:r>
              <a:rPr lang="zh-CN" altLang="en-US"/>
              <a:t>单个实体类是否存在一些不同类别的结构和行为，从而可以将这些不同类别的结构抽取出来构成不同的子类</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86F3FD9B-76F8-4F34-8575-47D3316C4863}" type="slidenum">
              <a:rPr lang="en-US" altLang="zh-CN" sz="1200" b="0">
                <a:solidFill>
                  <a:srgbClr val="4D4D4D"/>
                </a:solidFill>
                <a:latin typeface="Arial" charset="0"/>
              </a:rPr>
              <a:pPr eaLnBrk="1" hangingPunct="1"/>
              <a:t>88</a:t>
            </a:fld>
            <a:r>
              <a:rPr lang="en-US" altLang="zh-CN" sz="1200" b="0">
                <a:solidFill>
                  <a:srgbClr val="4D4D4D"/>
                </a:solidFill>
                <a:latin typeface="Arial" charset="0"/>
              </a:rPr>
              <a:t>-</a:t>
            </a:r>
          </a:p>
        </p:txBody>
      </p:sp>
      <p:sp>
        <p:nvSpPr>
          <p:cNvPr id="91139" name="Rectangle 2"/>
          <p:cNvSpPr>
            <a:spLocks noGrp="1" noChangeArrowheads="1"/>
          </p:cNvSpPr>
          <p:nvPr>
            <p:ph type="title"/>
          </p:nvPr>
        </p:nvSpPr>
        <p:spPr/>
        <p:txBody>
          <a:bodyPr/>
          <a:lstStyle/>
          <a:p>
            <a:pPr eaLnBrk="1" hangingPunct="1"/>
            <a:r>
              <a:rPr lang="zh-CN" altLang="en-US"/>
              <a:t>实例：实体类间的聚合和泛化 </a:t>
            </a:r>
          </a:p>
        </p:txBody>
      </p:sp>
      <p:pic>
        <p:nvPicPr>
          <p:cNvPr id="91140"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75051" y="1268414"/>
            <a:ext cx="4894263"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41"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4438" y="3141664"/>
            <a:ext cx="4502150" cy="261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灯片编号占位符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67E58FC2-D277-4FA7-864C-D15BDDF14A78}" type="slidenum">
              <a:rPr lang="en-US" altLang="zh-CN" sz="1200" b="0">
                <a:solidFill>
                  <a:srgbClr val="4D4D4D"/>
                </a:solidFill>
                <a:latin typeface="Arial" charset="0"/>
              </a:rPr>
              <a:pPr eaLnBrk="1" hangingPunct="1"/>
              <a:t>89</a:t>
            </a:fld>
            <a:r>
              <a:rPr lang="en-US" altLang="zh-CN" sz="1200" b="0">
                <a:solidFill>
                  <a:srgbClr val="4D4D4D"/>
                </a:solidFill>
                <a:latin typeface="Arial" charset="0"/>
              </a:rPr>
              <a:t>-</a:t>
            </a:r>
          </a:p>
        </p:txBody>
      </p:sp>
      <p:sp>
        <p:nvSpPr>
          <p:cNvPr id="92163" name="Rectangle 2"/>
          <p:cNvSpPr>
            <a:spLocks noGrp="1" noChangeArrowheads="1"/>
          </p:cNvSpPr>
          <p:nvPr>
            <p:ph type="title"/>
          </p:nvPr>
        </p:nvSpPr>
        <p:spPr/>
        <p:txBody>
          <a:bodyPr/>
          <a:lstStyle/>
          <a:p>
            <a:pPr eaLnBrk="1" hangingPunct="1"/>
            <a:r>
              <a:rPr lang="en-US" altLang="zh-CN"/>
              <a:t>4. </a:t>
            </a:r>
            <a:r>
              <a:rPr lang="zh-CN" altLang="en-US"/>
              <a:t>限定分析机制</a:t>
            </a:r>
            <a:endParaRPr lang="en-US" altLang="zh-CN"/>
          </a:p>
        </p:txBody>
      </p:sp>
      <p:sp>
        <p:nvSpPr>
          <p:cNvPr id="92164" name="Rectangle 3"/>
          <p:cNvSpPr>
            <a:spLocks noGrp="1" noChangeArrowheads="1"/>
          </p:cNvSpPr>
          <p:nvPr>
            <p:ph type="body" sz="half" idx="1"/>
          </p:nvPr>
        </p:nvSpPr>
        <p:spPr/>
        <p:txBody>
          <a:bodyPr/>
          <a:lstStyle/>
          <a:p>
            <a:pPr eaLnBrk="1" hangingPunct="1"/>
            <a:r>
              <a:rPr lang="zh-CN" altLang="en-US"/>
              <a:t>建立分析类和分析机制的对应图</a:t>
            </a:r>
            <a:endParaRPr lang="en-US" altLang="zh-CN"/>
          </a:p>
        </p:txBody>
      </p:sp>
      <p:graphicFrame>
        <p:nvGraphicFramePr>
          <p:cNvPr id="762028" name="Group 172"/>
          <p:cNvGraphicFramePr>
            <a:graphicFrameLocks noGrp="1"/>
          </p:cNvGraphicFramePr>
          <p:nvPr>
            <p:ph sz="half" idx="2"/>
          </p:nvPr>
        </p:nvGraphicFramePr>
        <p:xfrm>
          <a:off x="1774826" y="1773238"/>
          <a:ext cx="8785225" cy="4297638"/>
        </p:xfrm>
        <a:graphic>
          <a:graphicData uri="http://schemas.openxmlformats.org/drawingml/2006/table">
            <a:tbl>
              <a:tblPr/>
              <a:tblGrid>
                <a:gridCol w="2073275">
                  <a:extLst>
                    <a:ext uri="{9D8B030D-6E8A-4147-A177-3AD203B41FA5}">
                      <a16:colId xmlns:a16="http://schemas.microsoft.com/office/drawing/2014/main" val="20000"/>
                    </a:ext>
                  </a:extLst>
                </a:gridCol>
                <a:gridCol w="2230438">
                  <a:extLst>
                    <a:ext uri="{9D8B030D-6E8A-4147-A177-3AD203B41FA5}">
                      <a16:colId xmlns:a16="http://schemas.microsoft.com/office/drawing/2014/main" val="20001"/>
                    </a:ext>
                  </a:extLst>
                </a:gridCol>
                <a:gridCol w="4481512">
                  <a:extLst>
                    <a:ext uri="{9D8B030D-6E8A-4147-A177-3AD203B41FA5}">
                      <a16:colId xmlns:a16="http://schemas.microsoft.com/office/drawing/2014/main" val="20002"/>
                    </a:ext>
                  </a:extLst>
                </a:gridCol>
              </a:tblGrid>
              <a:tr h="39621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分析类</a:t>
                      </a:r>
                      <a:endParaRPr kumimoji="1" lang="zh-CN" altLang="en-US" sz="2000" b="1" i="0" u="none" strike="noStrike" cap="none" normalizeH="0" baseline="0">
                        <a:ln>
                          <a:noFill/>
                        </a:ln>
                        <a:solidFill>
                          <a:schemeClr val="tx1"/>
                        </a:solidFill>
                        <a:effectLst/>
                        <a:latin typeface="Arial" charset="0"/>
                        <a:ea typeface="宋体" pitchFamily="2" charset="-122"/>
                      </a:endParaRPr>
                    </a:p>
                  </a:txBody>
                  <a:tcPr marT="45717" marB="45717"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分析机制</a:t>
                      </a:r>
                      <a:endParaRPr kumimoji="1" lang="zh-CN" altLang="en-US" sz="2000" b="1" i="0" u="none" strike="noStrike" cap="none" normalizeH="0" baseline="0">
                        <a:ln>
                          <a:noFill/>
                        </a:ln>
                        <a:solidFill>
                          <a:schemeClr val="tx1"/>
                        </a:solidFill>
                        <a:effectLst/>
                        <a:latin typeface="Arial" charset="0"/>
                        <a:ea typeface="宋体" pitchFamily="2" charset="-122"/>
                      </a:endParaRPr>
                    </a:p>
                  </a:txBody>
                  <a:tcPr marT="45717" marB="45717"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说明</a:t>
                      </a:r>
                      <a:endParaRPr kumimoji="1" lang="zh-CN" altLang="en-US" sz="2000" b="1" i="0" u="none" strike="noStrike" cap="none" normalizeH="0" baseline="0">
                        <a:ln>
                          <a:noFill/>
                        </a:ln>
                        <a:solidFill>
                          <a:schemeClr val="tx1"/>
                        </a:solidFill>
                        <a:effectLst/>
                        <a:latin typeface="Arial" charset="0"/>
                        <a:ea typeface="宋体" pitchFamily="2" charset="-122"/>
                      </a:endParaRPr>
                    </a:p>
                  </a:txBody>
                  <a:tcPr marT="45717" marB="45717"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009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申请控制类</a:t>
                      </a:r>
                      <a:endParaRPr kumimoji="1" lang="zh-CN" altLang="en-US" sz="2000" b="1" i="0" u="none" strike="noStrike" cap="none" normalizeH="0" baseline="0">
                        <a:ln>
                          <a:noFill/>
                        </a:ln>
                        <a:solidFill>
                          <a:schemeClr val="tx1"/>
                        </a:solidFill>
                        <a:effectLst/>
                        <a:latin typeface="Arial" charset="0"/>
                        <a:ea typeface="宋体" pitchFamily="2" charset="-122"/>
                      </a:endParaRP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分布</a:t>
                      </a:r>
                      <a:endParaRPr kumimoji="1" lang="zh-CN" altLang="en-US" sz="2000" b="1" i="0" u="none" strike="noStrike" cap="none" normalizeH="0" baseline="0">
                        <a:ln>
                          <a:noFill/>
                        </a:ln>
                        <a:solidFill>
                          <a:schemeClr val="tx1"/>
                        </a:solidFill>
                        <a:effectLst/>
                        <a:latin typeface="Arial" charset="0"/>
                        <a:ea typeface="宋体" pitchFamily="2" charset="-122"/>
                      </a:endParaRP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前台服务员可以通过本地客户机访问服务器上的旅游团和路线信息</a:t>
                      </a:r>
                      <a:endParaRPr kumimoji="1" lang="zh-CN" altLang="en-US" sz="2000" b="1" i="0" u="none" strike="noStrike" cap="none" normalizeH="0" baseline="0">
                        <a:ln>
                          <a:noFill/>
                        </a:ln>
                        <a:solidFill>
                          <a:schemeClr val="tx1"/>
                        </a:solidFill>
                        <a:effectLst/>
                        <a:latin typeface="Arial" charset="0"/>
                        <a:ea typeface="宋体" pitchFamily="2" charset="-122"/>
                      </a:endParaRP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009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导出财务信息</a:t>
                      </a:r>
                      <a:br>
                        <a:rPr kumimoji="1"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br>
                      <a:r>
                        <a:rPr kumimoji="1"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控制类</a:t>
                      </a:r>
                      <a:endParaRPr kumimoji="1" lang="zh-CN" altLang="en-US" sz="2000" b="1" i="0" u="none" strike="noStrike" cap="none" normalizeH="0" baseline="0">
                        <a:ln>
                          <a:noFill/>
                        </a:ln>
                        <a:solidFill>
                          <a:schemeClr val="tx1"/>
                        </a:solidFill>
                        <a:effectLst/>
                        <a:latin typeface="Arial" charset="0"/>
                        <a:ea typeface="宋体" pitchFamily="2" charset="-122"/>
                      </a:endParaRP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遗留接口</a:t>
                      </a:r>
                      <a:endParaRPr kumimoji="1" lang="zh-CN" altLang="en-US" sz="2000" b="1" i="0" u="none" strike="noStrike" cap="none" normalizeH="0" baseline="0">
                        <a:ln>
                          <a:noFill/>
                        </a:ln>
                        <a:solidFill>
                          <a:schemeClr val="tx1"/>
                        </a:solidFill>
                        <a:effectLst/>
                        <a:latin typeface="Arial" charset="0"/>
                        <a:ea typeface="宋体" pitchFamily="2" charset="-122"/>
                      </a:endParaRP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导出的财务信息需要导入到遗留的财务系统</a:t>
                      </a:r>
                      <a:endParaRPr kumimoji="1" lang="zh-CN" altLang="en-US" sz="2000" b="1" i="0" u="none" strike="noStrike" cap="none" normalizeH="0" baseline="0">
                        <a:ln>
                          <a:noFill/>
                        </a:ln>
                        <a:solidFill>
                          <a:schemeClr val="tx1"/>
                        </a:solidFill>
                        <a:effectLst/>
                        <a:latin typeface="Arial" charset="0"/>
                        <a:ea typeface="宋体" pitchFamily="2" charset="-122"/>
                      </a:endParaRP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21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旅游团、路线</a:t>
                      </a:r>
                      <a:endParaRPr kumimoji="1" lang="zh-CN" altLang="en-US" sz="2000" b="1" i="0" u="none" strike="noStrike" cap="none" normalizeH="0" baseline="0">
                        <a:ln>
                          <a:noFill/>
                        </a:ln>
                        <a:solidFill>
                          <a:schemeClr val="tx1"/>
                        </a:solidFill>
                        <a:effectLst/>
                        <a:latin typeface="Arial" charset="0"/>
                        <a:ea typeface="宋体" pitchFamily="2" charset="-122"/>
                      </a:endParaRP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持久性</a:t>
                      </a:r>
                      <a:endParaRPr kumimoji="1" lang="zh-CN" altLang="en-US" sz="2000" b="1" i="0" u="none" strike="noStrike" cap="none" normalizeH="0" baseline="0">
                        <a:ln>
                          <a:noFill/>
                        </a:ln>
                        <a:solidFill>
                          <a:schemeClr val="tx1"/>
                        </a:solidFill>
                        <a:effectLst/>
                        <a:latin typeface="Arial" charset="0"/>
                        <a:ea typeface="宋体" pitchFamily="2" charset="-122"/>
                      </a:endParaRP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旅游团和路线信息需存储在数据库中</a:t>
                      </a:r>
                      <a:endParaRPr kumimoji="1" lang="zh-CN" altLang="en-US" sz="2000" b="1" i="0" u="none" strike="noStrike" cap="none" normalizeH="0" baseline="0">
                        <a:ln>
                          <a:noFill/>
                        </a:ln>
                        <a:solidFill>
                          <a:schemeClr val="tx1"/>
                        </a:solidFill>
                        <a:effectLst/>
                        <a:latin typeface="Arial" charset="0"/>
                        <a:ea typeface="宋体" pitchFamily="2" charset="-122"/>
                      </a:endParaRP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211">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申请</a:t>
                      </a:r>
                      <a:endParaRPr kumimoji="1" lang="zh-CN" altLang="en-US" sz="2000" b="1" i="0" u="none" strike="noStrike" cap="none" normalizeH="0" baseline="0">
                        <a:ln>
                          <a:noFill/>
                        </a:ln>
                        <a:solidFill>
                          <a:schemeClr val="tx1"/>
                        </a:solidFill>
                        <a:effectLst/>
                        <a:latin typeface="Arial" charset="0"/>
                        <a:ea typeface="宋体" pitchFamily="2" charset="-122"/>
                      </a:endParaRP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持久性</a:t>
                      </a:r>
                      <a:endParaRPr kumimoji="1" lang="zh-CN" altLang="en-US" sz="2000" b="1" i="0" u="none" strike="noStrike" cap="none" normalizeH="0" baseline="0">
                        <a:ln>
                          <a:noFill/>
                        </a:ln>
                        <a:solidFill>
                          <a:schemeClr val="tx1"/>
                        </a:solidFill>
                        <a:effectLst/>
                        <a:latin typeface="Arial" charset="0"/>
                        <a:ea typeface="宋体" pitchFamily="2" charset="-122"/>
                      </a:endParaRP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申请相关信息需存储在数据库中</a:t>
                      </a:r>
                      <a:endParaRPr kumimoji="1" lang="zh-CN" altLang="en-US" sz="2000" b="1" i="0" u="none" strike="noStrike" cap="none" normalizeH="0" baseline="0">
                        <a:ln>
                          <a:noFill/>
                        </a:ln>
                        <a:solidFill>
                          <a:schemeClr val="tx1"/>
                        </a:solidFill>
                        <a:effectLst/>
                        <a:latin typeface="Arial" charset="0"/>
                        <a:ea typeface="宋体" pitchFamily="2" charset="-122"/>
                      </a:endParaRP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005766">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支付明细</a:t>
                      </a:r>
                      <a:endParaRPr kumimoji="1" lang="zh-CN" altLang="en-US" sz="2000" b="1" i="0" u="none" strike="noStrike" cap="none" normalizeH="0" baseline="0">
                        <a:ln>
                          <a:noFill/>
                        </a:ln>
                        <a:solidFill>
                          <a:schemeClr val="tx1"/>
                        </a:solidFill>
                        <a:effectLst/>
                        <a:latin typeface="Arial" charset="0"/>
                        <a:ea typeface="宋体" pitchFamily="2" charset="-122"/>
                      </a:endParaRP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持久性、安全性、遗留接口</a:t>
                      </a:r>
                      <a:endParaRPr kumimoji="1" lang="zh-CN" altLang="en-US" sz="2000" b="1" i="0" u="none" strike="noStrike" cap="none" normalizeH="0" baseline="0">
                        <a:ln>
                          <a:noFill/>
                        </a:ln>
                        <a:solidFill>
                          <a:schemeClr val="tx1"/>
                        </a:solidFill>
                        <a:effectLst/>
                        <a:latin typeface="Arial" charset="0"/>
                        <a:ea typeface="宋体" pitchFamily="2" charset="-122"/>
                      </a:endParaRP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支付明细信息需存储在数据库中，并不允许随意修改，同时要与外部财务系统保持一致</a:t>
                      </a:r>
                      <a:endParaRPr kumimoji="1" lang="zh-CN" altLang="en-US" sz="2000" b="1" i="0" u="none" strike="noStrike" cap="none" normalizeH="0" baseline="0">
                        <a:ln>
                          <a:noFill/>
                        </a:ln>
                        <a:solidFill>
                          <a:schemeClr val="tx1"/>
                        </a:solidFill>
                        <a:effectLst/>
                        <a:latin typeface="Arial" charset="0"/>
                        <a:ea typeface="宋体" pitchFamily="2" charset="-122"/>
                      </a:endParaRP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7009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参加人、联系人</a:t>
                      </a:r>
                      <a:endParaRPr kumimoji="1" lang="zh-CN" altLang="en-US" sz="2000" b="1" i="0" u="none" strike="noStrike" cap="none" normalizeH="0" baseline="0">
                        <a:ln>
                          <a:noFill/>
                        </a:ln>
                        <a:solidFill>
                          <a:schemeClr val="tx1"/>
                        </a:solidFill>
                        <a:effectLst/>
                        <a:latin typeface="Arial" charset="0"/>
                        <a:ea typeface="宋体" pitchFamily="2" charset="-122"/>
                      </a:endParaRP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持久性</a:t>
                      </a:r>
                      <a:endParaRPr kumimoji="1" lang="zh-CN" altLang="en-US" sz="2000" b="1" i="0" u="none" strike="noStrike" cap="none" normalizeH="0" baseline="0">
                        <a:ln>
                          <a:noFill/>
                        </a:ln>
                        <a:solidFill>
                          <a:schemeClr val="tx1"/>
                        </a:solidFill>
                        <a:effectLst/>
                        <a:latin typeface="Arial" charset="0"/>
                        <a:ea typeface="宋体" pitchFamily="2" charset="-122"/>
                      </a:endParaRP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0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参加人和联系人等信息需存储在数据库中</a:t>
                      </a:r>
                      <a:endParaRPr kumimoji="1" lang="zh-CN" altLang="en-US" sz="2000" b="1" i="0" u="none" strike="noStrike" cap="none" normalizeH="0" baseline="0">
                        <a:ln>
                          <a:noFill/>
                        </a:ln>
                        <a:solidFill>
                          <a:schemeClr val="tx1"/>
                        </a:solidFill>
                        <a:effectLst/>
                        <a:latin typeface="Arial" charset="0"/>
                        <a:ea typeface="宋体" pitchFamily="2" charset="-122"/>
                      </a:endParaRPr>
                    </a:p>
                  </a:txBody>
                  <a:tcPr marT="45717" marB="45717"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1B99F276-C1CB-4009-9362-B06C6995AE5B}" type="slidenum">
              <a:rPr lang="en-US" altLang="zh-CN" sz="1200" b="0">
                <a:solidFill>
                  <a:srgbClr val="4D4D4D"/>
                </a:solidFill>
                <a:latin typeface="Arial" charset="0"/>
              </a:rPr>
              <a:pPr eaLnBrk="1" hangingPunct="1"/>
              <a:t>90</a:t>
            </a:fld>
            <a:r>
              <a:rPr lang="en-US" altLang="zh-CN" sz="1200" b="0">
                <a:solidFill>
                  <a:srgbClr val="4D4D4D"/>
                </a:solidFill>
                <a:latin typeface="Arial" charset="0"/>
              </a:rPr>
              <a:t>-</a:t>
            </a:r>
          </a:p>
        </p:txBody>
      </p:sp>
      <p:sp>
        <p:nvSpPr>
          <p:cNvPr id="93187" name="Rectangle 2"/>
          <p:cNvSpPr>
            <a:spLocks noGrp="1" noChangeArrowheads="1"/>
          </p:cNvSpPr>
          <p:nvPr>
            <p:ph type="title"/>
          </p:nvPr>
        </p:nvSpPr>
        <p:spPr/>
        <p:txBody>
          <a:bodyPr/>
          <a:lstStyle/>
          <a:p>
            <a:pPr eaLnBrk="1" hangingPunct="1"/>
            <a:r>
              <a:rPr lang="zh-CN" altLang="en-US"/>
              <a:t>描述分析机制特性</a:t>
            </a:r>
            <a:endParaRPr lang="en-US" altLang="zh-CN"/>
          </a:p>
        </p:txBody>
      </p:sp>
      <p:graphicFrame>
        <p:nvGraphicFramePr>
          <p:cNvPr id="763037" name="Group 157"/>
          <p:cNvGraphicFramePr>
            <a:graphicFrameLocks noGrp="1"/>
          </p:cNvGraphicFramePr>
          <p:nvPr>
            <p:ph idx="1"/>
          </p:nvPr>
        </p:nvGraphicFramePr>
        <p:xfrm>
          <a:off x="1739901" y="1123950"/>
          <a:ext cx="8748713" cy="5337176"/>
        </p:xfrm>
        <a:graphic>
          <a:graphicData uri="http://schemas.openxmlformats.org/drawingml/2006/table">
            <a:tbl>
              <a:tblPr/>
              <a:tblGrid>
                <a:gridCol w="1160463">
                  <a:extLst>
                    <a:ext uri="{9D8B030D-6E8A-4147-A177-3AD203B41FA5}">
                      <a16:colId xmlns:a16="http://schemas.microsoft.com/office/drawing/2014/main" val="20000"/>
                    </a:ext>
                  </a:extLst>
                </a:gridCol>
                <a:gridCol w="1484312">
                  <a:extLst>
                    <a:ext uri="{9D8B030D-6E8A-4147-A177-3AD203B41FA5}">
                      <a16:colId xmlns:a16="http://schemas.microsoft.com/office/drawing/2014/main" val="20001"/>
                    </a:ext>
                  </a:extLst>
                </a:gridCol>
                <a:gridCol w="1482725">
                  <a:extLst>
                    <a:ext uri="{9D8B030D-6E8A-4147-A177-3AD203B41FA5}">
                      <a16:colId xmlns:a16="http://schemas.microsoft.com/office/drawing/2014/main" val="20002"/>
                    </a:ext>
                  </a:extLst>
                </a:gridCol>
                <a:gridCol w="4621213">
                  <a:extLst>
                    <a:ext uri="{9D8B030D-6E8A-4147-A177-3AD203B41FA5}">
                      <a16:colId xmlns:a16="http://schemas.microsoft.com/office/drawing/2014/main" val="20003"/>
                    </a:ext>
                  </a:extLst>
                </a:gridCol>
              </a:tblGrid>
              <a:tr h="615950">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类</a:t>
                      </a:r>
                      <a:endParaRPr kumimoji="1" lang="zh-CN" altLang="en-US" sz="2400" b="1"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分析机制</a:t>
                      </a:r>
                      <a:endParaRPr kumimoji="1" lang="zh-CN" altLang="en-US" sz="2400" b="1"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特征</a:t>
                      </a:r>
                      <a:endParaRPr kumimoji="1" lang="zh-CN" altLang="en-US" sz="2400" b="1"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特征值</a:t>
                      </a:r>
                      <a:endParaRPr kumimoji="1" lang="zh-CN" altLang="en-US" sz="2400" b="1" i="0" u="none" strike="noStrike" cap="none" normalizeH="0" baseline="0">
                        <a:ln>
                          <a:noFill/>
                        </a:ln>
                        <a:solidFill>
                          <a:schemeClr val="tx1"/>
                        </a:solidFill>
                        <a:effectLst/>
                        <a:latin typeface="Arial" charset="0"/>
                        <a:ea typeface="宋体" pitchFamily="2" charset="-122"/>
                      </a:endParaRPr>
                    </a:p>
                  </a:txBody>
                  <a:tcP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11188">
                <a:tc rowSpan="5">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申请类</a:t>
                      </a:r>
                      <a:endParaRPr kumimoji="1" lang="zh-CN" altLang="en-US" sz="2400" b="1"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rowSpan="5">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持久性</a:t>
                      </a:r>
                      <a:endParaRPr kumimoji="1" lang="zh-CN" altLang="en-US" sz="2400" b="1"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粒度</a:t>
                      </a:r>
                      <a:endParaRPr kumimoji="1" lang="zh-CN" altLang="en-US" sz="2400" b="1"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单个申请数据约</a:t>
                      </a: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a:t>
                      </a: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到</a:t>
                      </a: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5KB</a:t>
                      </a:r>
                      <a:endParaRPr kumimoji="1" lang="en-US" altLang="zh-CN" sz="2400" b="1"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22960">
                <a:tc vMerge="1">
                  <a:txBody>
                    <a:bodyPr/>
                    <a:lstStyle/>
                    <a:p>
                      <a:endParaRPr lang="zh-CN" altLang="en-US"/>
                    </a:p>
                  </a:txBody>
                  <a:tcPr/>
                </a:tc>
                <a:tc vMerge="1">
                  <a:txBody>
                    <a:bodyPr/>
                    <a:lstStyle/>
                    <a:p>
                      <a:endParaRPr lang="zh-CN" altLang="en-US"/>
                    </a:p>
                  </a:txBody>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容量</a:t>
                      </a:r>
                      <a:endParaRPr kumimoji="1" lang="zh-CN" altLang="en-US" sz="2400" b="1"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每天约</a:t>
                      </a: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1000</a:t>
                      </a: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个申请，高峰时约</a:t>
                      </a: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5000</a:t>
                      </a: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个</a:t>
                      </a:r>
                      <a:endParaRPr kumimoji="1" lang="zh-CN" altLang="en-US" sz="2400" b="1"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188720">
                <a:tc vMerge="1">
                  <a:txBody>
                    <a:bodyPr/>
                    <a:lstStyle/>
                    <a:p>
                      <a:endParaRPr lang="zh-CN" altLang="en-US"/>
                    </a:p>
                  </a:txBody>
                  <a:tcPr/>
                </a:tc>
                <a:tc vMerge="1">
                  <a:txBody>
                    <a:bodyPr/>
                    <a:lstStyle/>
                    <a:p>
                      <a:endParaRPr lang="zh-CN" altLang="en-US"/>
                    </a:p>
                  </a:txBody>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访问频率</a:t>
                      </a:r>
                      <a:endParaRPr kumimoji="1" lang="zh-CN" altLang="en-US" sz="2400" b="1"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tab pos="441325" algn="l"/>
                          <a:tab pos="533400" algn="l"/>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读取：每天</a:t>
                      </a: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5000</a:t>
                      </a: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次，写入：每天</a:t>
                      </a: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1000</a:t>
                      </a: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次，更新：每天</a:t>
                      </a: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1000</a:t>
                      </a: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次，删除：每天</a:t>
                      </a:r>
                      <a:r>
                        <a:rPr kumimoji="1" lang="en-US" altLang="zh-CN"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1000</a:t>
                      </a: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次</a:t>
                      </a:r>
                      <a:endParaRPr kumimoji="1" lang="zh-CN" altLang="en-US" sz="2400" b="1"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188720">
                <a:tc vMerge="1">
                  <a:txBody>
                    <a:bodyPr/>
                    <a:lstStyle/>
                    <a:p>
                      <a:endParaRPr lang="zh-CN" altLang="en-US"/>
                    </a:p>
                  </a:txBody>
                  <a:tcPr/>
                </a:tc>
                <a:tc vMerge="1">
                  <a:txBody>
                    <a:bodyPr/>
                    <a:lstStyle/>
                    <a:p>
                      <a:endParaRPr lang="zh-CN" altLang="en-US"/>
                    </a:p>
                  </a:txBody>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访问机制</a:t>
                      </a:r>
                      <a:endParaRPr kumimoji="1" lang="zh-CN" altLang="en-US" sz="2400" b="1"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主要按申请编号查询，也可能按申请日期、申请人、旅游团编号等信息进行查询</a:t>
                      </a:r>
                      <a:endParaRPr kumimoji="1" lang="zh-CN" altLang="en-US" sz="2400" b="1"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909638">
                <a:tc vMerge="1">
                  <a:txBody>
                    <a:bodyPr/>
                    <a:lstStyle/>
                    <a:p>
                      <a:endParaRPr lang="zh-CN" altLang="en-US"/>
                    </a:p>
                  </a:txBody>
                  <a:tcPr/>
                </a:tc>
                <a:tc vMerge="1">
                  <a:txBody>
                    <a:bodyPr/>
                    <a:lstStyle/>
                    <a:p>
                      <a:endParaRPr lang="zh-CN" altLang="en-US"/>
                    </a:p>
                  </a:txBody>
                  <a:tcPr/>
                </a:tc>
                <a:tc>
                  <a:txBody>
                    <a:body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存储时间</a:t>
                      </a:r>
                      <a:endParaRPr kumimoji="1" lang="zh-CN" altLang="en-US" sz="2400" b="1"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2400" b="1" i="0" u="none" strike="noStrike" cap="none" normalizeH="0" baseline="0">
                          <a:ln>
                            <a:noFill/>
                          </a:ln>
                          <a:solidFill>
                            <a:schemeClr val="tx1"/>
                          </a:solidFill>
                          <a:effectLst/>
                          <a:latin typeface="Times New Roman" pitchFamily="18" charset="0"/>
                          <a:ea typeface="宋体" pitchFamily="2" charset="-122"/>
                          <a:cs typeface="Times New Roman" pitchFamily="18" charset="0"/>
                        </a:rPr>
                        <a:t>永久保存，不删除；已完成的申请也需要保存历史信息</a:t>
                      </a:r>
                      <a:endParaRPr kumimoji="1" lang="zh-CN" altLang="en-US" sz="2400" b="1" i="0" u="none" strike="noStrike" cap="none" normalizeH="0" baseline="0">
                        <a:ln>
                          <a:noFill/>
                        </a:ln>
                        <a:solidFill>
                          <a:schemeClr val="tx1"/>
                        </a:solidFill>
                        <a:effectLst/>
                        <a:latin typeface="Arial" charset="0"/>
                        <a:ea typeface="宋体" pitchFamily="2" charset="-122"/>
                      </a:endParaRPr>
                    </a:p>
                  </a:txBody>
                  <a:tcPr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2F0B669E-1818-4F4C-A497-245CDF6C7523}" type="slidenum">
              <a:rPr lang="en-US" altLang="zh-CN" sz="1200" b="0">
                <a:solidFill>
                  <a:srgbClr val="4D4D4D"/>
                </a:solidFill>
                <a:latin typeface="Arial" charset="0"/>
              </a:rPr>
              <a:pPr eaLnBrk="1" hangingPunct="1"/>
              <a:t>91</a:t>
            </a:fld>
            <a:r>
              <a:rPr lang="en-US" altLang="zh-CN" sz="1200" b="0">
                <a:solidFill>
                  <a:srgbClr val="4D4D4D"/>
                </a:solidFill>
                <a:latin typeface="Arial" charset="0"/>
              </a:rPr>
              <a:t>-</a:t>
            </a:r>
          </a:p>
        </p:txBody>
      </p:sp>
      <p:sp>
        <p:nvSpPr>
          <p:cNvPr id="94211" name="Rectangle 2"/>
          <p:cNvSpPr>
            <a:spLocks noGrp="1" noChangeArrowheads="1"/>
          </p:cNvSpPr>
          <p:nvPr>
            <p:ph type="title"/>
          </p:nvPr>
        </p:nvSpPr>
        <p:spPr/>
        <p:txBody>
          <a:bodyPr/>
          <a:lstStyle/>
          <a:p>
            <a:pPr eaLnBrk="1" hangingPunct="1"/>
            <a:r>
              <a:rPr lang="en-US" altLang="zh-CN"/>
              <a:t>5.</a:t>
            </a:r>
            <a:r>
              <a:rPr lang="zh-CN" altLang="en-US"/>
              <a:t>统一分析类</a:t>
            </a:r>
            <a:endParaRPr lang="en-US" altLang="zh-CN"/>
          </a:p>
        </p:txBody>
      </p:sp>
      <p:sp>
        <p:nvSpPr>
          <p:cNvPr id="94212" name="Rectangle 3"/>
          <p:cNvSpPr>
            <a:spLocks noGrp="1" noChangeArrowheads="1"/>
          </p:cNvSpPr>
          <p:nvPr>
            <p:ph type="body" idx="1"/>
          </p:nvPr>
        </p:nvSpPr>
        <p:spPr/>
        <p:txBody>
          <a:bodyPr/>
          <a:lstStyle/>
          <a:p>
            <a:pPr eaLnBrk="1" hangingPunct="1"/>
            <a:r>
              <a:rPr kumimoji="0" lang="zh-CN" altLang="en-US"/>
              <a:t>类</a:t>
            </a:r>
            <a:r>
              <a:rPr lang="zh-CN" altLang="en-US"/>
              <a:t>体现了系统的静态结构，通过分析类图体现软件静态结构</a:t>
            </a:r>
            <a:endParaRPr lang="en-US" altLang="zh-CN"/>
          </a:p>
          <a:p>
            <a:pPr eaLnBrk="1" hangingPunct="1"/>
            <a:r>
              <a:rPr lang="zh-CN" altLang="en-US"/>
              <a:t>统一分析类的目的是确保每个分析类表示一个单一的明确定义的概念，而不会职责重叠</a:t>
            </a:r>
          </a:p>
          <a:p>
            <a:pPr eaLnBrk="1" hangingPunct="1"/>
            <a:r>
              <a:rPr lang="zh-CN" altLang="en-US"/>
              <a:t>在分析工作完成之前，需要过滤分析类以确保创建最小数量的新概念</a:t>
            </a:r>
            <a:endParaRPr lang="en-US" altLang="zh-CN"/>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C639CF81-C23F-44B5-9395-3CA1A5D61C45}" type="slidenum">
              <a:rPr lang="en-US" altLang="zh-CN" sz="1200" b="0">
                <a:solidFill>
                  <a:srgbClr val="4D4D4D"/>
                </a:solidFill>
                <a:latin typeface="Arial" charset="0"/>
              </a:rPr>
              <a:pPr eaLnBrk="1" hangingPunct="1"/>
              <a:t>92</a:t>
            </a:fld>
            <a:r>
              <a:rPr lang="en-US" altLang="zh-CN" sz="1200" b="0">
                <a:solidFill>
                  <a:srgbClr val="4D4D4D"/>
                </a:solidFill>
                <a:latin typeface="Arial" charset="0"/>
              </a:rPr>
              <a:t>-</a:t>
            </a:r>
          </a:p>
        </p:txBody>
      </p:sp>
      <p:sp>
        <p:nvSpPr>
          <p:cNvPr id="95235" name="Rectangle 2"/>
          <p:cNvSpPr>
            <a:spLocks noGrp="1" noChangeArrowheads="1"/>
          </p:cNvSpPr>
          <p:nvPr>
            <p:ph type="title"/>
          </p:nvPr>
        </p:nvSpPr>
        <p:spPr/>
        <p:txBody>
          <a:bodyPr/>
          <a:lstStyle/>
          <a:p>
            <a:pPr eaLnBrk="1" hangingPunct="1"/>
            <a:r>
              <a:rPr lang="zh-CN" altLang="en-US"/>
              <a:t>示例：统一分析类</a:t>
            </a:r>
            <a:endParaRPr lang="en-US" altLang="zh-CN"/>
          </a:p>
        </p:txBody>
      </p:sp>
      <p:pic>
        <p:nvPicPr>
          <p:cNvPr id="95236"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2314" y="981075"/>
            <a:ext cx="8351837" cy="505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6258"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F77553F5-7C94-43BE-8767-9D3D6F6A369F}" type="slidenum">
              <a:rPr lang="en-US" altLang="zh-CN" sz="1200" b="0">
                <a:solidFill>
                  <a:srgbClr val="4D4D4D"/>
                </a:solidFill>
                <a:latin typeface="Arial" charset="0"/>
              </a:rPr>
              <a:pPr eaLnBrk="1" hangingPunct="1"/>
              <a:t>93</a:t>
            </a:fld>
            <a:r>
              <a:rPr lang="en-US" altLang="zh-CN" sz="1200" b="0">
                <a:solidFill>
                  <a:srgbClr val="4D4D4D"/>
                </a:solidFill>
                <a:latin typeface="Arial" charset="0"/>
              </a:rPr>
              <a:t>-</a:t>
            </a:r>
          </a:p>
        </p:txBody>
      </p:sp>
      <p:sp>
        <p:nvSpPr>
          <p:cNvPr id="96259" name="Rectangle 2"/>
          <p:cNvSpPr>
            <a:spLocks noGrp="1" noChangeArrowheads="1"/>
          </p:cNvSpPr>
          <p:nvPr>
            <p:ph type="title"/>
          </p:nvPr>
        </p:nvSpPr>
        <p:spPr/>
        <p:txBody>
          <a:bodyPr/>
          <a:lstStyle/>
          <a:p>
            <a:pPr eaLnBrk="1" hangingPunct="1"/>
            <a:r>
              <a:rPr lang="zh-CN" altLang="en-US"/>
              <a:t>再说分析类图</a:t>
            </a:r>
          </a:p>
        </p:txBody>
      </p:sp>
      <p:sp>
        <p:nvSpPr>
          <p:cNvPr id="766979" name="Rectangle 3"/>
          <p:cNvSpPr>
            <a:spLocks noGrp="1" noChangeArrowheads="1"/>
          </p:cNvSpPr>
          <p:nvPr>
            <p:ph type="body" idx="1"/>
          </p:nvPr>
        </p:nvSpPr>
        <p:spPr/>
        <p:txBody>
          <a:bodyPr/>
          <a:lstStyle/>
          <a:p>
            <a:pPr eaLnBrk="1" hangingPunct="1"/>
            <a:r>
              <a:rPr lang="zh-CN" altLang="en-US"/>
              <a:t>分析阶段的重点在于找出体现系统核心业务所需数据的实体类，而界面和业务逻辑细节分别由边界类和控制类隐藏</a:t>
            </a:r>
          </a:p>
          <a:p>
            <a:pPr eaLnBrk="1" hangingPunct="1"/>
            <a:r>
              <a:rPr lang="zh-CN" altLang="en-US"/>
              <a:t>在很多</a:t>
            </a:r>
            <a:r>
              <a:rPr lang="en-US" altLang="zh-CN"/>
              <a:t>UML</a:t>
            </a:r>
            <a:r>
              <a:rPr lang="zh-CN" altLang="en-US"/>
              <a:t>模型中，分析阶段的工作就是找到这些实体类</a:t>
            </a:r>
          </a:p>
          <a:p>
            <a:pPr eaLnBrk="1" hangingPunct="1"/>
            <a:r>
              <a:rPr lang="zh-CN" altLang="en-US"/>
              <a:t>这些实体类组成系统概念模型</a:t>
            </a:r>
            <a:r>
              <a:rPr lang="en-US" altLang="zh-CN"/>
              <a:t>(</a:t>
            </a:r>
            <a:r>
              <a:rPr lang="zh-CN" altLang="en-US"/>
              <a:t>分析类图</a:t>
            </a:r>
            <a:r>
              <a:rPr lang="en-US" altLang="zh-CN"/>
              <a:t>)</a:t>
            </a:r>
          </a:p>
          <a:p>
            <a:pPr eaLnBrk="1" hangingPunct="1"/>
            <a:r>
              <a:rPr lang="zh-CN" altLang="en-US"/>
              <a:t>通过各个用例的</a:t>
            </a:r>
            <a:r>
              <a:rPr lang="en-US" altLang="zh-CN"/>
              <a:t>VOPC</a:t>
            </a:r>
            <a:r>
              <a:rPr lang="zh-CN" altLang="en-US"/>
              <a:t>图，删除那些没有引用的实体类，即可得到由实体类组成的分析类图，这些是分析的关键</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766979">
                                            <p:txEl>
                                              <p:pRg st="0" end="0"/>
                                            </p:txEl>
                                          </p:spTgt>
                                        </p:tgtEl>
                                        <p:attrNameLst>
                                          <p:attrName>style.visibility</p:attrName>
                                        </p:attrNameLst>
                                      </p:cBhvr>
                                      <p:to>
                                        <p:strVal val="visible"/>
                                      </p:to>
                                    </p:set>
                                    <p:animEffect transition="in" filter="dissolve">
                                      <p:cBhvr>
                                        <p:cTn id="7" dur="500"/>
                                        <p:tgtEl>
                                          <p:spTgt spid="76697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766979">
                                            <p:txEl>
                                              <p:pRg st="1" end="1"/>
                                            </p:txEl>
                                          </p:spTgt>
                                        </p:tgtEl>
                                        <p:attrNameLst>
                                          <p:attrName>style.visibility</p:attrName>
                                        </p:attrNameLst>
                                      </p:cBhvr>
                                      <p:to>
                                        <p:strVal val="visible"/>
                                      </p:to>
                                    </p:set>
                                    <p:animEffect transition="in" filter="dissolve">
                                      <p:cBhvr>
                                        <p:cTn id="12" dur="500"/>
                                        <p:tgtEl>
                                          <p:spTgt spid="76697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766979">
                                            <p:txEl>
                                              <p:pRg st="2" end="2"/>
                                            </p:txEl>
                                          </p:spTgt>
                                        </p:tgtEl>
                                        <p:attrNameLst>
                                          <p:attrName>style.visibility</p:attrName>
                                        </p:attrNameLst>
                                      </p:cBhvr>
                                      <p:to>
                                        <p:strVal val="visible"/>
                                      </p:to>
                                    </p:set>
                                    <p:animEffect transition="in" filter="dissolve">
                                      <p:cBhvr>
                                        <p:cTn id="17" dur="500"/>
                                        <p:tgtEl>
                                          <p:spTgt spid="76697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766979">
                                            <p:txEl>
                                              <p:pRg st="3" end="3"/>
                                            </p:txEl>
                                          </p:spTgt>
                                        </p:tgtEl>
                                        <p:attrNameLst>
                                          <p:attrName>style.visibility</p:attrName>
                                        </p:attrNameLst>
                                      </p:cBhvr>
                                      <p:to>
                                        <p:strVal val="visible"/>
                                      </p:to>
                                    </p:set>
                                    <p:animEffect transition="in" filter="dissolve">
                                      <p:cBhvr>
                                        <p:cTn id="22" dur="500"/>
                                        <p:tgtEl>
                                          <p:spTgt spid="76697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6979"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灯片编号占位符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b="1">
                <a:solidFill>
                  <a:schemeClr val="tx1"/>
                </a:solidFill>
                <a:latin typeface="Tahoma" pitchFamily="34" charset="0"/>
                <a:ea typeface="宋体" pitchFamily="2" charset="-122"/>
              </a:defRPr>
            </a:lvl1pPr>
            <a:lvl2pPr marL="742950" indent="-285750" eaLnBrk="0" hangingPunct="0">
              <a:defRPr kumimoji="1" sz="2400" b="1">
                <a:solidFill>
                  <a:schemeClr val="tx1"/>
                </a:solidFill>
                <a:latin typeface="Tahoma" pitchFamily="34" charset="0"/>
                <a:ea typeface="宋体" pitchFamily="2" charset="-122"/>
              </a:defRPr>
            </a:lvl2pPr>
            <a:lvl3pPr marL="1143000" indent="-228600" eaLnBrk="0" hangingPunct="0">
              <a:defRPr kumimoji="1" sz="2400" b="1">
                <a:solidFill>
                  <a:schemeClr val="tx1"/>
                </a:solidFill>
                <a:latin typeface="Tahoma" pitchFamily="34" charset="0"/>
                <a:ea typeface="宋体" pitchFamily="2" charset="-122"/>
              </a:defRPr>
            </a:lvl3pPr>
            <a:lvl4pPr marL="1600200" indent="-228600" eaLnBrk="0" hangingPunct="0">
              <a:defRPr kumimoji="1" sz="2400" b="1">
                <a:solidFill>
                  <a:schemeClr val="tx1"/>
                </a:solidFill>
                <a:latin typeface="Tahoma" pitchFamily="34" charset="0"/>
                <a:ea typeface="宋体" pitchFamily="2" charset="-122"/>
              </a:defRPr>
            </a:lvl4pPr>
            <a:lvl5pPr marL="2057400" indent="-228600" eaLnBrk="0" hangingPunct="0">
              <a:defRPr kumimoji="1" sz="2400" b="1">
                <a:solidFill>
                  <a:schemeClr val="tx1"/>
                </a:solidFill>
                <a:latin typeface="Tahoma" pitchFamily="34" charset="0"/>
                <a:ea typeface="宋体" pitchFamily="2" charset="-122"/>
              </a:defRPr>
            </a:lvl5pPr>
            <a:lvl6pPr marL="2514600" indent="-228600" eaLnBrk="0" fontAlgn="base" hangingPunct="0">
              <a:spcBef>
                <a:spcPct val="0"/>
              </a:spcBef>
              <a:spcAft>
                <a:spcPct val="0"/>
              </a:spcAft>
              <a:defRPr kumimoji="1" sz="2400" b="1">
                <a:solidFill>
                  <a:schemeClr val="tx1"/>
                </a:solidFill>
                <a:latin typeface="Tahoma" pitchFamily="34" charset="0"/>
                <a:ea typeface="宋体" pitchFamily="2" charset="-122"/>
              </a:defRPr>
            </a:lvl6pPr>
            <a:lvl7pPr marL="2971800" indent="-228600" eaLnBrk="0" fontAlgn="base" hangingPunct="0">
              <a:spcBef>
                <a:spcPct val="0"/>
              </a:spcBef>
              <a:spcAft>
                <a:spcPct val="0"/>
              </a:spcAft>
              <a:defRPr kumimoji="1" sz="2400" b="1">
                <a:solidFill>
                  <a:schemeClr val="tx1"/>
                </a:solidFill>
                <a:latin typeface="Tahoma" pitchFamily="34" charset="0"/>
                <a:ea typeface="宋体" pitchFamily="2" charset="-122"/>
              </a:defRPr>
            </a:lvl7pPr>
            <a:lvl8pPr marL="3429000" indent="-228600" eaLnBrk="0" fontAlgn="base" hangingPunct="0">
              <a:spcBef>
                <a:spcPct val="0"/>
              </a:spcBef>
              <a:spcAft>
                <a:spcPct val="0"/>
              </a:spcAft>
              <a:defRPr kumimoji="1" sz="2400" b="1">
                <a:solidFill>
                  <a:schemeClr val="tx1"/>
                </a:solidFill>
                <a:latin typeface="Tahoma" pitchFamily="34" charset="0"/>
                <a:ea typeface="宋体" pitchFamily="2" charset="-122"/>
              </a:defRPr>
            </a:lvl8pPr>
            <a:lvl9pPr marL="3886200" indent="-228600" eaLnBrk="0" fontAlgn="base" hangingPunct="0">
              <a:spcBef>
                <a:spcPct val="0"/>
              </a:spcBef>
              <a:spcAft>
                <a:spcPct val="0"/>
              </a:spcAft>
              <a:defRPr kumimoji="1" sz="2400" b="1">
                <a:solidFill>
                  <a:schemeClr val="tx1"/>
                </a:solidFill>
                <a:latin typeface="Tahoma" pitchFamily="34" charset="0"/>
                <a:ea typeface="宋体" pitchFamily="2" charset="-122"/>
              </a:defRPr>
            </a:lvl9pPr>
          </a:lstStyle>
          <a:p>
            <a:pPr eaLnBrk="1" hangingPunct="1"/>
            <a:r>
              <a:rPr lang="en-US" altLang="zh-CN" sz="1200" b="0">
                <a:solidFill>
                  <a:srgbClr val="4D4D4D"/>
                </a:solidFill>
                <a:latin typeface="Arial" charset="0"/>
              </a:rPr>
              <a:t>-</a:t>
            </a:r>
            <a:fld id="{2D96BDBE-A332-432E-82D1-228861A14044}" type="slidenum">
              <a:rPr lang="en-US" altLang="zh-CN" sz="1200" b="0">
                <a:solidFill>
                  <a:srgbClr val="4D4D4D"/>
                </a:solidFill>
                <a:latin typeface="Arial" charset="0"/>
              </a:rPr>
              <a:pPr eaLnBrk="1" hangingPunct="1"/>
              <a:t>94</a:t>
            </a:fld>
            <a:r>
              <a:rPr lang="en-US" altLang="zh-CN" sz="1200" b="0">
                <a:solidFill>
                  <a:srgbClr val="4D4D4D"/>
                </a:solidFill>
                <a:latin typeface="Arial" charset="0"/>
              </a:rPr>
              <a:t>-</a:t>
            </a:r>
          </a:p>
        </p:txBody>
      </p:sp>
      <p:sp>
        <p:nvSpPr>
          <p:cNvPr id="98307" name="Rectangle 2"/>
          <p:cNvSpPr>
            <a:spLocks noGrp="1" noChangeArrowheads="1"/>
          </p:cNvSpPr>
          <p:nvPr>
            <p:ph type="title"/>
          </p:nvPr>
        </p:nvSpPr>
        <p:spPr>
          <a:xfrm>
            <a:off x="2047876" y="260350"/>
            <a:ext cx="8620125" cy="647700"/>
          </a:xfrm>
        </p:spPr>
        <p:txBody>
          <a:bodyPr/>
          <a:lstStyle/>
          <a:p>
            <a:pPr eaLnBrk="1" hangingPunct="1"/>
            <a:r>
              <a:rPr kumimoji="0" lang="zh-CN" altLang="en-US"/>
              <a:t>实例：旅游申请</a:t>
            </a:r>
            <a:r>
              <a:rPr lang="zh-CN" altLang="en-US"/>
              <a:t>系统实体类类图</a:t>
            </a:r>
          </a:p>
        </p:txBody>
      </p:sp>
      <p:pic>
        <p:nvPicPr>
          <p:cNvPr id="9830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2313" y="946151"/>
            <a:ext cx="7848600" cy="557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2"/>
          <p:cNvSpPr>
            <a:spLocks noGrp="1" noChangeArrowheads="1"/>
          </p:cNvSpPr>
          <p:nvPr>
            <p:ph type="ctrTitle"/>
          </p:nvPr>
        </p:nvSpPr>
        <p:spPr>
          <a:xfrm>
            <a:off x="2206625" y="1928816"/>
            <a:ext cx="7772400" cy="1755775"/>
          </a:xfrm>
        </p:spPr>
        <p:txBody>
          <a:bodyPr/>
          <a:lstStyle/>
          <a:p>
            <a:pPr eaLnBrk="1" hangingPunct="1">
              <a:defRPr/>
            </a:pPr>
            <a:r>
              <a:rPr lang="zh-CN" altLang="en-US" sz="8800" dirty="0"/>
              <a:t>谢 谢</a:t>
            </a:r>
            <a:r>
              <a:rPr lang="en-US" altLang="zh-CN" sz="8800" dirty="0"/>
              <a:t>!</a:t>
            </a:r>
            <a:endParaRPr lang="zh-CN" altLang="en-US" sz="8800" dirty="0"/>
          </a:p>
        </p:txBody>
      </p:sp>
      <p:sp>
        <p:nvSpPr>
          <p:cNvPr id="114691" name="Rectangle 3"/>
          <p:cNvSpPr>
            <a:spLocks noGrp="1" noChangeArrowheads="1"/>
          </p:cNvSpPr>
          <p:nvPr>
            <p:ph type="subTitle" idx="1"/>
          </p:nvPr>
        </p:nvSpPr>
        <p:spPr/>
        <p:txBody>
          <a:bodyPr/>
          <a:lstStyle/>
          <a:p>
            <a:pPr eaLnBrk="1" hangingPunct="1"/>
            <a:endParaRPr lang="zh-CN" altLang="en-US" dirty="0"/>
          </a:p>
        </p:txBody>
      </p:sp>
    </p:spTree>
  </p:cSld>
  <p:clrMapOvr>
    <a:masterClrMapping/>
  </p:clrMapOvr>
  <p:transition>
    <p:zoom/>
  </p:transition>
</p:sld>
</file>

<file path=ppt/theme/theme1.xml><?xml version="1.0" encoding="utf-8"?>
<a:theme xmlns:a="http://schemas.openxmlformats.org/drawingml/2006/main" name="模板">
  <a:themeElements>
    <a:clrScheme name="模板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模板">
      <a:majorFont>
        <a:latin typeface="Tahoma"/>
        <a:ea typeface="幼圆"/>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sz="2400" b="1" i="0" u="none" strike="noStrike" cap="none" normalizeH="0" baseline="0" smtClean="0">
            <a:ln>
              <a:noFill/>
            </a:ln>
            <a:solidFill>
              <a:schemeClr val="tx1"/>
            </a:solidFill>
            <a:effectLst/>
            <a:latin typeface="Tahom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miter lim="800000"/>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sz="2400" b="1" i="0" u="none" strike="noStrike" cap="none" normalizeH="0" baseline="0" smtClean="0">
            <a:ln>
              <a:noFill/>
            </a:ln>
            <a:solidFill>
              <a:schemeClr val="tx1"/>
            </a:solidFill>
            <a:effectLst/>
            <a:latin typeface="Tahoma" pitchFamily="34" charset="0"/>
            <a:ea typeface="宋体" pitchFamily="2" charset="-122"/>
          </a:defRPr>
        </a:defPPr>
      </a:lstStyle>
    </a:lnDef>
  </a:objectDefaults>
  <a:extraClrSchemeLst>
    <a:extraClrScheme>
      <a:clrScheme name="模板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模板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模板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模板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模板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模板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模板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1294</TotalTime>
  <Words>5042</Words>
  <Application>Microsoft Office PowerPoint</Application>
  <PresentationFormat>宽屏</PresentationFormat>
  <Paragraphs>599</Paragraphs>
  <Slides>95</Slides>
  <Notes>12</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95</vt:i4>
      </vt:variant>
    </vt:vector>
  </HeadingPairs>
  <TitlesOfParts>
    <vt:vector size="106" baseType="lpstr">
      <vt:lpstr>华文楷体</vt:lpstr>
      <vt:lpstr>隶书</vt:lpstr>
      <vt:lpstr>宋体</vt:lpstr>
      <vt:lpstr>微软雅黑</vt:lpstr>
      <vt:lpstr>幼圆</vt:lpstr>
      <vt:lpstr>Arial</vt:lpstr>
      <vt:lpstr>Monotype Corsiva</vt:lpstr>
      <vt:lpstr>Tahoma</vt:lpstr>
      <vt:lpstr>Times New Roman</vt:lpstr>
      <vt:lpstr>Wingdings</vt:lpstr>
      <vt:lpstr>模板</vt:lpstr>
      <vt:lpstr>UML2面向对象分析与设计 Object-Oriented Analysis &amp; Design with UML2</vt:lpstr>
      <vt:lpstr>学习路线图</vt:lpstr>
      <vt:lpstr>第05章 用例分析</vt:lpstr>
      <vt:lpstr>内容安排</vt:lpstr>
      <vt:lpstr>内容安排</vt:lpstr>
      <vt:lpstr>分析</vt:lpstr>
      <vt:lpstr>从需求到分析</vt:lpstr>
      <vt:lpstr>分析与需求的关系</vt:lpstr>
      <vt:lpstr>分析的”度”</vt:lpstr>
      <vt:lpstr>把握分析的“度”</vt:lpstr>
      <vt:lpstr>内容安排</vt:lpstr>
      <vt:lpstr>如何开始分析？</vt:lpstr>
      <vt:lpstr>分析模型与用例模型</vt:lpstr>
      <vt:lpstr>从用例开始分析迭代</vt:lpstr>
      <vt:lpstr>利用早期迭代建立软件架构</vt:lpstr>
      <vt:lpstr>定义良好的迭代周期</vt:lpstr>
      <vt:lpstr>分析阶段的用例—用例实现</vt:lpstr>
      <vt:lpstr>创建用例实现</vt:lpstr>
      <vt:lpstr>实例-旅店预订系统的迭代和用例实现</vt:lpstr>
      <vt:lpstr>实例-旅游申请系统迭代1</vt:lpstr>
      <vt:lpstr>内容安排</vt:lpstr>
      <vt:lpstr>架构分析</vt:lpstr>
      <vt:lpstr>1.定义备选架构</vt:lpstr>
      <vt:lpstr>备选架构模式</vt:lpstr>
      <vt:lpstr>分层架构动机</vt:lpstr>
      <vt:lpstr>分析阶段备选分层架构B-C-E</vt:lpstr>
      <vt:lpstr>B-C-E三层架构解析</vt:lpstr>
      <vt:lpstr>2.架构机制</vt:lpstr>
      <vt:lpstr>为什么使用分析机制</vt:lpstr>
      <vt:lpstr>常见的分析机制</vt:lpstr>
      <vt:lpstr>分析机制特性</vt:lpstr>
      <vt:lpstr>3.关键抽象</vt:lpstr>
      <vt:lpstr>旅游申请系统中的关键抽象</vt:lpstr>
      <vt:lpstr>内容安排</vt:lpstr>
      <vt:lpstr>构造用例实现</vt:lpstr>
      <vt:lpstr>1.完善用例文档</vt:lpstr>
      <vt:lpstr>示例：完善用例文档</vt:lpstr>
      <vt:lpstr>2. 从用例行为中识别分析类</vt:lpstr>
      <vt:lpstr>分析类：达成目标的第一步</vt:lpstr>
      <vt:lpstr>什么是分析类</vt:lpstr>
      <vt:lpstr>边界类</vt:lpstr>
      <vt:lpstr>示例：识别边界类</vt:lpstr>
      <vt:lpstr>控制类</vt:lpstr>
      <vt:lpstr>示例：识别控制类</vt:lpstr>
      <vt:lpstr>实体类</vt:lpstr>
      <vt:lpstr>识别实体类</vt:lpstr>
      <vt:lpstr>指南：名词筛选法识别实体类</vt:lpstr>
      <vt:lpstr>识别实体类</vt:lpstr>
      <vt:lpstr>示例：候选实体类</vt:lpstr>
      <vt:lpstr>示例：总结：分析类</vt:lpstr>
      <vt:lpstr>总结：从用例中识别分析类</vt:lpstr>
      <vt:lpstr>实例-旅店预订系统中识别分析类</vt:lpstr>
      <vt:lpstr>实例-旅游申请系统中的分析类</vt:lpstr>
      <vt:lpstr>3. 将用例行为分配给类</vt:lpstr>
      <vt:lpstr>顺序图Sequence Diagram</vt:lpstr>
      <vt:lpstr>顺序图剖析</vt:lpstr>
      <vt:lpstr>利用顺序图进行职责分配</vt:lpstr>
      <vt:lpstr>指南：将职责分配到分析类</vt:lpstr>
      <vt:lpstr>指南：将职责分配到分析类(续)</vt:lpstr>
      <vt:lpstr>实例：进行职责分配</vt:lpstr>
      <vt:lpstr>实例：进行职责分配</vt:lpstr>
      <vt:lpstr>顺序图中的交互片段</vt:lpstr>
      <vt:lpstr>常见的交互片段</vt:lpstr>
      <vt:lpstr>使用循环交互片段</vt:lpstr>
      <vt:lpstr>通过多个交互图分析用例</vt:lpstr>
      <vt:lpstr>4. VOPC图</vt:lpstr>
      <vt:lpstr>实例：绘制VOPC类图</vt:lpstr>
      <vt:lpstr>实例：绘制VOPC类图</vt:lpstr>
      <vt:lpstr>5. 处理用例间的关系</vt:lpstr>
      <vt:lpstr>处理用例间的关系</vt:lpstr>
      <vt:lpstr>内容安排</vt:lpstr>
      <vt:lpstr>定义分析类</vt:lpstr>
      <vt:lpstr>定义分析类的过程</vt:lpstr>
      <vt:lpstr>1. 定义分析类的职责</vt:lpstr>
      <vt:lpstr>实例：利用分析操作表示职责</vt:lpstr>
      <vt:lpstr>利用文本方式描述职责</vt:lpstr>
      <vt:lpstr>保持类职责的一致性</vt:lpstr>
      <vt:lpstr>2. 定义分析类的属性</vt:lpstr>
      <vt:lpstr>实例：为分析类添加属性</vt:lpstr>
      <vt:lpstr>3. 定义分析类的关系</vt:lpstr>
      <vt:lpstr>3.1 关联关系</vt:lpstr>
      <vt:lpstr>实例：实体类之间的关联关系 </vt:lpstr>
      <vt:lpstr>细化关联关系</vt:lpstr>
      <vt:lpstr>自反关联</vt:lpstr>
      <vt:lpstr>关联类</vt:lpstr>
      <vt:lpstr>3.2 聚合关系</vt:lpstr>
      <vt:lpstr>3.3 泛化关系</vt:lpstr>
      <vt:lpstr>实例：实体类间的聚合和泛化 </vt:lpstr>
      <vt:lpstr>4. 限定分析机制</vt:lpstr>
      <vt:lpstr>描述分析机制特性</vt:lpstr>
      <vt:lpstr>5.统一分析类</vt:lpstr>
      <vt:lpstr>示例：统一分析类</vt:lpstr>
      <vt:lpstr>再说分析类图</vt:lpstr>
      <vt:lpstr>实例：旅游申请系统实体类类图</vt:lpstr>
      <vt:lpstr>谢 谢!</vt:lpstr>
    </vt:vector>
  </TitlesOfParts>
  <Company>buaa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面向对象分析设计课程讲义</dc:title>
  <dc:creator>thbin</dc:creator>
  <cp:lastModifiedBy>Tan Huobin</cp:lastModifiedBy>
  <cp:revision>441</cp:revision>
  <cp:lastPrinted>1601-01-01T00:00:00Z</cp:lastPrinted>
  <dcterms:created xsi:type="dcterms:W3CDTF">2005-09-05T02:45:08Z</dcterms:created>
  <dcterms:modified xsi:type="dcterms:W3CDTF">2020-03-15T09:17:22Z</dcterms:modified>
  <cp:category>UML</cp:category>
</cp:coreProperties>
</file>