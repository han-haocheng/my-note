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5" r:id="rId4"/>
    <p:sldMasterId id="2147483687" r:id="rId5"/>
    <p:sldMasterId id="2147483699" r:id="rId6"/>
    <p:sldMasterId id="2147483711" r:id="rId7"/>
    <p:sldMasterId id="2147483723" r:id="rId8"/>
    <p:sldMasterId id="2147483735" r:id="rId9"/>
  </p:sldMasterIdLst>
  <p:notesMasterIdLst>
    <p:notesMasterId r:id="rId36"/>
  </p:notesMasterIdLst>
  <p:sldIdLst>
    <p:sldId id="940" r:id="rId10"/>
    <p:sldId id="941" r:id="rId11"/>
    <p:sldId id="966" r:id="rId12"/>
    <p:sldId id="942" r:id="rId13"/>
    <p:sldId id="943" r:id="rId14"/>
    <p:sldId id="945" r:id="rId15"/>
    <p:sldId id="946" r:id="rId16"/>
    <p:sldId id="947" r:id="rId17"/>
    <p:sldId id="948" r:id="rId18"/>
    <p:sldId id="949" r:id="rId19"/>
    <p:sldId id="950" r:id="rId20"/>
    <p:sldId id="951" r:id="rId21"/>
    <p:sldId id="952" r:id="rId22"/>
    <p:sldId id="953" r:id="rId23"/>
    <p:sldId id="954" r:id="rId24"/>
    <p:sldId id="955" r:id="rId25"/>
    <p:sldId id="956" r:id="rId26"/>
    <p:sldId id="964" r:id="rId27"/>
    <p:sldId id="957" r:id="rId28"/>
    <p:sldId id="958" r:id="rId29"/>
    <p:sldId id="959" r:id="rId30"/>
    <p:sldId id="960" r:id="rId31"/>
    <p:sldId id="961" r:id="rId32"/>
    <p:sldId id="962" r:id="rId33"/>
    <p:sldId id="963" r:id="rId34"/>
    <p:sldId id="939" r:id="rId35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333399"/>
        </a:solidFill>
        <a:latin typeface="Arial" panose="020B060402020202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CFDFE3"/>
    <a:srgbClr val="F0F3F4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20000"/>
              </a:spcBef>
              <a:buFontTx/>
              <a:buChar char="•"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20000"/>
              </a:spcBef>
              <a:buFontTx/>
              <a:buChar char="•"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D39886BD-9A57-4E6F-ACFE-C5238C4E3D94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幼圆" panose="02010509060101010101" pitchFamily="49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20000"/>
              </a:spcBef>
              <a:buFontTx/>
              <a:buChar char="•"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20000"/>
              </a:spcBef>
              <a:buFontTx/>
              <a:buChar char="•"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FC5A78E6-6BC6-4260-839F-30AF12F31766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幼圆" panose="02010509060101010101" pitchFamily="49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7"/>
          <p:cNvSpPr>
            <a:spLocks noChangeArrowheads="1"/>
          </p:cNvSpPr>
          <p:nvPr/>
        </p:nvSpPr>
        <p:spPr bwMode="white">
          <a:xfrm>
            <a:off x="304800" y="228600"/>
            <a:ext cx="1625600" cy="12192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36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1200" y="2514600"/>
            <a:ext cx="10668000" cy="9144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19200" y="3429000"/>
            <a:ext cx="94488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553200"/>
            <a:ext cx="28448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53200"/>
            <a:ext cx="38608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553200"/>
            <a:ext cx="28448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211" y="1214422"/>
            <a:ext cx="10972800" cy="4876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38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38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319088"/>
            <a:ext cx="27432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19088"/>
            <a:ext cx="80264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19088"/>
            <a:ext cx="109728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447800"/>
            <a:ext cx="10972800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19088"/>
            <a:ext cx="109728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5384800" cy="4876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384800" cy="4876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29405" y="203200"/>
            <a:ext cx="11137900" cy="704645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511953" y="1125538"/>
            <a:ext cx="10972800" cy="500062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Tx/>
              <a:buChar char="•"/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C99361-96B5-444D-9C84-2C819DA14B5C}" type="datetime1"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幼圆" panose="02010509060101010101" pitchFamily="49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Tx/>
              <a:buChar char="•"/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4470400" y="6480175"/>
            <a:ext cx="28448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BB0454-E397-4BD4-8D56-A73ADE374B5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01" name="Rectangle 5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637117" y="2481263"/>
            <a:ext cx="6197600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137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508000" y="1371600"/>
            <a:ext cx="10871200" cy="762000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09600" y="6477000"/>
            <a:ext cx="2844800" cy="2444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7823200" y="6477000"/>
            <a:ext cx="3860800" cy="2444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 b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4572000" y="6477000"/>
            <a:ext cx="2844800" cy="2444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2A2351-ABFD-46FE-9A3A-F4FDCE2AA3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5130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76400"/>
            <a:ext cx="5130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3000" y="533400"/>
            <a:ext cx="26162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533400"/>
            <a:ext cx="76454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/>
          <p:nvPr/>
        </p:nvGrpSpPr>
        <p:grpSpPr>
          <a:xfrm>
            <a:off x="503238" y="1676400"/>
            <a:ext cx="11187112" cy="4421188"/>
            <a:chOff x="238" y="1056"/>
            <a:chExt cx="5285" cy="2785"/>
          </a:xfrm>
        </p:grpSpPr>
        <p:grpSp>
          <p:nvGrpSpPr>
            <p:cNvPr id="12296" name="Group 3"/>
            <p:cNvGrpSpPr/>
            <p:nvPr/>
          </p:nvGrpSpPr>
          <p:grpSpPr>
            <a:xfrm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243" y="1057"/>
                <a:ext cx="5272" cy="1391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06" name="Freeform 5"/>
              <p:cNvSpPr/>
              <p:nvPr/>
            </p:nvSpPr>
            <p:spPr>
              <a:xfrm>
                <a:off x="238" y="1056"/>
                <a:ext cx="5273" cy="1393"/>
              </a:xfrm>
              <a:custGeom>
                <a:avLst/>
                <a:gdLst/>
                <a:ahLst/>
                <a:cxnLst>
                  <a:cxn ang="0">
                    <a:pos x="5272" y="0"/>
                  </a:cxn>
                  <a:cxn ang="0">
                    <a:pos x="0" y="0"/>
                  </a:cxn>
                  <a:cxn ang="0">
                    <a:pos x="0" y="1392"/>
                  </a:cxn>
                </a:cxnLst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07" name="Freeform 6"/>
              <p:cNvSpPr/>
              <p:nvPr/>
            </p:nvSpPr>
            <p:spPr>
              <a:xfrm>
                <a:off x="250" y="1056"/>
                <a:ext cx="5273" cy="1393"/>
              </a:xfrm>
              <a:custGeom>
                <a:avLst/>
                <a:gdLst/>
                <a:ahLst/>
                <a:cxnLst>
                  <a:cxn ang="0">
                    <a:pos x="5272" y="0"/>
                  </a:cxn>
                  <a:cxn ang="0">
                    <a:pos x="5272" y="1392"/>
                  </a:cxn>
                  <a:cxn ang="0">
                    <a:pos x="0" y="1392"/>
                  </a:cxn>
                </a:cxnLst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2297" name="Group 7"/>
            <p:cNvGrpSpPr/>
            <p:nvPr/>
          </p:nvGrpSpPr>
          <p:grpSpPr>
            <a:xfrm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27" name="Rectangle 8"/>
              <p:cNvSpPr>
                <a:spLocks noChangeArrowheads="1"/>
              </p:cNvSpPr>
              <p:nvPr/>
            </p:nvSpPr>
            <p:spPr bwMode="auto">
              <a:xfrm>
                <a:off x="240" y="3744"/>
                <a:ext cx="5280" cy="96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03" name="Freeform 9"/>
              <p:cNvSpPr/>
              <p:nvPr/>
            </p:nvSpPr>
            <p:spPr>
              <a:xfrm>
                <a:off x="240" y="3744"/>
                <a:ext cx="5281" cy="97"/>
              </a:xfrm>
              <a:custGeom>
                <a:avLst/>
                <a:gdLst/>
                <a:ahLst/>
                <a:cxnLst>
                  <a:cxn ang="0">
                    <a:pos x="5280" y="0"/>
                  </a:cxn>
                  <a:cxn ang="0">
                    <a:pos x="0" y="0"/>
                  </a:cxn>
                  <a:cxn ang="0">
                    <a:pos x="0" y="96"/>
                  </a:cxn>
                </a:cxnLst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04" name="Freeform 10"/>
              <p:cNvSpPr/>
              <p:nvPr/>
            </p:nvSpPr>
            <p:spPr>
              <a:xfrm>
                <a:off x="240" y="3744"/>
                <a:ext cx="5281" cy="97"/>
              </a:xfrm>
              <a:custGeom>
                <a:avLst/>
                <a:gdLst/>
                <a:ahLst/>
                <a:cxnLst>
                  <a:cxn ang="0">
                    <a:pos x="5280" y="0"/>
                  </a:cxn>
                  <a:cxn ang="0">
                    <a:pos x="5280" y="96"/>
                  </a:cxn>
                  <a:cxn ang="0">
                    <a:pos x="0" y="96"/>
                  </a:cxn>
                </a:cxnLst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2298" name="Group 11"/>
            <p:cNvGrpSpPr/>
            <p:nvPr/>
          </p:nvGrpSpPr>
          <p:grpSpPr>
            <a:xfrm>
              <a:off x="338" y="1200"/>
              <a:ext cx="97" cy="1104"/>
              <a:chOff x="338" y="1200"/>
              <a:chExt cx="97" cy="1104"/>
            </a:xfrm>
          </p:grpSpPr>
          <p:sp useBgFill="1">
            <p:nvSpPr>
              <p:cNvPr id="24" name="Rectangle 12"/>
              <p:cNvSpPr>
                <a:spLocks noChangeArrowheads="1"/>
              </p:cNvSpPr>
              <p:nvPr/>
            </p:nvSpPr>
            <p:spPr bwMode="auto">
              <a:xfrm>
                <a:off x="338" y="1201"/>
                <a:ext cx="97" cy="1103"/>
              </a:xfrm>
              <a:prstGeom prst="rect">
                <a:avLst/>
              </a:prstGeom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00" name="Freeform 13"/>
              <p:cNvSpPr/>
              <p:nvPr/>
            </p:nvSpPr>
            <p:spPr>
              <a:xfrm>
                <a:off x="338" y="1200"/>
                <a:ext cx="97" cy="1104"/>
              </a:xfrm>
              <a:custGeom>
                <a:avLst/>
                <a:gdLst/>
                <a:ahLst/>
                <a:cxnLst>
                  <a:cxn ang="0">
                    <a:pos x="0" y="1103"/>
                  </a:cxn>
                  <a:cxn ang="0">
                    <a:pos x="96" y="1103"/>
                  </a:cxn>
                  <a:cxn ang="0">
                    <a:pos x="96" y="0"/>
                  </a:cxn>
                </a:cxnLst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01" name="Freeform 14"/>
              <p:cNvSpPr/>
              <p:nvPr/>
            </p:nvSpPr>
            <p:spPr>
              <a:xfrm>
                <a:off x="338" y="1200"/>
                <a:ext cx="97" cy="1104"/>
              </a:xfrm>
              <a:custGeom>
                <a:avLst/>
                <a:gdLst/>
                <a:ahLst/>
                <a:cxnLst>
                  <a:cxn ang="0">
                    <a:pos x="0" y="1103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415759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1115484" y="21336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5760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038600"/>
            <a:ext cx="8534400" cy="1752600"/>
          </a:xfrm>
        </p:spPr>
        <p:txBody>
          <a:bodyPr anchor="ctr"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508000" y="63246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46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3246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CA69F0-8641-4FD5-8F8D-AE522FB6D312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333376"/>
            <a:ext cx="2641600" cy="5534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2285" y="333376"/>
            <a:ext cx="7723716" cy="5534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/>
          <p:nvPr/>
        </p:nvGrpSpPr>
        <p:grpSpPr>
          <a:xfrm>
            <a:off x="503238" y="1676400"/>
            <a:ext cx="11187112" cy="4421188"/>
            <a:chOff x="238" y="1056"/>
            <a:chExt cx="5285" cy="2785"/>
          </a:xfrm>
        </p:grpSpPr>
        <p:grpSp>
          <p:nvGrpSpPr>
            <p:cNvPr id="13320" name="Group 3"/>
            <p:cNvGrpSpPr/>
            <p:nvPr/>
          </p:nvGrpSpPr>
          <p:grpSpPr>
            <a:xfrm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30" name="Rectangle 4"/>
              <p:cNvSpPr>
                <a:spLocks noChangeArrowheads="1"/>
              </p:cNvSpPr>
              <p:nvPr/>
            </p:nvSpPr>
            <p:spPr bwMode="auto">
              <a:xfrm>
                <a:off x="243" y="1057"/>
                <a:ext cx="5272" cy="1391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30" name="Freeform 5"/>
              <p:cNvSpPr/>
              <p:nvPr/>
            </p:nvSpPr>
            <p:spPr>
              <a:xfrm>
                <a:off x="238" y="1056"/>
                <a:ext cx="5273" cy="1393"/>
              </a:xfrm>
              <a:custGeom>
                <a:avLst/>
                <a:gdLst/>
                <a:ahLst/>
                <a:cxnLst>
                  <a:cxn ang="0">
                    <a:pos x="5272" y="0"/>
                  </a:cxn>
                  <a:cxn ang="0">
                    <a:pos x="0" y="0"/>
                  </a:cxn>
                  <a:cxn ang="0">
                    <a:pos x="0" y="1392"/>
                  </a:cxn>
                </a:cxnLst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31" name="Freeform 6"/>
              <p:cNvSpPr/>
              <p:nvPr/>
            </p:nvSpPr>
            <p:spPr>
              <a:xfrm>
                <a:off x="250" y="1056"/>
                <a:ext cx="5273" cy="1393"/>
              </a:xfrm>
              <a:custGeom>
                <a:avLst/>
                <a:gdLst/>
                <a:ahLst/>
                <a:cxnLst>
                  <a:cxn ang="0">
                    <a:pos x="5272" y="0"/>
                  </a:cxn>
                  <a:cxn ang="0">
                    <a:pos x="5272" y="1392"/>
                  </a:cxn>
                  <a:cxn ang="0">
                    <a:pos x="0" y="1392"/>
                  </a:cxn>
                </a:cxnLst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3321" name="Group 7"/>
            <p:cNvGrpSpPr/>
            <p:nvPr/>
          </p:nvGrpSpPr>
          <p:grpSpPr>
            <a:xfrm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27" name="Rectangle 8"/>
              <p:cNvSpPr>
                <a:spLocks noChangeArrowheads="1"/>
              </p:cNvSpPr>
              <p:nvPr/>
            </p:nvSpPr>
            <p:spPr bwMode="auto">
              <a:xfrm>
                <a:off x="240" y="3744"/>
                <a:ext cx="5280" cy="96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7" name="Freeform 9"/>
              <p:cNvSpPr/>
              <p:nvPr/>
            </p:nvSpPr>
            <p:spPr>
              <a:xfrm>
                <a:off x="240" y="3744"/>
                <a:ext cx="5281" cy="97"/>
              </a:xfrm>
              <a:custGeom>
                <a:avLst/>
                <a:gdLst/>
                <a:ahLst/>
                <a:cxnLst>
                  <a:cxn ang="0">
                    <a:pos x="5280" y="0"/>
                  </a:cxn>
                  <a:cxn ang="0">
                    <a:pos x="0" y="0"/>
                  </a:cxn>
                  <a:cxn ang="0">
                    <a:pos x="0" y="96"/>
                  </a:cxn>
                </a:cxnLst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28" name="Freeform 10"/>
              <p:cNvSpPr/>
              <p:nvPr/>
            </p:nvSpPr>
            <p:spPr>
              <a:xfrm>
                <a:off x="240" y="3744"/>
                <a:ext cx="5281" cy="97"/>
              </a:xfrm>
              <a:custGeom>
                <a:avLst/>
                <a:gdLst/>
                <a:ahLst/>
                <a:cxnLst>
                  <a:cxn ang="0">
                    <a:pos x="5280" y="0"/>
                  </a:cxn>
                  <a:cxn ang="0">
                    <a:pos x="5280" y="96"/>
                  </a:cxn>
                  <a:cxn ang="0">
                    <a:pos x="0" y="96"/>
                  </a:cxn>
                </a:cxnLst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3322" name="Group 11"/>
            <p:cNvGrpSpPr/>
            <p:nvPr/>
          </p:nvGrpSpPr>
          <p:grpSpPr>
            <a:xfrm>
              <a:off x="338" y="1200"/>
              <a:ext cx="97" cy="1104"/>
              <a:chOff x="338" y="1200"/>
              <a:chExt cx="97" cy="1104"/>
            </a:xfrm>
          </p:grpSpPr>
          <p:sp useBgFill="1">
            <p:nvSpPr>
              <p:cNvPr id="24" name="Rectangle 12"/>
              <p:cNvSpPr>
                <a:spLocks noChangeArrowheads="1"/>
              </p:cNvSpPr>
              <p:nvPr/>
            </p:nvSpPr>
            <p:spPr bwMode="auto">
              <a:xfrm>
                <a:off x="338" y="1201"/>
                <a:ext cx="97" cy="1103"/>
              </a:xfrm>
              <a:prstGeom prst="rect">
                <a:avLst/>
              </a:prstGeom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4" name="Freeform 13"/>
              <p:cNvSpPr/>
              <p:nvPr/>
            </p:nvSpPr>
            <p:spPr>
              <a:xfrm>
                <a:off x="338" y="1200"/>
                <a:ext cx="97" cy="1104"/>
              </a:xfrm>
              <a:custGeom>
                <a:avLst/>
                <a:gdLst/>
                <a:ahLst/>
                <a:cxnLst>
                  <a:cxn ang="0">
                    <a:pos x="0" y="1103"/>
                  </a:cxn>
                  <a:cxn ang="0">
                    <a:pos x="96" y="1103"/>
                  </a:cxn>
                  <a:cxn ang="0">
                    <a:pos x="96" y="0"/>
                  </a:cxn>
                </a:cxnLst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25" name="Freeform 14"/>
              <p:cNvSpPr/>
              <p:nvPr/>
            </p:nvSpPr>
            <p:spPr>
              <a:xfrm>
                <a:off x="338" y="1200"/>
                <a:ext cx="97" cy="1104"/>
              </a:xfrm>
              <a:custGeom>
                <a:avLst/>
                <a:gdLst/>
                <a:ahLst/>
                <a:cxnLst>
                  <a:cxn ang="0">
                    <a:pos x="0" y="1103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417807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1115484" y="21336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7808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038600"/>
            <a:ext cx="8534400" cy="1752600"/>
          </a:xfrm>
        </p:spPr>
        <p:txBody>
          <a:bodyPr anchor="ctr"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508000" y="63246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46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3246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8B373D-E447-4A86-A507-C3475261EE8E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333376"/>
            <a:ext cx="2641600" cy="55340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2285" y="333376"/>
            <a:ext cx="7723716" cy="55340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33551" y="1358900"/>
            <a:ext cx="5080000" cy="52657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016751" y="1358900"/>
            <a:ext cx="5080000" cy="52657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0488" tIns="44450" rIns="90488" bIns="4445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宋体" panose="02010600030101010101" pitchFamily="2" charset="-12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26551" y="274638"/>
            <a:ext cx="2870200" cy="6350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38"/>
            <a:ext cx="8413751" cy="6350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4433" y="908050"/>
            <a:ext cx="5562600" cy="5545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0234" y="908050"/>
            <a:ext cx="5564717" cy="5545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0488" tIns="44450" rIns="90488" bIns="4445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宋体" panose="02010600030101010101" pitchFamily="2" charset="-12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2851" y="274638"/>
            <a:ext cx="2832100" cy="61785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4434" y="274638"/>
            <a:ext cx="8295217" cy="61785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36362B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5"/>
          <p:cNvGrpSpPr/>
          <p:nvPr/>
        </p:nvGrpSpPr>
        <p:grpSpPr>
          <a:xfrm>
            <a:off x="0" y="-6350"/>
            <a:ext cx="12190413" cy="6856413"/>
            <a:chOff x="0" y="-4"/>
            <a:chExt cx="5759" cy="4319"/>
          </a:xfrm>
        </p:grpSpPr>
        <p:grpSp>
          <p:nvGrpSpPr>
            <p:cNvPr id="36872" name="Group 6"/>
            <p:cNvGrpSpPr/>
            <p:nvPr/>
          </p:nvGrpSpPr>
          <p:grpSpPr>
            <a:xfrm>
              <a:off x="33" y="-4"/>
              <a:ext cx="328" cy="3928"/>
              <a:chOff x="33" y="-4"/>
              <a:chExt cx="328" cy="3928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33" y="110"/>
                <a:ext cx="106" cy="3814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defRPr/>
                </a:pPr>
                <a:endParaRPr kumimoji="0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幼圆" panose="02010509060101010101" pitchFamily="49" charset="-122"/>
                  <a:cs typeface="+mn-cs"/>
                </a:endParaRPr>
              </a:p>
            </p:txBody>
          </p:sp>
          <p:grpSp>
            <p:nvGrpSpPr>
              <p:cNvPr id="36889" name="Group 8"/>
              <p:cNvGrpSpPr/>
              <p:nvPr/>
            </p:nvGrpSpPr>
            <p:grpSpPr>
              <a:xfrm>
                <a:off x="41" y="-4"/>
                <a:ext cx="320" cy="205"/>
                <a:chOff x="41" y="-4"/>
                <a:chExt cx="320" cy="205"/>
              </a:xfrm>
            </p:grpSpPr>
            <p:sp>
              <p:nvSpPr>
                <p:cNvPr id="39" name="Oval 9"/>
                <p:cNvSpPr>
                  <a:spLocks noChangeArrowheads="1"/>
                </p:cNvSpPr>
                <p:nvPr/>
              </p:nvSpPr>
              <p:spPr bwMode="auto">
                <a:xfrm>
                  <a:off x="41" y="48"/>
                  <a:ext cx="112" cy="107"/>
                </a:xfrm>
                <a:prstGeom prst="ellipse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40" name="AutoShape 10"/>
                <p:cNvSpPr>
                  <a:spLocks noChangeArrowheads="1"/>
                </p:cNvSpPr>
                <p:nvPr/>
              </p:nvSpPr>
              <p:spPr bwMode="auto">
                <a:xfrm>
                  <a:off x="104" y="-4"/>
                  <a:ext cx="256" cy="205"/>
                </a:xfrm>
                <a:prstGeom prst="rightArrow">
                  <a:avLst>
                    <a:gd name="adj1" fmla="val 50000"/>
                    <a:gd name="adj2" fmla="val 62689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</p:grpSp>
        </p:grpSp>
        <p:grpSp>
          <p:nvGrpSpPr>
            <p:cNvPr id="36873" name="Group 11"/>
            <p:cNvGrpSpPr/>
            <p:nvPr/>
          </p:nvGrpSpPr>
          <p:grpSpPr>
            <a:xfrm>
              <a:off x="411" y="44"/>
              <a:ext cx="5348" cy="322"/>
              <a:chOff x="411" y="44"/>
              <a:chExt cx="5348" cy="322"/>
            </a:xfrm>
          </p:grpSpPr>
          <p:sp>
            <p:nvSpPr>
              <p:cNvPr id="33" name="Rectangle 12"/>
              <p:cNvSpPr>
                <a:spLocks noChangeArrowheads="1"/>
              </p:cNvSpPr>
              <p:nvPr/>
            </p:nvSpPr>
            <p:spPr bwMode="auto">
              <a:xfrm>
                <a:off x="411" y="44"/>
                <a:ext cx="5256" cy="103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accent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defRPr/>
                </a:pPr>
                <a:endParaRPr kumimoji="0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幼圆" panose="02010509060101010101" pitchFamily="49" charset="-122"/>
                  <a:cs typeface="+mn-cs"/>
                </a:endParaRPr>
              </a:p>
            </p:txBody>
          </p:sp>
          <p:grpSp>
            <p:nvGrpSpPr>
              <p:cNvPr id="36885" name="Group 13"/>
              <p:cNvGrpSpPr/>
              <p:nvPr/>
            </p:nvGrpSpPr>
            <p:grpSpPr>
              <a:xfrm>
                <a:off x="5563" y="45"/>
                <a:ext cx="196" cy="321"/>
                <a:chOff x="5563" y="45"/>
                <a:chExt cx="196" cy="321"/>
              </a:xfrm>
            </p:grpSpPr>
            <p:sp>
              <p:nvSpPr>
                <p:cNvPr id="35" name="Oval 14"/>
                <p:cNvSpPr>
                  <a:spLocks noChangeArrowheads="1"/>
                </p:cNvSpPr>
                <p:nvPr/>
              </p:nvSpPr>
              <p:spPr bwMode="auto">
                <a:xfrm>
                  <a:off x="5608" y="45"/>
                  <a:ext cx="103" cy="113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6" name="AutoShape 15"/>
                <p:cNvSpPr>
                  <a:spLocks noChangeArrowheads="1"/>
                </p:cNvSpPr>
                <p:nvPr/>
              </p:nvSpPr>
              <p:spPr bwMode="auto">
                <a:xfrm>
                  <a:off x="5563" y="107"/>
                  <a:ext cx="196" cy="259"/>
                </a:xfrm>
                <a:prstGeom prst="downArrow">
                  <a:avLst>
                    <a:gd name="adj1" fmla="val 50000"/>
                    <a:gd name="adj2" fmla="val 66078"/>
                  </a:avLst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</p:grpSp>
        </p:grpSp>
        <p:grpSp>
          <p:nvGrpSpPr>
            <p:cNvPr id="36874" name="Group 16"/>
            <p:cNvGrpSpPr/>
            <p:nvPr/>
          </p:nvGrpSpPr>
          <p:grpSpPr>
            <a:xfrm>
              <a:off x="0" y="3958"/>
              <a:ext cx="5347" cy="323"/>
              <a:chOff x="0" y="3958"/>
              <a:chExt cx="5347" cy="323"/>
            </a:xfrm>
          </p:grpSpPr>
          <p:sp>
            <p:nvSpPr>
              <p:cNvPr id="29" name="Rectangle 17"/>
              <p:cNvSpPr>
                <a:spLocks noChangeArrowheads="1"/>
              </p:cNvSpPr>
              <p:nvPr/>
            </p:nvSpPr>
            <p:spPr bwMode="auto">
              <a:xfrm>
                <a:off x="94" y="4178"/>
                <a:ext cx="5254" cy="103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folHlink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defRPr/>
                </a:pPr>
                <a:endParaRPr kumimoji="0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幼圆" panose="02010509060101010101" pitchFamily="49" charset="-122"/>
                  <a:cs typeface="+mn-cs"/>
                </a:endParaRPr>
              </a:p>
            </p:txBody>
          </p:sp>
          <p:grpSp>
            <p:nvGrpSpPr>
              <p:cNvPr id="36881" name="Group 18"/>
              <p:cNvGrpSpPr/>
              <p:nvPr/>
            </p:nvGrpSpPr>
            <p:grpSpPr>
              <a:xfrm>
                <a:off x="0" y="3958"/>
                <a:ext cx="195" cy="322"/>
                <a:chOff x="0" y="3958"/>
                <a:chExt cx="195" cy="322"/>
              </a:xfrm>
            </p:grpSpPr>
            <p:sp>
              <p:nvSpPr>
                <p:cNvPr id="31" name="Oval 19"/>
                <p:cNvSpPr>
                  <a:spLocks noChangeArrowheads="1"/>
                </p:cNvSpPr>
                <p:nvPr/>
              </p:nvSpPr>
              <p:spPr bwMode="auto">
                <a:xfrm>
                  <a:off x="48" y="4166"/>
                  <a:ext cx="104" cy="114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32" name="AutoShape 20"/>
                <p:cNvSpPr>
                  <a:spLocks noChangeArrowheads="1"/>
                </p:cNvSpPr>
                <p:nvPr/>
              </p:nvSpPr>
              <p:spPr bwMode="auto">
                <a:xfrm>
                  <a:off x="0" y="3958"/>
                  <a:ext cx="195" cy="259"/>
                </a:xfrm>
                <a:prstGeom prst="upArrow">
                  <a:avLst>
                    <a:gd name="adj1" fmla="val 50000"/>
                    <a:gd name="adj2" fmla="val 66404"/>
                  </a:avLst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</p:grpSp>
        </p:grpSp>
        <p:grpSp>
          <p:nvGrpSpPr>
            <p:cNvPr id="36875" name="Group 21"/>
            <p:cNvGrpSpPr/>
            <p:nvPr/>
          </p:nvGrpSpPr>
          <p:grpSpPr>
            <a:xfrm>
              <a:off x="5398" y="401"/>
              <a:ext cx="320" cy="3914"/>
              <a:chOff x="5398" y="401"/>
              <a:chExt cx="320" cy="3914"/>
            </a:xfrm>
          </p:grpSpPr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5612" y="401"/>
                <a:ext cx="106" cy="380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folHlink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defRPr/>
                </a:pPr>
                <a:endParaRPr kumimoji="0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幼圆" panose="02010509060101010101" pitchFamily="49" charset="-122"/>
                  <a:cs typeface="+mn-cs"/>
                </a:endParaRPr>
              </a:p>
            </p:txBody>
          </p:sp>
          <p:grpSp>
            <p:nvGrpSpPr>
              <p:cNvPr id="36877" name="Group 23"/>
              <p:cNvGrpSpPr/>
              <p:nvPr/>
            </p:nvGrpSpPr>
            <p:grpSpPr>
              <a:xfrm>
                <a:off x="5398" y="4111"/>
                <a:ext cx="320" cy="204"/>
                <a:chOff x="5398" y="4111"/>
                <a:chExt cx="320" cy="204"/>
              </a:xfrm>
            </p:grpSpPr>
            <p:sp>
              <p:nvSpPr>
                <p:cNvPr id="27" name="Oval 24"/>
                <p:cNvSpPr>
                  <a:spLocks noChangeArrowheads="1"/>
                </p:cNvSpPr>
                <p:nvPr/>
              </p:nvSpPr>
              <p:spPr bwMode="auto">
                <a:xfrm>
                  <a:off x="5605" y="4157"/>
                  <a:ext cx="112" cy="106"/>
                </a:xfrm>
                <a:prstGeom prst="ellipse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28" name="AutoShape 25"/>
                <p:cNvSpPr>
                  <a:spLocks noChangeArrowheads="1"/>
                </p:cNvSpPr>
                <p:nvPr/>
              </p:nvSpPr>
              <p:spPr bwMode="auto">
                <a:xfrm>
                  <a:off x="5398" y="4111"/>
                  <a:ext cx="256" cy="204"/>
                </a:xfrm>
                <a:prstGeom prst="leftArrow">
                  <a:avLst>
                    <a:gd name="adj1" fmla="val 50000"/>
                    <a:gd name="adj2" fmla="val 62984"/>
                  </a:avLst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22938" name="Rectangle 26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  <a:ln w="12700" cap="sq">
            <a:headEnd type="none" w="sm" len="sm"/>
            <a:tailEnd type="none" w="sm" len="sm"/>
          </a:ln>
        </p:spPr>
        <p:txBody>
          <a:bodyPr lIns="91440" tIns="45720" rIns="91440" bIns="4572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22939" name="Rectangle 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  <a:ln w="12700" cap="sq">
            <a:headEnd type="none" w="sm" len="sm"/>
            <a:tailEnd type="none" w="sm" len="sm"/>
          </a:ln>
        </p:spPr>
        <p:txBody>
          <a:bodyPr lIns="91440" tIns="45720" rIns="91440" bIns="45720"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1" name="Rectangle 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8788" y="6035675"/>
            <a:ext cx="3300413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60800" y="6035675"/>
            <a:ext cx="48768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39200" y="6035675"/>
            <a:ext cx="2894013" cy="4445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0885" y="1593850"/>
            <a:ext cx="5302249" cy="4425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46333" y="1593850"/>
            <a:ext cx="5302251" cy="4425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47717" y="288926"/>
            <a:ext cx="2700867" cy="57308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0885" y="288926"/>
            <a:ext cx="7903633" cy="57308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jpeg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12" Type="http://schemas.openxmlformats.org/officeDocument/2006/relationships/image" Target="../media/image6.jpeg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7" Type="http://schemas.openxmlformats.org/officeDocument/2006/relationships/theme" Target="../theme/theme5.xml"/><Relationship Id="rId16" Type="http://schemas.openxmlformats.org/officeDocument/2006/relationships/image" Target="../media/image12.png"/><Relationship Id="rId15" Type="http://schemas.openxmlformats.org/officeDocument/2006/relationships/image" Target="../media/image11.jpeg"/><Relationship Id="rId14" Type="http://schemas.openxmlformats.org/officeDocument/2006/relationships/image" Target="../media/image10.png"/><Relationship Id="rId13" Type="http://schemas.openxmlformats.org/officeDocument/2006/relationships/image" Target="../media/image9.png"/><Relationship Id="rId12" Type="http://schemas.openxmlformats.org/officeDocument/2006/relationships/image" Target="../media/image8.jpeg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2" Type="http://schemas.openxmlformats.org/officeDocument/2006/relationships/theme" Target="../theme/theme6.xml"/><Relationship Id="rId21" Type="http://schemas.openxmlformats.org/officeDocument/2006/relationships/image" Target="../media/image12.png"/><Relationship Id="rId20" Type="http://schemas.openxmlformats.org/officeDocument/2006/relationships/image" Target="../media/image21.png"/><Relationship Id="rId2" Type="http://schemas.openxmlformats.org/officeDocument/2006/relationships/slideLayout" Target="../slideLayouts/slideLayout60.xml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jpeg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5" Type="http://schemas.openxmlformats.org/officeDocument/2006/relationships/theme" Target="../theme/theme7.xml"/><Relationship Id="rId14" Type="http://schemas.openxmlformats.org/officeDocument/2006/relationships/image" Target="../media/image11.jpeg"/><Relationship Id="rId13" Type="http://schemas.openxmlformats.org/officeDocument/2006/relationships/image" Target="../media/image9.png"/><Relationship Id="rId12" Type="http://schemas.openxmlformats.org/officeDocument/2006/relationships/image" Target="../media/image8.jpeg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0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.xml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 descr="14.pn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09605" name="Rectangle 5"/>
          <p:cNvSpPr>
            <a:spLocks noGrp="1" noChangeArrowheads="1"/>
          </p:cNvSpPr>
          <p:nvPr>
            <p:ph type="title"/>
          </p:nvPr>
        </p:nvSpPr>
        <p:spPr bwMode="white">
          <a:xfrm>
            <a:off x="609600" y="319088"/>
            <a:ext cx="8534400" cy="563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6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470400" y="6480175"/>
            <a:ext cx="28448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6E4E2B-373F-4FC5-A3A9-8C602EBBA2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0" name="Picture 9" descr="j0115875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00038" y="981075"/>
            <a:ext cx="11453812" cy="16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Rectangle 99"/>
          <p:cNvSpPr txBox="1">
            <a:spLocks noChangeArrowheads="1"/>
          </p:cNvSpPr>
          <p:nvPr/>
        </p:nvSpPr>
        <p:spPr bwMode="auto">
          <a:xfrm>
            <a:off x="9810750" y="6215063"/>
            <a:ext cx="2190750" cy="428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>
            <a:lvl1pPr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Page  </a:t>
            </a:r>
            <a:fld id="{EA100836-E39A-4184-AA61-153546A2C024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3" name="Picture 108" descr="财经大学校徽 双方案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68000" y="0"/>
            <a:ext cx="1524000" cy="11096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body" idx="1"/>
          </p:nvPr>
        </p:nvSpPr>
        <p:spPr>
          <a:xfrm>
            <a:off x="914400" y="1676400"/>
            <a:ext cx="104648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914400" y="6486525"/>
            <a:ext cx="24384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 b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2676" name="Rectangle 4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5008563" y="6475413"/>
            <a:ext cx="28448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200" b="0">
                <a:solidFill>
                  <a:schemeClr val="tx2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8187AE-A1FF-4F1A-A941-96CEC27609B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/>
          </p:cNvSpPr>
          <p:nvPr>
            <p:ph type="title"/>
          </p:nvPr>
        </p:nvSpPr>
        <p:spPr>
          <a:xfrm>
            <a:off x="2438400" y="533400"/>
            <a:ext cx="89408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457200"/>
            <a:ext cx="121920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3074" name="Group 2"/>
          <p:cNvGrpSpPr/>
          <p:nvPr/>
        </p:nvGrpSpPr>
        <p:grpSpPr>
          <a:xfrm>
            <a:off x="508000" y="304800"/>
            <a:ext cx="11177588" cy="6022975"/>
            <a:chOff x="240" y="192"/>
            <a:chExt cx="5281" cy="3794"/>
          </a:xfrm>
        </p:grpSpPr>
        <p:grpSp>
          <p:nvGrpSpPr>
            <p:cNvPr id="3080" name="Group 3"/>
            <p:cNvGrpSpPr/>
            <p:nvPr/>
          </p:nvGrpSpPr>
          <p:grpSpPr>
            <a:xfrm>
              <a:off x="240" y="1008"/>
              <a:ext cx="5281" cy="2978"/>
              <a:chOff x="240" y="1008"/>
              <a:chExt cx="5281" cy="2978"/>
            </a:xfrm>
          </p:grpSpPr>
          <p:sp>
            <p:nvSpPr>
              <p:cNvPr id="3089" name="Rectangle 4"/>
              <p:cNvSpPr>
                <a:spLocks noChangeArrowheads="1"/>
              </p:cNvSpPr>
              <p:nvPr/>
            </p:nvSpPr>
            <p:spPr bwMode="auto">
              <a:xfrm>
                <a:off x="245" y="1010"/>
                <a:ext cx="5269" cy="2976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90" name="Freeform 5"/>
              <p:cNvSpPr/>
              <p:nvPr/>
            </p:nvSpPr>
            <p:spPr>
              <a:xfrm>
                <a:off x="240" y="1008"/>
                <a:ext cx="5269" cy="2977"/>
              </a:xfrm>
              <a:custGeom>
                <a:avLst/>
                <a:gdLst/>
                <a:ahLst/>
                <a:cxnLst>
                  <a:cxn ang="0">
                    <a:pos x="5268" y="0"/>
                  </a:cxn>
                  <a:cxn ang="0">
                    <a:pos x="0" y="0"/>
                  </a:cxn>
                  <a:cxn ang="0">
                    <a:pos x="0" y="2976"/>
                  </a:cxn>
                </a:cxnLst>
                <a:pathLst>
                  <a:path w="5269" h="2977">
                    <a:moveTo>
                      <a:pt x="5268" y="0"/>
                    </a:moveTo>
                    <a:lnTo>
                      <a:pt x="0" y="0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" name="Freeform 6"/>
              <p:cNvSpPr/>
              <p:nvPr/>
            </p:nvSpPr>
            <p:spPr>
              <a:xfrm>
                <a:off x="252" y="1008"/>
                <a:ext cx="5269" cy="2977"/>
              </a:xfrm>
              <a:custGeom>
                <a:avLst/>
                <a:gdLst/>
                <a:ahLst/>
                <a:cxnLst>
                  <a:cxn ang="0">
                    <a:pos x="5268" y="0"/>
                  </a:cxn>
                  <a:cxn ang="0">
                    <a:pos x="5268" y="2976"/>
                  </a:cxn>
                  <a:cxn ang="0">
                    <a:pos x="0" y="2976"/>
                  </a:cxn>
                </a:cxnLst>
                <a:pathLst>
                  <a:path w="5269" h="2977">
                    <a:moveTo>
                      <a:pt x="5268" y="0"/>
                    </a:moveTo>
                    <a:lnTo>
                      <a:pt x="5268" y="2976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81" name="Group 7"/>
            <p:cNvGrpSpPr/>
            <p:nvPr/>
          </p:nvGrpSpPr>
          <p:grpSpPr>
            <a:xfrm>
              <a:off x="336" y="1103"/>
              <a:ext cx="97" cy="2785"/>
              <a:chOff x="336" y="1103"/>
              <a:chExt cx="97" cy="2785"/>
            </a:xfrm>
          </p:grpSpPr>
          <p:sp useBgFill="1">
            <p:nvSpPr>
              <p:cNvPr id="3086" name="Rectangle 8"/>
              <p:cNvSpPr>
                <a:spLocks noChangeArrowheads="1"/>
              </p:cNvSpPr>
              <p:nvPr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87" name="Freeform 9"/>
              <p:cNvSpPr/>
              <p:nvPr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8" name="Freeform 10"/>
              <p:cNvSpPr/>
              <p:nvPr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82" name="Group 11"/>
            <p:cNvGrpSpPr/>
            <p:nvPr/>
          </p:nvGrpSpPr>
          <p:grpSpPr>
            <a:xfrm>
              <a:off x="240" y="192"/>
              <a:ext cx="193" cy="721"/>
              <a:chOff x="240" y="192"/>
              <a:chExt cx="193" cy="721"/>
            </a:xfrm>
          </p:grpSpPr>
          <p:sp>
            <p:nvSpPr>
              <p:cNvPr id="3083" name="Rectangle 12"/>
              <p:cNvSpPr>
                <a:spLocks noChangeArrowheads="1"/>
              </p:cNvSpPr>
              <p:nvPr/>
            </p:nvSpPr>
            <p:spPr bwMode="auto">
              <a:xfrm>
                <a:off x="240" y="192"/>
                <a:ext cx="192" cy="720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84" name="Freeform 13"/>
              <p:cNvSpPr/>
              <p:nvPr/>
            </p:nvSpPr>
            <p:spPr>
              <a:xfrm>
                <a:off x="240" y="192"/>
                <a:ext cx="193" cy="721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0" y="720"/>
                  </a:cxn>
                </a:cxnLst>
                <a:pathLst>
                  <a:path w="193" h="721">
                    <a:moveTo>
                      <a:pt x="192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5" name="Freeform 14"/>
              <p:cNvSpPr/>
              <p:nvPr/>
            </p:nvSpPr>
            <p:spPr>
              <a:xfrm>
                <a:off x="240" y="192"/>
                <a:ext cx="193" cy="721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92" y="720"/>
                  </a:cxn>
                  <a:cxn ang="0">
                    <a:pos x="0" y="720"/>
                  </a:cxn>
                </a:cxnLst>
                <a:pathLst>
                  <a:path w="193" h="721">
                    <a:moveTo>
                      <a:pt x="192" y="0"/>
                    </a:moveTo>
                    <a:lnTo>
                      <a:pt x="192" y="72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414735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912813" y="333375"/>
            <a:ext cx="10363200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  绪论 </a:t>
            </a:r>
            <a:r>
              <a:rPr lang="en-US" altLang="zh-CN" smtClean="0"/>
              <a:t>——</a:t>
            </a:r>
            <a:r>
              <a:rPr lang="zh-CN" altLang="en-US" smtClean="0"/>
              <a:t>企业信息化建设与</a:t>
            </a:r>
            <a:r>
              <a:rPr lang="en-US" altLang="zh-CN" smtClean="0"/>
              <a:t>ERP</a:t>
            </a:r>
            <a:endParaRPr lang="en-US" altLang="zh-CN" smtClean="0"/>
          </a:p>
        </p:txBody>
      </p:sp>
      <p:sp>
        <p:nvSpPr>
          <p:cNvPr id="3076" name="Rectangle 16"/>
          <p:cNvSpPr>
            <a:spLocks noGrp="1"/>
          </p:cNvSpPr>
          <p:nvPr>
            <p:ph type="body" idx="1"/>
          </p:nvPr>
        </p:nvSpPr>
        <p:spPr>
          <a:xfrm>
            <a:off x="1117600" y="17526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4737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323013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4738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3013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4739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323013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523E8E-357F-4FF5-9CED-C4B886DE95F8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»"/>
        <a:defRPr sz="3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charset="2"/>
        <a:buChar char="u"/>
        <a:defRPr sz="3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4098" name="Group 2"/>
          <p:cNvGrpSpPr/>
          <p:nvPr/>
        </p:nvGrpSpPr>
        <p:grpSpPr>
          <a:xfrm>
            <a:off x="508000" y="304800"/>
            <a:ext cx="11177588" cy="6022975"/>
            <a:chOff x="240" y="192"/>
            <a:chExt cx="5281" cy="3794"/>
          </a:xfrm>
        </p:grpSpPr>
        <p:grpSp>
          <p:nvGrpSpPr>
            <p:cNvPr id="4104" name="Group 3"/>
            <p:cNvGrpSpPr/>
            <p:nvPr/>
          </p:nvGrpSpPr>
          <p:grpSpPr>
            <a:xfrm>
              <a:off x="240" y="1008"/>
              <a:ext cx="5281" cy="2978"/>
              <a:chOff x="240" y="1008"/>
              <a:chExt cx="5281" cy="2978"/>
            </a:xfrm>
          </p:grpSpPr>
          <p:sp>
            <p:nvSpPr>
              <p:cNvPr id="4113" name="Rectangle 4"/>
              <p:cNvSpPr>
                <a:spLocks noChangeArrowheads="1"/>
              </p:cNvSpPr>
              <p:nvPr/>
            </p:nvSpPr>
            <p:spPr bwMode="auto">
              <a:xfrm>
                <a:off x="245" y="1010"/>
                <a:ext cx="5269" cy="2976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4" name="Freeform 5"/>
              <p:cNvSpPr/>
              <p:nvPr/>
            </p:nvSpPr>
            <p:spPr>
              <a:xfrm>
                <a:off x="240" y="1008"/>
                <a:ext cx="5269" cy="2977"/>
              </a:xfrm>
              <a:custGeom>
                <a:avLst/>
                <a:gdLst/>
                <a:ahLst/>
                <a:cxnLst>
                  <a:cxn ang="0">
                    <a:pos x="5268" y="0"/>
                  </a:cxn>
                  <a:cxn ang="0">
                    <a:pos x="0" y="0"/>
                  </a:cxn>
                  <a:cxn ang="0">
                    <a:pos x="0" y="2976"/>
                  </a:cxn>
                </a:cxnLst>
                <a:pathLst>
                  <a:path w="5269" h="2977">
                    <a:moveTo>
                      <a:pt x="5268" y="0"/>
                    </a:moveTo>
                    <a:lnTo>
                      <a:pt x="0" y="0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5" name="Freeform 6"/>
              <p:cNvSpPr/>
              <p:nvPr/>
            </p:nvSpPr>
            <p:spPr>
              <a:xfrm>
                <a:off x="252" y="1008"/>
                <a:ext cx="5269" cy="2977"/>
              </a:xfrm>
              <a:custGeom>
                <a:avLst/>
                <a:gdLst/>
                <a:ahLst/>
                <a:cxnLst>
                  <a:cxn ang="0">
                    <a:pos x="5268" y="0"/>
                  </a:cxn>
                  <a:cxn ang="0">
                    <a:pos x="5268" y="2976"/>
                  </a:cxn>
                  <a:cxn ang="0">
                    <a:pos x="0" y="2976"/>
                  </a:cxn>
                </a:cxnLst>
                <a:pathLst>
                  <a:path w="5269" h="2977">
                    <a:moveTo>
                      <a:pt x="5268" y="0"/>
                    </a:moveTo>
                    <a:lnTo>
                      <a:pt x="5268" y="2976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105" name="Group 7"/>
            <p:cNvGrpSpPr/>
            <p:nvPr/>
          </p:nvGrpSpPr>
          <p:grpSpPr>
            <a:xfrm>
              <a:off x="336" y="1103"/>
              <a:ext cx="97" cy="2785"/>
              <a:chOff x="336" y="1103"/>
              <a:chExt cx="97" cy="2785"/>
            </a:xfrm>
          </p:grpSpPr>
          <p:sp useBgFill="1">
            <p:nvSpPr>
              <p:cNvPr id="4110" name="Rectangle 8"/>
              <p:cNvSpPr>
                <a:spLocks noChangeArrowheads="1"/>
              </p:cNvSpPr>
              <p:nvPr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11" name="Freeform 9"/>
              <p:cNvSpPr/>
              <p:nvPr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96" y="2784"/>
                  </a:cxn>
                  <a:cxn ang="0">
                    <a:pos x="96" y="0"/>
                  </a:cxn>
                </a:cxnLst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12" name="Freeform 10"/>
              <p:cNvSpPr/>
              <p:nvPr/>
            </p:nvSpPr>
            <p:spPr>
              <a:xfrm>
                <a:off x="336" y="1103"/>
                <a:ext cx="97" cy="2785"/>
              </a:xfrm>
              <a:custGeom>
                <a:avLst/>
                <a:gdLst/>
                <a:ahLst/>
                <a:cxnLst>
                  <a:cxn ang="0">
                    <a:pos x="0" y="2784"/>
                  </a:cxn>
                  <a:cxn ang="0">
                    <a:pos x="0" y="0"/>
                  </a:cxn>
                  <a:cxn ang="0">
                    <a:pos x="96" y="0"/>
                  </a:cxn>
                </a:cxnLst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106" name="Group 11"/>
            <p:cNvGrpSpPr/>
            <p:nvPr/>
          </p:nvGrpSpPr>
          <p:grpSpPr>
            <a:xfrm>
              <a:off x="240" y="192"/>
              <a:ext cx="193" cy="721"/>
              <a:chOff x="240" y="192"/>
              <a:chExt cx="193" cy="721"/>
            </a:xfrm>
          </p:grpSpPr>
          <p:sp>
            <p:nvSpPr>
              <p:cNvPr id="4107" name="Rectangle 12"/>
              <p:cNvSpPr>
                <a:spLocks noChangeArrowheads="1"/>
              </p:cNvSpPr>
              <p:nvPr/>
            </p:nvSpPr>
            <p:spPr bwMode="auto">
              <a:xfrm>
                <a:off x="240" y="192"/>
                <a:ext cx="192" cy="720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08" name="Freeform 13"/>
              <p:cNvSpPr/>
              <p:nvPr/>
            </p:nvSpPr>
            <p:spPr>
              <a:xfrm>
                <a:off x="240" y="192"/>
                <a:ext cx="193" cy="721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0" y="720"/>
                  </a:cxn>
                </a:cxnLst>
                <a:pathLst>
                  <a:path w="193" h="721">
                    <a:moveTo>
                      <a:pt x="192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109" name="Freeform 14"/>
              <p:cNvSpPr/>
              <p:nvPr/>
            </p:nvSpPr>
            <p:spPr>
              <a:xfrm>
                <a:off x="240" y="192"/>
                <a:ext cx="193" cy="721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92" y="720"/>
                  </a:cxn>
                  <a:cxn ang="0">
                    <a:pos x="0" y="720"/>
                  </a:cxn>
                </a:cxnLst>
                <a:pathLst>
                  <a:path w="193" h="721">
                    <a:moveTo>
                      <a:pt x="192" y="0"/>
                    </a:moveTo>
                    <a:lnTo>
                      <a:pt x="192" y="72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416783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912813" y="333375"/>
            <a:ext cx="10363200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  绪论 </a:t>
            </a:r>
            <a:r>
              <a:rPr lang="en-US" altLang="zh-CN" smtClean="0"/>
              <a:t>——</a:t>
            </a:r>
            <a:r>
              <a:rPr lang="zh-CN" altLang="en-US" smtClean="0"/>
              <a:t>企业信息化建设与</a:t>
            </a:r>
            <a:r>
              <a:rPr lang="en-US" altLang="zh-CN" smtClean="0"/>
              <a:t>ERP</a:t>
            </a:r>
            <a:endParaRPr lang="en-US" altLang="zh-CN" smtClean="0"/>
          </a:p>
        </p:txBody>
      </p:sp>
      <p:sp>
        <p:nvSpPr>
          <p:cNvPr id="4100" name="Rectangle 16"/>
          <p:cNvSpPr>
            <a:spLocks noGrp="1"/>
          </p:cNvSpPr>
          <p:nvPr>
            <p:ph type="body" idx="1"/>
          </p:nvPr>
        </p:nvSpPr>
        <p:spPr>
          <a:xfrm>
            <a:off x="1117600" y="17526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6785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323013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6786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23013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kumimoji="1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6787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4000" y="6323013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00835B9-EFD3-4D13-B19A-093382B42213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»"/>
        <a:defRPr sz="3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charset="2"/>
        <a:buChar char="u"/>
        <a:defRPr sz="3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3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2" name="Picture 2" descr="dblu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6350"/>
            <a:ext cx="12192000" cy="61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33550" y="1358900"/>
            <a:ext cx="10363200" cy="5265738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418820" name="Text Box 4"/>
          <p:cNvSpPr txBox="1">
            <a:spLocks noChangeArrowheads="1"/>
          </p:cNvSpPr>
          <p:nvPr/>
        </p:nvSpPr>
        <p:spPr bwMode="auto">
          <a:xfrm>
            <a:off x="10769600" y="6521450"/>
            <a:ext cx="592138" cy="33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069F44-8DCB-4649-9D96-C83E4FAA6C2D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5" name="Picture 5" descr="lblu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2700" y="641350"/>
            <a:ext cx="122047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Picture 6" descr="glob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5240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7" name="Line 7"/>
          <p:cNvSpPr/>
          <p:nvPr/>
        </p:nvSpPr>
        <p:spPr>
          <a:xfrm>
            <a:off x="0" y="1120775"/>
            <a:ext cx="121920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8" name="Rectangle 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981075"/>
            <a:ext cx="1295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129" name="Rectangle 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1989138"/>
            <a:ext cx="1295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130" name="Rectangle 1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2781300"/>
            <a:ext cx="1295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131" name="Rectangle 1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3573463"/>
            <a:ext cx="1295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132" name="Rectangle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4365625"/>
            <a:ext cx="1295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133" name="Rectangle 1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0" y="5229225"/>
            <a:ext cx="1295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18830" name="Text Box 14"/>
          <p:cNvSpPr txBox="1">
            <a:spLocks noChangeArrowheads="1"/>
          </p:cNvSpPr>
          <p:nvPr/>
        </p:nvSpPr>
        <p:spPr bwMode="auto">
          <a:xfrm>
            <a:off x="1422400" y="0"/>
            <a:ext cx="105965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</a:rPr>
              <a:t>信息产业发展机理及测度理论与方法研究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pic>
        <p:nvPicPr>
          <p:cNvPr id="5135" name="Picture 15" descr="tb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80800" y="6324600"/>
            <a:ext cx="6096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FF00"/>
          </a:solidFill>
          <a:effectLst>
            <a:outerShdw blurRad="38100" dist="38100" dir="2700000" algn="tl">
              <a:srgbClr val="C0C0C0"/>
            </a:outerShdw>
          </a:effectLst>
          <a:latin typeface="楷体_GB231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■"/>
        <a:defRPr sz="3200" b="1">
          <a:solidFill>
            <a:srgbClr val="3333CC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◆"/>
        <a:defRPr sz="2800" b="1">
          <a:solidFill>
            <a:srgbClr val="800080"/>
          </a:solidFill>
          <a:latin typeface="+mn-lt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☆"/>
        <a:defRPr sz="2400" b="1">
          <a:solidFill>
            <a:srgbClr val="3333CC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▲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18" descr="image9.png"/>
          <p:cNvPicPr>
            <a:picLocks noChangeAspect="1"/>
          </p:cNvPicPr>
          <p:nvPr/>
        </p:nvPicPr>
        <p:blipFill>
          <a:blip r:embed="rId13">
            <a:lum bright="14001"/>
          </a:blip>
          <a:stretch>
            <a:fillRect/>
          </a:stretch>
        </p:blipFill>
        <p:spPr>
          <a:xfrm>
            <a:off x="3524250" y="4319588"/>
            <a:ext cx="7467600" cy="1895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图片 19" descr="image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2488" y="5456238"/>
            <a:ext cx="582612" cy="500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20" descr="image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9850" y="5564188"/>
            <a:ext cx="12287250" cy="1341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图片 21" descr="image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2013" y="5500688"/>
            <a:ext cx="2651125" cy="361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图片 22" descr="image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44188" y="5434013"/>
            <a:ext cx="1635125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" name="图片 23" descr="image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2738" y="5378450"/>
            <a:ext cx="582612" cy="500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图片 24" descr="image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4950" y="5329238"/>
            <a:ext cx="855663" cy="44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图片 26" descr="22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5750" y="2714625"/>
            <a:ext cx="1662113" cy="1214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图片 27" descr="11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135100" y="1071563"/>
            <a:ext cx="177165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图片 28" descr="11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30100" y="347663"/>
            <a:ext cx="1581150" cy="509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6" name="Picture 12" descr="tb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80800" y="6324600"/>
            <a:ext cx="6096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-1.36197 -0.00232 " pathEditMode="relative" rAng="0" ptsTypes="AA">
                                      <p:cBhvr>
                                        <p:cTn id="39" dur="17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100" y="-1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7.40741E-7 L -1.1743 7.40741E-7 " pathEditMode="relative" rAng="0" ptsTypes="AA">
                                      <p:cBhvr>
                                        <p:cTn id="41" dur="16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70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21600000">
                                      <p:cBhvr>
                                        <p:cTn id="46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170" name="Picture 2" descr="dblu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6350"/>
            <a:ext cx="12192000" cy="698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908050"/>
            <a:ext cx="11329988" cy="5545138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420868" name="Text Box 4"/>
          <p:cNvSpPr txBox="1">
            <a:spLocks noChangeArrowheads="1"/>
          </p:cNvSpPr>
          <p:nvPr/>
        </p:nvSpPr>
        <p:spPr bwMode="auto">
          <a:xfrm>
            <a:off x="76200" y="6534150"/>
            <a:ext cx="1458913" cy="33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C3D9C5-EB8F-4469-8C9E-883435CF6197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73" name="Picture 5" descr="glob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814388" cy="692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0870" name="Rectangle 6"/>
          <p:cNvSpPr>
            <a:spLocks noChangeArrowheads="1"/>
          </p:cNvSpPr>
          <p:nvPr/>
        </p:nvSpPr>
        <p:spPr bwMode="auto">
          <a:xfrm>
            <a:off x="1181100" y="85725"/>
            <a:ext cx="103632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Line 7"/>
          <p:cNvSpPr/>
          <p:nvPr/>
        </p:nvSpPr>
        <p:spPr>
          <a:xfrm>
            <a:off x="0" y="692150"/>
            <a:ext cx="121920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872" name="Text Box 8"/>
          <p:cNvSpPr txBox="1">
            <a:spLocks noChangeArrowheads="1"/>
          </p:cNvSpPr>
          <p:nvPr/>
        </p:nvSpPr>
        <p:spPr bwMode="auto">
          <a:xfrm>
            <a:off x="9347200" y="6445250"/>
            <a:ext cx="2400300" cy="33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隶书" panose="02010800040101010101" pitchFamily="2" charset="-122"/>
                <a:cs typeface="+mn-cs"/>
              </a:rPr>
              <a:t>主讲人：王欣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20873" name="Rectangle 9"/>
          <p:cNvSpPr>
            <a:spLocks noChangeArrowheads="1"/>
          </p:cNvSpPr>
          <p:nvPr/>
        </p:nvSpPr>
        <p:spPr bwMode="auto">
          <a:xfrm>
            <a:off x="623888" y="-23812"/>
            <a:ext cx="8128000" cy="584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11430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章 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Microsoft Project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与项目管理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■"/>
        <a:defRPr sz="32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◆"/>
        <a:defRPr sz="2800" b="1">
          <a:solidFill>
            <a:srgbClr val="800080"/>
          </a:solidFill>
          <a:latin typeface="Arial" panose="020B0604020202020204" pitchFamily="34" charset="0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SzPct val="100000"/>
        <a:buFont typeface="宋体" panose="02010600030101010101" pitchFamily="2" charset="-122"/>
        <a:buChar char="☆"/>
        <a:defRPr sz="24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36362B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439863" y="288925"/>
            <a:ext cx="10301287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1141413" y="1593850"/>
            <a:ext cx="10807700" cy="44259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218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235700"/>
            <a:ext cx="32654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189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24588"/>
            <a:ext cx="32273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18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6613" y="6237288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spcBef>
                <a:spcPct val="0"/>
              </a:spcBef>
              <a:buFontTx/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344488" y="500063"/>
            <a:ext cx="190500" cy="1571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200" name="Freeform 8"/>
          <p:cNvSpPr/>
          <p:nvPr/>
        </p:nvSpPr>
        <p:spPr>
          <a:xfrm>
            <a:off x="541338" y="506413"/>
            <a:ext cx="323850" cy="239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0"/>
              </a:cxn>
            </a:cxnLst>
            <a:pathLst>
              <a:path w="153" h="151">
                <a:moveTo>
                  <a:pt x="0" y="0"/>
                </a:moveTo>
                <a:lnTo>
                  <a:pt x="0" y="98"/>
                </a:lnTo>
                <a:lnTo>
                  <a:pt x="17" y="98"/>
                </a:lnTo>
                <a:lnTo>
                  <a:pt x="36" y="102"/>
                </a:lnTo>
                <a:lnTo>
                  <a:pt x="51" y="116"/>
                </a:lnTo>
                <a:lnTo>
                  <a:pt x="58" y="133"/>
                </a:lnTo>
                <a:lnTo>
                  <a:pt x="58" y="150"/>
                </a:lnTo>
                <a:lnTo>
                  <a:pt x="152" y="149"/>
                </a:lnTo>
                <a:lnTo>
                  <a:pt x="152" y="131"/>
                </a:lnTo>
                <a:lnTo>
                  <a:pt x="150" y="114"/>
                </a:lnTo>
                <a:lnTo>
                  <a:pt x="147" y="100"/>
                </a:lnTo>
                <a:lnTo>
                  <a:pt x="143" y="88"/>
                </a:lnTo>
                <a:lnTo>
                  <a:pt x="138" y="70"/>
                </a:lnTo>
                <a:lnTo>
                  <a:pt x="133" y="57"/>
                </a:lnTo>
                <a:lnTo>
                  <a:pt x="125" y="47"/>
                </a:lnTo>
                <a:lnTo>
                  <a:pt x="116" y="35"/>
                </a:lnTo>
                <a:lnTo>
                  <a:pt x="102" y="24"/>
                </a:lnTo>
                <a:lnTo>
                  <a:pt x="88" y="15"/>
                </a:lnTo>
                <a:lnTo>
                  <a:pt x="66" y="7"/>
                </a:lnTo>
                <a:lnTo>
                  <a:pt x="39" y="1"/>
                </a:lnTo>
                <a:lnTo>
                  <a:pt x="21" y="0"/>
                </a:lnTo>
                <a:lnTo>
                  <a:pt x="0" y="0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201" name="AutoShape 9"/>
          <p:cNvSpPr>
            <a:spLocks noChangeArrowheads="1"/>
          </p:cNvSpPr>
          <p:nvPr/>
        </p:nvSpPr>
        <p:spPr bwMode="auto">
          <a:xfrm rot="16200000">
            <a:off x="34131" y="415131"/>
            <a:ext cx="295275" cy="334963"/>
          </a:xfrm>
          <a:prstGeom prst="triangle">
            <a:avLst>
              <a:gd name="adj" fmla="val 49995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400050" y="68263"/>
            <a:ext cx="385763" cy="273050"/>
          </a:xfrm>
          <a:prstGeom prst="triangle">
            <a:avLst>
              <a:gd name="adj" fmla="val 49995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幼圆" panose="02010509060101010101" pitchFamily="49" charset="-122"/>
              <a:cs typeface="+mn-cs"/>
            </a:endParaRPr>
          </a:p>
        </p:txBody>
      </p:sp>
      <p:grpSp>
        <p:nvGrpSpPr>
          <p:cNvPr id="8203" name="Group 11"/>
          <p:cNvGrpSpPr/>
          <p:nvPr/>
        </p:nvGrpSpPr>
        <p:grpSpPr>
          <a:xfrm>
            <a:off x="368300" y="341313"/>
            <a:ext cx="857250" cy="6516687"/>
            <a:chOff x="174" y="215"/>
            <a:chExt cx="405" cy="4105"/>
          </a:xfrm>
        </p:grpSpPr>
        <p:sp>
          <p:nvSpPr>
            <p:cNvPr id="8204" name="Rectangle 12"/>
            <p:cNvSpPr>
              <a:spLocks noChangeArrowheads="1"/>
            </p:cNvSpPr>
            <p:nvPr/>
          </p:nvSpPr>
          <p:spPr bwMode="auto">
            <a:xfrm>
              <a:off x="315" y="469"/>
              <a:ext cx="94" cy="3851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/>
              </a:pPr>
              <a:endPara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幼圆" panose="02010509060101010101" pitchFamily="49" charset="-122"/>
                <a:cs typeface="+mn-cs"/>
              </a:endParaRPr>
            </a:p>
          </p:txBody>
        </p:sp>
        <p:grpSp>
          <p:nvGrpSpPr>
            <p:cNvPr id="8205" name="Group 13"/>
            <p:cNvGrpSpPr/>
            <p:nvPr/>
          </p:nvGrpSpPr>
          <p:grpSpPr>
            <a:xfrm>
              <a:off x="174" y="468"/>
              <a:ext cx="405" cy="3852"/>
              <a:chOff x="174" y="468"/>
              <a:chExt cx="405" cy="3852"/>
            </a:xfrm>
          </p:grpSpPr>
          <p:grpSp>
            <p:nvGrpSpPr>
              <p:cNvPr id="8207" name="Group 14"/>
              <p:cNvGrpSpPr/>
              <p:nvPr/>
            </p:nvGrpSpPr>
            <p:grpSpPr>
              <a:xfrm>
                <a:off x="175" y="468"/>
                <a:ext cx="404" cy="194"/>
                <a:chOff x="175" y="468"/>
                <a:chExt cx="404" cy="194"/>
              </a:xfrm>
            </p:grpSpPr>
            <p:sp>
              <p:nvSpPr>
                <p:cNvPr id="8209" name="Freeform 15"/>
                <p:cNvSpPr/>
                <p:nvPr/>
              </p:nvSpPr>
              <p:spPr>
                <a:xfrm>
                  <a:off x="175" y="513"/>
                  <a:ext cx="155" cy="149"/>
                </a:xfrm>
                <a:custGeom>
                  <a:avLst/>
                  <a:gdLst/>
                  <a:ahLst/>
                  <a:cxnLst>
                    <a:cxn ang="0">
                      <a:pos x="154" y="0"/>
                    </a:cxn>
                    <a:cxn ang="0">
                      <a:pos x="154" y="97"/>
                    </a:cxn>
                    <a:cxn ang="0">
                      <a:pos x="136" y="97"/>
                    </a:cxn>
                    <a:cxn ang="0">
                      <a:pos x="117" y="101"/>
                    </a:cxn>
                    <a:cxn ang="0">
                      <a:pos x="102" y="115"/>
                    </a:cxn>
                    <a:cxn ang="0">
                      <a:pos x="94" y="132"/>
                    </a:cxn>
                    <a:cxn ang="0">
                      <a:pos x="94" y="148"/>
                    </a:cxn>
                    <a:cxn ang="0">
                      <a:pos x="0" y="148"/>
                    </a:cxn>
                    <a:cxn ang="0">
                      <a:pos x="0" y="129"/>
                    </a:cxn>
                    <a:cxn ang="0">
                      <a:pos x="1" y="112"/>
                    </a:cxn>
                    <a:cxn ang="0">
                      <a:pos x="4" y="99"/>
                    </a:cxn>
                    <a:cxn ang="0">
                      <a:pos x="8" y="87"/>
                    </a:cxn>
                    <a:cxn ang="0">
                      <a:pos x="13" y="70"/>
                    </a:cxn>
                    <a:cxn ang="0">
                      <a:pos x="18" y="57"/>
                    </a:cxn>
                    <a:cxn ang="0">
                      <a:pos x="26" y="47"/>
                    </a:cxn>
                    <a:cxn ang="0">
                      <a:pos x="36" y="35"/>
                    </a:cxn>
                    <a:cxn ang="0">
                      <a:pos x="49" y="24"/>
                    </a:cxn>
                    <a:cxn ang="0">
                      <a:pos x="64" y="15"/>
                    </a:cxn>
                    <a:cxn ang="0">
                      <a:pos x="86" y="7"/>
                    </a:cxn>
                    <a:cxn ang="0">
                      <a:pos x="113" y="1"/>
                    </a:cxn>
                    <a:cxn ang="0">
                      <a:pos x="131" y="0"/>
                    </a:cxn>
                    <a:cxn ang="0">
                      <a:pos x="154" y="0"/>
                    </a:cxn>
                  </a:cxnLst>
                  <a:pathLst>
                    <a:path w="155" h="149">
                      <a:moveTo>
                        <a:pt x="154" y="0"/>
                      </a:moveTo>
                      <a:lnTo>
                        <a:pt x="154" y="97"/>
                      </a:lnTo>
                      <a:lnTo>
                        <a:pt x="136" y="97"/>
                      </a:lnTo>
                      <a:lnTo>
                        <a:pt x="117" y="101"/>
                      </a:lnTo>
                      <a:lnTo>
                        <a:pt x="102" y="115"/>
                      </a:lnTo>
                      <a:lnTo>
                        <a:pt x="94" y="132"/>
                      </a:lnTo>
                      <a:lnTo>
                        <a:pt x="94" y="148"/>
                      </a:lnTo>
                      <a:lnTo>
                        <a:pt x="0" y="148"/>
                      </a:lnTo>
                      <a:lnTo>
                        <a:pt x="0" y="129"/>
                      </a:lnTo>
                      <a:lnTo>
                        <a:pt x="1" y="112"/>
                      </a:lnTo>
                      <a:lnTo>
                        <a:pt x="4" y="99"/>
                      </a:lnTo>
                      <a:lnTo>
                        <a:pt x="8" y="87"/>
                      </a:lnTo>
                      <a:lnTo>
                        <a:pt x="13" y="70"/>
                      </a:lnTo>
                      <a:lnTo>
                        <a:pt x="18" y="57"/>
                      </a:lnTo>
                      <a:lnTo>
                        <a:pt x="26" y="47"/>
                      </a:lnTo>
                      <a:lnTo>
                        <a:pt x="36" y="35"/>
                      </a:lnTo>
                      <a:lnTo>
                        <a:pt x="49" y="24"/>
                      </a:lnTo>
                      <a:lnTo>
                        <a:pt x="64" y="15"/>
                      </a:lnTo>
                      <a:lnTo>
                        <a:pt x="86" y="7"/>
                      </a:lnTo>
                      <a:lnTo>
                        <a:pt x="113" y="1"/>
                      </a:lnTo>
                      <a:lnTo>
                        <a:pt x="131" y="0"/>
                      </a:lnTo>
                      <a:lnTo>
                        <a:pt x="154" y="0"/>
                      </a:lnTo>
                    </a:path>
                  </a:pathLst>
                </a:custGeom>
                <a:solidFill>
                  <a:schemeClr val="hlink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210" name="AutoShape 16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06" y="481"/>
                  <a:ext cx="186" cy="160"/>
                </a:xfrm>
                <a:prstGeom prst="triangle">
                  <a:avLst>
                    <a:gd name="adj" fmla="val 49995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  <p:sp>
              <p:nvSpPr>
                <p:cNvPr id="8211" name="Rectangle 17"/>
                <p:cNvSpPr>
                  <a:spLocks noChangeArrowheads="1"/>
                </p:cNvSpPr>
                <p:nvPr/>
              </p:nvSpPr>
              <p:spPr bwMode="auto">
                <a:xfrm>
                  <a:off x="328" y="513"/>
                  <a:ext cx="92" cy="98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b="1">
                      <a:solidFill>
                        <a:srgbClr val="333399"/>
                      </a:solidFill>
                      <a:latin typeface="Arial" panose="020B0604020202020204" pitchFamily="34" charset="0"/>
                      <a:ea typeface="幼圆" panose="02010509060101010101" pitchFamily="49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defRPr/>
                  </a:pPr>
                  <a:endParaRPr kumimoji="0" lang="zh-CN" alt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幼圆" panose="020105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8208" name="Rectangle 18"/>
              <p:cNvSpPr>
                <a:spLocks noChangeArrowheads="1"/>
              </p:cNvSpPr>
              <p:nvPr/>
            </p:nvSpPr>
            <p:spPr bwMode="auto">
              <a:xfrm>
                <a:off x="174" y="657"/>
                <a:ext cx="90" cy="3663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333399"/>
                    </a:solidFill>
                    <a:latin typeface="Arial" panose="020B0604020202020204" pitchFamily="34" charset="0"/>
                    <a:ea typeface="幼圆" panose="02010509060101010101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defRPr/>
                </a:pPr>
                <a:endParaRPr kumimoji="0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幼圆" panose="02010509060101010101" pitchFamily="49" charset="-122"/>
                  <a:cs typeface="+mn-cs"/>
                </a:endParaRPr>
              </a:p>
            </p:txBody>
          </p:sp>
        </p:grpSp>
        <p:sp>
          <p:nvSpPr>
            <p:cNvPr id="8206" name="Rectangle 19"/>
            <p:cNvSpPr>
              <a:spLocks noChangeArrowheads="1"/>
            </p:cNvSpPr>
            <p:nvPr/>
          </p:nvSpPr>
          <p:spPr bwMode="auto">
            <a:xfrm>
              <a:off x="243" y="215"/>
              <a:ext cx="91" cy="4105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333399"/>
                  </a:solidFill>
                  <a:latin typeface="Arial" panose="020B0604020202020204" pitchFamily="34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/>
              </a:pPr>
              <a:endPara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幼圆" panose="02010509060101010101" pitchFamily="49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tx1"/>
            </a:gs>
            <a:gs pos="0">
              <a:schemeClr val="tx1">
                <a:lumMod val="25000"/>
                <a:lumOff val="75000"/>
              </a:schemeClr>
            </a:gs>
            <a:gs pos="100000">
              <a:schemeClr val="tx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105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648075" y="2205038"/>
            <a:ext cx="4932363" cy="6254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章　用户与组管理</a:t>
            </a:r>
            <a:b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</a:b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8915" name="Rectangle 21">
            <a:hlinkClick r:id="" action="ppaction://hlinkshowjump?jump=nextslide"/>
          </p:cNvPr>
          <p:cNvSpPr/>
          <p:nvPr/>
        </p:nvSpPr>
        <p:spPr>
          <a:xfrm>
            <a:off x="9551988" y="5876925"/>
            <a:ext cx="719137" cy="6477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38916" name="文本框 1"/>
          <p:cNvSpPr txBox="1"/>
          <p:nvPr/>
        </p:nvSpPr>
        <p:spPr>
          <a:xfrm>
            <a:off x="4511675" y="4149725"/>
            <a:ext cx="3600450" cy="9036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王小斌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algn="ctr" eaLnBrk="1" hangingPunct="1"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2026年3月7日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cxnSp>
        <p:nvCxnSpPr>
          <p:cNvPr id="38917" name="直接连接符 2"/>
          <p:cNvCxnSpPr/>
          <p:nvPr/>
        </p:nvCxnSpPr>
        <p:spPr>
          <a:xfrm flipV="1">
            <a:off x="2208213" y="2830513"/>
            <a:ext cx="7991475" cy="22225"/>
          </a:xfrm>
          <a:prstGeom prst="line">
            <a:avLst/>
          </a:prstGeom>
          <a:ln w="158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本章学习要点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9939" name="AutoShape 6"/>
          <p:cNvSpPr/>
          <p:nvPr/>
        </p:nvSpPr>
        <p:spPr>
          <a:xfrm flipH="1">
            <a:off x="9409113" y="1706563"/>
            <a:ext cx="71437" cy="142875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39940" name="AutoShape 7"/>
          <p:cNvSpPr/>
          <p:nvPr/>
        </p:nvSpPr>
        <p:spPr>
          <a:xfrm flipH="1">
            <a:off x="7826375" y="1706563"/>
            <a:ext cx="71438" cy="142875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39941" name="Text Box 8"/>
          <p:cNvSpPr txBox="1"/>
          <p:nvPr/>
        </p:nvSpPr>
        <p:spPr>
          <a:xfrm>
            <a:off x="1992313" y="1412875"/>
            <a:ext cx="6340475" cy="308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Linux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用户账户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Ubuntu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用户账户</a:t>
            </a:r>
            <a:endParaRPr lang="zh-CN" altLang="en-US" sz="2400" dirty="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）用户与组</a:t>
            </a:r>
            <a:r>
              <a:rPr lang="zh-CN" altLang="en-US" sz="24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配置文件</a:t>
            </a:r>
            <a:endParaRPr lang="zh-CN" altLang="en-US" sz="2400" dirty="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4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）用户与组账户</a:t>
            </a:r>
            <a:r>
              <a:rPr lang="zh-CN" altLang="en-US" sz="24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图形化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管理工具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5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）用户与组账户</a:t>
            </a:r>
            <a:r>
              <a:rPr lang="zh-CN" altLang="en-US" sz="24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命令行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39942" name="Rectangle 9">
            <a:hlinkClick r:id="" action="ppaction://hlinkshowjump?jump=nextslide"/>
          </p:cNvPr>
          <p:cNvSpPr/>
          <p:nvPr/>
        </p:nvSpPr>
        <p:spPr>
          <a:xfrm>
            <a:off x="9551988" y="5876925"/>
            <a:ext cx="719137" cy="6477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982663" y="1341438"/>
            <a:ext cx="10369550" cy="3175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Linux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操作系统中，任何文件都归属于某一特定的用户，而任何用户都隶属于至少一个用户组。用户是否有权限对某文件进行访问、读写以及执行，受到系统严格约束的正是这种清晰、严谨的用户与用户组管理系统在很大程度上它保证了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Linux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系统的安全性。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457200" lvl="1" indent="0" eaLnBrk="1" hangingPunct="1">
              <a:buClrTx/>
              <a:buFontTx/>
              <a:buChar char="•"/>
            </a:pPr>
            <a:r>
              <a:rPr lang="zh-CN" altLang="en-US" sz="2100" dirty="0">
                <a:solidFill>
                  <a:srgbClr val="333399"/>
                </a:solidFill>
                <a:ea typeface="幼圆" panose="02010509060101010101" pitchFamily="49" charset="-122"/>
              </a:rPr>
              <a:t>用户账户代表登录和使用系统的身份，能访问已经被授权访问的资源。</a:t>
            </a:r>
            <a:endParaRPr lang="zh-CN" altLang="en-US" sz="2100" dirty="0">
              <a:solidFill>
                <a:srgbClr val="333399"/>
              </a:solidFill>
              <a:ea typeface="幼圆" panose="02010509060101010101" pitchFamily="49" charset="-122"/>
            </a:endParaRPr>
          </a:p>
          <a:p>
            <a:pPr marL="457200" lvl="1" indent="0" eaLnBrk="1" hangingPunct="1">
              <a:buClrTx/>
              <a:buFontTx/>
              <a:buChar char="•"/>
            </a:pPr>
            <a:r>
              <a:rPr lang="zh-CN" altLang="en-US" sz="2100" dirty="0">
                <a:solidFill>
                  <a:srgbClr val="333399"/>
                </a:solidFill>
                <a:ea typeface="幼圆" panose="02010509060101010101" pitchFamily="49" charset="-122"/>
              </a:rPr>
              <a:t>每个用户账户都可以有自己的主目录，主目录是用户登录后首次进入的目录。</a:t>
            </a:r>
            <a:endParaRPr lang="zh-CN" altLang="en-US" sz="2100" dirty="0">
              <a:solidFill>
                <a:srgbClr val="333399"/>
              </a:solidFill>
              <a:ea typeface="幼圆" panose="02010509060101010101" pitchFamily="49" charset="-122"/>
            </a:endParaRPr>
          </a:p>
          <a:p>
            <a:pPr marL="457200" lvl="1" indent="0" eaLnBrk="1" hangingPunct="1">
              <a:buClrTx/>
              <a:buFontTx/>
              <a:buChar char="•"/>
            </a:pPr>
            <a:r>
              <a:rPr lang="zh-CN" altLang="en-US" sz="2100" dirty="0">
                <a:solidFill>
                  <a:srgbClr val="333399"/>
                </a:solidFill>
                <a:ea typeface="幼圆" panose="02010509060101010101" pitchFamily="49" charset="-122"/>
              </a:rPr>
              <a:t>用户可以是一个或多个组的成员。</a:t>
            </a:r>
            <a:endParaRPr lang="zh-CN" altLang="en-US" sz="2000" dirty="0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40964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0965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3.1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用户与组概述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1987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911225" y="1736725"/>
            <a:ext cx="10872788" cy="4141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超级用户（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super user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超级用户就是根账户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，可以执行所有任务，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UID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为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账户具有最高的系统权限，比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Windows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系统中管理员账户的权限更高，一般情况下不要直接使用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账户。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系统用户（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system user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系统本身或应用程序使用的专门账户。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UID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的范围为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～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499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。它并没有特别的权限，通常又分为两种，一种是由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Linux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系统安装时自行建立的系统账户，另一种是用户自定义的系统账户。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普通用户（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regular user)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供实际用户登录使用的普通用户账户。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UID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默认从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1000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开始顺序编号。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217613"/>
            <a:ext cx="44338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3.1.1  Linux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用户账户及其类型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1990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1991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3.1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用户与组概述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3011" name="Rectangle 5">
            <a:hlinkClick r:id="" action="ppaction://noaction"/>
          </p:cNvPr>
          <p:cNvSpPr/>
          <p:nvPr/>
        </p:nvSpPr>
        <p:spPr>
          <a:xfrm>
            <a:off x="9551988" y="5637213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479425" y="1700213"/>
            <a:ext cx="10815638" cy="4143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Linux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的超级用户权限解决方案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许多系统配置和管理操作需要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权限。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Linux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提供了特殊机制，让普通用户临时具备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权限。一种方法是用户执行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su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命令将自己提升为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权限，另一种方法是使用命令行工具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sudo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临时使用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身份运行程序，执行完毕后自动返回到普通用户状态。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Ubuntu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管理员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默认禁用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账户，在安装过程只是设置一个普通用户，并且让它自动成为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管理员。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管理员是指具有管理权限的普通用户，有权执行删除用户、安装软件和驱动程序等管理工作。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管理员主要用于执行系统配置管理任务，其权限比标准用户高，比超级管理员则要低很多。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836613" y="1196975"/>
            <a:ext cx="536575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3.1.2  Ubuntu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的超级用户权限与管理员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3014" name="Rectangle 15"/>
          <p:cNvSpPr/>
          <p:nvPr/>
        </p:nvSpPr>
        <p:spPr>
          <a:xfrm>
            <a:off x="1524000" y="2568575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3015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3.1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用户与组概述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4035" name="Rectangle 5">
            <a:hlinkClick r:id="" action="ppaction://noaction"/>
          </p:cNvPr>
          <p:cNvSpPr/>
          <p:nvPr/>
        </p:nvSpPr>
        <p:spPr>
          <a:xfrm>
            <a:off x="9551988" y="5792788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911225" y="1463675"/>
            <a:ext cx="10801350" cy="4757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sudo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命令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sudo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命令用于切换用户身份执行：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    sudo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&lt;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&gt; ...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命令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su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命令临时改变用户身份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   su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用户登录名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管理员在图形界面中获得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特权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在图形界面中执行系统管理任务时往往需要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权限，一般会弹出认证对话框，要求输入当前管理员账户的密码，认证通过后才能执行相应任务。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463675"/>
            <a:ext cx="536575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3.1.2  Ubuntu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的超级用户权限与管理员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4038" name="Rectangle 15"/>
          <p:cNvSpPr/>
          <p:nvPr/>
        </p:nvSpPr>
        <p:spPr>
          <a:xfrm>
            <a:off x="1524000" y="2724150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4039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3.1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用户与组概述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5059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766763" y="1712913"/>
            <a:ext cx="10369550" cy="3803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Ubuntu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启用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root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登录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首先执行命令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   sudo passwd root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根据提示为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设置密码，然后编辑配置文件 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/usr/share/lightdm/lightdm.conf.d/50-ubuntu.conf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加入下面的行：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  greeter-show-manual-login=true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保存该文件，重启系统就可以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root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账户登录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196975"/>
            <a:ext cx="5510213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3.1.2  Ubuntu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的超级用户权限与管理员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5062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5063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3.1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用户与组概述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6083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982663" y="1547813"/>
            <a:ext cx="10801350" cy="4235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组的概念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组是一类特殊账户，就是指具有相同或者相似特性的用户集合，又称用户组。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可以向一组用户而不是每一个用户分配权限。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用户与组属于多对多的关系。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一个用户可以同时属于多个组，其中某个组为该用户的主要组（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Primary Group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），其他组为该用户的次要组。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组账户类型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组账户分为超级组（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Superuser Group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）、系统组（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System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）和自定义组。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GID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分别为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、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～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499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、从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1000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开始。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839788" y="1162050"/>
            <a:ext cx="37099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3.1.3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组账户及其类型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6086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6087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3.1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用户与组概述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7107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766763" y="1481138"/>
            <a:ext cx="10874375" cy="5048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用户配置文件</a:t>
            </a:r>
            <a:endParaRPr lang="zh-CN" altLang="en-US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zh-CN" sz="2000" dirty="0">
                <a:solidFill>
                  <a:srgbClr val="333399"/>
                </a:solidFill>
                <a:latin typeface="楷体_GB2312" pitchFamily="49" charset="-122"/>
                <a:ea typeface="幼圆" panose="02010509060101010101" pitchFamily="49" charset="-122"/>
              </a:rPr>
              <a:t>用户账户配置文件/etc/passwd</a:t>
            </a:r>
            <a:endParaRPr lang="zh-CN" altLang="en-US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账户名:密码:UID:GID:注释:主目录:Shell</a:t>
            </a:r>
            <a:endParaRPr lang="zh-CN" altLang="zh-CN" sz="20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zh-CN" sz="2000" dirty="0">
                <a:solidFill>
                  <a:srgbClr val="333399"/>
                </a:solidFill>
                <a:latin typeface="楷体_GB2312" pitchFamily="49" charset="-122"/>
                <a:ea typeface="幼圆" panose="02010509060101010101" pitchFamily="49" charset="-122"/>
              </a:rPr>
              <a:t>用户密码配置文件/etc/shadow</a:t>
            </a:r>
            <a:endParaRPr lang="zh-CN" altLang="en-US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None/>
            </a:pPr>
            <a:r>
              <a:rPr lang="zh-CN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账户名:密码:最近一次修改:最短有效期:最长有效期:过期前警告期:过期日期:禁用:保留用于未来扩展</a:t>
            </a:r>
            <a:endParaRPr lang="zh-CN" altLang="en-US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0" lvl="0" indent="0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组配置文件</a:t>
            </a:r>
            <a:r>
              <a:rPr lang="en-US" altLang="zh-CN" sz="2000" dirty="0">
                <a:solidFill>
                  <a:srgbClr val="333399"/>
                </a:solidFill>
                <a:latin typeface="楷体_GB2312" pitchFamily="49" charset="-122"/>
                <a:ea typeface="幼圆" panose="02010509060101010101" pitchFamily="49" charset="-122"/>
              </a:rPr>
              <a:t>    </a:t>
            </a:r>
            <a:endParaRPr lang="zh-CN" altLang="en-US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</a:rPr>
              <a:t> </a:t>
            </a:r>
            <a:r>
              <a:rPr lang="en-US" altLang="en-US" sz="2000" dirty="0">
                <a:solidFill>
                  <a:srgbClr val="333399"/>
                </a:solidFill>
                <a:latin typeface="楷体_GB2312" pitchFamily="49" charset="-122"/>
                <a:ea typeface="幼圆" panose="02010509060101010101" pitchFamily="49" charset="-122"/>
              </a:rPr>
              <a:t>组账户配置文件/etc/group</a:t>
            </a:r>
            <a:endParaRPr lang="en-US" altLang="zh-CN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组名</a:t>
            </a:r>
            <a:r>
              <a:rPr lang="en-US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组密码</a:t>
            </a:r>
            <a:r>
              <a:rPr lang="en-US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:GID:</a:t>
            </a: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组成员列表</a:t>
            </a:r>
            <a:endParaRPr lang="zh-CN" altLang="en-US" sz="2000" dirty="0">
              <a:solidFill>
                <a:srgbClr val="3333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333399"/>
                </a:solidFill>
                <a:latin typeface="楷体_GB2312" pitchFamily="49" charset="-122"/>
                <a:ea typeface="幼圆" panose="02010509060101010101" pitchFamily="49" charset="-122"/>
              </a:rPr>
              <a:t> 组账户密码配置文件/etc/gshadow</a:t>
            </a:r>
            <a:endParaRPr lang="zh-CN" altLang="en-US" sz="2000" dirty="0">
              <a:solidFill>
                <a:srgbClr val="333399"/>
              </a:solidFill>
              <a:latin typeface="楷体_GB2312" pitchFamily="49" charset="-122"/>
              <a:ea typeface="幼圆" panose="02010509060101010101" pitchFamily="49" charset="-122"/>
            </a:endParaRPr>
          </a:p>
          <a:p>
            <a:pPr marL="742950" lvl="1" indent="-285750">
              <a:lnSpc>
                <a:spcPct val="130000"/>
              </a:lnSpc>
              <a:buClr>
                <a:schemeClr val="accent2"/>
              </a:buClr>
              <a:buSzPct val="60000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楷体_GB2312" pitchFamily="49" charset="-122"/>
                <a:ea typeface="幼圆" panose="02010509060101010101" pitchFamily="49" charset="-122"/>
              </a:rPr>
              <a:t>   </a:t>
            </a: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组名</a:t>
            </a:r>
            <a:r>
              <a:rPr lang="en-US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加密后的组密码</a:t>
            </a:r>
            <a:r>
              <a:rPr lang="en-US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组管理员</a:t>
            </a:r>
            <a:r>
              <a:rPr lang="en-US" altLang="zh-CN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组成员列表</a:t>
            </a:r>
            <a:endParaRPr lang="en-US" altLang="zh-CN" sz="2000" dirty="0">
              <a:solidFill>
                <a:srgbClr val="333399"/>
              </a:solidFill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911225" y="1136650"/>
            <a:ext cx="37099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3.1.4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用户与组配置文件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7110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7111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336550"/>
            <a:ext cx="67786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3.2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使用图形化工具管理用户和组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8131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863600" y="1470025"/>
            <a:ext cx="8812213" cy="2160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使用“用户账户”管理工具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Ubuntu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内置一个名为“用户账户”的图形化工具，能够创建用户、设置密码和删除用户。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330325"/>
            <a:ext cx="436245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3.2.1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创建和管理用户账户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8134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8135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pic>
        <p:nvPicPr>
          <p:cNvPr id="4813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4463" y="3630613"/>
            <a:ext cx="4427537" cy="1885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88" y="3611563"/>
            <a:ext cx="4133850" cy="219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20675"/>
            <a:ext cx="6707188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3.2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使用图形化工具管理用户和组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1343025" y="1736725"/>
            <a:ext cx="8380413" cy="1681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使用“用户账户”管理工具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766763" y="1412875"/>
            <a:ext cx="4289425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3.2.1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创建和管理用户账户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9158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9159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pic>
        <p:nvPicPr>
          <p:cNvPr id="4916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0" y="3525838"/>
            <a:ext cx="2003425" cy="1646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450" y="3005138"/>
            <a:ext cx="4344988" cy="2236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282575"/>
            <a:ext cx="67786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3.2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使用图形化工具管理用户和组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0179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1171575" y="1952625"/>
            <a:ext cx="8380413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使用“用户账户”管理工具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982663" y="1304925"/>
            <a:ext cx="4289425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3.2.1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创建和管理用户账户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0182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0183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pic>
        <p:nvPicPr>
          <p:cNvPr id="5018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2875" y="2909888"/>
            <a:ext cx="2630488" cy="2547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713" y="4521200"/>
            <a:ext cx="3460750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49250"/>
            <a:ext cx="685165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3.2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使用图形化工具管理用户和组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1203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617538" y="1487488"/>
            <a:ext cx="9871075" cy="1681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使用“用户和组”管理工具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安装图形化系统管理工具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gnome-system-tools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17538" y="1235075"/>
            <a:ext cx="4289425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3.2.1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创建和管理用户账户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1206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1207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pic>
        <p:nvPicPr>
          <p:cNvPr id="5120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0" y="3967163"/>
            <a:ext cx="2914650" cy="1909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563" y="1449388"/>
            <a:ext cx="2393950" cy="36179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301625"/>
            <a:ext cx="69945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3.2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使用图形化工具管理用户和组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2227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758825" y="1844675"/>
            <a:ext cx="8883650" cy="1125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使用“用户和组”管理工具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420813"/>
            <a:ext cx="4505325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3.2.1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创建和管理用户账户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2230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2231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pic>
        <p:nvPicPr>
          <p:cNvPr id="5223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350" y="2570163"/>
            <a:ext cx="2333625" cy="36496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38" y="2570163"/>
            <a:ext cx="2333625" cy="3649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52413"/>
            <a:ext cx="67786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3.2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使用图形化工具管理用户和组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3251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766763" y="2011363"/>
            <a:ext cx="10442575" cy="1052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Ubuntu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内置的“用户账户”工具不支持组账户管理，可以考虑改用“用户和组”管理工具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766763" y="1379538"/>
            <a:ext cx="366395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3.2.2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创建和管理组账户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3254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3255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pic>
        <p:nvPicPr>
          <p:cNvPr id="5325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1650" y="3209925"/>
            <a:ext cx="2519363" cy="2062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163" y="3209925"/>
            <a:ext cx="2646362" cy="2062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319088"/>
            <a:ext cx="871220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4275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766763" y="1916113"/>
            <a:ext cx="10658475" cy="3343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查看用户账户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查看用户配置文件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/etc/passwd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用文本编辑器打开该配置文件后进行搜索。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在命令行中执行文件显示命令并通过管道操作使用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grep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命令来查找。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wangxb@LinuxPC1:~$ cat /etc/passwd | grep zhang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zhang:x:1001:1001:zhang,,,:/home/zhang:/bin/bash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766763" y="1304925"/>
            <a:ext cx="33543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4278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4279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252413"/>
            <a:ext cx="685165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5299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839788" y="1450975"/>
            <a:ext cx="10728325" cy="463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添加用户账户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Linux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通用命令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useradd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useradd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&lt;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&gt;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专用命令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adduser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命令添加一个普通用户（非管理员）：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adduser [--home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用户主文件夹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[--shell SHELL] [--no-create-home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（无主文件夹）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[--uid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ID] [--firstuid ID] [--lastuid ID] [--gecos GECOS] [--ingroup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用户组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| --gid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ID] [--disabled-password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（禁用密码）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[--disabled-login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（禁止登录）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[--encrypt-home]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839788" y="1163638"/>
            <a:ext cx="33543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5302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5303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279400"/>
            <a:ext cx="685165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6323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695325" y="1450975"/>
            <a:ext cx="10801350" cy="3403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专用命令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adduser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命令添加一个管理员账户：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adduser --system [--home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用户主文件夹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[--shell SHELL] [--no-create-home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（无主文件夹）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[--uid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ID] [--gecos GECOS] [--group | --ingroup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用户组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| --gid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ID] [--disabled-password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（禁用密码）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[--disabled-login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（禁止登录）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235075"/>
            <a:ext cx="33543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6326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6327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230188"/>
            <a:ext cx="6707188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7347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839788" y="1557338"/>
            <a:ext cx="10656887" cy="5281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管理用户账户密码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passwd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命令为用户设置密码：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passwd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）设置账户密码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设置密码后，原密码将被自动被覆盖。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）账户密码锁定与解锁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使用带−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l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passwd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命令可锁定账户密码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）查询密码状态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使用带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-S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passwd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命令可查看某账户的当前状态。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4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）删除账户密码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使用带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passwd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命令可删除密码。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38175" y="1128713"/>
            <a:ext cx="3425825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7350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7351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309563"/>
            <a:ext cx="69945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8371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695325" y="1597025"/>
            <a:ext cx="10369550" cy="4357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修改用户账户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基本用法为：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usermod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大部分选项与添加用户所用的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useradd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命令相同。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使用−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l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选项改变用户账户名：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usermod -l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新用户名  原用户名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-L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选项锁定账户，临时禁止该用户登录：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usermod –L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如果要解除账户锁定，使用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选项即可。 使用命令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chfn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来更改用户的个人信息：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chfn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23888" y="1141413"/>
            <a:ext cx="3497263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8374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8375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34963" y="342900"/>
            <a:ext cx="67786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9395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839788" y="1268413"/>
            <a:ext cx="10512425" cy="4586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删除用户账户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基本用法为：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userdel [-r]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用户名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-r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表示删除该账户的同时一并删除该账户对应的主目录和邮件目录。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userdel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不允许删除正在使用（已经登录）的用户账户。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中使用较多使用删除命令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deluser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。选项为长格式，例如选项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--remove-home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表示同时删除用户的主目录和邮箱；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--remove-all-files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表示删除用户拥有的所有文件。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541338" y="1209675"/>
            <a:ext cx="3209925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3.3.1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管理用户账户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9398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59399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230188"/>
            <a:ext cx="67786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0419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839788" y="1736725"/>
            <a:ext cx="10872787" cy="4265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创建组账户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Linux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通用命令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groupadd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 groupadd  [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-g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选项可自行指定组的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GID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使用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Ubuntu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专用命令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addgroup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，其选项使用长格式，该命令执行过程中可提供交互对话。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添加一个普通用户组的语法格式为：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addgroup [--gid ID]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添加一个管理员用户组的语法格式为：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   addgroup --system [--gid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ID]  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组名</a:t>
            </a:r>
            <a:endParaRPr lang="zh-CN" altLang="en-US" sz="20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23888" y="1255713"/>
            <a:ext cx="2849563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管理组账户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0422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60423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34963" y="285750"/>
            <a:ext cx="6635750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1443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/>
          <p:nvPr/>
        </p:nvSpPr>
        <p:spPr>
          <a:xfrm>
            <a:off x="1271588" y="1736725"/>
            <a:ext cx="8451850" cy="3341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修改组账户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groupmod  [-g GID]  [-n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新组名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] 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组名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删除组账户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  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groupdel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组名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CC0000"/>
              </a:buClr>
              <a:buFontTx/>
              <a:buNone/>
            </a:pP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23888" y="1258888"/>
            <a:ext cx="270510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管理组账户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1446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61447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34963" y="339725"/>
            <a:ext cx="69945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2467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1343025" y="1714500"/>
            <a:ext cx="9074150" cy="51435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管理组成员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groups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命令用于显示某用户所属的全部组。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通过</a:t>
            </a:r>
            <a:r>
              <a:rPr kumimoji="0" lang="zh-CN" alt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查看</a:t>
            </a:r>
            <a:r>
              <a:rPr kumimoji="0" lang="fr-FR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/etc/group</a:t>
            </a:r>
            <a:r>
              <a:rPr kumimoji="0" lang="zh-CN" alt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配置文件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查看组成员。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使用命令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gpasswd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将用户添加到指定的组：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Char char="•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gpasswd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–-a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用户名  组名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使用命令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gpasswd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将某用户从组中删除：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Char char="•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gpasswd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–-d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用户名  组名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使用命令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gpasswd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将若干用户置为组成员（添加到组中）：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Char char="•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gpasswd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–-M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用户名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用户名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,...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组名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使用命令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adduser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将用户添加到组中。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使用命令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deluser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将用户从组中删除。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Tx/>
              <a:buChar char="•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304925"/>
            <a:ext cx="2570163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管理组账户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2470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62471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79425" y="320675"/>
            <a:ext cx="6778625" cy="5635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3.3  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使用命令行工具管理用户和组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3491" name="Rectangle 5">
            <a:hlinkClick r:id="" action="ppaction://noaction"/>
          </p:cNvPr>
          <p:cNvSpPr/>
          <p:nvPr/>
        </p:nvSpPr>
        <p:spPr>
          <a:xfrm>
            <a:off x="9551988" y="5876925"/>
            <a:ext cx="720725" cy="6477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1055688" y="1706563"/>
            <a:ext cx="7635875" cy="38957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查看用户信息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执行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命令可以查看指定用户或当前用户的信息：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   id  [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选项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]  [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用户名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查看登录用户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who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命令查看当前系统上有哪些用户登录。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使用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last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命令查看系统的历史登录情况。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gray">
          <a:xfrm>
            <a:off x="695325" y="1274763"/>
            <a:ext cx="393065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3.3.3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幼圆" panose="02010509060101010101" pitchFamily="49" charset="-122"/>
                <a:cs typeface="+mn-cs"/>
              </a:rPr>
              <a:t>其他用户管理命令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3494" name="Rectangle 15"/>
          <p:cNvSpPr/>
          <p:nvPr/>
        </p:nvSpPr>
        <p:spPr>
          <a:xfrm>
            <a:off x="1524000" y="2808288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63495" name="Rectangle 2"/>
          <p:cNvSpPr/>
          <p:nvPr/>
        </p:nvSpPr>
        <p:spPr>
          <a:xfrm>
            <a:off x="1524000" y="-230187"/>
            <a:ext cx="292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Tx/>
              <a:buFontTx/>
              <a:buChar char="•"/>
            </a:pP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2" grpId="0"/>
      <p:bldP spid="18228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标题 1"/>
          <p:cNvSpPr>
            <a:spLocks noGrp="1"/>
          </p:cNvSpPr>
          <p:nvPr>
            <p:ph type="title"/>
          </p:nvPr>
        </p:nvSpPr>
        <p:spPr>
          <a:xfrm>
            <a:off x="982663" y="260350"/>
            <a:ext cx="8353425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作业：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>
          <a:xfrm>
            <a:off x="1271588" y="1123950"/>
            <a:ext cx="9110663" cy="5000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在自己的计算机上添加用户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user_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姓名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整理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10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条新的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Linux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命令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sample">
  <a:themeElements>
    <a:clrScheme name="">
      <a:dk1>
        <a:srgbClr val="000066"/>
      </a:dk1>
      <a:lt1>
        <a:srgbClr val="FFFFFF"/>
      </a:lt1>
      <a:dk2>
        <a:srgbClr val="FFFF00"/>
      </a:dk2>
      <a:lt2>
        <a:srgbClr val="DDDDDD"/>
      </a:lt2>
      <a:accent1>
        <a:srgbClr val="00CC66"/>
      </a:accent1>
      <a:accent2>
        <a:srgbClr val="3366FF"/>
      </a:accent2>
      <a:accent3>
        <a:srgbClr val="FFFFFF"/>
      </a:accent3>
      <a:accent4>
        <a:srgbClr val="000056"/>
      </a:accent4>
      <a:accent5>
        <a:srgbClr val="AAE2B8"/>
      </a:accent5>
      <a:accent6>
        <a:srgbClr val="2D5CE7"/>
      </a:accent6>
      <a:hlink>
        <a:srgbClr val="3333CC"/>
      </a:hlink>
      <a:folHlink>
        <a:srgbClr val="6699FF"/>
      </a:folHlink>
    </a:clrScheme>
    <a:fontScheme name="2_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2_sample 1">
        <a:dk1>
          <a:srgbClr val="2B166E"/>
        </a:dk1>
        <a:lt1>
          <a:srgbClr val="FFFFFF"/>
        </a:lt1>
        <a:dk2>
          <a:srgbClr val="336699"/>
        </a:dk2>
        <a:lt2>
          <a:srgbClr val="DDDDDD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2">
        <a:dk1>
          <a:srgbClr val="666633"/>
        </a:dk1>
        <a:lt1>
          <a:srgbClr val="FFFFFF"/>
        </a:lt1>
        <a:dk2>
          <a:srgbClr val="000066"/>
        </a:dk2>
        <a:lt2>
          <a:srgbClr val="F7F4D5"/>
        </a:lt2>
        <a:accent1>
          <a:srgbClr val="C86C62"/>
        </a:accent1>
        <a:accent2>
          <a:srgbClr val="D3A5DF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F95CA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3">
        <a:dk1>
          <a:srgbClr val="2B166E"/>
        </a:dk1>
        <a:lt1>
          <a:srgbClr val="FFFFFF"/>
        </a:lt1>
        <a:dk2>
          <a:srgbClr val="3F9D6C"/>
        </a:dk2>
        <a:lt2>
          <a:srgbClr val="DDDDDD"/>
        </a:lt2>
        <a:accent1>
          <a:srgbClr val="5BCD81"/>
        </a:accent1>
        <a:accent2>
          <a:srgbClr val="3399FF"/>
        </a:accent2>
        <a:accent3>
          <a:srgbClr val="FFFFFF"/>
        </a:accent3>
        <a:accent4>
          <a:srgbClr val="23115D"/>
        </a:accent4>
        <a:accent5>
          <a:srgbClr val="B5E3C1"/>
        </a:accent5>
        <a:accent6>
          <a:srgbClr val="2D8AE7"/>
        </a:accent6>
        <a:hlink>
          <a:srgbClr val="6666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FF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AAFFFF"/>
        </a:accent5>
        <a:accent6>
          <a:srgbClr val="0000E7"/>
        </a:accent6>
        <a:hlink>
          <a:srgbClr val="CC00FF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5">
        <a:dk1>
          <a:srgbClr val="FFFFFF"/>
        </a:dk1>
        <a:lt1>
          <a:srgbClr val="FFFFFF"/>
        </a:lt1>
        <a:dk2>
          <a:srgbClr val="FFFFFF"/>
        </a:dk2>
        <a:lt2>
          <a:srgbClr val="808080"/>
        </a:lt2>
        <a:accent1>
          <a:srgbClr val="33CCCC"/>
        </a:accent1>
        <a:accent2>
          <a:srgbClr val="0066FF"/>
        </a:accent2>
        <a:accent3>
          <a:srgbClr val="FFFFFF"/>
        </a:accent3>
        <a:accent4>
          <a:srgbClr val="DADADA"/>
        </a:accent4>
        <a:accent5>
          <a:srgbClr val="ADE2E2"/>
        </a:accent5>
        <a:accent6>
          <a:srgbClr val="005CE7"/>
        </a:accent6>
        <a:hlink>
          <a:srgbClr val="FF75FF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6">
        <a:dk1>
          <a:srgbClr val="FFFFFF"/>
        </a:dk1>
        <a:lt1>
          <a:srgbClr val="FFFFFF"/>
        </a:lt1>
        <a:dk2>
          <a:srgbClr val="FFFFFF"/>
        </a:dk2>
        <a:lt2>
          <a:srgbClr val="808080"/>
        </a:lt2>
        <a:accent1>
          <a:srgbClr val="33CCCC"/>
        </a:accent1>
        <a:accent2>
          <a:srgbClr val="0066FF"/>
        </a:accent2>
        <a:accent3>
          <a:srgbClr val="FFFFFF"/>
        </a:accent3>
        <a:accent4>
          <a:srgbClr val="DADADA"/>
        </a:accent4>
        <a:accent5>
          <a:srgbClr val="ADE2E2"/>
        </a:accent5>
        <a:accent6>
          <a:srgbClr val="005CE7"/>
        </a:accent6>
        <a:hlink>
          <a:srgbClr val="8E87ED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7">
        <a:dk1>
          <a:srgbClr val="FFFFFF"/>
        </a:dk1>
        <a:lt1>
          <a:srgbClr val="FFFFFF"/>
        </a:lt1>
        <a:dk2>
          <a:srgbClr val="FFFF00"/>
        </a:dk2>
        <a:lt2>
          <a:srgbClr val="808080"/>
        </a:lt2>
        <a:accent1>
          <a:srgbClr val="33CCCC"/>
        </a:accent1>
        <a:accent2>
          <a:srgbClr val="0066FF"/>
        </a:accent2>
        <a:accent3>
          <a:srgbClr val="FFFFFF"/>
        </a:accent3>
        <a:accent4>
          <a:srgbClr val="DADADA"/>
        </a:accent4>
        <a:accent5>
          <a:srgbClr val="ADE2E2"/>
        </a:accent5>
        <a:accent6>
          <a:srgbClr val="005CE7"/>
        </a:accent6>
        <a:hlink>
          <a:srgbClr val="8E87ED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8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DCAFF"/>
        </a:accent5>
        <a:accent6>
          <a:srgbClr val="00E78A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9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DCAFF"/>
        </a:accent5>
        <a:accent6>
          <a:srgbClr val="00E78A"/>
        </a:accent6>
        <a:hlink>
          <a:srgbClr val="0000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0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FF99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AFFCA"/>
        </a:accent5>
        <a:accent6>
          <a:srgbClr val="00E78A"/>
        </a:accent6>
        <a:hlink>
          <a:srgbClr val="0000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1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99"/>
        </a:accent1>
        <a:accent2>
          <a:srgbClr val="0066FF"/>
        </a:accent2>
        <a:accent3>
          <a:srgbClr val="FFFFFF"/>
        </a:accent3>
        <a:accent4>
          <a:srgbClr val="000056"/>
        </a:accent4>
        <a:accent5>
          <a:srgbClr val="AAE2CA"/>
        </a:accent5>
        <a:accent6>
          <a:srgbClr val="005CE7"/>
        </a:accent6>
        <a:hlink>
          <a:srgbClr val="9900FF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2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99"/>
        </a:accent1>
        <a:accent2>
          <a:srgbClr val="0066FF"/>
        </a:accent2>
        <a:accent3>
          <a:srgbClr val="FFFFFF"/>
        </a:accent3>
        <a:accent4>
          <a:srgbClr val="000056"/>
        </a:accent4>
        <a:accent5>
          <a:srgbClr val="AAE2CA"/>
        </a:accent5>
        <a:accent6>
          <a:srgbClr val="005CE7"/>
        </a:accent6>
        <a:hlink>
          <a:srgbClr val="9900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3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99"/>
        </a:accent1>
        <a:accent2>
          <a:srgbClr val="0066FF"/>
        </a:accent2>
        <a:accent3>
          <a:srgbClr val="FFFFFF"/>
        </a:accent3>
        <a:accent4>
          <a:srgbClr val="000056"/>
        </a:accent4>
        <a:accent5>
          <a:srgbClr val="AAE2CA"/>
        </a:accent5>
        <a:accent6>
          <a:srgbClr val="005CE7"/>
        </a:accent6>
        <a:hlink>
          <a:srgbClr val="99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4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66"/>
        </a:accent1>
        <a:accent2>
          <a:srgbClr val="66FF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5">
        <a:dk1>
          <a:srgbClr val="000066"/>
        </a:dk1>
        <a:lt1>
          <a:srgbClr val="FFFFFF"/>
        </a:lt1>
        <a:dk2>
          <a:srgbClr val="000066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sample 16">
        <a:dk1>
          <a:srgbClr val="000066"/>
        </a:dk1>
        <a:lt1>
          <a:srgbClr val="FFFFFF"/>
        </a:lt1>
        <a:dk2>
          <a:srgbClr val="FFCC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21TGp_sky_light">
  <a:themeElements>
    <a:clrScheme name="221TGp_sky_light 2">
      <a:dk1>
        <a:srgbClr val="000000"/>
      </a:dk1>
      <a:lt1>
        <a:srgbClr val="FFFFFF"/>
      </a:lt1>
      <a:dk2>
        <a:srgbClr val="364EB6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221TGp_sky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221TGp_sky_light 1">
        <a:dk1>
          <a:srgbClr val="000000"/>
        </a:dk1>
        <a:lt1>
          <a:srgbClr val="FFFFFF"/>
        </a:lt1>
        <a:dk2>
          <a:srgbClr val="501A82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21TGp_sky_light 2">
        <a:dk1>
          <a:srgbClr val="000000"/>
        </a:dk1>
        <a:lt1>
          <a:srgbClr val="FFFFFF"/>
        </a:lt1>
        <a:dk2>
          <a:srgbClr val="364EB6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21TGp_sky_light 3">
        <a:dk1>
          <a:srgbClr val="000000"/>
        </a:dk1>
        <a:lt1>
          <a:srgbClr val="FFFFFF"/>
        </a:lt1>
        <a:dk2>
          <a:srgbClr val="186894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专业型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6600FF"/>
      </a:accent1>
      <a:accent2>
        <a:srgbClr val="FF0066"/>
      </a:accent2>
      <a:accent3>
        <a:srgbClr val="FFFFFF"/>
      </a:accent3>
      <a:accent4>
        <a:srgbClr val="000000"/>
      </a:accent4>
      <a:accent5>
        <a:srgbClr val="B8AAFF"/>
      </a:accent5>
      <a:accent6>
        <a:srgbClr val="E7005C"/>
      </a:accent6>
      <a:hlink>
        <a:srgbClr val="00E200"/>
      </a:hlink>
      <a:folHlink>
        <a:srgbClr val="FFFF00"/>
      </a:folHlink>
    </a:clrScheme>
    <a:fontScheme name="专业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专业型模板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8A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FF99CC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4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专业型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6600FF"/>
      </a:accent1>
      <a:accent2>
        <a:srgbClr val="FF0066"/>
      </a:accent2>
      <a:accent3>
        <a:srgbClr val="FFFFFF"/>
      </a:accent3>
      <a:accent4>
        <a:srgbClr val="000000"/>
      </a:accent4>
      <a:accent5>
        <a:srgbClr val="B8AAFF"/>
      </a:accent5>
      <a:accent6>
        <a:srgbClr val="E7005C"/>
      </a:accent6>
      <a:hlink>
        <a:srgbClr val="00E200"/>
      </a:hlink>
      <a:folHlink>
        <a:srgbClr val="FFFF00"/>
      </a:folHlink>
    </a:clrScheme>
    <a:fontScheme name="1_专业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1_专业型模板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8A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专业型模板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FF99CC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专业型模板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专业型模板 4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第1章 信息系统基本概念">
  <a:themeElements>
    <a:clrScheme name="">
      <a:dk1>
        <a:srgbClr val="000066"/>
      </a:dk1>
      <a:lt1>
        <a:srgbClr val="FFFFFF"/>
      </a:lt1>
      <a:dk2>
        <a:srgbClr val="FFFF00"/>
      </a:dk2>
      <a:lt2>
        <a:srgbClr val="DDDDDD"/>
      </a:lt2>
      <a:accent1>
        <a:srgbClr val="00CC66"/>
      </a:accent1>
      <a:accent2>
        <a:srgbClr val="3366FF"/>
      </a:accent2>
      <a:accent3>
        <a:srgbClr val="FFFFFF"/>
      </a:accent3>
      <a:accent4>
        <a:srgbClr val="000056"/>
      </a:accent4>
      <a:accent5>
        <a:srgbClr val="AAE2B8"/>
      </a:accent5>
      <a:accent6>
        <a:srgbClr val="2D5CE7"/>
      </a:accent6>
      <a:hlink>
        <a:srgbClr val="3333CC"/>
      </a:hlink>
      <a:folHlink>
        <a:srgbClr val="6699FF"/>
      </a:folHlink>
    </a:clrScheme>
    <a:fontScheme name="1_第1章 信息系统基本概念">
      <a:majorFont>
        <a:latin typeface="楷体_GB2312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1_第1章 信息系统基本概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第1章 信息系统基本概念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8">
        <a:dk1>
          <a:srgbClr val="0000CC"/>
        </a:dk1>
        <a:lt1>
          <a:srgbClr val="FFFFFF"/>
        </a:lt1>
        <a:dk2>
          <a:srgbClr val="FFFFFF"/>
        </a:dk2>
        <a:lt2>
          <a:srgbClr val="808080"/>
        </a:lt2>
        <a:accent1>
          <a:srgbClr val="3399FF"/>
        </a:accent1>
        <a:accent2>
          <a:srgbClr val="FFFF00"/>
        </a:accent2>
        <a:accent3>
          <a:srgbClr val="FFFFFF"/>
        </a:accent3>
        <a:accent4>
          <a:srgbClr val="0000AE"/>
        </a:accent4>
        <a:accent5>
          <a:srgbClr val="ADCAFF"/>
        </a:accent5>
        <a:accent6>
          <a:srgbClr val="E7E700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9">
        <a:dk1>
          <a:srgbClr val="0000CC"/>
        </a:dk1>
        <a:lt1>
          <a:srgbClr val="FFFFFF"/>
        </a:lt1>
        <a:dk2>
          <a:srgbClr val="FFFFFF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AE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0">
        <a:dk1>
          <a:srgbClr val="0000CC"/>
        </a:dk1>
        <a:lt1>
          <a:srgbClr val="FFFFFF"/>
        </a:lt1>
        <a:dk2>
          <a:srgbClr val="FFFFFF"/>
        </a:dk2>
        <a:lt2>
          <a:srgbClr val="808080"/>
        </a:lt2>
        <a:accent1>
          <a:srgbClr val="3399FF"/>
        </a:accent1>
        <a:accent2>
          <a:srgbClr val="FFFFFF"/>
        </a:accent2>
        <a:accent3>
          <a:srgbClr val="FFFFFF"/>
        </a:accent3>
        <a:accent4>
          <a:srgbClr val="0000AE"/>
        </a:accent4>
        <a:accent5>
          <a:srgbClr val="ADCAFF"/>
        </a:accent5>
        <a:accent6>
          <a:srgbClr val="E7E7E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FFFF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AAFFFF"/>
        </a:accent5>
        <a:accent6>
          <a:srgbClr val="0000E7"/>
        </a:accent6>
        <a:hlink>
          <a:srgbClr val="CC00FF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2">
        <a:dk1>
          <a:srgbClr val="FFFFFF"/>
        </a:dk1>
        <a:lt1>
          <a:srgbClr val="FFFFFF"/>
        </a:lt1>
        <a:dk2>
          <a:srgbClr val="FFFFFF"/>
        </a:dk2>
        <a:lt2>
          <a:srgbClr val="808080"/>
        </a:lt2>
        <a:accent1>
          <a:srgbClr val="33CCCC"/>
        </a:accent1>
        <a:accent2>
          <a:srgbClr val="0066FF"/>
        </a:accent2>
        <a:accent3>
          <a:srgbClr val="FFFFFF"/>
        </a:accent3>
        <a:accent4>
          <a:srgbClr val="DADADA"/>
        </a:accent4>
        <a:accent5>
          <a:srgbClr val="ADE2E2"/>
        </a:accent5>
        <a:accent6>
          <a:srgbClr val="005CE7"/>
        </a:accent6>
        <a:hlink>
          <a:srgbClr val="FF75FF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3">
        <a:dk1>
          <a:srgbClr val="FFFFFF"/>
        </a:dk1>
        <a:lt1>
          <a:srgbClr val="FFFFFF"/>
        </a:lt1>
        <a:dk2>
          <a:srgbClr val="FFFFFF"/>
        </a:dk2>
        <a:lt2>
          <a:srgbClr val="808080"/>
        </a:lt2>
        <a:accent1>
          <a:srgbClr val="33CCCC"/>
        </a:accent1>
        <a:accent2>
          <a:srgbClr val="0066FF"/>
        </a:accent2>
        <a:accent3>
          <a:srgbClr val="FFFFFF"/>
        </a:accent3>
        <a:accent4>
          <a:srgbClr val="DADADA"/>
        </a:accent4>
        <a:accent5>
          <a:srgbClr val="ADE2E2"/>
        </a:accent5>
        <a:accent6>
          <a:srgbClr val="005CE7"/>
        </a:accent6>
        <a:hlink>
          <a:srgbClr val="8E87ED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4">
        <a:dk1>
          <a:srgbClr val="FFFFFF"/>
        </a:dk1>
        <a:lt1>
          <a:srgbClr val="FFFFFF"/>
        </a:lt1>
        <a:dk2>
          <a:srgbClr val="FFFF00"/>
        </a:dk2>
        <a:lt2>
          <a:srgbClr val="808080"/>
        </a:lt2>
        <a:accent1>
          <a:srgbClr val="33CCCC"/>
        </a:accent1>
        <a:accent2>
          <a:srgbClr val="0066FF"/>
        </a:accent2>
        <a:accent3>
          <a:srgbClr val="FFFFFF"/>
        </a:accent3>
        <a:accent4>
          <a:srgbClr val="DADADA"/>
        </a:accent4>
        <a:accent5>
          <a:srgbClr val="ADE2E2"/>
        </a:accent5>
        <a:accent6>
          <a:srgbClr val="005CE7"/>
        </a:accent6>
        <a:hlink>
          <a:srgbClr val="8E87ED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5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DCAFF"/>
        </a:accent5>
        <a:accent6>
          <a:srgbClr val="00E78A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信息系统基本概念 16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DCAFF"/>
        </a:accent5>
        <a:accent6>
          <a:srgbClr val="00E78A"/>
        </a:accent6>
        <a:hlink>
          <a:srgbClr val="0000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主题">
  <a:themeElements>
    <a:clrScheme name="1_Office 主题 11">
      <a:dk1>
        <a:srgbClr val="000066"/>
      </a:dk1>
      <a:lt1>
        <a:srgbClr val="FFFFFF"/>
      </a:lt1>
      <a:dk2>
        <a:srgbClr val="FFFF00"/>
      </a:dk2>
      <a:lt2>
        <a:srgbClr val="DDDDDD"/>
      </a:lt2>
      <a:accent1>
        <a:srgbClr val="00CC66"/>
      </a:accent1>
      <a:accent2>
        <a:srgbClr val="3366FF"/>
      </a:accent2>
      <a:accent3>
        <a:srgbClr val="FFFFFF"/>
      </a:accent3>
      <a:accent4>
        <a:srgbClr val="000056"/>
      </a:accent4>
      <a:accent5>
        <a:srgbClr val="AAE2B8"/>
      </a:accent5>
      <a:accent6>
        <a:srgbClr val="2D5CE7"/>
      </a:accent6>
      <a:hlink>
        <a:srgbClr val="3333CC"/>
      </a:hlink>
      <a:folHlink>
        <a:srgbClr val="6699FF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DCAFF"/>
        </a:accent5>
        <a:accent6>
          <a:srgbClr val="00E78A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DCAFF"/>
        </a:accent5>
        <a:accent6>
          <a:srgbClr val="00E78A"/>
        </a:accent6>
        <a:hlink>
          <a:srgbClr val="0000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4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FF99"/>
        </a:accent1>
        <a:accent2>
          <a:srgbClr val="00FF99"/>
        </a:accent2>
        <a:accent3>
          <a:srgbClr val="FFFFFF"/>
        </a:accent3>
        <a:accent4>
          <a:srgbClr val="000056"/>
        </a:accent4>
        <a:accent5>
          <a:srgbClr val="AAFFCA"/>
        </a:accent5>
        <a:accent6>
          <a:srgbClr val="00E78A"/>
        </a:accent6>
        <a:hlink>
          <a:srgbClr val="0000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5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99"/>
        </a:accent1>
        <a:accent2>
          <a:srgbClr val="0066FF"/>
        </a:accent2>
        <a:accent3>
          <a:srgbClr val="FFFFFF"/>
        </a:accent3>
        <a:accent4>
          <a:srgbClr val="000056"/>
        </a:accent4>
        <a:accent5>
          <a:srgbClr val="AAE2CA"/>
        </a:accent5>
        <a:accent6>
          <a:srgbClr val="005CE7"/>
        </a:accent6>
        <a:hlink>
          <a:srgbClr val="9900FF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6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99"/>
        </a:accent1>
        <a:accent2>
          <a:srgbClr val="0066FF"/>
        </a:accent2>
        <a:accent3>
          <a:srgbClr val="FFFFFF"/>
        </a:accent3>
        <a:accent4>
          <a:srgbClr val="000056"/>
        </a:accent4>
        <a:accent5>
          <a:srgbClr val="AAE2CA"/>
        </a:accent5>
        <a:accent6>
          <a:srgbClr val="005CE7"/>
        </a:accent6>
        <a:hlink>
          <a:srgbClr val="9900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7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99"/>
        </a:accent1>
        <a:accent2>
          <a:srgbClr val="0066FF"/>
        </a:accent2>
        <a:accent3>
          <a:srgbClr val="FFFFFF"/>
        </a:accent3>
        <a:accent4>
          <a:srgbClr val="000056"/>
        </a:accent4>
        <a:accent5>
          <a:srgbClr val="AAE2CA"/>
        </a:accent5>
        <a:accent6>
          <a:srgbClr val="005CE7"/>
        </a:accent6>
        <a:hlink>
          <a:srgbClr val="99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8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66"/>
        </a:accent1>
        <a:accent2>
          <a:srgbClr val="66FF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9">
        <a:dk1>
          <a:srgbClr val="000066"/>
        </a:dk1>
        <a:lt1>
          <a:srgbClr val="FFFFFF"/>
        </a:lt1>
        <a:dk2>
          <a:srgbClr val="000066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10">
        <a:dk1>
          <a:srgbClr val="000066"/>
        </a:dk1>
        <a:lt1>
          <a:srgbClr val="FFFFFF"/>
        </a:lt1>
        <a:dk2>
          <a:srgbClr val="FFCC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11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12">
        <a:dk1>
          <a:srgbClr val="000000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66FF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王欣">
  <a:themeElements>
    <a:clrScheme name="1_王欣 13">
      <a:dk1>
        <a:srgbClr val="000066"/>
      </a:dk1>
      <a:lt1>
        <a:srgbClr val="FFFFFF"/>
      </a:lt1>
      <a:dk2>
        <a:srgbClr val="FFFF00"/>
      </a:dk2>
      <a:lt2>
        <a:srgbClr val="DDDDDD"/>
      </a:lt2>
      <a:accent1>
        <a:srgbClr val="00CC66"/>
      </a:accent1>
      <a:accent2>
        <a:srgbClr val="3366FF"/>
      </a:accent2>
      <a:accent3>
        <a:srgbClr val="FFFFFF"/>
      </a:accent3>
      <a:accent4>
        <a:srgbClr val="000056"/>
      </a:accent4>
      <a:accent5>
        <a:srgbClr val="AAE2B8"/>
      </a:accent5>
      <a:accent6>
        <a:srgbClr val="2D5CE7"/>
      </a:accent6>
      <a:hlink>
        <a:srgbClr val="3333CC"/>
      </a:hlink>
      <a:folHlink>
        <a:srgbClr val="6699FF"/>
      </a:folHlink>
    </a:clrScheme>
    <a:fontScheme name="1_王欣">
      <a:majorFont>
        <a:latin typeface="Times New Roman"/>
        <a:ea typeface="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1_王欣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王欣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66FF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3399FF"/>
        </a:accent1>
        <a:accent2>
          <a:srgbClr val="66FF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10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66"/>
        </a:accent1>
        <a:accent2>
          <a:srgbClr val="66FF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11">
        <a:dk1>
          <a:srgbClr val="000066"/>
        </a:dk1>
        <a:lt1>
          <a:srgbClr val="FFFFFF"/>
        </a:lt1>
        <a:dk2>
          <a:srgbClr val="000066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12">
        <a:dk1>
          <a:srgbClr val="000066"/>
        </a:dk1>
        <a:lt1>
          <a:srgbClr val="FFFFFF"/>
        </a:lt1>
        <a:dk2>
          <a:srgbClr val="FFCC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13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王欣 14">
        <a:dk1>
          <a:srgbClr val="000000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66FF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ARROWS">
  <a:themeElements>
    <a:clrScheme name="ARROWS 10">
      <a:dk1>
        <a:srgbClr val="000066"/>
      </a:dk1>
      <a:lt1>
        <a:srgbClr val="FFFFFF"/>
      </a:lt1>
      <a:dk2>
        <a:srgbClr val="FFFF00"/>
      </a:dk2>
      <a:lt2>
        <a:srgbClr val="DDDDDD"/>
      </a:lt2>
      <a:accent1>
        <a:srgbClr val="00CC66"/>
      </a:accent1>
      <a:accent2>
        <a:srgbClr val="3366FF"/>
      </a:accent2>
      <a:accent3>
        <a:srgbClr val="FFFFFF"/>
      </a:accent3>
      <a:accent4>
        <a:srgbClr val="000056"/>
      </a:accent4>
      <a:accent5>
        <a:srgbClr val="AAE2B8"/>
      </a:accent5>
      <a:accent6>
        <a:srgbClr val="2D5CE7"/>
      </a:accent6>
      <a:hlink>
        <a:srgbClr val="3333CC"/>
      </a:hlink>
      <a:folHlink>
        <a:srgbClr val="6699FF"/>
      </a:folHlink>
    </a:clrScheme>
    <a:fontScheme name="ARROW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panose="020B0604020202020204" pitchFamily="34" charset="0"/>
            <a:ea typeface="幼圆" panose="02010509060101010101" pitchFamily="49" charset="-122"/>
          </a:defRPr>
        </a:defPPr>
      </a:lstStyle>
    </a:lnDef>
  </a:objectDefaults>
  <a:extraClrSchemeLst>
    <a:extraClrScheme>
      <a:clrScheme name="ARROWS 1">
        <a:dk1>
          <a:srgbClr val="000000"/>
        </a:dk1>
        <a:lt1>
          <a:srgbClr val="FFFFCC"/>
        </a:lt1>
        <a:dk2>
          <a:srgbClr val="CC6600"/>
        </a:dk2>
        <a:lt2>
          <a:srgbClr val="FFFFCC"/>
        </a:lt2>
        <a:accent1>
          <a:srgbClr val="3399FF"/>
        </a:accent1>
        <a:accent2>
          <a:srgbClr val="99FFCC"/>
        </a:accent2>
        <a:accent3>
          <a:srgbClr val="E2B8AA"/>
        </a:accent3>
        <a:accent4>
          <a:srgbClr val="DADAAE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ROWS 2">
        <a:dk1>
          <a:srgbClr val="000000"/>
        </a:dk1>
        <a:lt1>
          <a:srgbClr val="99FFCC"/>
        </a:lt1>
        <a:dk2>
          <a:srgbClr val="000000"/>
        </a:dk2>
        <a:lt2>
          <a:srgbClr val="003300"/>
        </a:lt2>
        <a:accent1>
          <a:srgbClr val="CBCBCB"/>
        </a:accent1>
        <a:accent2>
          <a:srgbClr val="0066FF"/>
        </a:accent2>
        <a:accent3>
          <a:srgbClr val="CAFFE2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ROWS 5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6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8">
        <a:dk1>
          <a:srgbClr val="000000"/>
        </a:dk1>
        <a:lt1>
          <a:srgbClr val="FFFFCC"/>
        </a:lt1>
        <a:dk2>
          <a:srgbClr val="000000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99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9">
        <a:dk1>
          <a:srgbClr val="000066"/>
        </a:dk1>
        <a:lt1>
          <a:srgbClr val="FFFFFF"/>
        </a:lt1>
        <a:dk2>
          <a:srgbClr val="FFCC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10">
        <a:dk1>
          <a:srgbClr val="000066"/>
        </a:dk1>
        <a:lt1>
          <a:srgbClr val="FFFFFF"/>
        </a:lt1>
        <a:dk2>
          <a:srgbClr val="FFFF00"/>
        </a:dk2>
        <a:lt2>
          <a:srgbClr val="DDDDDD"/>
        </a:lt2>
        <a:accent1>
          <a:srgbClr val="00CC66"/>
        </a:accent1>
        <a:accent2>
          <a:srgbClr val="3366FF"/>
        </a:accent2>
        <a:accent3>
          <a:srgbClr val="FFFFFF"/>
        </a:accent3>
        <a:accent4>
          <a:srgbClr val="000056"/>
        </a:accent4>
        <a:accent5>
          <a:srgbClr val="AAE2B8"/>
        </a:accent5>
        <a:accent6>
          <a:srgbClr val="2D5CE7"/>
        </a:accent6>
        <a:hlink>
          <a:srgbClr val="3333CC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ROWS 11">
        <a:dk1>
          <a:srgbClr val="000000"/>
        </a:dk1>
        <a:lt1>
          <a:srgbClr val="FFFFFF"/>
        </a:lt1>
        <a:dk2>
          <a:srgbClr val="FFFF00"/>
        </a:dk2>
        <a:lt2>
          <a:srgbClr val="DDDDDD"/>
        </a:lt2>
        <a:accent1>
          <a:srgbClr val="3399FF"/>
        </a:accent1>
        <a:accent2>
          <a:srgbClr val="66FF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5CE7E7"/>
        </a:accent6>
        <a:hlink>
          <a:srgbClr val="FF66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第1章Microsoft Project与项目管理</Template>
  <TotalTime>0</TotalTime>
  <Words>4882</Words>
  <Application>WPS 演示</Application>
  <PresentationFormat>宽屏</PresentationFormat>
  <Paragraphs>264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Arial</vt:lpstr>
      <vt:lpstr>宋体</vt:lpstr>
      <vt:lpstr>Wingdings</vt:lpstr>
      <vt:lpstr>幼圆</vt:lpstr>
      <vt:lpstr>Verdana</vt:lpstr>
      <vt:lpstr>Times New Roman</vt:lpstr>
      <vt:lpstr>楷体_GB2312</vt:lpstr>
      <vt:lpstr>Monotype Sorts</vt:lpstr>
      <vt:lpstr>Wingdings</vt:lpstr>
      <vt:lpstr>楷体_GB2312</vt:lpstr>
      <vt:lpstr>新宋体</vt:lpstr>
      <vt:lpstr>Calibri</vt:lpstr>
      <vt:lpstr>华文隶书</vt:lpstr>
      <vt:lpstr>微软雅黑</vt:lpstr>
      <vt:lpstr>Arial Unicode MS</vt:lpstr>
      <vt:lpstr>2_sample</vt:lpstr>
      <vt:lpstr>221TGp_sky_light</vt:lpstr>
      <vt:lpstr>专业型模板</vt:lpstr>
      <vt:lpstr>1_专业型模板</vt:lpstr>
      <vt:lpstr>1_第1章 信息系统基本概念</vt:lpstr>
      <vt:lpstr>1_Office 主题</vt:lpstr>
      <vt:lpstr>1_王欣</vt:lpstr>
      <vt:lpstr>ARROWS</vt:lpstr>
      <vt:lpstr> 第3章　用户与组管理 </vt:lpstr>
      <vt:lpstr>本章学习要点</vt:lpstr>
      <vt:lpstr>PowerPoint 演示文稿</vt:lpstr>
      <vt:lpstr>3.1  用户与组概述</vt:lpstr>
      <vt:lpstr>3.1  用户与组概述</vt:lpstr>
      <vt:lpstr>3.1  用户与组概述</vt:lpstr>
      <vt:lpstr>3.1  用户与组概述</vt:lpstr>
      <vt:lpstr>3.1  用户与组概述</vt:lpstr>
      <vt:lpstr>3.1  用户与组概述</vt:lpstr>
      <vt:lpstr>3.2  使用图形化工具管理用户和组</vt:lpstr>
      <vt:lpstr>3.2  使用图形化工具管理用户和组</vt:lpstr>
      <vt:lpstr>3.2  使用图形化工具管理用户和组</vt:lpstr>
      <vt:lpstr>3.2  使用图形化工具管理用户和组</vt:lpstr>
      <vt:lpstr>3.2  使用图形化工具管理用户和组</vt:lpstr>
      <vt:lpstr>3.2  使用图形化工具管理用户和组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3.3  使用命令行工具管理用户和组</vt:lpstr>
      <vt:lpstr>作业：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需求分析与用例建模</dc:title>
  <dc:creator>王欣</dc:creator>
  <cp:lastModifiedBy>王小斌</cp:lastModifiedBy>
  <cp:revision>96</cp:revision>
  <dcterms:created xsi:type="dcterms:W3CDTF">2014-02-22T12:56:00Z</dcterms:created>
  <dcterms:modified xsi:type="dcterms:W3CDTF">2026-03-07T05:33:27Z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A34AEDA82CBF4465BE94183B376A0FA5_12</vt:lpwstr>
  </property>
  <property fmtid="{D5CDD505-2E9C-101B-9397-08002B2CF9AE}" pid="3" name="KSOProductBuildVer">
    <vt:lpwstr>2052-12.1.0.25225</vt:lpwstr>
  </property>
</Properties>
</file>