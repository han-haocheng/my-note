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 id="2147483660" r:id="rId3"/>
  </p:sldMasterIdLst>
  <p:notesMasterIdLst>
    <p:notesMasterId r:id="rId9"/>
  </p:notesMasterIdLst>
  <p:sldIdLst>
    <p:sldId id="257" r:id="rId4"/>
    <p:sldId id="259" r:id="rId5"/>
    <p:sldId id="260" r:id="rId6"/>
    <p:sldId id="292" r:id="rId7"/>
    <p:sldId id="588" r:id="rId8"/>
    <p:sldId id="515" r:id="rId10"/>
    <p:sldId id="559" r:id="rId11"/>
    <p:sldId id="560" r:id="rId12"/>
    <p:sldId id="561" r:id="rId13"/>
    <p:sldId id="562" r:id="rId14"/>
    <p:sldId id="563" r:id="rId15"/>
    <p:sldId id="564" r:id="rId16"/>
    <p:sldId id="565" r:id="rId17"/>
    <p:sldId id="566" r:id="rId18"/>
    <p:sldId id="568" r:id="rId19"/>
    <p:sldId id="570" r:id="rId20"/>
    <p:sldId id="537" r:id="rId21"/>
    <p:sldId id="540" r:id="rId22"/>
    <p:sldId id="580" r:id="rId23"/>
    <p:sldId id="586" r:id="rId24"/>
    <p:sldId id="581" r:id="rId25"/>
    <p:sldId id="571" r:id="rId26"/>
    <p:sldId id="572" r:id="rId27"/>
    <p:sldId id="573" r:id="rId28"/>
    <p:sldId id="574" r:id="rId29"/>
    <p:sldId id="589" r:id="rId30"/>
    <p:sldId id="576" r:id="rId31"/>
    <p:sldId id="577" r:id="rId32"/>
    <p:sldId id="578" r:id="rId33"/>
    <p:sldId id="575" r:id="rId34"/>
    <p:sldId id="579" r:id="rId35"/>
    <p:sldId id="541" r:id="rId36"/>
    <p:sldId id="542" r:id="rId37"/>
    <p:sldId id="549" r:id="rId38"/>
    <p:sldId id="550" r:id="rId39"/>
    <p:sldId id="551" r:id="rId40"/>
    <p:sldId id="552" r:id="rId41"/>
    <p:sldId id="553" r:id="rId42"/>
    <p:sldId id="554" r:id="rId43"/>
    <p:sldId id="555" r:id="rId44"/>
    <p:sldId id="556" r:id="rId45"/>
    <p:sldId id="557" r:id="rId46"/>
    <p:sldId id="558" r:id="rId47"/>
    <p:sldId id="585" r:id="rId4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10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66FF"/>
    <a:srgbClr val="004E00"/>
    <a:srgbClr val="424000"/>
    <a:srgbClr val="99CC00"/>
    <a:srgbClr val="00FF99"/>
    <a:srgbClr val="0000FF"/>
    <a:srgbClr val="0033C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howGuides="1">
      <p:cViewPr varScale="1">
        <p:scale>
          <a:sx n="108" d="100"/>
          <a:sy n="108" d="100"/>
        </p:scale>
        <p:origin x="1704" y="96"/>
      </p:cViewPr>
      <p:guideLst>
        <p:guide orient="horz" pos="2160"/>
        <p:guide pos="100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22.emf"/><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0.emf"/><Relationship Id="rId1" Type="http://schemas.openxmlformats.org/officeDocument/2006/relationships/image" Target="../media/image29.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9.emf"/><Relationship Id="rId7" Type="http://schemas.openxmlformats.org/officeDocument/2006/relationships/image" Target="../media/image38.emf"/><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45.emf"/><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a:defRPr/>
            </a:pPr>
            <a:endParaRPr lang="zh-CN" altLang="zh-CN"/>
          </a:p>
        </p:txBody>
      </p:sp>
      <p:sp>
        <p:nvSpPr>
          <p:cNvPr id="14340" name="Rectangle 4"/>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dirty="0"/>
            </a:lvl1pPr>
          </a:lstStyle>
          <a:p>
            <a:pPr>
              <a:defRPr/>
            </a:pPr>
            <a:fld id="{E03531B9-CE06-4E97-AF04-4EB1F50BF161}"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03531B9-CE06-4E97-AF04-4EB1F50BF16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03531B9-CE06-4E97-AF04-4EB1F50BF16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zh-CN"/>
          </a:p>
        </p:txBody>
      </p:sp>
      <p:sp>
        <p:nvSpPr>
          <p:cNvPr id="6" name="灯片编号占位符 5"/>
          <p:cNvSpPr>
            <a:spLocks noGrp="1"/>
          </p:cNvSpPr>
          <p:nvPr>
            <p:ph type="sldNum" sz="quarter" idx="12"/>
          </p:nvPr>
        </p:nvSpPr>
        <p:spPr/>
        <p:txBody>
          <a:bodyPr/>
          <a:lstStyle>
            <a:lvl1pPr>
              <a:defRPr/>
            </a:lvl1pPr>
          </a:lstStyle>
          <a:p>
            <a:pPr>
              <a:defRPr/>
            </a:pPr>
            <a:fld id="{8665ECCA-63F8-4A1F-8726-C7BDE254D955}"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zh-CN"/>
          </a:p>
        </p:txBody>
      </p:sp>
      <p:sp>
        <p:nvSpPr>
          <p:cNvPr id="6" name="灯片编号占位符 5"/>
          <p:cNvSpPr>
            <a:spLocks noGrp="1"/>
          </p:cNvSpPr>
          <p:nvPr>
            <p:ph type="sldNum" sz="quarter" idx="12"/>
          </p:nvPr>
        </p:nvSpPr>
        <p:spPr/>
        <p:txBody>
          <a:bodyPr/>
          <a:lstStyle>
            <a:lvl1pPr>
              <a:defRPr/>
            </a:lvl1pPr>
          </a:lstStyle>
          <a:p>
            <a:pPr>
              <a:defRPr/>
            </a:pPr>
            <a:fld id="{6A2DCA22-3957-4254-88F9-18449E8AB459}"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zh-CN"/>
          </a:p>
        </p:txBody>
      </p:sp>
      <p:sp>
        <p:nvSpPr>
          <p:cNvPr id="6" name="灯片编号占位符 5"/>
          <p:cNvSpPr>
            <a:spLocks noGrp="1"/>
          </p:cNvSpPr>
          <p:nvPr>
            <p:ph type="sldNum" sz="quarter" idx="12"/>
          </p:nvPr>
        </p:nvSpPr>
        <p:spPr/>
        <p:txBody>
          <a:bodyPr/>
          <a:lstStyle>
            <a:lvl1pPr>
              <a:defRPr/>
            </a:lvl1pPr>
          </a:lstStyle>
          <a:p>
            <a:pPr>
              <a:defRPr/>
            </a:pPr>
            <a:fld id="{D79B9B97-5C57-4D28-BDB8-9FEB272928FD}"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zh-CN" altLang="zh-CN"/>
          </a:p>
        </p:txBody>
      </p:sp>
      <p:sp>
        <p:nvSpPr>
          <p:cNvPr id="7" name="灯片编号占位符 6"/>
          <p:cNvSpPr>
            <a:spLocks noGrp="1"/>
          </p:cNvSpPr>
          <p:nvPr>
            <p:ph type="sldNum" sz="quarter" idx="12"/>
          </p:nvPr>
        </p:nvSpPr>
        <p:spPr/>
        <p:txBody>
          <a:bodyPr/>
          <a:lstStyle>
            <a:lvl1pPr>
              <a:defRPr/>
            </a:lvl1pPr>
          </a:lstStyle>
          <a:p>
            <a:pPr>
              <a:defRPr/>
            </a:pPr>
            <a:fld id="{7116A6A2-5F3E-4522-B8AF-140B74E2E766}"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29842" y="2505075"/>
            <a:ext cx="3868340"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391"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zh-CN" altLang="zh-CN"/>
          </a:p>
        </p:txBody>
      </p:sp>
      <p:sp>
        <p:nvSpPr>
          <p:cNvPr id="9" name="灯片编号占位符 8"/>
          <p:cNvSpPr>
            <a:spLocks noGrp="1"/>
          </p:cNvSpPr>
          <p:nvPr>
            <p:ph type="sldNum" sz="quarter" idx="12"/>
          </p:nvPr>
        </p:nvSpPr>
        <p:spPr/>
        <p:txBody>
          <a:bodyPr/>
          <a:lstStyle>
            <a:lvl1pPr>
              <a:defRPr/>
            </a:lvl1pPr>
          </a:lstStyle>
          <a:p>
            <a:pPr>
              <a:defRPr/>
            </a:pPr>
            <a:fld id="{76C3886A-0122-4608-9672-F272CC25EB3A}"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zh-CN" altLang="zh-CN"/>
          </a:p>
        </p:txBody>
      </p:sp>
      <p:sp>
        <p:nvSpPr>
          <p:cNvPr id="5" name="灯片编号占位符 4"/>
          <p:cNvSpPr>
            <a:spLocks noGrp="1"/>
          </p:cNvSpPr>
          <p:nvPr>
            <p:ph type="sldNum" sz="quarter" idx="12"/>
          </p:nvPr>
        </p:nvSpPr>
        <p:spPr/>
        <p:txBody>
          <a:bodyPr/>
          <a:lstStyle>
            <a:lvl1pPr>
              <a:defRPr/>
            </a:lvl1pPr>
          </a:lstStyle>
          <a:p>
            <a:pPr>
              <a:defRPr/>
            </a:pPr>
            <a:fld id="{77B17DCD-1B49-4E4A-860B-940AAD01A9F6}"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zh-CN" altLang="zh-CN"/>
          </a:p>
        </p:txBody>
      </p:sp>
      <p:sp>
        <p:nvSpPr>
          <p:cNvPr id="4" name="灯片编号占位符 3"/>
          <p:cNvSpPr>
            <a:spLocks noGrp="1"/>
          </p:cNvSpPr>
          <p:nvPr>
            <p:ph type="sldNum" sz="quarter" idx="12"/>
          </p:nvPr>
        </p:nvSpPr>
        <p:spPr/>
        <p:txBody>
          <a:bodyPr/>
          <a:lstStyle>
            <a:lvl1pPr>
              <a:defRPr/>
            </a:lvl1pPr>
          </a:lstStyle>
          <a:p>
            <a:pPr>
              <a:defRPr/>
            </a:pPr>
            <a:fld id="{89C19D97-D456-494E-AA63-94CBFF3ABF75}"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zh-CN" altLang="zh-CN"/>
          </a:p>
        </p:txBody>
      </p:sp>
      <p:sp>
        <p:nvSpPr>
          <p:cNvPr id="7" name="灯片编号占位符 6"/>
          <p:cNvSpPr>
            <a:spLocks noGrp="1"/>
          </p:cNvSpPr>
          <p:nvPr>
            <p:ph type="sldNum" sz="quarter" idx="12"/>
          </p:nvPr>
        </p:nvSpPr>
        <p:spPr/>
        <p:txBody>
          <a:bodyPr/>
          <a:lstStyle>
            <a:lvl1pPr>
              <a:defRPr/>
            </a:lvl1pPr>
          </a:lstStyle>
          <a:p>
            <a:pPr>
              <a:defRPr/>
            </a:pPr>
            <a:fld id="{B1A38922-EC61-42EF-8209-EFDBC53D7BD0}"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zh-CN" altLang="zh-CN"/>
          </a:p>
        </p:txBody>
      </p:sp>
      <p:sp>
        <p:nvSpPr>
          <p:cNvPr id="7" name="灯片编号占位符 6"/>
          <p:cNvSpPr>
            <a:spLocks noGrp="1"/>
          </p:cNvSpPr>
          <p:nvPr>
            <p:ph type="sldNum" sz="quarter" idx="12"/>
          </p:nvPr>
        </p:nvSpPr>
        <p:spPr/>
        <p:txBody>
          <a:bodyPr/>
          <a:lstStyle>
            <a:lvl1pPr>
              <a:defRPr/>
            </a:lvl1pPr>
          </a:lstStyle>
          <a:p>
            <a:pPr>
              <a:defRPr/>
            </a:pPr>
            <a:fld id="{B9593144-6B26-4A88-9D2C-F78B559033E7}"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zh-CN"/>
          </a:p>
        </p:txBody>
      </p:sp>
      <p:sp>
        <p:nvSpPr>
          <p:cNvPr id="6" name="灯片编号占位符 5"/>
          <p:cNvSpPr>
            <a:spLocks noGrp="1"/>
          </p:cNvSpPr>
          <p:nvPr>
            <p:ph type="sldNum" sz="quarter" idx="12"/>
          </p:nvPr>
        </p:nvSpPr>
        <p:spPr/>
        <p:txBody>
          <a:bodyPr/>
          <a:lstStyle>
            <a:lvl1pPr>
              <a:defRPr/>
            </a:lvl1pPr>
          </a:lstStyle>
          <a:p>
            <a:pPr>
              <a:defRPr/>
            </a:pPr>
            <a:fld id="{58A9873D-8802-4A65-A25E-F4AD5AC55F32}"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52E6A6E-A531-4EE9-82A0-332FB74ADE95}" type="datetime1">
              <a:rPr lang="zh-CN" altLang="en-US"/>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zh-CN"/>
          </a:p>
        </p:txBody>
      </p:sp>
      <p:sp>
        <p:nvSpPr>
          <p:cNvPr id="6" name="灯片编号占位符 5"/>
          <p:cNvSpPr>
            <a:spLocks noGrp="1"/>
          </p:cNvSpPr>
          <p:nvPr>
            <p:ph type="sldNum" sz="quarter" idx="12"/>
          </p:nvPr>
        </p:nvSpPr>
        <p:spPr/>
        <p:txBody>
          <a:bodyPr/>
          <a:lstStyle>
            <a:lvl1pPr>
              <a:defRPr/>
            </a:lvl1pPr>
          </a:lstStyle>
          <a:p>
            <a:pPr>
              <a:defRPr/>
            </a:pPr>
            <a:fld id="{DD06469A-4E66-4200-8D20-60D917901949}"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8E6D3FDD-069A-4585-8C8E-383657EA4CA1}"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D9BA526-AC4B-477D-8484-DA99CFF601F7}"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8763D9F2-1014-48FC-9FFC-BDED2769067D}"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EF90FBD-A9C0-449E-BD3D-E23374961E2A}"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lvl1pPr>
              <a:defRPr/>
            </a:lvl1pPr>
          </a:lstStyle>
          <a:p>
            <a:pPr>
              <a:defRPr/>
            </a:pPr>
            <a:fld id="{8302546C-134D-4A3B-8D82-87313B1A997B}"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204ADAC-99EB-499E-A5C9-4C67FE0B36A7}"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BA76E362-22E2-43A7-B5CA-169F93A73FDE}"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4B37F45-FA8C-44E1-93B0-84B08C1D052D}"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0FACE945-5574-414C-BFCF-EE4D3FB0777F}" type="datetimeFigureOut">
              <a:rPr lang="en-US"/>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0907C87-C0C9-4521-A42E-5F437CFE2BC1}"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E942BBB7-0B31-4F59-A408-8DC7FAE344D5}" type="datetimeFigureOut">
              <a:rPr lang="en-US"/>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6CF767A-545E-4B57-8861-A0F17C1C79E1}"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A7EC5C8-A23A-40D0-816E-E94565175EC3}" type="datetimeFigureOut">
              <a:rPr lang="en-US"/>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4010326-E01B-45E3-914F-0E5784D6AF1F}"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3"/>
          <p:cNvSpPr>
            <a:spLocks noGrp="1"/>
          </p:cNvSpPr>
          <p:nvPr>
            <p:ph type="dt" sz="half" idx="10"/>
          </p:nvPr>
        </p:nvSpPr>
        <p:spPr/>
        <p:txBody>
          <a:bodyPr/>
          <a:lstStyle>
            <a:lvl1pPr>
              <a:defRPr/>
            </a:lvl1pPr>
          </a:lstStyle>
          <a:p>
            <a:pPr>
              <a:defRPr/>
            </a:pPr>
            <a:fld id="{4789FCE9-E7F3-4514-B11A-4D22ABC6D986}"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511499-BD29-46B2-B7F2-58049A040F1D}"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3"/>
          <p:cNvSpPr>
            <a:spLocks noGrp="1"/>
          </p:cNvSpPr>
          <p:nvPr>
            <p:ph type="dt" sz="half" idx="10"/>
          </p:nvPr>
        </p:nvSpPr>
        <p:spPr/>
        <p:txBody>
          <a:bodyPr/>
          <a:lstStyle>
            <a:lvl1pPr>
              <a:defRPr/>
            </a:lvl1pPr>
          </a:lstStyle>
          <a:p>
            <a:pPr>
              <a:defRPr/>
            </a:pPr>
            <a:fld id="{47ACD238-A88D-4674-BC73-E0E65148133C}"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DD36947-D581-4D26-9C3E-D6FFC8E9DC3A}"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18D8D756-302F-40DF-A85F-C310DC873EF9}"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3306F57-1B12-44D9-A040-86E8B5EEE763}"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EA771E35-648C-4F77-BFE4-AAF0DB427711}"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FDE1253-CFA1-44DD-A044-13E0D1CFAD56}"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900" smtClean="0">
                <a:solidFill>
                  <a:schemeClr val="tx1">
                    <a:tint val="75000"/>
                  </a:schemeClr>
                </a:solidFill>
              </a:defRPr>
            </a:lvl1pPr>
          </a:lstStyle>
          <a:p>
            <a:pPr>
              <a:defRPr/>
            </a:pPr>
            <a:fld id="{B005A782-2867-450F-AD32-E4FC6128CD8C}" type="datetimeFigureOut">
              <a:rPr lang="zh-CN" altLang="en-US"/>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900" smtClean="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 typeface="Arial" panose="020B0604020202020204" pitchFamily="34" charset="0"/>
              <a:buNone/>
              <a:defRPr sz="900" smtClean="0">
                <a:solidFill>
                  <a:schemeClr val="tx1">
                    <a:tint val="75000"/>
                  </a:schemeClr>
                </a:solidFill>
              </a:defRPr>
            </a:lvl1pPr>
          </a:lstStyle>
          <a:p>
            <a:pPr>
              <a:defRPr/>
            </a:pPr>
            <a:fld id="{AFE990DE-F763-4CD8-819C-673D2549D72F}"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等线 Light" panose="02010600030101010101" pitchFamily="2" charset="-122"/>
        </a:defRPr>
      </a:lvl2pPr>
      <a:lvl3pPr algn="l" defTabSz="685800" rtl="0" fontAlgn="base">
        <a:lnSpc>
          <a:spcPct val="90000"/>
        </a:lnSpc>
        <a:spcBef>
          <a:spcPct val="0"/>
        </a:spcBef>
        <a:spcAft>
          <a:spcPct val="0"/>
        </a:spcAft>
        <a:defRPr sz="3300">
          <a:solidFill>
            <a:schemeClr val="tx1"/>
          </a:solidFill>
          <a:latin typeface="等线 Light" panose="02010600030101010101" pitchFamily="2" charset="-122"/>
        </a:defRPr>
      </a:lvl3pPr>
      <a:lvl4pPr algn="l" defTabSz="685800" rtl="0" fontAlgn="base">
        <a:lnSpc>
          <a:spcPct val="90000"/>
        </a:lnSpc>
        <a:spcBef>
          <a:spcPct val="0"/>
        </a:spcBef>
        <a:spcAft>
          <a:spcPct val="0"/>
        </a:spcAft>
        <a:defRPr sz="3300">
          <a:solidFill>
            <a:schemeClr val="tx1"/>
          </a:solidFill>
          <a:latin typeface="等线 Light" panose="02010600030101010101" pitchFamily="2" charset="-122"/>
        </a:defRPr>
      </a:lvl4pPr>
      <a:lvl5pPr algn="l" defTabSz="685800" rtl="0" fontAlgn="base">
        <a:lnSpc>
          <a:spcPct val="90000"/>
        </a:lnSpc>
        <a:spcBef>
          <a:spcPct val="0"/>
        </a:spcBef>
        <a:spcAft>
          <a:spcPct val="0"/>
        </a:spcAft>
        <a:defRPr sz="3300">
          <a:solidFill>
            <a:schemeClr val="tx1"/>
          </a:solidFill>
          <a:latin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2051"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dirty="0">
                <a:solidFill>
                  <a:schemeClr val="tx1">
                    <a:tint val="75000"/>
                  </a:schemeClr>
                </a:solidFill>
              </a:defRPr>
            </a:lvl1pPr>
          </a:lstStyle>
          <a:p>
            <a:pPr>
              <a:defRPr/>
            </a:pPr>
            <a:fld id="{FD4683CA-2E7C-40B2-A526-6D2882C3DFC1}" type="datetimeFigureOut">
              <a:rPr lang="en-US"/>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dirty="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 typeface="Arial" panose="020B0604020202020204" pitchFamily="34" charset="0"/>
              <a:buNone/>
              <a:defRPr sz="1200" dirty="0">
                <a:solidFill>
                  <a:schemeClr val="tx1">
                    <a:tint val="75000"/>
                  </a:schemeClr>
                </a:solidFill>
              </a:defRPr>
            </a:lvl1pPr>
          </a:lstStyle>
          <a:p>
            <a:pPr>
              <a:defRPr/>
            </a:pPr>
            <a:fld id="{BA3EF926-F643-4F67-AD82-BD104F76974A}" type="slidenum">
              <a:rPr lang="en-US"/>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slide" Target="slide30.xml"/><Relationship Id="rId3" Type="http://schemas.openxmlformats.org/officeDocument/2006/relationships/slide" Target="slide27.xml"/><Relationship Id="rId2" Type="http://schemas.openxmlformats.org/officeDocument/2006/relationships/slide" Target="slide17.xml"/><Relationship Id="rId1" Type="http://schemas.openxmlformats.org/officeDocument/2006/relationships/slide" Target="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vml"/><Relationship Id="rId4" Type="http://schemas.openxmlformats.org/officeDocument/2006/relationships/slideLayout" Target="../slideLayouts/slideLayout18.xml"/><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8.xml"/><Relationship Id="rId4" Type="http://schemas.openxmlformats.org/officeDocument/2006/relationships/image" Target="../media/image7.emf"/><Relationship Id="rId3" Type="http://schemas.openxmlformats.org/officeDocument/2006/relationships/oleObject" Target="../embeddings/oleObject3.bin"/><Relationship Id="rId2" Type="http://schemas.openxmlformats.org/officeDocument/2006/relationships/image" Target="../media/image6.e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hyperlink" Target="&#24179;&#38754;&#30528;&#33394;.exe" TargetMode="External"/><Relationship Id="rId3" Type="http://schemas.openxmlformats.org/officeDocument/2006/relationships/hyperlink" Target="&#20809;&#28369;&#30528;&#33394;.exe" TargetMode="Externa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8.xml"/><Relationship Id="rId7" Type="http://schemas.openxmlformats.org/officeDocument/2006/relationships/image" Target="../media/image13.png"/><Relationship Id="rId6" Type="http://schemas.openxmlformats.org/officeDocument/2006/relationships/hyperlink" Target="&#29699;&#38754;&#39532;&#36203;&#24102;.exe" TargetMode="External"/><Relationship Id="rId5" Type="http://schemas.openxmlformats.org/officeDocument/2006/relationships/image" Target="../media/image12.png"/><Relationship Id="rId4" Type="http://schemas.openxmlformats.org/officeDocument/2006/relationships/hyperlink" Target="&#39532;&#36203;&#24102;.exe" TargetMode="External"/><Relationship Id="rId3" Type="http://schemas.openxmlformats.org/officeDocument/2006/relationships/image" Target="../media/image11.emf"/><Relationship Id="rId2" Type="http://schemas.openxmlformats.org/officeDocument/2006/relationships/oleObject" Target="../embeddings/oleObject4.bin"/><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vmlDrawing" Target="../drawings/vmlDrawing4.vml"/><Relationship Id="rId7" Type="http://schemas.openxmlformats.org/officeDocument/2006/relationships/slideLayout" Target="../slideLayouts/slideLayout1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emf"/><Relationship Id="rId3" Type="http://schemas.openxmlformats.org/officeDocument/2006/relationships/oleObject" Target="../embeddings/oleObject6.bin"/><Relationship Id="rId2" Type="http://schemas.openxmlformats.org/officeDocument/2006/relationships/image" Target="../media/image15.emf"/><Relationship Id="rId1"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9" Type="http://schemas.openxmlformats.org/officeDocument/2006/relationships/image" Target="../media/image22.emf"/><Relationship Id="rId8" Type="http://schemas.openxmlformats.org/officeDocument/2006/relationships/oleObject" Target="../embeddings/oleObject10.bin"/><Relationship Id="rId7" Type="http://schemas.openxmlformats.org/officeDocument/2006/relationships/image" Target="../media/image21.emf"/><Relationship Id="rId6" Type="http://schemas.openxmlformats.org/officeDocument/2006/relationships/oleObject" Target="../embeddings/oleObject9.bin"/><Relationship Id="rId5" Type="http://schemas.openxmlformats.org/officeDocument/2006/relationships/image" Target="../media/image20.emf"/><Relationship Id="rId4" Type="http://schemas.openxmlformats.org/officeDocument/2006/relationships/oleObject" Target="../embeddings/oleObject8.bin"/><Relationship Id="rId3" Type="http://schemas.openxmlformats.org/officeDocument/2006/relationships/image" Target="../media/image7.emf"/><Relationship Id="rId2" Type="http://schemas.openxmlformats.org/officeDocument/2006/relationships/oleObject" Target="../embeddings/oleObject7.bin"/><Relationship Id="rId11" Type="http://schemas.openxmlformats.org/officeDocument/2006/relationships/vmlDrawing" Target="../drawings/vmlDrawing5.vml"/><Relationship Id="rId10" Type="http://schemas.openxmlformats.org/officeDocument/2006/relationships/slideLayout" Target="../slideLayouts/slideLayout18.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18.xml"/><Relationship Id="rId6" Type="http://schemas.openxmlformats.org/officeDocument/2006/relationships/image" Target="../media/image27.emf"/><Relationship Id="rId5" Type="http://schemas.openxmlformats.org/officeDocument/2006/relationships/oleObject" Target="../embeddings/oleObject11.bin"/><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7.emf"/><Relationship Id="rId7" Type="http://schemas.openxmlformats.org/officeDocument/2006/relationships/oleObject" Target="../embeddings/oleObject14.bin"/><Relationship Id="rId6" Type="http://schemas.openxmlformats.org/officeDocument/2006/relationships/image" Target="../media/image31.png"/><Relationship Id="rId5" Type="http://schemas.openxmlformats.org/officeDocument/2006/relationships/image" Target="../media/image30.emf"/><Relationship Id="rId4" Type="http://schemas.openxmlformats.org/officeDocument/2006/relationships/oleObject" Target="../embeddings/oleObject13.bin"/><Relationship Id="rId3" Type="http://schemas.openxmlformats.org/officeDocument/2006/relationships/image" Target="../media/image29.emf"/><Relationship Id="rId2" Type="http://schemas.openxmlformats.org/officeDocument/2006/relationships/oleObject" Target="../embeddings/oleObject12.bin"/><Relationship Id="rId10" Type="http://schemas.openxmlformats.org/officeDocument/2006/relationships/vmlDrawing" Target="../drawings/vmlDrawing7.v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9" Type="http://schemas.openxmlformats.org/officeDocument/2006/relationships/image" Target="../media/image35.emf"/><Relationship Id="rId8" Type="http://schemas.openxmlformats.org/officeDocument/2006/relationships/oleObject" Target="../embeddings/oleObject18.bin"/><Relationship Id="rId7" Type="http://schemas.openxmlformats.org/officeDocument/2006/relationships/image" Target="../media/image34.emf"/><Relationship Id="rId6" Type="http://schemas.openxmlformats.org/officeDocument/2006/relationships/oleObject" Target="../embeddings/oleObject17.bin"/><Relationship Id="rId5" Type="http://schemas.openxmlformats.org/officeDocument/2006/relationships/image" Target="../media/image33.emf"/><Relationship Id="rId4" Type="http://schemas.openxmlformats.org/officeDocument/2006/relationships/oleObject" Target="../embeddings/oleObject16.bin"/><Relationship Id="rId3" Type="http://schemas.openxmlformats.org/officeDocument/2006/relationships/image" Target="../media/image32.emf"/><Relationship Id="rId2" Type="http://schemas.openxmlformats.org/officeDocument/2006/relationships/oleObject" Target="../embeddings/oleObject15.bin"/><Relationship Id="rId19" Type="http://schemas.openxmlformats.org/officeDocument/2006/relationships/vmlDrawing" Target="../drawings/vmlDrawing8.vml"/><Relationship Id="rId18" Type="http://schemas.openxmlformats.org/officeDocument/2006/relationships/slideLayout" Target="../slideLayouts/slideLayout18.xml"/><Relationship Id="rId17" Type="http://schemas.openxmlformats.org/officeDocument/2006/relationships/image" Target="../media/image39.emf"/><Relationship Id="rId16" Type="http://schemas.openxmlformats.org/officeDocument/2006/relationships/oleObject" Target="../embeddings/oleObject22.bin"/><Relationship Id="rId15" Type="http://schemas.openxmlformats.org/officeDocument/2006/relationships/image" Target="../media/image38.emf"/><Relationship Id="rId14" Type="http://schemas.openxmlformats.org/officeDocument/2006/relationships/oleObject" Target="../embeddings/oleObject21.bin"/><Relationship Id="rId13" Type="http://schemas.openxmlformats.org/officeDocument/2006/relationships/image" Target="../media/image37.emf"/><Relationship Id="rId12" Type="http://schemas.openxmlformats.org/officeDocument/2006/relationships/oleObject" Target="../embeddings/oleObject20.bin"/><Relationship Id="rId11" Type="http://schemas.openxmlformats.org/officeDocument/2006/relationships/image" Target="../media/image36.emf"/><Relationship Id="rId10" Type="http://schemas.openxmlformats.org/officeDocument/2006/relationships/oleObject" Target="../embeddings/oleObject19.bin"/><Relationship Id="rId1" Type="http://schemas.openxmlformats.org/officeDocument/2006/relationships/hyperlink" Target="&#22810;&#36793;&#24418;&#36793;&#32536;&#22635;&#20805;&#31639;&#27861;.ex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18.xml"/><Relationship Id="rId4" Type="http://schemas.openxmlformats.org/officeDocument/2006/relationships/image" Target="../media/image41.emf"/><Relationship Id="rId3" Type="http://schemas.openxmlformats.org/officeDocument/2006/relationships/oleObject" Target="../embeddings/oleObject24.bin"/><Relationship Id="rId2" Type="http://schemas.openxmlformats.org/officeDocument/2006/relationships/image" Target="../media/image40.emf"/><Relationship Id="rId1" Type="http://schemas.openxmlformats.org/officeDocument/2006/relationships/oleObject" Target="../embeddings/oleObject23.bin"/></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45.emf"/><Relationship Id="rId7" Type="http://schemas.openxmlformats.org/officeDocument/2006/relationships/oleObject" Target="../embeddings/oleObject28.bin"/><Relationship Id="rId6" Type="http://schemas.openxmlformats.org/officeDocument/2006/relationships/image" Target="../media/image44.emf"/><Relationship Id="rId5" Type="http://schemas.openxmlformats.org/officeDocument/2006/relationships/oleObject" Target="../embeddings/oleObject27.bin"/><Relationship Id="rId4" Type="http://schemas.openxmlformats.org/officeDocument/2006/relationships/image" Target="../media/image43.emf"/><Relationship Id="rId3" Type="http://schemas.openxmlformats.org/officeDocument/2006/relationships/oleObject" Target="../embeddings/oleObject26.bin"/><Relationship Id="rId2" Type="http://schemas.openxmlformats.org/officeDocument/2006/relationships/image" Target="../media/image42.emf"/><Relationship Id="rId10" Type="http://schemas.openxmlformats.org/officeDocument/2006/relationships/vmlDrawing" Target="../drawings/vmlDrawing10.vml"/><Relationship Id="rId1" Type="http://schemas.openxmlformats.org/officeDocument/2006/relationships/oleObject" Target="../embeddings/oleObject25.bin"/></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18.xml"/><Relationship Id="rId4" Type="http://schemas.openxmlformats.org/officeDocument/2006/relationships/image" Target="../media/image47.emf"/><Relationship Id="rId3" Type="http://schemas.openxmlformats.org/officeDocument/2006/relationships/oleObject" Target="../embeddings/oleObject30.bin"/><Relationship Id="rId2" Type="http://schemas.openxmlformats.org/officeDocument/2006/relationships/image" Target="../media/image46.emf"/><Relationship Id="rId1" Type="http://schemas.openxmlformats.org/officeDocument/2006/relationships/oleObject" Target="../embeddings/oleObject29.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49.png"/><Relationship Id="rId3" Type="http://schemas.openxmlformats.org/officeDocument/2006/relationships/hyperlink" Target="&#22235;&#37051;&#25509;&#28857;&#22635;&#20805;&#31639;&#27861;.exe" TargetMode="External"/><Relationship Id="rId2" Type="http://schemas.openxmlformats.org/officeDocument/2006/relationships/image" Target="../media/image48.png"/><Relationship Id="rId1" Type="http://schemas.openxmlformats.org/officeDocument/2006/relationships/hyperlink" Target="&#20843;&#37051;&#25509;&#28857;&#22635;&#20805;&#31639;&#27861;.ex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hyperlink" Target="&#20070;&#39321;.exe" TargetMode="External"/><Relationship Id="rId1"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18.xml"/><Relationship Id="rId2" Type="http://schemas.openxmlformats.org/officeDocument/2006/relationships/image" Target="../media/image51.emf"/><Relationship Id="rId1" Type="http://schemas.openxmlformats.org/officeDocument/2006/relationships/oleObject" Target="../embeddings/oleObject31.bin"/></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62.png"/><Relationship Id="rId1" Type="http://schemas.openxmlformats.org/officeDocument/2006/relationships/image" Target="../media/image61.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64.png"/><Relationship Id="rId1" Type="http://schemas.openxmlformats.org/officeDocument/2006/relationships/image" Target="../media/image63.png"/></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18.xml"/><Relationship Id="rId3" Type="http://schemas.openxmlformats.org/officeDocument/2006/relationships/image" Target="../media/image66.png"/><Relationship Id="rId2" Type="http://schemas.openxmlformats.org/officeDocument/2006/relationships/image" Target="../media/image65.emf"/><Relationship Id="rId1" Type="http://schemas.openxmlformats.org/officeDocument/2006/relationships/oleObject" Target="../embeddings/oleObject32.bin"/></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18.xml"/><Relationship Id="rId3" Type="http://schemas.openxmlformats.org/officeDocument/2006/relationships/image" Target="../media/image68.png"/><Relationship Id="rId2" Type="http://schemas.openxmlformats.org/officeDocument/2006/relationships/image" Target="../media/image67.emf"/><Relationship Id="rId1" Type="http://schemas.openxmlformats.org/officeDocument/2006/relationships/oleObject" Target="../embeddings/oleObject33.bin"/></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70.png"/><Relationship Id="rId1" Type="http://schemas.openxmlformats.org/officeDocument/2006/relationships/image" Target="../media/image69.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72.png"/><Relationship Id="rId1" Type="http://schemas.openxmlformats.org/officeDocument/2006/relationships/image" Target="../media/image7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73.png"/></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8.xml"/><Relationship Id="rId2" Type="http://schemas.openxmlformats.org/officeDocument/2006/relationships/image" Target="../media/image74.emf"/><Relationship Id="rId1" Type="http://schemas.openxmlformats.org/officeDocument/2006/relationships/oleObject" Target="../embeddings/oleObject34.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AutoShape 6" descr="新闻纸"/>
          <p:cNvSpPr>
            <a:spLocks noChangeArrowheads="1"/>
          </p:cNvSpPr>
          <p:nvPr/>
        </p:nvSpPr>
        <p:spPr bwMode="auto">
          <a:xfrm>
            <a:off x="919163" y="762000"/>
            <a:ext cx="2520950" cy="1125538"/>
          </a:xfrm>
          <a:prstGeom prst="diamond">
            <a:avLst/>
          </a:prstGeom>
          <a:blipFill dpi="0" rotWithShape="0">
            <a:blip r:embed="rId1"/>
            <a:srcRect/>
            <a:tile tx="0" ty="0" sx="100000" sy="100000" flip="none" algn="tl"/>
          </a:blipFill>
          <a:ln>
            <a:noFill/>
          </a:ln>
          <a:effectLst>
            <a:prstShdw prst="shdw17" dist="17961" dir="2700000">
              <a:srgbClr val="959595"/>
            </a:prstShdw>
          </a:effectLst>
          <a:extLst>
            <a:ext uri="{91240B29-F687-4F45-9708-019B960494DF}">
              <a14:hiddenLine xmlns:a14="http://schemas.microsoft.com/office/drawing/2010/main" w="9525">
                <a:solidFill>
                  <a:srgbClr val="000000"/>
                </a:solidFill>
                <a:miter lim="800000"/>
                <a:headEnd/>
                <a:tailEnd/>
              </a14:hiddenLine>
            </a:ext>
          </a:extLst>
        </p:spPr>
        <p:txBody>
          <a:bodyPr t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a:lnSpc>
                <a:spcPct val="150000"/>
              </a:lnSpc>
            </a:pPr>
            <a:r>
              <a:rPr lang="zh-CN" altLang="en-US" b="1">
                <a:solidFill>
                  <a:schemeClr val="folHlink"/>
                </a:solidFill>
                <a:latin typeface="Times New Roman" panose="02020603050405020304" pitchFamily="18" charset="0"/>
                <a:ea typeface="楷体_GB2312" pitchFamily="49" charset="-122"/>
              </a:rPr>
              <a:t>第四章</a:t>
            </a:r>
            <a:endParaRPr lang="zh-CN" altLang="en-US" b="1">
              <a:solidFill>
                <a:schemeClr val="folHlink"/>
              </a:solidFill>
              <a:latin typeface="幼圆" panose="02010509060101010101" pitchFamily="49" charset="-122"/>
              <a:ea typeface="楷体_GB2312" pitchFamily="49" charset="-122"/>
            </a:endParaRPr>
          </a:p>
        </p:txBody>
      </p:sp>
      <p:sp>
        <p:nvSpPr>
          <p:cNvPr id="15363" name="Text Box 8"/>
          <p:cNvSpPr txBox="1">
            <a:spLocks noChangeArrowheads="1"/>
          </p:cNvSpPr>
          <p:nvPr/>
        </p:nvSpPr>
        <p:spPr bwMode="auto">
          <a:xfrm>
            <a:off x="1981200" y="304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en-US"/>
          </a:p>
        </p:txBody>
      </p:sp>
      <p:grpSp>
        <p:nvGrpSpPr>
          <p:cNvPr id="15364" name="Group 5"/>
          <p:cNvGrpSpPr/>
          <p:nvPr/>
        </p:nvGrpSpPr>
        <p:grpSpPr bwMode="auto">
          <a:xfrm>
            <a:off x="1692275" y="3789363"/>
            <a:ext cx="3810000" cy="519112"/>
            <a:chOff x="0" y="0"/>
            <a:chExt cx="5675" cy="663"/>
          </a:xfrm>
        </p:grpSpPr>
        <p:grpSp>
          <p:nvGrpSpPr>
            <p:cNvPr id="15366" name="Group 6"/>
            <p:cNvGrpSpPr/>
            <p:nvPr/>
          </p:nvGrpSpPr>
          <p:grpSpPr bwMode="auto">
            <a:xfrm>
              <a:off x="183" y="68"/>
              <a:ext cx="448" cy="299"/>
              <a:chOff x="0" y="0"/>
              <a:chExt cx="624" cy="432"/>
            </a:xfrm>
          </p:grpSpPr>
          <p:sp>
            <p:nvSpPr>
              <p:cNvPr id="15373" name="Rectangle 21"/>
              <p:cNvSpPr>
                <a:spLocks noChangeArrowheads="1"/>
              </p:cNvSpPr>
              <p:nvPr/>
            </p:nvSpPr>
            <p:spPr bwMode="auto">
              <a:xfrm>
                <a:off x="0" y="0"/>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5374" name="Rectangle 22"/>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15367" name="Group 9"/>
            <p:cNvGrpSpPr/>
            <p:nvPr/>
          </p:nvGrpSpPr>
          <p:grpSpPr bwMode="auto">
            <a:xfrm>
              <a:off x="261" y="334"/>
              <a:ext cx="465" cy="299"/>
              <a:chOff x="0" y="0"/>
              <a:chExt cx="672" cy="432"/>
            </a:xfrm>
          </p:grpSpPr>
          <p:sp>
            <p:nvSpPr>
              <p:cNvPr id="15371" name="Rectangle 24"/>
              <p:cNvSpPr>
                <a:spLocks noChangeArrowheads="1"/>
              </p:cNvSpPr>
              <p:nvPr/>
            </p:nvSpPr>
            <p:spPr bwMode="auto">
              <a:xfrm>
                <a:off x="0" y="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5372" name="Rectangle 25"/>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5368" name="Rectangle 26"/>
            <p:cNvSpPr>
              <a:spLocks noChangeArrowheads="1"/>
            </p:cNvSpPr>
            <p:nvPr/>
          </p:nvSpPr>
          <p:spPr bwMode="auto">
            <a:xfrm>
              <a:off x="0" y="288"/>
              <a:ext cx="353" cy="266"/>
            </a:xfrm>
            <a:prstGeom prst="rect">
              <a:avLst/>
            </a:prstGeom>
            <a:gradFill rotWithShape="0">
              <a:gsLst>
                <a:gs pos="0">
                  <a:schemeClr val="bg1"/>
                </a:gs>
                <a:gs pos="100000">
                  <a:schemeClr val="hlink"/>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5369" name="Rectangle 27"/>
            <p:cNvSpPr>
              <a:spLocks noChangeArrowheads="1"/>
            </p:cNvSpPr>
            <p:nvPr/>
          </p:nvSpPr>
          <p:spPr bwMode="auto">
            <a:xfrm>
              <a:off x="400" y="0"/>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5370" name="Rectangle 28"/>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5365" name="WordArt 33"/>
          <p:cNvSpPr>
            <a:spLocks noChangeArrowheads="1" noChangeShapeType="1" noTextEdit="1"/>
          </p:cNvSpPr>
          <p:nvPr/>
        </p:nvSpPr>
        <p:spPr bwMode="auto">
          <a:xfrm>
            <a:off x="2771775" y="3213100"/>
            <a:ext cx="4176713" cy="863600"/>
          </a:xfrm>
          <a:prstGeom prst="rect">
            <a:avLst/>
          </a:prstGeom>
        </p:spPr>
        <p:txBody>
          <a:bodyPr wrap="none" fromWordArt="1">
            <a:prstTxWarp prst="textPlain">
              <a:avLst>
                <a:gd name="adj" fmla="val 50000"/>
              </a:avLst>
            </a:prstTxWarp>
          </a:bodyPr>
          <a:lstStyle/>
          <a:p>
            <a:pPr algn="ctr"/>
            <a:r>
              <a:rPr lang="zh-CN" altLang="en-US" sz="3200" kern="10">
                <a:ln w="12700">
                  <a:solidFill>
                    <a:schemeClr val="tx1"/>
                  </a:solidFill>
                  <a:round/>
                </a:ln>
                <a:solidFill>
                  <a:schemeClr val="tx1">
                    <a:alpha val="74901"/>
                  </a:schemeClr>
                </a:solidFill>
                <a:effectLst>
                  <a:outerShdw dist="45791" dir="2021404" algn="ctr" rotWithShape="0">
                    <a:srgbClr val="9999FF"/>
                  </a:outerShdw>
                </a:effectLst>
                <a:latin typeface="宋体" panose="02010600030101010101" pitchFamily="2" charset="-122"/>
              </a:rPr>
              <a:t>多边形填充</a:t>
            </a:r>
            <a:endParaRPr lang="zh-CN" altLang="en-US" sz="3200" kern="10">
              <a:ln w="12700">
                <a:solidFill>
                  <a:schemeClr val="tx1"/>
                </a:solidFill>
                <a:round/>
              </a:ln>
              <a:solidFill>
                <a:schemeClr val="tx1">
                  <a:alpha val="74901"/>
                </a:schemeClr>
              </a:solidFill>
              <a:effectLst>
                <a:outerShdw dist="45791" dir="2021404" algn="ctr" rotWithShape="0">
                  <a:srgbClr val="9999FF"/>
                </a:outerShdw>
              </a:effectLst>
              <a:latin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1027"/>
          <p:cNvSpPr>
            <a:spLocks noGrp="1" noChangeArrowheads="1"/>
          </p:cNvSpPr>
          <p:nvPr>
            <p:ph type="body" idx="4294967295"/>
          </p:nvPr>
        </p:nvSpPr>
        <p:spPr>
          <a:xfrm>
            <a:off x="2268538" y="1773238"/>
            <a:ext cx="4356100" cy="2808287"/>
          </a:xfrm>
          <a:ln>
            <a:miter lim="800000"/>
          </a:ln>
        </p:spPr>
        <p:txBody>
          <a:bodyPr rtlCol="0">
            <a:normAutofit fontScale="77500" lnSpcReduction="20000"/>
          </a:bodyPr>
          <a:lstStyle/>
          <a:p>
            <a:pPr fontAlgn="auto">
              <a:lnSpc>
                <a:spcPct val="150000"/>
              </a:lnSpc>
              <a:spcAft>
                <a:spcPts val="0"/>
              </a:spcAft>
              <a:defRPr/>
            </a:pPr>
            <a:r>
              <a:rPr lang="zh-CN" altLang="en-US" b="1" dirty="0" smtClean="0">
                <a:solidFill>
                  <a:srgbClr val="0000CC"/>
                </a:solidFill>
                <a:effectLst>
                  <a:outerShdw blurRad="38100" dist="38100" dir="2700000" algn="tl">
                    <a:srgbClr val="C0C0C0"/>
                  </a:outerShdw>
                </a:effectLst>
                <a:hlinkClick r:id="rId1" action="ppaction://hlinksldjump"/>
              </a:rPr>
              <a:t>有效边表填充算法</a:t>
            </a:r>
            <a:endParaRPr lang="zh-CN" altLang="en-US" b="1" dirty="0" smtClean="0">
              <a:solidFill>
                <a:srgbClr val="0000CC"/>
              </a:solidFill>
              <a:effectLst>
                <a:outerShdw blurRad="38100" dist="38100" dir="2700000" algn="tl">
                  <a:srgbClr val="C0C0C0"/>
                </a:outerShdw>
              </a:effectLst>
            </a:endParaRPr>
          </a:p>
          <a:p>
            <a:pPr fontAlgn="auto">
              <a:lnSpc>
                <a:spcPct val="150000"/>
              </a:lnSpc>
              <a:spcAft>
                <a:spcPts val="0"/>
              </a:spcAft>
              <a:defRPr/>
            </a:pPr>
            <a:r>
              <a:rPr lang="zh-CN" altLang="en-US" b="1" dirty="0" smtClean="0">
                <a:solidFill>
                  <a:srgbClr val="0000CC"/>
                </a:solidFill>
                <a:effectLst>
                  <a:outerShdw blurRad="38100" dist="38100" dir="2700000" algn="tl">
                    <a:srgbClr val="C0C0C0"/>
                  </a:outerShdw>
                </a:effectLst>
                <a:hlinkClick r:id="rId2" action="ppaction://hlinksldjump"/>
              </a:rPr>
              <a:t>边缘填充</a:t>
            </a:r>
            <a:r>
              <a:rPr lang="zh-CN" altLang="en-US" sz="2000" b="1" dirty="0">
                <a:solidFill>
                  <a:srgbClr val="3366FF"/>
                </a:solidFill>
                <a:latin typeface="方正粗黑宋简体" panose="02000000000000000000" pitchFamily="2" charset="-122"/>
                <a:ea typeface="方正粗黑宋简体" panose="02000000000000000000" pitchFamily="2" charset="-122"/>
                <a:hlinkClick r:id="rId2" action="ppaction://hlinksldjump"/>
              </a:rPr>
              <a:t>算法</a:t>
            </a:r>
            <a:endParaRPr lang="zh-CN" altLang="en-US" sz="2000" b="1" dirty="0">
              <a:solidFill>
                <a:srgbClr val="3366FF"/>
              </a:solidFill>
              <a:latin typeface="方正粗黑宋简体" panose="02000000000000000000" pitchFamily="2" charset="-122"/>
              <a:ea typeface="方正粗黑宋简体" panose="02000000000000000000" pitchFamily="2" charset="-122"/>
            </a:endParaRPr>
          </a:p>
          <a:p>
            <a:pPr fontAlgn="auto">
              <a:lnSpc>
                <a:spcPct val="150000"/>
              </a:lnSpc>
              <a:spcAft>
                <a:spcPts val="0"/>
              </a:spcAft>
              <a:defRPr/>
            </a:pPr>
            <a:r>
              <a:rPr lang="zh-CN" altLang="en-US" b="1" dirty="0" smtClean="0">
                <a:solidFill>
                  <a:srgbClr val="0000CC"/>
                </a:solidFill>
                <a:effectLst>
                  <a:outerShdw blurRad="38100" dist="38100" dir="2700000" algn="tl">
                    <a:srgbClr val="C0C0C0"/>
                  </a:outerShdw>
                </a:effectLst>
                <a:hlinkClick r:id="rId3" action="ppaction://hlinksldjump"/>
              </a:rPr>
              <a:t>四邻接点种子填充算法</a:t>
            </a:r>
            <a:endParaRPr lang="zh-CN" altLang="en-US" b="1" dirty="0" smtClean="0">
              <a:solidFill>
                <a:srgbClr val="0000CC"/>
              </a:solidFill>
              <a:effectLst>
                <a:outerShdw blurRad="38100" dist="38100" dir="2700000" algn="tl">
                  <a:srgbClr val="C0C0C0"/>
                </a:outerShdw>
              </a:effectLst>
            </a:endParaRPr>
          </a:p>
          <a:p>
            <a:pPr fontAlgn="auto">
              <a:lnSpc>
                <a:spcPct val="150000"/>
              </a:lnSpc>
              <a:spcAft>
                <a:spcPts val="0"/>
              </a:spcAft>
              <a:defRPr/>
            </a:pPr>
            <a:r>
              <a:rPr lang="zh-CN" altLang="en-US" b="1" dirty="0" smtClean="0">
                <a:solidFill>
                  <a:srgbClr val="0000CC"/>
                </a:solidFill>
                <a:effectLst>
                  <a:outerShdw blurRad="38100" dist="38100" dir="2700000" algn="tl">
                    <a:srgbClr val="C0C0C0"/>
                  </a:outerShdw>
                </a:effectLst>
                <a:hlinkClick r:id="rId3" action="ppaction://hlinksldjump"/>
              </a:rPr>
              <a:t>八邻接点种子填充算法</a:t>
            </a:r>
            <a:endParaRPr lang="zh-CN" altLang="en-US" b="1" dirty="0" smtClean="0">
              <a:solidFill>
                <a:srgbClr val="0000CC"/>
              </a:solidFill>
              <a:effectLst>
                <a:outerShdw blurRad="38100" dist="38100" dir="2700000" algn="tl">
                  <a:srgbClr val="C0C0C0"/>
                </a:outerShdw>
              </a:effectLst>
            </a:endParaRPr>
          </a:p>
          <a:p>
            <a:pPr fontAlgn="auto">
              <a:lnSpc>
                <a:spcPct val="150000"/>
              </a:lnSpc>
              <a:spcAft>
                <a:spcPts val="0"/>
              </a:spcAft>
              <a:defRPr/>
            </a:pPr>
            <a:r>
              <a:rPr lang="zh-CN" altLang="en-US" b="1" dirty="0" smtClean="0">
                <a:solidFill>
                  <a:srgbClr val="0000CC"/>
                </a:solidFill>
                <a:effectLst>
                  <a:outerShdw blurRad="38100" dist="38100" dir="2700000" algn="tl">
                    <a:srgbClr val="C0C0C0"/>
                  </a:outerShdw>
                </a:effectLst>
                <a:hlinkClick r:id="rId4" action="ppaction://hlinksldjump"/>
              </a:rPr>
              <a:t>扫描线种子填充算法</a:t>
            </a:r>
            <a:endParaRPr lang="zh-CN" altLang="en-US" b="1" dirty="0" smtClean="0">
              <a:solidFill>
                <a:srgbClr val="0000CC"/>
              </a:solidFill>
              <a:effectLst>
                <a:outerShdw blurRad="38100" dist="38100" dir="2700000" algn="tl">
                  <a:srgbClr val="C0C0C0"/>
                </a:outerShdw>
              </a:effectLst>
            </a:endParaRPr>
          </a:p>
        </p:txBody>
      </p:sp>
      <p:sp>
        <p:nvSpPr>
          <p:cNvPr id="6147" name="Text Box 1040"/>
          <p:cNvSpPr txBox="1">
            <a:spLocks noChangeArrowheads="1"/>
          </p:cNvSpPr>
          <p:nvPr/>
        </p:nvSpPr>
        <p:spPr bwMode="auto">
          <a:xfrm>
            <a:off x="1403350" y="188913"/>
            <a:ext cx="3168650" cy="641350"/>
          </a:xfrm>
          <a:prstGeom prst="rect">
            <a:avLst/>
          </a:prstGeom>
          <a:noFill/>
          <a:ln w="9525">
            <a:noFill/>
            <a:miter lim="800000"/>
          </a:ln>
        </p:spPr>
        <p:txBody>
          <a:bodyPr>
            <a:spAutoFit/>
          </a:bodyPr>
          <a:lstStyle/>
          <a:p>
            <a:pPr eaLnBrk="1" hangingPunct="1">
              <a:spcBef>
                <a:spcPct val="50000"/>
              </a:spcBef>
              <a:buFont typeface="Arial" panose="020B0604020202020204" pitchFamily="34" charset="0"/>
              <a:buNone/>
              <a:defRPr/>
            </a:pPr>
            <a:r>
              <a:rPr lang="zh-CN" altLang="en-US" sz="3600" b="1">
                <a:effectLst>
                  <a:outerShdw blurRad="38100" dist="38100" dir="2700000" algn="tl">
                    <a:srgbClr val="C0C0C0"/>
                  </a:outerShdw>
                </a:effectLst>
                <a:latin typeface="楷体_GB2312" pitchFamily="49" charset="-122"/>
                <a:ea typeface="楷体_GB2312" pitchFamily="49" charset="-122"/>
              </a:rPr>
              <a:t>本章学习目标</a:t>
            </a:r>
            <a:endParaRPr lang="zh-CN" altLang="en-US" sz="3600" b="1">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Effect transition="in" filter="box(in)">
                                      <p:cBhvr>
                                        <p:cTn id="7" dur="500"/>
                                        <p:tgtEl>
                                          <p:spTgt spid="61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146">
                                            <p:txEl>
                                              <p:pRg st="1" end="1"/>
                                            </p:txEl>
                                          </p:spTgt>
                                        </p:tgtEl>
                                        <p:attrNameLst>
                                          <p:attrName>style.visibility</p:attrName>
                                        </p:attrNameLst>
                                      </p:cBhvr>
                                      <p:to>
                                        <p:strVal val="visible"/>
                                      </p:to>
                                    </p:set>
                                    <p:animEffect transition="in" filter="box(in)">
                                      <p:cBhvr>
                                        <p:cTn id="12" dur="500"/>
                                        <p:tgtEl>
                                          <p:spTgt spid="61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146">
                                            <p:txEl>
                                              <p:pRg st="2" end="2"/>
                                            </p:txEl>
                                          </p:spTgt>
                                        </p:tgtEl>
                                        <p:attrNameLst>
                                          <p:attrName>style.visibility</p:attrName>
                                        </p:attrNameLst>
                                      </p:cBhvr>
                                      <p:to>
                                        <p:strVal val="visible"/>
                                      </p:to>
                                    </p:set>
                                    <p:animEffect transition="in" filter="box(in)">
                                      <p:cBhvr>
                                        <p:cTn id="17" dur="500"/>
                                        <p:tgtEl>
                                          <p:spTgt spid="61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146">
                                            <p:txEl>
                                              <p:pRg st="3" end="3"/>
                                            </p:txEl>
                                          </p:spTgt>
                                        </p:tgtEl>
                                        <p:attrNameLst>
                                          <p:attrName>style.visibility</p:attrName>
                                        </p:attrNameLst>
                                      </p:cBhvr>
                                      <p:to>
                                        <p:strVal val="visible"/>
                                      </p:to>
                                    </p:set>
                                    <p:animEffect transition="in" filter="box(in)">
                                      <p:cBhvr>
                                        <p:cTn id="22" dur="500"/>
                                        <p:tgtEl>
                                          <p:spTgt spid="61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146">
                                            <p:txEl>
                                              <p:pRg st="4" end="4"/>
                                            </p:txEl>
                                          </p:spTgt>
                                        </p:tgtEl>
                                        <p:attrNameLst>
                                          <p:attrName>style.visibility</p:attrName>
                                        </p:attrNameLst>
                                      </p:cBhvr>
                                      <p:to>
                                        <p:strVal val="visible"/>
                                      </p:to>
                                    </p:set>
                                    <p:animEffect transition="in" filter="box(in)">
                                      <p:cBhvr>
                                        <p:cTn id="27" dur="500"/>
                                        <p:tgtEl>
                                          <p:spTgt spid="61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9"/>
          <p:cNvSpPr>
            <a:spLocks noGrp="1" noChangeArrowheads="1"/>
          </p:cNvSpPr>
          <p:nvPr>
            <p:ph type="body" idx="4294967295"/>
          </p:nvPr>
        </p:nvSpPr>
        <p:spPr>
          <a:xfrm>
            <a:off x="1403350" y="1557338"/>
            <a:ext cx="6480175" cy="4249737"/>
          </a:xfrm>
        </p:spPr>
        <p:txBody>
          <a:bodyPr/>
          <a:lstStyle/>
          <a:p>
            <a:r>
              <a:rPr lang="en-US" altLang="zh-CN" sz="3600" b="1" smtClean="0">
                <a:latin typeface="隶书" panose="02010509060101010101" pitchFamily="49" charset="-122"/>
                <a:ea typeface="隶书" panose="02010509060101010101" pitchFamily="49" charset="-122"/>
              </a:rPr>
              <a:t>4.1</a:t>
            </a:r>
            <a:r>
              <a:rPr lang="zh-CN" altLang="en-US" sz="3600" b="1" smtClean="0">
                <a:latin typeface="隶书" panose="02010509060101010101" pitchFamily="49" charset="-122"/>
                <a:ea typeface="隶书" panose="02010509060101010101" pitchFamily="49" charset="-122"/>
              </a:rPr>
              <a:t>　多边形的扫描转换 </a:t>
            </a:r>
            <a:endParaRPr lang="zh-CN" altLang="en-US" sz="3600" b="1" smtClean="0">
              <a:latin typeface="隶书" panose="02010509060101010101" pitchFamily="49" charset="-122"/>
              <a:ea typeface="隶书" panose="02010509060101010101" pitchFamily="49" charset="-122"/>
            </a:endParaRPr>
          </a:p>
          <a:p>
            <a:r>
              <a:rPr lang="en-US" altLang="zh-CN" sz="3600" b="1" smtClean="0">
                <a:latin typeface="隶书" panose="02010509060101010101" pitchFamily="49" charset="-122"/>
                <a:ea typeface="隶书" panose="02010509060101010101" pitchFamily="49" charset="-122"/>
              </a:rPr>
              <a:t>4.2  </a:t>
            </a:r>
            <a:r>
              <a:rPr lang="zh-CN" altLang="en-US" sz="3600" b="1" smtClean="0">
                <a:latin typeface="隶书" panose="02010509060101010101" pitchFamily="49" charset="-122"/>
                <a:ea typeface="隶书" panose="02010509060101010101" pitchFamily="49" charset="-122"/>
              </a:rPr>
              <a:t>有效边表填充算法</a:t>
            </a:r>
            <a:endParaRPr lang="zh-CN" altLang="en-US" sz="3600" b="1" smtClean="0">
              <a:latin typeface="隶书" panose="02010509060101010101" pitchFamily="49" charset="-122"/>
              <a:ea typeface="隶书" panose="02010509060101010101" pitchFamily="49" charset="-122"/>
            </a:endParaRPr>
          </a:p>
          <a:p>
            <a:r>
              <a:rPr lang="en-US" altLang="zh-CN" sz="3600" b="1" smtClean="0">
                <a:latin typeface="隶书" panose="02010509060101010101" pitchFamily="49" charset="-122"/>
                <a:ea typeface="隶书" panose="02010509060101010101" pitchFamily="49" charset="-122"/>
              </a:rPr>
              <a:t>4.3  </a:t>
            </a:r>
            <a:r>
              <a:rPr lang="zh-CN" altLang="en-US" sz="3600" b="1" smtClean="0">
                <a:latin typeface="隶书" panose="02010509060101010101" pitchFamily="49" charset="-122"/>
                <a:ea typeface="隶书" panose="02010509060101010101" pitchFamily="49" charset="-122"/>
              </a:rPr>
              <a:t>边缘填充算法</a:t>
            </a:r>
            <a:endParaRPr lang="zh-CN" altLang="en-US" sz="3600" b="1" smtClean="0">
              <a:latin typeface="隶书" panose="02010509060101010101" pitchFamily="49" charset="-122"/>
              <a:ea typeface="隶书" panose="02010509060101010101" pitchFamily="49" charset="-122"/>
            </a:endParaRPr>
          </a:p>
          <a:p>
            <a:r>
              <a:rPr lang="en-US" altLang="zh-CN" sz="3600" b="1" smtClean="0">
                <a:latin typeface="隶书" panose="02010509060101010101" pitchFamily="49" charset="-122"/>
                <a:ea typeface="隶书" panose="02010509060101010101" pitchFamily="49" charset="-122"/>
              </a:rPr>
              <a:t>4.4  </a:t>
            </a:r>
            <a:r>
              <a:rPr lang="zh-CN" altLang="en-US" sz="3600" b="1" smtClean="0">
                <a:latin typeface="隶书" panose="02010509060101010101" pitchFamily="49" charset="-122"/>
                <a:ea typeface="隶书" panose="02010509060101010101" pitchFamily="49" charset="-122"/>
              </a:rPr>
              <a:t>区域填充算法</a:t>
            </a:r>
            <a:endParaRPr lang="zh-CN" altLang="en-US" sz="3600" b="1" smtClean="0">
              <a:latin typeface="隶书" panose="02010509060101010101" pitchFamily="49" charset="-122"/>
              <a:ea typeface="隶书" panose="02010509060101010101" pitchFamily="49" charset="-122"/>
            </a:endParaRPr>
          </a:p>
          <a:p>
            <a:r>
              <a:rPr lang="en-US" altLang="zh-CN" sz="3600" b="1" smtClean="0">
                <a:latin typeface="隶书" panose="02010509060101010101" pitchFamily="49" charset="-122"/>
                <a:ea typeface="隶书" panose="02010509060101010101" pitchFamily="49" charset="-122"/>
              </a:rPr>
              <a:t>4.5  </a:t>
            </a:r>
            <a:r>
              <a:rPr lang="zh-CN" altLang="en-US" sz="3600" b="1" smtClean="0">
                <a:latin typeface="隶书" panose="02010509060101010101" pitchFamily="49" charset="-122"/>
                <a:ea typeface="隶书" panose="02010509060101010101" pitchFamily="49" charset="-122"/>
              </a:rPr>
              <a:t>本章小结</a:t>
            </a:r>
            <a:endParaRPr lang="zh-CN" altLang="en-US" sz="3600" b="1" smtClean="0">
              <a:latin typeface="隶书" panose="02010509060101010101" pitchFamily="49" charset="-122"/>
              <a:ea typeface="隶书" panose="02010509060101010101" pitchFamily="49" charset="-122"/>
            </a:endParaRPr>
          </a:p>
          <a:p>
            <a:r>
              <a:rPr lang="zh-CN" altLang="en-US" sz="3600" b="1" smtClean="0">
                <a:latin typeface="隶书" panose="02010509060101010101" pitchFamily="49" charset="-122"/>
                <a:ea typeface="隶书" panose="02010509060101010101" pitchFamily="49" charset="-122"/>
              </a:rPr>
              <a:t>习题 </a:t>
            </a:r>
            <a:r>
              <a:rPr lang="en-US" altLang="zh-CN" sz="3600" b="1" smtClean="0">
                <a:latin typeface="隶书" panose="02010509060101010101" pitchFamily="49" charset="-122"/>
                <a:ea typeface="隶书" panose="02010509060101010101" pitchFamily="49" charset="-122"/>
              </a:rPr>
              <a:t>4</a:t>
            </a:r>
            <a:endParaRPr lang="en-US" altLang="zh-CN" sz="3600" b="1" smtClean="0">
              <a:latin typeface="隶书" panose="02010509060101010101" pitchFamily="49" charset="-122"/>
              <a:ea typeface="隶书" panose="02010509060101010101" pitchFamily="49" charset="-122"/>
            </a:endParaRPr>
          </a:p>
        </p:txBody>
      </p:sp>
      <p:sp>
        <p:nvSpPr>
          <p:cNvPr id="7171" name="Text Box 10"/>
          <p:cNvSpPr txBox="1">
            <a:spLocks noChangeArrowheads="1"/>
          </p:cNvSpPr>
          <p:nvPr/>
        </p:nvSpPr>
        <p:spPr bwMode="auto">
          <a:xfrm>
            <a:off x="1547813" y="404813"/>
            <a:ext cx="2663825" cy="641350"/>
          </a:xfrm>
          <a:prstGeom prst="rect">
            <a:avLst/>
          </a:prstGeom>
          <a:noFill/>
          <a:ln w="9525">
            <a:noFill/>
            <a:miter lim="800000"/>
          </a:ln>
        </p:spPr>
        <p:txBody>
          <a:bodyPr>
            <a:spAutoFit/>
          </a:bodyPr>
          <a:lstStyle/>
          <a:p>
            <a:pPr eaLnBrk="1" hangingPunct="1">
              <a:spcBef>
                <a:spcPct val="50000"/>
              </a:spcBef>
              <a:buFont typeface="Arial" panose="020B0604020202020204" pitchFamily="34" charset="0"/>
              <a:buNone/>
              <a:defRPr/>
            </a:pPr>
            <a:r>
              <a:rPr lang="zh-CN" altLang="en-US" sz="3600" b="1">
                <a:effectLst>
                  <a:outerShdw blurRad="38100" dist="38100" dir="2700000" algn="tl">
                    <a:srgbClr val="C0C0C0"/>
                  </a:outerShdw>
                </a:effectLst>
                <a:latin typeface="楷体_GB2312" pitchFamily="49" charset="-122"/>
                <a:ea typeface="楷体_GB2312" pitchFamily="49" charset="-122"/>
              </a:rPr>
              <a:t>本章内容</a:t>
            </a:r>
            <a:endParaRPr lang="zh-CN" altLang="en-US" sz="3600" b="1">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blinds(horizontal)">
                                      <p:cBhvr>
                                        <p:cTn id="7" dur="500"/>
                                        <p:tgtEl>
                                          <p:spTgt spid="71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0">
                                            <p:txEl>
                                              <p:pRg st="1" end="1"/>
                                            </p:txEl>
                                          </p:spTgt>
                                        </p:tgtEl>
                                        <p:attrNameLst>
                                          <p:attrName>style.visibility</p:attrName>
                                        </p:attrNameLst>
                                      </p:cBhvr>
                                      <p:to>
                                        <p:strVal val="visible"/>
                                      </p:to>
                                    </p:set>
                                    <p:animEffect transition="in" filter="blinds(horizontal)">
                                      <p:cBhvr>
                                        <p:cTn id="12" dur="500"/>
                                        <p:tgtEl>
                                          <p:spTgt spid="71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0">
                                            <p:txEl>
                                              <p:pRg st="2" end="2"/>
                                            </p:txEl>
                                          </p:spTgt>
                                        </p:tgtEl>
                                        <p:attrNameLst>
                                          <p:attrName>style.visibility</p:attrName>
                                        </p:attrNameLst>
                                      </p:cBhvr>
                                      <p:to>
                                        <p:strVal val="visible"/>
                                      </p:to>
                                    </p:set>
                                    <p:animEffect transition="in" filter="blinds(horizontal)">
                                      <p:cBhvr>
                                        <p:cTn id="17" dur="500"/>
                                        <p:tgtEl>
                                          <p:spTgt spid="71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70">
                                            <p:txEl>
                                              <p:pRg st="3" end="3"/>
                                            </p:txEl>
                                          </p:spTgt>
                                        </p:tgtEl>
                                        <p:attrNameLst>
                                          <p:attrName>style.visibility</p:attrName>
                                        </p:attrNameLst>
                                      </p:cBhvr>
                                      <p:to>
                                        <p:strVal val="visible"/>
                                      </p:to>
                                    </p:set>
                                    <p:animEffect transition="in" filter="blinds(horizontal)">
                                      <p:cBhvr>
                                        <p:cTn id="22" dur="500"/>
                                        <p:tgtEl>
                                          <p:spTgt spid="71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70">
                                            <p:txEl>
                                              <p:pRg st="4" end="4"/>
                                            </p:txEl>
                                          </p:spTgt>
                                        </p:tgtEl>
                                        <p:attrNameLst>
                                          <p:attrName>style.visibility</p:attrName>
                                        </p:attrNameLst>
                                      </p:cBhvr>
                                      <p:to>
                                        <p:strVal val="visible"/>
                                      </p:to>
                                    </p:set>
                                    <p:animEffect transition="in" filter="blinds(horizontal)">
                                      <p:cBhvr>
                                        <p:cTn id="27" dur="500"/>
                                        <p:tgtEl>
                                          <p:spTgt spid="717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170">
                                            <p:txEl>
                                              <p:pRg st="5" end="5"/>
                                            </p:txEl>
                                          </p:spTgt>
                                        </p:tgtEl>
                                        <p:attrNameLst>
                                          <p:attrName>style.visibility</p:attrName>
                                        </p:attrNameLst>
                                      </p:cBhvr>
                                      <p:to>
                                        <p:strVal val="visible"/>
                                      </p:to>
                                    </p:set>
                                    <p:animEffect transition="in" filter="blinds(horizontal)">
                                      <p:cBhvr>
                                        <p:cTn id="32" dur="500"/>
                                        <p:tgtEl>
                                          <p:spTgt spid="717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9"/>
          <p:cNvSpPr>
            <a:spLocks noGrp="1" noChangeArrowheads="1"/>
          </p:cNvSpPr>
          <p:nvPr>
            <p:ph type="title" idx="4294967295"/>
          </p:nvPr>
        </p:nvSpPr>
        <p:spPr>
          <a:xfrm>
            <a:off x="0" y="333375"/>
            <a:ext cx="6804025" cy="847725"/>
          </a:xfrm>
          <a:ln>
            <a:miter lim="800000"/>
          </a:ln>
        </p:spPr>
        <p:txBody>
          <a:bodyPr rtlCol="0" anchorCtr="1">
            <a:normAutofit/>
          </a:bodyPr>
          <a:lstStyle/>
          <a:p>
            <a:pPr fontAlgn="auto">
              <a:spcAft>
                <a:spcPts val="0"/>
              </a:spcAft>
              <a:defRPr/>
            </a:pPr>
            <a:r>
              <a:rPr lang="en-US" altLang="zh-CN" dirty="0" smtClean="0">
                <a:effectLst>
                  <a:outerShdw blurRad="38100" dist="38100" dir="2700000" algn="tl">
                    <a:srgbClr val="C0C0C0"/>
                  </a:outerShdw>
                </a:effectLst>
                <a:latin typeface="楷体_GB2312" pitchFamily="49" charset="-122"/>
                <a:ea typeface="楷体_GB2312" pitchFamily="49" charset="-122"/>
              </a:rPr>
              <a:t>4.1</a:t>
            </a:r>
            <a:r>
              <a:rPr lang="zh-CN" altLang="en-US" dirty="0" smtClean="0">
                <a:effectLst>
                  <a:outerShdw blurRad="38100" dist="38100" dir="2700000" algn="tl">
                    <a:srgbClr val="C0C0C0"/>
                  </a:outerShdw>
                </a:effectLst>
                <a:latin typeface="楷体_GB2312" pitchFamily="49" charset="-122"/>
                <a:ea typeface="楷体_GB2312" pitchFamily="49" charset="-122"/>
              </a:rPr>
              <a:t>　多边形的扫描转换</a:t>
            </a:r>
            <a:r>
              <a:rPr lang="zh-CN" altLang="en-US" dirty="0" smtClean="0"/>
              <a:t> </a:t>
            </a:r>
            <a:endParaRPr lang="zh-CN" altLang="en-US" dirty="0" smtClean="0"/>
          </a:p>
        </p:txBody>
      </p:sp>
      <p:sp>
        <p:nvSpPr>
          <p:cNvPr id="18435" name="Rectangle 10"/>
          <p:cNvSpPr>
            <a:spLocks noGrp="1" noChangeArrowheads="1"/>
          </p:cNvSpPr>
          <p:nvPr>
            <p:ph type="body" idx="4294967295"/>
          </p:nvPr>
        </p:nvSpPr>
        <p:spPr>
          <a:xfrm>
            <a:off x="323528" y="1200082"/>
            <a:ext cx="8640886" cy="3093014"/>
          </a:xfrm>
        </p:spPr>
        <p:txBody>
          <a:bodyPr/>
          <a:lstStyle/>
          <a:p>
            <a:pPr marL="0" indent="0">
              <a:lnSpc>
                <a:spcPct val="150000"/>
              </a:lnSpc>
              <a:buFont typeface="Wingdings" panose="05000000000000000000" pitchFamily="2" charset="2"/>
              <a:buNone/>
            </a:pPr>
            <a:r>
              <a:rPr lang="zh-CN" altLang="en-US" sz="1800" dirty="0" smtClean="0">
                <a:latin typeface="楷体_GB2312" pitchFamily="49" charset="-122"/>
                <a:ea typeface="楷体_GB2312" pitchFamily="49" charset="-122"/>
              </a:rPr>
              <a:t>本章将以直线段连接而成的示例</a:t>
            </a:r>
            <a:r>
              <a:rPr lang="zh-CN" altLang="en-US" sz="1800" b="1" dirty="0" smtClean="0">
                <a:solidFill>
                  <a:srgbClr val="3366FF"/>
                </a:solidFill>
                <a:latin typeface="方正粗黑宋简体" panose="02000000000000000000" pitchFamily="2" charset="-122"/>
                <a:ea typeface="方正粗黑宋简体" panose="02000000000000000000" pitchFamily="2" charset="-122"/>
              </a:rPr>
              <a:t>多边形</a:t>
            </a:r>
            <a:r>
              <a:rPr lang="zh-CN" altLang="en-US" sz="1800" dirty="0" smtClean="0">
                <a:latin typeface="楷体_GB2312" pitchFamily="49" charset="-122"/>
                <a:ea typeface="楷体_GB2312" pitchFamily="49" charset="-122"/>
              </a:rPr>
              <a:t>为例讲解多边形的填充算法，同时给出</a:t>
            </a:r>
            <a:r>
              <a:rPr lang="zh-CN" altLang="en-US" sz="1800" b="1" dirty="0" smtClean="0">
                <a:solidFill>
                  <a:srgbClr val="FF0000"/>
                </a:solidFill>
                <a:latin typeface="黑体" panose="02010609060101010101" pitchFamily="49" charset="-122"/>
                <a:ea typeface="黑体" panose="02010609060101010101" pitchFamily="49" charset="-122"/>
              </a:rPr>
              <a:t>图形边界像素的处理原则</a:t>
            </a:r>
            <a:r>
              <a:rPr lang="zh-CN" altLang="en-US" sz="1800" dirty="0" smtClean="0">
                <a:latin typeface="楷体_GB2312" pitchFamily="49" charset="-122"/>
                <a:ea typeface="楷体_GB2312" pitchFamily="49" charset="-122"/>
              </a:rPr>
              <a:t>。多边形内部可以使用</a:t>
            </a:r>
            <a:r>
              <a:rPr lang="zh-CN" altLang="en-US" sz="1800" b="1" dirty="0" smtClean="0">
                <a:solidFill>
                  <a:srgbClr val="3366FF"/>
                </a:solidFill>
                <a:latin typeface="方正粗黑宋简体" panose="02000000000000000000" pitchFamily="2" charset="-122"/>
                <a:ea typeface="方正粗黑宋简体" panose="02000000000000000000" pitchFamily="2" charset="-122"/>
              </a:rPr>
              <a:t>平面着色模式或光滑着色模式填充</a:t>
            </a:r>
            <a:r>
              <a:rPr lang="zh-CN" altLang="en-US" sz="1800" dirty="0" smtClean="0">
                <a:latin typeface="楷体_GB2312" pitchFamily="49" charset="-122"/>
                <a:ea typeface="楷体_GB2312" pitchFamily="49" charset="-122"/>
              </a:rPr>
              <a:t>。无论使用哪种着色模式，都意味着要</a:t>
            </a:r>
            <a:r>
              <a:rPr lang="zh-CN" altLang="en-US" sz="1800" b="1" dirty="0" smtClean="0">
                <a:solidFill>
                  <a:srgbClr val="3366FF"/>
                </a:solidFill>
                <a:latin typeface="方正粗黑宋简体" panose="02000000000000000000" pitchFamily="2" charset="-122"/>
                <a:ea typeface="方正粗黑宋简体" panose="02000000000000000000" pitchFamily="2" charset="-122"/>
              </a:rPr>
              <a:t>使用指定颜色为多边形边界内的每一个像素着色</a:t>
            </a:r>
            <a:r>
              <a:rPr lang="zh-CN" altLang="en-US" sz="1800" dirty="0" smtClean="0">
                <a:latin typeface="楷体_GB2312" pitchFamily="49" charset="-122"/>
                <a:ea typeface="楷体_GB2312" pitchFamily="49" charset="-122"/>
              </a:rPr>
              <a:t>。</a:t>
            </a:r>
            <a:endParaRPr lang="en-US" altLang="zh-CN" sz="1800" dirty="0" smtClean="0">
              <a:latin typeface="楷体_GB2312" pitchFamily="49" charset="-122"/>
              <a:ea typeface="楷体_GB2312" pitchFamily="49" charset="-122"/>
            </a:endParaRPr>
          </a:p>
          <a:p>
            <a:pPr marL="0" indent="0">
              <a:lnSpc>
                <a:spcPct val="150000"/>
              </a:lnSpc>
              <a:buFont typeface="Wingdings" panose="05000000000000000000" pitchFamily="2" charset="2"/>
              <a:buNone/>
            </a:pPr>
            <a:r>
              <a:rPr lang="zh-CN" altLang="en-US" sz="1800" dirty="0" smtClean="0">
                <a:latin typeface="楷体_GB2312" pitchFamily="49" charset="-122"/>
                <a:ea typeface="楷体_GB2312" pitchFamily="49" charset="-122"/>
              </a:rPr>
              <a:t>图</a:t>
            </a:r>
            <a:r>
              <a:rPr lang="en-US" altLang="zh-CN" sz="1800" dirty="0" smtClean="0">
                <a:latin typeface="楷体_GB2312" pitchFamily="49" charset="-122"/>
                <a:ea typeface="楷体_GB2312" pitchFamily="49" charset="-122"/>
              </a:rPr>
              <a:t>4-2</a:t>
            </a:r>
            <a:r>
              <a:rPr lang="zh-CN" altLang="en-US" sz="1800" dirty="0" smtClean="0">
                <a:latin typeface="楷体_GB2312" pitchFamily="49" charset="-122"/>
                <a:ea typeface="楷体_GB2312" pitchFamily="49" charset="-122"/>
              </a:rPr>
              <a:t>所示为圆环的四边形网格模型，圆环表面共划分了</a:t>
            </a:r>
            <a:r>
              <a:rPr lang="en-US" altLang="zh-CN" sz="1800" dirty="0" smtClean="0">
                <a:latin typeface="楷体_GB2312" pitchFamily="49" charset="-122"/>
                <a:ea typeface="楷体_GB2312" pitchFamily="49" charset="-122"/>
              </a:rPr>
              <a:t>1296</a:t>
            </a:r>
            <a:r>
              <a:rPr lang="zh-CN" altLang="en-US" sz="1800" dirty="0" smtClean="0">
                <a:latin typeface="楷体_GB2312" pitchFamily="49" charset="-122"/>
                <a:ea typeface="楷体_GB2312" pitchFamily="49" charset="-122"/>
              </a:rPr>
              <a:t>个四边形网格。给圆环添加“黄金”材质，根据场景中视点和光源的位置及朝向，分别计算每个四边形网格顶点的颜色，然后使用</a:t>
            </a:r>
            <a:r>
              <a:rPr lang="en-US" altLang="zh-CN" sz="1800" b="1" dirty="0" err="1" smtClean="0">
                <a:solidFill>
                  <a:srgbClr val="3366FF"/>
                </a:solidFill>
                <a:latin typeface="方正粗黑宋简体" panose="02000000000000000000" pitchFamily="2" charset="-122"/>
                <a:ea typeface="方正粗黑宋简体" panose="02000000000000000000" pitchFamily="2" charset="-122"/>
              </a:rPr>
              <a:t>Gouraud</a:t>
            </a:r>
            <a:r>
              <a:rPr lang="zh-CN" altLang="en-US" sz="1800" b="1" dirty="0" smtClean="0">
                <a:solidFill>
                  <a:srgbClr val="3366FF"/>
                </a:solidFill>
                <a:latin typeface="方正粗黑宋简体" panose="02000000000000000000" pitchFamily="2" charset="-122"/>
                <a:ea typeface="方正粗黑宋简体" panose="02000000000000000000" pitchFamily="2" charset="-122"/>
              </a:rPr>
              <a:t>光滑着色模式</a:t>
            </a:r>
            <a:r>
              <a:rPr lang="zh-CN" altLang="en-US" sz="1800" dirty="0" smtClean="0">
                <a:latin typeface="楷体_GB2312" pitchFamily="49" charset="-122"/>
                <a:ea typeface="楷体_GB2312" pitchFamily="49" charset="-122"/>
              </a:rPr>
              <a:t>渲染圆环。圆环光照效果如图</a:t>
            </a:r>
            <a:r>
              <a:rPr lang="en-US" altLang="zh-CN" sz="1800" dirty="0" smtClean="0">
                <a:latin typeface="楷体_GB2312" pitchFamily="49" charset="-122"/>
                <a:ea typeface="楷体_GB2312" pitchFamily="49" charset="-122"/>
              </a:rPr>
              <a:t>4-3</a:t>
            </a:r>
            <a:r>
              <a:rPr lang="zh-CN" altLang="en-US" sz="1800" dirty="0" smtClean="0">
                <a:latin typeface="楷体_GB2312" pitchFamily="49" charset="-122"/>
                <a:ea typeface="楷体_GB2312" pitchFamily="49" charset="-122"/>
              </a:rPr>
              <a:t>所示。 </a:t>
            </a:r>
            <a:endParaRPr lang="zh-CN" altLang="en-US" sz="1800" dirty="0" smtClean="0">
              <a:latin typeface="楷体_GB2312" pitchFamily="49" charset="-122"/>
              <a:ea typeface="楷体_GB2312" pitchFamily="49" charset="-122"/>
            </a:endParaRPr>
          </a:p>
        </p:txBody>
      </p:sp>
      <p:sp>
        <p:nvSpPr>
          <p:cNvPr id="18436" name="Rectangle 12"/>
          <p:cNvSpPr>
            <a:spLocks noChangeArrowheads="1"/>
          </p:cNvSpPr>
          <p:nvPr/>
        </p:nvSpPr>
        <p:spPr bwMode="auto">
          <a:xfrm>
            <a:off x="0" y="233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8437" name="Rectangle 15"/>
          <p:cNvSpPr>
            <a:spLocks noChangeArrowheads="1"/>
          </p:cNvSpPr>
          <p:nvPr/>
        </p:nvSpPr>
        <p:spPr bwMode="auto">
          <a:xfrm>
            <a:off x="0" y="2043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7" name="Picture 5" descr="BC3DAF6951934F1F92AE7F128675FEC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9792" y="4077072"/>
            <a:ext cx="1743741" cy="17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A7A46ED567874343AE1423CA4FBDF01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4307973"/>
            <a:ext cx="1606519" cy="1656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p:cNvSpPr>
            <a:spLocks noChangeArrowheads="1"/>
          </p:cNvSpPr>
          <p:nvPr/>
        </p:nvSpPr>
        <p:spPr bwMode="auto">
          <a:xfrm>
            <a:off x="1702748" y="5945745"/>
            <a:ext cx="3518912" cy="400110"/>
          </a:xfrm>
          <a:prstGeom prst="rect">
            <a:avLst/>
          </a:prstGeom>
        </p:spPr>
        <p:txBody>
          <a:bodyPr wrap="none">
            <a:spAutoFit/>
          </a:bodyPr>
          <a:lstStyle/>
          <a:p>
            <a:pPr algn="ctr">
              <a:buFont typeface="Arial" panose="020B0604020202020204" pitchFamily="34" charset="0"/>
              <a:buNone/>
            </a:pPr>
            <a:r>
              <a:rPr lang="zh-CN" altLang="en-US" sz="2000" dirty="0">
                <a:latin typeface="楷体_GB2312" pitchFamily="49" charset="-122"/>
                <a:ea typeface="楷体_GB2312" pitchFamily="49" charset="-122"/>
              </a:rPr>
              <a:t>图</a:t>
            </a:r>
            <a:r>
              <a:rPr lang="en-US" altLang="zh-CN" sz="2000" dirty="0">
                <a:latin typeface="楷体_GB2312" pitchFamily="49" charset="-122"/>
                <a:ea typeface="楷体_GB2312" pitchFamily="49" charset="-122"/>
              </a:rPr>
              <a:t>4-2 </a:t>
            </a:r>
            <a:r>
              <a:rPr lang="zh-CN" altLang="en-US" sz="2000" dirty="0">
                <a:latin typeface="楷体_GB2312" pitchFamily="49" charset="-122"/>
                <a:ea typeface="楷体_GB2312" pitchFamily="49" charset="-122"/>
              </a:rPr>
              <a:t>圆环的四边形网格模型</a:t>
            </a:r>
            <a:endParaRPr lang="zh-CN" altLang="en-US" sz="2000" dirty="0">
              <a:latin typeface="楷体_GB2312" pitchFamily="49" charset="-122"/>
              <a:ea typeface="楷体_GB2312" pitchFamily="49" charset="-122"/>
            </a:endParaRPr>
          </a:p>
        </p:txBody>
      </p:sp>
      <p:sp>
        <p:nvSpPr>
          <p:cNvPr id="2" name="矩形 1"/>
          <p:cNvSpPr/>
          <p:nvPr/>
        </p:nvSpPr>
        <p:spPr>
          <a:xfrm>
            <a:off x="6088755" y="5964281"/>
            <a:ext cx="2749471" cy="400110"/>
          </a:xfrm>
          <a:prstGeom prst="rect">
            <a:avLst/>
          </a:prstGeom>
        </p:spPr>
        <p:txBody>
          <a:bodyPr wrap="none">
            <a:spAutoFit/>
          </a:bodyPr>
          <a:lstStyle/>
          <a:p>
            <a:pPr algn="ctr">
              <a:buFont typeface="Arial" panose="020B0604020202020204" pitchFamily="34" charset="0"/>
              <a:buNone/>
              <a:defRPr/>
            </a:pPr>
            <a:r>
              <a:rPr lang="zh-CN" altLang="en-US" sz="2000" dirty="0">
                <a:latin typeface="楷体_GB2312" pitchFamily="49" charset="-122"/>
                <a:ea typeface="楷体_GB2312" pitchFamily="49" charset="-122"/>
              </a:rPr>
              <a:t>图</a:t>
            </a:r>
            <a:r>
              <a:rPr lang="en-US" altLang="zh-CN" sz="2000" dirty="0">
                <a:latin typeface="楷体_GB2312" pitchFamily="49" charset="-122"/>
                <a:ea typeface="楷体_GB2312" pitchFamily="49" charset="-122"/>
              </a:rPr>
              <a:t>4-3 </a:t>
            </a:r>
            <a:r>
              <a:rPr lang="zh-CN" altLang="en-US" sz="2000" dirty="0">
                <a:latin typeface="楷体_GB2312" pitchFamily="49" charset="-122"/>
                <a:ea typeface="楷体_GB2312" pitchFamily="49" charset="-122"/>
              </a:rPr>
              <a:t>圆环的光照模型</a:t>
            </a:r>
            <a:endParaRPr lang="zh-CN" altLang="en-US" sz="2000" dirty="0">
              <a:latin typeface="楷体_GB2312" pitchFamily="49" charset="-122"/>
              <a:ea typeface="楷体_GB2312" pitchFamily="49"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56"/>
          <p:cNvGraphicFramePr>
            <a:graphicFrameLocks noChangeAspect="1"/>
          </p:cNvGraphicFramePr>
          <p:nvPr/>
        </p:nvGraphicFramePr>
        <p:xfrm>
          <a:off x="5444462" y="2852936"/>
          <a:ext cx="3527425" cy="2916237"/>
        </p:xfrm>
        <a:graphic>
          <a:graphicData uri="http://schemas.openxmlformats.org/presentationml/2006/ole">
            <mc:AlternateContent xmlns:mc="http://schemas.openxmlformats.org/markup-compatibility/2006">
              <mc:Choice xmlns:v="urn:schemas-microsoft-com:vml" Requires="v">
                <p:oleObj spid="_x0000_s20512" name="" r:id="rId1" imgW="5181600" imgH="4752340" progId="Visio.Drawing.11">
                  <p:embed/>
                </p:oleObj>
              </mc:Choice>
              <mc:Fallback>
                <p:oleObj name="" r:id="rId1" imgW="5181600" imgH="4752340" progId="Visio.Drawing.11">
                  <p:embed/>
                  <p:pic>
                    <p:nvPicPr>
                      <p:cNvPr id="0" name="Object 56"/>
                      <p:cNvPicPr>
                        <a:picLocks noChangeAspect="1" noChangeArrowheads="1"/>
                      </p:cNvPicPr>
                      <p:nvPr/>
                    </p:nvPicPr>
                    <p:blipFill>
                      <a:blip r:embed="rId2">
                        <a:extLst>
                          <a:ext uri="{28A0092B-C50C-407E-A947-70E740481C1C}">
                            <a14:useLocalDpi xmlns:a14="http://schemas.microsoft.com/office/drawing/2010/main" val="0"/>
                          </a:ext>
                        </a:extLst>
                      </a:blip>
                      <a:srcRect l="7628" b="16873"/>
                      <a:stretch>
                        <a:fillRect/>
                      </a:stretch>
                    </p:blipFill>
                    <p:spPr bwMode="auto">
                      <a:xfrm>
                        <a:off x="5444462" y="2852936"/>
                        <a:ext cx="3527425" cy="291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20483" name="Rectangle 43"/>
              <p:cNvSpPr>
                <a:spLocks noChangeArrowheads="1"/>
              </p:cNvSpPr>
              <p:nvPr/>
            </p:nvSpPr>
            <p:spPr bwMode="auto">
              <a:xfrm>
                <a:off x="318293" y="735995"/>
                <a:ext cx="864076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en-US" sz="2000" dirty="0" smtClean="0">
                    <a:latin typeface="楷体_GB2312" pitchFamily="49" charset="-122"/>
                    <a:ea typeface="楷体_GB2312" pitchFamily="49" charset="-122"/>
                  </a:rPr>
                  <a:t>多边形是由</a:t>
                </a:r>
                <a:r>
                  <a:rPr lang="zh-CN" altLang="en-US" sz="2000" b="1" dirty="0">
                    <a:solidFill>
                      <a:srgbClr val="3366FF"/>
                    </a:solidFill>
                    <a:latin typeface="方正粗黑宋简体" panose="02000000000000000000" pitchFamily="2" charset="-122"/>
                    <a:ea typeface="方正粗黑宋简体" panose="02000000000000000000" pitchFamily="2" charset="-122"/>
                  </a:rPr>
                  <a:t>折线段</a:t>
                </a:r>
                <a:r>
                  <a:rPr lang="zh-CN" altLang="en-US" sz="2000" dirty="0">
                    <a:latin typeface="楷体_GB2312" pitchFamily="49" charset="-122"/>
                    <a:ea typeface="楷体_GB2312" pitchFamily="49" charset="-122"/>
                  </a:rPr>
                  <a:t>组成的</a:t>
                </a:r>
                <a:r>
                  <a:rPr lang="zh-CN" altLang="en-US" sz="2000" b="1" dirty="0">
                    <a:solidFill>
                      <a:srgbClr val="3366FF"/>
                    </a:solidFill>
                    <a:latin typeface="方正粗黑宋简体" panose="02000000000000000000" pitchFamily="2" charset="-122"/>
                    <a:ea typeface="方正粗黑宋简体" panose="02000000000000000000" pitchFamily="2" charset="-122"/>
                  </a:rPr>
                  <a:t>封闭图形</a:t>
                </a:r>
                <a:r>
                  <a:rPr lang="zh-CN" altLang="en-US" sz="2000" dirty="0">
                    <a:latin typeface="楷体_GB2312" pitchFamily="49" charset="-122"/>
                    <a:ea typeface="楷体_GB2312" pitchFamily="49" charset="-122"/>
                  </a:rPr>
                  <a:t>。它</a:t>
                </a:r>
                <a:r>
                  <a:rPr lang="zh-CN" altLang="en-US" sz="2000" dirty="0" smtClean="0">
                    <a:latin typeface="楷体_GB2312" pitchFamily="49" charset="-122"/>
                    <a:ea typeface="楷体_GB2312" pitchFamily="49" charset="-122"/>
                  </a:rPr>
                  <a:t>由有序</a:t>
                </a:r>
                <a:r>
                  <a:rPr lang="zh-CN" altLang="en-US" sz="2000" b="1" dirty="0">
                    <a:solidFill>
                      <a:srgbClr val="FF0000"/>
                    </a:solidFill>
                    <a:latin typeface="黑体" panose="02010609060101010101" pitchFamily="49" charset="-122"/>
                    <a:ea typeface="黑体" panose="02010609060101010101" pitchFamily="49" charset="-122"/>
                  </a:rPr>
                  <a:t>顶点的点</a:t>
                </a:r>
                <a:r>
                  <a:rPr lang="zh-CN" altLang="en-US" sz="2000" b="1" dirty="0" smtClean="0">
                    <a:solidFill>
                      <a:srgbClr val="FF0000"/>
                    </a:solidFill>
                    <a:latin typeface="黑体" panose="02010609060101010101" pitchFamily="49" charset="-122"/>
                    <a:ea typeface="黑体" panose="02010609060101010101" pitchFamily="49" charset="-122"/>
                  </a:rPr>
                  <a:t>集 </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𝒊</m:t>
                        </m:r>
                      </m:sub>
                    </m:sSub>
                    <m:d>
                      <m:dPr>
                        <m:ctrlPr>
                          <a:rPr lang="en-US" altLang="zh-CN" sz="2000" b="1" i="1" smtClean="0">
                            <a:solidFill>
                              <a:srgbClr val="FF0000"/>
                            </a:solidFill>
                            <a:latin typeface="Cambria Math" panose="02040503050406030204" pitchFamily="18" charset="0"/>
                            <a:ea typeface="黑体" panose="02010609060101010101" pitchFamily="49" charset="-122"/>
                          </a:rPr>
                        </m:ctrlPr>
                      </m:dPr>
                      <m:e>
                        <m:r>
                          <a:rPr lang="en-US" altLang="zh-CN" sz="2000" b="1" i="1" smtClean="0">
                            <a:solidFill>
                              <a:srgbClr val="FF0000"/>
                            </a:solidFill>
                            <a:latin typeface="Cambria Math" panose="02040503050406030204" pitchFamily="18" charset="0"/>
                            <a:ea typeface="黑体" panose="02010609060101010101" pitchFamily="49" charset="-122"/>
                          </a:rPr>
                          <m:t>𝒊</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𝟎</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𝒏</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𝟏</m:t>
                        </m:r>
                      </m:e>
                    </m:d>
                  </m:oMath>
                </a14:m>
                <a:r>
                  <a:rPr lang="zh-CN" altLang="en-US" sz="2000" dirty="0" smtClean="0">
                    <a:latin typeface="楷体_GB2312" pitchFamily="49" charset="-122"/>
                    <a:ea typeface="楷体_GB2312" pitchFamily="49" charset="-122"/>
                  </a:rPr>
                  <a:t>及有</a:t>
                </a:r>
                <a:r>
                  <a:rPr lang="zh-CN" altLang="en-US" sz="2000" dirty="0">
                    <a:latin typeface="楷体_GB2312" pitchFamily="49" charset="-122"/>
                    <a:ea typeface="楷体_GB2312" pitchFamily="49" charset="-122"/>
                  </a:rPr>
                  <a:t>向边的</a:t>
                </a:r>
                <a:r>
                  <a:rPr lang="zh-CN" altLang="en-US" sz="2000" b="1" dirty="0">
                    <a:solidFill>
                      <a:srgbClr val="FF0000"/>
                    </a:solidFill>
                    <a:latin typeface="黑体" panose="02010609060101010101" pitchFamily="49" charset="-122"/>
                    <a:ea typeface="黑体" panose="02010609060101010101" pitchFamily="49" charset="-122"/>
                  </a:rPr>
                  <a:t>线</a:t>
                </a:r>
                <a:r>
                  <a:rPr lang="zh-CN" altLang="en-US" sz="2000" b="1" dirty="0" smtClean="0">
                    <a:solidFill>
                      <a:srgbClr val="FF0000"/>
                    </a:solidFill>
                    <a:latin typeface="黑体" panose="02010609060101010101" pitchFamily="49" charset="-122"/>
                    <a:ea typeface="黑体" panose="02010609060101010101" pitchFamily="49" charset="-122"/>
                  </a:rPr>
                  <a:t>集 </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𝑬</m:t>
                        </m:r>
                      </m:e>
                      <m:sub>
                        <m:r>
                          <a:rPr lang="en-US" altLang="zh-CN" sz="2000" b="1" i="1" smtClean="0">
                            <a:solidFill>
                              <a:srgbClr val="FF0000"/>
                            </a:solidFill>
                            <a:latin typeface="Cambria Math" panose="02040503050406030204" pitchFamily="18" charset="0"/>
                            <a:ea typeface="黑体" panose="02010609060101010101" pitchFamily="49" charset="-122"/>
                          </a:rPr>
                          <m:t>𝒊</m:t>
                        </m:r>
                      </m:sub>
                    </m:sSub>
                    <m:d>
                      <m:dPr>
                        <m:ctrlPr>
                          <a:rPr lang="en-US" altLang="zh-CN" sz="2000" b="1" i="1" smtClean="0">
                            <a:solidFill>
                              <a:srgbClr val="FF0000"/>
                            </a:solidFill>
                            <a:latin typeface="Cambria Math" panose="02040503050406030204" pitchFamily="18" charset="0"/>
                            <a:ea typeface="黑体" panose="02010609060101010101" pitchFamily="49" charset="-122"/>
                          </a:rPr>
                        </m:ctrlPr>
                      </m:dPr>
                      <m:e>
                        <m:r>
                          <a:rPr lang="en-US" altLang="zh-CN" sz="2000" b="1" i="1" smtClean="0">
                            <a:solidFill>
                              <a:srgbClr val="FF0000"/>
                            </a:solidFill>
                            <a:latin typeface="Cambria Math" panose="02040503050406030204" pitchFamily="18" charset="0"/>
                            <a:ea typeface="黑体" panose="02010609060101010101" pitchFamily="49" charset="-122"/>
                          </a:rPr>
                          <m:t>𝒊</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𝟎</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𝒏</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𝟏</m:t>
                        </m:r>
                      </m:e>
                    </m:d>
                    <m:r>
                      <a:rPr lang="en-US" altLang="zh-CN" sz="2000" b="1" i="1" smtClean="0">
                        <a:solidFill>
                          <a:srgbClr val="FF0000"/>
                        </a:solidFill>
                        <a:latin typeface="Cambria Math" panose="02040503050406030204" pitchFamily="18" charset="0"/>
                        <a:ea typeface="黑体" panose="02010609060101010101" pitchFamily="49" charset="-122"/>
                      </a:rPr>
                      <m:t> </m:t>
                    </m:r>
                  </m:oMath>
                </a14:m>
                <a:r>
                  <a:rPr lang="zh-CN" altLang="en-US" sz="2000" dirty="0" smtClean="0">
                    <a:latin typeface="楷体_GB2312" pitchFamily="49" charset="-122"/>
                    <a:ea typeface="楷体_GB2312" pitchFamily="49" charset="-122"/>
                  </a:rPr>
                  <a:t>定义，</a:t>
                </a:r>
                <a14:m>
                  <m:oMath xmlns:m="http://schemas.openxmlformats.org/officeDocument/2006/math">
                    <m:r>
                      <a:rPr lang="en-US" altLang="zh-CN" sz="2000" b="1" i="1" smtClean="0">
                        <a:solidFill>
                          <a:srgbClr val="FF0000"/>
                        </a:solidFill>
                        <a:latin typeface="Cambria Math" panose="02040503050406030204" pitchFamily="18" charset="0"/>
                        <a:ea typeface="黑体" panose="02010609060101010101" pitchFamily="49" charset="-122"/>
                      </a:rPr>
                      <m:t>𝒏</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b="1" dirty="0">
                    <a:solidFill>
                      <a:srgbClr val="3366FF"/>
                    </a:solidFill>
                    <a:latin typeface="方正粗黑宋简体" panose="02000000000000000000" pitchFamily="2" charset="-122"/>
                    <a:ea typeface="方正粗黑宋简体" panose="02000000000000000000" pitchFamily="2" charset="-122"/>
                  </a:rPr>
                  <a:t>为多边形的顶点数或边数</a:t>
                </a:r>
                <a:r>
                  <a:rPr lang="zh-CN" altLang="en-US" sz="2000" dirty="0">
                    <a:latin typeface="楷体_GB2312" pitchFamily="49" charset="-122"/>
                    <a:ea typeface="楷体_GB2312" pitchFamily="49" charset="-122"/>
                  </a:rPr>
                  <a:t>，</a:t>
                </a:r>
                <a:r>
                  <a:rPr lang="zh-CN" altLang="en-US" sz="2000" dirty="0" smtClean="0">
                    <a:latin typeface="楷体_GB2312" pitchFamily="49" charset="-122"/>
                    <a:ea typeface="楷体_GB2312" pitchFamily="49" charset="-122"/>
                  </a:rPr>
                  <a:t>且 </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𝑬</m:t>
                        </m:r>
                      </m:e>
                      <m:sub>
                        <m:r>
                          <a:rPr lang="en-US" altLang="zh-CN" sz="2000" b="1" i="1" smtClean="0">
                            <a:solidFill>
                              <a:srgbClr val="FF0000"/>
                            </a:solidFill>
                            <a:latin typeface="Cambria Math" panose="02040503050406030204" pitchFamily="18" charset="0"/>
                            <a:ea typeface="黑体" panose="02010609060101010101" pitchFamily="49" charset="-122"/>
                          </a:rPr>
                          <m:t>𝒊</m:t>
                        </m:r>
                      </m:sub>
                    </m:sSub>
                    <m:r>
                      <a:rPr lang="en-US" altLang="zh-CN" sz="2000" b="1" i="1" smtClean="0">
                        <a:solidFill>
                          <a:srgbClr val="FF0000"/>
                        </a:solidFill>
                        <a:latin typeface="Cambria Math" panose="02040503050406030204" pitchFamily="18" charset="0"/>
                        <a:ea typeface="黑体" panose="02010609060101010101" pitchFamily="49" charset="-122"/>
                      </a:rPr>
                      <m:t>=</m:t>
                    </m:r>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𝒊</m:t>
                        </m:r>
                      </m:sub>
                    </m:sSub>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𝒊</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𝟏</m:t>
                        </m:r>
                      </m:sub>
                    </m:sSub>
                    <m:d>
                      <m:dPr>
                        <m:ctrlPr>
                          <a:rPr lang="en-US" altLang="zh-CN" sz="2000" b="1" i="1" smtClean="0">
                            <a:solidFill>
                              <a:srgbClr val="FF0000"/>
                            </a:solidFill>
                            <a:latin typeface="Cambria Math" panose="02040503050406030204" pitchFamily="18" charset="0"/>
                            <a:ea typeface="黑体" panose="02010609060101010101" pitchFamily="49" charset="-122"/>
                          </a:rPr>
                        </m:ctrlPr>
                      </m:dPr>
                      <m:e>
                        <m:r>
                          <a:rPr lang="en-US" altLang="zh-CN" sz="2000" b="1" i="1" smtClean="0">
                            <a:solidFill>
                              <a:srgbClr val="FF0000"/>
                            </a:solidFill>
                            <a:latin typeface="Cambria Math" panose="02040503050406030204" pitchFamily="18" charset="0"/>
                            <a:ea typeface="黑体" panose="02010609060101010101" pitchFamily="49" charset="-122"/>
                          </a:rPr>
                          <m:t>𝒊</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𝟎</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𝒏</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𝟏</m:t>
                        </m:r>
                      </m:e>
                    </m:d>
                  </m:oMath>
                </a14:m>
                <a:r>
                  <a:rPr lang="zh-CN" altLang="en-US" sz="2000" dirty="0" smtClean="0">
                    <a:latin typeface="楷体_GB2312" pitchFamily="49" charset="-122"/>
                    <a:ea typeface="楷体_GB2312" pitchFamily="49" charset="-122"/>
                  </a:rPr>
                  <a:t>。</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𝒏</m:t>
                        </m:r>
                      </m:sub>
                    </m:sSub>
                    <m:r>
                      <a:rPr lang="en-US" altLang="zh-CN" sz="2000" b="1" i="1" smtClean="0">
                        <a:solidFill>
                          <a:srgbClr val="FF0000"/>
                        </a:solidFill>
                        <a:latin typeface="Cambria Math" panose="02040503050406030204" pitchFamily="18" charset="0"/>
                        <a:ea typeface="黑体" panose="02010609060101010101" pitchFamily="49" charset="-122"/>
                      </a:rPr>
                      <m:t>=</m:t>
                    </m:r>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𝟎</m:t>
                        </m:r>
                      </m:sub>
                    </m:sSub>
                  </m:oMath>
                </a14:m>
                <a:r>
                  <a:rPr lang="zh-CN" altLang="en-US" sz="2000" dirty="0" smtClean="0">
                    <a:latin typeface="楷体_GB2312" pitchFamily="49" charset="-122"/>
                    <a:ea typeface="楷体_GB2312" pitchFamily="49" charset="-122"/>
                  </a:rPr>
                  <a:t> 保证</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多边形</a:t>
                </a:r>
                <a:r>
                  <a:rPr lang="zh-CN" altLang="en-US" sz="2000" b="1" dirty="0">
                    <a:solidFill>
                      <a:srgbClr val="3366FF"/>
                    </a:solidFill>
                    <a:latin typeface="方正粗黑宋简体" panose="02000000000000000000" pitchFamily="2" charset="-122"/>
                    <a:ea typeface="方正粗黑宋简体" panose="02000000000000000000" pitchFamily="2" charset="-122"/>
                  </a:rPr>
                  <a:t>的闭合</a:t>
                </a:r>
                <a:r>
                  <a:rPr lang="zh-CN" altLang="en-US" sz="2000" dirty="0">
                    <a:latin typeface="楷体_GB2312" pitchFamily="49" charset="-122"/>
                    <a:ea typeface="楷体_GB2312" pitchFamily="49" charset="-122"/>
                  </a:rPr>
                  <a:t>。多边形可以分为</a:t>
                </a:r>
                <a:r>
                  <a:rPr lang="zh-CN" altLang="en-US" sz="2000" b="1" dirty="0">
                    <a:solidFill>
                      <a:srgbClr val="FF0000"/>
                    </a:solidFill>
                    <a:latin typeface="黑体" panose="02010609060101010101" pitchFamily="49" charset="-122"/>
                    <a:ea typeface="黑体" panose="02010609060101010101" pitchFamily="49" charset="-122"/>
                  </a:rPr>
                  <a:t>凸、凹多边形以及环</a:t>
                </a:r>
                <a:r>
                  <a:rPr lang="zh-CN" altLang="en-US" sz="2000" dirty="0">
                    <a:latin typeface="楷体_GB2312" pitchFamily="49" charset="-122"/>
                    <a:ea typeface="楷体_GB2312" pitchFamily="49" charset="-122"/>
                  </a:rPr>
                  <a:t>。 </a:t>
                </a:r>
                <a:endParaRPr lang="zh-CN" altLang="en-US" sz="2000" dirty="0">
                  <a:latin typeface="楷体_GB2312" pitchFamily="49" charset="-122"/>
                  <a:ea typeface="楷体_GB2312" pitchFamily="49" charset="-122"/>
                </a:endParaRPr>
              </a:p>
            </p:txBody>
          </p:sp>
        </mc:Choice>
        <mc:Fallback>
          <p:sp>
            <p:nvSpPr>
              <p:cNvPr id="20483" name="Rectangle 43"/>
              <p:cNvSpPr>
                <a:spLocks noRot="1" noChangeAspect="1" noMove="1" noResize="1" noEditPoints="1" noAdjustHandles="1" noChangeArrowheads="1" noChangeShapeType="1" noTextEdit="1"/>
              </p:cNvSpPr>
              <p:nvPr/>
            </p:nvSpPr>
            <p:spPr bwMode="auto">
              <a:xfrm>
                <a:off x="318293" y="735995"/>
                <a:ext cx="8640763" cy="1569660"/>
              </a:xfrm>
              <a:prstGeom prst="rect">
                <a:avLst/>
              </a:prstGeom>
              <a:blipFill rotWithShape="1">
                <a:blip r:embed="rId3"/>
                <a:stretch>
                  <a:fillRect l="-2" t="-2" r="6" b="3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1268" name="Rectangle 55"/>
          <p:cNvSpPr>
            <a:spLocks noChangeArrowheads="1"/>
          </p:cNvSpPr>
          <p:nvPr/>
        </p:nvSpPr>
        <p:spPr bwMode="auto">
          <a:xfrm>
            <a:off x="321877" y="116632"/>
            <a:ext cx="8498595" cy="584775"/>
          </a:xfrm>
          <a:prstGeom prst="rect">
            <a:avLst/>
          </a:prstGeom>
          <a:noFill/>
          <a:ln w="9525">
            <a:noFill/>
            <a:miter lim="800000"/>
          </a:ln>
        </p:spPr>
        <p:txBody>
          <a:bodyPr wrap="square">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4.1.1 </a:t>
            </a:r>
            <a:r>
              <a:rPr lang="zh-CN" altLang="en-US" sz="3200" b="1" dirty="0">
                <a:effectLst>
                  <a:outerShdw blurRad="38100" dist="38100" dir="2700000" algn="tl">
                    <a:srgbClr val="C0C0C0"/>
                  </a:outerShdw>
                </a:effectLst>
                <a:latin typeface="楷体_GB2312" pitchFamily="49" charset="-122"/>
                <a:ea typeface="楷体_GB2312" pitchFamily="49" charset="-122"/>
              </a:rPr>
              <a:t>多边形的</a:t>
            </a:r>
            <a:r>
              <a:rPr lang="zh-CN" altLang="en-US" sz="3200" b="1" dirty="0" smtClean="0">
                <a:effectLst>
                  <a:outerShdw blurRad="38100" dist="38100" dir="2700000" algn="tl">
                    <a:srgbClr val="C0C0C0"/>
                  </a:outerShdw>
                </a:effectLst>
                <a:latin typeface="楷体_GB2312" pitchFamily="49" charset="-122"/>
                <a:ea typeface="楷体_GB2312" pitchFamily="49" charset="-122"/>
              </a:rPr>
              <a:t>定义</a:t>
            </a:r>
            <a:r>
              <a:rPr lang="zh-CN" altLang="en-US" sz="3200" b="1" dirty="0">
                <a:effectLst>
                  <a:outerShdw blurRad="38100" dist="38100" dir="2700000" algn="tl">
                    <a:srgbClr val="C0C0C0"/>
                  </a:outerShdw>
                </a:effectLst>
                <a:latin typeface="楷体_GB2312" pitchFamily="49" charset="-122"/>
                <a:ea typeface="楷体_GB2312" pitchFamily="49" charset="-122"/>
              </a:rPr>
              <a:t>和</a:t>
            </a:r>
            <a:r>
              <a:rPr lang="zh-CN" altLang="en-US" b="1" dirty="0" smtClean="0">
                <a:effectLst>
                  <a:outerShdw blurRad="38100" dist="38100" dir="2700000" algn="tl">
                    <a:srgbClr val="C0C0C0"/>
                  </a:outerShdw>
                </a:effectLst>
                <a:latin typeface="楷体_GB2312" pitchFamily="49" charset="-122"/>
                <a:ea typeface="楷体_GB2312" pitchFamily="49" charset="-122"/>
              </a:rPr>
              <a:t>表示</a:t>
            </a:r>
            <a:endParaRPr lang="zh-CN" altLang="en-US" dirty="0"/>
          </a:p>
        </p:txBody>
      </p:sp>
      <p:sp>
        <p:nvSpPr>
          <p:cNvPr id="20485" name="Text Box 71"/>
          <p:cNvSpPr txBox="1">
            <a:spLocks noChangeArrowheads="1"/>
          </p:cNvSpPr>
          <p:nvPr/>
        </p:nvSpPr>
        <p:spPr bwMode="auto">
          <a:xfrm>
            <a:off x="8684549" y="4435673"/>
            <a:ext cx="279400" cy="333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P</a:t>
            </a:r>
            <a:r>
              <a:rPr lang="en-US" altLang="zh-CN" sz="2000" baseline="-30000">
                <a:latin typeface="Times New Roman" panose="02020603050405020304" pitchFamily="18" charset="0"/>
              </a:rPr>
              <a:t>0</a:t>
            </a:r>
            <a:endParaRPr lang="en-US" altLang="zh-CN" sz="2000">
              <a:latin typeface="Arial" panose="020B0604020202020204" pitchFamily="34" charset="0"/>
            </a:endParaRPr>
          </a:p>
        </p:txBody>
      </p:sp>
      <p:sp>
        <p:nvSpPr>
          <p:cNvPr id="20486" name="Text Box 70"/>
          <p:cNvSpPr txBox="1">
            <a:spLocks noChangeArrowheads="1"/>
          </p:cNvSpPr>
          <p:nvPr/>
        </p:nvSpPr>
        <p:spPr bwMode="auto">
          <a:xfrm>
            <a:off x="7747924" y="2904340"/>
            <a:ext cx="288925" cy="2359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rPr>
              <a:t>P</a:t>
            </a:r>
            <a:r>
              <a:rPr lang="en-US" altLang="zh-CN" sz="2000" baseline="-30000" dirty="0">
                <a:latin typeface="Times New Roman" panose="02020603050405020304" pitchFamily="18" charset="0"/>
              </a:rPr>
              <a:t>1</a:t>
            </a:r>
            <a:endParaRPr lang="en-US" altLang="zh-CN" sz="2000" dirty="0">
              <a:latin typeface="Arial" panose="020B0604020202020204" pitchFamily="34" charset="0"/>
            </a:endParaRPr>
          </a:p>
        </p:txBody>
      </p:sp>
      <p:sp>
        <p:nvSpPr>
          <p:cNvPr id="20487" name="Text Box 69"/>
          <p:cNvSpPr txBox="1">
            <a:spLocks noChangeArrowheads="1"/>
          </p:cNvSpPr>
          <p:nvPr/>
        </p:nvSpPr>
        <p:spPr bwMode="auto">
          <a:xfrm>
            <a:off x="5515899" y="3716536"/>
            <a:ext cx="287338" cy="3603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P</a:t>
            </a:r>
            <a:r>
              <a:rPr lang="en-US" altLang="zh-CN" sz="2000" baseline="-30000">
                <a:latin typeface="Times New Roman" panose="02020603050405020304" pitchFamily="18" charset="0"/>
              </a:rPr>
              <a:t>2</a:t>
            </a:r>
            <a:endParaRPr lang="en-US" altLang="zh-CN" sz="2000">
              <a:latin typeface="Arial" panose="020B0604020202020204" pitchFamily="34" charset="0"/>
            </a:endParaRPr>
          </a:p>
        </p:txBody>
      </p:sp>
      <p:sp>
        <p:nvSpPr>
          <p:cNvPr id="20488" name="Text Box 68"/>
          <p:cNvSpPr txBox="1">
            <a:spLocks noChangeArrowheads="1"/>
          </p:cNvSpPr>
          <p:nvPr/>
        </p:nvSpPr>
        <p:spPr bwMode="auto">
          <a:xfrm>
            <a:off x="6739862" y="5084961"/>
            <a:ext cx="319087" cy="3571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P</a:t>
            </a:r>
            <a:r>
              <a:rPr lang="en-US" altLang="zh-CN" sz="2000" baseline="-30000">
                <a:latin typeface="Times New Roman" panose="02020603050405020304" pitchFamily="18" charset="0"/>
              </a:rPr>
              <a:t>3</a:t>
            </a:r>
            <a:endParaRPr lang="en-US" altLang="zh-CN" sz="2000">
              <a:latin typeface="Arial" panose="020B0604020202020204" pitchFamily="34" charset="0"/>
            </a:endParaRPr>
          </a:p>
        </p:txBody>
      </p:sp>
      <p:sp>
        <p:nvSpPr>
          <p:cNvPr id="20489" name="Text Box 67"/>
          <p:cNvSpPr txBox="1">
            <a:spLocks noChangeArrowheads="1"/>
          </p:cNvSpPr>
          <p:nvPr/>
        </p:nvSpPr>
        <p:spPr bwMode="auto">
          <a:xfrm>
            <a:off x="7100224" y="4869061"/>
            <a:ext cx="260350" cy="381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P</a:t>
            </a:r>
            <a:r>
              <a:rPr lang="en-US" altLang="zh-CN" sz="2000" baseline="-30000">
                <a:latin typeface="Times New Roman" panose="02020603050405020304" pitchFamily="18" charset="0"/>
              </a:rPr>
              <a:t>4</a:t>
            </a:r>
            <a:endParaRPr lang="en-US" altLang="zh-CN" sz="2000">
              <a:latin typeface="Arial" panose="020B0604020202020204" pitchFamily="34" charset="0"/>
            </a:endParaRPr>
          </a:p>
        </p:txBody>
      </p:sp>
      <p:sp>
        <p:nvSpPr>
          <p:cNvPr id="20490" name="Text Box 66"/>
          <p:cNvSpPr txBox="1">
            <a:spLocks noChangeArrowheads="1"/>
          </p:cNvSpPr>
          <p:nvPr/>
        </p:nvSpPr>
        <p:spPr bwMode="auto">
          <a:xfrm>
            <a:off x="8036849" y="5372298"/>
            <a:ext cx="252413" cy="3444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P</a:t>
            </a:r>
            <a:r>
              <a:rPr lang="en-US" altLang="zh-CN" sz="2000" baseline="-30000">
                <a:latin typeface="Times New Roman" panose="02020603050405020304" pitchFamily="18" charset="0"/>
              </a:rPr>
              <a:t>5</a:t>
            </a:r>
            <a:endParaRPr lang="en-US" altLang="zh-CN" sz="2000">
              <a:latin typeface="Arial" panose="020B0604020202020204" pitchFamily="34" charset="0"/>
            </a:endParaRPr>
          </a:p>
        </p:txBody>
      </p:sp>
      <p:sp>
        <p:nvSpPr>
          <p:cNvPr id="20491" name="Text Box 65"/>
          <p:cNvSpPr txBox="1">
            <a:spLocks noChangeArrowheads="1"/>
          </p:cNvSpPr>
          <p:nvPr/>
        </p:nvSpPr>
        <p:spPr bwMode="auto">
          <a:xfrm>
            <a:off x="8324187" y="3716536"/>
            <a:ext cx="276225" cy="292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E</a:t>
            </a:r>
            <a:r>
              <a:rPr lang="en-US" altLang="zh-CN" sz="2000" baseline="-30000">
                <a:latin typeface="Times New Roman" panose="02020603050405020304" pitchFamily="18" charset="0"/>
              </a:rPr>
              <a:t>0</a:t>
            </a:r>
            <a:endParaRPr lang="en-US" altLang="zh-CN" sz="2000">
              <a:latin typeface="Arial" panose="020B0604020202020204" pitchFamily="34" charset="0"/>
            </a:endParaRPr>
          </a:p>
        </p:txBody>
      </p:sp>
      <p:sp>
        <p:nvSpPr>
          <p:cNvPr id="20492" name="Text Box 64"/>
          <p:cNvSpPr txBox="1">
            <a:spLocks noChangeArrowheads="1"/>
          </p:cNvSpPr>
          <p:nvPr/>
        </p:nvSpPr>
        <p:spPr bwMode="auto">
          <a:xfrm>
            <a:off x="6452524" y="3140273"/>
            <a:ext cx="244475" cy="331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E</a:t>
            </a:r>
            <a:r>
              <a:rPr lang="en-US" altLang="zh-CN" sz="2000" baseline="-30000">
                <a:latin typeface="Times New Roman" panose="02020603050405020304" pitchFamily="18" charset="0"/>
              </a:rPr>
              <a:t>1</a:t>
            </a:r>
            <a:endParaRPr lang="en-US" altLang="zh-CN" sz="2000">
              <a:latin typeface="Arial" panose="020B0604020202020204" pitchFamily="34" charset="0"/>
            </a:endParaRPr>
          </a:p>
        </p:txBody>
      </p:sp>
      <p:sp>
        <p:nvSpPr>
          <p:cNvPr id="20493" name="Text Box 63"/>
          <p:cNvSpPr txBox="1">
            <a:spLocks noChangeArrowheads="1"/>
          </p:cNvSpPr>
          <p:nvPr/>
        </p:nvSpPr>
        <p:spPr bwMode="auto">
          <a:xfrm>
            <a:off x="5876262" y="4435673"/>
            <a:ext cx="255587" cy="3190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E</a:t>
            </a:r>
            <a:r>
              <a:rPr lang="en-US" altLang="zh-CN" sz="2000" baseline="-30000">
                <a:latin typeface="Times New Roman" panose="02020603050405020304" pitchFamily="18" charset="0"/>
              </a:rPr>
              <a:t>2</a:t>
            </a:r>
            <a:endParaRPr lang="en-US" altLang="zh-CN" sz="2000">
              <a:latin typeface="Arial" panose="020B0604020202020204" pitchFamily="34" charset="0"/>
            </a:endParaRPr>
          </a:p>
        </p:txBody>
      </p:sp>
      <p:sp>
        <p:nvSpPr>
          <p:cNvPr id="20494" name="Text Box 62"/>
          <p:cNvSpPr txBox="1">
            <a:spLocks noChangeArrowheads="1"/>
          </p:cNvSpPr>
          <p:nvPr/>
        </p:nvSpPr>
        <p:spPr bwMode="auto">
          <a:xfrm>
            <a:off x="6668424" y="4580136"/>
            <a:ext cx="249238" cy="3048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E</a:t>
            </a:r>
            <a:r>
              <a:rPr lang="en-US" altLang="zh-CN" sz="2000" baseline="-30000">
                <a:latin typeface="Times New Roman" panose="02020603050405020304" pitchFamily="18" charset="0"/>
              </a:rPr>
              <a:t>3</a:t>
            </a:r>
            <a:endParaRPr lang="en-US" altLang="zh-CN" sz="2000">
              <a:latin typeface="Arial" panose="020B0604020202020204" pitchFamily="34" charset="0"/>
            </a:endParaRPr>
          </a:p>
        </p:txBody>
      </p:sp>
      <p:sp>
        <p:nvSpPr>
          <p:cNvPr id="20495" name="Text Box 61"/>
          <p:cNvSpPr txBox="1">
            <a:spLocks noChangeArrowheads="1"/>
          </p:cNvSpPr>
          <p:nvPr/>
        </p:nvSpPr>
        <p:spPr bwMode="auto">
          <a:xfrm>
            <a:off x="7460587" y="4724598"/>
            <a:ext cx="258762"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E</a:t>
            </a:r>
            <a:r>
              <a:rPr lang="en-US" altLang="zh-CN" sz="2000" baseline="-30000">
                <a:latin typeface="Times New Roman" panose="02020603050405020304" pitchFamily="18" charset="0"/>
              </a:rPr>
              <a:t>4</a:t>
            </a:r>
            <a:endParaRPr lang="en-US" altLang="zh-CN" sz="2000">
              <a:latin typeface="Arial" panose="020B0604020202020204" pitchFamily="34" charset="0"/>
            </a:endParaRPr>
          </a:p>
        </p:txBody>
      </p:sp>
      <p:sp>
        <p:nvSpPr>
          <p:cNvPr id="20496" name="Text Box 60"/>
          <p:cNvSpPr txBox="1">
            <a:spLocks noChangeArrowheads="1"/>
          </p:cNvSpPr>
          <p:nvPr/>
        </p:nvSpPr>
        <p:spPr bwMode="auto">
          <a:xfrm>
            <a:off x="8397212" y="4869061"/>
            <a:ext cx="254000" cy="2825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E</a:t>
            </a:r>
            <a:r>
              <a:rPr lang="en-US" altLang="zh-CN" sz="2000" baseline="-30000">
                <a:latin typeface="Times New Roman" panose="02020603050405020304" pitchFamily="18" charset="0"/>
              </a:rPr>
              <a:t>5</a:t>
            </a:r>
            <a:endParaRPr lang="en-US" altLang="zh-CN" sz="2000">
              <a:latin typeface="Arial" panose="020B0604020202020204" pitchFamily="34" charset="0"/>
            </a:endParaRPr>
          </a:p>
        </p:txBody>
      </p:sp>
      <p:sp>
        <p:nvSpPr>
          <p:cNvPr id="20497" name="Text Box 59"/>
          <p:cNvSpPr txBox="1">
            <a:spLocks noChangeArrowheads="1"/>
          </p:cNvSpPr>
          <p:nvPr/>
        </p:nvSpPr>
        <p:spPr bwMode="auto">
          <a:xfrm>
            <a:off x="7100224" y="4148336"/>
            <a:ext cx="83026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Times New Roman" panose="02020603050405020304" pitchFamily="18" charset="0"/>
                <a:ea typeface="楷体_GB2312" pitchFamily="49" charset="-122"/>
              </a:rPr>
              <a:t>顺时针</a:t>
            </a:r>
            <a:endParaRPr lang="zh-CN" altLang="en-US" sz="2000">
              <a:latin typeface="Arial" panose="020B0604020202020204" pitchFamily="34" charset="0"/>
              <a:ea typeface="楷体_GB2312" pitchFamily="49" charset="-122"/>
            </a:endParaRPr>
          </a:p>
        </p:txBody>
      </p:sp>
      <p:sp>
        <p:nvSpPr>
          <p:cNvPr id="20498" name="Text Box 58"/>
          <p:cNvSpPr txBox="1">
            <a:spLocks noChangeArrowheads="1"/>
          </p:cNvSpPr>
          <p:nvPr/>
        </p:nvSpPr>
        <p:spPr bwMode="auto">
          <a:xfrm>
            <a:off x="8108287" y="3356173"/>
            <a:ext cx="7921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Times New Roman" panose="02020603050405020304" pitchFamily="18" charset="0"/>
                <a:ea typeface="楷体_GB2312" pitchFamily="49" charset="-122"/>
              </a:rPr>
              <a:t>逆时针</a:t>
            </a:r>
            <a:endParaRPr lang="zh-CN" altLang="en-US" sz="2000">
              <a:latin typeface="Arial" panose="020B0604020202020204" pitchFamily="34" charset="0"/>
              <a:ea typeface="楷体_GB2312" pitchFamily="49" charset="-122"/>
            </a:endParaRPr>
          </a:p>
        </p:txBody>
      </p:sp>
      <p:sp>
        <p:nvSpPr>
          <p:cNvPr id="20499" name="Rectangle 72"/>
          <p:cNvSpPr>
            <a:spLocks noChangeArrowheads="1"/>
          </p:cNvSpPr>
          <p:nvPr/>
        </p:nvSpPr>
        <p:spPr bwMode="auto">
          <a:xfrm>
            <a:off x="-65088" y="2254250"/>
            <a:ext cx="914241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1333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ndParaRPr>
          </a:p>
        </p:txBody>
      </p:sp>
      <p:sp>
        <p:nvSpPr>
          <p:cNvPr id="20501" name="Rectangle 88"/>
          <p:cNvSpPr>
            <a:spLocks noChangeArrowheads="1"/>
          </p:cNvSpPr>
          <p:nvPr/>
        </p:nvSpPr>
        <p:spPr bwMode="auto">
          <a:xfrm>
            <a:off x="5588924" y="5948561"/>
            <a:ext cx="307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solidFill>
                  <a:srgbClr val="000000"/>
                </a:solidFill>
                <a:latin typeface="楷体_GB2312" pitchFamily="49" charset="-122"/>
                <a:ea typeface="楷体_GB2312" pitchFamily="49" charset="-122"/>
              </a:rPr>
              <a:t>图 </a:t>
            </a:r>
            <a:r>
              <a:rPr lang="en-US" altLang="zh-CN">
                <a:solidFill>
                  <a:srgbClr val="000000"/>
                </a:solidFill>
                <a:latin typeface="楷体_GB2312" pitchFamily="49" charset="-122"/>
                <a:ea typeface="楷体_GB2312" pitchFamily="49" charset="-122"/>
              </a:rPr>
              <a:t>4-4 </a:t>
            </a:r>
            <a:r>
              <a:rPr lang="zh-CN" altLang="en-US">
                <a:solidFill>
                  <a:srgbClr val="000000"/>
                </a:solidFill>
                <a:latin typeface="楷体_GB2312" pitchFamily="49" charset="-122"/>
                <a:ea typeface="楷体_GB2312" pitchFamily="49" charset="-122"/>
              </a:rPr>
              <a:t>多边形的定义</a:t>
            </a:r>
            <a:endParaRPr lang="zh-CN" altLang="en-US">
              <a:latin typeface="楷体_GB2312" pitchFamily="49" charset="-122"/>
              <a:ea typeface="楷体_GB2312" pitchFamily="49" charset="-122"/>
            </a:endParaRPr>
          </a:p>
        </p:txBody>
      </p:sp>
      <p:sp>
        <p:nvSpPr>
          <p:cNvPr id="23" name="Rectangle 2"/>
          <p:cNvSpPr>
            <a:spLocks noChangeArrowheads="1"/>
          </p:cNvSpPr>
          <p:nvPr/>
        </p:nvSpPr>
        <p:spPr bwMode="auto">
          <a:xfrm>
            <a:off x="318292" y="2439889"/>
            <a:ext cx="5086003" cy="1913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pPr>
            <a:r>
              <a:rPr lang="zh-CN" altLang="en-US" sz="2000" b="1" dirty="0" smtClean="0">
                <a:latin typeface="楷体_GB2312" pitchFamily="49" charset="-122"/>
                <a:ea typeface="楷体_GB2312" pitchFamily="49" charset="-122"/>
              </a:rPr>
              <a:t>⑴ </a:t>
            </a:r>
            <a:r>
              <a:rPr lang="zh-CN" altLang="en-US" sz="2000" b="1" dirty="0" smtClean="0">
                <a:solidFill>
                  <a:srgbClr val="FF0000"/>
                </a:solidFill>
                <a:latin typeface="黑体" panose="02010609060101010101" pitchFamily="49" charset="-122"/>
                <a:ea typeface="黑体" panose="02010609060101010101" pitchFamily="49" charset="-122"/>
              </a:rPr>
              <a:t>顶点表示法：</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用</a:t>
            </a:r>
            <a:r>
              <a:rPr lang="zh-CN" altLang="en-US" sz="2000" b="1" dirty="0">
                <a:solidFill>
                  <a:srgbClr val="3366FF"/>
                </a:solidFill>
                <a:latin typeface="方正粗黑宋简体" panose="02000000000000000000" pitchFamily="2" charset="-122"/>
                <a:ea typeface="方正粗黑宋简体" panose="02000000000000000000" pitchFamily="2" charset="-122"/>
              </a:rPr>
              <a:t>多边形的顶点序列来描述</a:t>
            </a:r>
            <a:r>
              <a:rPr lang="zh-CN" altLang="en-US" sz="2000" dirty="0" smtClean="0">
                <a:latin typeface="楷体_GB2312" pitchFamily="49" charset="-122"/>
                <a:ea typeface="楷体_GB2312" pitchFamily="49" charset="-122"/>
              </a:rPr>
              <a:t>。特点</a:t>
            </a:r>
            <a:r>
              <a:rPr lang="en-US" altLang="zh-CN" sz="2000" dirty="0" smtClean="0">
                <a:latin typeface="楷体_GB2312" pitchFamily="49" charset="-122"/>
                <a:ea typeface="楷体_GB2312" pitchFamily="49" charset="-122"/>
              </a:rPr>
              <a:t>:</a:t>
            </a:r>
            <a:r>
              <a:rPr lang="zh-CN" altLang="en-US" sz="2000" dirty="0" smtClean="0">
                <a:latin typeface="楷体_GB2312" pitchFamily="49" charset="-122"/>
                <a:ea typeface="楷体_GB2312" pitchFamily="49" charset="-122"/>
              </a:rPr>
              <a:t>直观</a:t>
            </a:r>
            <a:r>
              <a:rPr lang="zh-CN" altLang="en-US" sz="2000" dirty="0">
                <a:latin typeface="楷体_GB2312" pitchFamily="49" charset="-122"/>
                <a:ea typeface="楷体_GB2312" pitchFamily="49" charset="-122"/>
              </a:rPr>
              <a:t>、占内存少，易于进行几何变换</a:t>
            </a:r>
            <a:r>
              <a:rPr lang="zh-CN" altLang="en-US" sz="2000" dirty="0" smtClean="0">
                <a:latin typeface="楷体_GB2312" pitchFamily="49" charset="-122"/>
                <a:ea typeface="楷体_GB2312" pitchFamily="49" charset="-122"/>
              </a:rPr>
              <a:t>，但</a:t>
            </a:r>
            <a:r>
              <a:rPr lang="zh-CN" altLang="en-US" sz="2000" dirty="0">
                <a:latin typeface="楷体_GB2312" pitchFamily="49" charset="-122"/>
                <a:ea typeface="楷体_GB2312" pitchFamily="49" charset="-122"/>
              </a:rPr>
              <a:t>由于没有明确指出哪些像素在多边形内，所以不能直接进行填充，需要</a:t>
            </a:r>
            <a:r>
              <a:rPr lang="zh-CN" altLang="en-US" sz="2000" b="1" dirty="0">
                <a:solidFill>
                  <a:srgbClr val="FF0000"/>
                </a:solidFill>
                <a:latin typeface="黑体" panose="02010609060101010101" pitchFamily="49" charset="-122"/>
                <a:ea typeface="黑体" panose="02010609060101010101" pitchFamily="49" charset="-122"/>
              </a:rPr>
              <a:t>对多边形进行</a:t>
            </a:r>
            <a:r>
              <a:rPr lang="zh-CN" altLang="en-US" sz="2000" b="1" dirty="0">
                <a:solidFill>
                  <a:srgbClr val="3366FF"/>
                </a:solidFill>
                <a:latin typeface="方正粗黑宋简体" panose="02000000000000000000" pitchFamily="2" charset="-122"/>
                <a:ea typeface="方正粗黑宋简体" panose="02000000000000000000" pitchFamily="2" charset="-122"/>
              </a:rPr>
              <a:t>扫描转换</a:t>
            </a:r>
            <a:r>
              <a:rPr lang="zh-CN" altLang="en-US" sz="2000" b="1" dirty="0">
                <a:solidFill>
                  <a:srgbClr val="FF0000"/>
                </a:solidFill>
                <a:latin typeface="黑体" panose="02010609060101010101" pitchFamily="49" charset="-122"/>
                <a:ea typeface="黑体" panose="02010609060101010101" pitchFamily="49" charset="-122"/>
              </a:rPr>
              <a:t>后才能逐条扫描线填充</a:t>
            </a:r>
            <a:r>
              <a:rPr lang="zh-CN" altLang="en-US" sz="2000" dirty="0">
                <a:latin typeface="楷体_GB2312" pitchFamily="49" charset="-122"/>
                <a:ea typeface="楷体_GB2312" pitchFamily="49" charset="-122"/>
              </a:rPr>
              <a:t>。 </a:t>
            </a:r>
            <a:endParaRPr lang="zh-CN" altLang="en-US" sz="2000" dirty="0">
              <a:latin typeface="楷体_GB2312" pitchFamily="49" charset="-122"/>
              <a:ea typeface="楷体_GB2312" pitchFamily="49" charset="-122"/>
            </a:endParaRPr>
          </a:p>
        </p:txBody>
      </p:sp>
      <p:sp>
        <p:nvSpPr>
          <p:cNvPr id="24" name="Rectangle 6"/>
          <p:cNvSpPr>
            <a:spLocks noChangeArrowheads="1"/>
          </p:cNvSpPr>
          <p:nvPr/>
        </p:nvSpPr>
        <p:spPr bwMode="auto">
          <a:xfrm>
            <a:off x="318292" y="4353811"/>
            <a:ext cx="5086003" cy="220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40000"/>
              </a:lnSpc>
            </a:pPr>
            <a:r>
              <a:rPr lang="zh-CN" altLang="en-US" sz="2000" b="1" dirty="0" smtClean="0">
                <a:latin typeface="楷体_GB2312" pitchFamily="49" charset="-122"/>
                <a:ea typeface="楷体_GB2312" pitchFamily="49" charset="-122"/>
              </a:rPr>
              <a:t>⑵</a:t>
            </a:r>
            <a:r>
              <a:rPr lang="zh-CN" altLang="en-US" sz="2000" b="1" dirty="0" smtClean="0">
                <a:solidFill>
                  <a:srgbClr val="FF0000"/>
                </a:solidFill>
                <a:latin typeface="黑体" panose="02010609060101010101" pitchFamily="49" charset="-122"/>
                <a:ea typeface="黑体" panose="02010609060101010101" pitchFamily="49" charset="-122"/>
              </a:rPr>
              <a:t>点阵表示法：</a:t>
            </a:r>
            <a:r>
              <a:rPr lang="zh-CN" altLang="en-US" sz="2000" dirty="0" smtClean="0">
                <a:latin typeface="楷体_GB2312" pitchFamily="49" charset="-122"/>
                <a:ea typeface="楷体_GB2312" pitchFamily="49" charset="-122"/>
              </a:rPr>
              <a:t>多边形</a:t>
            </a:r>
            <a:r>
              <a:rPr lang="zh-CN" altLang="en-US" sz="2000" dirty="0">
                <a:latin typeface="楷体_GB2312" pitchFamily="49" charset="-122"/>
                <a:ea typeface="楷体_GB2312" pitchFamily="49" charset="-122"/>
              </a:rPr>
              <a:t>的点阵表示法是用</a:t>
            </a:r>
            <a:r>
              <a:rPr lang="zh-CN" altLang="en-US" sz="2000" b="1" dirty="0">
                <a:solidFill>
                  <a:srgbClr val="3366FF"/>
                </a:solidFill>
                <a:latin typeface="方正粗黑宋简体" panose="02000000000000000000" pitchFamily="2" charset="-122"/>
                <a:ea typeface="方正粗黑宋简体" panose="02000000000000000000" pitchFamily="2" charset="-122"/>
              </a:rPr>
              <a:t>位于多边形内的像素点集来描述</a:t>
            </a:r>
            <a:r>
              <a:rPr lang="zh-CN" altLang="en-US" sz="2000" dirty="0">
                <a:latin typeface="楷体_GB2312" pitchFamily="49" charset="-122"/>
                <a:ea typeface="楷体_GB2312" pitchFamily="49" charset="-122"/>
              </a:rPr>
              <a:t>，这种表示方法虽然失去了许多重要的集合信息，如顶点、边界等，但</a:t>
            </a:r>
            <a:r>
              <a:rPr lang="zh-CN" altLang="en-US" sz="2000" b="1" dirty="0">
                <a:solidFill>
                  <a:srgbClr val="FF0000"/>
                </a:solidFill>
                <a:latin typeface="黑体" panose="02010609060101010101" pitchFamily="49" charset="-122"/>
                <a:ea typeface="黑体" panose="02010609060101010101" pitchFamily="49" charset="-122"/>
              </a:rPr>
              <a:t>便于运用</a:t>
            </a:r>
            <a:r>
              <a:rPr lang="zh-CN" altLang="en-US" sz="2000" b="1" dirty="0">
                <a:solidFill>
                  <a:srgbClr val="3366FF"/>
                </a:solidFill>
                <a:latin typeface="方正粗黑宋简体" panose="02000000000000000000" pitchFamily="2" charset="-122"/>
                <a:ea typeface="方正粗黑宋简体" panose="02000000000000000000" pitchFamily="2" charset="-122"/>
              </a:rPr>
              <a:t>帧缓冲</a:t>
            </a:r>
            <a:r>
              <a:rPr lang="zh-CN" altLang="en-US" sz="2000" b="1" dirty="0">
                <a:solidFill>
                  <a:srgbClr val="FF0000"/>
                </a:solidFill>
                <a:latin typeface="黑体" panose="02010609060101010101" pitchFamily="49" charset="-122"/>
                <a:ea typeface="黑体" panose="02010609060101010101" pitchFamily="49" charset="-122"/>
              </a:rPr>
              <a:t>来</a:t>
            </a:r>
            <a:r>
              <a:rPr lang="zh-CN" altLang="en-US" sz="2000" b="1" dirty="0">
                <a:solidFill>
                  <a:srgbClr val="3366FF"/>
                </a:solidFill>
                <a:latin typeface="方正粗黑宋简体" panose="02000000000000000000" pitchFamily="2" charset="-122"/>
                <a:ea typeface="方正粗黑宋简体" panose="02000000000000000000" pitchFamily="2" charset="-122"/>
              </a:rPr>
              <a:t>表示图形</a:t>
            </a:r>
            <a:r>
              <a:rPr lang="zh-CN" altLang="en-US" sz="2000" b="1" dirty="0">
                <a:solidFill>
                  <a:srgbClr val="FF0000"/>
                </a:solidFill>
                <a:latin typeface="黑体" panose="02010609060101010101" pitchFamily="49" charset="-122"/>
                <a:ea typeface="黑体" panose="02010609060101010101" pitchFamily="49" charset="-122"/>
              </a:rPr>
              <a:t>，方便</a:t>
            </a:r>
            <a:r>
              <a:rPr lang="zh-CN" altLang="en-US" sz="2000" b="1" dirty="0">
                <a:solidFill>
                  <a:srgbClr val="3366FF"/>
                </a:solidFill>
                <a:latin typeface="方正粗黑宋简体" panose="02000000000000000000" pitchFamily="2" charset="-122"/>
                <a:ea typeface="方正粗黑宋简体" panose="02000000000000000000" pitchFamily="2" charset="-122"/>
              </a:rPr>
              <a:t>直接</a:t>
            </a:r>
            <a:r>
              <a:rPr lang="zh-CN" altLang="en-US" sz="2000" b="1" dirty="0">
                <a:solidFill>
                  <a:srgbClr val="FF0000"/>
                </a:solidFill>
                <a:latin typeface="黑体" panose="02010609060101010101" pitchFamily="49" charset="-122"/>
                <a:ea typeface="黑体" panose="02010609060101010101" pitchFamily="49" charset="-122"/>
              </a:rPr>
              <a:t>读取像素来更改多边形的</a:t>
            </a:r>
            <a:r>
              <a:rPr lang="zh-CN" altLang="en-US" sz="2000" b="1" dirty="0">
                <a:solidFill>
                  <a:srgbClr val="3366FF"/>
                </a:solidFill>
                <a:latin typeface="方正粗黑宋简体" panose="02000000000000000000" pitchFamily="2" charset="-122"/>
                <a:ea typeface="方正粗黑宋简体" panose="02000000000000000000" pitchFamily="2" charset="-122"/>
              </a:rPr>
              <a:t>填充</a:t>
            </a:r>
            <a:r>
              <a:rPr lang="zh-CN" altLang="en-US" sz="2000" b="1" dirty="0">
                <a:solidFill>
                  <a:srgbClr val="FF0000"/>
                </a:solidFill>
                <a:latin typeface="黑体" panose="02010609060101010101" pitchFamily="49" charset="-122"/>
                <a:ea typeface="黑体" panose="02010609060101010101" pitchFamily="49" charset="-122"/>
              </a:rPr>
              <a:t>色</a:t>
            </a:r>
            <a:r>
              <a:rPr lang="zh-CN" altLang="en-US" sz="2000" dirty="0">
                <a:latin typeface="楷体_GB2312" pitchFamily="49" charset="-122"/>
                <a:ea typeface="楷体_GB2312" pitchFamily="49" charset="-122"/>
              </a:rPr>
              <a:t>。 </a:t>
            </a:r>
            <a:endParaRPr lang="zh-CN" altLang="en-US" sz="2000" dirty="0">
              <a:latin typeface="楷体_GB2312" pitchFamily="49" charset="-122"/>
              <a:ea typeface="楷体_GB2312" pitchFamily="49"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323850" y="231776"/>
            <a:ext cx="2968625"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40000"/>
              </a:lnSpc>
            </a:pPr>
            <a:r>
              <a:rPr lang="zh-CN" altLang="en-US" b="1" dirty="0">
                <a:latin typeface="楷体_GB2312" pitchFamily="49" charset="-122"/>
                <a:ea typeface="楷体_GB2312" pitchFamily="49" charset="-122"/>
              </a:rPr>
              <a:t>⑶</a:t>
            </a:r>
            <a:r>
              <a:rPr lang="zh-CN" altLang="en-US" b="1" dirty="0">
                <a:solidFill>
                  <a:srgbClr val="FF0000"/>
                </a:solidFill>
                <a:latin typeface="黑体" panose="02010609060101010101" pitchFamily="49" charset="-122"/>
                <a:ea typeface="黑体" panose="02010609060101010101" pitchFamily="49" charset="-122"/>
              </a:rPr>
              <a:t>多边形的扫描转换</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2531" name="Rectangle 3"/>
          <p:cNvSpPr>
            <a:spLocks noChangeArrowheads="1"/>
          </p:cNvSpPr>
          <p:nvPr/>
        </p:nvSpPr>
        <p:spPr bwMode="auto">
          <a:xfrm>
            <a:off x="323850" y="908050"/>
            <a:ext cx="84963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40000"/>
              </a:lnSpc>
            </a:pPr>
            <a:r>
              <a:rPr lang="zh-CN" altLang="en-US" sz="2000" b="1" dirty="0" smtClean="0">
                <a:solidFill>
                  <a:srgbClr val="FF0000"/>
                </a:solidFill>
                <a:latin typeface="黑体" panose="02010609060101010101" pitchFamily="49" charset="-122"/>
                <a:ea typeface="黑体" panose="02010609060101010101" pitchFamily="49" charset="-122"/>
              </a:rPr>
              <a:t>将</a:t>
            </a:r>
            <a:r>
              <a:rPr lang="zh-CN" altLang="en-US" sz="2000" b="1" dirty="0">
                <a:solidFill>
                  <a:srgbClr val="FF0000"/>
                </a:solidFill>
                <a:latin typeface="黑体" panose="02010609060101010101" pitchFamily="49" charset="-122"/>
                <a:ea typeface="黑体" panose="02010609060101010101" pitchFamily="49" charset="-122"/>
              </a:rPr>
              <a:t>多边形的描述从</a:t>
            </a:r>
            <a:r>
              <a:rPr lang="zh-CN" altLang="en-US" sz="2000" b="1" dirty="0">
                <a:solidFill>
                  <a:srgbClr val="3366FF"/>
                </a:solidFill>
                <a:latin typeface="方正粗黑宋简体" panose="02000000000000000000" pitchFamily="2" charset="-122"/>
                <a:ea typeface="方正粗黑宋简体" panose="02000000000000000000" pitchFamily="2" charset="-122"/>
              </a:rPr>
              <a:t>顶点表示法</a:t>
            </a:r>
            <a:r>
              <a:rPr lang="zh-CN" altLang="en-US" sz="2000" b="1" dirty="0">
                <a:solidFill>
                  <a:srgbClr val="FF0000"/>
                </a:solidFill>
                <a:latin typeface="黑体" panose="02010609060101010101" pitchFamily="49" charset="-122"/>
                <a:ea typeface="黑体" panose="02010609060101010101" pitchFamily="49" charset="-122"/>
              </a:rPr>
              <a:t>变换到</a:t>
            </a:r>
            <a:r>
              <a:rPr lang="zh-CN" altLang="en-US" sz="2000" b="1" dirty="0">
                <a:solidFill>
                  <a:srgbClr val="3366FF"/>
                </a:solidFill>
                <a:latin typeface="方正粗黑宋简体" panose="02000000000000000000" pitchFamily="2" charset="-122"/>
                <a:ea typeface="方正粗黑宋简体" panose="02000000000000000000" pitchFamily="2" charset="-122"/>
              </a:rPr>
              <a:t>点阵表示法</a:t>
            </a:r>
            <a:r>
              <a:rPr lang="zh-CN" altLang="en-US" sz="2000" b="1" dirty="0">
                <a:solidFill>
                  <a:srgbClr val="FF0000"/>
                </a:solidFill>
                <a:latin typeface="黑体" panose="02010609060101010101" pitchFamily="49" charset="-122"/>
                <a:ea typeface="黑体" panose="02010609060101010101" pitchFamily="49" charset="-122"/>
              </a:rPr>
              <a:t>的过程，称为</a:t>
            </a:r>
            <a:r>
              <a:rPr lang="zh-CN" altLang="en-US" sz="2000" b="1" dirty="0">
                <a:solidFill>
                  <a:srgbClr val="3366FF"/>
                </a:solidFill>
                <a:latin typeface="方正粗黑宋简体" panose="02000000000000000000" pitchFamily="2" charset="-122"/>
                <a:ea typeface="方正粗黑宋简体" panose="02000000000000000000" pitchFamily="2" charset="-122"/>
              </a:rPr>
              <a:t>多边形的扫描转换</a:t>
            </a:r>
            <a:r>
              <a:rPr lang="zh-CN" altLang="en-US" sz="2000" dirty="0">
                <a:latin typeface="楷体_GB2312" pitchFamily="49" charset="-122"/>
                <a:ea typeface="楷体_GB2312" pitchFamily="49" charset="-122"/>
              </a:rPr>
              <a:t>。即从多边形的</a:t>
            </a:r>
            <a:r>
              <a:rPr lang="zh-CN" altLang="en-US" sz="2000" b="1" dirty="0">
                <a:solidFill>
                  <a:srgbClr val="3366FF"/>
                </a:solidFill>
                <a:latin typeface="方正粗黑宋简体" panose="02000000000000000000" pitchFamily="2" charset="-122"/>
                <a:ea typeface="方正粗黑宋简体" panose="02000000000000000000" pitchFamily="2" charset="-122"/>
              </a:rPr>
              <a:t>顶点信息</a:t>
            </a:r>
            <a:r>
              <a:rPr lang="zh-CN" altLang="en-US" sz="2000" dirty="0">
                <a:latin typeface="楷体_GB2312" pitchFamily="49" charset="-122"/>
                <a:ea typeface="楷体_GB2312" pitchFamily="49" charset="-122"/>
              </a:rPr>
              <a:t>出发，求出</a:t>
            </a:r>
            <a:r>
              <a:rPr lang="zh-CN" altLang="en-US" sz="2000" b="1" dirty="0">
                <a:solidFill>
                  <a:srgbClr val="FF0000"/>
                </a:solidFill>
                <a:latin typeface="黑体" panose="02010609060101010101" pitchFamily="49" charset="-122"/>
                <a:ea typeface="黑体" panose="02010609060101010101" pitchFamily="49" charset="-122"/>
              </a:rPr>
              <a:t>位于多边形</a:t>
            </a:r>
            <a:r>
              <a:rPr lang="zh-CN" altLang="en-US" sz="2000" b="1" dirty="0">
                <a:solidFill>
                  <a:srgbClr val="3366FF"/>
                </a:solidFill>
                <a:latin typeface="方正粗黑宋简体" panose="02000000000000000000" pitchFamily="2" charset="-122"/>
                <a:ea typeface="方正粗黑宋简体" panose="02000000000000000000" pitchFamily="2" charset="-122"/>
              </a:rPr>
              <a:t>内部</a:t>
            </a:r>
            <a:r>
              <a:rPr lang="zh-CN" altLang="en-US" sz="2000" b="1" dirty="0">
                <a:solidFill>
                  <a:srgbClr val="FF0000"/>
                </a:solidFill>
                <a:latin typeface="黑体" panose="02010609060101010101" pitchFamily="49" charset="-122"/>
                <a:ea typeface="黑体" panose="02010609060101010101" pitchFamily="49" charset="-122"/>
              </a:rPr>
              <a:t>的</a:t>
            </a:r>
            <a:r>
              <a:rPr lang="zh-CN" altLang="en-US" sz="2000" b="1" dirty="0">
                <a:solidFill>
                  <a:srgbClr val="3366FF"/>
                </a:solidFill>
                <a:latin typeface="方正粗黑宋简体" panose="02000000000000000000" pitchFamily="2" charset="-122"/>
                <a:ea typeface="方正粗黑宋简体" panose="02000000000000000000" pitchFamily="2" charset="-122"/>
              </a:rPr>
              <a:t>各个像素</a:t>
            </a:r>
            <a:r>
              <a:rPr lang="zh-CN" altLang="en-US" sz="2000" b="1" dirty="0">
                <a:solidFill>
                  <a:srgbClr val="FF0000"/>
                </a:solidFill>
                <a:latin typeface="黑体" panose="02010609060101010101" pitchFamily="49" charset="-122"/>
                <a:ea typeface="黑体" panose="02010609060101010101" pitchFamily="49" charset="-122"/>
              </a:rPr>
              <a:t>点信息</a:t>
            </a:r>
            <a:r>
              <a:rPr lang="zh-CN" altLang="en-US" sz="2000" dirty="0">
                <a:latin typeface="楷体_GB2312" pitchFamily="49" charset="-122"/>
                <a:ea typeface="楷体_GB2312" pitchFamily="49" charset="-122"/>
              </a:rPr>
              <a:t>，并</a:t>
            </a:r>
            <a:r>
              <a:rPr lang="zh-CN" altLang="en-US" sz="2000" b="1" dirty="0">
                <a:solidFill>
                  <a:srgbClr val="FF0000"/>
                </a:solidFill>
                <a:latin typeface="黑体" panose="02010609060101010101" pitchFamily="49" charset="-122"/>
                <a:ea typeface="黑体" panose="02010609060101010101" pitchFamily="49" charset="-122"/>
              </a:rPr>
              <a:t>将其颜色值</a:t>
            </a:r>
            <a:r>
              <a:rPr lang="zh-CN" altLang="en-US" sz="2000" b="1" dirty="0">
                <a:solidFill>
                  <a:srgbClr val="3366FF"/>
                </a:solidFill>
                <a:latin typeface="方正粗黑宋简体" panose="02000000000000000000" pitchFamily="2" charset="-122"/>
                <a:ea typeface="方正粗黑宋简体" panose="02000000000000000000" pitchFamily="2" charset="-122"/>
              </a:rPr>
              <a:t>写入帧缓冲</a:t>
            </a:r>
            <a:r>
              <a:rPr lang="zh-CN" altLang="en-US" sz="2000" b="1" dirty="0">
                <a:solidFill>
                  <a:srgbClr val="FF0000"/>
                </a:solidFill>
                <a:latin typeface="黑体" panose="02010609060101010101" pitchFamily="49" charset="-122"/>
                <a:ea typeface="黑体" panose="02010609060101010101" pitchFamily="49" charset="-122"/>
              </a:rPr>
              <a:t>的相应单元中</a:t>
            </a:r>
            <a:r>
              <a:rPr lang="zh-CN" altLang="en-US" sz="2000" dirty="0">
                <a:latin typeface="楷体_GB2312" pitchFamily="49" charset="-122"/>
                <a:ea typeface="楷体_GB2312" pitchFamily="49" charset="-122"/>
              </a:rPr>
              <a:t>。 </a:t>
            </a:r>
            <a:endParaRPr lang="zh-CN" altLang="en-US" sz="2000" dirty="0">
              <a:latin typeface="楷体_GB2312" pitchFamily="49" charset="-122"/>
              <a:ea typeface="楷体_GB2312" pitchFamily="49" charset="-122"/>
            </a:endParaRPr>
          </a:p>
        </p:txBody>
      </p:sp>
      <p:graphicFrame>
        <p:nvGraphicFramePr>
          <p:cNvPr id="22532" name="Object 5"/>
          <p:cNvGraphicFramePr>
            <a:graphicFrameLocks noChangeAspect="1"/>
          </p:cNvGraphicFramePr>
          <p:nvPr/>
        </p:nvGraphicFramePr>
        <p:xfrm>
          <a:off x="5219700" y="3211513"/>
          <a:ext cx="2665413" cy="2665412"/>
        </p:xfrm>
        <a:graphic>
          <a:graphicData uri="http://schemas.openxmlformats.org/presentationml/2006/ole">
            <mc:AlternateContent xmlns:mc="http://schemas.openxmlformats.org/markup-compatibility/2006">
              <mc:Choice xmlns:v="urn:schemas-microsoft-com:vml" Requires="v">
                <p:oleObj spid="_x0000_s22561" name="" r:id="rId1" imgW="5610860" imgH="5610860" progId="Visio.Drawing.11">
                  <p:embed/>
                </p:oleObj>
              </mc:Choice>
              <mc:Fallback>
                <p:oleObj name="" r:id="rId1" imgW="5610860" imgH="5610860"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3211513"/>
                        <a:ext cx="2665413"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3" name="Rectangle 7"/>
          <p:cNvSpPr>
            <a:spLocks noChangeArrowheads="1"/>
          </p:cNvSpPr>
          <p:nvPr/>
        </p:nvSpPr>
        <p:spPr bwMode="auto">
          <a:xfrm>
            <a:off x="0" y="1022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2534" name="Rectangle 8"/>
          <p:cNvSpPr>
            <a:spLocks noChangeArrowheads="1"/>
          </p:cNvSpPr>
          <p:nvPr/>
        </p:nvSpPr>
        <p:spPr bwMode="auto">
          <a:xfrm>
            <a:off x="4430713" y="3213100"/>
            <a:ext cx="279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22535" name="Rectangle 9"/>
          <p:cNvSpPr>
            <a:spLocks noChangeArrowheads="1"/>
          </p:cNvSpPr>
          <p:nvPr/>
        </p:nvSpPr>
        <p:spPr bwMode="auto">
          <a:xfrm>
            <a:off x="1979613" y="6092825"/>
            <a:ext cx="5975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solidFill>
                  <a:srgbClr val="000000"/>
                </a:solidFill>
                <a:latin typeface="楷体_GB2312" pitchFamily="49" charset="-122"/>
                <a:ea typeface="楷体_GB2312" pitchFamily="49" charset="-122"/>
              </a:rPr>
              <a:t>多边形的顶点表示法  多边形的点阵表示法</a:t>
            </a:r>
            <a:endParaRPr lang="zh-CN" altLang="en-US">
              <a:latin typeface="楷体_GB2312" pitchFamily="49" charset="-122"/>
              <a:ea typeface="楷体_GB2312" pitchFamily="49" charset="-122"/>
            </a:endParaRPr>
          </a:p>
        </p:txBody>
      </p:sp>
      <p:sp>
        <p:nvSpPr>
          <p:cNvPr id="22536" name="Rectangle 11"/>
          <p:cNvSpPr>
            <a:spLocks noChangeArrowheads="1"/>
          </p:cNvSpPr>
          <p:nvPr/>
        </p:nvSpPr>
        <p:spPr bwMode="auto">
          <a:xfrm>
            <a:off x="0" y="233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2537" name="Rectangle 13"/>
          <p:cNvSpPr>
            <a:spLocks noChangeArrowheads="1"/>
          </p:cNvSpPr>
          <p:nvPr/>
        </p:nvSpPr>
        <p:spPr bwMode="auto">
          <a:xfrm>
            <a:off x="0" y="233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22538" name="Object 12"/>
          <p:cNvGraphicFramePr>
            <a:graphicFrameLocks noChangeAspect="1"/>
          </p:cNvGraphicFramePr>
          <p:nvPr/>
        </p:nvGraphicFramePr>
        <p:xfrm>
          <a:off x="1908175" y="3213100"/>
          <a:ext cx="2665413" cy="2665413"/>
        </p:xfrm>
        <a:graphic>
          <a:graphicData uri="http://schemas.openxmlformats.org/presentationml/2006/ole">
            <mc:AlternateContent xmlns:mc="http://schemas.openxmlformats.org/markup-compatibility/2006">
              <mc:Choice xmlns:v="urn:schemas-microsoft-com:vml" Requires="v">
                <p:oleObj spid="_x0000_s22562" name="" r:id="rId3" imgW="6127750" imgH="6127750" progId="Visio.Drawing.11">
                  <p:embed/>
                </p:oleObj>
              </mc:Choice>
              <mc:Fallback>
                <p:oleObj name="" r:id="rId3" imgW="6127750" imgH="6127750"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3213100"/>
                        <a:ext cx="2665413"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1403350" y="112713"/>
            <a:ext cx="4392613"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ea typeface="楷体_GB2312" pitchFamily="49" charset="-122"/>
              </a:rPr>
              <a:t>4.1.3 </a:t>
            </a:r>
            <a:r>
              <a:rPr lang="zh-CN" altLang="en-US" sz="3200" b="1">
                <a:effectLst>
                  <a:outerShdw blurRad="38100" dist="38100" dir="2700000" algn="tl">
                    <a:srgbClr val="C0C0C0"/>
                  </a:outerShdw>
                </a:effectLst>
                <a:latin typeface="楷体_GB2312" pitchFamily="49" charset="-122"/>
                <a:ea typeface="楷体_GB2312" pitchFamily="49" charset="-122"/>
              </a:rPr>
              <a:t>多边形着色模式</a:t>
            </a:r>
            <a:r>
              <a:rPr lang="zh-CN" altLang="en-US"/>
              <a:t> </a:t>
            </a:r>
            <a:endParaRPr lang="zh-CN" altLang="en-US"/>
          </a:p>
        </p:txBody>
      </p:sp>
      <p:sp>
        <p:nvSpPr>
          <p:cNvPr id="23555" name="Rectangle 5"/>
          <p:cNvSpPr>
            <a:spLocks noChangeArrowheads="1"/>
          </p:cNvSpPr>
          <p:nvPr/>
        </p:nvSpPr>
        <p:spPr bwMode="auto">
          <a:xfrm>
            <a:off x="323850" y="1077913"/>
            <a:ext cx="85915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楷体_GB2312" pitchFamily="49" charset="-122"/>
                <a:ea typeface="楷体_GB2312" pitchFamily="49" charset="-122"/>
              </a:rPr>
              <a:t>  多边形可以使用</a:t>
            </a:r>
            <a:r>
              <a:rPr lang="zh-CN" altLang="en-US" sz="2000" b="1">
                <a:solidFill>
                  <a:srgbClr val="3366FF"/>
                </a:solidFill>
                <a:latin typeface="方正粗黑宋简体" panose="02000000000000000000" pitchFamily="2" charset="-122"/>
                <a:ea typeface="方正粗黑宋简体" panose="02000000000000000000" pitchFamily="2" charset="-122"/>
              </a:rPr>
              <a:t>平面着色模式</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flat shading mode</a:t>
            </a:r>
            <a:r>
              <a:rPr lang="zh-CN" altLang="en-US">
                <a:latin typeface="楷体_GB2312" pitchFamily="49" charset="-122"/>
                <a:ea typeface="楷体_GB2312" pitchFamily="49" charset="-122"/>
              </a:rPr>
              <a:t>）或</a:t>
            </a:r>
            <a:r>
              <a:rPr lang="zh-CN" altLang="en-US" sz="2000" b="1">
                <a:solidFill>
                  <a:srgbClr val="3366FF"/>
                </a:solidFill>
                <a:latin typeface="方正粗黑宋简体" panose="02000000000000000000" pitchFamily="2" charset="-122"/>
                <a:ea typeface="方正粗黑宋简体" panose="02000000000000000000" pitchFamily="2" charset="-122"/>
              </a:rPr>
              <a:t>光滑着色模式</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smooth shading mode</a:t>
            </a:r>
            <a:r>
              <a:rPr lang="zh-CN" altLang="en-US">
                <a:latin typeface="楷体_GB2312" pitchFamily="49" charset="-122"/>
                <a:ea typeface="楷体_GB2312" pitchFamily="49" charset="-122"/>
              </a:rPr>
              <a:t>）填充。</a:t>
            </a:r>
            <a:r>
              <a:rPr lang="zh-CN" altLang="en-US" b="1">
                <a:solidFill>
                  <a:srgbClr val="FF0000"/>
                </a:solidFill>
                <a:latin typeface="黑体" panose="02010609060101010101" pitchFamily="49" charset="-122"/>
                <a:ea typeface="黑体" panose="02010609060101010101" pitchFamily="49" charset="-122"/>
              </a:rPr>
              <a:t>平面着色</a:t>
            </a:r>
            <a:r>
              <a:rPr lang="zh-CN" altLang="en-US">
                <a:latin typeface="楷体_GB2312" pitchFamily="49" charset="-122"/>
                <a:ea typeface="楷体_GB2312" pitchFamily="49" charset="-122"/>
              </a:rPr>
              <a:t>是指多边形所有顶点的</a:t>
            </a:r>
            <a:r>
              <a:rPr lang="zh-CN" altLang="en-US" sz="2000" b="1">
                <a:solidFill>
                  <a:srgbClr val="3366FF"/>
                </a:solidFill>
                <a:latin typeface="方正粗黑宋简体" panose="02000000000000000000" pitchFamily="2" charset="-122"/>
                <a:ea typeface="方正粗黑宋简体" panose="02000000000000000000" pitchFamily="2" charset="-122"/>
              </a:rPr>
              <a:t>颜色都相同</a:t>
            </a:r>
            <a:r>
              <a:rPr lang="zh-CN" altLang="en-US">
                <a:latin typeface="楷体_GB2312" pitchFamily="49" charset="-122"/>
                <a:ea typeface="楷体_GB2312" pitchFamily="49" charset="-122"/>
              </a:rPr>
              <a:t>，多边形内部具有同顶点一样的颜色。</a:t>
            </a:r>
            <a:r>
              <a:rPr lang="zh-CN" altLang="en-US" b="1">
                <a:solidFill>
                  <a:srgbClr val="FF0000"/>
                </a:solidFill>
                <a:latin typeface="黑体" panose="02010609060101010101" pitchFamily="49" charset="-122"/>
                <a:ea typeface="黑体" panose="02010609060101010101" pitchFamily="49" charset="-122"/>
              </a:rPr>
              <a:t>光滑着色是指多边形各个顶点的颜色不同</a:t>
            </a:r>
            <a:r>
              <a:rPr lang="zh-CN" altLang="en-US">
                <a:latin typeface="楷体_GB2312" pitchFamily="49" charset="-122"/>
                <a:ea typeface="楷体_GB2312" pitchFamily="49" charset="-122"/>
              </a:rPr>
              <a:t>，多边形边的颜色是由这条边的两个顶点的颜色</a:t>
            </a:r>
            <a:r>
              <a:rPr lang="zh-CN" altLang="en-US" b="1">
                <a:solidFill>
                  <a:srgbClr val="FF0000"/>
                </a:solidFill>
                <a:latin typeface="黑体" panose="02010609060101010101" pitchFamily="49" charset="-122"/>
                <a:ea typeface="黑体" panose="02010609060101010101" pitchFamily="49" charset="-122"/>
              </a:rPr>
              <a:t>插值得到</a:t>
            </a:r>
            <a:r>
              <a:rPr lang="zh-CN" altLang="en-US">
                <a:latin typeface="楷体_GB2312" pitchFamily="49" charset="-122"/>
                <a:ea typeface="楷体_GB2312" pitchFamily="49" charset="-122"/>
              </a:rPr>
              <a:t>，多边形内部的颜色是由扫描线上</a:t>
            </a:r>
            <a:r>
              <a:rPr lang="zh-CN" altLang="en-US" sz="2000" b="1">
                <a:solidFill>
                  <a:srgbClr val="3366FF"/>
                </a:solidFill>
                <a:latin typeface="方正粗黑宋简体" panose="02000000000000000000" pitchFamily="2" charset="-122"/>
                <a:ea typeface="方正粗黑宋简体" panose="02000000000000000000" pitchFamily="2" charset="-122"/>
              </a:rPr>
              <a:t>共享同一顶点的相邻两条边上的颜色插值得到</a:t>
            </a:r>
            <a:r>
              <a:rPr lang="zh-CN" altLang="en-US">
                <a:latin typeface="楷体_GB2312" pitchFamily="49" charset="-122"/>
                <a:ea typeface="楷体_GB2312" pitchFamily="49" charset="-122"/>
              </a:rPr>
              <a:t>。</a:t>
            </a:r>
            <a:endParaRPr lang="zh-CN" altLang="en-US">
              <a:latin typeface="楷体_GB2312" pitchFamily="49" charset="-122"/>
              <a:ea typeface="楷体_GB2312" pitchFamily="49" charset="-122"/>
            </a:endParaRPr>
          </a:p>
        </p:txBody>
      </p:sp>
      <p:pic>
        <p:nvPicPr>
          <p:cNvPr id="23556"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150" y="3933825"/>
            <a:ext cx="31686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3933825"/>
            <a:ext cx="3024187"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Rectangle 11"/>
          <p:cNvSpPr>
            <a:spLocks noChangeArrowheads="1"/>
          </p:cNvSpPr>
          <p:nvPr/>
        </p:nvSpPr>
        <p:spPr bwMode="auto">
          <a:xfrm>
            <a:off x="0" y="203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ndParaRPr>
          </a:p>
        </p:txBody>
      </p:sp>
      <p:sp>
        <p:nvSpPr>
          <p:cNvPr id="23559" name="Rectangle 15"/>
          <p:cNvSpPr>
            <a:spLocks noChangeArrowheads="1"/>
          </p:cNvSpPr>
          <p:nvPr/>
        </p:nvSpPr>
        <p:spPr bwMode="auto">
          <a:xfrm>
            <a:off x="0" y="203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3560" name="Rectangle 16"/>
          <p:cNvSpPr>
            <a:spLocks noChangeArrowheads="1"/>
          </p:cNvSpPr>
          <p:nvPr/>
        </p:nvSpPr>
        <p:spPr bwMode="auto">
          <a:xfrm>
            <a:off x="0" y="2970213"/>
            <a:ext cx="27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sz="1000">
              <a:solidFill>
                <a:srgbClr val="FF0000"/>
              </a:solidFill>
              <a:latin typeface="Times New Roman" panose="02020603050405020304" pitchFamily="18" charset="0"/>
            </a:endParaRPr>
          </a:p>
          <a:p>
            <a:r>
              <a:rPr lang="zh-CN" altLang="en-US" sz="1000">
                <a:solidFill>
                  <a:srgbClr val="FF0000"/>
                </a:solidFill>
                <a:latin typeface="Times New Roman" panose="02020603050405020304" pitchFamily="18" charset="0"/>
              </a:rPr>
              <a:t>   </a:t>
            </a:r>
            <a:endParaRPr lang="zh-CN" altLang="en-US">
              <a:latin typeface="Arial" panose="020B0604020202020204" pitchFamily="34" charset="0"/>
            </a:endParaRPr>
          </a:p>
        </p:txBody>
      </p:sp>
      <p:sp>
        <p:nvSpPr>
          <p:cNvPr id="23561" name="Rectangle 17"/>
          <p:cNvSpPr>
            <a:spLocks noChangeArrowheads="1"/>
          </p:cNvSpPr>
          <p:nvPr/>
        </p:nvSpPr>
        <p:spPr bwMode="auto">
          <a:xfrm>
            <a:off x="6118225" y="5876925"/>
            <a:ext cx="167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solidFill>
                  <a:srgbClr val="000000"/>
                </a:solidFill>
                <a:latin typeface="楷体_GB2312" pitchFamily="49" charset="-122"/>
                <a:ea typeface="楷体_GB2312" pitchFamily="49" charset="-122"/>
                <a:hlinkClick r:id="rId3" action="ppaction://hlinkfile"/>
              </a:rPr>
              <a:t>光滑着色</a:t>
            </a:r>
            <a:endParaRPr lang="zh-CN" altLang="en-US">
              <a:latin typeface="楷体_GB2312" pitchFamily="49" charset="-122"/>
              <a:ea typeface="楷体_GB2312" pitchFamily="49" charset="-122"/>
            </a:endParaRPr>
          </a:p>
        </p:txBody>
      </p:sp>
      <p:sp>
        <p:nvSpPr>
          <p:cNvPr id="23562" name="Rectangle 18"/>
          <p:cNvSpPr>
            <a:spLocks noChangeArrowheads="1"/>
          </p:cNvSpPr>
          <p:nvPr/>
        </p:nvSpPr>
        <p:spPr bwMode="auto">
          <a:xfrm>
            <a:off x="2517775" y="5876925"/>
            <a:ext cx="167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solidFill>
                  <a:srgbClr val="000000"/>
                </a:solidFill>
                <a:latin typeface="楷体_GB2312" pitchFamily="49" charset="-122"/>
                <a:ea typeface="楷体_GB2312" pitchFamily="49" charset="-122"/>
                <a:hlinkClick r:id="rId4" action="ppaction://hlinkfile"/>
              </a:rPr>
              <a:t>平面着色</a:t>
            </a:r>
            <a:endParaRPr lang="zh-CN" altLang="en-US">
              <a:latin typeface="楷体_GB2312" pitchFamily="49" charset="-122"/>
              <a:ea typeface="楷体_GB2312" pitchFamily="49"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descr="马赫带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6955" y="2554971"/>
            <a:ext cx="202677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579" name="Object 4"/>
          <p:cNvGraphicFramePr>
            <a:graphicFrameLocks noChangeAspect="1"/>
          </p:cNvGraphicFramePr>
          <p:nvPr/>
        </p:nvGraphicFramePr>
        <p:xfrm>
          <a:off x="5292080" y="2267633"/>
          <a:ext cx="2376488" cy="1668463"/>
        </p:xfrm>
        <a:graphic>
          <a:graphicData uri="http://schemas.openxmlformats.org/presentationml/2006/ole">
            <mc:AlternateContent xmlns:mc="http://schemas.openxmlformats.org/markup-compatibility/2006">
              <mc:Choice xmlns:v="urn:schemas-microsoft-com:vml" Requires="v">
                <p:oleObj spid="_x0000_s24598" name="" r:id="rId2" imgW="5557520" imgH="3907155" progId="Visio.Drawing.11">
                  <p:embed/>
                </p:oleObj>
              </mc:Choice>
              <mc:Fallback>
                <p:oleObj name="" r:id="rId2" imgW="5557520" imgH="3907155"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2267633"/>
                        <a:ext cx="2376488" cy="1668463"/>
                      </a:xfrm>
                      <a:prstGeom prst="rect">
                        <a:avLst/>
                      </a:prstGeom>
                      <a:noFill/>
                      <a:ln>
                        <a:noFill/>
                      </a:ln>
                    </p:spPr>
                  </p:pic>
                </p:oleObj>
              </mc:Fallback>
            </mc:AlternateContent>
          </a:graphicData>
        </a:graphic>
      </p:graphicFrame>
      <p:sp>
        <p:nvSpPr>
          <p:cNvPr id="24580" name="AutoShape 6"/>
          <p:cNvSpPr/>
          <p:nvPr/>
        </p:nvSpPr>
        <p:spPr bwMode="auto">
          <a:xfrm>
            <a:off x="7092305" y="3202671"/>
            <a:ext cx="1103313" cy="346075"/>
          </a:xfrm>
          <a:prstGeom prst="callout1">
            <a:avLst>
              <a:gd name="adj1" fmla="val 33028"/>
              <a:gd name="adj2" fmla="val -6907"/>
              <a:gd name="adj3" fmla="val -151375"/>
              <a:gd name="adj4" fmla="val -55972"/>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Times New Roman" panose="02020603050405020304" pitchFamily="18" charset="0"/>
                <a:ea typeface="楷体_GB2312" pitchFamily="49" charset="-122"/>
              </a:rPr>
              <a:t>实际光强</a:t>
            </a:r>
            <a:endParaRPr lang="zh-CN" altLang="en-US" sz="2000">
              <a:latin typeface="Arial" panose="020B0604020202020204" pitchFamily="34" charset="0"/>
              <a:ea typeface="楷体_GB2312" pitchFamily="49" charset="-122"/>
            </a:endParaRPr>
          </a:p>
        </p:txBody>
      </p:sp>
      <p:sp>
        <p:nvSpPr>
          <p:cNvPr id="24581" name="AutoShape 7"/>
          <p:cNvSpPr/>
          <p:nvPr/>
        </p:nvSpPr>
        <p:spPr bwMode="auto">
          <a:xfrm>
            <a:off x="5004743" y="2483533"/>
            <a:ext cx="1092200" cy="300038"/>
          </a:xfrm>
          <a:prstGeom prst="callout1">
            <a:avLst>
              <a:gd name="adj1" fmla="val 38097"/>
              <a:gd name="adj2" fmla="val 106977"/>
              <a:gd name="adj3" fmla="val -50792"/>
              <a:gd name="adj4" fmla="val 136630"/>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Times New Roman" panose="02020603050405020304" pitchFamily="18" charset="0"/>
                <a:ea typeface="楷体_GB2312" pitchFamily="49" charset="-122"/>
              </a:rPr>
              <a:t>感知光强</a:t>
            </a:r>
            <a:endParaRPr lang="zh-CN" altLang="en-US" sz="2000">
              <a:latin typeface="Arial" panose="020B0604020202020204" pitchFamily="34" charset="0"/>
              <a:ea typeface="楷体_GB2312" pitchFamily="49" charset="-122"/>
            </a:endParaRPr>
          </a:p>
        </p:txBody>
      </p:sp>
      <p:sp>
        <p:nvSpPr>
          <p:cNvPr id="24582" name="Rectangle 8"/>
          <p:cNvSpPr>
            <a:spLocks noChangeArrowheads="1"/>
          </p:cNvSpPr>
          <p:nvPr/>
        </p:nvSpPr>
        <p:spPr bwMode="auto">
          <a:xfrm>
            <a:off x="0" y="1876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4585" name="Rectangle 13"/>
          <p:cNvSpPr>
            <a:spLocks noChangeArrowheads="1"/>
          </p:cNvSpPr>
          <p:nvPr/>
        </p:nvSpPr>
        <p:spPr bwMode="auto">
          <a:xfrm>
            <a:off x="4203358" y="3997217"/>
            <a:ext cx="47628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smtClean="0">
                <a:latin typeface="楷体_GB2312" pitchFamily="49" charset="-122"/>
                <a:ea typeface="楷体_GB2312" pitchFamily="49" charset="-122"/>
              </a:rPr>
              <a:t>边界</a:t>
            </a:r>
            <a:r>
              <a:rPr lang="zh-CN" altLang="en-US" dirty="0">
                <a:latin typeface="楷体_GB2312" pitchFamily="49" charset="-122"/>
                <a:ea typeface="楷体_GB2312" pitchFamily="49" charset="-122"/>
              </a:rPr>
              <a:t>位置的实际光强与感知光强</a:t>
            </a:r>
            <a:endParaRPr lang="zh-CN" altLang="en-US" dirty="0">
              <a:latin typeface="楷体_GB2312" pitchFamily="49" charset="-122"/>
              <a:ea typeface="楷体_GB2312" pitchFamily="49" charset="-122"/>
            </a:endParaRPr>
          </a:p>
        </p:txBody>
      </p:sp>
      <p:sp>
        <p:nvSpPr>
          <p:cNvPr id="24586" name="Rectangle 14"/>
          <p:cNvSpPr>
            <a:spLocks noChangeArrowheads="1"/>
          </p:cNvSpPr>
          <p:nvPr/>
        </p:nvSpPr>
        <p:spPr bwMode="auto">
          <a:xfrm>
            <a:off x="323850" y="252587"/>
            <a:ext cx="86423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dirty="0">
                <a:latin typeface="楷体_GB2312" pitchFamily="49" charset="-122"/>
                <a:ea typeface="楷体_GB2312" pitchFamily="49" charset="-122"/>
              </a:rPr>
              <a:t>  马赫带（</a:t>
            </a:r>
            <a:r>
              <a:rPr lang="en-US" altLang="zh-CN" sz="2000" dirty="0">
                <a:latin typeface="楷体_GB2312" pitchFamily="49" charset="-122"/>
                <a:ea typeface="楷体_GB2312" pitchFamily="49" charset="-122"/>
              </a:rPr>
              <a:t>Mach Band</a:t>
            </a:r>
            <a:r>
              <a:rPr lang="zh-CN" altLang="en-US" sz="2000" dirty="0">
                <a:latin typeface="楷体_GB2312" pitchFamily="49" charset="-122"/>
                <a:ea typeface="楷体_GB2312" pitchFamily="49" charset="-122"/>
              </a:rPr>
              <a:t>）是由</a:t>
            </a:r>
            <a:r>
              <a:rPr lang="zh-CN" altLang="en-US" sz="2000" b="1" dirty="0">
                <a:solidFill>
                  <a:srgbClr val="3366FF"/>
                </a:solidFill>
                <a:latin typeface="方正粗黑宋简体" panose="02000000000000000000" pitchFamily="2" charset="-122"/>
                <a:ea typeface="方正粗黑宋简体" panose="02000000000000000000" pitchFamily="2" charset="-122"/>
              </a:rPr>
              <a:t>灰度接近的矩形块组成</a:t>
            </a:r>
            <a:r>
              <a:rPr lang="zh-CN" altLang="en-US" sz="2000" dirty="0">
                <a:latin typeface="楷体_GB2312" pitchFamily="49" charset="-122"/>
                <a:ea typeface="楷体_GB2312" pitchFamily="49" charset="-122"/>
              </a:rPr>
              <a:t>。在观察明暗变化的边界时，</a:t>
            </a:r>
            <a:r>
              <a:rPr lang="zh-CN" altLang="en-US" sz="2000" b="1" dirty="0">
                <a:solidFill>
                  <a:srgbClr val="FF0000"/>
                </a:solidFill>
                <a:latin typeface="黑体" panose="02010609060101010101" pitchFamily="49" charset="-122"/>
                <a:ea typeface="黑体" panose="02010609060101010101" pitchFamily="49" charset="-122"/>
              </a:rPr>
              <a:t>边界处亮度对比度加强</a:t>
            </a:r>
            <a:r>
              <a:rPr lang="zh-CN" altLang="en-US" sz="2000" dirty="0">
                <a:latin typeface="楷体_GB2312" pitchFamily="49" charset="-122"/>
                <a:ea typeface="楷体_GB2312" pitchFamily="49" charset="-122"/>
              </a:rPr>
              <a:t>，常常在光强</a:t>
            </a:r>
            <a:r>
              <a:rPr lang="zh-CN" altLang="en-US" sz="2000" b="1" dirty="0">
                <a:solidFill>
                  <a:srgbClr val="3366FF"/>
                </a:solidFill>
                <a:latin typeface="方正粗黑宋简体" panose="02000000000000000000" pitchFamily="2" charset="-122"/>
                <a:ea typeface="方正粗黑宋简体" panose="02000000000000000000" pitchFamily="2" charset="-122"/>
              </a:rPr>
              <a:t>阶梯变化</a:t>
            </a:r>
            <a:r>
              <a:rPr lang="zh-CN" altLang="en-US" sz="2000" dirty="0">
                <a:latin typeface="楷体_GB2312" pitchFamily="49" charset="-122"/>
                <a:ea typeface="楷体_GB2312" pitchFamily="49" charset="-122"/>
              </a:rPr>
              <a:t>的一侧感知到亮度的</a:t>
            </a:r>
            <a:r>
              <a:rPr lang="zh-CN" altLang="en-US" sz="2000" b="1" dirty="0">
                <a:solidFill>
                  <a:srgbClr val="3366FF"/>
                </a:solidFill>
                <a:latin typeface="方正粗黑宋简体" panose="02000000000000000000" pitchFamily="2" charset="-122"/>
                <a:ea typeface="方正粗黑宋简体" panose="02000000000000000000" pitchFamily="2" charset="-122"/>
              </a:rPr>
              <a:t>正向尖峰效果</a:t>
            </a:r>
            <a:r>
              <a:rPr lang="zh-CN" altLang="en-US" sz="2000" dirty="0">
                <a:latin typeface="楷体_GB2312" pitchFamily="49" charset="-122"/>
                <a:ea typeface="楷体_GB2312" pitchFamily="49" charset="-122"/>
              </a:rPr>
              <a:t>，而在另一侧感知到亮度的</a:t>
            </a:r>
            <a:r>
              <a:rPr lang="zh-CN" altLang="en-US" sz="2000" b="1" dirty="0">
                <a:solidFill>
                  <a:srgbClr val="3366FF"/>
                </a:solidFill>
                <a:latin typeface="方正粗黑宋简体" panose="02000000000000000000" pitchFamily="2" charset="-122"/>
                <a:ea typeface="方正粗黑宋简体" panose="02000000000000000000" pitchFamily="2" charset="-122"/>
              </a:rPr>
              <a:t>负向尖峰效果</a:t>
            </a:r>
            <a:r>
              <a:rPr lang="zh-CN" altLang="en-US" sz="2000" dirty="0">
                <a:latin typeface="楷体_GB2312" pitchFamily="49" charset="-122"/>
                <a:ea typeface="楷体_GB2312" pitchFamily="49" charset="-122"/>
              </a:rPr>
              <a:t>，使得边界表现得非常明显，这种现象称为</a:t>
            </a:r>
            <a:r>
              <a:rPr lang="zh-CN" altLang="en-US" sz="2000" b="1" dirty="0">
                <a:solidFill>
                  <a:srgbClr val="3366FF"/>
                </a:solidFill>
                <a:latin typeface="方正粗黑宋简体" panose="02000000000000000000" pitchFamily="2" charset="-122"/>
                <a:ea typeface="方正粗黑宋简体" panose="02000000000000000000" pitchFamily="2" charset="-122"/>
              </a:rPr>
              <a:t>马赫带效应</a:t>
            </a:r>
            <a:r>
              <a:rPr lang="zh-CN" altLang="en-US" sz="2000" dirty="0">
                <a:latin typeface="楷体_GB2312" pitchFamily="49" charset="-122"/>
                <a:ea typeface="楷体_GB2312" pitchFamily="49" charset="-122"/>
              </a:rPr>
              <a:t>。马赫带效应不是一种物理现象，而使一种</a:t>
            </a:r>
            <a:r>
              <a:rPr lang="zh-CN" altLang="en-US" sz="2000" b="1" dirty="0">
                <a:solidFill>
                  <a:srgbClr val="3366FF"/>
                </a:solidFill>
                <a:latin typeface="方正粗黑宋简体" panose="02000000000000000000" pitchFamily="2" charset="-122"/>
                <a:ea typeface="方正粗黑宋简体" panose="02000000000000000000" pitchFamily="2" charset="-122"/>
              </a:rPr>
              <a:t>心理现象</a:t>
            </a:r>
            <a:r>
              <a:rPr lang="zh-CN" altLang="en-US" sz="2000" dirty="0">
                <a:latin typeface="楷体_GB2312" pitchFamily="49" charset="-122"/>
                <a:ea typeface="楷体_GB2312" pitchFamily="49" charset="-122"/>
              </a:rPr>
              <a:t>，夸大了平面着色的渲染效果，使得人眼感觉到的亮度变化比实际的亮度变化要大。绘制真实感图形的过程中应</a:t>
            </a:r>
            <a:r>
              <a:rPr lang="zh-CN" altLang="en-US" sz="2000" b="1" dirty="0">
                <a:solidFill>
                  <a:srgbClr val="FF0000"/>
                </a:solidFill>
                <a:latin typeface="黑体" panose="02010609060101010101" pitchFamily="49" charset="-122"/>
                <a:ea typeface="黑体" panose="02010609060101010101" pitchFamily="49" charset="-122"/>
              </a:rPr>
              <a:t>尽量避免出现马赫带效应</a:t>
            </a:r>
            <a:r>
              <a:rPr lang="zh-CN" altLang="en-US" sz="2000" dirty="0">
                <a:latin typeface="楷体_GB2312" pitchFamily="49" charset="-122"/>
                <a:ea typeface="楷体_GB2312" pitchFamily="49" charset="-122"/>
              </a:rPr>
              <a:t>。</a:t>
            </a:r>
            <a:endParaRPr lang="zh-CN" altLang="en-US" sz="2000" dirty="0">
              <a:latin typeface="楷体_GB2312" pitchFamily="49" charset="-122"/>
              <a:ea typeface="楷体_GB2312" pitchFamily="49" charset="-122"/>
            </a:endParaRPr>
          </a:p>
        </p:txBody>
      </p:sp>
      <p:sp>
        <p:nvSpPr>
          <p:cNvPr id="2" name="矩形 1"/>
          <p:cNvSpPr/>
          <p:nvPr/>
        </p:nvSpPr>
        <p:spPr>
          <a:xfrm>
            <a:off x="1576345" y="3609223"/>
            <a:ext cx="1107996" cy="461665"/>
          </a:xfrm>
          <a:prstGeom prst="rect">
            <a:avLst/>
          </a:prstGeom>
        </p:spPr>
        <p:txBody>
          <a:bodyPr wrap="none">
            <a:spAutoFit/>
          </a:bodyPr>
          <a:lstStyle/>
          <a:p>
            <a:r>
              <a:rPr lang="zh-CN" altLang="en-US" dirty="0" smtClean="0">
                <a:latin typeface="楷体_GB2312" pitchFamily="49" charset="-122"/>
                <a:ea typeface="楷体_GB2312" pitchFamily="49" charset="-122"/>
                <a:hlinkClick r:id="rId4" action="ppaction://hlinkfile"/>
              </a:rPr>
              <a:t>马赫带</a:t>
            </a:r>
            <a:endParaRPr lang="zh-CN" altLang="en-US" dirty="0"/>
          </a:p>
        </p:txBody>
      </p:sp>
      <p:pic>
        <p:nvPicPr>
          <p:cNvPr id="1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3850" y="4297568"/>
            <a:ext cx="2342716" cy="2307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5"/>
          <p:cNvSpPr>
            <a:spLocks noChangeArrowheads="1"/>
          </p:cNvSpPr>
          <p:nvPr/>
        </p:nvSpPr>
        <p:spPr bwMode="auto">
          <a:xfrm>
            <a:off x="5888127" y="5287485"/>
            <a:ext cx="227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a:latin typeface="楷体_GB2312" pitchFamily="49" charset="-122"/>
                <a:ea typeface="楷体_GB2312" pitchFamily="49" charset="-122"/>
                <a:hlinkClick r:id="rId6" action="ppaction://hlinkfile"/>
              </a:rPr>
              <a:t>球面的马赫带</a:t>
            </a:r>
            <a:endParaRPr lang="zh-CN" altLang="en-US" dirty="0">
              <a:latin typeface="楷体_GB2312" pitchFamily="49" charset="-122"/>
              <a:ea typeface="楷体_GB2312" pitchFamily="49" charset="-122"/>
            </a:endParaRPr>
          </a:p>
        </p:txBody>
      </p:sp>
      <p:pic>
        <p:nvPicPr>
          <p:cNvPr id="14"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0372" y="4589209"/>
            <a:ext cx="1768742" cy="203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AutoShape 9"/>
          <p:cNvSpPr>
            <a:spLocks noChangeArrowheads="1"/>
          </p:cNvSpPr>
          <p:nvPr/>
        </p:nvSpPr>
        <p:spPr bwMode="auto">
          <a:xfrm>
            <a:off x="2935827" y="5442210"/>
            <a:ext cx="935037" cy="431800"/>
          </a:xfrm>
          <a:prstGeom prst="rightArrow">
            <a:avLst>
              <a:gd name="adj1" fmla="val 50000"/>
              <a:gd name="adj2" fmla="val 54126"/>
            </a:avLst>
          </a:prstGeom>
          <a:solidFill>
            <a:schemeClr val="accent1"/>
          </a:solidFill>
          <a:ln w="9525">
            <a:solidFill>
              <a:schemeClr val="tx1"/>
            </a:solidFill>
            <a:miter lim="800000"/>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6"/>
          <p:cNvSpPr>
            <a:spLocks noChangeArrowheads="1"/>
          </p:cNvSpPr>
          <p:nvPr/>
        </p:nvSpPr>
        <p:spPr bwMode="auto">
          <a:xfrm>
            <a:off x="250825" y="188640"/>
            <a:ext cx="4392612"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4.1.4 </a:t>
            </a:r>
            <a:r>
              <a:rPr lang="zh-CN" altLang="en-US" sz="3200" b="1" dirty="0">
                <a:effectLst>
                  <a:outerShdw blurRad="38100" dist="38100" dir="2700000" algn="tl">
                    <a:srgbClr val="C0C0C0"/>
                  </a:outerShdw>
                </a:effectLst>
                <a:latin typeface="楷体_GB2312" pitchFamily="49" charset="-122"/>
                <a:ea typeface="楷体_GB2312" pitchFamily="49" charset="-122"/>
              </a:rPr>
              <a:t>填充多边形</a:t>
            </a:r>
            <a:r>
              <a:rPr lang="zh-CN" altLang="en-US" dirty="0"/>
              <a:t> </a:t>
            </a:r>
            <a:endParaRPr lang="zh-CN" altLang="en-US" dirty="0"/>
          </a:p>
        </p:txBody>
      </p:sp>
      <p:sp>
        <p:nvSpPr>
          <p:cNvPr id="25605" name="Rectangle 7"/>
          <p:cNvSpPr>
            <a:spLocks noChangeArrowheads="1"/>
          </p:cNvSpPr>
          <p:nvPr/>
        </p:nvSpPr>
        <p:spPr bwMode="auto">
          <a:xfrm>
            <a:off x="250825" y="1063074"/>
            <a:ext cx="871378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dirty="0">
                <a:latin typeface="楷体_GB2312" pitchFamily="49" charset="-122"/>
                <a:ea typeface="楷体_GB2312" pitchFamily="49" charset="-122"/>
              </a:rPr>
              <a:t>  多边形填充的主要算法是</a:t>
            </a:r>
            <a:r>
              <a:rPr lang="zh-CN" altLang="en-US" sz="2000" b="1" dirty="0">
                <a:solidFill>
                  <a:srgbClr val="3366FF"/>
                </a:solidFill>
                <a:latin typeface="方正粗黑宋简体" panose="02000000000000000000" pitchFamily="2" charset="-122"/>
                <a:ea typeface="方正粗黑宋简体" panose="02000000000000000000" pitchFamily="2" charset="-122"/>
              </a:rPr>
              <a:t>扫描线算法</a:t>
            </a:r>
            <a:r>
              <a:rPr lang="zh-CN" altLang="en-US" sz="2000" dirty="0">
                <a:latin typeface="楷体_GB2312" pitchFamily="49" charset="-122"/>
                <a:ea typeface="楷体_GB2312" pitchFamily="49" charset="-122"/>
              </a:rPr>
              <a:t>。先</a:t>
            </a:r>
            <a:r>
              <a:rPr lang="zh-CN" altLang="en-US" sz="2000" b="1" dirty="0">
                <a:solidFill>
                  <a:srgbClr val="FF0000"/>
                </a:solidFill>
                <a:latin typeface="黑体" panose="02010609060101010101" pitchFamily="49" charset="-122"/>
                <a:ea typeface="黑体" panose="02010609060101010101" pitchFamily="49" charset="-122"/>
              </a:rPr>
              <a:t>确定多边形覆盖的扫描线条数</a:t>
            </a:r>
            <a:r>
              <a:rPr lang="zh-CN" altLang="en-US" sz="2000" dirty="0">
                <a:latin typeface="楷体_GB2312" pitchFamily="49" charset="-122"/>
                <a:ea typeface="楷体_GB2312" pitchFamily="49" charset="-122"/>
              </a:rPr>
              <a:t>，对每一条扫描线，计算</a:t>
            </a:r>
            <a:r>
              <a:rPr lang="zh-CN" altLang="en-US" sz="2000" b="1" dirty="0">
                <a:solidFill>
                  <a:srgbClr val="FF0000"/>
                </a:solidFill>
                <a:latin typeface="黑体" panose="02010609060101010101" pitchFamily="49" charset="-122"/>
                <a:ea typeface="黑体" panose="02010609060101010101" pitchFamily="49" charset="-122"/>
              </a:rPr>
              <a:t>扫描线与多边形边界的交点区间</a:t>
            </a:r>
            <a:r>
              <a:rPr lang="zh-CN" altLang="en-US" sz="2000" dirty="0">
                <a:latin typeface="楷体_GB2312" pitchFamily="49" charset="-122"/>
                <a:ea typeface="楷体_GB2312" pitchFamily="49" charset="-122"/>
              </a:rPr>
              <a:t>，如果能判断</a:t>
            </a:r>
            <a:r>
              <a:rPr lang="zh-CN" altLang="en-US" sz="2000" b="1" dirty="0">
                <a:solidFill>
                  <a:srgbClr val="3366FF"/>
                </a:solidFill>
                <a:latin typeface="方正粗黑宋简体" panose="02000000000000000000" pitchFamily="2" charset="-122"/>
                <a:ea typeface="方正粗黑宋简体" panose="02000000000000000000" pitchFamily="2" charset="-122"/>
              </a:rPr>
              <a:t>该区间在多边形内部</a:t>
            </a:r>
            <a:r>
              <a:rPr lang="zh-CN" altLang="en-US" sz="2000" dirty="0">
                <a:latin typeface="楷体_GB2312" pitchFamily="49" charset="-122"/>
                <a:ea typeface="楷体_GB2312" pitchFamily="49" charset="-122"/>
              </a:rPr>
              <a:t>，则将其内的像素绘制为指定的颜色。扫描线算法</a:t>
            </a:r>
            <a:r>
              <a:rPr lang="zh-CN" altLang="en-US" sz="2000" b="1" dirty="0">
                <a:solidFill>
                  <a:srgbClr val="FF0000"/>
                </a:solidFill>
                <a:latin typeface="黑体" panose="02010609060101010101" pitchFamily="49" charset="-122"/>
                <a:ea typeface="黑体" panose="02010609060101010101" pitchFamily="49" charset="-122"/>
              </a:rPr>
              <a:t>在处理每条扫描线时，</a:t>
            </a:r>
            <a:r>
              <a:rPr lang="zh-CN" altLang="en-US" sz="2000" b="1" dirty="0">
                <a:solidFill>
                  <a:srgbClr val="3366FF"/>
                </a:solidFill>
                <a:latin typeface="方正粗黑宋简体" panose="02000000000000000000" pitchFamily="2" charset="-122"/>
                <a:ea typeface="方正粗黑宋简体" panose="02000000000000000000" pitchFamily="2" charset="-122"/>
              </a:rPr>
              <a:t>需要与多边形的所有边求交</a:t>
            </a:r>
            <a:r>
              <a:rPr lang="zh-CN" altLang="en-US" sz="2000" dirty="0">
                <a:latin typeface="楷体_GB2312" pitchFamily="49" charset="-122"/>
                <a:ea typeface="楷体_GB2312" pitchFamily="49" charset="-122"/>
              </a:rPr>
              <a:t>，处理效率很低。改进的算法是</a:t>
            </a:r>
            <a:r>
              <a:rPr lang="zh-CN" altLang="en-US" sz="2000" b="1" dirty="0">
                <a:solidFill>
                  <a:srgbClr val="FF0000"/>
                </a:solidFill>
                <a:latin typeface="黑体" panose="02010609060101010101" pitchFamily="49" charset="-122"/>
                <a:ea typeface="黑体" panose="02010609060101010101" pitchFamily="49" charset="-122"/>
              </a:rPr>
              <a:t>有效边表算法</a:t>
            </a:r>
            <a:r>
              <a:rPr lang="zh-CN" altLang="en-US" sz="2000" dirty="0">
                <a:latin typeface="楷体_GB2312" pitchFamily="49" charset="-122"/>
                <a:ea typeface="楷体_GB2312" pitchFamily="49" charset="-122"/>
              </a:rPr>
              <a:t>。</a:t>
            </a:r>
            <a:endParaRPr lang="zh-CN" altLang="en-US" sz="2000" dirty="0">
              <a:latin typeface="楷体_GB2312" pitchFamily="49" charset="-122"/>
              <a:ea typeface="楷体_GB2312" pitchFamily="49" charset="-122"/>
            </a:endParaRPr>
          </a:p>
        </p:txBody>
      </p:sp>
      <p:sp>
        <p:nvSpPr>
          <p:cNvPr id="8" name="Rectangle 4"/>
          <p:cNvSpPr>
            <a:spLocks noChangeArrowheads="1"/>
          </p:cNvSpPr>
          <p:nvPr/>
        </p:nvSpPr>
        <p:spPr bwMode="auto">
          <a:xfrm>
            <a:off x="611560" y="2852936"/>
            <a:ext cx="842486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723900" algn="l"/>
              </a:tabLst>
              <a:defRPr sz="2400">
                <a:solidFill>
                  <a:schemeClr val="tx1"/>
                </a:solidFill>
                <a:latin typeface="Tahoma" panose="020B0604030504040204" pitchFamily="34" charset="0"/>
                <a:ea typeface="宋体" panose="02010600030101010101" pitchFamily="2" charset="-122"/>
              </a:defRPr>
            </a:lvl1pPr>
            <a:lvl2pPr>
              <a:tabLst>
                <a:tab pos="723900" algn="l"/>
              </a:tabLst>
              <a:defRPr sz="2400">
                <a:solidFill>
                  <a:schemeClr val="tx1"/>
                </a:solidFill>
                <a:latin typeface="Tahoma" panose="020B0604030504040204" pitchFamily="34" charset="0"/>
                <a:ea typeface="宋体" panose="02010600030101010101" pitchFamily="2" charset="-122"/>
              </a:defRPr>
            </a:lvl2pPr>
            <a:lvl3pPr>
              <a:tabLst>
                <a:tab pos="723900" algn="l"/>
              </a:tabLst>
              <a:defRPr sz="2400">
                <a:solidFill>
                  <a:schemeClr val="tx1"/>
                </a:solidFill>
                <a:latin typeface="Tahoma" panose="020B0604030504040204" pitchFamily="34" charset="0"/>
                <a:ea typeface="宋体" panose="02010600030101010101" pitchFamily="2" charset="-122"/>
              </a:defRPr>
            </a:lvl3pPr>
            <a:lvl4pPr>
              <a:tabLst>
                <a:tab pos="723900" algn="l"/>
              </a:tabLst>
              <a:defRPr sz="2400">
                <a:solidFill>
                  <a:schemeClr val="tx1"/>
                </a:solidFill>
                <a:latin typeface="Tahoma" panose="020B0604030504040204" pitchFamily="34" charset="0"/>
                <a:ea typeface="宋体" panose="02010600030101010101" pitchFamily="2" charset="-122"/>
              </a:defRPr>
            </a:lvl4pPr>
            <a:lvl5pPr>
              <a:tabLst>
                <a:tab pos="723900" algn="l"/>
              </a:tabLst>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tabLst>
                <a:tab pos="723900" algn="l"/>
              </a:tabLs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tabLst>
                <a:tab pos="723900" algn="l"/>
              </a:tabLs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tabLst>
                <a:tab pos="723900" algn="l"/>
              </a:tabLs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tabLst>
                <a:tab pos="723900" algn="l"/>
              </a:tabLst>
              <a:defRPr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defRPr/>
            </a:pPr>
            <a:r>
              <a:rPr lang="zh-CN" altLang="en-US" sz="2000" dirty="0" smtClean="0">
                <a:latin typeface="楷体_GB2312" pitchFamily="49" charset="-122"/>
                <a:ea typeface="楷体_GB2312" pitchFamily="49" charset="-122"/>
              </a:rPr>
              <a:t>对一条扫描线的填充一般分为以下</a:t>
            </a:r>
            <a:r>
              <a:rPr lang="en-US" altLang="zh-CN" sz="2000" dirty="0" smtClean="0">
                <a:latin typeface="楷体_GB2312" pitchFamily="49" charset="-122"/>
                <a:ea typeface="楷体_GB2312" pitchFamily="49" charset="-122"/>
              </a:rPr>
              <a:t>4</a:t>
            </a:r>
            <a:r>
              <a:rPr lang="zh-CN" altLang="en-US" sz="2000" dirty="0" smtClean="0">
                <a:latin typeface="楷体_GB2312" pitchFamily="49" charset="-122"/>
                <a:ea typeface="楷体_GB2312" pitchFamily="49" charset="-122"/>
              </a:rPr>
              <a:t>个步骤</a:t>
            </a:r>
            <a:endParaRPr lang="zh-CN" altLang="en-US" sz="2000" dirty="0" smtClean="0">
              <a:latin typeface="楷体_GB2312" pitchFamily="49" charset="-122"/>
              <a:ea typeface="楷体_GB2312" pitchFamily="49" charset="-122"/>
            </a:endParaRPr>
          </a:p>
          <a:p>
            <a:pPr marL="342900" indent="-342900" eaLnBrk="1" hangingPunct="1">
              <a:lnSpc>
                <a:spcPct val="150000"/>
              </a:lnSpc>
              <a:buFont typeface="Wingdings" panose="05000000000000000000" pitchFamily="2" charset="2"/>
              <a:buChar char="n"/>
              <a:defRPr/>
            </a:pPr>
            <a:r>
              <a:rPr lang="zh-CN" altLang="en-US" sz="2000" b="1" dirty="0" smtClean="0">
                <a:latin typeface="楷体_GB2312" pitchFamily="49" charset="-122"/>
                <a:ea typeface="楷体_GB2312" pitchFamily="49" charset="-122"/>
              </a:rPr>
              <a:t>求交</a:t>
            </a:r>
            <a:r>
              <a:rPr lang="zh-CN" altLang="en-US" sz="2000" dirty="0" smtClean="0">
                <a:latin typeface="楷体_GB2312" pitchFamily="49" charset="-122"/>
                <a:ea typeface="楷体_GB2312" pitchFamily="49" charset="-122"/>
              </a:rPr>
              <a:t>：计算扫描线与多边形各边的</a:t>
            </a:r>
            <a:r>
              <a:rPr lang="zh-CN" altLang="en-US" sz="2000" b="1" dirty="0" smtClean="0">
                <a:solidFill>
                  <a:srgbClr val="FF0000"/>
                </a:solidFill>
                <a:latin typeface="黑体" panose="02010609060101010101" pitchFamily="49" charset="-122"/>
                <a:ea typeface="黑体" panose="02010609060101010101" pitchFamily="49" charset="-122"/>
              </a:rPr>
              <a:t>交点</a:t>
            </a:r>
            <a:r>
              <a:rPr lang="zh-CN" altLang="en-US" sz="2000" dirty="0" smtClean="0">
                <a:latin typeface="楷体_GB2312" pitchFamily="49" charset="-122"/>
                <a:ea typeface="楷体_GB2312" pitchFamily="49" charset="-122"/>
              </a:rPr>
              <a:t>；</a:t>
            </a:r>
            <a:endParaRPr lang="zh-CN" altLang="en-US" sz="2000" dirty="0" smtClean="0">
              <a:latin typeface="楷体_GB2312" pitchFamily="49" charset="-122"/>
              <a:ea typeface="楷体_GB2312" pitchFamily="49" charset="-122"/>
            </a:endParaRPr>
          </a:p>
          <a:p>
            <a:pPr marL="342900" indent="-342900" eaLnBrk="1" hangingPunct="1">
              <a:lnSpc>
                <a:spcPct val="150000"/>
              </a:lnSpc>
              <a:buFont typeface="Wingdings" panose="05000000000000000000" pitchFamily="2" charset="2"/>
              <a:buChar char="n"/>
              <a:defRPr/>
            </a:pPr>
            <a:r>
              <a:rPr lang="zh-CN" altLang="en-US" sz="2000" b="1" dirty="0" smtClean="0">
                <a:latin typeface="楷体_GB2312" pitchFamily="49" charset="-122"/>
                <a:ea typeface="楷体_GB2312" pitchFamily="49" charset="-122"/>
              </a:rPr>
              <a:t>排序</a:t>
            </a:r>
            <a:r>
              <a:rPr lang="zh-CN" altLang="en-US" sz="2000" dirty="0" smtClean="0">
                <a:latin typeface="楷体_GB2312" pitchFamily="49" charset="-122"/>
                <a:ea typeface="楷体_GB2312" pitchFamily="49" charset="-122"/>
              </a:rPr>
              <a:t>：把扫描线上所有</a:t>
            </a:r>
            <a:r>
              <a:rPr lang="zh-CN" altLang="en-US" sz="2000" b="1" dirty="0" smtClean="0">
                <a:solidFill>
                  <a:srgbClr val="FF0000"/>
                </a:solidFill>
                <a:latin typeface="黑体" panose="02010609060101010101" pitchFamily="49" charset="-122"/>
                <a:ea typeface="黑体" panose="02010609060101010101" pitchFamily="49" charset="-122"/>
              </a:rPr>
              <a:t>交点按递增顺序进行排序</a:t>
            </a:r>
            <a:r>
              <a:rPr lang="zh-CN" altLang="en-US" sz="2000" dirty="0" smtClean="0">
                <a:latin typeface="楷体_GB2312" pitchFamily="49" charset="-122"/>
                <a:ea typeface="楷体_GB2312" pitchFamily="49" charset="-122"/>
              </a:rPr>
              <a:t>；</a:t>
            </a:r>
            <a:endParaRPr lang="zh-CN" altLang="en-US" sz="2000" dirty="0" smtClean="0">
              <a:latin typeface="楷体_GB2312" pitchFamily="49" charset="-122"/>
              <a:ea typeface="楷体_GB2312" pitchFamily="49" charset="-122"/>
            </a:endParaRPr>
          </a:p>
          <a:p>
            <a:pPr marL="342900" indent="-342900" eaLnBrk="1" hangingPunct="1">
              <a:lnSpc>
                <a:spcPct val="150000"/>
              </a:lnSpc>
              <a:buFont typeface="Wingdings" panose="05000000000000000000" pitchFamily="2" charset="2"/>
              <a:buChar char="n"/>
              <a:defRPr/>
            </a:pPr>
            <a:r>
              <a:rPr lang="zh-CN" altLang="en-US" sz="2000" b="1" dirty="0" smtClean="0">
                <a:latin typeface="楷体_GB2312" pitchFamily="49" charset="-122"/>
                <a:ea typeface="楷体_GB2312" pitchFamily="49" charset="-122"/>
              </a:rPr>
              <a:t>配对</a:t>
            </a:r>
            <a:r>
              <a:rPr lang="zh-CN" altLang="en-US" sz="2000" dirty="0" smtClean="0">
                <a:latin typeface="楷体_GB2312" pitchFamily="49" charset="-122"/>
                <a:ea typeface="楷体_GB2312" pitchFamily="49" charset="-122"/>
              </a:rPr>
              <a:t>：将第一个交点与第二个交点，第三个交点与第四个交点等等进行配对，每对交点代表扫描线与多边形的一个相交区间。</a:t>
            </a:r>
            <a:endParaRPr lang="zh-CN" altLang="en-US" sz="2000" dirty="0" smtClean="0">
              <a:latin typeface="楷体_GB2312" pitchFamily="49" charset="-122"/>
              <a:ea typeface="楷体_GB2312" pitchFamily="49" charset="-122"/>
            </a:endParaRPr>
          </a:p>
          <a:p>
            <a:pPr marL="342900" indent="-342900" eaLnBrk="1" hangingPunct="1">
              <a:lnSpc>
                <a:spcPct val="150000"/>
              </a:lnSpc>
              <a:buFont typeface="Wingdings" panose="05000000000000000000" pitchFamily="2" charset="2"/>
              <a:buChar char="n"/>
              <a:defRPr/>
            </a:pPr>
            <a:r>
              <a:rPr lang="zh-CN" altLang="en-US" sz="2000" b="1" dirty="0" smtClean="0">
                <a:latin typeface="楷体_GB2312" pitchFamily="49" charset="-122"/>
                <a:ea typeface="楷体_GB2312" pitchFamily="49" charset="-122"/>
              </a:rPr>
              <a:t>着色</a:t>
            </a:r>
            <a:r>
              <a:rPr lang="zh-CN" altLang="en-US" sz="2000" dirty="0" smtClean="0">
                <a:latin typeface="楷体_GB2312" pitchFamily="49" charset="-122"/>
                <a:ea typeface="楷体_GB2312" pitchFamily="49" charset="-122"/>
              </a:rPr>
              <a:t>：把区间内的像素置为填充色。</a:t>
            </a:r>
            <a:endParaRPr lang="zh-CN" altLang="en-US" sz="2000" dirty="0" smtClean="0">
              <a:latin typeface="楷体_GB2312" pitchFamily="49" charset="-122"/>
              <a:ea typeface="楷体_GB2312" pitchFamily="49"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ChangeArrowheads="1"/>
          </p:cNvSpPr>
          <p:nvPr/>
        </p:nvSpPr>
        <p:spPr bwMode="auto">
          <a:xfrm>
            <a:off x="395288" y="260648"/>
            <a:ext cx="4392612"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4.1.5 </a:t>
            </a:r>
            <a:r>
              <a:rPr lang="zh-CN" altLang="en-US" sz="3200" b="1" dirty="0">
                <a:effectLst>
                  <a:outerShdw blurRad="38100" dist="38100" dir="2700000" algn="tl">
                    <a:srgbClr val="C0C0C0"/>
                  </a:outerShdw>
                </a:effectLst>
                <a:latin typeface="楷体_GB2312" pitchFamily="49" charset="-122"/>
                <a:ea typeface="楷体_GB2312" pitchFamily="49" charset="-122"/>
              </a:rPr>
              <a:t>填充区域</a:t>
            </a:r>
            <a:r>
              <a:rPr lang="zh-CN" altLang="en-US" dirty="0"/>
              <a:t> </a:t>
            </a:r>
            <a:endParaRPr lang="zh-CN" altLang="en-US" dirty="0"/>
          </a:p>
        </p:txBody>
      </p:sp>
      <p:sp>
        <p:nvSpPr>
          <p:cNvPr id="26628" name="Rectangle 6"/>
          <p:cNvSpPr>
            <a:spLocks noChangeArrowheads="1"/>
          </p:cNvSpPr>
          <p:nvPr/>
        </p:nvSpPr>
        <p:spPr bwMode="auto">
          <a:xfrm>
            <a:off x="395288" y="837373"/>
            <a:ext cx="8497192"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lnSpc>
                <a:spcPct val="150000"/>
              </a:lnSpc>
            </a:pPr>
            <a:r>
              <a:rPr lang="zh-CN" altLang="en-US" sz="2000" dirty="0">
                <a:latin typeface="楷体_GB2312" pitchFamily="49" charset="-122"/>
                <a:ea typeface="楷体_GB2312" pitchFamily="49" charset="-122"/>
              </a:rPr>
              <a:t>  </a:t>
            </a:r>
            <a:r>
              <a:rPr lang="zh-CN" altLang="en-US" sz="2000" b="1" dirty="0">
                <a:solidFill>
                  <a:srgbClr val="3366FF"/>
                </a:solidFill>
                <a:latin typeface="方正粗黑宋简体" panose="02000000000000000000" pitchFamily="2" charset="-122"/>
                <a:ea typeface="方正粗黑宋简体" panose="02000000000000000000" pitchFamily="2" charset="-122"/>
              </a:rPr>
              <a:t>区域是指相互连通的一组像素的集合</a:t>
            </a:r>
            <a:r>
              <a:rPr lang="zh-CN" altLang="en-US" sz="2000" dirty="0">
                <a:latin typeface="楷体_GB2312" pitchFamily="49" charset="-122"/>
                <a:ea typeface="楷体_GB2312" pitchFamily="49" charset="-122"/>
              </a:rPr>
              <a:t>。</a:t>
            </a:r>
            <a:r>
              <a:rPr lang="zh-CN" altLang="en-US" sz="2000" b="1" dirty="0">
                <a:solidFill>
                  <a:srgbClr val="FF0000"/>
                </a:solidFill>
                <a:latin typeface="黑体" panose="02010609060101010101" pitchFamily="49" charset="-122"/>
                <a:ea typeface="黑体" panose="02010609060101010101" pitchFamily="49" charset="-122"/>
              </a:rPr>
              <a:t>区域通常由一个封闭的边界来定义</a:t>
            </a:r>
            <a:r>
              <a:rPr lang="zh-CN" altLang="en-US" sz="2000" dirty="0">
                <a:latin typeface="楷体_GB2312" pitchFamily="49" charset="-122"/>
                <a:ea typeface="楷体_GB2312" pitchFamily="49" charset="-122"/>
              </a:rPr>
              <a:t>，处于一个封闭边界线内的所有像素构成一个区域。区域内的所有像素着同一填充色，区域的边界色和填充色一般不一致。</a:t>
            </a:r>
            <a:r>
              <a:rPr lang="zh-CN" altLang="en-US" sz="2000" b="1" dirty="0">
                <a:solidFill>
                  <a:srgbClr val="FF0000"/>
                </a:solidFill>
                <a:latin typeface="黑体" panose="02010609060101010101" pitchFamily="49" charset="-122"/>
                <a:ea typeface="黑体" panose="02010609060101010101" pitchFamily="49" charset="-122"/>
              </a:rPr>
              <a:t>种子填充算法</a:t>
            </a:r>
            <a:r>
              <a:rPr lang="zh-CN" altLang="en-US" sz="2000" dirty="0">
                <a:latin typeface="楷体_GB2312" pitchFamily="49" charset="-122"/>
                <a:ea typeface="楷体_GB2312" pitchFamily="49" charset="-122"/>
              </a:rPr>
              <a:t>是从区域内的一个</a:t>
            </a:r>
            <a:r>
              <a:rPr lang="zh-CN" altLang="en-US" sz="2000" b="1" dirty="0">
                <a:solidFill>
                  <a:srgbClr val="FF0000"/>
                </a:solidFill>
                <a:latin typeface="黑体" panose="02010609060101010101" pitchFamily="49" charset="-122"/>
                <a:ea typeface="黑体" panose="02010609060101010101" pitchFamily="49" charset="-122"/>
              </a:rPr>
              <a:t>种子位置</a:t>
            </a:r>
            <a:r>
              <a:rPr lang="zh-CN" altLang="en-US" sz="2000" dirty="0">
                <a:latin typeface="楷体_GB2312" pitchFamily="49" charset="-122"/>
                <a:ea typeface="楷体_GB2312" pitchFamily="49" charset="-122"/>
              </a:rPr>
              <a:t>开始，由内向外用填充颜色绘制种子及其相邻像素直到颜色不同的边界像素为止。种子填充算法主要分为</a:t>
            </a:r>
            <a:r>
              <a:rPr lang="en-US" altLang="zh-CN" sz="2000" b="1" dirty="0">
                <a:solidFill>
                  <a:srgbClr val="FF0000"/>
                </a:solidFill>
                <a:latin typeface="黑体" panose="02010609060101010101" pitchFamily="49" charset="-122"/>
                <a:ea typeface="黑体" panose="02010609060101010101" pitchFamily="49" charset="-122"/>
              </a:rPr>
              <a:t>4</a:t>
            </a:r>
            <a:r>
              <a:rPr lang="zh-CN" altLang="en-US" sz="2000" b="1" dirty="0">
                <a:solidFill>
                  <a:srgbClr val="FF0000"/>
                </a:solidFill>
                <a:latin typeface="黑体" panose="02010609060101010101" pitchFamily="49" charset="-122"/>
                <a:ea typeface="黑体" panose="02010609060101010101" pitchFamily="49" charset="-122"/>
              </a:rPr>
              <a:t>邻接点算法和</a:t>
            </a:r>
            <a:r>
              <a:rPr lang="en-US" altLang="zh-CN" sz="2000" b="1" dirty="0">
                <a:solidFill>
                  <a:srgbClr val="FF0000"/>
                </a:solidFill>
                <a:latin typeface="黑体" panose="02010609060101010101" pitchFamily="49" charset="-122"/>
                <a:ea typeface="黑体" panose="02010609060101010101" pitchFamily="49" charset="-122"/>
              </a:rPr>
              <a:t>8</a:t>
            </a:r>
            <a:r>
              <a:rPr lang="zh-CN" altLang="en-US" sz="2000" b="1" dirty="0">
                <a:solidFill>
                  <a:srgbClr val="FF0000"/>
                </a:solidFill>
                <a:latin typeface="黑体" panose="02010609060101010101" pitchFamily="49" charset="-122"/>
                <a:ea typeface="黑体" panose="02010609060101010101" pitchFamily="49" charset="-122"/>
              </a:rPr>
              <a:t>邻接点算法。</a:t>
            </a:r>
            <a:endParaRPr lang="zh-CN" altLang="en-US" sz="20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323850" y="211931"/>
            <a:ext cx="5472113" cy="847725"/>
          </a:xfrm>
          <a:prstGeom prst="rect">
            <a:avLst/>
          </a:prstGeom>
          <a:noFill/>
          <a:ln w="9525">
            <a:noFill/>
            <a:miter lim="800000"/>
          </a:ln>
        </p:spPr>
        <p:txBody>
          <a:bodyPr anchor="ctr" anchorCtr="1"/>
          <a:lstStyle/>
          <a:p>
            <a:pPr eaLnBrk="1" hangingPunct="1">
              <a:buFont typeface="Arial" panose="020B0604020202020204" pitchFamily="34" charset="0"/>
              <a:buNone/>
              <a:defRPr/>
            </a:pPr>
            <a:r>
              <a:rPr lang="en-US" altLang="zh-CN" sz="3600" b="1" dirty="0">
                <a:effectLst>
                  <a:outerShdw blurRad="38100" dist="38100" dir="2700000" algn="tl">
                    <a:srgbClr val="C0C0C0"/>
                  </a:outerShdw>
                </a:effectLst>
                <a:latin typeface="楷体_GB2312" pitchFamily="49" charset="-122"/>
                <a:ea typeface="楷体_GB2312" pitchFamily="49" charset="-122"/>
              </a:rPr>
              <a:t>4.2</a:t>
            </a:r>
            <a:r>
              <a:rPr lang="zh-CN" altLang="en-US" sz="3600" b="1" dirty="0">
                <a:effectLst>
                  <a:outerShdw blurRad="38100" dist="38100" dir="2700000" algn="tl">
                    <a:srgbClr val="C0C0C0"/>
                  </a:outerShdw>
                </a:effectLst>
                <a:latin typeface="楷体_GB2312" pitchFamily="49" charset="-122"/>
                <a:ea typeface="楷体_GB2312" pitchFamily="49" charset="-122"/>
              </a:rPr>
              <a:t>　有效边表填充算法</a:t>
            </a:r>
            <a:r>
              <a:rPr lang="zh-CN" altLang="en-US" sz="3600" b="1" dirty="0">
                <a:solidFill>
                  <a:srgbClr val="FF3300"/>
                </a:solidFill>
              </a:rPr>
              <a:t> </a:t>
            </a:r>
            <a:endParaRPr lang="zh-CN" altLang="en-US" sz="3600" b="1" dirty="0">
              <a:solidFill>
                <a:srgbClr val="FF3300"/>
              </a:solidFill>
            </a:endParaRPr>
          </a:p>
        </p:txBody>
      </p:sp>
      <p:sp>
        <p:nvSpPr>
          <p:cNvPr id="18435" name="Rectangle 5"/>
          <p:cNvSpPr>
            <a:spLocks noChangeArrowheads="1"/>
          </p:cNvSpPr>
          <p:nvPr/>
        </p:nvSpPr>
        <p:spPr bwMode="auto">
          <a:xfrm>
            <a:off x="323850" y="1125537"/>
            <a:ext cx="3384550"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4.2.1 </a:t>
            </a:r>
            <a:r>
              <a:rPr lang="zh-CN" altLang="en-US" sz="3200" b="1" dirty="0">
                <a:effectLst>
                  <a:outerShdw blurRad="38100" dist="38100" dir="2700000" algn="tl">
                    <a:srgbClr val="C0C0C0"/>
                  </a:outerShdw>
                </a:effectLst>
                <a:latin typeface="楷体_GB2312" pitchFamily="49" charset="-122"/>
                <a:ea typeface="楷体_GB2312" pitchFamily="49" charset="-122"/>
              </a:rPr>
              <a:t>填充原理</a:t>
            </a:r>
            <a:r>
              <a:rPr lang="zh-CN" altLang="en-US" dirty="0"/>
              <a:t> </a:t>
            </a:r>
            <a:endParaRPr lang="zh-CN" altLang="en-US" dirty="0"/>
          </a:p>
        </p:txBody>
      </p:sp>
      <mc:AlternateContent xmlns:mc="http://schemas.openxmlformats.org/markup-compatibility/2006">
        <mc:Choice xmlns:a14="http://schemas.microsoft.com/office/drawing/2010/main" Requires="a14">
          <p:sp>
            <p:nvSpPr>
              <p:cNvPr id="27652" name="Rectangle 6"/>
              <p:cNvSpPr>
                <a:spLocks noChangeArrowheads="1"/>
              </p:cNvSpPr>
              <p:nvPr/>
            </p:nvSpPr>
            <p:spPr bwMode="auto">
              <a:xfrm>
                <a:off x="323850" y="1583749"/>
                <a:ext cx="8675688"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en-US" sz="2000" b="1" dirty="0">
                    <a:solidFill>
                      <a:srgbClr val="3366FF"/>
                    </a:solidFill>
                    <a:latin typeface="方正粗黑宋简体" panose="02000000000000000000" pitchFamily="2" charset="-122"/>
                    <a:ea typeface="方正粗黑宋简体" panose="02000000000000000000" pitchFamily="2" charset="-122"/>
                  </a:rPr>
                  <a:t>有效边表填充算法</a:t>
                </a:r>
                <a:r>
                  <a:rPr lang="zh-CN" altLang="en-US" sz="2000" dirty="0">
                    <a:latin typeface="楷体_GB2312" pitchFamily="49" charset="-122"/>
                    <a:ea typeface="楷体_GB2312" pitchFamily="49" charset="-122"/>
                  </a:rPr>
                  <a:t>通过维护</a:t>
                </a:r>
                <a:r>
                  <a:rPr lang="zh-CN" altLang="en-US" sz="2000" b="1" dirty="0">
                    <a:solidFill>
                      <a:srgbClr val="3366FF"/>
                    </a:solidFill>
                    <a:latin typeface="方正粗黑宋简体" panose="02000000000000000000" pitchFamily="2" charset="-122"/>
                    <a:ea typeface="方正粗黑宋简体" panose="02000000000000000000" pitchFamily="2" charset="-122"/>
                  </a:rPr>
                  <a:t>边表</a:t>
                </a:r>
                <a:r>
                  <a:rPr lang="zh-CN" altLang="en-US" sz="2000" dirty="0">
                    <a:latin typeface="楷体_GB2312" pitchFamily="49" charset="-122"/>
                    <a:ea typeface="楷体_GB2312" pitchFamily="49" charset="-122"/>
                  </a:rPr>
                  <a:t>和</a:t>
                </a:r>
                <a:r>
                  <a:rPr lang="zh-CN" altLang="en-US" sz="2000" b="1" dirty="0">
                    <a:solidFill>
                      <a:srgbClr val="FF0000"/>
                    </a:solidFill>
                    <a:latin typeface="黑体" panose="02010609060101010101" pitchFamily="49" charset="-122"/>
                    <a:ea typeface="黑体" panose="02010609060101010101" pitchFamily="49" charset="-122"/>
                  </a:rPr>
                  <a:t>有效边表</a:t>
                </a:r>
                <a:r>
                  <a:rPr lang="zh-CN" altLang="en-US" sz="2000" dirty="0">
                    <a:latin typeface="楷体_GB2312" pitchFamily="49" charset="-122"/>
                    <a:ea typeface="楷体_GB2312" pitchFamily="49" charset="-122"/>
                  </a:rPr>
                  <a:t>，</a:t>
                </a:r>
                <a:r>
                  <a:rPr lang="zh-CN" altLang="en-US" sz="2000" b="1" dirty="0">
                    <a:solidFill>
                      <a:srgbClr val="FF0000"/>
                    </a:solidFill>
                    <a:latin typeface="黑体" panose="02010609060101010101" pitchFamily="49" charset="-122"/>
                    <a:ea typeface="黑体" panose="02010609060101010101" pitchFamily="49" charset="-122"/>
                  </a:rPr>
                  <a:t>避开了扫描线与多边形所有边求交的复杂运算</a:t>
                </a:r>
                <a:r>
                  <a:rPr lang="zh-CN" altLang="en-US" sz="2000" dirty="0">
                    <a:latin typeface="楷体_GB2312" pitchFamily="49" charset="-122"/>
                    <a:ea typeface="楷体_GB2312" pitchFamily="49" charset="-122"/>
                  </a:rPr>
                  <a:t>。填充原理是按照扫描线</a:t>
                </a:r>
                <a:r>
                  <a:rPr lang="zh-CN" altLang="en-US" sz="2000" b="1" dirty="0">
                    <a:solidFill>
                      <a:srgbClr val="3366FF"/>
                    </a:solidFill>
                    <a:latin typeface="方正粗黑宋简体" panose="02000000000000000000" pitchFamily="2" charset="-122"/>
                    <a:ea typeface="方正粗黑宋简体" panose="02000000000000000000" pitchFamily="2" charset="-122"/>
                  </a:rPr>
                  <a:t>从小到大</a:t>
                </a:r>
                <a:r>
                  <a:rPr lang="zh-CN" altLang="en-US" sz="2000" dirty="0">
                    <a:latin typeface="楷体_GB2312" pitchFamily="49" charset="-122"/>
                    <a:ea typeface="楷体_GB2312" pitchFamily="49" charset="-122"/>
                  </a:rPr>
                  <a:t>的移动顺序，</a:t>
                </a:r>
                <a:r>
                  <a:rPr lang="zh-CN" altLang="en-US" sz="2000" b="1" dirty="0">
                    <a:solidFill>
                      <a:srgbClr val="3366FF"/>
                    </a:solidFill>
                    <a:latin typeface="方正粗黑宋简体" panose="02000000000000000000" pitchFamily="2" charset="-122"/>
                    <a:ea typeface="方正粗黑宋简体" panose="02000000000000000000" pitchFamily="2" charset="-122"/>
                  </a:rPr>
                  <a:t>计算当前扫描线与有效边的交点</a:t>
                </a:r>
                <a:r>
                  <a:rPr lang="zh-CN" altLang="en-US" sz="2000" dirty="0">
                    <a:latin typeface="楷体_GB2312" pitchFamily="49" charset="-122"/>
                    <a:ea typeface="楷体_GB2312" pitchFamily="49" charset="-122"/>
                  </a:rPr>
                  <a:t>，然后把这些交点按</a:t>
                </a:r>
                <a:r>
                  <a:rPr lang="zh-CN" altLang="en-US" sz="2000" dirty="0" smtClean="0">
                    <a:latin typeface="楷体_GB2312" pitchFamily="49" charset="-122"/>
                    <a:ea typeface="楷体_GB2312" pitchFamily="49" charset="-122"/>
                  </a:rPr>
                  <a:t> </a:t>
                </a:r>
                <a14:m>
                  <m:oMath xmlns:m="http://schemas.openxmlformats.org/officeDocument/2006/math">
                    <m:r>
                      <a:rPr lang="en-US" altLang="zh-CN" sz="2000" b="1" i="1" smtClean="0">
                        <a:solidFill>
                          <a:srgbClr val="FF0000"/>
                        </a:solidFill>
                        <a:latin typeface="Cambria Math" panose="02040503050406030204" pitchFamily="18" charset="0"/>
                        <a:ea typeface="黑体" panose="02010609060101010101" pitchFamily="49" charset="-122"/>
                      </a:rPr>
                      <m:t>𝒙</m:t>
                    </m:r>
                  </m:oMath>
                </a14:m>
                <a:r>
                  <a:rPr lang="zh-CN" altLang="en-US" sz="2000" b="1" dirty="0" smtClean="0">
                    <a:solidFill>
                      <a:srgbClr val="FF0000"/>
                    </a:solidFill>
                    <a:latin typeface="黑体" panose="02010609060101010101" pitchFamily="49" charset="-122"/>
                    <a:ea typeface="黑体" panose="02010609060101010101" pitchFamily="49" charset="-122"/>
                  </a:rPr>
                  <a:t> 值</a:t>
                </a:r>
                <a:r>
                  <a:rPr lang="zh-CN" altLang="en-US" sz="2000" b="1" dirty="0">
                    <a:solidFill>
                      <a:srgbClr val="FF0000"/>
                    </a:solidFill>
                    <a:latin typeface="黑体" panose="02010609060101010101" pitchFamily="49" charset="-122"/>
                    <a:ea typeface="黑体" panose="02010609060101010101" pitchFamily="49" charset="-122"/>
                  </a:rPr>
                  <a:t>递增</a:t>
                </a:r>
                <a:r>
                  <a:rPr lang="zh-CN" altLang="en-US" sz="2000" dirty="0">
                    <a:latin typeface="楷体_GB2312" pitchFamily="49" charset="-122"/>
                    <a:ea typeface="楷体_GB2312" pitchFamily="49" charset="-122"/>
                  </a:rPr>
                  <a:t>的顺序进行排序、</a:t>
                </a:r>
                <a:r>
                  <a:rPr lang="zh-CN" altLang="en-US" sz="2000" b="1" dirty="0">
                    <a:solidFill>
                      <a:srgbClr val="FF0000"/>
                    </a:solidFill>
                    <a:latin typeface="黑体" panose="02010609060101010101" pitchFamily="49" charset="-122"/>
                    <a:ea typeface="黑体" panose="02010609060101010101" pitchFamily="49" charset="-122"/>
                  </a:rPr>
                  <a:t>配对</a:t>
                </a:r>
                <a:r>
                  <a:rPr lang="zh-CN" altLang="en-US" sz="2000" dirty="0">
                    <a:latin typeface="楷体_GB2312" pitchFamily="49" charset="-122"/>
                    <a:ea typeface="楷体_GB2312" pitchFamily="49" charset="-122"/>
                  </a:rPr>
                  <a:t>，以确定填充区间，最后用指定颜色填充区间内的所有像素，即完成填充工作。有效边表填充算法已成为目前</a:t>
                </a:r>
                <a:r>
                  <a:rPr lang="zh-CN" altLang="en-US" sz="2000" b="1" dirty="0" smtClean="0">
                    <a:solidFill>
                      <a:srgbClr val="FF0000"/>
                    </a:solidFill>
                    <a:latin typeface="黑体" panose="02010609060101010101" pitchFamily="49" charset="-122"/>
                    <a:ea typeface="黑体" panose="02010609060101010101" pitchFamily="49" charset="-122"/>
                  </a:rPr>
                  <a:t>最有效</a:t>
                </a:r>
                <a:r>
                  <a:rPr lang="zh-CN" altLang="en-US" sz="2000" dirty="0">
                    <a:latin typeface="楷体_GB2312" pitchFamily="49" charset="-122"/>
                    <a:ea typeface="楷体_GB2312" pitchFamily="49" charset="-122"/>
                  </a:rPr>
                  <a:t>的多边形填充算法之一。 </a:t>
                </a:r>
                <a:endParaRPr lang="zh-CN" altLang="en-US" sz="2000" dirty="0">
                  <a:latin typeface="楷体_GB2312" pitchFamily="49" charset="-122"/>
                  <a:ea typeface="楷体_GB2312" pitchFamily="49" charset="-122"/>
                </a:endParaRPr>
              </a:p>
            </p:txBody>
          </p:sp>
        </mc:Choice>
        <mc:Fallback>
          <p:sp>
            <p:nvSpPr>
              <p:cNvPr id="27652" name="Rectangle 6"/>
              <p:cNvSpPr>
                <a:spLocks noRot="1" noChangeAspect="1" noMove="1" noResize="1" noEditPoints="1" noAdjustHandles="1" noChangeArrowheads="1" noChangeShapeType="1" noTextEdit="1"/>
              </p:cNvSpPr>
              <p:nvPr/>
            </p:nvSpPr>
            <p:spPr bwMode="auto">
              <a:xfrm>
                <a:off x="323850" y="1583749"/>
                <a:ext cx="8675688" cy="2400657"/>
              </a:xfrm>
              <a:prstGeom prst="rect">
                <a:avLst/>
              </a:prstGeom>
              <a:blipFill rotWithShape="1">
                <a:blip r:embed="rId1"/>
                <a:stretch>
                  <a:fillRect t="-2" r="-597" b="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5"/>
          <p:cNvGraphicFramePr>
            <a:graphicFrameLocks noChangeAspect="1"/>
          </p:cNvGraphicFramePr>
          <p:nvPr/>
        </p:nvGraphicFramePr>
        <p:xfrm>
          <a:off x="827584" y="1735689"/>
          <a:ext cx="2508250" cy="2376488"/>
        </p:xfrm>
        <a:graphic>
          <a:graphicData uri="http://schemas.openxmlformats.org/presentationml/2006/ole">
            <mc:AlternateContent xmlns:mc="http://schemas.openxmlformats.org/markup-compatibility/2006">
              <mc:Choice xmlns:v="urn:schemas-microsoft-com:vml" Requires="v">
                <p:oleObj spid="_x0000_s28706" name="" r:id="rId1" imgW="5271770" imgH="4018915" progId="Visio.Drawing.11">
                  <p:embed/>
                </p:oleObj>
              </mc:Choice>
              <mc:Fallback>
                <p:oleObj name="" r:id="rId1" imgW="5271770" imgH="401891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l="11913" r="16354" b="9003"/>
                      <a:stretch>
                        <a:fillRect/>
                      </a:stretch>
                    </p:blipFill>
                    <p:spPr bwMode="auto">
                      <a:xfrm>
                        <a:off x="827584" y="1735689"/>
                        <a:ext cx="2508250" cy="2376488"/>
                      </a:xfrm>
                      <a:prstGeom prst="rect">
                        <a:avLst/>
                      </a:prstGeom>
                      <a:noFill/>
                      <a:ln>
                        <a:noFill/>
                      </a:ln>
                    </p:spPr>
                  </p:pic>
                </p:oleObj>
              </mc:Fallback>
            </mc:AlternateContent>
          </a:graphicData>
        </a:graphic>
      </p:graphicFrame>
      <p:graphicFrame>
        <p:nvGraphicFramePr>
          <p:cNvPr id="28675" name="Object 4"/>
          <p:cNvGraphicFramePr>
            <a:graphicFrameLocks noChangeAspect="1"/>
          </p:cNvGraphicFramePr>
          <p:nvPr/>
        </p:nvGraphicFramePr>
        <p:xfrm>
          <a:off x="3888419" y="1803709"/>
          <a:ext cx="2303463" cy="2254250"/>
        </p:xfrm>
        <a:graphic>
          <a:graphicData uri="http://schemas.openxmlformats.org/presentationml/2006/ole">
            <mc:AlternateContent xmlns:mc="http://schemas.openxmlformats.org/markup-compatibility/2006">
              <mc:Choice xmlns:v="urn:schemas-microsoft-com:vml" Requires="v">
                <p:oleObj spid="_x0000_s28707" name="" r:id="rId3" imgW="4843145" imgH="4018915" progId="Visio.Drawing.11">
                  <p:embed/>
                </p:oleObj>
              </mc:Choice>
              <mc:Fallback>
                <p:oleObj name="" r:id="rId3" imgW="4843145" imgH="401891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14240" t="3922" r="8629" b="4663"/>
                      <a:stretch>
                        <a:fillRect/>
                      </a:stretch>
                    </p:blipFill>
                    <p:spPr bwMode="auto">
                      <a:xfrm>
                        <a:off x="3888419" y="1803709"/>
                        <a:ext cx="2303463"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676" name="Rectangle 6"/>
          <p:cNvSpPr>
            <a:spLocks noChangeArrowheads="1"/>
          </p:cNvSpPr>
          <p:nvPr/>
        </p:nvSpPr>
        <p:spPr bwMode="auto">
          <a:xfrm>
            <a:off x="0" y="1422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8677" name="Rectangle 7"/>
          <p:cNvSpPr>
            <a:spLocks noChangeArrowheads="1"/>
          </p:cNvSpPr>
          <p:nvPr/>
        </p:nvSpPr>
        <p:spPr bwMode="auto">
          <a:xfrm>
            <a:off x="5598423" y="4501787"/>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28678" name="Rectangle 8"/>
          <p:cNvSpPr>
            <a:spLocks noChangeArrowheads="1"/>
          </p:cNvSpPr>
          <p:nvPr/>
        </p:nvSpPr>
        <p:spPr bwMode="auto">
          <a:xfrm>
            <a:off x="1475656" y="4072535"/>
            <a:ext cx="445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a:latin typeface="楷体_GB2312" pitchFamily="49" charset="-122"/>
                <a:ea typeface="楷体_GB2312" pitchFamily="49" charset="-122"/>
              </a:rPr>
              <a:t>面积</a:t>
            </a:r>
            <a:r>
              <a:rPr lang="en-US" altLang="zh-CN" dirty="0">
                <a:latin typeface="楷体_GB2312" pitchFamily="49" charset="-122"/>
                <a:ea typeface="楷体_GB2312" pitchFamily="49" charset="-122"/>
              </a:rPr>
              <a:t>3×3            </a:t>
            </a:r>
            <a:r>
              <a:rPr lang="zh-CN" altLang="en-US" dirty="0">
                <a:latin typeface="楷体_GB2312" pitchFamily="49" charset="-122"/>
                <a:ea typeface="楷体_GB2312" pitchFamily="49" charset="-122"/>
              </a:rPr>
              <a:t>面积</a:t>
            </a:r>
            <a:r>
              <a:rPr lang="en-US" altLang="zh-CN" dirty="0">
                <a:latin typeface="楷体_GB2312" pitchFamily="49" charset="-122"/>
                <a:ea typeface="楷体_GB2312" pitchFamily="49" charset="-122"/>
              </a:rPr>
              <a:t>2×2</a:t>
            </a:r>
            <a:endParaRPr lang="en-US" altLang="zh-CN" dirty="0">
              <a:latin typeface="楷体_GB2312" pitchFamily="49" charset="-122"/>
              <a:ea typeface="楷体_GB2312" pitchFamily="49" charset="-122"/>
            </a:endParaRPr>
          </a:p>
        </p:txBody>
      </p:sp>
      <p:sp>
        <p:nvSpPr>
          <p:cNvPr id="28679" name="Rectangle 9"/>
          <p:cNvSpPr>
            <a:spLocks noChangeArrowheads="1"/>
          </p:cNvSpPr>
          <p:nvPr/>
        </p:nvSpPr>
        <p:spPr bwMode="auto">
          <a:xfrm>
            <a:off x="310862" y="4958987"/>
            <a:ext cx="85696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000" dirty="0" smtClean="0">
                <a:latin typeface="楷体_GB2312" pitchFamily="49" charset="-122"/>
                <a:ea typeface="楷体_GB2312" pitchFamily="49" charset="-122"/>
              </a:rPr>
              <a:t>在</a:t>
            </a:r>
            <a:r>
              <a:rPr lang="zh-CN" altLang="en-US" sz="2000" dirty="0">
                <a:latin typeface="楷体_GB2312" pitchFamily="49" charset="-122"/>
                <a:ea typeface="楷体_GB2312" pitchFamily="49" charset="-122"/>
              </a:rPr>
              <a:t>多边形填充过程中，常采用</a:t>
            </a:r>
            <a:r>
              <a:rPr lang="zh-CN" altLang="en-US" sz="2000" dirty="0">
                <a:ea typeface="楷体_GB2312" pitchFamily="49" charset="-122"/>
              </a:rPr>
              <a:t>“</a:t>
            </a:r>
            <a:r>
              <a:rPr lang="zh-CN" altLang="en-US" sz="2000" b="1" dirty="0">
                <a:solidFill>
                  <a:srgbClr val="FF0000"/>
                </a:solidFill>
                <a:latin typeface="黑体" panose="02010609060101010101" pitchFamily="49" charset="-122"/>
                <a:ea typeface="黑体" panose="02010609060101010101" pitchFamily="49" charset="-122"/>
              </a:rPr>
              <a:t>左闭右开</a:t>
            </a:r>
            <a:r>
              <a:rPr lang="zh-CN" altLang="en-US" sz="2000" dirty="0">
                <a:ea typeface="楷体_GB2312" pitchFamily="49" charset="-122"/>
              </a:rPr>
              <a:t>”</a:t>
            </a:r>
            <a:r>
              <a:rPr lang="zh-CN" altLang="en-US" sz="2000" dirty="0">
                <a:latin typeface="楷体_GB2312" pitchFamily="49" charset="-122"/>
                <a:ea typeface="楷体_GB2312" pitchFamily="49" charset="-122"/>
              </a:rPr>
              <a:t>和</a:t>
            </a:r>
            <a:r>
              <a:rPr lang="zh-CN" altLang="en-US" sz="2000" dirty="0">
                <a:ea typeface="楷体_GB2312" pitchFamily="49" charset="-122"/>
              </a:rPr>
              <a:t>“</a:t>
            </a:r>
            <a:r>
              <a:rPr lang="zh-CN" altLang="en-US" sz="2000" b="1" dirty="0">
                <a:solidFill>
                  <a:srgbClr val="FF0000"/>
                </a:solidFill>
                <a:latin typeface="黑体" panose="02010609060101010101" pitchFamily="49" charset="-122"/>
                <a:ea typeface="黑体" panose="02010609060101010101" pitchFamily="49" charset="-122"/>
              </a:rPr>
              <a:t>下闭上开</a:t>
            </a:r>
            <a:r>
              <a:rPr lang="zh-CN" altLang="en-US" sz="2000" dirty="0">
                <a:ea typeface="楷体_GB2312" pitchFamily="49" charset="-122"/>
              </a:rPr>
              <a:t>”</a:t>
            </a:r>
            <a:r>
              <a:rPr lang="zh-CN" altLang="en-US" sz="2000" dirty="0">
                <a:latin typeface="楷体_GB2312" pitchFamily="49" charset="-122"/>
                <a:ea typeface="楷体_GB2312" pitchFamily="49" charset="-122"/>
              </a:rPr>
              <a:t>的原则对边界像素进行处理。 </a:t>
            </a:r>
            <a:endParaRPr lang="zh-CN" altLang="en-US" sz="2000" dirty="0">
              <a:latin typeface="楷体_GB2312" pitchFamily="49" charset="-122"/>
              <a:ea typeface="楷体_GB2312" pitchFamily="49" charset="-122"/>
            </a:endParaRPr>
          </a:p>
        </p:txBody>
      </p:sp>
      <p:sp>
        <p:nvSpPr>
          <p:cNvPr id="10" name="Rectangle 7"/>
          <p:cNvSpPr>
            <a:spLocks noChangeArrowheads="1"/>
          </p:cNvSpPr>
          <p:nvPr/>
        </p:nvSpPr>
        <p:spPr bwMode="auto">
          <a:xfrm>
            <a:off x="287176" y="204430"/>
            <a:ext cx="4752975"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4.2.2 </a:t>
            </a:r>
            <a:r>
              <a:rPr lang="zh-CN" altLang="en-US" sz="3200" b="1" dirty="0">
                <a:effectLst>
                  <a:outerShdw blurRad="38100" dist="38100" dir="2700000" algn="tl">
                    <a:srgbClr val="C0C0C0"/>
                  </a:outerShdw>
                </a:effectLst>
                <a:latin typeface="楷体_GB2312" pitchFamily="49" charset="-122"/>
                <a:ea typeface="楷体_GB2312" pitchFamily="49" charset="-122"/>
              </a:rPr>
              <a:t>边界像素处理原则</a:t>
            </a:r>
            <a:r>
              <a:rPr lang="zh-CN" altLang="en-US" dirty="0"/>
              <a:t> </a:t>
            </a:r>
            <a:endParaRPr lang="zh-CN" altLang="en-US" dirty="0"/>
          </a:p>
        </p:txBody>
      </p:sp>
      <mc:AlternateContent xmlns:mc="http://schemas.openxmlformats.org/markup-compatibility/2006">
        <mc:Choice xmlns:a14="http://schemas.microsoft.com/office/drawing/2010/main" Requires="a14">
          <p:sp>
            <p:nvSpPr>
              <p:cNvPr id="11" name="Rectangle 8"/>
              <p:cNvSpPr>
                <a:spLocks noChangeArrowheads="1"/>
              </p:cNvSpPr>
              <p:nvPr/>
            </p:nvSpPr>
            <p:spPr bwMode="auto">
              <a:xfrm>
                <a:off x="287176" y="791388"/>
                <a:ext cx="86756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dirty="0" smtClean="0">
                    <a:latin typeface="楷体_GB2312" pitchFamily="49" charset="-122"/>
                    <a:ea typeface="楷体_GB2312" pitchFamily="49" charset="-122"/>
                  </a:rPr>
                  <a:t>    填充左下角为 </a:t>
                </a:r>
                <a14:m>
                  <m:oMath xmlns:m="http://schemas.openxmlformats.org/officeDocument/2006/math">
                    <m:d>
                      <m:dPr>
                        <m:ctrlPr>
                          <a:rPr lang="en-US" altLang="zh-CN" sz="2000" b="1" i="1" smtClean="0">
                            <a:solidFill>
                              <a:srgbClr val="FF0000"/>
                            </a:solidFill>
                            <a:latin typeface="Cambria Math" panose="02040503050406030204" pitchFamily="18" charset="0"/>
                            <a:ea typeface="黑体" panose="02010609060101010101" pitchFamily="49" charset="-122"/>
                          </a:rPr>
                        </m:ctrlPr>
                      </m:dPr>
                      <m:e>
                        <m:r>
                          <a:rPr lang="en-US" altLang="zh-CN" sz="2000" b="1" i="1" smtClean="0">
                            <a:solidFill>
                              <a:srgbClr val="FF0000"/>
                            </a:solidFill>
                            <a:latin typeface="Cambria Math" panose="02040503050406030204" pitchFamily="18" charset="0"/>
                            <a:ea typeface="黑体" panose="02010609060101010101" pitchFamily="49" charset="-122"/>
                          </a:rPr>
                          <m:t>𝟏</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𝟏</m:t>
                        </m:r>
                      </m:e>
                    </m:d>
                  </m:oMath>
                </a14:m>
                <a:r>
                  <a:rPr lang="zh-CN" altLang="en-US" sz="2000" dirty="0" smtClean="0">
                    <a:latin typeface="楷体_GB2312" pitchFamily="49" charset="-122"/>
                    <a:ea typeface="楷体_GB2312" pitchFamily="49" charset="-122"/>
                  </a:rPr>
                  <a:t>，</a:t>
                </a:r>
                <a:r>
                  <a:rPr lang="zh-CN" altLang="en-US" sz="2000" dirty="0">
                    <a:latin typeface="楷体_GB2312" pitchFamily="49" charset="-122"/>
                    <a:ea typeface="楷体_GB2312" pitchFamily="49" charset="-122"/>
                  </a:rPr>
                  <a:t>右上角为</a:t>
                </a:r>
                <a14:m>
                  <m:oMath xmlns:m="http://schemas.openxmlformats.org/officeDocument/2006/math">
                    <m:d>
                      <m:dPr>
                        <m:ctrlPr>
                          <a:rPr lang="en-US" altLang="zh-CN" sz="2000" b="1" i="1" smtClean="0">
                            <a:solidFill>
                              <a:srgbClr val="FF0000"/>
                            </a:solidFill>
                            <a:latin typeface="Cambria Math" panose="02040503050406030204" pitchFamily="18" charset="0"/>
                            <a:ea typeface="黑体" panose="02010609060101010101" pitchFamily="49" charset="-122"/>
                          </a:rPr>
                        </m:ctrlPr>
                      </m:dPr>
                      <m:e>
                        <m:r>
                          <a:rPr lang="en-US" altLang="zh-CN" sz="2000" b="1" i="1" smtClean="0">
                            <a:solidFill>
                              <a:srgbClr val="FF0000"/>
                            </a:solidFill>
                            <a:latin typeface="Cambria Math" panose="02040503050406030204" pitchFamily="18" charset="0"/>
                            <a:ea typeface="黑体" panose="02010609060101010101" pitchFamily="49" charset="-122"/>
                          </a:rPr>
                          <m:t>𝟑</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𝟑</m:t>
                        </m:r>
                      </m:e>
                    </m:d>
                  </m:oMath>
                </a14:m>
                <a:r>
                  <a:rPr lang="zh-CN" altLang="en-US" sz="2000" dirty="0" smtClean="0">
                    <a:latin typeface="楷体_GB2312" pitchFamily="49" charset="-122"/>
                    <a:ea typeface="楷体_GB2312" pitchFamily="49" charset="-122"/>
                  </a:rPr>
                  <a:t>的</a:t>
                </a:r>
                <a:r>
                  <a:rPr lang="zh-CN" altLang="en-US" sz="2000" dirty="0">
                    <a:latin typeface="楷体_GB2312" pitchFamily="49" charset="-122"/>
                    <a:ea typeface="楷体_GB2312" pitchFamily="49" charset="-122"/>
                  </a:rPr>
                  <a:t>正方形时，若将边界上的所有像素全部填充，就得到图示的结果。 </a:t>
                </a:r>
                <a:endParaRPr lang="zh-CN" altLang="en-US" sz="2000" dirty="0">
                  <a:latin typeface="楷体_GB2312" pitchFamily="49" charset="-122"/>
                  <a:ea typeface="楷体_GB2312" pitchFamily="49" charset="-122"/>
                </a:endParaRPr>
              </a:p>
            </p:txBody>
          </p:sp>
        </mc:Choice>
        <mc:Fallback>
          <p:sp>
            <p:nvSpPr>
              <p:cNvPr id="11" name="Rectangle 8"/>
              <p:cNvSpPr>
                <a:spLocks noRot="1" noChangeAspect="1" noMove="1" noResize="1" noEditPoints="1" noAdjustHandles="1" noChangeArrowheads="1" noChangeShapeType="1" noTextEdit="1"/>
              </p:cNvSpPr>
              <p:nvPr/>
            </p:nvSpPr>
            <p:spPr bwMode="auto">
              <a:xfrm>
                <a:off x="287176" y="791388"/>
                <a:ext cx="8675688" cy="707886"/>
              </a:xfrm>
              <a:prstGeom prst="rect">
                <a:avLst/>
              </a:prstGeom>
              <a:blipFill rotWithShape="1">
                <a:blip r:embed="rId5"/>
                <a:stretch>
                  <a:fillRect l="-2" t="-25" r="5" b="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Rectangle 13"/>
          <p:cNvSpPr>
            <a:spLocks noChangeArrowheads="1"/>
          </p:cNvSpPr>
          <p:nvPr/>
        </p:nvSpPr>
        <p:spPr bwMode="auto">
          <a:xfrm>
            <a:off x="6744467" y="4042355"/>
            <a:ext cx="23640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dirty="0">
                <a:latin typeface="楷体_GB2312" pitchFamily="49" charset="-122"/>
                <a:ea typeface="楷体_GB2312" pitchFamily="49" charset="-122"/>
              </a:rPr>
              <a:t>边界像素的处理 </a:t>
            </a:r>
            <a:endParaRPr lang="zh-CN" altLang="en-US" dirty="0">
              <a:latin typeface="楷体_GB2312" pitchFamily="49" charset="-122"/>
              <a:ea typeface="楷体_GB2312" pitchFamily="49" charset="-122"/>
            </a:endParaRPr>
          </a:p>
        </p:txBody>
      </p:sp>
      <p:pic>
        <p:nvPicPr>
          <p:cNvPr id="14" name="Picture 4" descr="图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7833" y="1590865"/>
            <a:ext cx="2043113"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5"/>
          <p:cNvSpPr txBox="1">
            <a:spLocks noChangeArrowheads="1"/>
          </p:cNvSpPr>
          <p:nvPr/>
        </p:nvSpPr>
        <p:spPr bwMode="auto">
          <a:xfrm>
            <a:off x="6226033" y="1590865"/>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6</a:t>
            </a:r>
            <a:endParaRPr lang="en-US" altLang="zh-CN" sz="2000"/>
          </a:p>
        </p:txBody>
      </p:sp>
      <p:sp>
        <p:nvSpPr>
          <p:cNvPr id="16" name="Text Box 6"/>
          <p:cNvSpPr txBox="1">
            <a:spLocks noChangeArrowheads="1"/>
          </p:cNvSpPr>
          <p:nvPr/>
        </p:nvSpPr>
        <p:spPr bwMode="auto">
          <a:xfrm>
            <a:off x="6226033" y="2311590"/>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7</a:t>
            </a:r>
            <a:endParaRPr lang="en-US" altLang="zh-CN" sz="2000"/>
          </a:p>
        </p:txBody>
      </p:sp>
      <p:sp>
        <p:nvSpPr>
          <p:cNvPr id="17" name="Text Box 7"/>
          <p:cNvSpPr txBox="1">
            <a:spLocks noChangeArrowheads="1"/>
          </p:cNvSpPr>
          <p:nvPr/>
        </p:nvSpPr>
        <p:spPr bwMode="auto">
          <a:xfrm>
            <a:off x="6226033" y="3175190"/>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0</a:t>
            </a:r>
            <a:endParaRPr lang="en-US" altLang="zh-CN" sz="2000"/>
          </a:p>
        </p:txBody>
      </p:sp>
      <p:sp>
        <p:nvSpPr>
          <p:cNvPr id="18" name="Text Box 8"/>
          <p:cNvSpPr txBox="1">
            <a:spLocks noChangeArrowheads="1"/>
          </p:cNvSpPr>
          <p:nvPr/>
        </p:nvSpPr>
        <p:spPr bwMode="auto">
          <a:xfrm>
            <a:off x="7449996" y="1159065"/>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5</a:t>
            </a:r>
            <a:endParaRPr lang="en-US" altLang="zh-CN" sz="2000"/>
          </a:p>
        </p:txBody>
      </p:sp>
      <p:sp>
        <p:nvSpPr>
          <p:cNvPr id="19" name="Text Box 9"/>
          <p:cNvSpPr txBox="1">
            <a:spLocks noChangeArrowheads="1"/>
          </p:cNvSpPr>
          <p:nvPr/>
        </p:nvSpPr>
        <p:spPr bwMode="auto">
          <a:xfrm>
            <a:off x="7376971" y="2095690"/>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8</a:t>
            </a:r>
            <a:endParaRPr lang="en-US" altLang="zh-CN" sz="2000"/>
          </a:p>
        </p:txBody>
      </p:sp>
      <p:sp>
        <p:nvSpPr>
          <p:cNvPr id="20" name="Text Box 10"/>
          <p:cNvSpPr txBox="1">
            <a:spLocks noChangeArrowheads="1"/>
          </p:cNvSpPr>
          <p:nvPr/>
        </p:nvSpPr>
        <p:spPr bwMode="auto">
          <a:xfrm>
            <a:off x="7449996" y="3751452"/>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1</a:t>
            </a:r>
            <a:endParaRPr lang="en-US" altLang="zh-CN" sz="2000"/>
          </a:p>
        </p:txBody>
      </p:sp>
      <p:sp>
        <p:nvSpPr>
          <p:cNvPr id="21" name="Text Box 11"/>
          <p:cNvSpPr txBox="1">
            <a:spLocks noChangeArrowheads="1"/>
          </p:cNvSpPr>
          <p:nvPr/>
        </p:nvSpPr>
        <p:spPr bwMode="auto">
          <a:xfrm>
            <a:off x="8745396" y="1519427"/>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4</a:t>
            </a:r>
            <a:endParaRPr lang="en-US" altLang="zh-CN" sz="2000"/>
          </a:p>
        </p:txBody>
      </p:sp>
      <p:sp>
        <p:nvSpPr>
          <p:cNvPr id="22" name="Text Box 12"/>
          <p:cNvSpPr txBox="1">
            <a:spLocks noChangeArrowheads="1"/>
          </p:cNvSpPr>
          <p:nvPr/>
        </p:nvSpPr>
        <p:spPr bwMode="auto">
          <a:xfrm>
            <a:off x="8745396" y="3391090"/>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2</a:t>
            </a:r>
            <a:endParaRPr lang="en-US" altLang="zh-CN" sz="2000"/>
          </a:p>
        </p:txBody>
      </p:sp>
      <p:sp>
        <p:nvSpPr>
          <p:cNvPr id="23" name="Text Box 19"/>
          <p:cNvSpPr txBox="1">
            <a:spLocks noChangeArrowheads="1"/>
          </p:cNvSpPr>
          <p:nvPr/>
        </p:nvSpPr>
        <p:spPr bwMode="auto">
          <a:xfrm>
            <a:off x="8756508" y="2454465"/>
            <a:ext cx="371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P</a:t>
            </a:r>
            <a:r>
              <a:rPr lang="en-US" altLang="zh-CN" sz="2000" baseline="-25000">
                <a:latin typeface="Times New Roman" panose="02020603050405020304" pitchFamily="18" charset="0"/>
              </a:rPr>
              <a:t>3</a:t>
            </a:r>
            <a:endParaRPr lang="en-US" altLang="zh-CN" sz="200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708" name="Rectangle 14"/>
              <p:cNvSpPr>
                <a:spLocks noChangeArrowheads="1"/>
              </p:cNvSpPr>
              <p:nvPr/>
            </p:nvSpPr>
            <p:spPr bwMode="auto">
              <a:xfrm>
                <a:off x="323180" y="4437112"/>
                <a:ext cx="849763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342900" indent="-342900" eaLnBrk="1" hangingPunct="1">
                  <a:lnSpc>
                    <a:spcPct val="120000"/>
                  </a:lnSpc>
                  <a:buFont typeface="Wingdings" panose="05000000000000000000" pitchFamily="2" charset="2"/>
                  <a:buChar char="n"/>
                </a:pPr>
                <a:r>
                  <a:rPr lang="zh-CN" altLang="en-US" sz="2000" b="1" dirty="0" smtClean="0">
                    <a:solidFill>
                      <a:srgbClr val="FF0000"/>
                    </a:solidFill>
                    <a:latin typeface="黑体" panose="02010609060101010101" pitchFamily="49" charset="-122"/>
                    <a:ea typeface="黑体" panose="02010609060101010101" pitchFamily="49" charset="-122"/>
                  </a:rPr>
                  <a:t>局部最高点 </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𝟏</m:t>
                        </m:r>
                      </m:sub>
                    </m:sSub>
                    <m:r>
                      <a:rPr lang="en-US" altLang="zh-CN" sz="2000" b="1" i="1" smtClean="0">
                        <a:solidFill>
                          <a:srgbClr val="FF0000"/>
                        </a:solidFill>
                        <a:latin typeface="Cambria Math" panose="02040503050406030204" pitchFamily="18" charset="0"/>
                        <a:ea typeface="黑体" panose="02010609060101010101" pitchFamily="49" charset="-122"/>
                      </a:rPr>
                      <m:t>,</m:t>
                    </m:r>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𝟔</m:t>
                        </m:r>
                      </m:sub>
                    </m:sSub>
                  </m:oMath>
                </a14:m>
                <a:r>
                  <a:rPr lang="en-US" altLang="zh-CN" sz="2000" b="1" dirty="0" smtClean="0">
                    <a:solidFill>
                      <a:srgbClr val="FF0000"/>
                    </a:solidFill>
                    <a:latin typeface="黑体" panose="02010609060101010101" pitchFamily="49" charset="-122"/>
                    <a:ea typeface="黑体" panose="02010609060101010101" pitchFamily="49" charset="-122"/>
                  </a:rPr>
                  <a:t> </a:t>
                </a:r>
                <a:r>
                  <a:rPr lang="zh-CN" altLang="en-US" sz="2000" b="1" dirty="0" smtClean="0">
                    <a:solidFill>
                      <a:srgbClr val="FF0000"/>
                    </a:solidFill>
                    <a:latin typeface="黑体" panose="02010609060101010101" pitchFamily="49" charset="-122"/>
                    <a:ea typeface="黑体" panose="02010609060101010101" pitchFamily="49" charset="-122"/>
                  </a:rPr>
                  <a:t>和 </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𝟒</m:t>
                        </m:r>
                      </m:sub>
                    </m:sSub>
                  </m:oMath>
                </a14:m>
                <a:r>
                  <a:rPr lang="zh-CN" altLang="en-US" sz="2000" dirty="0" smtClean="0">
                    <a:latin typeface="楷体_GB2312" pitchFamily="49" charset="-122"/>
                    <a:ea typeface="楷体_GB2312" pitchFamily="49" charset="-122"/>
                  </a:rPr>
                  <a:t>，</a:t>
                </a:r>
                <a:r>
                  <a:rPr lang="zh-CN" altLang="en-US" sz="2000" dirty="0">
                    <a:latin typeface="楷体_GB2312" pitchFamily="49" charset="-122"/>
                    <a:ea typeface="楷体_GB2312" pitchFamily="49" charset="-122"/>
                  </a:rPr>
                  <a:t>共享顶点的两条边落在扫描线的下方</a:t>
                </a:r>
                <a:r>
                  <a:rPr lang="zh-CN" altLang="en-US" sz="2000" dirty="0" smtClean="0">
                    <a:latin typeface="楷体_GB2312" pitchFamily="49" charset="-122"/>
                    <a:ea typeface="楷体_GB2312" pitchFamily="49" charset="-122"/>
                  </a:rPr>
                  <a:t>；</a:t>
                </a:r>
                <a:endParaRPr lang="en-US" altLang="zh-CN" sz="2000" dirty="0" smtClean="0">
                  <a:latin typeface="楷体_GB2312" pitchFamily="49" charset="-122"/>
                  <a:ea typeface="楷体_GB2312" pitchFamily="49" charset="-122"/>
                </a:endParaRPr>
              </a:p>
              <a:p>
                <a:pPr marL="342900" indent="-342900" eaLnBrk="1" hangingPunct="1">
                  <a:lnSpc>
                    <a:spcPct val="120000"/>
                  </a:lnSpc>
                  <a:buFont typeface="Wingdings" panose="05000000000000000000" pitchFamily="2" charset="2"/>
                  <a:buChar char="n"/>
                </a:pPr>
                <a:r>
                  <a:rPr lang="zh-CN" altLang="en-US" sz="2000" b="1" dirty="0" smtClean="0">
                    <a:solidFill>
                      <a:srgbClr val="FF0000"/>
                    </a:solidFill>
                    <a:latin typeface="黑体" panose="02010609060101010101" pitchFamily="49" charset="-122"/>
                    <a:ea typeface="黑体" panose="02010609060101010101" pitchFamily="49" charset="-122"/>
                  </a:rPr>
                  <a:t>普通连接点 </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𝟐</m:t>
                        </m:r>
                      </m:sub>
                    </m:sSub>
                  </m:oMath>
                </a14:m>
                <a:r>
                  <a:rPr lang="zh-CN" altLang="en-US" sz="2000" dirty="0">
                    <a:latin typeface="楷体_GB2312" pitchFamily="49" charset="-122"/>
                    <a:ea typeface="楷体_GB2312" pitchFamily="49" charset="-122"/>
                  </a:rPr>
                  <a:t>，共享顶点的两条边分别落在扫描线两侧</a:t>
                </a:r>
                <a:r>
                  <a:rPr lang="zh-CN" altLang="en-US" sz="2000" dirty="0" smtClean="0">
                    <a:latin typeface="楷体_GB2312" pitchFamily="49" charset="-122"/>
                    <a:ea typeface="楷体_GB2312" pitchFamily="49" charset="-122"/>
                  </a:rPr>
                  <a:t>；</a:t>
                </a:r>
                <a:endParaRPr lang="en-US" altLang="zh-CN" sz="2000" dirty="0" smtClean="0">
                  <a:latin typeface="楷体_GB2312" pitchFamily="49" charset="-122"/>
                  <a:ea typeface="楷体_GB2312" pitchFamily="49" charset="-122"/>
                </a:endParaRPr>
              </a:p>
              <a:p>
                <a:pPr marL="342900" indent="-342900" eaLnBrk="1" hangingPunct="1">
                  <a:lnSpc>
                    <a:spcPct val="120000"/>
                  </a:lnSpc>
                  <a:buFont typeface="Wingdings" panose="05000000000000000000" pitchFamily="2" charset="2"/>
                  <a:buChar char="n"/>
                </a:pPr>
                <a:r>
                  <a:rPr lang="zh-CN" altLang="en-US" sz="2000" b="1" dirty="0" smtClean="0">
                    <a:solidFill>
                      <a:srgbClr val="FF0000"/>
                    </a:solidFill>
                    <a:latin typeface="黑体" panose="02010609060101010101" pitchFamily="49" charset="-122"/>
                    <a:ea typeface="黑体" panose="02010609060101010101" pitchFamily="49" charset="-122"/>
                  </a:rPr>
                  <a:t>局部最低点 </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𝟎</m:t>
                        </m:r>
                      </m:sub>
                    </m:sSub>
                    <m:r>
                      <a:rPr lang="en-US" altLang="zh-CN" sz="2000" b="1" i="1" smtClean="0">
                        <a:solidFill>
                          <a:srgbClr val="FF0000"/>
                        </a:solidFill>
                        <a:latin typeface="Cambria Math" panose="02040503050406030204" pitchFamily="18" charset="0"/>
                        <a:ea typeface="黑体" panose="02010609060101010101" pitchFamily="49" charset="-122"/>
                      </a:rPr>
                      <m:t>,</m:t>
                    </m:r>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𝟑</m:t>
                        </m:r>
                      </m:sub>
                    </m:sSub>
                  </m:oMath>
                </a14:m>
                <a:r>
                  <a:rPr lang="zh-CN" altLang="en-US" sz="2000" dirty="0" smtClean="0">
                    <a:latin typeface="楷体_GB2312" pitchFamily="49" charset="-122"/>
                    <a:ea typeface="楷体_GB2312" pitchFamily="49" charset="-122"/>
                  </a:rPr>
                  <a:t>和</a:t>
                </a:r>
                <a14:m>
                  <m:oMath xmlns:m="http://schemas.openxmlformats.org/officeDocument/2006/math">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𝑷</m:t>
                        </m:r>
                      </m:e>
                      <m:sub>
                        <m:r>
                          <a:rPr lang="en-US" altLang="zh-CN" sz="2000" b="1" i="1" smtClean="0">
                            <a:solidFill>
                              <a:srgbClr val="FF0000"/>
                            </a:solidFill>
                            <a:latin typeface="Cambria Math" panose="02040503050406030204" pitchFamily="18" charset="0"/>
                            <a:ea typeface="黑体" panose="02010609060101010101" pitchFamily="49" charset="-122"/>
                          </a:rPr>
                          <m:t>𝟓</m:t>
                        </m:r>
                      </m:sub>
                    </m:sSub>
                  </m:oMath>
                </a14:m>
                <a:r>
                  <a:rPr lang="zh-CN" altLang="en-US" sz="2000" dirty="0" smtClean="0">
                    <a:latin typeface="楷体_GB2312" pitchFamily="49" charset="-122"/>
                    <a:ea typeface="楷体_GB2312" pitchFamily="49" charset="-122"/>
                  </a:rPr>
                  <a:t>，</a:t>
                </a:r>
                <a:r>
                  <a:rPr lang="zh-CN" altLang="en-US" sz="2000" dirty="0">
                    <a:latin typeface="楷体_GB2312" pitchFamily="49" charset="-122"/>
                    <a:ea typeface="楷体_GB2312" pitchFamily="49" charset="-122"/>
                  </a:rPr>
                  <a:t>共享顶点的两条边落在扫描线的上方</a:t>
                </a:r>
                <a:r>
                  <a:rPr lang="zh-CN" altLang="en-US" sz="2000" dirty="0" smtClean="0">
                    <a:latin typeface="楷体_GB2312" pitchFamily="49" charset="-122"/>
                    <a:ea typeface="楷体_GB2312" pitchFamily="49" charset="-122"/>
                  </a:rPr>
                  <a:t>。</a:t>
                </a:r>
                <a:endParaRPr lang="en-US" altLang="zh-CN" sz="2000" dirty="0" smtClean="0">
                  <a:latin typeface="楷体_GB2312" pitchFamily="49" charset="-122"/>
                  <a:ea typeface="楷体_GB2312" pitchFamily="49" charset="-122"/>
                </a:endParaRPr>
              </a:p>
              <a:p>
                <a:pPr eaLnBrk="1" hangingPunct="1">
                  <a:lnSpc>
                    <a:spcPct val="120000"/>
                  </a:lnSpc>
                </a:pPr>
                <a:r>
                  <a:rPr lang="zh-CN" altLang="en-US" sz="2000" dirty="0" smtClean="0">
                    <a:latin typeface="楷体_GB2312" pitchFamily="49" charset="-122"/>
                    <a:ea typeface="楷体_GB2312" pitchFamily="49" charset="-122"/>
                  </a:rPr>
                  <a:t>常</a:t>
                </a:r>
                <a:r>
                  <a:rPr lang="zh-CN" altLang="en-US" sz="2000" b="1" dirty="0">
                    <a:solidFill>
                      <a:srgbClr val="FF0000"/>
                    </a:solidFill>
                    <a:latin typeface="黑体" panose="02010609060101010101" pitchFamily="49" charset="-122"/>
                    <a:ea typeface="黑体" panose="02010609060101010101" pitchFamily="49" charset="-122"/>
                  </a:rPr>
                  <a:t>根据共享顶点的两条边的另一端</a:t>
                </a:r>
                <a:r>
                  <a:rPr lang="zh-CN" altLang="en-US" sz="2000" b="1" dirty="0" smtClean="0">
                    <a:solidFill>
                      <a:srgbClr val="FF0000"/>
                    </a:solidFill>
                    <a:latin typeface="黑体" panose="02010609060101010101" pitchFamily="49" charset="-122"/>
                    <a:ea typeface="黑体" panose="02010609060101010101" pitchFamily="49" charset="-122"/>
                  </a:rPr>
                  <a:t>的 </a:t>
                </a:r>
                <a14:m>
                  <m:oMath xmlns:m="http://schemas.openxmlformats.org/officeDocument/2006/math">
                    <m:r>
                      <a:rPr lang="en-US" altLang="zh-CN" sz="2000" b="1" i="1" smtClean="0">
                        <a:solidFill>
                          <a:srgbClr val="FF0000"/>
                        </a:solidFill>
                        <a:latin typeface="Cambria Math" panose="02040503050406030204" pitchFamily="18" charset="0"/>
                        <a:ea typeface="黑体" panose="02010609060101010101" pitchFamily="49" charset="-122"/>
                      </a:rPr>
                      <m:t>𝒚</m:t>
                    </m:r>
                  </m:oMath>
                </a14:m>
                <a:r>
                  <a:rPr lang="zh-CN" altLang="en-US" sz="2000" b="1" dirty="0" smtClean="0">
                    <a:solidFill>
                      <a:srgbClr val="FF0000"/>
                    </a:solidFill>
                    <a:latin typeface="黑体" panose="02010609060101010101" pitchFamily="49" charset="-122"/>
                    <a:ea typeface="黑体" panose="02010609060101010101" pitchFamily="49" charset="-122"/>
                  </a:rPr>
                  <a:t> </a:t>
                </a:r>
                <a:r>
                  <a:rPr lang="zh-CN" altLang="en-US" sz="2000" b="1" dirty="0">
                    <a:solidFill>
                      <a:srgbClr val="FF0000"/>
                    </a:solidFill>
                    <a:latin typeface="黑体" panose="02010609060101010101" pitchFamily="49" charset="-122"/>
                    <a:ea typeface="黑体" panose="02010609060101010101" pitchFamily="49" charset="-122"/>
                  </a:rPr>
                  <a:t>值大于扫描线</a:t>
                </a:r>
                <a14:m>
                  <m:oMath xmlns:m="http://schemas.openxmlformats.org/officeDocument/2006/math">
                    <m:r>
                      <a:rPr lang="en-US" altLang="zh-CN" sz="2000" b="1" i="1" smtClean="0">
                        <a:solidFill>
                          <a:srgbClr val="FF0000"/>
                        </a:solidFill>
                        <a:latin typeface="Cambria Math" panose="02040503050406030204" pitchFamily="18" charset="0"/>
                        <a:ea typeface="黑体" panose="02010609060101010101" pitchFamily="49" charset="-122"/>
                      </a:rPr>
                      <m:t>𝒚</m:t>
                    </m:r>
                  </m:oMath>
                </a14:m>
                <a:r>
                  <a:rPr lang="zh-CN" altLang="en-US" sz="2000" b="1" dirty="0">
                    <a:solidFill>
                      <a:srgbClr val="FF0000"/>
                    </a:solidFill>
                    <a:latin typeface="黑体" panose="02010609060101010101" pitchFamily="49" charset="-122"/>
                    <a:ea typeface="黑体" panose="02010609060101010101" pitchFamily="49" charset="-122"/>
                  </a:rPr>
                  <a:t>值的个数来将交点个数取</a:t>
                </a:r>
                <a:r>
                  <a:rPr lang="zh-CN" altLang="en-US" sz="2000" b="1" dirty="0" smtClean="0">
                    <a:solidFill>
                      <a:srgbClr val="FF0000"/>
                    </a:solidFill>
                    <a:latin typeface="黑体" panose="02010609060101010101" pitchFamily="49" charset="-122"/>
                    <a:ea typeface="黑体" panose="02010609060101010101" pitchFamily="49" charset="-122"/>
                  </a:rPr>
                  <a:t>为 </a:t>
                </a:r>
                <a:r>
                  <a:rPr lang="en-US" altLang="zh-CN" sz="2000" b="1" dirty="0" smtClean="0">
                    <a:solidFill>
                      <a:srgbClr val="FF0000"/>
                    </a:solidFill>
                    <a:latin typeface="黑体" panose="02010609060101010101" pitchFamily="49" charset="-122"/>
                    <a:ea typeface="黑体" panose="02010609060101010101" pitchFamily="49" charset="-122"/>
                  </a:rPr>
                  <a:t>0</a:t>
                </a:r>
                <a:r>
                  <a:rPr lang="zh-CN" altLang="en-US" sz="2000" b="1" dirty="0">
                    <a:solidFill>
                      <a:srgbClr val="FF0000"/>
                    </a:solidFill>
                    <a:latin typeface="黑体" panose="02010609060101010101" pitchFamily="49" charset="-122"/>
                    <a:ea typeface="黑体" panose="02010609060101010101" pitchFamily="49" charset="-122"/>
                  </a:rPr>
                  <a:t>、</a:t>
                </a:r>
                <a:r>
                  <a:rPr lang="en-US" altLang="zh-CN" sz="2000" b="1" dirty="0" smtClean="0">
                    <a:solidFill>
                      <a:srgbClr val="FF0000"/>
                    </a:solidFill>
                    <a:latin typeface="黑体" panose="02010609060101010101" pitchFamily="49" charset="-122"/>
                    <a:ea typeface="黑体" panose="02010609060101010101" pitchFamily="49" charset="-122"/>
                  </a:rPr>
                  <a:t>1 </a:t>
                </a:r>
                <a:r>
                  <a:rPr lang="zh-CN" altLang="en-US" sz="2000" b="1" dirty="0" smtClean="0">
                    <a:solidFill>
                      <a:srgbClr val="FF0000"/>
                    </a:solidFill>
                    <a:latin typeface="黑体" panose="02010609060101010101" pitchFamily="49" charset="-122"/>
                    <a:ea typeface="黑体" panose="02010609060101010101" pitchFamily="49" charset="-122"/>
                  </a:rPr>
                  <a:t>和 </a:t>
                </a:r>
                <a:r>
                  <a:rPr lang="en-US" altLang="zh-CN" sz="2000" b="1" dirty="0" smtClean="0">
                    <a:solidFill>
                      <a:srgbClr val="FF0000"/>
                    </a:solidFill>
                    <a:latin typeface="黑体" panose="02010609060101010101" pitchFamily="49" charset="-122"/>
                    <a:ea typeface="黑体" panose="02010609060101010101" pitchFamily="49" charset="-122"/>
                  </a:rPr>
                  <a:t>2</a:t>
                </a:r>
                <a:r>
                  <a:rPr lang="zh-CN" altLang="en-US" sz="2000" dirty="0">
                    <a:latin typeface="楷体_GB2312" pitchFamily="49" charset="-122"/>
                    <a:ea typeface="楷体_GB2312" pitchFamily="49" charset="-122"/>
                  </a:rPr>
                  <a:t>。事实上，有效边表算法能自动处理这三类顶点。</a:t>
                </a:r>
                <a:endParaRPr lang="zh-CN" altLang="en-US" sz="2000" dirty="0">
                  <a:latin typeface="楷体_GB2312" pitchFamily="49" charset="-122"/>
                  <a:ea typeface="楷体_GB2312" pitchFamily="49" charset="-122"/>
                </a:endParaRPr>
              </a:p>
            </p:txBody>
          </p:sp>
        </mc:Choice>
        <mc:Fallback>
          <p:sp>
            <p:nvSpPr>
              <p:cNvPr id="29708" name="Rectangle 14"/>
              <p:cNvSpPr>
                <a:spLocks noRot="1" noChangeAspect="1" noMove="1" noResize="1" noEditPoints="1" noAdjustHandles="1" noChangeArrowheads="1" noChangeShapeType="1" noTextEdit="1"/>
              </p:cNvSpPr>
              <p:nvPr/>
            </p:nvSpPr>
            <p:spPr bwMode="auto">
              <a:xfrm>
                <a:off x="323180" y="4437112"/>
                <a:ext cx="8497639" cy="1938992"/>
              </a:xfrm>
              <a:prstGeom prst="rect">
                <a:avLst/>
              </a:prstGeom>
              <a:blipFill rotWithShape="1">
                <a:blip r:embed="rId1"/>
                <a:stretch>
                  <a:fillRect l="-7" t="-19" b="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9709" name="Rectangle 16"/>
          <p:cNvSpPr>
            <a:spLocks noChangeArrowheads="1"/>
          </p:cNvSpPr>
          <p:nvPr/>
        </p:nvSpPr>
        <p:spPr bwMode="auto">
          <a:xfrm>
            <a:off x="0" y="233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9710" name="Rectangle 17"/>
          <p:cNvSpPr>
            <a:spLocks noChangeArrowheads="1"/>
          </p:cNvSpPr>
          <p:nvPr/>
        </p:nvSpPr>
        <p:spPr bwMode="auto">
          <a:xfrm>
            <a:off x="1187624" y="3209948"/>
            <a:ext cx="186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dirty="0">
                <a:latin typeface="楷体_GB2312" pitchFamily="49" charset="-122"/>
                <a:ea typeface="楷体_GB2312" pitchFamily="49" charset="-122"/>
              </a:rPr>
              <a:t>处理特殊点 </a:t>
            </a:r>
            <a:endParaRPr lang="zh-CN" altLang="en-US" dirty="0">
              <a:latin typeface="楷体_GB2312" pitchFamily="49" charset="-122"/>
              <a:ea typeface="楷体_GB2312" pitchFamily="49" charset="-122"/>
            </a:endParaRPr>
          </a:p>
        </p:txBody>
      </p:sp>
      <p:graphicFrame>
        <p:nvGraphicFramePr>
          <p:cNvPr id="29711" name="Object 18"/>
          <p:cNvGraphicFramePr>
            <a:graphicFrameLocks noChangeAspect="1"/>
          </p:cNvGraphicFramePr>
          <p:nvPr/>
        </p:nvGraphicFramePr>
        <p:xfrm>
          <a:off x="683568" y="404664"/>
          <a:ext cx="2665413" cy="2665413"/>
        </p:xfrm>
        <a:graphic>
          <a:graphicData uri="http://schemas.openxmlformats.org/presentationml/2006/ole">
            <mc:AlternateContent xmlns:mc="http://schemas.openxmlformats.org/markup-compatibility/2006">
              <mc:Choice xmlns:v="urn:schemas-microsoft-com:vml" Requires="v">
                <p:oleObj spid="_x0000_s29752" name="" r:id="rId2" imgW="6127750" imgH="6127750" progId="Visio.Drawing.11">
                  <p:embed/>
                </p:oleObj>
              </mc:Choice>
              <mc:Fallback>
                <p:oleObj name="" r:id="rId2" imgW="6127750" imgH="6127750" progId="Visio.Drawing.11">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04664"/>
                        <a:ext cx="2665413" cy="2665413"/>
                      </a:xfrm>
                      <a:prstGeom prst="rect">
                        <a:avLst/>
                      </a:prstGeom>
                      <a:noFill/>
                      <a:ln>
                        <a:noFill/>
                      </a:ln>
                    </p:spPr>
                  </p:pic>
                </p:oleObj>
              </mc:Fallback>
            </mc:AlternateContent>
          </a:graphicData>
        </a:graphic>
      </p:graphicFrame>
      <p:graphicFrame>
        <p:nvGraphicFramePr>
          <p:cNvPr id="17" name="Object 16"/>
          <p:cNvGraphicFramePr>
            <a:graphicFrameLocks noChangeAspect="1"/>
          </p:cNvGraphicFramePr>
          <p:nvPr/>
        </p:nvGraphicFramePr>
        <p:xfrm>
          <a:off x="3380549" y="2193178"/>
          <a:ext cx="2739247" cy="1830100"/>
        </p:xfrm>
        <a:graphic>
          <a:graphicData uri="http://schemas.openxmlformats.org/presentationml/2006/ole">
            <mc:AlternateContent xmlns:mc="http://schemas.openxmlformats.org/markup-compatibility/2006">
              <mc:Choice xmlns:v="urn:schemas-microsoft-com:vml" Requires="v">
                <p:oleObj spid="_x0000_s29753" name="" r:id="rId4" imgW="7647940" imgH="5118100" progId="Visio.Drawing.11">
                  <p:embed/>
                </p:oleObj>
              </mc:Choice>
              <mc:Fallback>
                <p:oleObj name="" r:id="rId4" imgW="7647940" imgH="5118100" progId="Visio.Drawing.11">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0549" y="2193178"/>
                        <a:ext cx="2739247" cy="1830100"/>
                      </a:xfrm>
                      <a:prstGeom prst="rect">
                        <a:avLst/>
                      </a:prstGeom>
                      <a:noFill/>
                      <a:ln>
                        <a:noFill/>
                      </a:ln>
                    </p:spPr>
                  </p:pic>
                </p:oleObj>
              </mc:Fallback>
            </mc:AlternateContent>
          </a:graphicData>
        </a:graphic>
      </p:graphicFrame>
      <p:graphicFrame>
        <p:nvGraphicFramePr>
          <p:cNvPr id="18" name="Object 17"/>
          <p:cNvGraphicFramePr>
            <a:graphicFrameLocks noChangeAspect="1"/>
          </p:cNvGraphicFramePr>
          <p:nvPr/>
        </p:nvGraphicFramePr>
        <p:xfrm>
          <a:off x="6119796" y="380244"/>
          <a:ext cx="2442309" cy="1631715"/>
        </p:xfrm>
        <a:graphic>
          <a:graphicData uri="http://schemas.openxmlformats.org/presentationml/2006/ole">
            <mc:AlternateContent xmlns:mc="http://schemas.openxmlformats.org/markup-compatibility/2006">
              <mc:Choice xmlns:v="urn:schemas-microsoft-com:vml" Requires="v">
                <p:oleObj spid="_x0000_s29754" name="" r:id="rId6" imgW="7647940" imgH="5118100" progId="Visio.Drawing.11">
                  <p:embed/>
                </p:oleObj>
              </mc:Choice>
              <mc:Fallback>
                <p:oleObj name="" r:id="rId6" imgW="7647940" imgH="5118100" progId="Visio.Drawing.11">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9796" y="380244"/>
                        <a:ext cx="2442309" cy="1631715"/>
                      </a:xfrm>
                      <a:prstGeom prst="rect">
                        <a:avLst/>
                      </a:prstGeom>
                      <a:noFill/>
                      <a:ln>
                        <a:noFill/>
                      </a:ln>
                    </p:spPr>
                  </p:pic>
                </p:oleObj>
              </mc:Fallback>
            </mc:AlternateContent>
          </a:graphicData>
        </a:graphic>
      </p:graphicFrame>
      <p:graphicFrame>
        <p:nvGraphicFramePr>
          <p:cNvPr id="19" name="Object 18"/>
          <p:cNvGraphicFramePr>
            <a:graphicFrameLocks noChangeAspect="1"/>
          </p:cNvGraphicFramePr>
          <p:nvPr/>
        </p:nvGraphicFramePr>
        <p:xfrm>
          <a:off x="3491880" y="380244"/>
          <a:ext cx="2303976" cy="1539548"/>
        </p:xfrm>
        <a:graphic>
          <a:graphicData uri="http://schemas.openxmlformats.org/presentationml/2006/ole">
            <mc:AlternateContent xmlns:mc="http://schemas.openxmlformats.org/markup-compatibility/2006">
              <mc:Choice xmlns:v="urn:schemas-microsoft-com:vml" Requires="v">
                <p:oleObj spid="_x0000_s29755" name="" r:id="rId8" imgW="7647940" imgH="5118100" progId="Visio.Drawing.11">
                  <p:embed/>
                </p:oleObj>
              </mc:Choice>
              <mc:Fallback>
                <p:oleObj name="" r:id="rId8" imgW="7647940" imgH="5118100" progId="Visio.Drawing.11">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1880" y="380244"/>
                        <a:ext cx="2303976" cy="1539548"/>
                      </a:xfrm>
                      <a:prstGeom prst="rect">
                        <a:avLst/>
                      </a:prstGeom>
                      <a:noFill/>
                      <a:ln>
                        <a:noFill/>
                      </a:ln>
                    </p:spPr>
                  </p:pic>
                </p:oleObj>
              </mc:Fallback>
            </mc:AlternateContent>
          </a:graphicData>
        </a:graphic>
      </p:graphicFrame>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592" y="3717032"/>
            <a:ext cx="1430337"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4"/>
          <p:cNvSpPr>
            <a:spLocks noChangeArrowheads="1"/>
          </p:cNvSpPr>
          <p:nvPr/>
        </p:nvSpPr>
        <p:spPr bwMode="auto">
          <a:xfrm>
            <a:off x="287176" y="311712"/>
            <a:ext cx="4752975"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ea typeface="楷体_GB2312" pitchFamily="49" charset="-122"/>
              </a:rPr>
              <a:t>4.2.3 </a:t>
            </a:r>
            <a:r>
              <a:rPr lang="zh-CN" altLang="en-US" sz="3200" b="1">
                <a:effectLst>
                  <a:outerShdw blurRad="38100" dist="38100" dir="2700000" algn="tl">
                    <a:srgbClr val="C0C0C0"/>
                  </a:outerShdw>
                </a:effectLst>
                <a:latin typeface="楷体_GB2312" pitchFamily="49" charset="-122"/>
                <a:ea typeface="楷体_GB2312" pitchFamily="49" charset="-122"/>
              </a:rPr>
              <a:t>有效边与有效边表</a:t>
            </a:r>
            <a:r>
              <a:rPr lang="zh-CN" altLang="en-US"/>
              <a:t>  </a:t>
            </a:r>
            <a:endParaRPr lang="zh-CN" altLang="en-US"/>
          </a:p>
        </p:txBody>
      </p:sp>
      <p:sp>
        <p:nvSpPr>
          <p:cNvPr id="31748" name="Rectangle 5"/>
          <p:cNvSpPr>
            <a:spLocks noChangeArrowheads="1"/>
          </p:cNvSpPr>
          <p:nvPr/>
        </p:nvSpPr>
        <p:spPr bwMode="auto">
          <a:xfrm>
            <a:off x="394767" y="1147052"/>
            <a:ext cx="1411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有效边</a:t>
            </a:r>
            <a:endParaRPr lang="zh-CN" altLang="en-US" b="1" dirty="0">
              <a:latin typeface="楷体_GB2312" pitchFamily="49" charset="-122"/>
              <a:ea typeface="楷体_GB2312" pitchFamily="49" charset="-122"/>
            </a:endParaRPr>
          </a:p>
        </p:txBody>
      </p:sp>
      <mc:AlternateContent xmlns:mc="http://schemas.openxmlformats.org/markup-compatibility/2006">
        <mc:Choice xmlns:a14="http://schemas.microsoft.com/office/drawing/2010/main" Requires="a14">
          <p:sp>
            <p:nvSpPr>
              <p:cNvPr id="31749" name="Rectangle 6"/>
              <p:cNvSpPr>
                <a:spLocks noChangeArrowheads="1"/>
              </p:cNvSpPr>
              <p:nvPr/>
            </p:nvSpPr>
            <p:spPr bwMode="auto">
              <a:xfrm>
                <a:off x="287176" y="1585586"/>
                <a:ext cx="856964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en-US" sz="2000" dirty="0" smtClean="0">
                    <a:latin typeface="楷体_GB2312" pitchFamily="49" charset="-122"/>
                    <a:ea typeface="楷体_GB2312" pitchFamily="49" charset="-122"/>
                  </a:rPr>
                  <a:t>多边形</a:t>
                </a:r>
                <a:r>
                  <a:rPr lang="zh-CN" altLang="en-US" sz="2000" dirty="0">
                    <a:latin typeface="楷体_GB2312" pitchFamily="49" charset="-122"/>
                    <a:ea typeface="楷体_GB2312" pitchFamily="49" charset="-122"/>
                  </a:rPr>
                  <a:t>与</a:t>
                </a:r>
                <a:r>
                  <a:rPr lang="zh-CN" altLang="en-US" sz="2000" b="1" dirty="0">
                    <a:solidFill>
                      <a:srgbClr val="FF0000"/>
                    </a:solidFill>
                    <a:latin typeface="黑体" panose="02010609060101010101" pitchFamily="49" charset="-122"/>
                    <a:ea typeface="黑体" panose="02010609060101010101" pitchFamily="49" charset="-122"/>
                  </a:rPr>
                  <a:t>当前扫描线</a:t>
                </a:r>
                <a:r>
                  <a:rPr lang="zh-CN" altLang="en-US" sz="2000" dirty="0">
                    <a:latin typeface="楷体_GB2312" pitchFamily="49" charset="-122"/>
                    <a:ea typeface="楷体_GB2312" pitchFamily="49" charset="-122"/>
                  </a:rPr>
                  <a:t>相交的边称为</a:t>
                </a:r>
                <a:r>
                  <a:rPr lang="zh-CN" altLang="en-US" sz="2000" b="1" dirty="0">
                    <a:solidFill>
                      <a:srgbClr val="FF0000"/>
                    </a:solidFill>
                    <a:latin typeface="黑体" panose="02010609060101010101" pitchFamily="49" charset="-122"/>
                    <a:ea typeface="黑体" panose="02010609060101010101" pitchFamily="49" charset="-122"/>
                  </a:rPr>
                  <a:t>有效边</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active edge</a:t>
                </a:r>
                <a:r>
                  <a:rPr lang="zh-CN" altLang="en-US" sz="2000" dirty="0">
                    <a:latin typeface="楷体_GB2312" pitchFamily="49" charset="-122"/>
                    <a:ea typeface="楷体_GB2312" pitchFamily="49" charset="-122"/>
                  </a:rPr>
                  <a:t>）。在处理一条扫描线时</a:t>
                </a:r>
                <a:r>
                  <a:rPr lang="zh-CN" altLang="en-US" sz="2000" b="1" dirty="0">
                    <a:solidFill>
                      <a:srgbClr val="FF0000"/>
                    </a:solidFill>
                    <a:latin typeface="黑体" panose="02010609060101010101" pitchFamily="49" charset="-122"/>
                    <a:ea typeface="黑体" panose="02010609060101010101" pitchFamily="49" charset="-122"/>
                  </a:rPr>
                  <a:t>仅对有效边进行求交运算</a:t>
                </a:r>
                <a:r>
                  <a:rPr lang="zh-CN" altLang="en-US" sz="2000" dirty="0">
                    <a:latin typeface="楷体_GB2312" pitchFamily="49" charset="-122"/>
                    <a:ea typeface="楷体_GB2312" pitchFamily="49" charset="-122"/>
                  </a:rPr>
                  <a:t>，可以</a:t>
                </a:r>
                <a:r>
                  <a:rPr lang="zh-CN" altLang="en-US" sz="2000" b="1" dirty="0">
                    <a:solidFill>
                      <a:srgbClr val="3366FF"/>
                    </a:solidFill>
                    <a:latin typeface="方正粗黑宋简体" panose="02000000000000000000" pitchFamily="2" charset="-122"/>
                    <a:ea typeface="方正粗黑宋简体" panose="02000000000000000000" pitchFamily="2" charset="-122"/>
                  </a:rPr>
                  <a:t>避免与多边形的所有边求交</a:t>
                </a:r>
                <a:r>
                  <a:rPr lang="zh-CN" altLang="en-US" sz="2000" dirty="0">
                    <a:latin typeface="楷体_GB2312" pitchFamily="49" charset="-122"/>
                    <a:ea typeface="楷体_GB2312" pitchFamily="49" charset="-122"/>
                  </a:rPr>
                  <a:t>，提高了算法效率。有效边上的扫描线由起点到终点每次</a:t>
                </a:r>
                <a:r>
                  <a:rPr lang="zh-CN" altLang="en-US" sz="2000" dirty="0" smtClean="0">
                    <a:latin typeface="楷体_GB2312" pitchFamily="49" charset="-122"/>
                    <a:ea typeface="楷体_GB2312" pitchFamily="49" charset="-122"/>
                  </a:rPr>
                  <a:t>加 </a:t>
                </a:r>
                <a:r>
                  <a:rPr lang="en-US" altLang="zh-CN" sz="2000" dirty="0" smtClean="0">
                    <a:latin typeface="楷体_GB2312" pitchFamily="49" charset="-122"/>
                    <a:ea typeface="楷体_GB2312" pitchFamily="49" charset="-122"/>
                  </a:rPr>
                  <a:t>1</a:t>
                </a:r>
                <a:r>
                  <a:rPr lang="zh-CN" altLang="en-US" sz="2000" dirty="0">
                    <a:latin typeface="楷体_GB2312" pitchFamily="49" charset="-122"/>
                    <a:ea typeface="楷体_GB2312" pitchFamily="49" charset="-122"/>
                  </a:rPr>
                  <a:t>，即像素点</a:t>
                </a:r>
                <a:r>
                  <a:rPr lang="zh-CN" altLang="en-US" sz="2000" dirty="0" smtClean="0">
                    <a:latin typeface="楷体_GB2312" pitchFamily="49" charset="-122"/>
                    <a:ea typeface="楷体_GB2312" pitchFamily="49" charset="-122"/>
                  </a:rPr>
                  <a:t>的 </a:t>
                </a:r>
                <a14:m>
                  <m:oMath xmlns:m="http://schemas.openxmlformats.org/officeDocument/2006/math">
                    <m:r>
                      <a:rPr lang="en-US" altLang="zh-CN" sz="2000" b="1" i="1" smtClean="0">
                        <a:solidFill>
                          <a:srgbClr val="3366FF"/>
                        </a:solidFill>
                        <a:latin typeface="Cambria Math" panose="02040503050406030204" pitchFamily="18" charset="0"/>
                        <a:ea typeface="黑体" panose="02010609060101010101" pitchFamily="49" charset="-122"/>
                      </a:rPr>
                      <m:t>𝒚</m:t>
                    </m:r>
                  </m:oMath>
                </a14:m>
                <a:r>
                  <a:rPr lang="zh-CN" altLang="en-US" sz="2000" dirty="0" smtClean="0">
                    <a:latin typeface="楷体_GB2312" pitchFamily="49" charset="-122"/>
                    <a:ea typeface="楷体_GB2312" pitchFamily="49" charset="-122"/>
                  </a:rPr>
                  <a:t> </a:t>
                </a:r>
                <a:r>
                  <a:rPr lang="zh-CN" altLang="en-US" sz="2000" dirty="0">
                    <a:latin typeface="楷体_GB2312" pitchFamily="49" charset="-122"/>
                    <a:ea typeface="楷体_GB2312" pitchFamily="49" charset="-122"/>
                  </a:rPr>
                  <a:t>坐标</a:t>
                </a:r>
                <a:r>
                  <a:rPr lang="zh-CN" altLang="en-US" sz="2000" dirty="0" smtClean="0">
                    <a:latin typeface="楷体_GB2312" pitchFamily="49" charset="-122"/>
                    <a:ea typeface="楷体_GB2312" pitchFamily="49" charset="-122"/>
                  </a:rPr>
                  <a:t>为 </a:t>
                </a:r>
                <a14:m>
                  <m:oMath xmlns:m="http://schemas.openxmlformats.org/officeDocument/2006/math">
                    <m:r>
                      <a:rPr lang="en-US" altLang="zh-CN" sz="2000" b="1" i="1">
                        <a:solidFill>
                          <a:srgbClr val="FF0000"/>
                        </a:solidFill>
                        <a:latin typeface="Cambria Math" panose="02040503050406030204" pitchFamily="18" charset="0"/>
                        <a:ea typeface="黑体" panose="02010609060101010101" pitchFamily="49" charset="-122"/>
                      </a:rPr>
                      <m:t>𝒚</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𝒚</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𝟏</m:t>
                    </m:r>
                  </m:oMath>
                </a14:m>
                <a:r>
                  <a:rPr lang="zh-CN" altLang="en-US" sz="2000" dirty="0">
                    <a:latin typeface="楷体_GB2312" pitchFamily="49" charset="-122"/>
                    <a:ea typeface="楷体_GB2312" pitchFamily="49" charset="-122"/>
                  </a:rPr>
                  <a:t>，</a:t>
                </a:r>
                <a14:m>
                  <m:oMath xmlns:m="http://schemas.openxmlformats.org/officeDocument/2006/math">
                    <m:r>
                      <a:rPr lang="en-US" altLang="zh-CN" sz="2000" b="1" i="1" smtClean="0">
                        <a:solidFill>
                          <a:srgbClr val="FF0000"/>
                        </a:solidFill>
                        <a:latin typeface="Cambria Math" panose="02040503050406030204" pitchFamily="18" charset="0"/>
                        <a:ea typeface="黑体" panose="02010609060101010101" pitchFamily="49" charset="-122"/>
                      </a:rPr>
                      <m:t>𝒙</m:t>
                    </m:r>
                  </m:oMath>
                </a14:m>
                <a:r>
                  <a:rPr lang="zh-CN" altLang="en-US" sz="2000" dirty="0" smtClean="0">
                    <a:latin typeface="楷体_GB2312" pitchFamily="49" charset="-122"/>
                    <a:ea typeface="楷体_GB2312" pitchFamily="49" charset="-122"/>
                  </a:rPr>
                  <a:t> </a:t>
                </a:r>
                <a:r>
                  <a:rPr lang="zh-CN" altLang="en-US" sz="2000" dirty="0">
                    <a:latin typeface="楷体_GB2312" pitchFamily="49" charset="-122"/>
                    <a:ea typeface="楷体_GB2312" pitchFamily="49" charset="-122"/>
                  </a:rPr>
                  <a:t>坐标的变化可以按如下方法推导。</a:t>
                </a:r>
                <a:endParaRPr lang="zh-CN" altLang="en-US" sz="2000" dirty="0">
                  <a:latin typeface="楷体_GB2312" pitchFamily="49" charset="-122"/>
                  <a:ea typeface="楷体_GB2312" pitchFamily="49" charset="-122"/>
                </a:endParaRPr>
              </a:p>
            </p:txBody>
          </p:sp>
        </mc:Choice>
        <mc:Fallback>
          <p:sp>
            <p:nvSpPr>
              <p:cNvPr id="31749" name="Rectangle 6"/>
              <p:cNvSpPr>
                <a:spLocks noRot="1" noChangeAspect="1" noMove="1" noResize="1" noEditPoints="1" noAdjustHandles="1" noChangeArrowheads="1" noChangeShapeType="1" noTextEdit="1"/>
              </p:cNvSpPr>
              <p:nvPr/>
            </p:nvSpPr>
            <p:spPr bwMode="auto">
              <a:xfrm>
                <a:off x="287176" y="1585586"/>
                <a:ext cx="8569647" cy="1938992"/>
              </a:xfrm>
              <a:prstGeom prst="rect">
                <a:avLst/>
              </a:prstGeom>
              <a:blipFill rotWithShape="1">
                <a:blip r:embed="rId2"/>
                <a:stretch>
                  <a:fillRect l="-2" t="-32" r="6" b="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751" name="Text Box 10"/>
              <p:cNvSpPr txBox="1">
                <a:spLocks noChangeArrowheads="1"/>
              </p:cNvSpPr>
              <p:nvPr/>
            </p:nvSpPr>
            <p:spPr bwMode="auto">
              <a:xfrm>
                <a:off x="2266429" y="4005957"/>
                <a:ext cx="15128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d>
                        <m:dPr>
                          <m:ctrlPr>
                            <a:rPr lang="en-US" altLang="zh-CN" sz="2000" b="1" i="1" smtClean="0">
                              <a:solidFill>
                                <a:srgbClr val="FF0000"/>
                              </a:solidFill>
                              <a:latin typeface="Cambria Math" panose="02040503050406030204" pitchFamily="18" charset="0"/>
                              <a:ea typeface="黑体" panose="02010609060101010101" pitchFamily="49" charset="-122"/>
                            </a:rPr>
                          </m:ctrlPr>
                        </m:dPr>
                        <m:e>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a:solidFill>
                                    <a:srgbClr val="FF0000"/>
                                  </a:solidFill>
                                  <a:latin typeface="Cambria Math" panose="02040503050406030204" pitchFamily="18" charset="0"/>
                                  <a:ea typeface="黑体" panose="02010609060101010101" pitchFamily="49" charset="-122"/>
                                </a:rPr>
                                <m:t>𝒙</m:t>
                              </m:r>
                            </m:e>
                            <m:sub>
                              <m:r>
                                <a:rPr lang="en-US" altLang="zh-CN" sz="2000" b="1" i="1" smtClean="0">
                                  <a:solidFill>
                                    <a:srgbClr val="FF0000"/>
                                  </a:solidFill>
                                  <a:latin typeface="Cambria Math" panose="02040503050406030204" pitchFamily="18" charset="0"/>
                                  <a:ea typeface="黑体" panose="02010609060101010101" pitchFamily="49" charset="-122"/>
                                </a:rPr>
                                <m:t>𝒊</m:t>
                              </m:r>
                              <m:r>
                                <a:rPr lang="en-US" altLang="zh-CN" sz="2000" b="1" i="1" smtClean="0">
                                  <a:solidFill>
                                    <a:srgbClr val="FF0000"/>
                                  </a:solidFill>
                                  <a:latin typeface="Cambria Math" panose="02040503050406030204" pitchFamily="18" charset="0"/>
                                  <a:ea typeface="黑体" panose="02010609060101010101" pitchFamily="49" charset="-122"/>
                                </a:rPr>
                                <m:t>+</m:t>
                              </m:r>
                              <m:r>
                                <a:rPr lang="en-US" altLang="zh-CN" sz="2000" b="1" i="1" smtClean="0">
                                  <a:solidFill>
                                    <a:srgbClr val="FF0000"/>
                                  </a:solidFill>
                                  <a:latin typeface="Cambria Math" panose="02040503050406030204" pitchFamily="18" charset="0"/>
                                  <a:ea typeface="黑体" panose="02010609060101010101" pitchFamily="49" charset="-122"/>
                                </a:rPr>
                                <m:t>𝟏</m:t>
                              </m:r>
                            </m:sub>
                          </m:sSub>
                          <m:r>
                            <a:rPr lang="en-US" altLang="zh-CN" sz="2000" b="1" i="1" smtClean="0">
                              <a:solidFill>
                                <a:srgbClr val="FF0000"/>
                              </a:solidFill>
                              <a:latin typeface="Cambria Math" panose="02040503050406030204" pitchFamily="18" charset="0"/>
                              <a:ea typeface="黑体" panose="02010609060101010101" pitchFamily="49" charset="-122"/>
                            </a:rPr>
                            <m:t>,</m:t>
                          </m:r>
                          <m:sSub>
                            <m:sSubPr>
                              <m:ctrlPr>
                                <a:rPr lang="en-US" altLang="zh-CN" sz="2000" b="1" i="1">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𝒚</m:t>
                              </m:r>
                            </m:e>
                            <m:sub>
                              <m:r>
                                <a:rPr lang="en-US" altLang="zh-CN" sz="2000" b="1" i="1">
                                  <a:solidFill>
                                    <a:srgbClr val="FF0000"/>
                                  </a:solidFill>
                                  <a:latin typeface="Cambria Math" panose="02040503050406030204" pitchFamily="18" charset="0"/>
                                  <a:ea typeface="黑体" panose="02010609060101010101" pitchFamily="49" charset="-122"/>
                                </a:rPr>
                                <m:t>𝒊</m:t>
                              </m:r>
                              <m:r>
                                <a:rPr lang="en-US" altLang="zh-CN" sz="2000" b="1" i="1">
                                  <a:solidFill>
                                    <a:srgbClr val="FF0000"/>
                                  </a:solidFill>
                                  <a:latin typeface="Cambria Math" panose="02040503050406030204" pitchFamily="18" charset="0"/>
                                  <a:ea typeface="黑体" panose="02010609060101010101" pitchFamily="49" charset="-122"/>
                                </a:rPr>
                                <m:t>+</m:t>
                              </m:r>
                              <m:r>
                                <a:rPr lang="en-US" altLang="zh-CN" sz="2000" b="1" i="1">
                                  <a:solidFill>
                                    <a:srgbClr val="FF0000"/>
                                  </a:solidFill>
                                  <a:latin typeface="Cambria Math" panose="02040503050406030204" pitchFamily="18" charset="0"/>
                                  <a:ea typeface="黑体" panose="02010609060101010101" pitchFamily="49" charset="-122"/>
                                </a:rPr>
                                <m:t>𝟏</m:t>
                              </m:r>
                            </m:sub>
                          </m:sSub>
                        </m:e>
                      </m:d>
                    </m:oMath>
                  </m:oMathPara>
                </a14:m>
                <a:endParaRPr lang="zh-CN" altLang="en-US" sz="2000" dirty="0">
                  <a:latin typeface="Arial" panose="020B0604020202020204" pitchFamily="34" charset="0"/>
                </a:endParaRPr>
              </a:p>
            </p:txBody>
          </p:sp>
        </mc:Choice>
        <mc:Fallback>
          <p:sp>
            <p:nvSpPr>
              <p:cNvPr id="31751" name="Text Box 10"/>
              <p:cNvSpPr txBox="1">
                <a:spLocks noRot="1" noChangeAspect="1" noMove="1" noResize="1" noEditPoints="1" noAdjustHandles="1" noChangeArrowheads="1" noChangeShapeType="1" noTextEdit="1"/>
              </p:cNvSpPr>
              <p:nvPr/>
            </p:nvSpPr>
            <p:spPr bwMode="auto">
              <a:xfrm>
                <a:off x="2266429" y="4005957"/>
                <a:ext cx="1512888" cy="360363"/>
              </a:xfrm>
              <a:prstGeom prst="rect">
                <a:avLst/>
              </a:prstGeom>
              <a:blipFill rotWithShape="1">
                <a:blip r:embed="rId3"/>
                <a:stretch>
                  <a:fillRect l="-8" t="-105" r="29" b="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1752" name="Text Box 9"/>
          <p:cNvSpPr txBox="1">
            <a:spLocks noChangeArrowheads="1"/>
          </p:cNvSpPr>
          <p:nvPr/>
        </p:nvSpPr>
        <p:spPr bwMode="auto">
          <a:xfrm>
            <a:off x="2115617" y="4580632"/>
            <a:ext cx="1444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1</a:t>
            </a:r>
            <a:endParaRPr lang="en-US" altLang="zh-CN" sz="2000">
              <a:latin typeface="Arial" panose="020B0604020202020204" pitchFamily="34" charset="0"/>
            </a:endParaRPr>
          </a:p>
        </p:txBody>
      </p:sp>
      <p:sp>
        <p:nvSpPr>
          <p:cNvPr id="31753" name="Text Box 8"/>
          <p:cNvSpPr txBox="1">
            <a:spLocks noChangeArrowheads="1"/>
          </p:cNvSpPr>
          <p:nvPr/>
        </p:nvSpPr>
        <p:spPr bwMode="auto">
          <a:xfrm>
            <a:off x="1763192" y="5229920"/>
            <a:ext cx="43815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1/k</a:t>
            </a:r>
            <a:endParaRPr lang="en-US" altLang="zh-CN" sz="2000">
              <a:latin typeface="Arial" panose="020B0604020202020204" pitchFamily="34" charset="0"/>
            </a:endParaRPr>
          </a:p>
        </p:txBody>
      </p:sp>
      <p:sp>
        <p:nvSpPr>
          <p:cNvPr id="31754" name="Rectangle 12"/>
          <p:cNvSpPr>
            <a:spLocks noChangeArrowheads="1"/>
          </p:cNvSpPr>
          <p:nvPr/>
        </p:nvSpPr>
        <p:spPr bwMode="auto">
          <a:xfrm>
            <a:off x="0" y="2201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ndParaRPr>
          </a:p>
        </p:txBody>
      </p:sp>
      <p:sp>
        <p:nvSpPr>
          <p:cNvPr id="31755" name="Rectangle 13"/>
          <p:cNvSpPr>
            <a:spLocks noChangeArrowheads="1"/>
          </p:cNvSpPr>
          <p:nvPr/>
        </p:nvSpPr>
        <p:spPr bwMode="auto">
          <a:xfrm>
            <a:off x="0" y="2201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1756" name="Rectangle 14"/>
          <p:cNvSpPr>
            <a:spLocks noChangeArrowheads="1"/>
          </p:cNvSpPr>
          <p:nvPr/>
        </p:nvSpPr>
        <p:spPr bwMode="auto">
          <a:xfrm>
            <a:off x="394767" y="6093520"/>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a:latin typeface="楷体_GB2312" pitchFamily="49" charset="-122"/>
                <a:ea typeface="楷体_GB2312" pitchFamily="49" charset="-122"/>
              </a:rPr>
              <a:t>有效边交点相关性</a:t>
            </a:r>
            <a:endParaRPr lang="zh-CN" altLang="en-US" dirty="0">
              <a:latin typeface="楷体_GB2312" pitchFamily="49" charset="-122"/>
              <a:ea typeface="楷体_GB2312" pitchFamily="49" charset="-122"/>
            </a:endParaRPr>
          </a:p>
        </p:txBody>
      </p:sp>
      <mc:AlternateContent xmlns:mc="http://schemas.openxmlformats.org/markup-compatibility/2006">
        <mc:Choice xmlns:a14="http://schemas.microsoft.com/office/drawing/2010/main" Requires="a14">
          <p:sp>
            <p:nvSpPr>
              <p:cNvPr id="13" name="Text Box 10"/>
              <p:cNvSpPr txBox="1">
                <a:spLocks noChangeArrowheads="1"/>
              </p:cNvSpPr>
              <p:nvPr/>
            </p:nvSpPr>
            <p:spPr bwMode="auto">
              <a:xfrm>
                <a:off x="411546" y="4689376"/>
                <a:ext cx="15128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d>
                        <m:dPr>
                          <m:ctrlPr>
                            <a:rPr lang="en-US" altLang="zh-CN" sz="2000" b="1" i="1" smtClean="0">
                              <a:solidFill>
                                <a:srgbClr val="FF0000"/>
                              </a:solidFill>
                              <a:latin typeface="Cambria Math" panose="02040503050406030204" pitchFamily="18" charset="0"/>
                              <a:ea typeface="黑体" panose="02010609060101010101" pitchFamily="49" charset="-122"/>
                            </a:rPr>
                          </m:ctrlPr>
                        </m:dPr>
                        <m:e>
                          <m:sSub>
                            <m:sSubPr>
                              <m:ctrlPr>
                                <a:rPr lang="en-US" altLang="zh-CN" sz="2000" b="1" i="1" smtClean="0">
                                  <a:solidFill>
                                    <a:srgbClr val="FF0000"/>
                                  </a:solidFill>
                                  <a:latin typeface="Cambria Math" panose="02040503050406030204" pitchFamily="18" charset="0"/>
                                  <a:ea typeface="黑体" panose="02010609060101010101" pitchFamily="49" charset="-122"/>
                                </a:rPr>
                              </m:ctrlPr>
                            </m:sSubPr>
                            <m:e>
                              <m:r>
                                <a:rPr lang="en-US" altLang="zh-CN" sz="2000" b="1" i="1">
                                  <a:solidFill>
                                    <a:srgbClr val="FF0000"/>
                                  </a:solidFill>
                                  <a:latin typeface="Cambria Math" panose="02040503050406030204" pitchFamily="18" charset="0"/>
                                  <a:ea typeface="黑体" panose="02010609060101010101" pitchFamily="49" charset="-122"/>
                                </a:rPr>
                                <m:t>𝒙</m:t>
                              </m:r>
                            </m:e>
                            <m:sub>
                              <m:r>
                                <a:rPr lang="en-US" altLang="zh-CN" sz="2000" b="1" i="1" smtClean="0">
                                  <a:solidFill>
                                    <a:srgbClr val="FF0000"/>
                                  </a:solidFill>
                                  <a:latin typeface="Cambria Math" panose="02040503050406030204" pitchFamily="18" charset="0"/>
                                  <a:ea typeface="黑体" panose="02010609060101010101" pitchFamily="49" charset="-122"/>
                                </a:rPr>
                                <m:t>𝒊</m:t>
                              </m:r>
                            </m:sub>
                          </m:sSub>
                          <m:r>
                            <a:rPr lang="en-US" altLang="zh-CN" sz="2000" b="1" i="1" smtClean="0">
                              <a:solidFill>
                                <a:srgbClr val="FF0000"/>
                              </a:solidFill>
                              <a:latin typeface="Cambria Math" panose="02040503050406030204" pitchFamily="18" charset="0"/>
                              <a:ea typeface="黑体" panose="02010609060101010101" pitchFamily="49" charset="-122"/>
                            </a:rPr>
                            <m:t>,</m:t>
                          </m:r>
                          <m:sSub>
                            <m:sSubPr>
                              <m:ctrlPr>
                                <a:rPr lang="en-US" altLang="zh-CN" sz="2000" b="1" i="1">
                                  <a:solidFill>
                                    <a:srgbClr val="FF0000"/>
                                  </a:solidFill>
                                  <a:latin typeface="Cambria Math" panose="02040503050406030204" pitchFamily="18" charset="0"/>
                                  <a:ea typeface="黑体" panose="02010609060101010101" pitchFamily="49" charset="-122"/>
                                </a:rPr>
                              </m:ctrlPr>
                            </m:sSubPr>
                            <m:e>
                              <m:r>
                                <a:rPr lang="en-US" altLang="zh-CN" sz="2000" b="1" i="1" smtClean="0">
                                  <a:solidFill>
                                    <a:srgbClr val="FF0000"/>
                                  </a:solidFill>
                                  <a:latin typeface="Cambria Math" panose="02040503050406030204" pitchFamily="18" charset="0"/>
                                  <a:ea typeface="黑体" panose="02010609060101010101" pitchFamily="49" charset="-122"/>
                                </a:rPr>
                                <m:t>𝒚</m:t>
                              </m:r>
                            </m:e>
                            <m:sub>
                              <m:r>
                                <a:rPr lang="en-US" altLang="zh-CN" sz="2000" b="1" i="1">
                                  <a:solidFill>
                                    <a:srgbClr val="FF0000"/>
                                  </a:solidFill>
                                  <a:latin typeface="Cambria Math" panose="02040503050406030204" pitchFamily="18" charset="0"/>
                                  <a:ea typeface="黑体" panose="02010609060101010101" pitchFamily="49" charset="-122"/>
                                </a:rPr>
                                <m:t>𝒊</m:t>
                              </m:r>
                            </m:sub>
                          </m:sSub>
                        </m:e>
                      </m:d>
                    </m:oMath>
                  </m:oMathPara>
                </a14:m>
                <a:endParaRPr lang="zh-CN" altLang="en-US" sz="2000" dirty="0">
                  <a:latin typeface="Arial" panose="020B0604020202020204" pitchFamily="34" charset="0"/>
                </a:endParaRPr>
              </a:p>
            </p:txBody>
          </p:sp>
        </mc:Choice>
        <mc:Fallback>
          <p:sp>
            <p:nvSpPr>
              <p:cNvPr id="13" name="Text Box 10"/>
              <p:cNvSpPr txBox="1">
                <a:spLocks noRot="1" noChangeAspect="1" noMove="1" noResize="1" noEditPoints="1" noAdjustHandles="1" noChangeArrowheads="1" noChangeShapeType="1" noTextEdit="1"/>
              </p:cNvSpPr>
              <p:nvPr/>
            </p:nvSpPr>
            <p:spPr bwMode="auto">
              <a:xfrm>
                <a:off x="411546" y="4689376"/>
                <a:ext cx="1512888" cy="360363"/>
              </a:xfrm>
              <a:prstGeom prst="rect">
                <a:avLst/>
              </a:prstGeom>
              <a:blipFill rotWithShape="1">
                <a:blip r:embed="rId4"/>
                <a:stretch>
                  <a:fillRect l="-4" t="-149" r="25" b="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 name="Rectangle 4"/>
          <p:cNvSpPr>
            <a:spLocks noChangeArrowheads="1"/>
          </p:cNvSpPr>
          <p:nvPr/>
        </p:nvSpPr>
        <p:spPr bwMode="auto">
          <a:xfrm>
            <a:off x="4152461" y="3424986"/>
            <a:ext cx="1717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有效边表</a:t>
            </a:r>
            <a:endParaRPr lang="zh-CN" altLang="en-US" b="1">
              <a:latin typeface="楷体_GB2312" pitchFamily="49" charset="-122"/>
              <a:ea typeface="楷体_GB2312" pitchFamily="49" charset="-122"/>
            </a:endParaRPr>
          </a:p>
        </p:txBody>
      </p:sp>
      <p:graphicFrame>
        <p:nvGraphicFramePr>
          <p:cNvPr id="15" name="Object 5"/>
          <p:cNvGraphicFramePr>
            <a:graphicFrameLocks noChangeAspect="1"/>
          </p:cNvGraphicFramePr>
          <p:nvPr/>
        </p:nvGraphicFramePr>
        <p:xfrm>
          <a:off x="4283968" y="4019067"/>
          <a:ext cx="4271991" cy="545250"/>
        </p:xfrm>
        <a:graphic>
          <a:graphicData uri="http://schemas.openxmlformats.org/presentationml/2006/ole">
            <mc:AlternateContent xmlns:mc="http://schemas.openxmlformats.org/markup-compatibility/2006">
              <mc:Choice xmlns:v="urn:schemas-microsoft-com:vml" Requires="v">
                <p:oleObj spid="_x0000_s66566" name="" r:id="rId5" imgW="6875145" imgH="902970" progId="Visio.Drawing.11">
                  <p:embed/>
                </p:oleObj>
              </mc:Choice>
              <mc:Fallback>
                <p:oleObj name="" r:id="rId5" imgW="6875145" imgH="902970" progId="Visio.Drawing.11">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3968" y="4019067"/>
                        <a:ext cx="4271991" cy="545250"/>
                      </a:xfrm>
                      <a:prstGeom prst="rect">
                        <a:avLst/>
                      </a:prstGeom>
                      <a:noFill/>
                      <a:ln>
                        <a:noFill/>
                      </a:ln>
                    </p:spPr>
                  </p:pic>
                </p:oleObj>
              </mc:Fallback>
            </mc:AlternateContent>
          </a:graphicData>
        </a:graphic>
      </p:graphicFrame>
      <p:sp>
        <p:nvSpPr>
          <p:cNvPr id="16" name="Rectangle 7"/>
          <p:cNvSpPr>
            <a:spLocks noChangeArrowheads="1"/>
          </p:cNvSpPr>
          <p:nvPr/>
        </p:nvSpPr>
        <p:spPr bwMode="auto">
          <a:xfrm>
            <a:off x="6732240" y="3547755"/>
            <a:ext cx="15183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600" dirty="0">
                <a:latin typeface="楷体_GB2312" pitchFamily="49" charset="-122"/>
                <a:ea typeface="楷体_GB2312" pitchFamily="49" charset="-122"/>
              </a:rPr>
              <a:t>有效边表结点 </a:t>
            </a:r>
            <a:endParaRPr lang="zh-CN" altLang="en-US" sz="1600" dirty="0">
              <a:latin typeface="楷体_GB2312" pitchFamily="49" charset="-122"/>
              <a:ea typeface="楷体_GB2312" pitchFamily="49" charset="-122"/>
            </a:endParaRPr>
          </a:p>
        </p:txBody>
      </p:sp>
      <p:sp>
        <p:nvSpPr>
          <p:cNvPr id="17" name="Rectangle 9"/>
          <p:cNvSpPr>
            <a:spLocks noChangeArrowheads="1"/>
          </p:cNvSpPr>
          <p:nvPr/>
        </p:nvSpPr>
        <p:spPr bwMode="auto">
          <a:xfrm>
            <a:off x="4073891" y="4689376"/>
            <a:ext cx="417671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733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600" dirty="0">
                <a:latin typeface="Times New Roman" panose="02020603050405020304" pitchFamily="18" charset="0"/>
              </a:rPr>
              <a:t>class CAET</a:t>
            </a:r>
            <a:endParaRPr lang="zh-CN" altLang="en-US" sz="1600" dirty="0"/>
          </a:p>
          <a:p>
            <a:r>
              <a:rPr lang="en-US" altLang="zh-CN" sz="1600" dirty="0" smtClean="0">
                <a:latin typeface="Times New Roman" panose="02020603050405020304" pitchFamily="18" charset="0"/>
              </a:rPr>
              <a:t>{public</a:t>
            </a:r>
            <a:r>
              <a:rPr lang="en-US" altLang="zh-CN" sz="1600" dirty="0">
                <a:latin typeface="Times New Roman" panose="02020603050405020304" pitchFamily="18" charset="0"/>
              </a:rPr>
              <a:t>:</a:t>
            </a:r>
            <a:endParaRPr lang="en-US" altLang="zh-CN" sz="1600" dirty="0"/>
          </a:p>
          <a:p>
            <a:r>
              <a:rPr lang="en-US" altLang="zh-CN" sz="1600" dirty="0">
                <a:latin typeface="Times New Roman" panose="02020603050405020304" pitchFamily="18" charset="0"/>
              </a:rPr>
              <a:t>          CAET ();                 </a:t>
            </a:r>
            <a:endParaRPr lang="zh-CN" altLang="en-US" sz="1600" dirty="0"/>
          </a:p>
          <a:p>
            <a:r>
              <a:rPr lang="zh-CN" altLang="en-US" sz="1600" dirty="0">
                <a:latin typeface="Times New Roman" panose="02020603050405020304" pitchFamily="18" charset="0"/>
              </a:rPr>
              <a:t>	 </a:t>
            </a:r>
            <a:r>
              <a:rPr lang="en-US" altLang="zh-CN" sz="1600" dirty="0">
                <a:latin typeface="Times New Roman" panose="02020603050405020304" pitchFamily="18" charset="0"/>
              </a:rPr>
              <a:t>virtual ~</a:t>
            </a:r>
            <a:r>
              <a:rPr lang="en-US" altLang="zh-CN" sz="1600" dirty="0">
                <a:solidFill>
                  <a:srgbClr val="FF0000"/>
                </a:solidFill>
                <a:latin typeface="Times New Roman" panose="02020603050405020304" pitchFamily="18" charset="0"/>
              </a:rPr>
              <a:t> </a:t>
            </a:r>
            <a:r>
              <a:rPr lang="en-US" altLang="zh-CN" sz="1600" dirty="0">
                <a:latin typeface="Times New Roman" panose="02020603050405020304" pitchFamily="18" charset="0"/>
              </a:rPr>
              <a:t>CAET (); </a:t>
            </a:r>
            <a:endParaRPr lang="zh-CN" altLang="en-US" sz="1600" dirty="0">
              <a:latin typeface="Times New Roman" panose="02020603050405020304" pitchFamily="18" charset="0"/>
            </a:endParaRPr>
          </a:p>
          <a:p>
            <a:r>
              <a:rPr lang="zh-CN" altLang="en-US" sz="1600" dirty="0">
                <a:latin typeface="Times New Roman" panose="02020603050405020304" pitchFamily="18" charset="0"/>
              </a:rPr>
              <a:t>	 </a:t>
            </a:r>
            <a:r>
              <a:rPr lang="en-US" altLang="zh-CN" sz="1600" dirty="0">
                <a:latin typeface="Times New Roman" panose="02020603050405020304" pitchFamily="18" charset="0"/>
              </a:rPr>
              <a:t>double      x;</a:t>
            </a:r>
            <a:endParaRPr lang="en-US" altLang="zh-CN" sz="1600" dirty="0"/>
          </a:p>
          <a:p>
            <a:r>
              <a:rPr lang="en-US" altLang="zh-CN" sz="1600" dirty="0">
                <a:latin typeface="Times New Roman" panose="02020603050405020304" pitchFamily="18" charset="0"/>
              </a:rPr>
              <a:t>	 </a:t>
            </a:r>
            <a:r>
              <a:rPr lang="en-US" altLang="zh-CN" sz="1600" dirty="0" err="1">
                <a:latin typeface="Times New Roman" panose="02020603050405020304" pitchFamily="18" charset="0"/>
              </a:rPr>
              <a:t>int</a:t>
            </a:r>
            <a:r>
              <a:rPr lang="en-US" altLang="zh-CN" sz="1600" dirty="0">
                <a:latin typeface="Times New Roman" panose="02020603050405020304" pitchFamily="18" charset="0"/>
              </a:rPr>
              <a:t>             </a:t>
            </a:r>
            <a:r>
              <a:rPr lang="en-US" altLang="zh-CN" sz="1600" dirty="0" err="1">
                <a:latin typeface="Times New Roman" panose="02020603050405020304" pitchFamily="18" charset="0"/>
              </a:rPr>
              <a:t>yMax</a:t>
            </a:r>
            <a:r>
              <a:rPr lang="en-US" altLang="zh-CN" sz="1600" dirty="0">
                <a:latin typeface="Times New Roman" panose="02020603050405020304" pitchFamily="18" charset="0"/>
              </a:rPr>
              <a:t>;</a:t>
            </a:r>
            <a:endParaRPr lang="en-US" altLang="zh-CN" sz="1600" dirty="0"/>
          </a:p>
          <a:p>
            <a:r>
              <a:rPr lang="en-US" altLang="zh-CN" sz="1600" dirty="0">
                <a:latin typeface="Times New Roman" panose="02020603050405020304" pitchFamily="18" charset="0"/>
              </a:rPr>
              <a:t>	 double      k;   //  </a:t>
            </a:r>
            <a:endParaRPr lang="en-US" altLang="zh-CN" sz="1600" dirty="0">
              <a:latin typeface="Times New Roman" panose="02020603050405020304" pitchFamily="18" charset="0"/>
            </a:endParaRPr>
          </a:p>
          <a:p>
            <a:r>
              <a:rPr lang="zh-CN" altLang="en-US" sz="1600" dirty="0" smtClean="0">
                <a:latin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251520" y="363068"/>
            <a:ext cx="3816350"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4.2.4 </a:t>
            </a:r>
            <a:r>
              <a:rPr lang="zh-CN" altLang="en-US" sz="3200" b="1" dirty="0">
                <a:effectLst>
                  <a:outerShdw blurRad="38100" dist="38100" dir="2700000" algn="tl">
                    <a:srgbClr val="C0C0C0"/>
                  </a:outerShdw>
                </a:effectLst>
                <a:latin typeface="楷体_GB2312" pitchFamily="49" charset="-122"/>
                <a:ea typeface="楷体_GB2312" pitchFamily="49" charset="-122"/>
              </a:rPr>
              <a:t>桶表与边表</a:t>
            </a:r>
            <a:r>
              <a:rPr lang="zh-CN" altLang="en-US" dirty="0"/>
              <a:t>   </a:t>
            </a:r>
            <a:endParaRPr lang="zh-CN" altLang="en-US" dirty="0"/>
          </a:p>
        </p:txBody>
      </p:sp>
      <p:sp>
        <p:nvSpPr>
          <p:cNvPr id="33795" name="Rectangle 5"/>
          <p:cNvSpPr>
            <a:spLocks noChangeArrowheads="1"/>
          </p:cNvSpPr>
          <p:nvPr/>
        </p:nvSpPr>
        <p:spPr bwMode="auto">
          <a:xfrm>
            <a:off x="260389" y="1056068"/>
            <a:ext cx="8641655"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lnSpc>
                <a:spcPct val="150000"/>
              </a:lnSpc>
            </a:pPr>
            <a:r>
              <a:rPr lang="zh-CN" altLang="en-US" sz="2000" dirty="0" smtClean="0">
                <a:latin typeface="楷体_GB2312" pitchFamily="49" charset="-122"/>
                <a:ea typeface="楷体_GB2312" pitchFamily="49" charset="-122"/>
              </a:rPr>
              <a:t>从</a:t>
            </a:r>
            <a:r>
              <a:rPr lang="zh-CN" altLang="en-US" sz="2000" dirty="0">
                <a:latin typeface="楷体_GB2312" pitchFamily="49" charset="-122"/>
                <a:ea typeface="楷体_GB2312" pitchFamily="49" charset="-122"/>
              </a:rPr>
              <a:t>有效边表的建立过程可以看出，</a:t>
            </a:r>
            <a:r>
              <a:rPr lang="zh-CN" altLang="en-US" sz="2000" b="1" dirty="0">
                <a:solidFill>
                  <a:srgbClr val="FF0000"/>
                </a:solidFill>
                <a:latin typeface="黑体" panose="02010609060101010101" pitchFamily="49" charset="-122"/>
                <a:ea typeface="黑体" panose="02010609060101010101" pitchFamily="49" charset="-122"/>
              </a:rPr>
              <a:t>有效边表给出了扫描线与有效边交点坐标的计算方法</a:t>
            </a:r>
            <a:r>
              <a:rPr lang="zh-CN" altLang="en-US" sz="2000" dirty="0">
                <a:latin typeface="楷体_GB2312" pitchFamily="49" charset="-122"/>
                <a:ea typeface="楷体_GB2312" pitchFamily="49" charset="-122"/>
              </a:rPr>
              <a:t>，但是</a:t>
            </a:r>
            <a:r>
              <a:rPr lang="zh-CN" altLang="en-US" sz="2000" b="1" dirty="0">
                <a:solidFill>
                  <a:srgbClr val="3366FF"/>
                </a:solidFill>
                <a:latin typeface="方正粗黑宋简体" panose="02000000000000000000" pitchFamily="2" charset="-122"/>
                <a:ea typeface="方正粗黑宋简体" panose="02000000000000000000" pitchFamily="2" charset="-122"/>
              </a:rPr>
              <a:t>并没有给出新边出现的位置坐标</a:t>
            </a:r>
            <a:r>
              <a:rPr lang="zh-CN" altLang="en-US" sz="2000" dirty="0">
                <a:latin typeface="楷体_GB2312" pitchFamily="49" charset="-122"/>
                <a:ea typeface="楷体_GB2312" pitchFamily="49" charset="-122"/>
              </a:rPr>
              <a:t>。为了</a:t>
            </a:r>
            <a:r>
              <a:rPr lang="zh-CN" altLang="en-US" sz="2000" b="1" dirty="0">
                <a:solidFill>
                  <a:srgbClr val="7030A0"/>
                </a:solidFill>
                <a:latin typeface="方正粗黑宋简体" panose="02000000000000000000" pitchFamily="2" charset="-122"/>
                <a:ea typeface="方正粗黑宋简体" panose="02000000000000000000" pitchFamily="2" charset="-122"/>
              </a:rPr>
              <a:t>确定在哪条扫描线上插入了新边</a:t>
            </a:r>
            <a:r>
              <a:rPr lang="zh-CN" altLang="en-US" sz="2000" dirty="0">
                <a:latin typeface="楷体_GB2312" pitchFamily="49" charset="-122"/>
                <a:ea typeface="楷体_GB2312" pitchFamily="49" charset="-122"/>
              </a:rPr>
              <a:t>，就需要构造一个</a:t>
            </a:r>
            <a:r>
              <a:rPr lang="zh-CN" altLang="en-US" sz="2000" b="1" dirty="0">
                <a:solidFill>
                  <a:srgbClr val="FF0000"/>
                </a:solidFill>
                <a:latin typeface="黑体" panose="02010609060101010101" pitchFamily="49" charset="-122"/>
                <a:ea typeface="黑体" panose="02010609060101010101" pitchFamily="49" charset="-122"/>
              </a:rPr>
              <a:t>边表</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edge table</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ET</a:t>
            </a:r>
            <a:r>
              <a:rPr lang="zh-CN" altLang="en-US" sz="2000" dirty="0">
                <a:latin typeface="楷体_GB2312" pitchFamily="49" charset="-122"/>
                <a:ea typeface="楷体_GB2312" pitchFamily="49" charset="-122"/>
              </a:rPr>
              <a:t>），</a:t>
            </a:r>
            <a:r>
              <a:rPr lang="zh-CN" altLang="en-US" sz="2000" b="1" dirty="0">
                <a:solidFill>
                  <a:srgbClr val="FF0000"/>
                </a:solidFill>
                <a:latin typeface="黑体" panose="02010609060101010101" pitchFamily="49" charset="-122"/>
                <a:ea typeface="黑体" panose="02010609060101010101" pitchFamily="49" charset="-122"/>
              </a:rPr>
              <a:t>用以存放扫描线上多边形各条边出现的信息</a:t>
            </a:r>
            <a:r>
              <a:rPr lang="zh-CN" altLang="en-US" sz="2000" dirty="0">
                <a:latin typeface="楷体_GB2312" pitchFamily="49" charset="-122"/>
                <a:ea typeface="楷体_GB2312" pitchFamily="49" charset="-122"/>
              </a:rPr>
              <a:t>。因为水平边的</a:t>
            </a:r>
            <a:r>
              <a:rPr lang="en-US" altLang="zh-CN" sz="2000" dirty="0">
                <a:latin typeface="楷体_GB2312" pitchFamily="49" charset="-122"/>
                <a:ea typeface="楷体_GB2312" pitchFamily="49" charset="-122"/>
              </a:rPr>
              <a:t>1/k</a:t>
            </a:r>
            <a:r>
              <a:rPr lang="zh-CN" altLang="en-US" sz="2000" dirty="0">
                <a:latin typeface="楷体_GB2312" pitchFamily="49" charset="-122"/>
                <a:ea typeface="楷体_GB2312" pitchFamily="49" charset="-122"/>
              </a:rPr>
              <a:t>为∞，并且水平边本身就是扫描线，在建立边表时可以不予考虑。</a:t>
            </a:r>
            <a:endParaRPr lang="zh-CN" altLang="en-US" sz="2000" dirty="0">
              <a:latin typeface="楷体_GB2312" pitchFamily="49" charset="-122"/>
              <a:ea typeface="楷体_GB2312" pitchFamily="49" charset="-122"/>
            </a:endParaRPr>
          </a:p>
        </p:txBody>
      </p:sp>
      <p:sp>
        <p:nvSpPr>
          <p:cNvPr id="33796" name="Rectangle 6"/>
          <p:cNvSpPr>
            <a:spLocks noChangeArrowheads="1"/>
          </p:cNvSpPr>
          <p:nvPr/>
        </p:nvSpPr>
        <p:spPr bwMode="auto">
          <a:xfrm>
            <a:off x="251520" y="3442178"/>
            <a:ext cx="3230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509270" algn="l"/>
              </a:tabLst>
              <a:defRPr sz="2400">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AutoNum type="arabicPeriod"/>
            </a:pPr>
            <a:r>
              <a:rPr lang="zh-CN" altLang="en-US" b="1" dirty="0">
                <a:ea typeface="楷体_GB2312" pitchFamily="49" charset="-122"/>
              </a:rPr>
              <a:t>桶表和边表的表示法</a:t>
            </a:r>
            <a:endParaRPr lang="zh-CN" altLang="en-US" b="1" dirty="0">
              <a:ea typeface="楷体_GB2312" pitchFamily="49" charset="-122"/>
            </a:endParaRPr>
          </a:p>
        </p:txBody>
      </p:sp>
      <p:sp>
        <p:nvSpPr>
          <p:cNvPr id="33797" name="Rectangle 7"/>
          <p:cNvSpPr>
            <a:spLocks noChangeArrowheads="1"/>
          </p:cNvSpPr>
          <p:nvPr/>
        </p:nvSpPr>
        <p:spPr bwMode="auto">
          <a:xfrm>
            <a:off x="251520" y="3899378"/>
            <a:ext cx="874801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1</a:t>
            </a:r>
            <a:r>
              <a:rPr lang="zh-CN" altLang="en-US" sz="2000" dirty="0">
                <a:latin typeface="楷体_GB2312" pitchFamily="49" charset="-122"/>
                <a:ea typeface="楷体_GB2312" pitchFamily="49" charset="-122"/>
              </a:rPr>
              <a:t>）桶表是按照</a:t>
            </a:r>
            <a:r>
              <a:rPr lang="zh-CN" altLang="en-US" sz="2000" b="1" dirty="0">
                <a:solidFill>
                  <a:srgbClr val="FF0000"/>
                </a:solidFill>
                <a:latin typeface="黑体" panose="02010609060101010101" pitchFamily="49" charset="-122"/>
                <a:ea typeface="黑体" panose="02010609060101010101" pitchFamily="49" charset="-122"/>
              </a:rPr>
              <a:t>扫描线顺序</a:t>
            </a:r>
            <a:r>
              <a:rPr lang="zh-CN" altLang="en-US" sz="2000" dirty="0">
                <a:latin typeface="楷体_GB2312" pitchFamily="49" charset="-122"/>
                <a:ea typeface="楷体_GB2312" pitchFamily="49" charset="-122"/>
              </a:rPr>
              <a:t>管理</a:t>
            </a:r>
            <a:r>
              <a:rPr lang="zh-CN" altLang="en-US" sz="2000" b="1" dirty="0">
                <a:solidFill>
                  <a:srgbClr val="FF0000"/>
                </a:solidFill>
                <a:latin typeface="黑体" panose="02010609060101010101" pitchFamily="49" charset="-122"/>
                <a:ea typeface="黑体" panose="02010609060101010101" pitchFamily="49" charset="-122"/>
              </a:rPr>
              <a:t>边出现情况</a:t>
            </a:r>
            <a:r>
              <a:rPr lang="zh-CN" altLang="en-US" sz="2000" dirty="0">
                <a:latin typeface="楷体_GB2312" pitchFamily="49" charset="-122"/>
                <a:ea typeface="楷体_GB2312" pitchFamily="49" charset="-122"/>
              </a:rPr>
              <a:t>的一个数据结构。首先，构造一个</a:t>
            </a:r>
            <a:r>
              <a:rPr lang="zh-CN" altLang="en-US" sz="2000" b="1" dirty="0">
                <a:solidFill>
                  <a:srgbClr val="FF0000"/>
                </a:solidFill>
                <a:latin typeface="黑体" panose="02010609060101010101" pitchFamily="49" charset="-122"/>
                <a:ea typeface="黑体" panose="02010609060101010101" pitchFamily="49" charset="-122"/>
              </a:rPr>
              <a:t>纵向扫描线</a:t>
            </a:r>
            <a:r>
              <a:rPr lang="zh-CN" altLang="en-US" sz="2000" b="1" dirty="0">
                <a:solidFill>
                  <a:srgbClr val="3366FF"/>
                </a:solidFill>
                <a:latin typeface="方正粗黑宋简体" panose="02000000000000000000" pitchFamily="2" charset="-122"/>
                <a:ea typeface="方正粗黑宋简体" panose="02000000000000000000" pitchFamily="2" charset="-122"/>
              </a:rPr>
              <a:t>链表</a:t>
            </a:r>
            <a:r>
              <a:rPr lang="zh-CN" altLang="en-US" sz="2000" dirty="0">
                <a:latin typeface="楷体_GB2312" pitchFamily="49" charset="-122"/>
                <a:ea typeface="楷体_GB2312" pitchFamily="49" charset="-122"/>
              </a:rPr>
              <a:t>，</a:t>
            </a:r>
            <a:r>
              <a:rPr lang="zh-CN" altLang="en-US" sz="2000" b="1" dirty="0">
                <a:solidFill>
                  <a:srgbClr val="FF0000"/>
                </a:solidFill>
                <a:latin typeface="黑体" panose="02010609060101010101" pitchFamily="49" charset="-122"/>
                <a:ea typeface="黑体" panose="02010609060101010101" pitchFamily="49" charset="-122"/>
              </a:rPr>
              <a:t>链表的长度为多边形所占有的最大扫描线数</a:t>
            </a:r>
            <a:r>
              <a:rPr lang="zh-CN" altLang="en-US" sz="2000" dirty="0">
                <a:latin typeface="楷体_GB2312" pitchFamily="49" charset="-122"/>
                <a:ea typeface="楷体_GB2312" pitchFamily="49" charset="-122"/>
              </a:rPr>
              <a:t>，链表的每个结点称为</a:t>
            </a:r>
            <a:r>
              <a:rPr lang="zh-CN" altLang="en-US" sz="2000" b="1" dirty="0">
                <a:solidFill>
                  <a:srgbClr val="FF0000"/>
                </a:solidFill>
                <a:latin typeface="黑体" panose="02010609060101010101" pitchFamily="49" charset="-122"/>
                <a:ea typeface="黑体" panose="02010609060101010101" pitchFamily="49" charset="-122"/>
              </a:rPr>
              <a:t>桶</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bucket</a:t>
            </a:r>
            <a:r>
              <a:rPr lang="zh-CN" altLang="en-US" sz="2000" dirty="0">
                <a:latin typeface="楷体_GB2312" pitchFamily="49" charset="-122"/>
                <a:ea typeface="楷体_GB2312" pitchFamily="49" charset="-122"/>
              </a:rPr>
              <a:t>），</a:t>
            </a:r>
            <a:r>
              <a:rPr lang="zh-CN" altLang="en-US" sz="2000" b="1" dirty="0">
                <a:solidFill>
                  <a:srgbClr val="FF0000"/>
                </a:solidFill>
                <a:latin typeface="黑体" panose="02010609060101010101" pitchFamily="49" charset="-122"/>
                <a:ea typeface="黑体" panose="02010609060101010101" pitchFamily="49" charset="-122"/>
              </a:rPr>
              <a:t>对应多边形覆盖的每一条扫描线</a:t>
            </a:r>
            <a:r>
              <a:rPr lang="zh-CN" altLang="en-US" sz="2000" dirty="0">
                <a:latin typeface="楷体_GB2312" pitchFamily="49" charset="-122"/>
                <a:ea typeface="楷体_GB2312" pitchFamily="49" charset="-122"/>
              </a:rPr>
              <a:t>。</a:t>
            </a:r>
            <a:endParaRPr lang="zh-CN" altLang="en-US" sz="2000" dirty="0">
              <a:latin typeface="楷体_GB2312" pitchFamily="49" charset="-122"/>
              <a:ea typeface="楷体_GB2312" pitchFamily="49" charset="-122"/>
            </a:endParaRPr>
          </a:p>
        </p:txBody>
      </p:sp>
      <p:sp>
        <p:nvSpPr>
          <p:cNvPr id="6" name="Rectangle 4"/>
          <p:cNvSpPr>
            <a:spLocks noChangeArrowheads="1"/>
          </p:cNvSpPr>
          <p:nvPr/>
        </p:nvSpPr>
        <p:spPr bwMode="auto">
          <a:xfrm>
            <a:off x="827584" y="5092068"/>
            <a:ext cx="7704137"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733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dirty="0"/>
              <a:t>class </a:t>
            </a:r>
            <a:r>
              <a:rPr lang="en-US" altLang="zh-CN" sz="1400" dirty="0" err="1"/>
              <a:t>CBucket</a:t>
            </a:r>
            <a:r>
              <a:rPr lang="en-US" altLang="zh-CN" sz="1400" dirty="0"/>
              <a:t>  </a:t>
            </a:r>
            <a:endParaRPr lang="en-US" altLang="zh-CN" sz="1400" dirty="0"/>
          </a:p>
          <a:p>
            <a:pPr eaLnBrk="1" hangingPunct="1"/>
            <a:r>
              <a:rPr lang="en-US" altLang="zh-CN" sz="1400" dirty="0" smtClean="0"/>
              <a:t>{public</a:t>
            </a:r>
            <a:r>
              <a:rPr lang="en-US" altLang="zh-CN" sz="1400" dirty="0"/>
              <a:t>:</a:t>
            </a:r>
            <a:endParaRPr lang="en-US" altLang="zh-CN" sz="1400" dirty="0"/>
          </a:p>
          <a:p>
            <a:pPr eaLnBrk="1" hangingPunct="1"/>
            <a:r>
              <a:rPr lang="en-US" altLang="zh-CN" sz="1400" dirty="0"/>
              <a:t>		</a:t>
            </a:r>
            <a:r>
              <a:rPr lang="en-US" altLang="zh-CN" sz="1400" dirty="0" err="1"/>
              <a:t>CBucket</a:t>
            </a:r>
            <a:r>
              <a:rPr lang="en-US" altLang="zh-CN" sz="1400" dirty="0"/>
              <a:t>();</a:t>
            </a:r>
            <a:endParaRPr lang="en-US" altLang="zh-CN" sz="1400" dirty="0"/>
          </a:p>
          <a:p>
            <a:pPr eaLnBrk="1" hangingPunct="1"/>
            <a:r>
              <a:rPr lang="en-US" altLang="zh-CN" sz="1400" dirty="0"/>
              <a:t>		virtual ~</a:t>
            </a:r>
            <a:r>
              <a:rPr lang="en-US" altLang="zh-CN" sz="1400" dirty="0" err="1"/>
              <a:t>CBucket</a:t>
            </a:r>
            <a:r>
              <a:rPr lang="en-US" altLang="zh-CN" sz="1400" dirty="0"/>
              <a:t>();</a:t>
            </a:r>
            <a:endParaRPr lang="en-US" altLang="zh-CN" sz="1400" dirty="0"/>
          </a:p>
          <a:p>
            <a:pPr eaLnBrk="1" hangingPunct="1"/>
            <a:r>
              <a:rPr lang="en-US" altLang="zh-CN" sz="1400" dirty="0"/>
              <a:t>		</a:t>
            </a:r>
            <a:r>
              <a:rPr lang="en-US" altLang="zh-CN" sz="1400" dirty="0" err="1"/>
              <a:t>int</a:t>
            </a:r>
            <a:r>
              <a:rPr lang="en-US" altLang="zh-CN" sz="1400" dirty="0"/>
              <a:t>          </a:t>
            </a:r>
            <a:r>
              <a:rPr lang="en-US" altLang="zh-CN" sz="1400" dirty="0" err="1"/>
              <a:t>ScanLine</a:t>
            </a:r>
            <a:r>
              <a:rPr lang="en-US" altLang="zh-CN" sz="1400" dirty="0"/>
              <a:t>;       </a:t>
            </a:r>
            <a:r>
              <a:rPr lang="en-US" altLang="zh-CN" sz="1400" dirty="0">
                <a:latin typeface="楷体_GB2312" pitchFamily="49" charset="-122"/>
                <a:ea typeface="楷体_GB2312" pitchFamily="49" charset="-122"/>
              </a:rPr>
              <a:t>//</a:t>
            </a:r>
            <a:r>
              <a:rPr lang="zh-CN" altLang="en-US" sz="1400" dirty="0">
                <a:latin typeface="楷体_GB2312" pitchFamily="49" charset="-122"/>
                <a:ea typeface="楷体_GB2312" pitchFamily="49" charset="-122"/>
              </a:rPr>
              <a:t>扫描线</a:t>
            </a:r>
            <a:endParaRPr lang="zh-CN" altLang="en-US" sz="1400" dirty="0">
              <a:latin typeface="楷体_GB2312" pitchFamily="49" charset="-122"/>
              <a:ea typeface="楷体_GB2312" pitchFamily="49" charset="-122"/>
            </a:endParaRPr>
          </a:p>
          <a:p>
            <a:pPr eaLnBrk="1" hangingPunct="1"/>
            <a:r>
              <a:rPr lang="zh-CN" altLang="en-US" sz="1400" dirty="0"/>
              <a:t>		</a:t>
            </a:r>
            <a:r>
              <a:rPr lang="en-US" altLang="zh-CN" sz="1400" dirty="0"/>
              <a:t>CAET      *p;                </a:t>
            </a:r>
            <a:r>
              <a:rPr lang="en-US" altLang="zh-CN" sz="1400" dirty="0">
                <a:latin typeface="楷体_GB2312" pitchFamily="49" charset="-122"/>
                <a:ea typeface="楷体_GB2312" pitchFamily="49" charset="-122"/>
              </a:rPr>
              <a:t>//</a:t>
            </a:r>
            <a:r>
              <a:rPr lang="zh-CN" altLang="en-US" sz="1400" dirty="0">
                <a:latin typeface="楷体_GB2312" pitchFamily="49" charset="-122"/>
                <a:ea typeface="楷体_GB2312" pitchFamily="49" charset="-122"/>
              </a:rPr>
              <a:t>桶上的边表指针</a:t>
            </a:r>
            <a:endParaRPr lang="zh-CN" altLang="en-US" sz="1400" dirty="0">
              <a:latin typeface="楷体_GB2312" pitchFamily="49" charset="-122"/>
              <a:ea typeface="楷体_GB2312" pitchFamily="49" charset="-122"/>
            </a:endParaRPr>
          </a:p>
          <a:p>
            <a:pPr eaLnBrk="1" hangingPunct="1"/>
            <a:r>
              <a:rPr lang="zh-CN" altLang="en-US" sz="1400" dirty="0"/>
              <a:t>		</a:t>
            </a:r>
            <a:r>
              <a:rPr lang="en-US" altLang="zh-CN" sz="1400" dirty="0" err="1"/>
              <a:t>CBucket</a:t>
            </a:r>
            <a:r>
              <a:rPr lang="en-US" altLang="zh-CN" sz="1400" dirty="0"/>
              <a:t>  *</a:t>
            </a:r>
            <a:r>
              <a:rPr lang="en-US" altLang="zh-CN" sz="1400" dirty="0" smtClean="0"/>
              <a:t>next;};</a:t>
            </a:r>
            <a:endParaRPr lang="en-US" altLang="zh-CN" sz="1400"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5842" name="Rectangle 4"/>
              <p:cNvSpPr>
                <a:spLocks noChangeArrowheads="1"/>
              </p:cNvSpPr>
              <p:nvPr/>
            </p:nvSpPr>
            <p:spPr bwMode="auto">
              <a:xfrm>
                <a:off x="274762" y="1027307"/>
                <a:ext cx="87849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en-US" sz="2000" dirty="0" smtClean="0">
                    <a:latin typeface="楷体_GB2312" pitchFamily="49" charset="-122"/>
                    <a:ea typeface="楷体_GB2312" pitchFamily="49" charset="-122"/>
                  </a:rPr>
                  <a:t>（</a:t>
                </a:r>
                <a:r>
                  <a:rPr lang="en-US" altLang="zh-CN" sz="2000" dirty="0">
                    <a:latin typeface="楷体_GB2312" pitchFamily="49" charset="-122"/>
                    <a:ea typeface="楷体_GB2312" pitchFamily="49" charset="-122"/>
                  </a:rPr>
                  <a:t>3</a:t>
                </a:r>
                <a:r>
                  <a:rPr lang="zh-CN" altLang="en-US" sz="2000" dirty="0">
                    <a:latin typeface="楷体_GB2312" pitchFamily="49" charset="-122"/>
                    <a:ea typeface="楷体_GB2312" pitchFamily="49" charset="-122"/>
                  </a:rPr>
                  <a:t>）对于每一条扫描线，如果新增多条边，则</a:t>
                </a:r>
                <a:r>
                  <a:rPr lang="zh-CN" altLang="en-US" sz="2000" dirty="0" smtClean="0">
                    <a:latin typeface="楷体_GB2312" pitchFamily="49" charset="-122"/>
                    <a:ea typeface="楷体_GB2312" pitchFamily="49" charset="-122"/>
                  </a:rPr>
                  <a:t>按 </a:t>
                </a:r>
                <a14:m>
                  <m:oMath xmlns:m="http://schemas.openxmlformats.org/officeDocument/2006/math">
                    <m:sSub>
                      <m:sSubPr>
                        <m:ctrlPr>
                          <a:rPr lang="en-US" altLang="zh-CN" sz="2000" b="1" i="1">
                            <a:solidFill>
                              <a:srgbClr val="3366FF"/>
                            </a:solidFill>
                            <a:latin typeface="Cambria Math" panose="02040503050406030204" pitchFamily="18" charset="0"/>
                            <a:ea typeface="黑体" panose="02010609060101010101" pitchFamily="49" charset="-122"/>
                          </a:rPr>
                        </m:ctrlPr>
                      </m:sSubPr>
                      <m:e>
                        <m:r>
                          <a:rPr lang="en-US" altLang="zh-CN" sz="2000" b="1" i="1" smtClean="0">
                            <a:solidFill>
                              <a:srgbClr val="3366FF"/>
                            </a:solidFill>
                            <a:latin typeface="Cambria Math" panose="02040503050406030204" pitchFamily="18" charset="0"/>
                            <a:ea typeface="黑体" panose="02010609060101010101" pitchFamily="49" charset="-122"/>
                          </a:rPr>
                          <m:t>𝒙</m:t>
                        </m:r>
                        <m:r>
                          <a:rPr lang="en-US" altLang="zh-CN" sz="2000" b="1" i="1" smtClean="0">
                            <a:solidFill>
                              <a:srgbClr val="3366FF"/>
                            </a:solidFill>
                            <a:latin typeface="Cambria Math" panose="02040503050406030204" pitchFamily="18" charset="0"/>
                            <a:ea typeface="黑体" panose="02010609060101010101" pitchFamily="49" charset="-122"/>
                          </a:rPr>
                          <m:t>|</m:t>
                        </m:r>
                        <m:r>
                          <a:rPr lang="en-US" altLang="zh-CN" sz="2000" b="1" i="1">
                            <a:solidFill>
                              <a:srgbClr val="3366FF"/>
                            </a:solidFill>
                            <a:latin typeface="Cambria Math" panose="02040503050406030204" pitchFamily="18" charset="0"/>
                            <a:ea typeface="黑体" panose="02010609060101010101" pitchFamily="49" charset="-122"/>
                          </a:rPr>
                          <m:t>𝒚</m:t>
                        </m:r>
                      </m:e>
                      <m:sub>
                        <m:r>
                          <a:rPr lang="en-US" altLang="zh-CN" sz="2000" b="1" i="1">
                            <a:solidFill>
                              <a:srgbClr val="3366FF"/>
                            </a:solidFill>
                            <a:latin typeface="Cambria Math" panose="02040503050406030204" pitchFamily="18" charset="0"/>
                            <a:ea typeface="黑体" panose="02010609060101010101" pitchFamily="49" charset="-122"/>
                          </a:rPr>
                          <m:t>𝒎𝒊𝒏</m:t>
                        </m:r>
                      </m:sub>
                    </m:sSub>
                  </m:oMath>
                </a14:m>
                <a:r>
                  <a:rPr lang="zh-CN" altLang="en-US" sz="2000" dirty="0" smtClean="0">
                    <a:latin typeface="楷体_GB2312" pitchFamily="49" charset="-122"/>
                    <a:ea typeface="楷体_GB2312" pitchFamily="49" charset="-122"/>
                  </a:rPr>
                  <a:t> 坐标</a:t>
                </a:r>
                <a:r>
                  <a:rPr lang="zh-CN" altLang="en-US" sz="2000" dirty="0">
                    <a:latin typeface="楷体_GB2312" pitchFamily="49" charset="-122"/>
                    <a:ea typeface="楷体_GB2312" pitchFamily="49" charset="-122"/>
                  </a:rPr>
                  <a:t>递增的顺序存放在一个链表中，</a:t>
                </a:r>
                <a:r>
                  <a:rPr lang="zh-CN" altLang="en-US" sz="2000" dirty="0" smtClean="0">
                    <a:latin typeface="楷体_GB2312" pitchFamily="49" charset="-122"/>
                    <a:ea typeface="楷体_GB2312" pitchFamily="49" charset="-122"/>
                  </a:rPr>
                  <a:t>若 </a:t>
                </a:r>
                <a14:m>
                  <m:oMath xmlns:m="http://schemas.openxmlformats.org/officeDocument/2006/math">
                    <m:sSub>
                      <m:sSubPr>
                        <m:ctrlPr>
                          <a:rPr lang="en-US" altLang="zh-CN" sz="2000" b="1" i="1">
                            <a:solidFill>
                              <a:srgbClr val="3366FF"/>
                            </a:solidFill>
                            <a:latin typeface="Cambria Math" panose="02040503050406030204" pitchFamily="18" charset="0"/>
                            <a:ea typeface="黑体" panose="02010609060101010101" pitchFamily="49" charset="-122"/>
                          </a:rPr>
                        </m:ctrlPr>
                      </m:sSubPr>
                      <m:e>
                        <m:r>
                          <a:rPr lang="en-US" altLang="zh-CN" sz="2000" b="1" i="1">
                            <a:solidFill>
                              <a:srgbClr val="3366FF"/>
                            </a:solidFill>
                            <a:latin typeface="Cambria Math" panose="02040503050406030204" pitchFamily="18" charset="0"/>
                            <a:ea typeface="黑体" panose="02010609060101010101" pitchFamily="49" charset="-122"/>
                          </a:rPr>
                          <m:t>𝒙</m:t>
                        </m:r>
                        <m:r>
                          <a:rPr lang="en-US" altLang="zh-CN" sz="2000" b="1" i="1">
                            <a:solidFill>
                              <a:srgbClr val="3366FF"/>
                            </a:solidFill>
                            <a:latin typeface="Cambria Math" panose="02040503050406030204" pitchFamily="18" charset="0"/>
                            <a:ea typeface="黑体" panose="02010609060101010101" pitchFamily="49" charset="-122"/>
                          </a:rPr>
                          <m:t>|</m:t>
                        </m:r>
                        <m:r>
                          <a:rPr lang="en-US" altLang="zh-CN" sz="2000" b="1" i="1">
                            <a:solidFill>
                              <a:srgbClr val="3366FF"/>
                            </a:solidFill>
                            <a:latin typeface="Cambria Math" panose="02040503050406030204" pitchFamily="18" charset="0"/>
                            <a:ea typeface="黑体" panose="02010609060101010101" pitchFamily="49" charset="-122"/>
                          </a:rPr>
                          <m:t>𝒚</m:t>
                        </m:r>
                      </m:e>
                      <m:sub>
                        <m:r>
                          <a:rPr lang="en-US" altLang="zh-CN" sz="2000" b="1" i="1">
                            <a:solidFill>
                              <a:srgbClr val="3366FF"/>
                            </a:solidFill>
                            <a:latin typeface="Cambria Math" panose="02040503050406030204" pitchFamily="18" charset="0"/>
                            <a:ea typeface="黑体" panose="02010609060101010101" pitchFamily="49" charset="-122"/>
                          </a:rPr>
                          <m:t>𝒎𝒊𝒏</m:t>
                        </m:r>
                      </m:sub>
                    </m:sSub>
                  </m:oMath>
                </a14:m>
                <a:r>
                  <a:rPr lang="en-US" altLang="zh-CN" sz="2000" dirty="0">
                    <a:latin typeface="楷体_GB2312" pitchFamily="49" charset="-122"/>
                    <a:ea typeface="楷体_GB2312" pitchFamily="49" charset="-122"/>
                  </a:rPr>
                  <a:t> </a:t>
                </a:r>
                <a:r>
                  <a:rPr lang="zh-CN" altLang="en-US" sz="2000" dirty="0">
                    <a:latin typeface="楷体_GB2312" pitchFamily="49" charset="-122"/>
                    <a:ea typeface="楷体_GB2312" pitchFamily="49" charset="-122"/>
                  </a:rPr>
                  <a:t>相等，则按照</a:t>
                </a:r>
                <a:r>
                  <a:rPr lang="en-US" altLang="zh-CN" sz="2000" dirty="0">
                    <a:latin typeface="楷体_GB2312" pitchFamily="49" charset="-122"/>
                    <a:ea typeface="楷体_GB2312" pitchFamily="49" charset="-122"/>
                  </a:rPr>
                  <a:t>1/k</a:t>
                </a:r>
                <a:r>
                  <a:rPr lang="zh-CN" altLang="en-US" sz="2000" dirty="0">
                    <a:latin typeface="楷体_GB2312" pitchFamily="49" charset="-122"/>
                    <a:ea typeface="楷体_GB2312" pitchFamily="49" charset="-122"/>
                  </a:rPr>
                  <a:t>由小到大排序，这样就形成边表。</a:t>
                </a:r>
                <a:endParaRPr lang="zh-CN" altLang="en-US" sz="2000" dirty="0">
                  <a:latin typeface="楷体_GB2312" pitchFamily="49" charset="-122"/>
                  <a:ea typeface="楷体_GB2312" pitchFamily="49" charset="-122"/>
                </a:endParaRPr>
              </a:p>
            </p:txBody>
          </p:sp>
        </mc:Choice>
        <mc:Fallback>
          <p:sp>
            <p:nvSpPr>
              <p:cNvPr id="35842" name="Rectangle 4"/>
              <p:cNvSpPr>
                <a:spLocks noRot="1" noChangeAspect="1" noMove="1" noResize="1" noEditPoints="1" noAdjustHandles="1" noChangeArrowheads="1" noChangeShapeType="1" noTextEdit="1"/>
              </p:cNvSpPr>
              <p:nvPr/>
            </p:nvSpPr>
            <p:spPr bwMode="auto">
              <a:xfrm>
                <a:off x="274762" y="1027307"/>
                <a:ext cx="8784976" cy="1200329"/>
              </a:xfrm>
              <a:prstGeom prst="rect">
                <a:avLst/>
              </a:prstGeom>
              <a:blipFill rotWithShape="1">
                <a:blip r:embed="rId1"/>
                <a:stretch>
                  <a:fillRect l="-5" t="-43" r="2" b="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5844" name="Object 5"/>
          <p:cNvGraphicFramePr>
            <a:graphicFrameLocks noChangeAspect="1"/>
          </p:cNvGraphicFramePr>
          <p:nvPr/>
        </p:nvGraphicFramePr>
        <p:xfrm>
          <a:off x="5255419" y="2273797"/>
          <a:ext cx="3744069" cy="482063"/>
        </p:xfrm>
        <a:graphic>
          <a:graphicData uri="http://schemas.openxmlformats.org/presentationml/2006/ole">
            <mc:AlternateContent xmlns:mc="http://schemas.openxmlformats.org/markup-compatibility/2006">
              <mc:Choice xmlns:v="urn:schemas-microsoft-com:vml" Requires="v">
                <p:oleObj spid="_x0000_s35879" name="" r:id="rId2" imgW="6875145" imgH="902970" progId="Visio.Drawing.11">
                  <p:embed/>
                </p:oleObj>
              </mc:Choice>
              <mc:Fallback>
                <p:oleObj name="" r:id="rId2" imgW="6875145" imgH="90297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5419" y="2273797"/>
                        <a:ext cx="3744069" cy="482063"/>
                      </a:xfrm>
                      <a:prstGeom prst="rect">
                        <a:avLst/>
                      </a:prstGeom>
                      <a:noFill/>
                      <a:ln>
                        <a:noFill/>
                      </a:ln>
                    </p:spPr>
                  </p:pic>
                </p:oleObj>
              </mc:Fallback>
            </mc:AlternateContent>
          </a:graphicData>
        </a:graphic>
      </p:graphicFrame>
      <p:sp>
        <p:nvSpPr>
          <p:cNvPr id="35845" name="Rectangle 7"/>
          <p:cNvSpPr>
            <a:spLocks noChangeArrowheads="1"/>
          </p:cNvSpPr>
          <p:nvPr/>
        </p:nvSpPr>
        <p:spPr bwMode="auto">
          <a:xfrm>
            <a:off x="3818532" y="2281212"/>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a:latin typeface="楷体_GB2312" pitchFamily="49" charset="-122"/>
                <a:ea typeface="楷体_GB2312" pitchFamily="49" charset="-122"/>
              </a:rPr>
              <a:t>边表结点</a:t>
            </a:r>
            <a:endParaRPr lang="zh-CN" altLang="en-US" dirty="0">
              <a:latin typeface="楷体_GB2312" pitchFamily="49" charset="-122"/>
              <a:ea typeface="楷体_GB2312" pitchFamily="49" charset="-122"/>
            </a:endParaRPr>
          </a:p>
        </p:txBody>
      </p:sp>
      <p:sp>
        <p:nvSpPr>
          <p:cNvPr id="35846" name="Rectangle 9"/>
          <p:cNvSpPr>
            <a:spLocks noChangeArrowheads="1"/>
          </p:cNvSpPr>
          <p:nvPr/>
        </p:nvSpPr>
        <p:spPr bwMode="auto">
          <a:xfrm>
            <a:off x="0" y="1890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47" name="Rectangle 10"/>
          <p:cNvSpPr>
            <a:spLocks noChangeArrowheads="1"/>
          </p:cNvSpPr>
          <p:nvPr/>
        </p:nvSpPr>
        <p:spPr bwMode="auto">
          <a:xfrm>
            <a:off x="274762" y="2203661"/>
            <a:ext cx="31587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桶表与边表示例</a:t>
            </a:r>
            <a:endParaRPr lang="zh-CN" altLang="en-US" b="1" dirty="0">
              <a:latin typeface="楷体_GB2312" pitchFamily="49" charset="-122"/>
              <a:ea typeface="楷体_GB2312" pitchFamily="49" charset="-122"/>
            </a:endParaRPr>
          </a:p>
        </p:txBody>
      </p:sp>
      <p:sp>
        <p:nvSpPr>
          <p:cNvPr id="35849" name="Rectangle 13"/>
          <p:cNvSpPr>
            <a:spLocks noChangeArrowheads="1"/>
          </p:cNvSpPr>
          <p:nvPr/>
        </p:nvSpPr>
        <p:spPr bwMode="auto">
          <a:xfrm>
            <a:off x="0" y="1666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35850" name="Object 12"/>
          <p:cNvGraphicFramePr>
            <a:graphicFrameLocks noChangeAspect="1"/>
          </p:cNvGraphicFramePr>
          <p:nvPr/>
        </p:nvGraphicFramePr>
        <p:xfrm>
          <a:off x="300410" y="2755860"/>
          <a:ext cx="5256212" cy="3881438"/>
        </p:xfrm>
        <a:graphic>
          <a:graphicData uri="http://schemas.openxmlformats.org/presentationml/2006/ole">
            <mc:AlternateContent xmlns:mc="http://schemas.openxmlformats.org/markup-compatibility/2006">
              <mc:Choice xmlns:v="urn:schemas-microsoft-com:vml" Requires="v">
                <p:oleObj spid="_x0000_s35880" name="" r:id="rId4" imgW="9060815" imgH="6697980" progId="Visio.Drawing.11">
                  <p:embed/>
                </p:oleObj>
              </mc:Choice>
              <mc:Fallback>
                <p:oleObj name="" r:id="rId4" imgW="9060815" imgH="6697980" progId="Visio.Drawing.11">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410" y="2755860"/>
                        <a:ext cx="5256212" cy="388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11" name="Rectangle 6"/>
              <p:cNvSpPr>
                <a:spLocks noChangeArrowheads="1"/>
              </p:cNvSpPr>
              <p:nvPr/>
            </p:nvSpPr>
            <p:spPr bwMode="auto">
              <a:xfrm>
                <a:off x="274762" y="228957"/>
                <a:ext cx="85453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9875" algn="l"/>
                  </a:tabLst>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en-US" sz="2000" dirty="0" smtClean="0">
                    <a:latin typeface="楷体_GB2312" pitchFamily="49" charset="-122"/>
                    <a:ea typeface="楷体_GB2312" pitchFamily="49" charset="-122"/>
                  </a:rPr>
                  <a:t>（</a:t>
                </a:r>
                <a:r>
                  <a:rPr lang="en-US" altLang="zh-CN" sz="2000" dirty="0">
                    <a:latin typeface="楷体_GB2312" pitchFamily="49" charset="-122"/>
                    <a:ea typeface="楷体_GB2312" pitchFamily="49" charset="-122"/>
                  </a:rPr>
                  <a:t>2</a:t>
                </a:r>
                <a:r>
                  <a:rPr lang="zh-CN" altLang="en-US" sz="2000" dirty="0">
                    <a:latin typeface="楷体_GB2312" pitchFamily="49" charset="-122"/>
                    <a:ea typeface="楷体_GB2312" pitchFamily="49" charset="-122"/>
                  </a:rPr>
                  <a:t>）将</a:t>
                </a:r>
                <a:r>
                  <a:rPr lang="zh-CN" altLang="en-US" sz="2000" b="1" dirty="0">
                    <a:solidFill>
                      <a:srgbClr val="FF0000"/>
                    </a:solidFill>
                    <a:latin typeface="黑体" panose="02010609060101010101" pitchFamily="49" charset="-122"/>
                    <a:ea typeface="黑体" panose="02010609060101010101" pitchFamily="49" charset="-122"/>
                  </a:rPr>
                  <a:t>每条边的信息链入与该边最小</a:t>
                </a:r>
                <a14:m>
                  <m:oMath xmlns:m="http://schemas.openxmlformats.org/officeDocument/2006/math">
                    <m:r>
                      <a:rPr lang="en-US" altLang="zh-CN" sz="2000" b="1" i="1">
                        <a:solidFill>
                          <a:srgbClr val="3366FF"/>
                        </a:solidFill>
                        <a:latin typeface="Cambria Math" panose="02040503050406030204" pitchFamily="18" charset="0"/>
                        <a:ea typeface="黑体" panose="02010609060101010101" pitchFamily="49" charset="-122"/>
                      </a:rPr>
                      <m:t>𝒚</m:t>
                    </m:r>
                  </m:oMath>
                </a14:m>
                <a:r>
                  <a:rPr lang="zh-CN" altLang="en-US" sz="2000" b="1" dirty="0">
                    <a:solidFill>
                      <a:srgbClr val="FF0000"/>
                    </a:solidFill>
                    <a:latin typeface="黑体" panose="02010609060101010101" pitchFamily="49" charset="-122"/>
                    <a:ea typeface="黑体" panose="02010609060101010101" pitchFamily="49" charset="-122"/>
                  </a:rPr>
                  <a:t>坐标（</a:t>
                </a:r>
                <a:r>
                  <a:rPr lang="en-US" altLang="zh-CN" sz="2000" b="1" dirty="0" err="1">
                    <a:solidFill>
                      <a:srgbClr val="FF0000"/>
                    </a:solidFill>
                    <a:latin typeface="黑体" panose="02010609060101010101" pitchFamily="49" charset="-122"/>
                    <a:ea typeface="黑体" panose="02010609060101010101" pitchFamily="49" charset="-122"/>
                  </a:rPr>
                  <a:t>ymin</a:t>
                </a:r>
                <a:r>
                  <a:rPr lang="zh-CN" altLang="en-US" sz="2000" b="1" dirty="0">
                    <a:solidFill>
                      <a:srgbClr val="FF0000"/>
                    </a:solidFill>
                    <a:latin typeface="黑体" panose="02010609060101010101" pitchFamily="49" charset="-122"/>
                    <a:ea typeface="黑体" panose="02010609060101010101" pitchFamily="49" charset="-122"/>
                  </a:rPr>
                  <a:t>）相对应的桶处</a:t>
                </a:r>
                <a:r>
                  <a:rPr lang="zh-CN" altLang="en-US" sz="2000" dirty="0">
                    <a:latin typeface="楷体_GB2312" pitchFamily="49" charset="-122"/>
                    <a:ea typeface="楷体_GB2312" pitchFamily="49" charset="-122"/>
                  </a:rPr>
                  <a:t>。也就是说，若某边的较低端点</a:t>
                </a:r>
                <a:r>
                  <a:rPr lang="zh-CN" altLang="en-US" sz="2000" dirty="0" smtClean="0">
                    <a:latin typeface="楷体_GB2312" pitchFamily="49" charset="-122"/>
                    <a:ea typeface="楷体_GB2312" pitchFamily="49" charset="-122"/>
                  </a:rPr>
                  <a:t>为 </a:t>
                </a:r>
                <a14:m>
                  <m:oMath xmlns:m="http://schemas.openxmlformats.org/officeDocument/2006/math">
                    <m:sSub>
                      <m:sSubPr>
                        <m:ctrlPr>
                          <a:rPr lang="en-US" altLang="zh-CN" sz="2000" b="1" i="1" smtClean="0">
                            <a:solidFill>
                              <a:srgbClr val="3366FF"/>
                            </a:solidFill>
                            <a:latin typeface="Cambria Math" panose="02040503050406030204" pitchFamily="18" charset="0"/>
                            <a:ea typeface="黑体" panose="02010609060101010101" pitchFamily="49" charset="-122"/>
                          </a:rPr>
                        </m:ctrlPr>
                      </m:sSubPr>
                      <m:e>
                        <m:r>
                          <a:rPr lang="en-US" altLang="zh-CN" sz="2000" b="1" i="1">
                            <a:solidFill>
                              <a:srgbClr val="3366FF"/>
                            </a:solidFill>
                            <a:latin typeface="Cambria Math" panose="02040503050406030204" pitchFamily="18" charset="0"/>
                            <a:ea typeface="黑体" panose="02010609060101010101" pitchFamily="49" charset="-122"/>
                          </a:rPr>
                          <m:t>𝒚</m:t>
                        </m:r>
                      </m:e>
                      <m:sub>
                        <m:r>
                          <a:rPr lang="en-US" altLang="zh-CN" sz="2000" b="1" i="1" smtClean="0">
                            <a:solidFill>
                              <a:srgbClr val="3366FF"/>
                            </a:solidFill>
                            <a:latin typeface="Cambria Math" panose="02040503050406030204" pitchFamily="18" charset="0"/>
                            <a:ea typeface="黑体" panose="02010609060101010101" pitchFamily="49" charset="-122"/>
                          </a:rPr>
                          <m:t>𝒎𝒊𝒏</m:t>
                        </m:r>
                      </m:sub>
                    </m:sSub>
                  </m:oMath>
                </a14:m>
                <a:r>
                  <a:rPr lang="zh-CN" altLang="en-US" sz="2000" dirty="0" smtClean="0">
                    <a:latin typeface="楷体_GB2312" pitchFamily="49" charset="-122"/>
                    <a:ea typeface="楷体_GB2312" pitchFamily="49" charset="-122"/>
                  </a:rPr>
                  <a:t>，</a:t>
                </a:r>
                <a:r>
                  <a:rPr lang="zh-CN" altLang="en-US" sz="2000" dirty="0">
                    <a:latin typeface="楷体_GB2312" pitchFamily="49" charset="-122"/>
                    <a:ea typeface="楷体_GB2312" pitchFamily="49" charset="-122"/>
                  </a:rPr>
                  <a:t>则该边就存放在相应的扫描线桶中。</a:t>
                </a:r>
                <a:endParaRPr lang="zh-CN" altLang="en-US" sz="2000" dirty="0">
                  <a:latin typeface="楷体_GB2312" pitchFamily="49" charset="-122"/>
                  <a:ea typeface="楷体_GB2312" pitchFamily="49" charset="-122"/>
                </a:endParaRPr>
              </a:p>
            </p:txBody>
          </p:sp>
        </mc:Choice>
        <mc:Fallback>
          <p:sp>
            <p:nvSpPr>
              <p:cNvPr id="11" name="Rectangle 6"/>
              <p:cNvSpPr>
                <a:spLocks noRot="1" noChangeAspect="1" noMove="1" noResize="1" noEditPoints="1" noAdjustHandles="1" noChangeArrowheads="1" noChangeShapeType="1" noTextEdit="1"/>
              </p:cNvSpPr>
              <p:nvPr/>
            </p:nvSpPr>
            <p:spPr bwMode="auto">
              <a:xfrm>
                <a:off x="274762" y="228957"/>
                <a:ext cx="8545388" cy="830997"/>
              </a:xfrm>
              <a:prstGeom prst="rect">
                <a:avLst/>
              </a:prstGeom>
              <a:blipFill rotWithShape="1">
                <a:blip r:embed="rId6"/>
                <a:stretch>
                  <a:fillRect l="-5" t="-43" b="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12" name="Object 18"/>
          <p:cNvGraphicFramePr>
            <a:graphicFrameLocks noChangeAspect="1"/>
          </p:cNvGraphicFramePr>
          <p:nvPr/>
        </p:nvGraphicFramePr>
        <p:xfrm>
          <a:off x="6196656" y="3501008"/>
          <a:ext cx="2665413" cy="2665413"/>
        </p:xfrm>
        <a:graphic>
          <a:graphicData uri="http://schemas.openxmlformats.org/presentationml/2006/ole">
            <mc:AlternateContent xmlns:mc="http://schemas.openxmlformats.org/markup-compatibility/2006">
              <mc:Choice xmlns:v="urn:schemas-microsoft-com:vml" Requires="v">
                <p:oleObj spid="_x0000_s35881" name="" r:id="rId7" imgW="6127750" imgH="6127750" progId="Visio.Drawing.11">
                  <p:embed/>
                </p:oleObj>
              </mc:Choice>
              <mc:Fallback>
                <p:oleObj name="" r:id="rId7" imgW="6127750" imgH="6127750" progId="Visio.Drawing.11">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96656" y="3501008"/>
                        <a:ext cx="2665413" cy="2665413"/>
                      </a:xfrm>
                      <a:prstGeom prst="rect">
                        <a:avLst/>
                      </a:prstGeom>
                      <a:noFill/>
                      <a:ln>
                        <a:noFill/>
                      </a:ln>
                    </p:spPr>
                  </p:pic>
                </p:oleObj>
              </mc:Fallback>
            </mc:AlternateContent>
          </a:graphicData>
        </a:graphic>
      </p:graphicFrame>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107504" y="188913"/>
            <a:ext cx="4248150" cy="792162"/>
          </a:xfrm>
          <a:ln>
            <a:miter lim="800000"/>
          </a:ln>
        </p:spPr>
        <p:txBody>
          <a:bodyPr rtlCol="0" anchorCtr="1">
            <a:normAutofit fontScale="90000"/>
          </a:bodyPr>
          <a:lstStyle/>
          <a:p>
            <a:pPr fontAlgn="auto">
              <a:spcAft>
                <a:spcPts val="0"/>
              </a:spcAft>
              <a:defRPr/>
            </a:pPr>
            <a:r>
              <a:rPr lang="en-US" altLang="zh-CN" dirty="0" smtClean="0">
                <a:effectLst>
                  <a:outerShdw blurRad="38100" dist="38100" dir="2700000" algn="tl">
                    <a:srgbClr val="C0C0C0"/>
                  </a:outerShdw>
                </a:effectLst>
                <a:latin typeface="楷体_GB2312" pitchFamily="49" charset="-122"/>
                <a:ea typeface="楷体_GB2312" pitchFamily="49" charset="-122"/>
              </a:rPr>
              <a:t>4.3 </a:t>
            </a:r>
            <a:r>
              <a:rPr lang="zh-CN" altLang="en-US" dirty="0" smtClean="0">
                <a:effectLst>
                  <a:outerShdw blurRad="38100" dist="38100" dir="2700000" algn="tl">
                    <a:srgbClr val="C0C0C0"/>
                  </a:outerShdw>
                </a:effectLst>
                <a:latin typeface="楷体_GB2312" pitchFamily="49" charset="-122"/>
                <a:ea typeface="楷体_GB2312" pitchFamily="49" charset="-122"/>
              </a:rPr>
              <a:t>边缘填充算法</a:t>
            </a:r>
            <a:endParaRPr lang="zh-CN" altLang="en-US" dirty="0" smtClean="0">
              <a:effectLst>
                <a:outerShdw blurRad="38100" dist="38100" dir="2700000" algn="tl">
                  <a:srgbClr val="C0C0C0"/>
                </a:outerShdw>
              </a:effectLst>
              <a:latin typeface="楷体_GB2312" pitchFamily="49" charset="-122"/>
              <a:ea typeface="楷体_GB2312" pitchFamily="49" charset="-122"/>
            </a:endParaRPr>
          </a:p>
        </p:txBody>
      </p:sp>
      <p:sp>
        <p:nvSpPr>
          <p:cNvPr id="27651" name="Rectangle 5"/>
          <p:cNvSpPr>
            <a:spLocks noChangeArrowheads="1"/>
          </p:cNvSpPr>
          <p:nvPr/>
        </p:nvSpPr>
        <p:spPr bwMode="auto">
          <a:xfrm>
            <a:off x="107504" y="978816"/>
            <a:ext cx="3816350"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4.3.1 </a:t>
            </a:r>
            <a:r>
              <a:rPr lang="zh-CN" altLang="en-US" sz="3200" b="1" dirty="0">
                <a:effectLst>
                  <a:outerShdw blurRad="38100" dist="38100" dir="2700000" algn="tl">
                    <a:srgbClr val="C0C0C0"/>
                  </a:outerShdw>
                </a:effectLst>
                <a:latin typeface="楷体_GB2312" pitchFamily="49" charset="-122"/>
                <a:ea typeface="楷体_GB2312" pitchFamily="49" charset="-122"/>
              </a:rPr>
              <a:t>填充原理</a:t>
            </a:r>
            <a:r>
              <a:rPr lang="zh-CN" altLang="en-US" dirty="0"/>
              <a:t>   </a:t>
            </a:r>
            <a:endParaRPr lang="zh-CN" altLang="en-US" dirty="0"/>
          </a:p>
        </p:txBody>
      </p:sp>
      <p:sp>
        <p:nvSpPr>
          <p:cNvPr id="36868" name="Rectangle 6"/>
          <p:cNvSpPr>
            <a:spLocks noChangeArrowheads="1"/>
          </p:cNvSpPr>
          <p:nvPr/>
        </p:nvSpPr>
        <p:spPr bwMode="auto">
          <a:xfrm>
            <a:off x="395536" y="1373588"/>
            <a:ext cx="8496944"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pPr>
            <a:r>
              <a:rPr lang="zh-CN" altLang="en-US" sz="2000" dirty="0" smtClean="0">
                <a:latin typeface="楷体_GB2312" pitchFamily="49" charset="-122"/>
                <a:ea typeface="楷体_GB2312" pitchFamily="49" charset="-122"/>
              </a:rPr>
              <a:t>边缘</a:t>
            </a:r>
            <a:r>
              <a:rPr lang="zh-CN" altLang="en-US" sz="2000" dirty="0">
                <a:latin typeface="楷体_GB2312" pitchFamily="49" charset="-122"/>
                <a:ea typeface="楷体_GB2312" pitchFamily="49" charset="-122"/>
              </a:rPr>
              <a:t>填充算法是</a:t>
            </a:r>
            <a:r>
              <a:rPr lang="zh-CN" altLang="en-US" sz="2000" b="1" dirty="0">
                <a:solidFill>
                  <a:srgbClr val="FF0000"/>
                </a:solidFill>
                <a:latin typeface="黑体" panose="02010609060101010101" pitchFamily="49" charset="-122"/>
                <a:ea typeface="黑体" panose="02010609060101010101" pitchFamily="49" charset="-122"/>
              </a:rPr>
              <a:t>先求出多边形的每条边与扫描线的交点</a:t>
            </a:r>
            <a:r>
              <a:rPr lang="zh-CN" altLang="en-US" sz="2000" dirty="0">
                <a:latin typeface="楷体_GB2312" pitchFamily="49" charset="-122"/>
                <a:ea typeface="楷体_GB2312" pitchFamily="49" charset="-122"/>
              </a:rPr>
              <a:t>，然后将</a:t>
            </a:r>
            <a:r>
              <a:rPr lang="zh-CN" altLang="en-US" sz="2000" b="1" dirty="0">
                <a:solidFill>
                  <a:srgbClr val="FF0000"/>
                </a:solidFill>
                <a:latin typeface="黑体" panose="02010609060101010101" pitchFamily="49" charset="-122"/>
                <a:ea typeface="黑体" panose="02010609060101010101" pitchFamily="49" charset="-122"/>
              </a:rPr>
              <a:t>交点右侧的所有像素颜色全部取为补色</a:t>
            </a:r>
            <a:r>
              <a:rPr lang="zh-CN" altLang="en-US" sz="2000" dirty="0">
                <a:latin typeface="楷体_GB2312" pitchFamily="49" charset="-122"/>
                <a:ea typeface="楷体_GB2312" pitchFamily="49" charset="-122"/>
              </a:rPr>
              <a:t>（或反色）。按任意顺序处理完多边形的所有边后，就完成了多边形的填充任务。边缘填充算法利用了图像处理中的</a:t>
            </a:r>
            <a:r>
              <a:rPr lang="zh-CN" altLang="en-US" sz="2000" b="1" dirty="0">
                <a:solidFill>
                  <a:srgbClr val="3366FF"/>
                </a:solidFill>
                <a:latin typeface="方正粗黑宋简体" panose="02000000000000000000" pitchFamily="2" charset="-122"/>
                <a:ea typeface="方正粗黑宋简体" panose="02000000000000000000" pitchFamily="2" charset="-122"/>
              </a:rPr>
              <a:t>求“补”或求“反”的概念</a:t>
            </a:r>
            <a:r>
              <a:rPr lang="zh-CN" altLang="en-US" sz="2000" dirty="0">
                <a:latin typeface="楷体_GB2312" pitchFamily="49" charset="-122"/>
                <a:ea typeface="楷体_GB2312" pitchFamily="49" charset="-122"/>
              </a:rPr>
              <a:t>，对于黑白图像，求补就是把</a:t>
            </a:r>
            <a:r>
              <a:rPr lang="en-US" altLang="zh-CN" sz="2000" dirty="0">
                <a:latin typeface="楷体_GB2312" pitchFamily="49" charset="-122"/>
                <a:ea typeface="楷体_GB2312" pitchFamily="49" charset="-122"/>
              </a:rPr>
              <a:t>RGB(1,1,1)</a:t>
            </a:r>
            <a:r>
              <a:rPr lang="zh-CN" altLang="en-US" sz="2000" dirty="0">
                <a:latin typeface="楷体_GB2312" pitchFamily="49" charset="-122"/>
                <a:ea typeface="楷体_GB2312" pitchFamily="49" charset="-122"/>
              </a:rPr>
              <a:t>（白色）的像素置为</a:t>
            </a:r>
            <a:r>
              <a:rPr lang="en-US" altLang="zh-CN" sz="2000" dirty="0">
                <a:latin typeface="楷体_GB2312" pitchFamily="49" charset="-122"/>
                <a:ea typeface="楷体_GB2312" pitchFamily="49" charset="-122"/>
              </a:rPr>
              <a:t>RGB(0,0,0)</a:t>
            </a:r>
            <a:r>
              <a:rPr lang="zh-CN" altLang="en-US" sz="2000" dirty="0">
                <a:latin typeface="楷体_GB2312" pitchFamily="49" charset="-122"/>
                <a:ea typeface="楷体_GB2312" pitchFamily="49" charset="-122"/>
              </a:rPr>
              <a:t>（黑色），反之亦然；对于彩色图像，求补就是将背景色置为填充色，反之亦然。求补的一条基本性质是</a:t>
            </a:r>
            <a:r>
              <a:rPr lang="zh-CN" altLang="en-US" sz="2000" b="1" dirty="0">
                <a:solidFill>
                  <a:srgbClr val="FF0000"/>
                </a:solidFill>
                <a:latin typeface="黑体" panose="02010609060101010101" pitchFamily="49" charset="-122"/>
                <a:ea typeface="黑体" panose="02010609060101010101" pitchFamily="49" charset="-122"/>
              </a:rPr>
              <a:t>一个像素求补两次就恢复为原色</a:t>
            </a:r>
            <a:r>
              <a:rPr lang="zh-CN" altLang="en-US" sz="2000" dirty="0" smtClean="0">
                <a:latin typeface="楷体_GB2312" pitchFamily="49" charset="-122"/>
                <a:ea typeface="楷体_GB2312" pitchFamily="49" charset="-122"/>
              </a:rPr>
              <a:t>。</a:t>
            </a:r>
            <a:endParaRPr lang="en-US" altLang="zh-CN" sz="2000" dirty="0" smtClean="0">
              <a:latin typeface="楷体_GB2312" pitchFamily="49" charset="-122"/>
              <a:ea typeface="楷体_GB2312" pitchFamily="49" charset="-122"/>
            </a:endParaRPr>
          </a:p>
          <a:p>
            <a:pPr marL="342900" indent="-342900" algn="just" eaLnBrk="1" hangingPunct="1">
              <a:lnSpc>
                <a:spcPct val="120000"/>
              </a:lnSpc>
              <a:buFont typeface="Wingdings" panose="05000000000000000000" pitchFamily="2" charset="2"/>
              <a:buChar char="n"/>
            </a:pP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如果</a:t>
            </a:r>
            <a:r>
              <a:rPr lang="zh-CN" altLang="en-US" sz="2000" b="1" dirty="0">
                <a:solidFill>
                  <a:srgbClr val="3366FF"/>
                </a:solidFill>
                <a:latin typeface="方正粗黑宋简体" panose="02000000000000000000" pitchFamily="2" charset="-122"/>
                <a:ea typeface="方正粗黑宋简体" panose="02000000000000000000" pitchFamily="2" charset="-122"/>
              </a:rPr>
              <a:t>多边形内部的像素被求补偶数次，保持原色</a:t>
            </a:r>
            <a:r>
              <a:rPr lang="zh-CN" altLang="en-US" sz="2000" dirty="0" smtClean="0">
                <a:latin typeface="楷体_GB2312" pitchFamily="49" charset="-122"/>
                <a:ea typeface="楷体_GB2312" pitchFamily="49" charset="-122"/>
              </a:rPr>
              <a:t>，</a:t>
            </a:r>
            <a:endParaRPr lang="en-US" altLang="zh-CN" sz="2000" dirty="0" smtClean="0">
              <a:latin typeface="楷体_GB2312" pitchFamily="49" charset="-122"/>
              <a:ea typeface="楷体_GB2312" pitchFamily="49" charset="-122"/>
            </a:endParaRPr>
          </a:p>
          <a:p>
            <a:pPr marL="342900" indent="-342900" algn="just" eaLnBrk="1" hangingPunct="1">
              <a:lnSpc>
                <a:spcPct val="120000"/>
              </a:lnSpc>
              <a:buFont typeface="Wingdings" panose="05000000000000000000" pitchFamily="2" charset="2"/>
              <a:buChar char="n"/>
            </a:pPr>
            <a:r>
              <a:rPr lang="zh-CN" altLang="en-US" sz="2000" dirty="0" smtClean="0">
                <a:latin typeface="楷体_GB2312" pitchFamily="49" charset="-122"/>
                <a:ea typeface="楷体_GB2312" pitchFamily="49" charset="-122"/>
              </a:rPr>
              <a:t>如果</a:t>
            </a:r>
            <a:r>
              <a:rPr lang="zh-CN" altLang="en-US" sz="2000" dirty="0">
                <a:latin typeface="楷体_GB2312" pitchFamily="49" charset="-122"/>
                <a:ea typeface="楷体_GB2312" pitchFamily="49" charset="-122"/>
              </a:rPr>
              <a:t>被求补奇数次，显示填充色。</a:t>
            </a:r>
            <a:endParaRPr lang="zh-CN" altLang="en-US" sz="2000" dirty="0">
              <a:latin typeface="楷体_GB2312" pitchFamily="49" charset="-122"/>
              <a:ea typeface="楷体_GB2312" pitchFamily="49" charset="-122"/>
            </a:endParaRPr>
          </a:p>
        </p:txBody>
      </p:sp>
      <p:sp>
        <p:nvSpPr>
          <p:cNvPr id="5" name="Rectangle 3"/>
          <p:cNvSpPr>
            <a:spLocks noChangeArrowheads="1"/>
          </p:cNvSpPr>
          <p:nvPr/>
        </p:nvSpPr>
        <p:spPr bwMode="auto">
          <a:xfrm>
            <a:off x="395536" y="5661248"/>
            <a:ext cx="86409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en-US" sz="2000" dirty="0" smtClean="0">
                <a:latin typeface="楷体_GB2312" pitchFamily="49" charset="-122"/>
                <a:ea typeface="楷体_GB2312" pitchFamily="49" charset="-122"/>
              </a:rPr>
              <a:t>假定</a:t>
            </a:r>
            <a:r>
              <a:rPr lang="zh-CN" altLang="en-US" sz="2000" dirty="0">
                <a:latin typeface="楷体_GB2312" pitchFamily="49" charset="-122"/>
                <a:ea typeface="楷体_GB2312" pitchFamily="49" charset="-122"/>
              </a:rPr>
              <a:t>边的顺序</a:t>
            </a:r>
            <a:r>
              <a:rPr lang="zh-CN" altLang="en-US" sz="2000" dirty="0" smtClean="0">
                <a:latin typeface="楷体_GB2312" pitchFamily="49" charset="-122"/>
                <a:ea typeface="楷体_GB2312" pitchFamily="49" charset="-122"/>
              </a:rPr>
              <a:t>为 </a:t>
            </a:r>
            <a:r>
              <a:rPr lang="en-US" altLang="zh-CN" sz="2000" dirty="0" smtClean="0">
                <a:latin typeface="楷体_GB2312" pitchFamily="49" charset="-122"/>
                <a:ea typeface="楷体_GB2312" pitchFamily="49" charset="-122"/>
              </a:rPr>
              <a:t>E</a:t>
            </a:r>
            <a:r>
              <a:rPr lang="en-US" altLang="zh-CN" sz="2000" baseline="-25000" dirty="0" smtClean="0">
                <a:latin typeface="楷体_GB2312" pitchFamily="49" charset="-122"/>
                <a:ea typeface="楷体_GB2312" pitchFamily="49" charset="-122"/>
              </a:rPr>
              <a:t>0</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E</a:t>
            </a:r>
            <a:r>
              <a:rPr lang="en-US" altLang="zh-CN" sz="2000" baseline="-25000" dirty="0">
                <a:latin typeface="楷体_GB2312" pitchFamily="49" charset="-122"/>
                <a:ea typeface="楷体_GB2312" pitchFamily="49" charset="-122"/>
              </a:rPr>
              <a:t>1</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E</a:t>
            </a:r>
            <a:r>
              <a:rPr lang="en-US" altLang="zh-CN" sz="2000" baseline="-25000" dirty="0">
                <a:latin typeface="楷体_GB2312" pitchFamily="49" charset="-122"/>
                <a:ea typeface="楷体_GB2312" pitchFamily="49" charset="-122"/>
              </a:rPr>
              <a:t>2</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E</a:t>
            </a:r>
            <a:r>
              <a:rPr lang="en-US" altLang="zh-CN" sz="2000" baseline="-25000" dirty="0">
                <a:latin typeface="楷体_GB2312" pitchFamily="49" charset="-122"/>
                <a:ea typeface="楷体_GB2312" pitchFamily="49" charset="-122"/>
              </a:rPr>
              <a:t>3</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E</a:t>
            </a:r>
            <a:r>
              <a:rPr lang="en-US" altLang="zh-CN" sz="2000" baseline="-25000" dirty="0">
                <a:latin typeface="楷体_GB2312" pitchFamily="49" charset="-122"/>
                <a:ea typeface="楷体_GB2312" pitchFamily="49" charset="-122"/>
              </a:rPr>
              <a:t>4</a:t>
            </a:r>
            <a:r>
              <a:rPr lang="zh-CN" altLang="en-US" sz="2000" dirty="0">
                <a:latin typeface="楷体_GB2312" pitchFamily="49" charset="-122"/>
                <a:ea typeface="楷体_GB2312" pitchFamily="49" charset="-122"/>
              </a:rPr>
              <a:t>、</a:t>
            </a:r>
            <a:r>
              <a:rPr lang="en-US" altLang="zh-CN" sz="2000" dirty="0" smtClean="0">
                <a:latin typeface="楷体_GB2312" pitchFamily="49" charset="-122"/>
                <a:ea typeface="楷体_GB2312" pitchFamily="49" charset="-122"/>
              </a:rPr>
              <a:t>E</a:t>
            </a:r>
            <a:r>
              <a:rPr lang="en-US" altLang="zh-CN" sz="2000" baseline="-25000" dirty="0" smtClean="0">
                <a:latin typeface="楷体_GB2312" pitchFamily="49" charset="-122"/>
                <a:ea typeface="楷体_GB2312" pitchFamily="49" charset="-122"/>
              </a:rPr>
              <a:t>5 </a:t>
            </a:r>
            <a:r>
              <a:rPr lang="zh-CN" altLang="en-US" sz="2000" dirty="0" smtClean="0">
                <a:latin typeface="楷体_GB2312" pitchFamily="49" charset="-122"/>
                <a:ea typeface="楷体_GB2312" pitchFamily="49" charset="-122"/>
              </a:rPr>
              <a:t>和 </a:t>
            </a:r>
            <a:r>
              <a:rPr lang="en-US" altLang="zh-CN" sz="2000" dirty="0" smtClean="0">
                <a:latin typeface="楷体_GB2312" pitchFamily="49" charset="-122"/>
                <a:ea typeface="楷体_GB2312" pitchFamily="49" charset="-122"/>
              </a:rPr>
              <a:t>E</a:t>
            </a:r>
            <a:r>
              <a:rPr lang="en-US" altLang="zh-CN" sz="2000" baseline="-25000" dirty="0" smtClean="0">
                <a:latin typeface="楷体_GB2312" pitchFamily="49" charset="-122"/>
                <a:ea typeface="楷体_GB2312" pitchFamily="49" charset="-122"/>
              </a:rPr>
              <a:t>6</a:t>
            </a:r>
            <a:r>
              <a:rPr lang="zh-CN" altLang="en-US" sz="2000" dirty="0" smtClean="0">
                <a:latin typeface="楷体_GB2312" pitchFamily="49" charset="-122"/>
                <a:ea typeface="楷体_GB2312" pitchFamily="49" charset="-122"/>
              </a:rPr>
              <a:t>。边</a:t>
            </a:r>
            <a:r>
              <a:rPr lang="zh-CN" altLang="en-US" sz="2000" dirty="0">
                <a:latin typeface="楷体_GB2312" pitchFamily="49" charset="-122"/>
                <a:ea typeface="楷体_GB2312" pitchFamily="49" charset="-122"/>
              </a:rPr>
              <a:t>的顺序并不影响填充结果，只是方便编写循环结构而已。填充过程如图所示。</a:t>
            </a:r>
            <a:endParaRPr lang="zh-CN" altLang="en-US" sz="2000" dirty="0">
              <a:latin typeface="楷体_GB2312" pitchFamily="49" charset="-122"/>
              <a:ea typeface="楷体_GB2312" pitchFamily="49" charset="-122"/>
            </a:endParaRPr>
          </a:p>
        </p:txBody>
      </p:sp>
      <p:sp>
        <p:nvSpPr>
          <p:cNvPr id="6" name="Rectangle 16"/>
          <p:cNvSpPr>
            <a:spLocks noChangeArrowheads="1"/>
          </p:cNvSpPr>
          <p:nvPr/>
        </p:nvSpPr>
        <p:spPr bwMode="auto">
          <a:xfrm>
            <a:off x="395536" y="4935859"/>
            <a:ext cx="3816350"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4.3.2 </a:t>
            </a:r>
            <a:r>
              <a:rPr lang="zh-CN" altLang="en-US" sz="3200" b="1" dirty="0">
                <a:effectLst>
                  <a:outerShdw blurRad="38100" dist="38100" dir="2700000" algn="tl">
                    <a:srgbClr val="C0C0C0"/>
                  </a:outerShdw>
                </a:effectLst>
                <a:latin typeface="楷体_GB2312" pitchFamily="49" charset="-122"/>
                <a:ea typeface="楷体_GB2312" pitchFamily="49" charset="-122"/>
              </a:rPr>
              <a:t>填充过程</a:t>
            </a:r>
            <a:r>
              <a:rPr lang="zh-CN" altLang="en-US" dirty="0"/>
              <a:t>  </a:t>
            </a:r>
            <a:endParaRPr lang="zh-CN" altLang="en-US"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p:cNvSpPr>
            <a:spLocks noChangeArrowheads="1"/>
          </p:cNvSpPr>
          <p:nvPr/>
        </p:nvSpPr>
        <p:spPr bwMode="auto">
          <a:xfrm>
            <a:off x="5564187" y="6363578"/>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a:solidFill>
                  <a:srgbClr val="0000CC"/>
                </a:solidFill>
                <a:latin typeface="楷体_GB2312" pitchFamily="49" charset="-122"/>
                <a:ea typeface="楷体_GB2312" pitchFamily="49" charset="-122"/>
                <a:hlinkClick r:id="rId1" action="ppaction://hlinkfile"/>
              </a:rPr>
              <a:t>边缘填充算法原理</a:t>
            </a:r>
            <a:endParaRPr lang="zh-CN" altLang="en-US" dirty="0">
              <a:solidFill>
                <a:srgbClr val="0000CC"/>
              </a:solidFill>
              <a:latin typeface="楷体_GB2312" pitchFamily="49" charset="-122"/>
              <a:ea typeface="楷体_GB2312" pitchFamily="49" charset="-122"/>
            </a:endParaRPr>
          </a:p>
        </p:txBody>
      </p:sp>
      <p:graphicFrame>
        <p:nvGraphicFramePr>
          <p:cNvPr id="38915" name="Object 17"/>
          <p:cNvGraphicFramePr>
            <a:graphicFrameLocks noChangeAspect="1"/>
          </p:cNvGraphicFramePr>
          <p:nvPr/>
        </p:nvGraphicFramePr>
        <p:xfrm>
          <a:off x="4211638" y="333375"/>
          <a:ext cx="1873250" cy="1873250"/>
        </p:xfrm>
        <a:graphic>
          <a:graphicData uri="http://schemas.openxmlformats.org/presentationml/2006/ole">
            <mc:AlternateContent xmlns:mc="http://schemas.openxmlformats.org/markup-compatibility/2006">
              <mc:Choice xmlns:v="urn:schemas-microsoft-com:vml" Requires="v">
                <p:oleObj spid="_x0000_s39011" name="" r:id="rId2" imgW="5462905" imgH="5462905" progId="Visio.Drawing.11">
                  <p:embed/>
                </p:oleObj>
              </mc:Choice>
              <mc:Fallback>
                <p:oleObj name="" r:id="rId2" imgW="5462905" imgH="5462905" progId="Visio.Drawing.11">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333375"/>
                        <a:ext cx="18732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916" name="Object 16"/>
          <p:cNvGraphicFramePr>
            <a:graphicFrameLocks noChangeAspect="1"/>
          </p:cNvGraphicFramePr>
          <p:nvPr/>
        </p:nvGraphicFramePr>
        <p:xfrm>
          <a:off x="6516688" y="333375"/>
          <a:ext cx="1873250" cy="1873250"/>
        </p:xfrm>
        <a:graphic>
          <a:graphicData uri="http://schemas.openxmlformats.org/presentationml/2006/ole">
            <mc:AlternateContent xmlns:mc="http://schemas.openxmlformats.org/markup-compatibility/2006">
              <mc:Choice xmlns:v="urn:schemas-microsoft-com:vml" Requires="v">
                <p:oleObj spid="_x0000_s39012" name="" r:id="rId4" imgW="5462905" imgH="5462905" progId="Visio.Drawing.11">
                  <p:embed/>
                </p:oleObj>
              </mc:Choice>
              <mc:Fallback>
                <p:oleObj name="" r:id="rId4" imgW="5462905" imgH="5462905" progId="Visio.Drawing.11">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688" y="333375"/>
                        <a:ext cx="18732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917" name="Object 15"/>
          <p:cNvGraphicFramePr>
            <a:graphicFrameLocks noChangeAspect="1"/>
          </p:cNvGraphicFramePr>
          <p:nvPr/>
        </p:nvGraphicFramePr>
        <p:xfrm>
          <a:off x="4438835" y="2365112"/>
          <a:ext cx="2089150" cy="2089150"/>
        </p:xfrm>
        <a:graphic>
          <a:graphicData uri="http://schemas.openxmlformats.org/presentationml/2006/ole">
            <mc:AlternateContent xmlns:mc="http://schemas.openxmlformats.org/markup-compatibility/2006">
              <mc:Choice xmlns:v="urn:schemas-microsoft-com:vml" Requires="v">
                <p:oleObj spid="_x0000_s39013" name="" r:id="rId6" imgW="5462905" imgH="5462905" progId="Visio.Drawing.11">
                  <p:embed/>
                </p:oleObj>
              </mc:Choice>
              <mc:Fallback>
                <p:oleObj name="" r:id="rId6" imgW="5462905" imgH="5462905" progId="Visio.Drawing.11">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38835" y="2365112"/>
                        <a:ext cx="2089150" cy="2089150"/>
                      </a:xfrm>
                      <a:prstGeom prst="rect">
                        <a:avLst/>
                      </a:prstGeom>
                      <a:noFill/>
                      <a:ln>
                        <a:noFill/>
                      </a:ln>
                    </p:spPr>
                  </p:pic>
                </p:oleObj>
              </mc:Fallback>
            </mc:AlternateContent>
          </a:graphicData>
        </a:graphic>
      </p:graphicFrame>
      <p:graphicFrame>
        <p:nvGraphicFramePr>
          <p:cNvPr id="38918" name="Object 14"/>
          <p:cNvGraphicFramePr>
            <a:graphicFrameLocks noChangeAspect="1"/>
          </p:cNvGraphicFramePr>
          <p:nvPr/>
        </p:nvGraphicFramePr>
        <p:xfrm>
          <a:off x="6959785" y="2365112"/>
          <a:ext cx="1871663" cy="1871662"/>
        </p:xfrm>
        <a:graphic>
          <a:graphicData uri="http://schemas.openxmlformats.org/presentationml/2006/ole">
            <mc:AlternateContent xmlns:mc="http://schemas.openxmlformats.org/markup-compatibility/2006">
              <mc:Choice xmlns:v="urn:schemas-microsoft-com:vml" Requires="v">
                <p:oleObj spid="_x0000_s39014" name="" r:id="rId8" imgW="5462905" imgH="5462905" progId="Visio.Drawing.11">
                  <p:embed/>
                </p:oleObj>
              </mc:Choice>
              <mc:Fallback>
                <p:oleObj name="" r:id="rId8" imgW="5462905" imgH="5462905" progId="Visio.Drawing.11">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59785" y="2365112"/>
                        <a:ext cx="1871663"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919" name="Object 13"/>
          <p:cNvGraphicFramePr>
            <a:graphicFrameLocks noChangeAspect="1"/>
          </p:cNvGraphicFramePr>
          <p:nvPr/>
        </p:nvGraphicFramePr>
        <p:xfrm>
          <a:off x="1942307" y="4445879"/>
          <a:ext cx="1944687" cy="1944688"/>
        </p:xfrm>
        <a:graphic>
          <a:graphicData uri="http://schemas.openxmlformats.org/presentationml/2006/ole">
            <mc:AlternateContent xmlns:mc="http://schemas.openxmlformats.org/markup-compatibility/2006">
              <mc:Choice xmlns:v="urn:schemas-microsoft-com:vml" Requires="v">
                <p:oleObj spid="_x0000_s39015" name="" r:id="rId10" imgW="5462905" imgH="5462905" progId="Visio.Drawing.11">
                  <p:embed/>
                </p:oleObj>
              </mc:Choice>
              <mc:Fallback>
                <p:oleObj name="" r:id="rId10" imgW="5462905" imgH="5462905" progId="Visio.Drawing.11">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42307" y="4445879"/>
                        <a:ext cx="1944687"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920" name="Object 12"/>
          <p:cNvGraphicFramePr>
            <a:graphicFrameLocks noChangeAspect="1"/>
          </p:cNvGraphicFramePr>
          <p:nvPr/>
        </p:nvGraphicFramePr>
        <p:xfrm>
          <a:off x="4498975" y="4445879"/>
          <a:ext cx="1944687" cy="1928812"/>
        </p:xfrm>
        <a:graphic>
          <a:graphicData uri="http://schemas.openxmlformats.org/presentationml/2006/ole">
            <mc:AlternateContent xmlns:mc="http://schemas.openxmlformats.org/markup-compatibility/2006">
              <mc:Choice xmlns:v="urn:schemas-microsoft-com:vml" Requires="v">
                <p:oleObj spid="_x0000_s39016" name="" r:id="rId12" imgW="5193030" imgH="5193030" progId="Visio.Drawing.11">
                  <p:embed/>
                </p:oleObj>
              </mc:Choice>
              <mc:Fallback>
                <p:oleObj name="" r:id="rId12" imgW="5193030" imgH="5193030" progId="Visio.Drawing.11">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l="6064" b="6546"/>
                      <a:stretch>
                        <a:fillRect/>
                      </a:stretch>
                    </p:blipFill>
                    <p:spPr bwMode="auto">
                      <a:xfrm>
                        <a:off x="4498975" y="4445879"/>
                        <a:ext cx="1944687"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921" name="Object 11"/>
          <p:cNvGraphicFramePr>
            <a:graphicFrameLocks noChangeAspect="1"/>
          </p:cNvGraphicFramePr>
          <p:nvPr/>
        </p:nvGraphicFramePr>
        <p:xfrm>
          <a:off x="7019925" y="4445879"/>
          <a:ext cx="1871662" cy="1855787"/>
        </p:xfrm>
        <a:graphic>
          <a:graphicData uri="http://schemas.openxmlformats.org/presentationml/2006/ole">
            <mc:AlternateContent xmlns:mc="http://schemas.openxmlformats.org/markup-compatibility/2006">
              <mc:Choice xmlns:v="urn:schemas-microsoft-com:vml" Requires="v">
                <p:oleObj spid="_x0000_s39017" name="" r:id="rId14" imgW="5193030" imgH="5193030" progId="Visio.Drawing.11">
                  <p:embed/>
                </p:oleObj>
              </mc:Choice>
              <mc:Fallback>
                <p:oleObj name="" r:id="rId14" imgW="5193030" imgH="5193030" progId="Visio.Drawing.11">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l="6952" b="7416"/>
                      <a:stretch>
                        <a:fillRect/>
                      </a:stretch>
                    </p:blipFill>
                    <p:spPr bwMode="auto">
                      <a:xfrm>
                        <a:off x="7019925" y="4445879"/>
                        <a:ext cx="1871662"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22" name="Rectangle 20"/>
          <p:cNvSpPr>
            <a:spLocks noChangeArrowheads="1"/>
          </p:cNvSpPr>
          <p:nvPr/>
        </p:nvSpPr>
        <p:spPr bwMode="auto">
          <a:xfrm>
            <a:off x="4448175" y="113982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29713" name="Line 33"/>
          <p:cNvSpPr>
            <a:spLocks noChangeShapeType="1"/>
          </p:cNvSpPr>
          <p:nvPr/>
        </p:nvSpPr>
        <p:spPr bwMode="auto">
          <a:xfrm flipH="1" flipV="1">
            <a:off x="4643438" y="333375"/>
            <a:ext cx="649287" cy="64770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4" name="Line 34"/>
          <p:cNvSpPr>
            <a:spLocks noChangeShapeType="1"/>
          </p:cNvSpPr>
          <p:nvPr/>
        </p:nvSpPr>
        <p:spPr bwMode="auto">
          <a:xfrm flipV="1">
            <a:off x="6659563" y="333375"/>
            <a:ext cx="360362" cy="792163"/>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5" name="Line 35"/>
          <p:cNvSpPr>
            <a:spLocks noChangeShapeType="1"/>
          </p:cNvSpPr>
          <p:nvPr/>
        </p:nvSpPr>
        <p:spPr bwMode="auto">
          <a:xfrm flipH="1" flipV="1">
            <a:off x="4654735" y="3228712"/>
            <a:ext cx="288925" cy="1008062"/>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6" name="Line 36"/>
          <p:cNvSpPr>
            <a:spLocks noChangeShapeType="1"/>
          </p:cNvSpPr>
          <p:nvPr/>
        </p:nvSpPr>
        <p:spPr bwMode="auto">
          <a:xfrm flipH="1">
            <a:off x="7391585" y="3444612"/>
            <a:ext cx="504825" cy="649287"/>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7" name="Line 37"/>
          <p:cNvSpPr>
            <a:spLocks noChangeShapeType="1"/>
          </p:cNvSpPr>
          <p:nvPr/>
        </p:nvSpPr>
        <p:spPr bwMode="auto">
          <a:xfrm>
            <a:off x="2880519" y="5596817"/>
            <a:ext cx="358775" cy="649287"/>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8" name="Line 38"/>
          <p:cNvSpPr>
            <a:spLocks noChangeShapeType="1"/>
          </p:cNvSpPr>
          <p:nvPr/>
        </p:nvSpPr>
        <p:spPr bwMode="auto">
          <a:xfrm flipH="1">
            <a:off x="5722937" y="5022141"/>
            <a:ext cx="647700" cy="129540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9" name="Line 39"/>
          <p:cNvSpPr>
            <a:spLocks noChangeShapeType="1"/>
          </p:cNvSpPr>
          <p:nvPr/>
        </p:nvSpPr>
        <p:spPr bwMode="auto">
          <a:xfrm flipH="1">
            <a:off x="8027987" y="4950704"/>
            <a:ext cx="863600" cy="142875"/>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 name="Object 4"/>
          <p:cNvGraphicFramePr>
            <a:graphicFrameLocks noChangeAspect="1"/>
          </p:cNvGraphicFramePr>
          <p:nvPr/>
        </p:nvGraphicFramePr>
        <p:xfrm>
          <a:off x="764308" y="333375"/>
          <a:ext cx="3168650" cy="2854325"/>
        </p:xfrm>
        <a:graphic>
          <a:graphicData uri="http://schemas.openxmlformats.org/presentationml/2006/ole">
            <mc:AlternateContent xmlns:mc="http://schemas.openxmlformats.org/markup-compatibility/2006">
              <mc:Choice xmlns:v="urn:schemas-microsoft-com:vml" Requires="v">
                <p:oleObj spid="_x0000_s39018" name="" r:id="rId16" imgW="5610860" imgH="5610860" progId="Visio.Drawing.11">
                  <p:embed/>
                </p:oleObj>
              </mc:Choice>
              <mc:Fallback>
                <p:oleObj name="" r:id="rId16" imgW="5610860" imgH="5610860" progId="Visio.Drawing.11">
                  <p:embed/>
                  <p:pic>
                    <p:nvPicPr>
                      <p:cNvPr id="0"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4308" y="333375"/>
                        <a:ext cx="3168650" cy="2854325"/>
                      </a:xfrm>
                      <a:prstGeom prst="rect">
                        <a:avLst/>
                      </a:prstGeom>
                      <a:noFill/>
                      <a:ln>
                        <a:noFill/>
                      </a:ln>
                    </p:spPr>
                  </p:pic>
                </p:oleObj>
              </mc:Fallback>
            </mc:AlternateContent>
          </a:graphicData>
        </a:graphic>
      </p:graphicFrame>
      <p:sp>
        <p:nvSpPr>
          <p:cNvPr id="20" name="Rectangle 5"/>
          <p:cNvSpPr>
            <a:spLocks noChangeArrowheads="1"/>
          </p:cNvSpPr>
          <p:nvPr/>
        </p:nvSpPr>
        <p:spPr bwMode="auto">
          <a:xfrm>
            <a:off x="275358" y="3330699"/>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dirty="0">
                <a:latin typeface="楷体_GB2312" pitchFamily="49" charset="-122"/>
                <a:ea typeface="楷体_GB2312" pitchFamily="49" charset="-122"/>
              </a:rPr>
              <a:t>边缘填充算法定义示例多边形</a:t>
            </a:r>
            <a:endParaRPr lang="zh-CN" altLang="en-US" dirty="0">
              <a:latin typeface="楷体_GB2312" pitchFamily="49" charset="-122"/>
              <a:ea typeface="楷体_GB2312" pitchFamily="49" charset="-122"/>
            </a:endParaRPr>
          </a:p>
        </p:txBody>
      </p:sp>
      <p:sp>
        <p:nvSpPr>
          <p:cNvPr id="21" name="Rectangle 6"/>
          <p:cNvSpPr>
            <a:spLocks noChangeArrowheads="1"/>
          </p:cNvSpPr>
          <p:nvPr/>
        </p:nvSpPr>
        <p:spPr bwMode="auto">
          <a:xfrm>
            <a:off x="2423245" y="1438275"/>
            <a:ext cx="1365250"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P</a:t>
            </a:r>
            <a:r>
              <a:rPr lang="en-US" altLang="zh-CN" sz="1600" baseline="-25000">
                <a:latin typeface="Arial" panose="020B0604020202020204" pitchFamily="34" charset="0"/>
              </a:rPr>
              <a:t>0</a:t>
            </a:r>
            <a:r>
              <a:rPr lang="zh-CN" altLang="en-US" sz="1600">
                <a:latin typeface="Arial" panose="020B0604020202020204" pitchFamily="34" charset="0"/>
              </a:rPr>
              <a:t>（</a:t>
            </a:r>
            <a:r>
              <a:rPr lang="pt-BR" altLang="en-US" sz="1600">
                <a:latin typeface="Arial" panose="020B0604020202020204" pitchFamily="34" charset="0"/>
              </a:rPr>
              <a:t>x</a:t>
            </a:r>
            <a:r>
              <a:rPr lang="en-US" altLang="zh-CN" sz="1600" baseline="-25000">
                <a:latin typeface="Arial" panose="020B0604020202020204" pitchFamily="34" charset="0"/>
              </a:rPr>
              <a:t>0</a:t>
            </a:r>
            <a:r>
              <a:rPr lang="zh-CN" altLang="en-US" sz="1600">
                <a:latin typeface="Arial" panose="020B0604020202020204" pitchFamily="34" charset="0"/>
              </a:rPr>
              <a:t>，</a:t>
            </a:r>
            <a:r>
              <a:rPr lang="pt-BR" altLang="en-US" sz="1600">
                <a:latin typeface="Arial" panose="020B0604020202020204" pitchFamily="34" charset="0"/>
              </a:rPr>
              <a:t>y</a:t>
            </a:r>
            <a:r>
              <a:rPr lang="en-US" altLang="zh-CN" sz="1600" baseline="-25000">
                <a:latin typeface="Arial" panose="020B0604020202020204" pitchFamily="34" charset="0"/>
              </a:rPr>
              <a:t>0</a:t>
            </a:r>
            <a:r>
              <a:rPr lang="zh-CN" altLang="en-US" sz="1600">
                <a:latin typeface="Arial" panose="020B0604020202020204" pitchFamily="34" charset="0"/>
              </a:rPr>
              <a:t>）</a:t>
            </a:r>
            <a:endParaRPr lang="zh-CN" altLang="en-US" sz="1600">
              <a:latin typeface="Arial" panose="020B0604020202020204" pitchFamily="34" charset="0"/>
            </a:endParaRPr>
          </a:p>
        </p:txBody>
      </p:sp>
      <p:sp>
        <p:nvSpPr>
          <p:cNvPr id="22" name="Rectangle 7"/>
          <p:cNvSpPr>
            <a:spLocks noChangeArrowheads="1"/>
          </p:cNvSpPr>
          <p:nvPr/>
        </p:nvSpPr>
        <p:spPr bwMode="auto">
          <a:xfrm>
            <a:off x="1267545" y="190500"/>
            <a:ext cx="1365250"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P</a:t>
            </a:r>
            <a:r>
              <a:rPr lang="en-US" altLang="zh-CN" sz="1600" baseline="-25000">
                <a:latin typeface="Arial" panose="020B0604020202020204" pitchFamily="34" charset="0"/>
              </a:rPr>
              <a:t>1</a:t>
            </a:r>
            <a:r>
              <a:rPr lang="zh-CN" altLang="en-US" sz="1600">
                <a:latin typeface="Arial" panose="020B0604020202020204" pitchFamily="34" charset="0"/>
              </a:rPr>
              <a:t>（</a:t>
            </a:r>
            <a:r>
              <a:rPr lang="pt-BR" altLang="en-US" sz="1600">
                <a:latin typeface="Arial" panose="020B0604020202020204" pitchFamily="34" charset="0"/>
              </a:rPr>
              <a:t>x</a:t>
            </a:r>
            <a:r>
              <a:rPr lang="en-US" altLang="zh-CN" sz="1600" baseline="-25000">
                <a:latin typeface="Arial" panose="020B0604020202020204" pitchFamily="34" charset="0"/>
              </a:rPr>
              <a:t>1</a:t>
            </a:r>
            <a:r>
              <a:rPr lang="zh-CN" altLang="en-US" sz="1600">
                <a:latin typeface="Arial" panose="020B0604020202020204" pitchFamily="34" charset="0"/>
              </a:rPr>
              <a:t>，</a:t>
            </a:r>
            <a:r>
              <a:rPr lang="pt-BR" altLang="en-US" sz="1600">
                <a:latin typeface="Arial" panose="020B0604020202020204" pitchFamily="34" charset="0"/>
              </a:rPr>
              <a:t>y</a:t>
            </a:r>
            <a:r>
              <a:rPr lang="en-US" altLang="zh-CN" sz="1600" baseline="-25000">
                <a:latin typeface="Arial" panose="020B0604020202020204" pitchFamily="34" charset="0"/>
              </a:rPr>
              <a:t>1</a:t>
            </a:r>
            <a:r>
              <a:rPr lang="zh-CN" altLang="en-US" sz="1600">
                <a:latin typeface="Arial" panose="020B0604020202020204" pitchFamily="34" charset="0"/>
              </a:rPr>
              <a:t>）</a:t>
            </a:r>
            <a:endParaRPr lang="zh-CN" altLang="en-US" sz="1600">
              <a:latin typeface="Arial" panose="020B0604020202020204" pitchFamily="34" charset="0"/>
            </a:endParaRPr>
          </a:p>
        </p:txBody>
      </p:sp>
      <p:sp>
        <p:nvSpPr>
          <p:cNvPr id="23" name="Text Box 8"/>
          <p:cNvSpPr txBox="1">
            <a:spLocks noChangeArrowheads="1"/>
          </p:cNvSpPr>
          <p:nvPr/>
        </p:nvSpPr>
        <p:spPr bwMode="auto">
          <a:xfrm>
            <a:off x="1988270" y="693738"/>
            <a:ext cx="396875" cy="336550"/>
          </a:xfrm>
          <a:prstGeom prst="rect">
            <a:avLst/>
          </a:prstGeom>
          <a:solidFill>
            <a:srgbClr val="FFFFFF"/>
          </a:solidFill>
          <a:ln w="9525">
            <a:noFill/>
            <a:miter lim="800000"/>
          </a:ln>
        </p:spPr>
        <p:txBody>
          <a:bodyPr wrap="none" anchorCtr="1">
            <a:spAutoFit/>
          </a:bodyPr>
          <a:lstStyle/>
          <a:p>
            <a:pPr algn="ctr" eaLnBrk="1" hangingPunct="1">
              <a:buFont typeface="Arial" panose="020B0604020202020204" pitchFamily="34" charset="0"/>
              <a:buNone/>
              <a:defRPr/>
            </a:pPr>
            <a:r>
              <a:rPr lang="pt-BR" altLang="en-US" sz="1600">
                <a:effectLst>
                  <a:outerShdw blurRad="38100" dist="38100" dir="2700000" algn="tl">
                    <a:srgbClr val="C0C0C0"/>
                  </a:outerShdw>
                </a:effectLst>
                <a:latin typeface="Arial" panose="020B0604020202020204" pitchFamily="34" charset="0"/>
              </a:rPr>
              <a:t>E</a:t>
            </a:r>
            <a:r>
              <a:rPr lang="pt-BR" altLang="en-US" sz="1600" baseline="-25000">
                <a:effectLst>
                  <a:outerShdw blurRad="38100" dist="38100" dir="2700000" algn="tl">
                    <a:srgbClr val="C0C0C0"/>
                  </a:outerShdw>
                </a:effectLst>
                <a:latin typeface="Arial" panose="020B0604020202020204" pitchFamily="34" charset="0"/>
              </a:rPr>
              <a:t>0</a:t>
            </a:r>
            <a:endParaRPr lang="en-US" altLang="zh-CN" sz="1600" baseline="-25000">
              <a:effectLst>
                <a:outerShdw blurRad="38100" dist="38100" dir="2700000" algn="tl">
                  <a:srgbClr val="C0C0C0"/>
                </a:outerShdw>
              </a:effectLst>
              <a:latin typeface="Arial" panose="020B0604020202020204" pitchFamily="34" charset="0"/>
            </a:endParaRPr>
          </a:p>
        </p:txBody>
      </p:sp>
      <p:sp>
        <p:nvSpPr>
          <p:cNvPr id="24" name="Rectangle 9"/>
          <p:cNvSpPr>
            <a:spLocks noChangeArrowheads="1"/>
          </p:cNvSpPr>
          <p:nvPr/>
        </p:nvSpPr>
        <p:spPr bwMode="auto">
          <a:xfrm>
            <a:off x="835745" y="766763"/>
            <a:ext cx="396875"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E</a:t>
            </a:r>
            <a:r>
              <a:rPr lang="pt-BR" altLang="en-US" sz="1600" baseline="-25000">
                <a:latin typeface="Arial" panose="020B0604020202020204" pitchFamily="34" charset="0"/>
              </a:rPr>
              <a:t>1</a:t>
            </a:r>
            <a:endParaRPr lang="pt-BR" altLang="en-US" sz="1600" baseline="-25000">
              <a:latin typeface="Arial" panose="020B0604020202020204" pitchFamily="34" charset="0"/>
            </a:endParaRPr>
          </a:p>
        </p:txBody>
      </p:sp>
      <p:sp>
        <p:nvSpPr>
          <p:cNvPr id="25" name="Rectangle 10"/>
          <p:cNvSpPr>
            <a:spLocks noChangeArrowheads="1"/>
          </p:cNvSpPr>
          <p:nvPr/>
        </p:nvSpPr>
        <p:spPr bwMode="auto">
          <a:xfrm>
            <a:off x="764308" y="2062163"/>
            <a:ext cx="396875"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E</a:t>
            </a:r>
            <a:r>
              <a:rPr lang="pt-BR" altLang="en-US" sz="1600" baseline="-25000">
                <a:latin typeface="Arial" panose="020B0604020202020204" pitchFamily="34" charset="0"/>
              </a:rPr>
              <a:t>2</a:t>
            </a:r>
            <a:endParaRPr lang="pt-BR" altLang="en-US" sz="1600" baseline="-25000">
              <a:latin typeface="Arial" panose="020B0604020202020204" pitchFamily="34" charset="0"/>
            </a:endParaRPr>
          </a:p>
        </p:txBody>
      </p:sp>
      <p:sp>
        <p:nvSpPr>
          <p:cNvPr id="26" name="Rectangle 11"/>
          <p:cNvSpPr>
            <a:spLocks noChangeArrowheads="1"/>
          </p:cNvSpPr>
          <p:nvPr/>
        </p:nvSpPr>
        <p:spPr bwMode="auto">
          <a:xfrm>
            <a:off x="1627908" y="2782888"/>
            <a:ext cx="396875"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E</a:t>
            </a:r>
            <a:r>
              <a:rPr lang="pt-BR" altLang="en-US" sz="1600" baseline="-25000">
                <a:latin typeface="Arial" panose="020B0604020202020204" pitchFamily="34" charset="0"/>
              </a:rPr>
              <a:t>3</a:t>
            </a:r>
            <a:endParaRPr lang="pt-BR" altLang="en-US" sz="1600" baseline="-25000">
              <a:latin typeface="Arial" panose="020B0604020202020204" pitchFamily="34" charset="0"/>
            </a:endParaRPr>
          </a:p>
        </p:txBody>
      </p:sp>
      <p:sp>
        <p:nvSpPr>
          <p:cNvPr id="27" name="Rectangle 12"/>
          <p:cNvSpPr>
            <a:spLocks noChangeArrowheads="1"/>
          </p:cNvSpPr>
          <p:nvPr/>
        </p:nvSpPr>
        <p:spPr bwMode="auto">
          <a:xfrm>
            <a:off x="2204170" y="2782888"/>
            <a:ext cx="396875"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E</a:t>
            </a:r>
            <a:r>
              <a:rPr lang="pt-BR" altLang="en-US" sz="1600" baseline="-25000">
                <a:latin typeface="Arial" panose="020B0604020202020204" pitchFamily="34" charset="0"/>
              </a:rPr>
              <a:t>4</a:t>
            </a:r>
            <a:endParaRPr lang="pt-BR" altLang="en-US" sz="1600" baseline="-25000">
              <a:latin typeface="Arial" panose="020B0604020202020204" pitchFamily="34" charset="0"/>
            </a:endParaRPr>
          </a:p>
        </p:txBody>
      </p:sp>
      <p:sp>
        <p:nvSpPr>
          <p:cNvPr id="28" name="Rectangle 13"/>
          <p:cNvSpPr>
            <a:spLocks noChangeArrowheads="1"/>
          </p:cNvSpPr>
          <p:nvPr/>
        </p:nvSpPr>
        <p:spPr bwMode="auto">
          <a:xfrm>
            <a:off x="3067770" y="2278063"/>
            <a:ext cx="396875"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E</a:t>
            </a:r>
            <a:r>
              <a:rPr lang="pt-BR" altLang="en-US" sz="1600" baseline="-25000">
                <a:latin typeface="Arial" panose="020B0604020202020204" pitchFamily="34" charset="0"/>
              </a:rPr>
              <a:t>5</a:t>
            </a:r>
            <a:endParaRPr lang="pt-BR" altLang="en-US" sz="1600" baseline="-25000">
              <a:latin typeface="Arial" panose="020B0604020202020204" pitchFamily="34" charset="0"/>
            </a:endParaRPr>
          </a:p>
        </p:txBody>
      </p:sp>
      <p:sp>
        <p:nvSpPr>
          <p:cNvPr id="29" name="Rectangle 14"/>
          <p:cNvSpPr>
            <a:spLocks noChangeArrowheads="1"/>
          </p:cNvSpPr>
          <p:nvPr/>
        </p:nvSpPr>
        <p:spPr bwMode="auto">
          <a:xfrm>
            <a:off x="2851870" y="838200"/>
            <a:ext cx="463550" cy="3365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pt-BR" altLang="en-US" sz="1600">
                <a:latin typeface="Arial" panose="020B0604020202020204" pitchFamily="34" charset="0"/>
              </a:rPr>
              <a:t>E</a:t>
            </a:r>
            <a:r>
              <a:rPr lang="pt-BR" altLang="en-US" sz="1600" baseline="-25000">
                <a:latin typeface="Arial" panose="020B0604020202020204" pitchFamily="34" charset="0"/>
              </a:rPr>
              <a:t>6</a:t>
            </a:r>
            <a:endParaRPr lang="pt-BR" altLang="en-US" sz="1600" baseline="-25000">
              <a:latin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nodeType="clickEffect">
                                  <p:stCondLst>
                                    <p:cond delay="0"/>
                                  </p:stCondLst>
                                  <p:childTnLst>
                                    <p:set>
                                      <p:cBhvr>
                                        <p:cTn id="6" dur="1000">
                                          <p:stCondLst>
                                            <p:cond delay="0"/>
                                          </p:stCondLst>
                                        </p:cTn>
                                        <p:tgtEl>
                                          <p:spTgt spid="297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1" presetClass="entr" presetSubtype="0" fill="hold" nodeType="clickEffect">
                                  <p:stCondLst>
                                    <p:cond delay="0"/>
                                  </p:stCondLst>
                                  <p:childTnLst>
                                    <p:set>
                                      <p:cBhvr>
                                        <p:cTn id="10" dur="1000">
                                          <p:stCondLst>
                                            <p:cond delay="0"/>
                                          </p:stCondLst>
                                        </p:cTn>
                                        <p:tgtEl>
                                          <p:spTgt spid="297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1" presetClass="entr" presetSubtype="0" fill="hold" nodeType="clickEffect">
                                  <p:stCondLst>
                                    <p:cond delay="0"/>
                                  </p:stCondLst>
                                  <p:childTnLst>
                                    <p:set>
                                      <p:cBhvr>
                                        <p:cTn id="14" dur="1000">
                                          <p:stCondLst>
                                            <p:cond delay="0"/>
                                          </p:stCondLst>
                                        </p:cTn>
                                        <p:tgtEl>
                                          <p:spTgt spid="297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1" presetClass="entr" presetSubtype="0" fill="hold" nodeType="clickEffect">
                                  <p:stCondLst>
                                    <p:cond delay="0"/>
                                  </p:stCondLst>
                                  <p:childTnLst>
                                    <p:set>
                                      <p:cBhvr>
                                        <p:cTn id="18" dur="1000">
                                          <p:stCondLst>
                                            <p:cond delay="0"/>
                                          </p:stCondLst>
                                        </p:cTn>
                                        <p:tgtEl>
                                          <p:spTgt spid="297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1" presetClass="entr" presetSubtype="0" fill="hold" nodeType="clickEffect">
                                  <p:stCondLst>
                                    <p:cond delay="0"/>
                                  </p:stCondLst>
                                  <p:childTnLst>
                                    <p:set>
                                      <p:cBhvr>
                                        <p:cTn id="22" dur="1000">
                                          <p:stCondLst>
                                            <p:cond delay="0"/>
                                          </p:stCondLst>
                                        </p:cTn>
                                        <p:tgtEl>
                                          <p:spTgt spid="297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1" presetClass="entr" presetSubtype="0" fill="hold" nodeType="clickEffect">
                                  <p:stCondLst>
                                    <p:cond delay="0"/>
                                  </p:stCondLst>
                                  <p:childTnLst>
                                    <p:set>
                                      <p:cBhvr>
                                        <p:cTn id="26" dur="1000">
                                          <p:stCondLst>
                                            <p:cond delay="0"/>
                                          </p:stCondLst>
                                        </p:cTn>
                                        <p:tgtEl>
                                          <p:spTgt spid="297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1" presetClass="entr" presetSubtype="0" fill="hold" nodeType="clickEffect">
                                  <p:stCondLst>
                                    <p:cond delay="0"/>
                                  </p:stCondLst>
                                  <p:childTnLst>
                                    <p:set>
                                      <p:cBhvr>
                                        <p:cTn id="30" dur="1000">
                                          <p:stCondLst>
                                            <p:cond delay="0"/>
                                          </p:stCondLst>
                                        </p:cTn>
                                        <p:tgtEl>
                                          <p:spTgt spid="297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ChangeArrowheads="1"/>
          </p:cNvSpPr>
          <p:nvPr/>
        </p:nvSpPr>
        <p:spPr bwMode="auto">
          <a:xfrm>
            <a:off x="1187450" y="188913"/>
            <a:ext cx="7740650"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800"/>
              <a:t>void CTestView::FillPolygon(CDC *pDC) </a:t>
            </a:r>
            <a:endParaRPr lang="en-US" altLang="zh-CN" sz="1800"/>
          </a:p>
          <a:p>
            <a:pPr eaLnBrk="1" hangingPunct="1"/>
            <a:r>
              <a:rPr lang="en-US" altLang="zh-CN" sz="1800"/>
              <a:t>{</a:t>
            </a:r>
            <a:endParaRPr lang="en-US" altLang="zh-CN" sz="1800"/>
          </a:p>
          <a:p>
            <a:pPr eaLnBrk="1" hangingPunct="1"/>
            <a:r>
              <a:rPr lang="en-US" altLang="zh-CN" sz="1800"/>
              <a:t>      COLORREF BClr=RGB(255,255,255);//</a:t>
            </a:r>
            <a:r>
              <a:rPr lang="zh-CN" altLang="en-US" sz="1800"/>
              <a:t>背景色</a:t>
            </a:r>
            <a:endParaRPr lang="zh-CN" altLang="en-US" sz="1800"/>
          </a:p>
          <a:p>
            <a:pPr eaLnBrk="1" hangingPunct="1"/>
            <a:r>
              <a:rPr lang="en-US" altLang="zh-CN" sz="1800"/>
              <a:t>      COLORREF FClr=GetClr;//</a:t>
            </a:r>
            <a:r>
              <a:rPr lang="zh-CN" altLang="en-US" sz="1800"/>
              <a:t>填充色</a:t>
            </a:r>
            <a:endParaRPr lang="zh-CN" altLang="en-US" sz="1800"/>
          </a:p>
          <a:p>
            <a:pPr eaLnBrk="1" hangingPunct="1"/>
            <a:r>
              <a:rPr lang="en-US" altLang="zh-CN" sz="1800"/>
              <a:t>      int yMin,yMax;//</a:t>
            </a:r>
            <a:r>
              <a:rPr lang="zh-CN" altLang="en-US" sz="1800"/>
              <a:t>边的最小</a:t>
            </a:r>
            <a:r>
              <a:rPr lang="en-US" altLang="zh-CN" sz="1800"/>
              <a:t>y</a:t>
            </a:r>
            <a:r>
              <a:rPr lang="zh-CN" altLang="en-US" sz="1800"/>
              <a:t>值与最大</a:t>
            </a:r>
            <a:r>
              <a:rPr lang="en-US" altLang="zh-CN" sz="1800"/>
              <a:t>y</a:t>
            </a:r>
            <a:r>
              <a:rPr lang="zh-CN" altLang="en-US" sz="1800"/>
              <a:t>值</a:t>
            </a:r>
            <a:endParaRPr lang="zh-CN" altLang="en-US" sz="1800"/>
          </a:p>
          <a:p>
            <a:pPr eaLnBrk="1" hangingPunct="1"/>
            <a:r>
              <a:rPr lang="en-US" altLang="zh-CN" sz="1800"/>
              <a:t>      double x,y,k;//x,y</a:t>
            </a:r>
            <a:r>
              <a:rPr lang="zh-CN" altLang="en-US" sz="1800"/>
              <a:t>当前点，</a:t>
            </a:r>
            <a:r>
              <a:rPr lang="en-US" altLang="zh-CN" sz="1800"/>
              <a:t>k</a:t>
            </a:r>
            <a:r>
              <a:rPr lang="zh-CN" altLang="en-US" sz="1800"/>
              <a:t>斜率的倒数</a:t>
            </a:r>
            <a:endParaRPr lang="zh-CN" altLang="en-US" sz="1800"/>
          </a:p>
          <a:p>
            <a:pPr eaLnBrk="1" hangingPunct="1"/>
            <a:r>
              <a:rPr lang="en-US" altLang="zh-CN" sz="1800"/>
              <a:t>      for(int i=0;i&lt;7;i++)//</a:t>
            </a:r>
            <a:r>
              <a:rPr lang="zh-CN" altLang="en-US" sz="1800"/>
              <a:t>循环多边形所有边</a:t>
            </a:r>
            <a:endParaRPr lang="zh-CN" altLang="en-US" sz="1800"/>
          </a:p>
          <a:p>
            <a:pPr eaLnBrk="1" hangingPunct="1"/>
            <a:r>
              <a:rPr lang="en-US" altLang="zh-CN" sz="1800"/>
              <a:t>     {</a:t>
            </a:r>
            <a:endParaRPr lang="en-US" altLang="zh-CN" sz="1800"/>
          </a:p>
          <a:p>
            <a:pPr eaLnBrk="1" hangingPunct="1"/>
            <a:r>
              <a:rPr lang="en-US" altLang="zh-CN" sz="1800"/>
              <a:t>	int j=(i+1)%7;</a:t>
            </a:r>
            <a:endParaRPr lang="en-US" altLang="zh-CN" sz="1800"/>
          </a:p>
          <a:p>
            <a:pPr eaLnBrk="1" hangingPunct="1"/>
            <a:r>
              <a:rPr lang="en-US" altLang="zh-CN" sz="1800"/>
              <a:t>	k=(P[i].x-P[j].x)/(P[i].y-P[j].y);//</a:t>
            </a:r>
            <a:r>
              <a:rPr lang="zh-CN" altLang="en-US" sz="1800"/>
              <a:t>计算</a:t>
            </a:r>
            <a:r>
              <a:rPr lang="en-US" altLang="zh-CN" sz="1800"/>
              <a:t>1/k</a:t>
            </a:r>
            <a:endParaRPr lang="en-US" altLang="zh-CN" sz="1800"/>
          </a:p>
          <a:p>
            <a:pPr eaLnBrk="1" hangingPunct="1"/>
            <a:r>
              <a:rPr lang="en-US" altLang="zh-CN" sz="1800"/>
              <a:t>	if(P[i].y&lt;P[j].y)//</a:t>
            </a:r>
            <a:r>
              <a:rPr lang="zh-CN" altLang="en-US" sz="1800"/>
              <a:t>得到每条边</a:t>
            </a:r>
            <a:r>
              <a:rPr lang="en-US" altLang="zh-CN" sz="1800"/>
              <a:t>y</a:t>
            </a:r>
            <a:r>
              <a:rPr lang="zh-CN" altLang="en-US" sz="1800"/>
              <a:t>的最大值与最小值</a:t>
            </a:r>
            <a:endParaRPr lang="zh-CN" altLang="en-US" sz="1800"/>
          </a:p>
          <a:p>
            <a:pPr eaLnBrk="1" hangingPunct="1"/>
            <a:r>
              <a:rPr lang="zh-CN" altLang="en-US" sz="1800"/>
              <a:t>	</a:t>
            </a:r>
            <a:r>
              <a:rPr lang="en-US" altLang="zh-CN" sz="1800"/>
              <a:t>{</a:t>
            </a:r>
            <a:endParaRPr lang="en-US" altLang="zh-CN" sz="1800"/>
          </a:p>
          <a:p>
            <a:pPr eaLnBrk="1" hangingPunct="1"/>
            <a:r>
              <a:rPr lang="en-US" altLang="zh-CN" sz="1800"/>
              <a:t>		yMin=Round(P[i].y);</a:t>
            </a:r>
            <a:endParaRPr lang="en-US" altLang="zh-CN" sz="1800"/>
          </a:p>
          <a:p>
            <a:pPr eaLnBrk="1" hangingPunct="1"/>
            <a:r>
              <a:rPr lang="en-US" altLang="zh-CN" sz="1800"/>
              <a:t>		yMax=Round(P[j].y);</a:t>
            </a:r>
            <a:endParaRPr lang="en-US" altLang="zh-CN" sz="1800"/>
          </a:p>
          <a:p>
            <a:pPr eaLnBrk="1" hangingPunct="1"/>
            <a:r>
              <a:rPr lang="en-US" altLang="zh-CN" sz="1800"/>
              <a:t>		x=P[i].x;//</a:t>
            </a:r>
            <a:r>
              <a:rPr lang="zh-CN" altLang="en-US" sz="1800"/>
              <a:t>得到</a:t>
            </a:r>
            <a:r>
              <a:rPr lang="en-US" altLang="zh-CN" sz="1800"/>
              <a:t>x|ymin</a:t>
            </a:r>
            <a:endParaRPr lang="en-US" altLang="zh-CN" sz="1800"/>
          </a:p>
          <a:p>
            <a:pPr eaLnBrk="1" hangingPunct="1"/>
            <a:r>
              <a:rPr lang="en-US" altLang="zh-CN" sz="1800"/>
              <a:t>	}</a:t>
            </a:r>
            <a:endParaRPr lang="en-US" altLang="zh-CN" sz="1800"/>
          </a:p>
          <a:p>
            <a:pPr eaLnBrk="1" hangingPunct="1"/>
            <a:r>
              <a:rPr lang="en-US" altLang="zh-CN" sz="1800"/>
              <a:t>	else</a:t>
            </a:r>
            <a:endParaRPr lang="en-US" altLang="zh-CN" sz="1800"/>
          </a:p>
          <a:p>
            <a:pPr eaLnBrk="1" hangingPunct="1"/>
            <a:r>
              <a:rPr lang="en-US" altLang="zh-CN" sz="1800"/>
              <a:t>	{</a:t>
            </a:r>
            <a:endParaRPr lang="en-US" altLang="zh-CN" sz="1800"/>
          </a:p>
          <a:p>
            <a:pPr eaLnBrk="1" hangingPunct="1"/>
            <a:r>
              <a:rPr lang="en-US" altLang="zh-CN" sz="1800"/>
              <a:t>		yMin=Round(P[j].y);</a:t>
            </a:r>
            <a:endParaRPr lang="en-US" altLang="zh-CN" sz="1800"/>
          </a:p>
          <a:p>
            <a:pPr eaLnBrk="1" hangingPunct="1"/>
            <a:r>
              <a:rPr lang="en-US" altLang="zh-CN" sz="1800"/>
              <a:t>		yMax=Round(P[i].y);</a:t>
            </a:r>
            <a:endParaRPr lang="en-US" altLang="zh-CN" sz="1800"/>
          </a:p>
          <a:p>
            <a:pPr eaLnBrk="1" hangingPunct="1"/>
            <a:r>
              <a:rPr lang="en-US" altLang="zh-CN" sz="1800"/>
              <a:t>		x=P[j].x;</a:t>
            </a:r>
            <a:endParaRPr lang="en-US" altLang="zh-CN" sz="1800"/>
          </a:p>
          <a:p>
            <a:pPr eaLnBrk="1" hangingPunct="1"/>
            <a:r>
              <a:rPr lang="en-US" altLang="zh-CN" sz="1800"/>
              <a:t>	}</a:t>
            </a:r>
            <a:endParaRPr lang="en-US" altLang="zh-CN" sz="1800"/>
          </a:p>
          <a:p>
            <a:pPr eaLnBrk="1" hangingPunct="1"/>
            <a:r>
              <a:rPr lang="en-US" altLang="zh-CN" sz="1800"/>
              <a:t>		</a:t>
            </a:r>
            <a:endParaRPr lang="zh-CN" altLang="en-US" sz="180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4"/>
          <p:cNvSpPr>
            <a:spLocks noChangeShapeType="1"/>
          </p:cNvSpPr>
          <p:nvPr/>
        </p:nvSpPr>
        <p:spPr bwMode="auto">
          <a:xfrm flipV="1">
            <a:off x="1979613" y="476250"/>
            <a:ext cx="1728787" cy="21590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63" name="Text Box 5"/>
          <p:cNvSpPr txBox="1">
            <a:spLocks noChangeArrowheads="1"/>
          </p:cNvSpPr>
          <p:nvPr/>
        </p:nvSpPr>
        <p:spPr bwMode="auto">
          <a:xfrm>
            <a:off x="6443663" y="2708275"/>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P[i]</a:t>
            </a:r>
            <a:endParaRPr lang="en-US" altLang="zh-CN"/>
          </a:p>
        </p:txBody>
      </p:sp>
      <p:sp>
        <p:nvSpPr>
          <p:cNvPr id="40964" name="Text Box 6"/>
          <p:cNvSpPr txBox="1">
            <a:spLocks noChangeArrowheads="1"/>
          </p:cNvSpPr>
          <p:nvPr/>
        </p:nvSpPr>
        <p:spPr bwMode="auto">
          <a:xfrm>
            <a:off x="2339975" y="2781300"/>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P[j]</a:t>
            </a:r>
            <a:endParaRPr lang="en-US" altLang="zh-CN"/>
          </a:p>
        </p:txBody>
      </p:sp>
      <p:sp>
        <p:nvSpPr>
          <p:cNvPr id="40965" name="Line 7"/>
          <p:cNvSpPr>
            <a:spLocks noChangeShapeType="1"/>
          </p:cNvSpPr>
          <p:nvPr/>
        </p:nvSpPr>
        <p:spPr bwMode="auto">
          <a:xfrm flipV="1">
            <a:off x="6011863" y="765175"/>
            <a:ext cx="1728787" cy="21590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66" name="Text Box 8"/>
          <p:cNvSpPr txBox="1">
            <a:spLocks noChangeArrowheads="1"/>
          </p:cNvSpPr>
          <p:nvPr/>
        </p:nvSpPr>
        <p:spPr bwMode="auto">
          <a:xfrm>
            <a:off x="8027988" y="620713"/>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P[j]</a:t>
            </a:r>
            <a:endParaRPr lang="en-US" altLang="zh-CN"/>
          </a:p>
        </p:txBody>
      </p:sp>
      <p:sp>
        <p:nvSpPr>
          <p:cNvPr id="40967" name="Rectangle 9"/>
          <p:cNvSpPr>
            <a:spLocks noChangeArrowheads="1"/>
          </p:cNvSpPr>
          <p:nvPr/>
        </p:nvSpPr>
        <p:spPr bwMode="auto">
          <a:xfrm>
            <a:off x="1619250" y="3789363"/>
            <a:ext cx="31686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en-US">
                <a:latin typeface="楷体_GB2312" pitchFamily="49" charset="-122"/>
                <a:ea typeface="楷体_GB2312" pitchFamily="49" charset="-122"/>
              </a:rPr>
              <a:t>    </a:t>
            </a:r>
            <a:endParaRPr lang="en-US" altLang="zh-CN"/>
          </a:p>
        </p:txBody>
      </p:sp>
      <p:sp>
        <p:nvSpPr>
          <p:cNvPr id="40968" name="Text Box 10"/>
          <p:cNvSpPr txBox="1">
            <a:spLocks noChangeArrowheads="1"/>
          </p:cNvSpPr>
          <p:nvPr/>
        </p:nvSpPr>
        <p:spPr bwMode="auto">
          <a:xfrm>
            <a:off x="3924300" y="404813"/>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P[i]</a:t>
            </a:r>
            <a:endParaRPr lang="en-US" altLang="zh-CN"/>
          </a:p>
        </p:txBody>
      </p:sp>
      <p:sp>
        <p:nvSpPr>
          <p:cNvPr id="40969" name="Text Box 11"/>
          <p:cNvSpPr txBox="1">
            <a:spLocks noChangeArrowheads="1"/>
          </p:cNvSpPr>
          <p:nvPr/>
        </p:nvSpPr>
        <p:spPr bwMode="auto">
          <a:xfrm>
            <a:off x="3132138" y="2781300"/>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J</a:t>
            </a:r>
            <a:r>
              <a:rPr lang="zh-CN" altLang="en-US"/>
              <a:t>＝</a:t>
            </a:r>
            <a:r>
              <a:rPr lang="en-US" altLang="zh-CN"/>
              <a:t>i+1</a:t>
            </a:r>
            <a:endParaRPr lang="en-US" altLang="zh-CN"/>
          </a:p>
        </p:txBody>
      </p:sp>
      <p:sp>
        <p:nvSpPr>
          <p:cNvPr id="40970" name="Rectangle 12"/>
          <p:cNvSpPr>
            <a:spLocks noChangeArrowheads="1"/>
          </p:cNvSpPr>
          <p:nvPr/>
        </p:nvSpPr>
        <p:spPr bwMode="auto">
          <a:xfrm>
            <a:off x="2484438" y="3357563"/>
            <a:ext cx="184467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en-US" altLang="zh-CN"/>
              <a:t>x</a:t>
            </a:r>
            <a:r>
              <a:rPr lang="zh-CN" altLang="en-US"/>
              <a:t>＝ </a:t>
            </a:r>
            <a:r>
              <a:rPr lang="en-US" altLang="zh-CN"/>
              <a:t>P[j]</a:t>
            </a:r>
            <a:r>
              <a:rPr lang="zh-CN" altLang="en-US"/>
              <a:t> </a:t>
            </a:r>
            <a:r>
              <a:rPr lang="en-US" altLang="zh-CN"/>
              <a:t>.x</a:t>
            </a:r>
            <a:endParaRPr lang="en-US" altLang="zh-CN"/>
          </a:p>
          <a:p>
            <a:pPr eaLnBrk="1" hangingPunct="1">
              <a:lnSpc>
                <a:spcPct val="120000"/>
              </a:lnSpc>
            </a:pPr>
            <a:r>
              <a:rPr lang="en-US" altLang="zh-CN"/>
              <a:t>y</a:t>
            </a:r>
            <a:r>
              <a:rPr lang="en-US" altLang="zh-CN" baseline="-25000"/>
              <a:t>min</a:t>
            </a:r>
            <a:r>
              <a:rPr lang="en-US" altLang="zh-CN"/>
              <a:t>= P[j]</a:t>
            </a:r>
            <a:r>
              <a:rPr lang="zh-CN" altLang="en-US"/>
              <a:t> </a:t>
            </a:r>
            <a:r>
              <a:rPr lang="en-US" altLang="zh-CN"/>
              <a:t>.y</a:t>
            </a:r>
            <a:endParaRPr lang="en-US" altLang="zh-CN"/>
          </a:p>
          <a:p>
            <a:pPr eaLnBrk="1" hangingPunct="1">
              <a:lnSpc>
                <a:spcPct val="120000"/>
              </a:lnSpc>
            </a:pPr>
            <a:r>
              <a:rPr lang="en-US" altLang="zh-CN"/>
              <a:t>y</a:t>
            </a:r>
            <a:r>
              <a:rPr lang="en-US" altLang="zh-CN" baseline="-25000"/>
              <a:t>max</a:t>
            </a:r>
            <a:r>
              <a:rPr lang="en-US" altLang="zh-CN"/>
              <a:t>= P[i]</a:t>
            </a:r>
            <a:r>
              <a:rPr lang="zh-CN" altLang="en-US"/>
              <a:t> </a:t>
            </a:r>
            <a:r>
              <a:rPr lang="en-US" altLang="zh-CN"/>
              <a:t>.y</a:t>
            </a:r>
            <a:endParaRPr lang="en-US" altLang="zh-CN"/>
          </a:p>
        </p:txBody>
      </p:sp>
      <p:sp>
        <p:nvSpPr>
          <p:cNvPr id="40971" name="Rectangle 13"/>
          <p:cNvSpPr>
            <a:spLocks noChangeArrowheads="1"/>
          </p:cNvSpPr>
          <p:nvPr/>
        </p:nvSpPr>
        <p:spPr bwMode="auto">
          <a:xfrm>
            <a:off x="5724525" y="3357563"/>
            <a:ext cx="186055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en-US" altLang="zh-CN"/>
              <a:t>x</a:t>
            </a:r>
            <a:r>
              <a:rPr lang="zh-CN" altLang="en-US"/>
              <a:t>＝ </a:t>
            </a:r>
            <a:r>
              <a:rPr lang="en-US" altLang="zh-CN"/>
              <a:t>P[i]</a:t>
            </a:r>
            <a:r>
              <a:rPr lang="zh-CN" altLang="en-US"/>
              <a:t> </a:t>
            </a:r>
            <a:r>
              <a:rPr lang="en-US" altLang="zh-CN"/>
              <a:t>.x</a:t>
            </a:r>
            <a:endParaRPr lang="en-US" altLang="zh-CN"/>
          </a:p>
          <a:p>
            <a:pPr eaLnBrk="1" hangingPunct="1">
              <a:lnSpc>
                <a:spcPct val="120000"/>
              </a:lnSpc>
            </a:pPr>
            <a:r>
              <a:rPr lang="en-US" altLang="zh-CN"/>
              <a:t>y</a:t>
            </a:r>
            <a:r>
              <a:rPr lang="en-US" altLang="zh-CN" baseline="-25000"/>
              <a:t>min</a:t>
            </a:r>
            <a:r>
              <a:rPr lang="en-US" altLang="zh-CN"/>
              <a:t>= P[i]</a:t>
            </a:r>
            <a:r>
              <a:rPr lang="zh-CN" altLang="en-US"/>
              <a:t> </a:t>
            </a:r>
            <a:r>
              <a:rPr lang="en-US" altLang="zh-CN"/>
              <a:t>.y</a:t>
            </a:r>
            <a:endParaRPr lang="en-US" altLang="zh-CN"/>
          </a:p>
          <a:p>
            <a:pPr eaLnBrk="1" hangingPunct="1">
              <a:lnSpc>
                <a:spcPct val="120000"/>
              </a:lnSpc>
            </a:pPr>
            <a:r>
              <a:rPr lang="en-US" altLang="zh-CN"/>
              <a:t>y</a:t>
            </a:r>
            <a:r>
              <a:rPr lang="en-US" altLang="zh-CN" baseline="-25000"/>
              <a:t>max</a:t>
            </a:r>
            <a:r>
              <a:rPr lang="en-US" altLang="zh-CN"/>
              <a:t>= P[j]</a:t>
            </a:r>
            <a:r>
              <a:rPr lang="zh-CN" altLang="en-US"/>
              <a:t> </a:t>
            </a:r>
            <a:r>
              <a:rPr lang="en-US" altLang="zh-CN"/>
              <a:t>.y</a:t>
            </a:r>
            <a:endParaRPr lang="en-US" altLang="zh-CN"/>
          </a:p>
        </p:txBody>
      </p:sp>
      <p:sp>
        <p:nvSpPr>
          <p:cNvPr id="40972" name="Line 14"/>
          <p:cNvSpPr>
            <a:spLocks noChangeShapeType="1"/>
          </p:cNvSpPr>
          <p:nvPr/>
        </p:nvSpPr>
        <p:spPr bwMode="auto">
          <a:xfrm>
            <a:off x="3924300" y="5084763"/>
            <a:ext cx="0" cy="1081087"/>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3" name="Line 15"/>
          <p:cNvSpPr>
            <a:spLocks noChangeShapeType="1"/>
          </p:cNvSpPr>
          <p:nvPr/>
        </p:nvSpPr>
        <p:spPr bwMode="auto">
          <a:xfrm>
            <a:off x="3924300" y="6165850"/>
            <a:ext cx="20875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4" name="Text Box 16"/>
          <p:cNvSpPr txBox="1">
            <a:spLocks noChangeArrowheads="1"/>
          </p:cNvSpPr>
          <p:nvPr/>
        </p:nvSpPr>
        <p:spPr bwMode="auto">
          <a:xfrm>
            <a:off x="5148263" y="6237288"/>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endParaRPr lang="en-US" altLang="zh-CN"/>
          </a:p>
        </p:txBody>
      </p:sp>
      <p:sp>
        <p:nvSpPr>
          <p:cNvPr id="40975" name="Text Box 17"/>
          <p:cNvSpPr txBox="1">
            <a:spLocks noChangeArrowheads="1"/>
          </p:cNvSpPr>
          <p:nvPr/>
        </p:nvSpPr>
        <p:spPr bwMode="auto">
          <a:xfrm>
            <a:off x="2916238" y="5373688"/>
            <a:ext cx="792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y++</a:t>
            </a:r>
            <a:endParaRPr lang="en-US" altLang="zh-CN"/>
          </a:p>
        </p:txBody>
      </p:sp>
      <p:sp>
        <p:nvSpPr>
          <p:cNvPr id="40976" name="Text Box 19"/>
          <p:cNvSpPr txBox="1">
            <a:spLocks noChangeArrowheads="1"/>
          </p:cNvSpPr>
          <p:nvPr/>
        </p:nvSpPr>
        <p:spPr bwMode="auto">
          <a:xfrm>
            <a:off x="6659563" y="5516563"/>
            <a:ext cx="122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rPr>
              <a:t>扫描线</a:t>
            </a:r>
            <a:endParaRPr lang="zh-CN" altLang="en-US">
              <a:ea typeface="楷体_GB2312" pitchFamily="49" charset="-122"/>
            </a:endParaRPr>
          </a:p>
        </p:txBody>
      </p:sp>
      <p:sp>
        <p:nvSpPr>
          <p:cNvPr id="40977" name="Text Box 20"/>
          <p:cNvSpPr txBox="1">
            <a:spLocks noChangeArrowheads="1"/>
          </p:cNvSpPr>
          <p:nvPr/>
        </p:nvSpPr>
        <p:spPr bwMode="auto">
          <a:xfrm>
            <a:off x="4932363" y="2781300"/>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rPr>
              <a:t>低端</a:t>
            </a:r>
            <a:endParaRPr lang="zh-CN" altLang="en-US">
              <a:ea typeface="楷体_GB2312" pitchFamily="49" charset="-122"/>
            </a:endParaRPr>
          </a:p>
        </p:txBody>
      </p:sp>
      <p:sp>
        <p:nvSpPr>
          <p:cNvPr id="40978" name="Text Box 21"/>
          <p:cNvSpPr txBox="1">
            <a:spLocks noChangeArrowheads="1"/>
          </p:cNvSpPr>
          <p:nvPr/>
        </p:nvSpPr>
        <p:spPr bwMode="auto">
          <a:xfrm>
            <a:off x="2484438" y="188913"/>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rPr>
              <a:t>高端</a:t>
            </a:r>
            <a:endParaRPr lang="zh-CN" altLang="en-US">
              <a:ea typeface="楷体_GB2312" pitchFamily="49" charset="-122"/>
            </a:endParaRPr>
          </a:p>
        </p:txBody>
      </p:sp>
      <p:sp>
        <p:nvSpPr>
          <p:cNvPr id="40979" name="Text Box 22"/>
          <p:cNvSpPr txBox="1">
            <a:spLocks noChangeArrowheads="1"/>
          </p:cNvSpPr>
          <p:nvPr/>
        </p:nvSpPr>
        <p:spPr bwMode="auto">
          <a:xfrm>
            <a:off x="5867400" y="188913"/>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rPr>
              <a:t>高端</a:t>
            </a:r>
            <a:endParaRPr lang="zh-CN" altLang="en-US">
              <a:ea typeface="楷体_GB2312" pitchFamily="49" charset="-122"/>
            </a:endParaRPr>
          </a:p>
        </p:txBody>
      </p:sp>
      <p:sp>
        <p:nvSpPr>
          <p:cNvPr id="40980" name="Text Box 23"/>
          <p:cNvSpPr txBox="1">
            <a:spLocks noChangeArrowheads="1"/>
          </p:cNvSpPr>
          <p:nvPr/>
        </p:nvSpPr>
        <p:spPr bwMode="auto">
          <a:xfrm>
            <a:off x="1187450" y="285273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rPr>
              <a:t>低端</a:t>
            </a:r>
            <a:endParaRPr lang="zh-CN" altLang="en-US">
              <a:ea typeface="楷体_GB2312" pitchFamily="49" charset="-122"/>
            </a:endParaRPr>
          </a:p>
        </p:txBody>
      </p:sp>
      <p:sp>
        <p:nvSpPr>
          <p:cNvPr id="40981" name="Oval 24"/>
          <p:cNvSpPr>
            <a:spLocks noChangeArrowheads="1"/>
          </p:cNvSpPr>
          <p:nvPr/>
        </p:nvSpPr>
        <p:spPr bwMode="auto">
          <a:xfrm>
            <a:off x="3635375" y="404813"/>
            <a:ext cx="144463" cy="144462"/>
          </a:xfrm>
          <a:prstGeom prst="ellipse">
            <a:avLst/>
          </a:prstGeom>
          <a:solidFill>
            <a:schemeClr val="accent1"/>
          </a:solidFill>
          <a:ln w="9525">
            <a:solidFill>
              <a:schemeClr val="tx1"/>
            </a:solidFill>
            <a:round/>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0982" name="Oval 25"/>
          <p:cNvSpPr>
            <a:spLocks noChangeArrowheads="1"/>
          </p:cNvSpPr>
          <p:nvPr/>
        </p:nvSpPr>
        <p:spPr bwMode="auto">
          <a:xfrm>
            <a:off x="1908175" y="2563813"/>
            <a:ext cx="144463" cy="144462"/>
          </a:xfrm>
          <a:prstGeom prst="ellipse">
            <a:avLst/>
          </a:prstGeom>
          <a:solidFill>
            <a:schemeClr val="accent1"/>
          </a:solidFill>
          <a:ln w="9525">
            <a:solidFill>
              <a:schemeClr val="tx1"/>
            </a:solidFill>
            <a:round/>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0983" name="Oval 26"/>
          <p:cNvSpPr>
            <a:spLocks noChangeArrowheads="1"/>
          </p:cNvSpPr>
          <p:nvPr/>
        </p:nvSpPr>
        <p:spPr bwMode="auto">
          <a:xfrm>
            <a:off x="7667625" y="692150"/>
            <a:ext cx="144463" cy="144463"/>
          </a:xfrm>
          <a:prstGeom prst="ellipse">
            <a:avLst/>
          </a:prstGeom>
          <a:solidFill>
            <a:schemeClr val="accent1"/>
          </a:solidFill>
          <a:ln w="9525">
            <a:solidFill>
              <a:schemeClr val="tx1"/>
            </a:solidFill>
            <a:round/>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0984" name="Oval 27"/>
          <p:cNvSpPr>
            <a:spLocks noChangeArrowheads="1"/>
          </p:cNvSpPr>
          <p:nvPr/>
        </p:nvSpPr>
        <p:spPr bwMode="auto">
          <a:xfrm>
            <a:off x="5940425" y="2852738"/>
            <a:ext cx="144463" cy="144462"/>
          </a:xfrm>
          <a:prstGeom prst="ellipse">
            <a:avLst/>
          </a:prstGeom>
          <a:solidFill>
            <a:schemeClr val="accent1"/>
          </a:solidFill>
          <a:ln w="9525">
            <a:solidFill>
              <a:schemeClr val="tx1"/>
            </a:solidFill>
            <a:round/>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0985" name="Text Box 28"/>
          <p:cNvSpPr txBox="1">
            <a:spLocks noChangeArrowheads="1"/>
          </p:cNvSpPr>
          <p:nvPr/>
        </p:nvSpPr>
        <p:spPr bwMode="auto">
          <a:xfrm>
            <a:off x="6443663" y="620713"/>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j</a:t>
            </a:r>
            <a:r>
              <a:rPr lang="zh-CN" altLang="en-US"/>
              <a:t>＝</a:t>
            </a:r>
            <a:r>
              <a:rPr lang="en-US" altLang="zh-CN"/>
              <a:t>i+1</a:t>
            </a:r>
            <a:endParaRPr lang="en-US" altLang="zh-CN"/>
          </a:p>
        </p:txBody>
      </p:sp>
      <p:sp>
        <p:nvSpPr>
          <p:cNvPr id="40986" name="Line 30"/>
          <p:cNvSpPr>
            <a:spLocks noChangeShapeType="1"/>
          </p:cNvSpPr>
          <p:nvPr/>
        </p:nvSpPr>
        <p:spPr bwMode="auto">
          <a:xfrm>
            <a:off x="3924300" y="5805488"/>
            <a:ext cx="20161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7" name="Text Box 31"/>
          <p:cNvSpPr txBox="1">
            <a:spLocks noChangeArrowheads="1"/>
          </p:cNvSpPr>
          <p:nvPr/>
        </p:nvSpPr>
        <p:spPr bwMode="auto">
          <a:xfrm>
            <a:off x="2484438" y="191611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i</a:t>
            </a:r>
            <a:endParaRPr lang="en-US" altLang="zh-CN" baseline="-25000"/>
          </a:p>
        </p:txBody>
      </p:sp>
      <p:sp>
        <p:nvSpPr>
          <p:cNvPr id="40988" name="Text Box 32"/>
          <p:cNvSpPr txBox="1">
            <a:spLocks noChangeArrowheads="1"/>
          </p:cNvSpPr>
          <p:nvPr/>
        </p:nvSpPr>
        <p:spPr bwMode="auto">
          <a:xfrm>
            <a:off x="3348038" y="1268413"/>
            <a:ext cx="2303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t>x</a:t>
            </a:r>
            <a:r>
              <a:rPr lang="en-US" altLang="zh-CN" baseline="-25000"/>
              <a:t>i</a:t>
            </a:r>
            <a:r>
              <a:rPr lang="en-US" altLang="zh-CN"/>
              <a:t>+1=x</a:t>
            </a:r>
            <a:r>
              <a:rPr lang="en-US" altLang="zh-CN" baseline="-25000"/>
              <a:t>i</a:t>
            </a:r>
            <a:r>
              <a:rPr lang="en-US" altLang="zh-CN"/>
              <a:t>+1/k</a:t>
            </a:r>
            <a:endParaRPr lang="en-US" altLang="zh-CN"/>
          </a:p>
        </p:txBody>
      </p:sp>
      <p:sp>
        <p:nvSpPr>
          <p:cNvPr id="40989" name="Oval 33"/>
          <p:cNvSpPr>
            <a:spLocks noChangeArrowheads="1"/>
          </p:cNvSpPr>
          <p:nvPr/>
        </p:nvSpPr>
        <p:spPr bwMode="auto">
          <a:xfrm>
            <a:off x="2555875" y="1773238"/>
            <a:ext cx="144463" cy="144462"/>
          </a:xfrm>
          <a:prstGeom prst="ellipse">
            <a:avLst/>
          </a:prstGeom>
          <a:solidFill>
            <a:srgbClr val="0033CC"/>
          </a:solidFill>
          <a:ln w="9525">
            <a:solidFill>
              <a:schemeClr val="tx1"/>
            </a:solidFill>
            <a:round/>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0990" name="Oval 34"/>
          <p:cNvSpPr>
            <a:spLocks noChangeArrowheads="1"/>
          </p:cNvSpPr>
          <p:nvPr/>
        </p:nvSpPr>
        <p:spPr bwMode="auto">
          <a:xfrm>
            <a:off x="2987675" y="1196975"/>
            <a:ext cx="144463" cy="144463"/>
          </a:xfrm>
          <a:prstGeom prst="ellipse">
            <a:avLst/>
          </a:prstGeom>
          <a:solidFill>
            <a:srgbClr val="0033CC"/>
          </a:solidFill>
          <a:ln w="9525">
            <a:solidFill>
              <a:schemeClr val="tx1"/>
            </a:solidFill>
            <a:round/>
          </a:ln>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0991" name="Line 35"/>
          <p:cNvSpPr>
            <a:spLocks noChangeShapeType="1"/>
          </p:cNvSpPr>
          <p:nvPr/>
        </p:nvSpPr>
        <p:spPr bwMode="auto">
          <a:xfrm>
            <a:off x="2627313" y="1844675"/>
            <a:ext cx="20161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2" name="Line 36"/>
          <p:cNvSpPr>
            <a:spLocks noChangeShapeType="1"/>
          </p:cNvSpPr>
          <p:nvPr/>
        </p:nvSpPr>
        <p:spPr bwMode="auto">
          <a:xfrm>
            <a:off x="3059113" y="1268413"/>
            <a:ext cx="20161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3" name="Line 37"/>
          <p:cNvSpPr>
            <a:spLocks noChangeShapeType="1"/>
          </p:cNvSpPr>
          <p:nvPr/>
        </p:nvSpPr>
        <p:spPr bwMode="auto">
          <a:xfrm flipV="1">
            <a:off x="1979613" y="2276475"/>
            <a:ext cx="288925" cy="360363"/>
          </a:xfrm>
          <a:prstGeom prst="line">
            <a:avLst/>
          </a:prstGeom>
          <a:noFill/>
          <a:ln w="38100">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94" name="Line 38"/>
          <p:cNvSpPr>
            <a:spLocks noChangeShapeType="1"/>
          </p:cNvSpPr>
          <p:nvPr/>
        </p:nvSpPr>
        <p:spPr bwMode="auto">
          <a:xfrm flipV="1">
            <a:off x="6011863" y="2565400"/>
            <a:ext cx="288925" cy="360363"/>
          </a:xfrm>
          <a:prstGeom prst="line">
            <a:avLst/>
          </a:prstGeom>
          <a:noFill/>
          <a:ln w="38100">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ChangeArrowheads="1"/>
          </p:cNvSpPr>
          <p:nvPr/>
        </p:nvSpPr>
        <p:spPr bwMode="auto">
          <a:xfrm>
            <a:off x="1187450" y="620713"/>
            <a:ext cx="7634288"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en-US" altLang="zh-CN" sz="2000" dirty="0"/>
              <a:t>	for(y=</a:t>
            </a:r>
            <a:r>
              <a:rPr lang="en-US" altLang="zh-CN" sz="2000" dirty="0" err="1"/>
              <a:t>yMin;y</a:t>
            </a:r>
            <a:r>
              <a:rPr lang="en-US" altLang="zh-CN" sz="2000" dirty="0"/>
              <a:t>&lt;</a:t>
            </a:r>
            <a:r>
              <a:rPr lang="en-US" altLang="zh-CN" sz="2000" dirty="0" err="1"/>
              <a:t>yMax;y</a:t>
            </a:r>
            <a:r>
              <a:rPr lang="en-US" altLang="zh-CN" sz="2000" dirty="0"/>
              <a:t>++)//</a:t>
            </a:r>
            <a:r>
              <a:rPr lang="zh-CN" altLang="en-US" sz="2000" dirty="0"/>
              <a:t>沿每一条边循环扫描线</a:t>
            </a:r>
            <a:endParaRPr lang="zh-CN" altLang="en-US" sz="2000" dirty="0"/>
          </a:p>
          <a:p>
            <a:pPr eaLnBrk="1" hangingPunct="1">
              <a:lnSpc>
                <a:spcPct val="120000"/>
              </a:lnSpc>
            </a:pPr>
            <a:r>
              <a:rPr lang="zh-CN" altLang="en-US" sz="2000" dirty="0"/>
              <a:t>	</a:t>
            </a:r>
            <a:r>
              <a:rPr lang="en-US" altLang="zh-CN" sz="2000" dirty="0"/>
              <a:t>{</a:t>
            </a:r>
            <a:endParaRPr lang="en-US" altLang="zh-CN" sz="2000" dirty="0"/>
          </a:p>
          <a:p>
            <a:pPr eaLnBrk="1" hangingPunct="1">
              <a:lnSpc>
                <a:spcPct val="120000"/>
              </a:lnSpc>
            </a:pPr>
            <a:r>
              <a:rPr lang="en-US" altLang="zh-CN" sz="2000" dirty="0"/>
              <a:t>	//</a:t>
            </a:r>
            <a:r>
              <a:rPr lang="zh-CN" altLang="en-US" sz="2000" dirty="0"/>
              <a:t>对每一条扫描线与边的交点的右侧像素循环   </a:t>
            </a:r>
            <a:endParaRPr lang="zh-CN" altLang="en-US" sz="2000" dirty="0"/>
          </a:p>
          <a:p>
            <a:pPr eaLnBrk="1" hangingPunct="1">
              <a:lnSpc>
                <a:spcPct val="120000"/>
              </a:lnSpc>
            </a:pPr>
            <a:r>
              <a:rPr lang="zh-CN" altLang="en-US" sz="2000" dirty="0"/>
              <a:t>                     </a:t>
            </a:r>
            <a:r>
              <a:rPr lang="en-US" altLang="zh-CN" sz="2000" dirty="0"/>
              <a:t>for(</a:t>
            </a:r>
            <a:r>
              <a:rPr lang="en-US" altLang="zh-CN" sz="2000" dirty="0" err="1"/>
              <a:t>int</a:t>
            </a:r>
            <a:r>
              <a:rPr lang="en-US" altLang="zh-CN" sz="2000" dirty="0"/>
              <a:t> m=Round(x);m&lt;</a:t>
            </a:r>
            <a:r>
              <a:rPr lang="en-US" altLang="zh-CN" sz="2000" dirty="0" err="1"/>
              <a:t>MaxX;m</a:t>
            </a:r>
            <a:r>
              <a:rPr lang="en-US" altLang="zh-CN" sz="2000" dirty="0"/>
              <a:t>++)</a:t>
            </a:r>
            <a:endParaRPr lang="en-US" altLang="zh-CN" sz="2000" dirty="0"/>
          </a:p>
          <a:p>
            <a:pPr eaLnBrk="1" hangingPunct="1">
              <a:lnSpc>
                <a:spcPct val="120000"/>
              </a:lnSpc>
            </a:pPr>
            <a:r>
              <a:rPr lang="en-US" altLang="zh-CN" sz="2000" dirty="0"/>
              <a:t>                     //</a:t>
            </a:r>
            <a:r>
              <a:rPr lang="en-US" altLang="zh-CN" sz="2000" dirty="0" err="1"/>
              <a:t>MaxX</a:t>
            </a:r>
            <a:r>
              <a:rPr lang="zh-CN" altLang="en-US" sz="2000" dirty="0"/>
              <a:t>为包围盒的右边界</a:t>
            </a:r>
            <a:endParaRPr lang="zh-CN" altLang="en-US" sz="2000" dirty="0"/>
          </a:p>
          <a:p>
            <a:pPr eaLnBrk="1" hangingPunct="1">
              <a:lnSpc>
                <a:spcPct val="120000"/>
              </a:lnSpc>
            </a:pPr>
            <a:r>
              <a:rPr lang="zh-CN" altLang="en-US" sz="2000" dirty="0"/>
              <a:t>	         </a:t>
            </a:r>
            <a:r>
              <a:rPr lang="en-US" altLang="zh-CN" sz="2000" dirty="0"/>
              <a:t>{</a:t>
            </a:r>
            <a:endParaRPr lang="en-US" altLang="zh-CN" sz="2000" dirty="0"/>
          </a:p>
          <a:p>
            <a:pPr eaLnBrk="1" hangingPunct="1">
              <a:lnSpc>
                <a:spcPct val="120000"/>
              </a:lnSpc>
            </a:pPr>
            <a:r>
              <a:rPr lang="en-US" altLang="zh-CN" sz="2000" dirty="0"/>
              <a:t>		if(</a:t>
            </a:r>
            <a:r>
              <a:rPr lang="en-US" altLang="zh-CN" sz="2000" dirty="0" err="1"/>
              <a:t>FClr</a:t>
            </a:r>
            <a:r>
              <a:rPr lang="en-US" altLang="zh-CN" sz="2000" dirty="0"/>
              <a:t>==</a:t>
            </a:r>
            <a:r>
              <a:rPr lang="en-US" altLang="zh-CN" sz="2000" dirty="0" err="1"/>
              <a:t>pDC</a:t>
            </a:r>
            <a:r>
              <a:rPr lang="en-US" altLang="zh-CN" sz="2000" dirty="0"/>
              <a:t>-&gt;</a:t>
            </a:r>
            <a:r>
              <a:rPr lang="en-US" altLang="zh-CN" sz="2000" dirty="0" err="1"/>
              <a:t>GetPixel</a:t>
            </a:r>
            <a:r>
              <a:rPr lang="en-US" altLang="zh-CN" sz="2000" dirty="0"/>
              <a:t>(</a:t>
            </a:r>
            <a:r>
              <a:rPr lang="en-US" altLang="zh-CN" sz="2000" dirty="0" err="1"/>
              <a:t>m,Round</a:t>
            </a:r>
            <a:r>
              <a:rPr lang="en-US" altLang="zh-CN" sz="2000" dirty="0"/>
              <a:t>(y)))</a:t>
            </a:r>
            <a:r>
              <a:rPr lang="zh-CN" altLang="en-US" sz="2000" dirty="0"/>
              <a:t>			                      </a:t>
            </a:r>
            <a:r>
              <a:rPr lang="en-US" altLang="zh-CN" sz="2000" dirty="0" err="1"/>
              <a:t>pDC</a:t>
            </a:r>
            <a:r>
              <a:rPr lang="en-US" altLang="zh-CN" sz="2000" dirty="0"/>
              <a:t>-&gt;</a:t>
            </a:r>
            <a:r>
              <a:rPr lang="en-US" altLang="zh-CN" sz="2000" dirty="0" err="1"/>
              <a:t>SetPixelV</a:t>
            </a:r>
            <a:r>
              <a:rPr lang="en-US" altLang="zh-CN" sz="2000" dirty="0"/>
              <a:t>(</a:t>
            </a:r>
            <a:r>
              <a:rPr lang="en-US" altLang="zh-CN" sz="2000" dirty="0" err="1"/>
              <a:t>m,Round</a:t>
            </a:r>
            <a:r>
              <a:rPr lang="en-US" altLang="zh-CN" sz="2000" dirty="0"/>
              <a:t>(y),</a:t>
            </a:r>
            <a:r>
              <a:rPr lang="en-US" altLang="zh-CN" sz="2000" dirty="0" err="1"/>
              <a:t>BClr</a:t>
            </a:r>
            <a:r>
              <a:rPr lang="en-US" altLang="zh-CN" sz="2000" dirty="0"/>
              <a:t>);</a:t>
            </a:r>
            <a:endParaRPr lang="zh-CN" altLang="en-US" sz="2000" dirty="0"/>
          </a:p>
          <a:p>
            <a:pPr eaLnBrk="1" hangingPunct="1">
              <a:lnSpc>
                <a:spcPct val="120000"/>
              </a:lnSpc>
            </a:pPr>
            <a:r>
              <a:rPr lang="zh-CN" altLang="en-US" sz="2000" dirty="0"/>
              <a:t>		</a:t>
            </a:r>
            <a:r>
              <a:rPr lang="en-US" altLang="zh-CN" sz="2000" dirty="0"/>
              <a:t>else</a:t>
            </a:r>
            <a:endParaRPr lang="en-US" altLang="zh-CN" sz="2000" dirty="0"/>
          </a:p>
          <a:p>
            <a:pPr eaLnBrk="1" hangingPunct="1">
              <a:lnSpc>
                <a:spcPct val="120000"/>
              </a:lnSpc>
            </a:pPr>
            <a:r>
              <a:rPr lang="en-US" altLang="zh-CN" sz="2000" dirty="0"/>
              <a:t>		          </a:t>
            </a:r>
            <a:r>
              <a:rPr lang="en-US" altLang="zh-CN" sz="2000" dirty="0" err="1"/>
              <a:t>pDC</a:t>
            </a:r>
            <a:r>
              <a:rPr lang="en-US" altLang="zh-CN" sz="2000" dirty="0"/>
              <a:t>-&gt;</a:t>
            </a:r>
            <a:r>
              <a:rPr lang="en-US" altLang="zh-CN" sz="2000" dirty="0" err="1"/>
              <a:t>SetPixelV</a:t>
            </a:r>
            <a:r>
              <a:rPr lang="en-US" altLang="zh-CN" sz="2000" dirty="0"/>
              <a:t>(</a:t>
            </a:r>
            <a:r>
              <a:rPr lang="en-US" altLang="zh-CN" sz="2000" dirty="0" err="1"/>
              <a:t>m,Round</a:t>
            </a:r>
            <a:r>
              <a:rPr lang="en-US" altLang="zh-CN" sz="2000" dirty="0"/>
              <a:t>(y),</a:t>
            </a:r>
            <a:r>
              <a:rPr lang="en-US" altLang="zh-CN" sz="2000" dirty="0" err="1"/>
              <a:t>FClr</a:t>
            </a:r>
            <a:r>
              <a:rPr lang="en-US" altLang="zh-CN" sz="2000" dirty="0"/>
              <a:t>);</a:t>
            </a:r>
            <a:r>
              <a:rPr lang="zh-CN" altLang="en-US" sz="2000" dirty="0"/>
              <a:t>	</a:t>
            </a:r>
            <a:endParaRPr lang="zh-CN" altLang="en-US" sz="2000" dirty="0"/>
          </a:p>
          <a:p>
            <a:pPr eaLnBrk="1" hangingPunct="1">
              <a:lnSpc>
                <a:spcPct val="120000"/>
              </a:lnSpc>
            </a:pPr>
            <a:r>
              <a:rPr lang="zh-CN" altLang="en-US" sz="2000" dirty="0"/>
              <a:t>		</a:t>
            </a:r>
            <a:r>
              <a:rPr lang="en-US" altLang="zh-CN" sz="2000" dirty="0"/>
              <a:t>}</a:t>
            </a:r>
            <a:endParaRPr lang="en-US" altLang="zh-CN" sz="2000" dirty="0"/>
          </a:p>
          <a:p>
            <a:pPr eaLnBrk="1" hangingPunct="1">
              <a:lnSpc>
                <a:spcPct val="120000"/>
              </a:lnSpc>
            </a:pPr>
            <a:r>
              <a:rPr lang="en-US" altLang="zh-CN" sz="2000" dirty="0"/>
              <a:t>		x+=k; </a:t>
            </a:r>
            <a:endParaRPr lang="en-US" altLang="zh-CN" sz="2000" dirty="0"/>
          </a:p>
          <a:p>
            <a:pPr eaLnBrk="1" hangingPunct="1">
              <a:lnSpc>
                <a:spcPct val="120000"/>
              </a:lnSpc>
            </a:pPr>
            <a:r>
              <a:rPr lang="zh-CN" altLang="en-US" sz="2000" dirty="0"/>
              <a:t>	</a:t>
            </a:r>
            <a:r>
              <a:rPr lang="en-US" altLang="zh-CN" sz="2000" dirty="0"/>
              <a:t>}</a:t>
            </a:r>
            <a:endParaRPr lang="en-US" altLang="zh-CN" sz="2000" dirty="0"/>
          </a:p>
          <a:p>
            <a:pPr eaLnBrk="1" hangingPunct="1">
              <a:lnSpc>
                <a:spcPct val="120000"/>
              </a:lnSpc>
            </a:pPr>
            <a:r>
              <a:rPr lang="en-US" altLang="zh-CN" sz="2000" dirty="0"/>
              <a:t>     }</a:t>
            </a:r>
            <a:endParaRPr lang="en-US" altLang="zh-CN" sz="2000" dirty="0"/>
          </a:p>
          <a:p>
            <a:pPr eaLnBrk="1" hangingPunct="1">
              <a:lnSpc>
                <a:spcPct val="120000"/>
              </a:lnSpc>
            </a:pPr>
            <a:r>
              <a:rPr lang="en-US" altLang="zh-CN" sz="2000" dirty="0"/>
              <a:t>}</a:t>
            </a:r>
            <a:endParaRPr lang="zh-CN" altLang="en-US" sz="2000" dirty="0"/>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ChangeArrowheads="1"/>
          </p:cNvSpPr>
          <p:nvPr/>
        </p:nvSpPr>
        <p:spPr bwMode="auto">
          <a:xfrm>
            <a:off x="1187450" y="188913"/>
            <a:ext cx="4248150" cy="792162"/>
          </a:xfrm>
          <a:prstGeom prst="rect">
            <a:avLst/>
          </a:prstGeom>
          <a:noFill/>
          <a:ln w="9525">
            <a:noFill/>
            <a:miter lim="800000"/>
          </a:ln>
        </p:spPr>
        <p:txBody>
          <a:bodyPr anchor="ctr" anchorCtr="1"/>
          <a:lstStyle/>
          <a:p>
            <a:pPr algn="ctr" eaLnBrk="1" hangingPunct="1">
              <a:buFont typeface="Arial" panose="020B0604020202020204" pitchFamily="34" charset="0"/>
              <a:buNone/>
              <a:defRPr/>
            </a:pPr>
            <a:r>
              <a:rPr lang="en-US" altLang="zh-CN" sz="3600" b="1">
                <a:effectLst>
                  <a:outerShdw blurRad="38100" dist="38100" dir="2700000" algn="tl">
                    <a:srgbClr val="C0C0C0"/>
                  </a:outerShdw>
                </a:effectLst>
                <a:latin typeface="楷体_GB2312" pitchFamily="49" charset="-122"/>
                <a:ea typeface="楷体_GB2312" pitchFamily="49" charset="-122"/>
              </a:rPr>
              <a:t>4.4 </a:t>
            </a:r>
            <a:r>
              <a:rPr lang="zh-CN" altLang="en-US" sz="3600" b="1">
                <a:effectLst>
                  <a:outerShdw blurRad="38100" dist="38100" dir="2700000" algn="tl">
                    <a:srgbClr val="C0C0C0"/>
                  </a:outerShdw>
                </a:effectLst>
                <a:latin typeface="楷体_GB2312" pitchFamily="49" charset="-122"/>
                <a:ea typeface="楷体_GB2312" pitchFamily="49" charset="-122"/>
              </a:rPr>
              <a:t>区域填充算法</a:t>
            </a:r>
            <a:endParaRPr lang="zh-CN" altLang="en-US" sz="3600" b="1">
              <a:effectLst>
                <a:outerShdw blurRad="38100" dist="38100" dir="2700000" algn="tl">
                  <a:srgbClr val="C0C0C0"/>
                </a:outerShdw>
              </a:effectLst>
              <a:latin typeface="楷体_GB2312" pitchFamily="49" charset="-122"/>
              <a:ea typeface="楷体_GB2312" pitchFamily="49" charset="-122"/>
            </a:endParaRPr>
          </a:p>
        </p:txBody>
      </p:sp>
      <p:sp>
        <p:nvSpPr>
          <p:cNvPr id="43011" name="Rectangle 5"/>
          <p:cNvSpPr>
            <a:spLocks noChangeArrowheads="1"/>
          </p:cNvSpPr>
          <p:nvPr/>
        </p:nvSpPr>
        <p:spPr bwMode="auto">
          <a:xfrm>
            <a:off x="1403350" y="1765300"/>
            <a:ext cx="756126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楷体_GB2312" pitchFamily="49" charset="-122"/>
                <a:ea typeface="楷体_GB2312" pitchFamily="49" charset="-122"/>
              </a:rPr>
              <a:t>  种子填充算法是从区域内任一个种子像素位置开始，</a:t>
            </a:r>
            <a:r>
              <a:rPr lang="zh-CN" altLang="en-US" b="1">
                <a:solidFill>
                  <a:srgbClr val="FF0000"/>
                </a:solidFill>
                <a:latin typeface="黑体" panose="02010609060101010101" pitchFamily="49" charset="-122"/>
                <a:ea typeface="黑体" panose="02010609060101010101" pitchFamily="49" charset="-122"/>
              </a:rPr>
              <a:t>由内向外将填充色扩散到整个多边形区域的填充过程</a:t>
            </a:r>
            <a:r>
              <a:rPr lang="zh-CN" altLang="en-US">
                <a:latin typeface="楷体_GB2312" pitchFamily="49" charset="-122"/>
                <a:ea typeface="楷体_GB2312" pitchFamily="49" charset="-122"/>
              </a:rPr>
              <a:t>。种子填充算法突出的优点是能对具有任意复杂闭合边界的区域进行填充。</a:t>
            </a:r>
            <a:endParaRPr lang="zh-CN" altLang="en-US">
              <a:latin typeface="楷体_GB2312" pitchFamily="49" charset="-122"/>
              <a:ea typeface="楷体_GB2312" pitchFamily="49" charset="-122"/>
            </a:endParaRPr>
          </a:p>
        </p:txBody>
      </p:sp>
      <p:sp>
        <p:nvSpPr>
          <p:cNvPr id="43012" name="Rectangle 9"/>
          <p:cNvSpPr>
            <a:spLocks noChangeArrowheads="1"/>
          </p:cNvSpPr>
          <p:nvPr/>
        </p:nvSpPr>
        <p:spPr bwMode="auto">
          <a:xfrm>
            <a:off x="4464050" y="3344863"/>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33797" name="Rectangle 11"/>
          <p:cNvSpPr>
            <a:spLocks noChangeArrowheads="1"/>
          </p:cNvSpPr>
          <p:nvPr/>
        </p:nvSpPr>
        <p:spPr bwMode="auto">
          <a:xfrm>
            <a:off x="1476375" y="1052513"/>
            <a:ext cx="3816350"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ea typeface="楷体_GB2312" pitchFamily="49" charset="-122"/>
              </a:rPr>
              <a:t>4.4.1 </a:t>
            </a:r>
            <a:r>
              <a:rPr lang="zh-CN" altLang="en-US" sz="3200" b="1">
                <a:effectLst>
                  <a:outerShdw blurRad="38100" dist="38100" dir="2700000" algn="tl">
                    <a:srgbClr val="C0C0C0"/>
                  </a:outerShdw>
                </a:effectLst>
                <a:latin typeface="楷体_GB2312" pitchFamily="49" charset="-122"/>
                <a:ea typeface="楷体_GB2312" pitchFamily="49" charset="-122"/>
              </a:rPr>
              <a:t>填充原理</a:t>
            </a:r>
            <a:r>
              <a:rPr lang="zh-CN" altLang="en-US"/>
              <a:t>   </a:t>
            </a:r>
            <a:endParaRPr lang="zh-CN" altLang="en-US"/>
          </a:p>
        </p:txBody>
      </p:sp>
      <p:sp>
        <p:nvSpPr>
          <p:cNvPr id="33798" name="Rectangle 12"/>
          <p:cNvSpPr>
            <a:spLocks noChangeArrowheads="1"/>
          </p:cNvSpPr>
          <p:nvPr/>
        </p:nvSpPr>
        <p:spPr bwMode="auto">
          <a:xfrm>
            <a:off x="1331913" y="3500438"/>
            <a:ext cx="5184775"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ea typeface="楷体_GB2312" pitchFamily="49" charset="-122"/>
              </a:rPr>
              <a:t>4.4.2 </a:t>
            </a:r>
            <a:r>
              <a:rPr lang="zh-CN" altLang="en-US" sz="3200" b="1">
                <a:effectLst>
                  <a:outerShdw blurRad="38100" dist="38100" dir="2700000" algn="tl">
                    <a:srgbClr val="C0C0C0"/>
                  </a:outerShdw>
                </a:effectLst>
                <a:latin typeface="楷体_GB2312" pitchFamily="49" charset="-122"/>
                <a:ea typeface="楷体_GB2312" pitchFamily="49" charset="-122"/>
              </a:rPr>
              <a:t>四邻接点与八邻接点   </a:t>
            </a:r>
            <a:endParaRPr lang="zh-CN" altLang="en-US" sz="3200" b="1">
              <a:effectLst>
                <a:outerShdw blurRad="38100" dist="38100" dir="2700000" algn="tl">
                  <a:srgbClr val="C0C0C0"/>
                </a:outerShdw>
              </a:effectLst>
              <a:latin typeface="楷体_GB2312" pitchFamily="49" charset="-122"/>
              <a:ea typeface="楷体_GB2312" pitchFamily="49" charset="-122"/>
            </a:endParaRPr>
          </a:p>
        </p:txBody>
      </p:sp>
      <p:sp>
        <p:nvSpPr>
          <p:cNvPr id="43015" name="Rectangle 15"/>
          <p:cNvSpPr>
            <a:spLocks noChangeArrowheads="1"/>
          </p:cNvSpPr>
          <p:nvPr/>
        </p:nvSpPr>
        <p:spPr bwMode="auto">
          <a:xfrm>
            <a:off x="0" y="1722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3016" name="Rectangle 16"/>
          <p:cNvSpPr>
            <a:spLocks noChangeArrowheads="1"/>
          </p:cNvSpPr>
          <p:nvPr/>
        </p:nvSpPr>
        <p:spPr bwMode="auto">
          <a:xfrm>
            <a:off x="4337050" y="3179763"/>
            <a:ext cx="469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43017" name="Rectangle 18"/>
          <p:cNvSpPr>
            <a:spLocks noChangeArrowheads="1"/>
          </p:cNvSpPr>
          <p:nvPr/>
        </p:nvSpPr>
        <p:spPr bwMode="auto">
          <a:xfrm>
            <a:off x="2411413" y="6092825"/>
            <a:ext cx="521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楷体_GB2312" pitchFamily="49" charset="-122"/>
                <a:ea typeface="楷体_GB2312" pitchFamily="49" charset="-122"/>
              </a:rPr>
              <a:t>四邻接点定义         八邻接点定义</a:t>
            </a:r>
            <a:endParaRPr lang="zh-CN" altLang="en-US">
              <a:latin typeface="楷体_GB2312" pitchFamily="49" charset="-122"/>
              <a:ea typeface="楷体_GB2312" pitchFamily="49" charset="-122"/>
            </a:endParaRPr>
          </a:p>
        </p:txBody>
      </p:sp>
      <p:graphicFrame>
        <p:nvGraphicFramePr>
          <p:cNvPr id="43018" name="Object 12"/>
          <p:cNvGraphicFramePr>
            <a:graphicFrameLocks noChangeAspect="1"/>
          </p:cNvGraphicFramePr>
          <p:nvPr/>
        </p:nvGraphicFramePr>
        <p:xfrm>
          <a:off x="2627313" y="4221163"/>
          <a:ext cx="1655762" cy="1655762"/>
        </p:xfrm>
        <a:graphic>
          <a:graphicData uri="http://schemas.openxmlformats.org/presentationml/2006/ole">
            <mc:AlternateContent xmlns:mc="http://schemas.openxmlformats.org/markup-compatibility/2006">
              <mc:Choice xmlns:v="urn:schemas-microsoft-com:vml" Requires="v">
                <p:oleObj spid="_x0000_s43040" name="" r:id="rId1" imgW="2599055" imgH="2599055" progId="Visio.Drawing.11">
                  <p:embed/>
                </p:oleObj>
              </mc:Choice>
              <mc:Fallback>
                <p:oleObj name="" r:id="rId1" imgW="2599055" imgH="2599055" progId="Visio.Drawing.11">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4221163"/>
                        <a:ext cx="1655762"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19" name="Object 13"/>
          <p:cNvGraphicFramePr>
            <a:graphicFrameLocks noChangeAspect="1"/>
          </p:cNvGraphicFramePr>
          <p:nvPr/>
        </p:nvGraphicFramePr>
        <p:xfrm>
          <a:off x="5435600" y="4221163"/>
          <a:ext cx="1728788" cy="1728787"/>
        </p:xfrm>
        <a:graphic>
          <a:graphicData uri="http://schemas.openxmlformats.org/presentationml/2006/ole">
            <mc:AlternateContent xmlns:mc="http://schemas.openxmlformats.org/markup-compatibility/2006">
              <mc:Choice xmlns:v="urn:schemas-microsoft-com:vml" Requires="v">
                <p:oleObj spid="_x0000_s43041" name="" r:id="rId3" imgW="2599055" imgH="2599055" progId="Visio.Drawing.11">
                  <p:embed/>
                </p:oleObj>
              </mc:Choice>
              <mc:Fallback>
                <p:oleObj name="" r:id="rId3" imgW="2599055" imgH="2599055" progId="Visio.Drawing.11">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4221163"/>
                        <a:ext cx="1728788"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ChangeArrowheads="1"/>
          </p:cNvSpPr>
          <p:nvPr/>
        </p:nvSpPr>
        <p:spPr bwMode="auto">
          <a:xfrm>
            <a:off x="1331913" y="188913"/>
            <a:ext cx="5184775"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ea typeface="楷体_GB2312" pitchFamily="49" charset="-122"/>
              </a:rPr>
              <a:t>4.4.3 </a:t>
            </a:r>
            <a:r>
              <a:rPr lang="zh-CN" altLang="en-US" sz="3200" b="1">
                <a:effectLst>
                  <a:outerShdw blurRad="38100" dist="38100" dir="2700000" algn="tl">
                    <a:srgbClr val="C0C0C0"/>
                  </a:outerShdw>
                </a:effectLst>
                <a:latin typeface="楷体_GB2312" pitchFamily="49" charset="-122"/>
                <a:ea typeface="楷体_GB2312" pitchFamily="49" charset="-122"/>
              </a:rPr>
              <a:t>四连通域与八连通域</a:t>
            </a:r>
            <a:r>
              <a:rPr lang="zh-CN" altLang="en-US"/>
              <a:t> </a:t>
            </a:r>
            <a:r>
              <a:rPr lang="zh-CN" altLang="en-US" sz="3200" b="1">
                <a:effectLst>
                  <a:outerShdw blurRad="38100" dist="38100" dir="2700000" algn="tl">
                    <a:srgbClr val="C0C0C0"/>
                  </a:outerShdw>
                </a:effectLst>
                <a:latin typeface="楷体_GB2312" pitchFamily="49" charset="-122"/>
                <a:ea typeface="楷体_GB2312" pitchFamily="49" charset="-122"/>
              </a:rPr>
              <a:t>   </a:t>
            </a:r>
            <a:endParaRPr lang="zh-CN" altLang="en-US" sz="3200" b="1">
              <a:effectLst>
                <a:outerShdw blurRad="38100" dist="38100" dir="2700000" algn="tl">
                  <a:srgbClr val="C0C0C0"/>
                </a:outerShdw>
              </a:effectLst>
              <a:latin typeface="楷体_GB2312" pitchFamily="49" charset="-122"/>
              <a:ea typeface="楷体_GB2312" pitchFamily="49" charset="-122"/>
            </a:endParaRPr>
          </a:p>
        </p:txBody>
      </p:sp>
      <p:sp>
        <p:nvSpPr>
          <p:cNvPr id="44035" name="Rectangle 5"/>
          <p:cNvSpPr>
            <a:spLocks noChangeArrowheads="1"/>
          </p:cNvSpPr>
          <p:nvPr/>
        </p:nvSpPr>
        <p:spPr bwMode="auto">
          <a:xfrm>
            <a:off x="1619250" y="981075"/>
            <a:ext cx="231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AutoNum type="arabicPeriod"/>
            </a:pPr>
            <a:r>
              <a:rPr lang="zh-CN" altLang="en-US" b="1">
                <a:ea typeface="楷体_GB2312" pitchFamily="49" charset="-122"/>
              </a:rPr>
              <a:t>四连通域定义</a:t>
            </a:r>
            <a:endParaRPr lang="zh-CN" altLang="en-US" b="1">
              <a:ea typeface="楷体_GB2312" pitchFamily="49" charset="-122"/>
            </a:endParaRPr>
          </a:p>
        </p:txBody>
      </p:sp>
      <p:graphicFrame>
        <p:nvGraphicFramePr>
          <p:cNvPr id="44036" name="Object 7"/>
          <p:cNvGraphicFramePr>
            <a:graphicFrameLocks noChangeAspect="1"/>
          </p:cNvGraphicFramePr>
          <p:nvPr/>
        </p:nvGraphicFramePr>
        <p:xfrm>
          <a:off x="5940425" y="1485900"/>
          <a:ext cx="1727200" cy="1727200"/>
        </p:xfrm>
        <a:graphic>
          <a:graphicData uri="http://schemas.openxmlformats.org/presentationml/2006/ole">
            <mc:AlternateContent xmlns:mc="http://schemas.openxmlformats.org/markup-compatibility/2006">
              <mc:Choice xmlns:v="urn:schemas-microsoft-com:vml" Requires="v">
                <p:oleObj spid="_x0000_s44087" name="" r:id="rId1" imgW="4335145" imgH="4335145" progId="Visio.Drawing.11">
                  <p:embed/>
                </p:oleObj>
              </mc:Choice>
              <mc:Fallback>
                <p:oleObj name="" r:id="rId1" imgW="4335145" imgH="4335145"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1485900"/>
                        <a:ext cx="17272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37" name="Object 6"/>
          <p:cNvGraphicFramePr>
            <a:graphicFrameLocks noChangeAspect="1"/>
          </p:cNvGraphicFramePr>
          <p:nvPr/>
        </p:nvGraphicFramePr>
        <p:xfrm>
          <a:off x="2484438" y="1484313"/>
          <a:ext cx="1655762" cy="1655762"/>
        </p:xfrm>
        <a:graphic>
          <a:graphicData uri="http://schemas.openxmlformats.org/presentationml/2006/ole">
            <mc:AlternateContent xmlns:mc="http://schemas.openxmlformats.org/markup-compatibility/2006">
              <mc:Choice xmlns:v="urn:schemas-microsoft-com:vml" Requires="v">
                <p:oleObj spid="_x0000_s44088" name="" r:id="rId3" imgW="4335145" imgH="4335145" progId="Visio.Drawing.11">
                  <p:embed/>
                </p:oleObj>
              </mc:Choice>
              <mc:Fallback>
                <p:oleObj name="" r:id="rId3" imgW="4335145" imgH="4335145"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1484313"/>
                        <a:ext cx="1655762"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8" name="Rectangle 8"/>
          <p:cNvSpPr>
            <a:spLocks noChangeArrowheads="1"/>
          </p:cNvSpPr>
          <p:nvPr/>
        </p:nvSpPr>
        <p:spPr bwMode="auto">
          <a:xfrm>
            <a:off x="0" y="1390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4039" name="Rectangle 9"/>
          <p:cNvSpPr>
            <a:spLocks noChangeArrowheads="1"/>
          </p:cNvSpPr>
          <p:nvPr/>
        </p:nvSpPr>
        <p:spPr bwMode="auto">
          <a:xfrm>
            <a:off x="4403725" y="3105150"/>
            <a:ext cx="342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44040" name="Rectangle 10"/>
          <p:cNvSpPr>
            <a:spLocks noChangeArrowheads="1"/>
          </p:cNvSpPr>
          <p:nvPr/>
        </p:nvSpPr>
        <p:spPr bwMode="auto">
          <a:xfrm>
            <a:off x="1619250" y="3213100"/>
            <a:ext cx="734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楷体_GB2312" pitchFamily="49" charset="-122"/>
                <a:ea typeface="楷体_GB2312" pitchFamily="49" charset="-122"/>
              </a:rPr>
              <a:t>四连通域及其四连通边界  四连通域及其八连通边界 </a:t>
            </a:r>
            <a:endParaRPr lang="zh-CN" altLang="en-US">
              <a:latin typeface="楷体_GB2312" pitchFamily="49" charset="-122"/>
              <a:ea typeface="楷体_GB2312" pitchFamily="49" charset="-122"/>
            </a:endParaRPr>
          </a:p>
        </p:txBody>
      </p:sp>
      <p:sp>
        <p:nvSpPr>
          <p:cNvPr id="44041" name="Rectangle 11"/>
          <p:cNvSpPr>
            <a:spLocks noChangeArrowheads="1"/>
          </p:cNvSpPr>
          <p:nvPr/>
        </p:nvSpPr>
        <p:spPr bwMode="auto">
          <a:xfrm>
            <a:off x="1403350" y="3789363"/>
            <a:ext cx="231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ea typeface="楷体_GB2312" pitchFamily="49" charset="-122"/>
              </a:rPr>
              <a:t>2.</a:t>
            </a:r>
            <a:r>
              <a:rPr lang="zh-CN" altLang="en-US" b="1">
                <a:ea typeface="楷体_GB2312" pitchFamily="49" charset="-122"/>
              </a:rPr>
              <a:t>八连通域定义</a:t>
            </a:r>
            <a:endParaRPr lang="zh-CN" altLang="en-US" b="1">
              <a:ea typeface="楷体_GB2312" pitchFamily="49" charset="-122"/>
            </a:endParaRPr>
          </a:p>
        </p:txBody>
      </p:sp>
      <p:graphicFrame>
        <p:nvGraphicFramePr>
          <p:cNvPr id="44042" name="Object 13"/>
          <p:cNvGraphicFramePr>
            <a:graphicFrameLocks noChangeAspect="1"/>
          </p:cNvGraphicFramePr>
          <p:nvPr/>
        </p:nvGraphicFramePr>
        <p:xfrm>
          <a:off x="6011863" y="4148138"/>
          <a:ext cx="1801812" cy="1801812"/>
        </p:xfrm>
        <a:graphic>
          <a:graphicData uri="http://schemas.openxmlformats.org/presentationml/2006/ole">
            <mc:AlternateContent xmlns:mc="http://schemas.openxmlformats.org/markup-compatibility/2006">
              <mc:Choice xmlns:v="urn:schemas-microsoft-com:vml" Requires="v">
                <p:oleObj spid="_x0000_s44089" name="" r:id="rId5" imgW="4335145" imgH="4335145" progId="Visio.Drawing.11">
                  <p:embed/>
                </p:oleObj>
              </mc:Choice>
              <mc:Fallback>
                <p:oleObj name="" r:id="rId5" imgW="4335145" imgH="4335145" progId="Visio.Drawing.11">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1863" y="4148138"/>
                        <a:ext cx="1801812"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43" name="Object 12"/>
          <p:cNvGraphicFramePr>
            <a:graphicFrameLocks noChangeAspect="1"/>
          </p:cNvGraphicFramePr>
          <p:nvPr/>
        </p:nvGraphicFramePr>
        <p:xfrm>
          <a:off x="2484438" y="4221163"/>
          <a:ext cx="1727200" cy="1727200"/>
        </p:xfrm>
        <a:graphic>
          <a:graphicData uri="http://schemas.openxmlformats.org/presentationml/2006/ole">
            <mc:AlternateContent xmlns:mc="http://schemas.openxmlformats.org/markup-compatibility/2006">
              <mc:Choice xmlns:v="urn:schemas-microsoft-com:vml" Requires="v">
                <p:oleObj spid="_x0000_s44090" name="" r:id="rId7" imgW="4335145" imgH="4335145" progId="Visio.Drawing.11">
                  <p:embed/>
                </p:oleObj>
              </mc:Choice>
              <mc:Fallback>
                <p:oleObj name="" r:id="rId7" imgW="4335145" imgH="4335145" progId="Visio.Drawing.11">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4221163"/>
                        <a:ext cx="17272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4" name="Rectangle 14"/>
          <p:cNvSpPr>
            <a:spLocks noChangeArrowheads="1"/>
          </p:cNvSpPr>
          <p:nvPr/>
        </p:nvSpPr>
        <p:spPr bwMode="auto">
          <a:xfrm>
            <a:off x="0" y="1289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44045" name="Rectangle 15"/>
          <p:cNvSpPr>
            <a:spLocks noChangeArrowheads="1"/>
          </p:cNvSpPr>
          <p:nvPr/>
        </p:nvSpPr>
        <p:spPr bwMode="auto">
          <a:xfrm>
            <a:off x="4403725" y="3194050"/>
            <a:ext cx="342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44046" name="Rectangle 16"/>
          <p:cNvSpPr>
            <a:spLocks noChangeArrowheads="1"/>
          </p:cNvSpPr>
          <p:nvPr/>
        </p:nvSpPr>
        <p:spPr bwMode="auto">
          <a:xfrm>
            <a:off x="1249363" y="6092825"/>
            <a:ext cx="749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楷体_GB2312" pitchFamily="49" charset="-122"/>
                <a:ea typeface="楷体_GB2312" pitchFamily="49" charset="-122"/>
              </a:rPr>
              <a:t>八连通域及其四连通边界  八连通域及其八连通边界  </a:t>
            </a:r>
            <a:endParaRPr lang="zh-CN" altLang="en-US">
              <a:latin typeface="楷体_GB2312" pitchFamily="49" charset="-122"/>
              <a:ea typeface="楷体_GB2312" pitchFamily="49"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8" name="Object 5"/>
          <p:cNvGraphicFramePr>
            <a:graphicFrameLocks noChangeAspect="1"/>
          </p:cNvGraphicFramePr>
          <p:nvPr/>
        </p:nvGraphicFramePr>
        <p:xfrm>
          <a:off x="2268538" y="404813"/>
          <a:ext cx="1733550" cy="1733550"/>
        </p:xfrm>
        <a:graphic>
          <a:graphicData uri="http://schemas.openxmlformats.org/presentationml/2006/ole">
            <mc:AlternateContent xmlns:mc="http://schemas.openxmlformats.org/markup-compatibility/2006">
              <mc:Choice xmlns:v="urn:schemas-microsoft-com:vml" Requires="v">
                <p:oleObj spid="_x0000_s45085" name="" r:id="rId1" imgW="4335145" imgH="4335145" progId="Visio.Drawing.11">
                  <p:embed/>
                </p:oleObj>
              </mc:Choice>
              <mc:Fallback>
                <p:oleObj name="" r:id="rId1" imgW="4335145" imgH="433514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404813"/>
                        <a:ext cx="1733550"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059" name="Object 4"/>
          <p:cNvGraphicFramePr>
            <a:graphicFrameLocks noChangeAspect="1"/>
          </p:cNvGraphicFramePr>
          <p:nvPr/>
        </p:nvGraphicFramePr>
        <p:xfrm>
          <a:off x="5795963" y="333375"/>
          <a:ext cx="1752600" cy="1752600"/>
        </p:xfrm>
        <a:graphic>
          <a:graphicData uri="http://schemas.openxmlformats.org/presentationml/2006/ole">
            <mc:AlternateContent xmlns:mc="http://schemas.openxmlformats.org/markup-compatibility/2006">
              <mc:Choice xmlns:v="urn:schemas-microsoft-com:vml" Requires="v">
                <p:oleObj spid="_x0000_s45086" name="" r:id="rId3" imgW="4335145" imgH="4335145" progId="Visio.Drawing.11">
                  <p:embed/>
                </p:oleObj>
              </mc:Choice>
              <mc:Fallback>
                <p:oleObj name="" r:id="rId3" imgW="4335145" imgH="433514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333375"/>
                        <a:ext cx="1752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0" name="Rectangle 7"/>
          <p:cNvSpPr>
            <a:spLocks noChangeArrowheads="1"/>
          </p:cNvSpPr>
          <p:nvPr/>
        </p:nvSpPr>
        <p:spPr bwMode="auto">
          <a:xfrm>
            <a:off x="4368800" y="3175000"/>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45061" name="Rectangle 8"/>
          <p:cNvSpPr>
            <a:spLocks noChangeArrowheads="1"/>
          </p:cNvSpPr>
          <p:nvPr/>
        </p:nvSpPr>
        <p:spPr bwMode="auto">
          <a:xfrm>
            <a:off x="1270000" y="2386013"/>
            <a:ext cx="765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楷体_GB2312" pitchFamily="49" charset="-122"/>
                <a:ea typeface="楷体_GB2312" pitchFamily="49" charset="-122"/>
              </a:rPr>
              <a:t>四邻接点算法填充八连通域 八邻接点算法填充八连通域</a:t>
            </a:r>
            <a:endParaRPr lang="zh-CN" altLang="en-US">
              <a:latin typeface="楷体_GB2312" pitchFamily="49" charset="-122"/>
              <a:ea typeface="楷体_GB2312" pitchFamily="49" charset="-122"/>
            </a:endParaRPr>
          </a:p>
        </p:txBody>
      </p:sp>
      <p:sp>
        <p:nvSpPr>
          <p:cNvPr id="35846" name="Rectangle 9"/>
          <p:cNvSpPr>
            <a:spLocks noChangeArrowheads="1"/>
          </p:cNvSpPr>
          <p:nvPr/>
        </p:nvSpPr>
        <p:spPr bwMode="auto">
          <a:xfrm>
            <a:off x="1258888" y="2924175"/>
            <a:ext cx="4033837"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ea typeface="楷体_GB2312" pitchFamily="49" charset="-122"/>
              </a:rPr>
              <a:t>4.4.4 </a:t>
            </a:r>
            <a:r>
              <a:rPr lang="zh-CN" altLang="en-US" sz="3200" b="1">
                <a:effectLst>
                  <a:outerShdw blurRad="38100" dist="38100" dir="2700000" algn="tl">
                    <a:srgbClr val="C0C0C0"/>
                  </a:outerShdw>
                </a:effectLst>
                <a:latin typeface="楷体_GB2312" pitchFamily="49" charset="-122"/>
                <a:ea typeface="楷体_GB2312" pitchFamily="49" charset="-122"/>
              </a:rPr>
              <a:t>种子填充算法 </a:t>
            </a:r>
            <a:endParaRPr lang="zh-CN" altLang="en-US" sz="3200" b="1">
              <a:effectLst>
                <a:outerShdw blurRad="38100" dist="38100" dir="2700000" algn="tl">
                  <a:srgbClr val="C0C0C0"/>
                </a:outerShdw>
              </a:effectLst>
              <a:latin typeface="楷体_GB2312" pitchFamily="49" charset="-122"/>
              <a:ea typeface="楷体_GB2312" pitchFamily="49" charset="-122"/>
            </a:endParaRPr>
          </a:p>
        </p:txBody>
      </p:sp>
      <p:sp>
        <p:nvSpPr>
          <p:cNvPr id="45063" name="Rectangle 10"/>
          <p:cNvSpPr>
            <a:spLocks noChangeArrowheads="1"/>
          </p:cNvSpPr>
          <p:nvPr/>
        </p:nvSpPr>
        <p:spPr bwMode="auto">
          <a:xfrm>
            <a:off x="1619250" y="3573463"/>
            <a:ext cx="186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AutoNum type="arabicPeriod"/>
            </a:pPr>
            <a:r>
              <a:rPr lang="zh-CN" altLang="en-US" b="1">
                <a:ea typeface="楷体_GB2312" pitchFamily="49" charset="-122"/>
              </a:rPr>
              <a:t>算法定义</a:t>
            </a:r>
            <a:endParaRPr lang="zh-CN" altLang="en-US" b="1">
              <a:ea typeface="楷体_GB2312" pitchFamily="49" charset="-122"/>
            </a:endParaRPr>
          </a:p>
        </p:txBody>
      </p:sp>
      <p:sp>
        <p:nvSpPr>
          <p:cNvPr id="45064" name="Rectangle 11"/>
          <p:cNvSpPr>
            <a:spLocks noChangeArrowheads="1"/>
          </p:cNvSpPr>
          <p:nvPr/>
        </p:nvSpPr>
        <p:spPr bwMode="auto">
          <a:xfrm>
            <a:off x="1476375" y="4221163"/>
            <a:ext cx="72215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ea typeface="楷体_GB2312" pitchFamily="49" charset="-122"/>
              </a:rPr>
              <a:t>      从种子像素点开始，使用四邻接点方式搜索下一像素点的填充算法称为四邻接点填充算法。从种子像素点开始，使用八邻接点方式搜索下一像素点的填充算法称为八邻接点填充算法。八邻接点填充算法的设计和四邻接点填充算法基本相似，只要把搜索方式由四邻接点修改为八邻接点即可。</a:t>
            </a:r>
            <a:endParaRPr lang="zh-CN" altLang="en-US">
              <a:ea typeface="楷体_GB2312" pitchFamily="49"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1476375" y="333375"/>
            <a:ext cx="169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ea typeface="楷体_GB2312" pitchFamily="49" charset="-122"/>
              </a:rPr>
              <a:t>2.</a:t>
            </a:r>
            <a:r>
              <a:rPr lang="zh-CN" altLang="en-US" b="1">
                <a:ea typeface="楷体_GB2312" pitchFamily="49" charset="-122"/>
              </a:rPr>
              <a:t>算法原理</a:t>
            </a:r>
            <a:endParaRPr lang="zh-CN" altLang="en-US" b="1">
              <a:ea typeface="楷体_GB2312" pitchFamily="49" charset="-122"/>
            </a:endParaRPr>
          </a:p>
        </p:txBody>
      </p:sp>
      <p:sp>
        <p:nvSpPr>
          <p:cNvPr id="46083" name="Rectangle 5"/>
          <p:cNvSpPr>
            <a:spLocks noChangeArrowheads="1"/>
          </p:cNvSpPr>
          <p:nvPr/>
        </p:nvSpPr>
        <p:spPr bwMode="auto">
          <a:xfrm>
            <a:off x="1331913" y="981075"/>
            <a:ext cx="7632700" cy="531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30000"/>
              </a:lnSpc>
            </a:pPr>
            <a:r>
              <a:rPr lang="zh-CN" altLang="en-US">
                <a:latin typeface="楷体_GB2312" pitchFamily="49" charset="-122"/>
                <a:ea typeface="楷体_GB2312" pitchFamily="49" charset="-122"/>
              </a:rPr>
              <a:t>  种子填充算法一般要求</a:t>
            </a:r>
            <a:r>
              <a:rPr lang="zh-CN" altLang="en-US" b="1">
                <a:solidFill>
                  <a:srgbClr val="FF0000"/>
                </a:solidFill>
                <a:latin typeface="黑体" panose="02010609060101010101" pitchFamily="49" charset="-122"/>
                <a:ea typeface="黑体" panose="02010609060101010101" pitchFamily="49" charset="-122"/>
              </a:rPr>
              <a:t>区域边界色和填充色不同</a:t>
            </a:r>
            <a:r>
              <a:rPr lang="zh-CN" altLang="en-US">
                <a:latin typeface="楷体_GB2312" pitchFamily="49" charset="-122"/>
                <a:ea typeface="楷体_GB2312" pitchFamily="49" charset="-122"/>
              </a:rPr>
              <a:t>，</a:t>
            </a:r>
            <a:r>
              <a:rPr lang="zh-CN" altLang="en-US" b="1">
                <a:solidFill>
                  <a:srgbClr val="FF0000"/>
                </a:solidFill>
                <a:latin typeface="黑体" panose="02010609060101010101" pitchFamily="49" charset="-122"/>
                <a:ea typeface="黑体" panose="02010609060101010101" pitchFamily="49" charset="-122"/>
              </a:rPr>
              <a:t>输入参数只有种子坐标位置和填充颜色</a:t>
            </a:r>
            <a:r>
              <a:rPr lang="zh-CN" altLang="en-US">
                <a:latin typeface="楷体_GB2312" pitchFamily="49" charset="-122"/>
                <a:ea typeface="楷体_GB2312" pitchFamily="49" charset="-122"/>
              </a:rPr>
              <a:t>。种子填充算法一般需要使用</a:t>
            </a:r>
            <a:r>
              <a:rPr lang="zh-CN" altLang="en-US" b="1">
                <a:solidFill>
                  <a:srgbClr val="FF0000"/>
                </a:solidFill>
                <a:latin typeface="黑体" panose="02010609060101010101" pitchFamily="49" charset="-122"/>
                <a:ea typeface="黑体" panose="02010609060101010101" pitchFamily="49" charset="-122"/>
              </a:rPr>
              <a:t>堆栈数据结构</a:t>
            </a:r>
            <a:r>
              <a:rPr lang="zh-CN" altLang="en-US">
                <a:latin typeface="楷体_GB2312" pitchFamily="49" charset="-122"/>
                <a:ea typeface="楷体_GB2312" pitchFamily="49" charset="-122"/>
              </a:rPr>
              <a:t>来实现。</a:t>
            </a:r>
            <a:endParaRPr lang="zh-CN" altLang="en-US">
              <a:latin typeface="楷体_GB2312" pitchFamily="49" charset="-122"/>
              <a:ea typeface="楷体_GB2312" pitchFamily="49" charset="-122"/>
            </a:endParaRPr>
          </a:p>
          <a:p>
            <a:pPr eaLnBrk="1" hangingPunct="1">
              <a:lnSpc>
                <a:spcPct val="130000"/>
              </a:lnSpc>
            </a:pPr>
            <a:r>
              <a:rPr lang="zh-CN" altLang="en-US">
                <a:latin typeface="楷体_GB2312" pitchFamily="49" charset="-122"/>
                <a:ea typeface="楷体_GB2312" pitchFamily="49" charset="-122"/>
              </a:rPr>
              <a:t>算法原理为：先将种子像素入栈，种子像素为栈底像素，如果栈不为空，执行如下</a:t>
            </a:r>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步操作：</a:t>
            </a:r>
            <a:endParaRPr lang="zh-CN" altLang="en-US">
              <a:latin typeface="楷体_GB2312" pitchFamily="49" charset="-122"/>
              <a:ea typeface="楷体_GB2312" pitchFamily="49" charset="-122"/>
            </a:endParaRPr>
          </a:p>
          <a:p>
            <a:pPr eaLnBrk="1" hangingPunct="1">
              <a:lnSpc>
                <a:spcPct val="130000"/>
              </a:lnSpc>
            </a:pPr>
            <a:r>
              <a:rPr lang="zh-CN" altLang="en-US">
                <a:latin typeface="楷体_GB2312" pitchFamily="49" charset="-122"/>
                <a:ea typeface="楷体_GB2312" pitchFamily="49" charset="-122"/>
              </a:rPr>
              <a:t>⑴栈顶像素出栈；</a:t>
            </a:r>
            <a:endParaRPr lang="zh-CN" altLang="en-US">
              <a:latin typeface="楷体_GB2312" pitchFamily="49" charset="-122"/>
              <a:ea typeface="楷体_GB2312" pitchFamily="49" charset="-122"/>
            </a:endParaRPr>
          </a:p>
          <a:p>
            <a:pPr eaLnBrk="1" hangingPunct="1">
              <a:lnSpc>
                <a:spcPct val="130000"/>
              </a:lnSpc>
            </a:pPr>
            <a:r>
              <a:rPr lang="zh-CN" altLang="en-US">
                <a:latin typeface="楷体_GB2312" pitchFamily="49" charset="-122"/>
                <a:ea typeface="楷体_GB2312" pitchFamily="49" charset="-122"/>
              </a:rPr>
              <a:t>⑵按填充颜色绘制出栈像素。</a:t>
            </a:r>
            <a:endParaRPr lang="zh-CN" altLang="en-US">
              <a:latin typeface="楷体_GB2312" pitchFamily="49" charset="-122"/>
              <a:ea typeface="楷体_GB2312" pitchFamily="49" charset="-122"/>
            </a:endParaRPr>
          </a:p>
          <a:p>
            <a:pPr eaLnBrk="1" hangingPunct="1">
              <a:lnSpc>
                <a:spcPct val="130000"/>
              </a:lnSpc>
            </a:pPr>
            <a:r>
              <a:rPr lang="zh-CN" altLang="en-US">
                <a:latin typeface="楷体_GB2312" pitchFamily="49" charset="-122"/>
                <a:ea typeface="楷体_GB2312" pitchFamily="49" charset="-122"/>
              </a:rPr>
              <a:t>⑶按左、右、下、上（或左、左上、上、右上、右、右下、下、左下）顺序搜索与出栈像素相邻的四（八）个像素，若该像素的颜色不是边界色并且未置成填充色，则把该像素入栈；否则丢弃该像素。</a:t>
            </a:r>
            <a:endParaRPr lang="zh-CN" altLang="en-US">
              <a:latin typeface="楷体_GB2312" pitchFamily="49" charset="-122"/>
              <a:ea typeface="楷体_GB2312" pitchFamily="49"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ChangeArrowheads="1"/>
          </p:cNvSpPr>
          <p:nvPr/>
        </p:nvSpPr>
        <p:spPr bwMode="auto">
          <a:xfrm>
            <a:off x="1476375" y="333375"/>
            <a:ext cx="2332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493395"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ea typeface="楷体_GB2312" pitchFamily="49" charset="-122"/>
              </a:rPr>
              <a:t>2.</a:t>
            </a:r>
            <a:r>
              <a:rPr lang="zh-CN" altLang="en-US" b="1">
                <a:ea typeface="楷体_GB2312" pitchFamily="49" charset="-122"/>
              </a:rPr>
              <a:t>理解性的算法</a:t>
            </a:r>
            <a:endParaRPr lang="zh-CN" altLang="en-US" b="1">
              <a:ea typeface="楷体_GB2312" pitchFamily="49" charset="-122"/>
            </a:endParaRPr>
          </a:p>
        </p:txBody>
      </p:sp>
      <p:sp>
        <p:nvSpPr>
          <p:cNvPr id="47107" name="Rectangle 5"/>
          <p:cNvSpPr>
            <a:spLocks noChangeArrowheads="1"/>
          </p:cNvSpPr>
          <p:nvPr/>
        </p:nvSpPr>
        <p:spPr bwMode="auto">
          <a:xfrm>
            <a:off x="1331913" y="981075"/>
            <a:ext cx="8097837"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30000"/>
              </a:lnSpc>
            </a:pPr>
            <a:r>
              <a:rPr lang="en-US" altLang="zh-CN">
                <a:latin typeface="楷体_GB2312" pitchFamily="49" charset="-122"/>
                <a:ea typeface="楷体_GB2312" pitchFamily="49" charset="-122"/>
              </a:rPr>
              <a:t>void SeedFill4(int x,int y,COLORREF oldclr,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COLOREF newclr)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    if(pDC-&gt;GetPixel(x,y) == oldclr)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    {</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         pDC-&gt;DrawPixel(x,y,newclr));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         SeedFill4(x-1,y,oldclr,newclr);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         SeedFill4(x+1,y,oldclr,newclr);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         SeedFill4(x,y-1,oldclr,newclr);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         SeedFill4(x,y+1,oldclr,newclr);</a:t>
            </a:r>
            <a:endParaRPr lang="en-US" altLang="zh-CN">
              <a:latin typeface="楷体_GB2312" pitchFamily="49" charset="-122"/>
              <a:ea typeface="楷体_GB2312" pitchFamily="49" charset="-122"/>
            </a:endParaRPr>
          </a:p>
          <a:p>
            <a:pPr eaLnBrk="1" hangingPunct="1">
              <a:lnSpc>
                <a:spcPct val="130000"/>
              </a:lnSpc>
            </a:pPr>
            <a:r>
              <a:rPr lang="en-US" altLang="zh-CN">
                <a:latin typeface="楷体_GB2312" pitchFamily="49" charset="-122"/>
                <a:ea typeface="楷体_GB2312" pitchFamily="49" charset="-122"/>
              </a:rPr>
              <a:t>}</a:t>
            </a:r>
            <a:endParaRPr lang="zh-CN" altLang="en-US">
              <a:latin typeface="楷体_GB2312" pitchFamily="49" charset="-122"/>
              <a:ea typeface="楷体_GB2312" pitchFamily="49" charset="-122"/>
            </a:endParaRPr>
          </a:p>
        </p:txBody>
      </p:sp>
      <p:sp>
        <p:nvSpPr>
          <p:cNvPr id="47108" name="矩形 3"/>
          <p:cNvSpPr>
            <a:spLocks noChangeArrowheads="1"/>
          </p:cNvSpPr>
          <p:nvPr/>
        </p:nvSpPr>
        <p:spPr bwMode="auto">
          <a:xfrm>
            <a:off x="4500563" y="285750"/>
            <a:ext cx="228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rgbClr val="FF0000"/>
                </a:solidFill>
                <a:ea typeface="楷体_GB2312" pitchFamily="49" charset="-122"/>
              </a:rPr>
              <a:t>实际不能使用</a:t>
            </a:r>
            <a:endParaRPr lang="zh-CN" altLang="en-US">
              <a:solidFill>
                <a:srgbClr val="FF0000"/>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5"/>
          <p:cNvSpPr txBox="1">
            <a:spLocks noChangeArrowheads="1"/>
          </p:cNvSpPr>
          <p:nvPr/>
        </p:nvSpPr>
        <p:spPr bwMode="auto">
          <a:xfrm>
            <a:off x="5580063" y="1052513"/>
            <a:ext cx="2735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hlinkClick r:id="rId1" action="ppaction://hlinkfile"/>
              </a:rPr>
              <a:t>八邻接点填充算法</a:t>
            </a:r>
            <a:endParaRPr lang="zh-CN" altLang="en-US">
              <a:ea typeface="楷体_GB2312" pitchFamily="49" charset="-122"/>
            </a:endParaRPr>
          </a:p>
        </p:txBody>
      </p:sp>
      <p:pic>
        <p:nvPicPr>
          <p:cNvPr id="48131"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59338" y="2924175"/>
            <a:ext cx="3744912"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 Box 7"/>
          <p:cNvSpPr txBox="1">
            <a:spLocks noChangeArrowheads="1"/>
          </p:cNvSpPr>
          <p:nvPr/>
        </p:nvSpPr>
        <p:spPr bwMode="auto">
          <a:xfrm>
            <a:off x="5435600" y="5949950"/>
            <a:ext cx="273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hlinkClick r:id="rId1" action="ppaction://hlinkfile"/>
              </a:rPr>
              <a:t>八邻接点填充算法</a:t>
            </a:r>
            <a:endParaRPr lang="zh-CN" altLang="en-US">
              <a:ea typeface="楷体_GB2312" pitchFamily="49" charset="-122"/>
            </a:endParaRPr>
          </a:p>
        </p:txBody>
      </p:sp>
      <p:sp>
        <p:nvSpPr>
          <p:cNvPr id="48133" name="Text Box 8"/>
          <p:cNvSpPr txBox="1">
            <a:spLocks noChangeArrowheads="1"/>
          </p:cNvSpPr>
          <p:nvPr/>
        </p:nvSpPr>
        <p:spPr bwMode="auto">
          <a:xfrm>
            <a:off x="1476375" y="4437063"/>
            <a:ext cx="273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楷体_GB2312" pitchFamily="49" charset="-122"/>
                <a:hlinkClick r:id="rId3" action="ppaction://hlinkfile"/>
              </a:rPr>
              <a:t>四邻接点填充算法</a:t>
            </a:r>
            <a:endParaRPr lang="zh-CN" altLang="en-US">
              <a:ea typeface="楷体_GB2312" pitchFamily="49" charset="-122"/>
            </a:endParaRPr>
          </a:p>
        </p:txBody>
      </p:sp>
      <p:pic>
        <p:nvPicPr>
          <p:cNvPr id="48134"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7813" y="260350"/>
            <a:ext cx="3382962" cy="245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ChangeArrowheads="1"/>
          </p:cNvSpPr>
          <p:nvPr/>
        </p:nvSpPr>
        <p:spPr bwMode="auto">
          <a:xfrm>
            <a:off x="1403350" y="620713"/>
            <a:ext cx="7489825" cy="5584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800"/>
              <a:t>void CTestView::FillPolygon(CDC *pDC)//</a:t>
            </a:r>
            <a:r>
              <a:rPr lang="zh-CN" altLang="en-US" sz="1800"/>
              <a:t>填充多边形</a:t>
            </a:r>
            <a:endParaRPr lang="zh-CN" altLang="en-US" sz="1800"/>
          </a:p>
          <a:p>
            <a:pPr eaLnBrk="1" hangingPunct="1"/>
            <a:r>
              <a:rPr lang="en-US" altLang="zh-CN" sz="1800"/>
              <a:t>{</a:t>
            </a:r>
            <a:endParaRPr lang="en-US" altLang="zh-CN" sz="1800"/>
          </a:p>
          <a:p>
            <a:pPr eaLnBrk="1" hangingPunct="1"/>
            <a:r>
              <a:rPr lang="en-US" altLang="zh-CN" sz="1800"/>
              <a:t>	COLORREF BoundaryClr=RGB(0,0,0);//</a:t>
            </a:r>
            <a:r>
              <a:rPr lang="zh-CN" altLang="en-US" sz="1800"/>
              <a:t>边界色</a:t>
            </a:r>
            <a:endParaRPr lang="zh-CN" altLang="en-US" sz="1800"/>
          </a:p>
          <a:p>
            <a:pPr eaLnBrk="1" hangingPunct="1"/>
            <a:r>
              <a:rPr lang="zh-CN" altLang="en-US" sz="1800"/>
              <a:t>	</a:t>
            </a:r>
            <a:r>
              <a:rPr lang="en-US" altLang="zh-CN" sz="1800"/>
              <a:t>COLORREF PixelClr;//</a:t>
            </a:r>
            <a:r>
              <a:rPr lang="zh-CN" altLang="en-US" sz="1800"/>
              <a:t>当前像素的颜色</a:t>
            </a:r>
            <a:endParaRPr lang="zh-CN" altLang="en-US" sz="1800"/>
          </a:p>
          <a:p>
            <a:pPr eaLnBrk="1" hangingPunct="1"/>
            <a:r>
              <a:rPr lang="zh-CN" altLang="en-US" sz="1800"/>
              <a:t>	</a:t>
            </a:r>
            <a:r>
              <a:rPr lang="en-US" altLang="zh-CN" sz="1800"/>
              <a:t>pHead=new CStackNode;//</a:t>
            </a:r>
            <a:r>
              <a:rPr lang="zh-CN" altLang="en-US" sz="1800"/>
              <a:t>建立栈头结点</a:t>
            </a:r>
            <a:endParaRPr lang="zh-CN" altLang="en-US" sz="1800"/>
          </a:p>
          <a:p>
            <a:pPr eaLnBrk="1" hangingPunct="1"/>
            <a:r>
              <a:rPr lang="zh-CN" altLang="en-US" sz="1800"/>
              <a:t>	</a:t>
            </a:r>
            <a:r>
              <a:rPr lang="en-US" altLang="zh-CN" sz="1800"/>
              <a:t>pHead-&gt;next=NULL;//</a:t>
            </a:r>
            <a:r>
              <a:rPr lang="zh-CN" altLang="en-US" sz="1800"/>
              <a:t>栈的头结点总是为空</a:t>
            </a:r>
            <a:endParaRPr lang="zh-CN" altLang="en-US" sz="1800"/>
          </a:p>
          <a:p>
            <a:pPr eaLnBrk="1" hangingPunct="1"/>
            <a:r>
              <a:rPr lang="zh-CN" altLang="en-US" sz="1800"/>
              <a:t>	</a:t>
            </a:r>
            <a:r>
              <a:rPr lang="en-US" altLang="zh-CN" sz="1800">
                <a:solidFill>
                  <a:srgbClr val="CC0000"/>
                </a:solidFill>
              </a:rPr>
              <a:t>Push(Seed);</a:t>
            </a:r>
            <a:r>
              <a:rPr lang="en-US" altLang="zh-CN" sz="1800"/>
              <a:t> //</a:t>
            </a:r>
            <a:r>
              <a:rPr lang="zh-CN" altLang="en-US" sz="1800"/>
              <a:t>种子像素入栈</a:t>
            </a:r>
            <a:endParaRPr lang="zh-CN" altLang="en-US" sz="1800"/>
          </a:p>
          <a:p>
            <a:pPr eaLnBrk="1" hangingPunct="1"/>
            <a:r>
              <a:rPr lang="zh-CN" altLang="en-US" sz="1800"/>
              <a:t>	</a:t>
            </a:r>
            <a:r>
              <a:rPr lang="en-US" altLang="zh-CN" sz="1800"/>
              <a:t>while(NULL!=pHead-&gt;next)//</a:t>
            </a:r>
            <a:r>
              <a:rPr lang="zh-CN" altLang="en-US" sz="1800"/>
              <a:t>如果栈不为空</a:t>
            </a:r>
            <a:endParaRPr lang="zh-CN" altLang="en-US" sz="1800"/>
          </a:p>
          <a:p>
            <a:pPr eaLnBrk="1" hangingPunct="1"/>
            <a:r>
              <a:rPr lang="zh-CN" altLang="en-US" sz="1800"/>
              <a:t>	</a:t>
            </a:r>
            <a:r>
              <a:rPr lang="en-US" altLang="zh-CN" sz="1800"/>
              <a:t>{</a:t>
            </a:r>
            <a:endParaRPr lang="en-US" altLang="zh-CN" sz="1800"/>
          </a:p>
          <a:p>
            <a:pPr eaLnBrk="1" hangingPunct="1"/>
            <a:r>
              <a:rPr lang="en-US" altLang="zh-CN" sz="1800"/>
              <a:t>		CP2 PopPoint;</a:t>
            </a:r>
            <a:endParaRPr lang="en-US" altLang="zh-CN" sz="1800"/>
          </a:p>
          <a:p>
            <a:pPr eaLnBrk="1" hangingPunct="1"/>
            <a:r>
              <a:rPr lang="en-US" altLang="zh-CN" sz="1800"/>
              <a:t>		</a:t>
            </a:r>
            <a:r>
              <a:rPr lang="en-US" altLang="zh-CN" sz="1800">
                <a:solidFill>
                  <a:srgbClr val="CC0000"/>
                </a:solidFill>
              </a:rPr>
              <a:t>Pop(PopPoint); </a:t>
            </a:r>
            <a:r>
              <a:rPr lang="en-US" altLang="zh-CN" sz="1800"/>
              <a:t>//</a:t>
            </a:r>
            <a:r>
              <a:rPr lang="zh-CN" altLang="en-US" sz="1800"/>
              <a:t>种子像素出栈</a:t>
            </a:r>
            <a:endParaRPr lang="zh-CN" altLang="en-US" sz="1800">
              <a:solidFill>
                <a:srgbClr val="CC0000"/>
              </a:solidFill>
            </a:endParaRPr>
          </a:p>
          <a:p>
            <a:pPr eaLnBrk="1" hangingPunct="1"/>
            <a:r>
              <a:rPr lang="zh-CN" altLang="en-US" sz="1800"/>
              <a:t>		</a:t>
            </a:r>
            <a:r>
              <a:rPr lang="en-US" altLang="zh-CN" sz="1800"/>
              <a:t>pDC-&gt;SetPixelV(Round(PopPoint.x),</a:t>
            </a:r>
            <a:endParaRPr lang="en-US" altLang="zh-CN" sz="1800"/>
          </a:p>
          <a:p>
            <a:pPr eaLnBrk="1" hangingPunct="1"/>
            <a:r>
              <a:rPr lang="en-US" altLang="zh-CN" sz="1800"/>
              <a:t>                                           Round(PopPoint.y),SeedClr);</a:t>
            </a:r>
            <a:endParaRPr lang="en-US" altLang="zh-CN" sz="1800"/>
          </a:p>
          <a:p>
            <a:pPr eaLnBrk="1" hangingPunct="1"/>
            <a:r>
              <a:rPr lang="en-US" altLang="zh-CN" sz="1800"/>
              <a:t>		PointLeft.x=PopPoint.x-1;//</a:t>
            </a:r>
            <a:r>
              <a:rPr lang="zh-CN" altLang="en-US" sz="1800">
                <a:solidFill>
                  <a:srgbClr val="CC0000"/>
                </a:solidFill>
              </a:rPr>
              <a:t>左</a:t>
            </a:r>
            <a:r>
              <a:rPr lang="zh-CN" altLang="en-US" sz="1800"/>
              <a:t>方像素</a:t>
            </a:r>
            <a:endParaRPr lang="zh-CN" altLang="en-US" sz="1800"/>
          </a:p>
          <a:p>
            <a:pPr eaLnBrk="1" hangingPunct="1"/>
            <a:r>
              <a:rPr lang="zh-CN" altLang="en-US" sz="1800"/>
              <a:t>		</a:t>
            </a:r>
            <a:r>
              <a:rPr lang="en-US" altLang="zh-CN" sz="1800"/>
              <a:t>PointLeft.y=PopPoint.y;</a:t>
            </a:r>
            <a:endParaRPr lang="en-US" altLang="zh-CN" sz="1800"/>
          </a:p>
          <a:p>
            <a:pPr eaLnBrk="1" hangingPunct="1"/>
            <a:r>
              <a:rPr lang="en-US" altLang="zh-CN" sz="1800"/>
              <a:t>		PixelClr=pDC-&gt;GetPixel(Round(PointLeft.x),</a:t>
            </a:r>
            <a:endParaRPr lang="en-US" altLang="zh-CN" sz="1800"/>
          </a:p>
          <a:p>
            <a:pPr eaLnBrk="1" hangingPunct="1"/>
            <a:r>
              <a:rPr lang="en-US" altLang="zh-CN" sz="1800"/>
              <a:t>                                          Round(PointLeft.y));</a:t>
            </a:r>
            <a:endParaRPr lang="en-US" altLang="zh-CN" sz="1800"/>
          </a:p>
          <a:p>
            <a:pPr eaLnBrk="1" hangingPunct="1"/>
            <a:r>
              <a:rPr lang="en-US" altLang="zh-CN" sz="1800"/>
              <a:t>		if(BoundaryClr!=PixelClr &amp;&amp; SeedClr!=PixelClr)</a:t>
            </a:r>
            <a:endParaRPr lang="zh-CN" altLang="en-US" sz="1800"/>
          </a:p>
          <a:p>
            <a:pPr eaLnBrk="1" hangingPunct="1"/>
            <a:r>
              <a:rPr lang="zh-CN" altLang="en-US" sz="1800"/>
              <a:t>			</a:t>
            </a:r>
            <a:r>
              <a:rPr lang="en-US" altLang="zh-CN" sz="1800"/>
              <a:t>Push(PointLeft);//</a:t>
            </a:r>
            <a:r>
              <a:rPr lang="zh-CN" altLang="en-US" sz="1800"/>
              <a:t>左方像素入栈</a:t>
            </a:r>
            <a:endParaRPr lang="zh-CN" altLang="en-US" sz="1800"/>
          </a:p>
          <a:p>
            <a:pPr eaLnBrk="1" hangingPunct="1"/>
            <a:r>
              <a:rPr lang="zh-CN" altLang="en-US" sz="1800"/>
              <a:t>		</a:t>
            </a:r>
            <a:endParaRPr lang="zh-CN" altLang="en-US" sz="1800"/>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ChangeArrowheads="1"/>
          </p:cNvSpPr>
          <p:nvPr/>
        </p:nvSpPr>
        <p:spPr bwMode="auto">
          <a:xfrm>
            <a:off x="1187450" y="333375"/>
            <a:ext cx="7885113" cy="640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800"/>
              <a:t>		</a:t>
            </a:r>
            <a:r>
              <a:rPr lang="en-US" altLang="zh-CN" sz="1800"/>
              <a:t>PointTop.x=PopPoint.x;</a:t>
            </a:r>
            <a:endParaRPr lang="en-US" altLang="zh-CN" sz="1800"/>
          </a:p>
          <a:p>
            <a:pPr eaLnBrk="1" hangingPunct="1"/>
            <a:r>
              <a:rPr lang="en-US" altLang="zh-CN" sz="1800"/>
              <a:t>		PointTop.y=PopPoint.y+1;//</a:t>
            </a:r>
            <a:r>
              <a:rPr lang="zh-CN" altLang="en-US" sz="1800">
                <a:solidFill>
                  <a:srgbClr val="CC0000"/>
                </a:solidFill>
              </a:rPr>
              <a:t>上</a:t>
            </a:r>
            <a:r>
              <a:rPr lang="zh-CN" altLang="en-US" sz="1800"/>
              <a:t>方像素</a:t>
            </a:r>
            <a:endParaRPr lang="zh-CN" altLang="en-US" sz="1800"/>
          </a:p>
          <a:p>
            <a:pPr eaLnBrk="1" hangingPunct="1"/>
            <a:r>
              <a:rPr lang="zh-CN" altLang="en-US" sz="1800"/>
              <a:t>		</a:t>
            </a:r>
            <a:r>
              <a:rPr lang="en-US" altLang="zh-CN" sz="1800"/>
              <a:t>PixelClr=pDC-&gt;GetPixel(Round(PointTop.x),</a:t>
            </a:r>
            <a:endParaRPr lang="en-US" altLang="zh-CN" sz="1800"/>
          </a:p>
          <a:p>
            <a:pPr eaLnBrk="1" hangingPunct="1"/>
            <a:r>
              <a:rPr lang="en-US" altLang="zh-CN" sz="1800"/>
              <a:t>                                               Round(PointTop.y));</a:t>
            </a:r>
            <a:endParaRPr lang="en-US" altLang="zh-CN" sz="1800"/>
          </a:p>
          <a:p>
            <a:pPr eaLnBrk="1" hangingPunct="1"/>
            <a:r>
              <a:rPr lang="en-US" altLang="zh-CN" sz="1800"/>
              <a:t>		if(BoundaryClr!=PixelClr &amp;&amp; SeedClr!=PixelClr)</a:t>
            </a:r>
            <a:endParaRPr lang="en-US" altLang="zh-CN" sz="1800"/>
          </a:p>
          <a:p>
            <a:pPr eaLnBrk="1" hangingPunct="1"/>
            <a:r>
              <a:rPr lang="en-US" altLang="zh-CN" sz="1800"/>
              <a:t>			Push(PointTop);	//</a:t>
            </a:r>
            <a:r>
              <a:rPr lang="zh-CN" altLang="en-US" sz="1800"/>
              <a:t>上方像素入栈</a:t>
            </a:r>
            <a:endParaRPr lang="zh-CN" altLang="en-US" sz="1800"/>
          </a:p>
          <a:p>
            <a:pPr eaLnBrk="1" hangingPunct="1"/>
            <a:r>
              <a:rPr lang="zh-CN" altLang="en-US" sz="1800"/>
              <a:t>		</a:t>
            </a:r>
            <a:r>
              <a:rPr lang="en-US" altLang="zh-CN" sz="1800"/>
              <a:t>PointRight.x=PopPoint.x+1;//</a:t>
            </a:r>
            <a:r>
              <a:rPr lang="zh-CN" altLang="en-US" sz="1800">
                <a:solidFill>
                  <a:srgbClr val="CC0000"/>
                </a:solidFill>
              </a:rPr>
              <a:t>右</a:t>
            </a:r>
            <a:r>
              <a:rPr lang="zh-CN" altLang="en-US" sz="1800"/>
              <a:t>方像素</a:t>
            </a:r>
            <a:endParaRPr lang="zh-CN" altLang="en-US" sz="1800"/>
          </a:p>
          <a:p>
            <a:pPr eaLnBrk="1" hangingPunct="1"/>
            <a:r>
              <a:rPr lang="zh-CN" altLang="en-US" sz="1800"/>
              <a:t>		</a:t>
            </a:r>
            <a:r>
              <a:rPr lang="en-US" altLang="zh-CN" sz="1800"/>
              <a:t>PointRight.y=PopPoint.y;</a:t>
            </a:r>
            <a:endParaRPr lang="en-US" altLang="zh-CN" sz="1800"/>
          </a:p>
          <a:p>
            <a:pPr eaLnBrk="1" hangingPunct="1"/>
            <a:r>
              <a:rPr lang="en-US" altLang="zh-CN" sz="1800"/>
              <a:t>		PixelClr=pDC-&gt;GetPixel(Round(PointRight.x),</a:t>
            </a:r>
            <a:endParaRPr lang="en-US" altLang="zh-CN" sz="1800"/>
          </a:p>
          <a:p>
            <a:pPr eaLnBrk="1" hangingPunct="1"/>
            <a:r>
              <a:rPr lang="en-US" altLang="zh-CN" sz="1800"/>
              <a:t>                                                 Round(PointRight.y));</a:t>
            </a:r>
            <a:endParaRPr lang="en-US" altLang="zh-CN" sz="1800"/>
          </a:p>
          <a:p>
            <a:pPr eaLnBrk="1" hangingPunct="1"/>
            <a:r>
              <a:rPr lang="en-US" altLang="zh-CN" sz="1800"/>
              <a:t>		if(BoundaryClr!=PixelClr &amp;&amp; SeedClr!=PixelClr)</a:t>
            </a:r>
            <a:endParaRPr lang="en-US" altLang="zh-CN" sz="1800"/>
          </a:p>
          <a:p>
            <a:pPr eaLnBrk="1" hangingPunct="1"/>
            <a:r>
              <a:rPr lang="en-US" altLang="zh-CN" sz="1800"/>
              <a:t>			Push(PointRight);//</a:t>
            </a:r>
            <a:r>
              <a:rPr lang="zh-CN" altLang="en-US" sz="1800"/>
              <a:t>右方像素入栈	</a:t>
            </a:r>
            <a:endParaRPr lang="zh-CN" altLang="en-US" sz="1800"/>
          </a:p>
          <a:p>
            <a:pPr eaLnBrk="1" hangingPunct="1"/>
            <a:r>
              <a:rPr lang="zh-CN" altLang="en-US" sz="1800"/>
              <a:t>		</a:t>
            </a:r>
            <a:r>
              <a:rPr lang="en-US" altLang="zh-CN" sz="1800"/>
              <a:t>PointBottom.x=PopPoint.x;</a:t>
            </a:r>
            <a:endParaRPr lang="en-US" altLang="zh-CN" sz="1800"/>
          </a:p>
          <a:p>
            <a:pPr eaLnBrk="1" hangingPunct="1"/>
            <a:r>
              <a:rPr lang="en-US" altLang="zh-CN" sz="1800"/>
              <a:t>		PointBottom.y=PopPoint.y-1;//</a:t>
            </a:r>
            <a:r>
              <a:rPr lang="zh-CN" altLang="en-US" sz="1800">
                <a:solidFill>
                  <a:srgbClr val="CC0000"/>
                </a:solidFill>
              </a:rPr>
              <a:t>下</a:t>
            </a:r>
            <a:r>
              <a:rPr lang="zh-CN" altLang="en-US" sz="1800"/>
              <a:t>方像素</a:t>
            </a:r>
            <a:endParaRPr lang="zh-CN" altLang="en-US" sz="1800"/>
          </a:p>
          <a:p>
            <a:pPr eaLnBrk="1" hangingPunct="1"/>
            <a:r>
              <a:rPr lang="zh-CN" altLang="en-US" sz="1800"/>
              <a:t>		</a:t>
            </a:r>
            <a:r>
              <a:rPr lang="en-US" altLang="zh-CN" sz="1800"/>
              <a:t>PixelClr=pDC-&gt;GetPixel(Round(PointBottom.x),</a:t>
            </a:r>
            <a:endParaRPr lang="en-US" altLang="zh-CN" sz="1800"/>
          </a:p>
          <a:p>
            <a:pPr eaLnBrk="1" hangingPunct="1"/>
            <a:r>
              <a:rPr lang="en-US" altLang="zh-CN" sz="1800"/>
              <a:t>                                               Round(PointBottom.y));</a:t>
            </a:r>
            <a:endParaRPr lang="en-US" altLang="zh-CN" sz="1800"/>
          </a:p>
          <a:p>
            <a:pPr eaLnBrk="1" hangingPunct="1"/>
            <a:r>
              <a:rPr lang="en-US" altLang="zh-CN" sz="1800"/>
              <a:t>		if(BoundaryClr!=PixelClr &amp;&amp; SeedClr!=PixelClr)</a:t>
            </a:r>
            <a:endParaRPr lang="en-US" altLang="zh-CN" sz="1800"/>
          </a:p>
          <a:p>
            <a:pPr eaLnBrk="1" hangingPunct="1"/>
            <a:r>
              <a:rPr lang="en-US" altLang="zh-CN" sz="1800"/>
              <a:t>			Push(PointBottom);//</a:t>
            </a:r>
            <a:r>
              <a:rPr lang="zh-CN" altLang="en-US" sz="1800"/>
              <a:t>下方像素入栈</a:t>
            </a:r>
            <a:endParaRPr lang="zh-CN" altLang="en-US" sz="1800"/>
          </a:p>
          <a:p>
            <a:pPr eaLnBrk="1" hangingPunct="1"/>
            <a:r>
              <a:rPr lang="zh-CN" altLang="en-US" sz="1800"/>
              <a:t>		</a:t>
            </a:r>
            <a:r>
              <a:rPr lang="en-US" altLang="zh-CN" sz="1800"/>
              <a:t>}</a:t>
            </a:r>
            <a:endParaRPr lang="en-US" altLang="zh-CN" sz="1800"/>
          </a:p>
          <a:p>
            <a:pPr eaLnBrk="1" hangingPunct="1"/>
            <a:r>
              <a:rPr lang="en-US" altLang="zh-CN" sz="1800"/>
              <a:t>		pDC-&gt;TextOut(rect.left+50,rect.bottom-20,"</a:t>
            </a:r>
            <a:r>
              <a:rPr lang="zh-CN" altLang="en-US" sz="1800"/>
              <a:t>填充完毕</a:t>
            </a:r>
            <a:r>
              <a:rPr lang="en-US" altLang="zh-CN" sz="1800"/>
              <a:t>");</a:t>
            </a:r>
            <a:endParaRPr lang="en-US" altLang="zh-CN" sz="1800"/>
          </a:p>
          <a:p>
            <a:pPr eaLnBrk="1" hangingPunct="1"/>
            <a:r>
              <a:rPr lang="en-US" altLang="zh-CN" sz="1800"/>
              <a:t>		delete pHead;</a:t>
            </a:r>
            <a:endParaRPr lang="en-US" altLang="zh-CN" sz="1800"/>
          </a:p>
          <a:p>
            <a:pPr eaLnBrk="1" hangingPunct="1"/>
            <a:r>
              <a:rPr lang="en-US" altLang="zh-CN" sz="1800"/>
              <a:t>		pHead = NULL;</a:t>
            </a:r>
            <a:endParaRPr lang="en-US" altLang="zh-CN" sz="1800"/>
          </a:p>
          <a:p>
            <a:pPr eaLnBrk="1" hangingPunct="1"/>
            <a:r>
              <a:rPr lang="en-US" altLang="zh-CN" sz="1800"/>
              <a:t>}</a:t>
            </a:r>
            <a:endParaRPr lang="zh-CN" altLang="en-US" sz="1800"/>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ChangeArrowheads="1"/>
          </p:cNvSpPr>
          <p:nvPr/>
        </p:nvSpPr>
        <p:spPr bwMode="auto">
          <a:xfrm>
            <a:off x="1476375" y="260350"/>
            <a:ext cx="5256213"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ea typeface="楷体_GB2312" pitchFamily="49" charset="-122"/>
              </a:rPr>
              <a:t>4.4.5 </a:t>
            </a:r>
            <a:r>
              <a:rPr lang="zh-CN" altLang="en-US" sz="3200" b="1">
                <a:effectLst>
                  <a:outerShdw blurRad="38100" dist="38100" dir="2700000" algn="tl">
                    <a:srgbClr val="C0C0C0"/>
                  </a:outerShdw>
                </a:effectLst>
                <a:latin typeface="楷体_GB2312" pitchFamily="49" charset="-122"/>
                <a:ea typeface="楷体_GB2312" pitchFamily="49" charset="-122"/>
              </a:rPr>
              <a:t>扫描线种子填充算法 </a:t>
            </a:r>
            <a:endParaRPr lang="zh-CN" altLang="en-US" sz="3200" b="1">
              <a:effectLst>
                <a:outerShdw blurRad="38100" dist="38100" dir="2700000" algn="tl">
                  <a:srgbClr val="C0C0C0"/>
                </a:outerShdw>
              </a:effectLst>
              <a:latin typeface="楷体_GB2312" pitchFamily="49" charset="-122"/>
              <a:ea typeface="楷体_GB2312" pitchFamily="49" charset="-122"/>
            </a:endParaRPr>
          </a:p>
        </p:txBody>
      </p:sp>
      <p:sp>
        <p:nvSpPr>
          <p:cNvPr id="51203" name="Rectangle 5"/>
          <p:cNvSpPr>
            <a:spLocks noChangeArrowheads="1"/>
          </p:cNvSpPr>
          <p:nvPr/>
        </p:nvSpPr>
        <p:spPr bwMode="auto">
          <a:xfrm>
            <a:off x="552450" y="945515"/>
            <a:ext cx="8267700" cy="540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62255">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en-US">
                <a:latin typeface="楷体_GB2312" pitchFamily="49" charset="-122"/>
                <a:ea typeface="楷体_GB2312" pitchFamily="49" charset="-122"/>
              </a:rPr>
              <a:t>算法原理为：先将种子像素入栈，种子像素为栈底像素，如果栈不为空，执行如下</a:t>
            </a:r>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步操作。</a:t>
            </a:r>
            <a:endParaRPr lang="zh-CN" altLang="en-US">
              <a:latin typeface="楷体_GB2312" pitchFamily="49" charset="-122"/>
              <a:ea typeface="楷体_GB2312" pitchFamily="49" charset="-122"/>
            </a:endParaRPr>
          </a:p>
          <a:p>
            <a:pPr eaLnBrk="1" hangingPunct="1">
              <a:lnSpc>
                <a:spcPct val="120000"/>
              </a:lnSpc>
            </a:pP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）栈顶像素出栈。</a:t>
            </a:r>
            <a:endParaRPr lang="zh-CN" altLang="en-US">
              <a:latin typeface="楷体_GB2312" pitchFamily="49" charset="-122"/>
              <a:ea typeface="楷体_GB2312" pitchFamily="49" charset="-122"/>
            </a:endParaRPr>
          </a:p>
          <a:p>
            <a:pPr eaLnBrk="1" hangingPunct="1">
              <a:lnSpc>
                <a:spcPct val="120000"/>
              </a:lnSpc>
            </a:pP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）沿</a:t>
            </a:r>
            <a:r>
              <a:rPr lang="zh-CN" altLang="en-US" b="1">
                <a:solidFill>
                  <a:srgbClr val="FF0000"/>
                </a:solidFill>
                <a:latin typeface="黑体" panose="02010609060101010101" pitchFamily="49" charset="-122"/>
                <a:ea typeface="黑体" panose="02010609060101010101" pitchFamily="49" charset="-122"/>
              </a:rPr>
              <a:t>扫描线对出栈像素的左右像素进行填充</a:t>
            </a:r>
            <a:r>
              <a:rPr lang="zh-CN" altLang="en-US">
                <a:latin typeface="楷体_GB2312" pitchFamily="49" charset="-122"/>
                <a:ea typeface="楷体_GB2312" pitchFamily="49" charset="-122"/>
              </a:rPr>
              <a:t>，直至遇到边界像素为止。即每出栈一个像素，就对区域内包含该像素的整个连续区间进行填充。</a:t>
            </a:r>
            <a:endParaRPr lang="zh-CN" altLang="en-US">
              <a:latin typeface="楷体_GB2312" pitchFamily="49" charset="-122"/>
              <a:ea typeface="楷体_GB2312" pitchFamily="49" charset="-122"/>
            </a:endParaRPr>
          </a:p>
          <a:p>
            <a:pPr eaLnBrk="1" hangingPunct="1">
              <a:lnSpc>
                <a:spcPct val="120000"/>
              </a:lnSpc>
            </a:pP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）同时记录该区间，将区间最左端像素记为</a:t>
            </a:r>
            <a:r>
              <a:rPr lang="en-US" altLang="zh-CN">
                <a:latin typeface="楷体_GB2312" pitchFamily="49" charset="-122"/>
                <a:ea typeface="楷体_GB2312" pitchFamily="49" charset="-122"/>
              </a:rPr>
              <a:t>x</a:t>
            </a:r>
            <a:r>
              <a:rPr lang="en-US" altLang="zh-CN" baseline="-25000">
                <a:latin typeface="楷体_GB2312" pitchFamily="49" charset="-122"/>
                <a:ea typeface="楷体_GB2312" pitchFamily="49" charset="-122"/>
              </a:rPr>
              <a:t>left</a:t>
            </a:r>
            <a:r>
              <a:rPr lang="zh-CN" altLang="en-US">
                <a:latin typeface="楷体_GB2312" pitchFamily="49" charset="-122"/>
                <a:ea typeface="楷体_GB2312" pitchFamily="49" charset="-122"/>
              </a:rPr>
              <a:t>，最右端像素记为</a:t>
            </a:r>
            <a:r>
              <a:rPr lang="en-US" altLang="zh-CN">
                <a:latin typeface="楷体_GB2312" pitchFamily="49" charset="-122"/>
                <a:ea typeface="楷体_GB2312" pitchFamily="49" charset="-122"/>
              </a:rPr>
              <a:t>x</a:t>
            </a:r>
            <a:r>
              <a:rPr lang="en-US" altLang="zh-CN" baseline="-25000">
                <a:latin typeface="楷体_GB2312" pitchFamily="49" charset="-122"/>
                <a:ea typeface="楷体_GB2312" pitchFamily="49" charset="-122"/>
              </a:rPr>
              <a:t>right</a:t>
            </a:r>
            <a:r>
              <a:rPr lang="zh-CN" altLang="en-US">
                <a:latin typeface="楷体_GB2312" pitchFamily="49" charset="-122"/>
                <a:ea typeface="楷体_GB2312" pitchFamily="49" charset="-122"/>
              </a:rPr>
              <a:t>。</a:t>
            </a:r>
            <a:endParaRPr lang="zh-CN" altLang="en-US">
              <a:latin typeface="楷体_GB2312" pitchFamily="49" charset="-122"/>
              <a:ea typeface="楷体_GB2312" pitchFamily="49" charset="-122"/>
            </a:endParaRPr>
          </a:p>
          <a:p>
            <a:pPr eaLnBrk="1" hangingPunct="1">
              <a:lnSpc>
                <a:spcPct val="120000"/>
              </a:lnSpc>
            </a:pP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）在区间</a:t>
            </a:r>
            <a:r>
              <a:rPr lang="en-US" altLang="zh-CN">
                <a:latin typeface="楷体_GB2312" pitchFamily="49" charset="-122"/>
                <a:ea typeface="楷体_GB2312" pitchFamily="49" charset="-122"/>
              </a:rPr>
              <a:t>〔x</a:t>
            </a:r>
            <a:r>
              <a:rPr lang="en-US" altLang="zh-CN" baseline="-25000">
                <a:latin typeface="楷体_GB2312" pitchFamily="49" charset="-122"/>
                <a:ea typeface="楷体_GB2312" pitchFamily="49" charset="-122"/>
              </a:rPr>
              <a:t>left</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x</a:t>
            </a:r>
            <a:r>
              <a:rPr lang="en-US" altLang="zh-CN" baseline="-25000">
                <a:latin typeface="楷体_GB2312" pitchFamily="49" charset="-122"/>
                <a:ea typeface="楷体_GB2312" pitchFamily="49" charset="-122"/>
              </a:rPr>
              <a:t>right</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中检查与当前扫描线相邻的上下两条扫描线的有关像素是否全为边界像素或已填充像素，</a:t>
            </a:r>
            <a:r>
              <a:rPr lang="zh-CN" altLang="en-US" b="1">
                <a:solidFill>
                  <a:srgbClr val="FF0000"/>
                </a:solidFill>
                <a:latin typeface="黑体" panose="02010609060101010101" pitchFamily="49" charset="-122"/>
                <a:ea typeface="黑体" panose="02010609060101010101" pitchFamily="49" charset="-122"/>
              </a:rPr>
              <a:t>若存在非边界且未填充的像素，则把未填充区间的最右端像素取作种子像素入栈。</a:t>
            </a:r>
            <a:endParaRPr lang="zh-CN" altLang="en-US" b="1">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00338" y="908050"/>
            <a:ext cx="5113337"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Rectangle 6"/>
          <p:cNvSpPr>
            <a:spLocks noChangeArrowheads="1"/>
          </p:cNvSpPr>
          <p:nvPr/>
        </p:nvSpPr>
        <p:spPr bwMode="auto">
          <a:xfrm>
            <a:off x="0" y="1008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2228" name="Rectangle 7"/>
          <p:cNvSpPr>
            <a:spLocks noChangeArrowheads="1"/>
          </p:cNvSpPr>
          <p:nvPr/>
        </p:nvSpPr>
        <p:spPr bwMode="auto">
          <a:xfrm>
            <a:off x="4435475" y="2998788"/>
            <a:ext cx="279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52229" name="Rectangle 8"/>
          <p:cNvSpPr>
            <a:spLocks noChangeArrowheads="1"/>
          </p:cNvSpPr>
          <p:nvPr/>
        </p:nvSpPr>
        <p:spPr bwMode="auto">
          <a:xfrm>
            <a:off x="3121025" y="5084763"/>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ea typeface="楷体_GB2312" pitchFamily="49" charset="-122"/>
                <a:hlinkClick r:id="rId2" action="ppaction://hlinkfile"/>
              </a:rPr>
              <a:t>扫描线种子填充算法效果图</a:t>
            </a:r>
            <a:endParaRPr lang="zh-CN" altLang="en-US">
              <a:latin typeface="Arial" panose="020B0604020202020204" pitchFamily="34" charset="0"/>
              <a:ea typeface="楷体_GB2312" pitchFamily="49"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4967288" y="188913"/>
            <a:ext cx="4176712" cy="879475"/>
          </a:xfrm>
          <a:ln>
            <a:miter lim="800000"/>
          </a:ln>
        </p:spPr>
        <p:txBody>
          <a:bodyPr rtlCol="0" anchorCtr="1">
            <a:normAutofit/>
          </a:bodyPr>
          <a:lstStyle/>
          <a:p>
            <a:pPr fontAlgn="auto">
              <a:spcAft>
                <a:spcPts val="0"/>
              </a:spcAft>
              <a:defRPr/>
            </a:pPr>
            <a:r>
              <a:rPr lang="en-US" altLang="zh-CN" smtClean="0">
                <a:effectLst>
                  <a:outerShdw blurRad="38100" dist="38100" dir="2700000" algn="tl">
                    <a:srgbClr val="C0C0C0"/>
                  </a:outerShdw>
                </a:effectLst>
                <a:latin typeface="楷体_GB2312" pitchFamily="49" charset="-122"/>
                <a:ea typeface="楷体_GB2312" pitchFamily="49" charset="-122"/>
              </a:rPr>
              <a:t>4.5 </a:t>
            </a:r>
            <a:r>
              <a:rPr lang="zh-CN" altLang="en-US" smtClean="0">
                <a:effectLst>
                  <a:outerShdw blurRad="38100" dist="38100" dir="2700000" algn="tl">
                    <a:srgbClr val="C0C0C0"/>
                  </a:outerShdw>
                </a:effectLst>
                <a:latin typeface="楷体_GB2312" pitchFamily="49" charset="-122"/>
                <a:ea typeface="楷体_GB2312" pitchFamily="49" charset="-122"/>
              </a:rPr>
              <a:t>本章小结</a:t>
            </a:r>
            <a:endParaRPr lang="zh-CN" altLang="en-US" smtClean="0">
              <a:effectLst>
                <a:outerShdw blurRad="38100" dist="38100" dir="2700000" algn="tl">
                  <a:srgbClr val="C0C0C0"/>
                </a:outerShdw>
              </a:effectLst>
              <a:latin typeface="楷体_GB2312" pitchFamily="49" charset="-122"/>
              <a:ea typeface="楷体_GB2312" pitchFamily="49" charset="-122"/>
            </a:endParaRPr>
          </a:p>
        </p:txBody>
      </p:sp>
      <p:sp>
        <p:nvSpPr>
          <p:cNvPr id="53251" name="Rectangle 3"/>
          <p:cNvSpPr>
            <a:spLocks noChangeArrowheads="1"/>
          </p:cNvSpPr>
          <p:nvPr/>
        </p:nvSpPr>
        <p:spPr bwMode="auto">
          <a:xfrm>
            <a:off x="1258888" y="1196975"/>
            <a:ext cx="7634287" cy="531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lnSpc>
                <a:spcPct val="130000"/>
              </a:lnSpc>
            </a:pPr>
            <a:r>
              <a:rPr lang="zh-CN" altLang="en-US">
                <a:latin typeface="楷体_GB2312" pitchFamily="49" charset="-122"/>
                <a:ea typeface="楷体_GB2312" pitchFamily="49" charset="-122"/>
              </a:rPr>
              <a:t>    本章重点讲授了有效边表填充算法，该算法是后面一直使用的多边形填充算法，由于可以访问多边形内的每一个像素，因此可以使用平面着色模式或结合双线性线性插值算法的光滑着色模式填充物体表面。有效边表表示的是扫描线在一条边上的连贯性，边表表示的是新边在扫描线上的插入位置，边表是有效边表的特例，有效边表和边表都使用</a:t>
            </a:r>
            <a:r>
              <a:rPr lang="en-US" altLang="zh-CN">
                <a:latin typeface="楷体_GB2312" pitchFamily="49" charset="-122"/>
                <a:ea typeface="楷体_GB2312" pitchFamily="49" charset="-122"/>
              </a:rPr>
              <a:t>CAET</a:t>
            </a:r>
            <a:r>
              <a:rPr lang="zh-CN" altLang="en-US">
                <a:latin typeface="楷体_GB2312" pitchFamily="49" charset="-122"/>
                <a:ea typeface="楷体_GB2312" pitchFamily="49" charset="-122"/>
              </a:rPr>
              <a:t>类表示。区域填充算法主要包括四邻接点种子填充算法和八邻接点种子填充算法，由于未考虑像素间的相关性，只是孤立地对单个像素进行测试，效率很低。有效的改进方法是扫描线种子填充算法。</a:t>
            </a:r>
            <a:endParaRPr lang="zh-CN" altLang="en-US">
              <a:latin typeface="楷体_GB2312" pitchFamily="49" charset="-122"/>
              <a:ea typeface="楷体_GB2312" pitchFamily="49"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6983413" y="260350"/>
            <a:ext cx="2160587" cy="719138"/>
          </a:xfrm>
          <a:ln>
            <a:miter lim="800000"/>
          </a:ln>
        </p:spPr>
        <p:txBody>
          <a:bodyPr rtlCol="0" anchorCtr="1">
            <a:normAutofit/>
          </a:bodyPr>
          <a:lstStyle/>
          <a:p>
            <a:pPr fontAlgn="auto">
              <a:spcAft>
                <a:spcPts val="0"/>
              </a:spcAft>
              <a:defRPr/>
            </a:pPr>
            <a:r>
              <a:rPr lang="zh-CN" altLang="en-US" smtClean="0">
                <a:effectLst>
                  <a:outerShdw blurRad="38100" dist="38100" dir="2700000" algn="tl">
                    <a:srgbClr val="C0C0C0"/>
                  </a:outerShdw>
                </a:effectLst>
                <a:latin typeface="楷体_GB2312" pitchFamily="49" charset="-122"/>
                <a:ea typeface="楷体_GB2312" pitchFamily="49" charset="-122"/>
              </a:rPr>
              <a:t>习题</a:t>
            </a:r>
            <a:r>
              <a:rPr lang="en-US" altLang="zh-CN" smtClean="0">
                <a:effectLst>
                  <a:outerShdw blurRad="38100" dist="38100" dir="2700000" algn="tl">
                    <a:srgbClr val="C0C0C0"/>
                  </a:outerShdw>
                </a:effectLst>
                <a:latin typeface="楷体_GB2312" pitchFamily="49" charset="-122"/>
                <a:ea typeface="楷体_GB2312" pitchFamily="49" charset="-122"/>
              </a:rPr>
              <a:t>4</a:t>
            </a:r>
            <a:endParaRPr lang="en-US" altLang="zh-CN" smtClean="0">
              <a:effectLst>
                <a:outerShdw blurRad="38100" dist="38100" dir="2700000" algn="tl">
                  <a:srgbClr val="C0C0C0"/>
                </a:outerShdw>
              </a:effectLst>
              <a:latin typeface="楷体_GB2312" pitchFamily="49" charset="-122"/>
              <a:ea typeface="楷体_GB2312" pitchFamily="49" charset="-122"/>
            </a:endParaRPr>
          </a:p>
        </p:txBody>
      </p:sp>
      <p:sp>
        <p:nvSpPr>
          <p:cNvPr id="54275" name="Rectangle 9"/>
          <p:cNvSpPr>
            <a:spLocks noChangeArrowheads="1"/>
          </p:cNvSpPr>
          <p:nvPr/>
        </p:nvSpPr>
        <p:spPr bwMode="auto">
          <a:xfrm>
            <a:off x="1331913" y="1052513"/>
            <a:ext cx="75612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26695" algn="l"/>
              </a:tabLst>
              <a:defRPr sz="2400">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AutoNum type="arabicPeriod"/>
            </a:pPr>
            <a:r>
              <a:rPr lang="zh-CN" altLang="en-US">
                <a:latin typeface="楷体_GB2312" pitchFamily="49" charset="-122"/>
                <a:ea typeface="楷体_GB2312" pitchFamily="49" charset="-122"/>
              </a:rPr>
              <a:t>试写出图</a:t>
            </a:r>
            <a:r>
              <a:rPr lang="en-US" altLang="zh-CN">
                <a:latin typeface="楷体_GB2312" pitchFamily="49" charset="-122"/>
                <a:ea typeface="楷体_GB2312" pitchFamily="49" charset="-122"/>
              </a:rPr>
              <a:t>4-43</a:t>
            </a:r>
            <a:r>
              <a:rPr lang="zh-CN" altLang="en-US">
                <a:latin typeface="楷体_GB2312" pitchFamily="49" charset="-122"/>
                <a:ea typeface="楷体_GB2312" pitchFamily="49" charset="-122"/>
              </a:rPr>
              <a:t>所示多边形的边表和扫描线</a:t>
            </a:r>
            <a:r>
              <a:rPr lang="en-US" altLang="zh-CN">
                <a:latin typeface="楷体_GB2312" pitchFamily="49" charset="-122"/>
                <a:ea typeface="楷体_GB2312" pitchFamily="49" charset="-122"/>
              </a:rPr>
              <a:t>y</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的有效边表。</a:t>
            </a:r>
            <a:endParaRPr lang="zh-CN" altLang="en-US">
              <a:latin typeface="楷体_GB2312" pitchFamily="49" charset="-122"/>
              <a:ea typeface="楷体_GB2312" pitchFamily="49" charset="-122"/>
            </a:endParaRPr>
          </a:p>
        </p:txBody>
      </p:sp>
      <p:sp>
        <p:nvSpPr>
          <p:cNvPr id="54276" name="Rectangle 18"/>
          <p:cNvSpPr>
            <a:spLocks noChangeArrowheads="1"/>
          </p:cNvSpPr>
          <p:nvPr/>
        </p:nvSpPr>
        <p:spPr bwMode="auto">
          <a:xfrm>
            <a:off x="0" y="1843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4277" name="Rectangle 19"/>
          <p:cNvSpPr>
            <a:spLocks noChangeArrowheads="1"/>
          </p:cNvSpPr>
          <p:nvPr/>
        </p:nvSpPr>
        <p:spPr bwMode="auto">
          <a:xfrm>
            <a:off x="0" y="1843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54278" name="Object 21"/>
          <p:cNvGraphicFramePr>
            <a:graphicFrameLocks noChangeAspect="1"/>
          </p:cNvGraphicFramePr>
          <p:nvPr/>
        </p:nvGraphicFramePr>
        <p:xfrm>
          <a:off x="2627313" y="1989138"/>
          <a:ext cx="4464050" cy="4038600"/>
        </p:xfrm>
        <a:graphic>
          <a:graphicData uri="http://schemas.openxmlformats.org/presentationml/2006/ole">
            <mc:AlternateContent xmlns:mc="http://schemas.openxmlformats.org/markup-compatibility/2006">
              <mc:Choice xmlns:v="urn:schemas-microsoft-com:vml" Requires="v">
                <p:oleObj spid="_x0000_s54299" name="" r:id="rId1" imgW="6017260" imgH="4966970" progId="Visio.Drawing.11">
                  <p:embed/>
                </p:oleObj>
              </mc:Choice>
              <mc:Fallback>
                <p:oleObj name="" r:id="rId1" imgW="6017260" imgH="4966970" progId="Visio.Drawing.11">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l="9964" t="14154" r="11641"/>
                      <a:stretch>
                        <a:fillRect/>
                      </a:stretch>
                    </p:blipFill>
                    <p:spPr bwMode="auto">
                      <a:xfrm>
                        <a:off x="2627313" y="1989138"/>
                        <a:ext cx="446405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79" name="Text Box 27"/>
          <p:cNvSpPr txBox="1">
            <a:spLocks noChangeArrowheads="1"/>
          </p:cNvSpPr>
          <p:nvPr/>
        </p:nvSpPr>
        <p:spPr bwMode="auto">
          <a:xfrm>
            <a:off x="3922713" y="3862388"/>
            <a:ext cx="2095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b="1">
                <a:latin typeface="楷体_GB2312" pitchFamily="49" charset="-122"/>
                <a:ea typeface="楷体_GB2312" pitchFamily="49" charset="-122"/>
              </a:rPr>
              <a:t>P</a:t>
            </a:r>
            <a:r>
              <a:rPr lang="en-US" altLang="zh-CN" sz="1400" b="1" baseline="-30000">
                <a:latin typeface="楷体_GB2312" pitchFamily="49" charset="-122"/>
                <a:ea typeface="楷体_GB2312" pitchFamily="49" charset="-122"/>
              </a:rPr>
              <a:t>0</a:t>
            </a:r>
            <a:endParaRPr lang="en-US" altLang="zh-CN" sz="1400" b="1">
              <a:latin typeface="楷体_GB2312" pitchFamily="49" charset="-122"/>
              <a:ea typeface="楷体_GB2312" pitchFamily="49" charset="-122"/>
            </a:endParaRPr>
          </a:p>
          <a:p>
            <a:endParaRPr lang="en-US" altLang="zh-CN" sz="1400" b="1">
              <a:latin typeface="楷体_GB2312" pitchFamily="49" charset="-122"/>
              <a:ea typeface="楷体_GB2312" pitchFamily="49" charset="-122"/>
            </a:endParaRPr>
          </a:p>
        </p:txBody>
      </p:sp>
      <p:sp>
        <p:nvSpPr>
          <p:cNvPr id="54280" name="Text Box 26"/>
          <p:cNvSpPr txBox="1">
            <a:spLocks noChangeArrowheads="1"/>
          </p:cNvSpPr>
          <p:nvPr/>
        </p:nvSpPr>
        <p:spPr bwMode="auto">
          <a:xfrm>
            <a:off x="3490913" y="4870450"/>
            <a:ext cx="2095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b="1">
                <a:latin typeface="楷体_GB2312" pitchFamily="49" charset="-122"/>
                <a:ea typeface="楷体_GB2312" pitchFamily="49" charset="-122"/>
              </a:rPr>
              <a:t>P</a:t>
            </a:r>
            <a:r>
              <a:rPr lang="en-US" altLang="zh-CN" sz="1400" b="1" baseline="-30000">
                <a:latin typeface="楷体_GB2312" pitchFamily="49" charset="-122"/>
                <a:ea typeface="楷体_GB2312" pitchFamily="49" charset="-122"/>
              </a:rPr>
              <a:t>1</a:t>
            </a:r>
            <a:endParaRPr lang="en-US" altLang="zh-CN" sz="1400" b="1">
              <a:latin typeface="楷体_GB2312" pitchFamily="49" charset="-122"/>
              <a:ea typeface="楷体_GB2312" pitchFamily="49" charset="-122"/>
            </a:endParaRPr>
          </a:p>
          <a:p>
            <a:endParaRPr lang="en-US" altLang="zh-CN" sz="1400" b="1">
              <a:latin typeface="楷体_GB2312" pitchFamily="49" charset="-122"/>
              <a:ea typeface="楷体_GB2312" pitchFamily="49" charset="-122"/>
            </a:endParaRPr>
          </a:p>
        </p:txBody>
      </p:sp>
      <p:sp>
        <p:nvSpPr>
          <p:cNvPr id="54281" name="Text Box 25"/>
          <p:cNvSpPr txBox="1">
            <a:spLocks noChangeArrowheads="1"/>
          </p:cNvSpPr>
          <p:nvPr/>
        </p:nvSpPr>
        <p:spPr bwMode="auto">
          <a:xfrm>
            <a:off x="6227763" y="5013325"/>
            <a:ext cx="2095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b="1">
                <a:latin typeface="楷体_GB2312" pitchFamily="49" charset="-122"/>
                <a:ea typeface="楷体_GB2312" pitchFamily="49" charset="-122"/>
              </a:rPr>
              <a:t>P</a:t>
            </a:r>
            <a:r>
              <a:rPr lang="en-US" altLang="zh-CN" sz="1400" b="1" baseline="-30000">
                <a:latin typeface="楷体_GB2312" pitchFamily="49" charset="-122"/>
                <a:ea typeface="楷体_GB2312" pitchFamily="49" charset="-122"/>
              </a:rPr>
              <a:t>2</a:t>
            </a:r>
            <a:endParaRPr lang="en-US" altLang="zh-CN" sz="1400" b="1">
              <a:latin typeface="楷体_GB2312" pitchFamily="49" charset="-122"/>
              <a:ea typeface="楷体_GB2312" pitchFamily="49" charset="-122"/>
            </a:endParaRPr>
          </a:p>
          <a:p>
            <a:endParaRPr lang="en-US" altLang="zh-CN" sz="1400" b="1">
              <a:latin typeface="楷体_GB2312" pitchFamily="49" charset="-122"/>
              <a:ea typeface="楷体_GB2312" pitchFamily="49" charset="-122"/>
            </a:endParaRPr>
          </a:p>
        </p:txBody>
      </p:sp>
      <p:sp>
        <p:nvSpPr>
          <p:cNvPr id="54282" name="Text Box 24"/>
          <p:cNvSpPr txBox="1">
            <a:spLocks noChangeArrowheads="1"/>
          </p:cNvSpPr>
          <p:nvPr/>
        </p:nvSpPr>
        <p:spPr bwMode="auto">
          <a:xfrm>
            <a:off x="6299200" y="3070225"/>
            <a:ext cx="2095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b="1">
                <a:latin typeface="楷体_GB2312" pitchFamily="49" charset="-122"/>
                <a:ea typeface="楷体_GB2312" pitchFamily="49" charset="-122"/>
              </a:rPr>
              <a:t>P</a:t>
            </a:r>
            <a:r>
              <a:rPr lang="en-US" altLang="zh-CN" sz="1400" b="1" baseline="-30000">
                <a:latin typeface="楷体_GB2312" pitchFamily="49" charset="-122"/>
                <a:ea typeface="楷体_GB2312" pitchFamily="49" charset="-122"/>
              </a:rPr>
              <a:t>3</a:t>
            </a:r>
            <a:endParaRPr lang="en-US" altLang="zh-CN" sz="1400" b="1">
              <a:latin typeface="楷体_GB2312" pitchFamily="49" charset="-122"/>
              <a:ea typeface="楷体_GB2312" pitchFamily="49" charset="-122"/>
            </a:endParaRPr>
          </a:p>
          <a:p>
            <a:endParaRPr lang="en-US" altLang="zh-CN" sz="1400" b="1">
              <a:latin typeface="楷体_GB2312" pitchFamily="49" charset="-122"/>
              <a:ea typeface="楷体_GB2312" pitchFamily="49" charset="-122"/>
            </a:endParaRPr>
          </a:p>
        </p:txBody>
      </p:sp>
      <p:sp>
        <p:nvSpPr>
          <p:cNvPr id="54283" name="Text Box 23"/>
          <p:cNvSpPr txBox="1">
            <a:spLocks noChangeArrowheads="1"/>
          </p:cNvSpPr>
          <p:nvPr/>
        </p:nvSpPr>
        <p:spPr bwMode="auto">
          <a:xfrm>
            <a:off x="5722938" y="3357563"/>
            <a:ext cx="2095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b="1">
                <a:latin typeface="楷体_GB2312" pitchFamily="49" charset="-122"/>
                <a:ea typeface="楷体_GB2312" pitchFamily="49" charset="-122"/>
              </a:rPr>
              <a:t>P</a:t>
            </a:r>
            <a:r>
              <a:rPr lang="en-US" altLang="zh-CN" sz="1400" b="1" baseline="-30000">
                <a:latin typeface="楷体_GB2312" pitchFamily="49" charset="-122"/>
                <a:ea typeface="楷体_GB2312" pitchFamily="49" charset="-122"/>
              </a:rPr>
              <a:t>4</a:t>
            </a:r>
            <a:endParaRPr lang="en-US" altLang="zh-CN" sz="1400" b="1">
              <a:latin typeface="楷体_GB2312" pitchFamily="49" charset="-122"/>
              <a:ea typeface="楷体_GB2312" pitchFamily="49" charset="-122"/>
            </a:endParaRPr>
          </a:p>
          <a:p>
            <a:endParaRPr lang="en-US" altLang="zh-CN" sz="1400" b="1">
              <a:latin typeface="楷体_GB2312" pitchFamily="49" charset="-122"/>
              <a:ea typeface="楷体_GB2312" pitchFamily="49" charset="-122"/>
            </a:endParaRPr>
          </a:p>
        </p:txBody>
      </p:sp>
      <p:sp>
        <p:nvSpPr>
          <p:cNvPr id="54284" name="Text Box 22"/>
          <p:cNvSpPr txBox="1">
            <a:spLocks noChangeArrowheads="1"/>
          </p:cNvSpPr>
          <p:nvPr/>
        </p:nvSpPr>
        <p:spPr bwMode="auto">
          <a:xfrm>
            <a:off x="4786313" y="2709863"/>
            <a:ext cx="2095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b="1">
                <a:latin typeface="楷体_GB2312" pitchFamily="49" charset="-122"/>
                <a:ea typeface="楷体_GB2312" pitchFamily="49" charset="-122"/>
              </a:rPr>
              <a:t>P</a:t>
            </a:r>
            <a:r>
              <a:rPr lang="en-US" altLang="zh-CN" sz="1400" b="1" baseline="-30000">
                <a:latin typeface="楷体_GB2312" pitchFamily="49" charset="-122"/>
                <a:ea typeface="楷体_GB2312" pitchFamily="49" charset="-122"/>
              </a:rPr>
              <a:t>5</a:t>
            </a:r>
            <a:endParaRPr lang="en-US" altLang="zh-CN" sz="1400" b="1">
              <a:latin typeface="楷体_GB2312" pitchFamily="49" charset="-122"/>
              <a:ea typeface="楷体_GB2312" pitchFamily="49" charset="-122"/>
            </a:endParaRPr>
          </a:p>
          <a:p>
            <a:endParaRPr lang="en-US" altLang="zh-CN" sz="1400" b="1">
              <a:latin typeface="楷体_GB2312" pitchFamily="49" charset="-122"/>
              <a:ea typeface="楷体_GB2312" pitchFamily="49" charset="-122"/>
            </a:endParaRPr>
          </a:p>
        </p:txBody>
      </p:sp>
      <p:sp>
        <p:nvSpPr>
          <p:cNvPr id="54285" name="Text Box 28"/>
          <p:cNvSpPr txBox="1">
            <a:spLocks noChangeArrowheads="1"/>
          </p:cNvSpPr>
          <p:nvPr/>
        </p:nvSpPr>
        <p:spPr bwMode="auto">
          <a:xfrm>
            <a:off x="4643438" y="4510088"/>
            <a:ext cx="2095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400" b="1">
                <a:latin typeface="楷体_GB2312" pitchFamily="49" charset="-122"/>
                <a:ea typeface="楷体_GB2312" pitchFamily="49" charset="-122"/>
              </a:rPr>
              <a:t>P</a:t>
            </a:r>
            <a:r>
              <a:rPr lang="en-US" altLang="zh-CN" sz="1400" b="1" baseline="-30000">
                <a:latin typeface="楷体_GB2312" pitchFamily="49" charset="-122"/>
                <a:ea typeface="楷体_GB2312" pitchFamily="49" charset="-122"/>
              </a:rPr>
              <a:t>6</a:t>
            </a:r>
            <a:endParaRPr lang="en-US" altLang="zh-CN" sz="1400" b="1">
              <a:latin typeface="楷体_GB2312" pitchFamily="49" charset="-122"/>
              <a:ea typeface="楷体_GB2312" pitchFamily="49" charset="-122"/>
            </a:endParaRPr>
          </a:p>
          <a:p>
            <a:endParaRPr lang="en-US" altLang="zh-CN" sz="1400" b="1">
              <a:latin typeface="楷体_GB2312" pitchFamily="49" charset="-122"/>
              <a:ea typeface="楷体_GB2312" pitchFamily="49" charset="-122"/>
            </a:endParaRPr>
          </a:p>
        </p:txBody>
      </p:sp>
      <p:sp>
        <p:nvSpPr>
          <p:cNvPr id="54286" name="Rectangle 29"/>
          <p:cNvSpPr>
            <a:spLocks noChangeArrowheads="1"/>
          </p:cNvSpPr>
          <p:nvPr/>
        </p:nvSpPr>
        <p:spPr bwMode="auto">
          <a:xfrm>
            <a:off x="0" y="1843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4287" name="Rectangle 30"/>
          <p:cNvSpPr>
            <a:spLocks noChangeArrowheads="1"/>
          </p:cNvSpPr>
          <p:nvPr/>
        </p:nvSpPr>
        <p:spPr bwMode="auto">
          <a:xfrm>
            <a:off x="0" y="1843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4288" name="Rectangle 31"/>
          <p:cNvSpPr>
            <a:spLocks noChangeArrowheads="1"/>
          </p:cNvSpPr>
          <p:nvPr/>
        </p:nvSpPr>
        <p:spPr bwMode="auto">
          <a:xfrm>
            <a:off x="3708400" y="6165850"/>
            <a:ext cx="247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楷体_GB2312" pitchFamily="49" charset="-122"/>
                <a:ea typeface="楷体_GB2312" pitchFamily="49" charset="-122"/>
              </a:rPr>
              <a:t>图</a:t>
            </a:r>
            <a:r>
              <a:rPr lang="en-US" altLang="zh-CN">
                <a:latin typeface="楷体_GB2312" pitchFamily="49" charset="-122"/>
                <a:ea typeface="楷体_GB2312" pitchFamily="49" charset="-122"/>
              </a:rPr>
              <a:t>4-43 </a:t>
            </a:r>
            <a:r>
              <a:rPr lang="zh-CN" altLang="en-US">
                <a:latin typeface="楷体_GB2312" pitchFamily="49" charset="-122"/>
                <a:ea typeface="楷体_GB2312" pitchFamily="49" charset="-122"/>
              </a:rPr>
              <a:t>多边形  </a:t>
            </a:r>
            <a:endParaRPr lang="zh-CN" altLang="en-US">
              <a:latin typeface="楷体_GB2312" pitchFamily="49" charset="-122"/>
              <a:ea typeface="楷体_GB2312" pitchFamily="49"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ChangeArrowheads="1"/>
          </p:cNvSpPr>
          <p:nvPr/>
        </p:nvSpPr>
        <p:spPr bwMode="auto">
          <a:xfrm>
            <a:off x="1403350" y="260350"/>
            <a:ext cx="73088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给定四个点绘制图</a:t>
            </a:r>
            <a:r>
              <a:rPr lang="en-US" altLang="zh-CN">
                <a:latin typeface="楷体_GB2312" pitchFamily="49" charset="-122"/>
                <a:ea typeface="楷体_GB2312" pitchFamily="49" charset="-122"/>
              </a:rPr>
              <a:t>4-44</a:t>
            </a:r>
            <a:r>
              <a:rPr lang="zh-CN" altLang="en-US">
                <a:latin typeface="楷体_GB2312" pitchFamily="49" charset="-122"/>
                <a:ea typeface="楷体_GB2312" pitchFamily="49" charset="-122"/>
              </a:rPr>
              <a:t>所示的不同转角的两个正方形，使用有效边表算法进行填充，填充效果如图</a:t>
            </a:r>
            <a:r>
              <a:rPr lang="en-US" altLang="zh-CN">
                <a:latin typeface="楷体_GB2312" pitchFamily="49" charset="-122"/>
                <a:ea typeface="楷体_GB2312" pitchFamily="49" charset="-122"/>
              </a:rPr>
              <a:t>4-45</a:t>
            </a:r>
            <a:r>
              <a:rPr lang="zh-CN" altLang="en-US">
                <a:latin typeface="楷体_GB2312" pitchFamily="49" charset="-122"/>
                <a:ea typeface="楷体_GB2312" pitchFamily="49" charset="-122"/>
              </a:rPr>
              <a:t>所示，注意采用</a:t>
            </a:r>
            <a:r>
              <a:rPr lang="zh-CN" altLang="en-US">
                <a:ea typeface="楷体_GB2312" pitchFamily="49" charset="-122"/>
              </a:rPr>
              <a:t>“</a:t>
            </a:r>
            <a:r>
              <a:rPr lang="zh-CN" altLang="en-US">
                <a:latin typeface="楷体_GB2312" pitchFamily="49" charset="-122"/>
                <a:ea typeface="楷体_GB2312" pitchFamily="49" charset="-122"/>
              </a:rPr>
              <a:t>左闭右开</a:t>
            </a:r>
            <a:r>
              <a:rPr lang="zh-CN" altLang="en-US">
                <a:ea typeface="楷体_GB2312" pitchFamily="49" charset="-122"/>
              </a:rPr>
              <a:t>”</a:t>
            </a:r>
            <a:r>
              <a:rPr lang="zh-CN" altLang="en-US">
                <a:latin typeface="楷体_GB2312" pitchFamily="49" charset="-122"/>
                <a:ea typeface="楷体_GB2312" pitchFamily="49" charset="-122"/>
              </a:rPr>
              <a:t> 和</a:t>
            </a:r>
            <a:r>
              <a:rPr lang="zh-CN" altLang="en-US">
                <a:ea typeface="楷体_GB2312" pitchFamily="49" charset="-122"/>
              </a:rPr>
              <a:t>“</a:t>
            </a:r>
            <a:r>
              <a:rPr lang="zh-CN" altLang="en-US">
                <a:latin typeface="楷体_GB2312" pitchFamily="49" charset="-122"/>
                <a:ea typeface="楷体_GB2312" pitchFamily="49" charset="-122"/>
              </a:rPr>
              <a:t>上闭下开</a:t>
            </a:r>
            <a:r>
              <a:rPr lang="zh-CN" altLang="en-US">
                <a:ea typeface="楷体_GB2312" pitchFamily="49" charset="-122"/>
              </a:rPr>
              <a:t>”</a:t>
            </a:r>
            <a:r>
              <a:rPr lang="zh-CN" altLang="en-US">
                <a:latin typeface="楷体_GB2312" pitchFamily="49" charset="-122"/>
                <a:ea typeface="楷体_GB2312" pitchFamily="49" charset="-122"/>
              </a:rPr>
              <a:t>的原则，使得每个正方形的右边界和下边界没有填充。</a:t>
            </a:r>
            <a:endParaRPr lang="zh-CN" altLang="en-US">
              <a:latin typeface="楷体_GB2312" pitchFamily="49" charset="-122"/>
              <a:ea typeface="楷体_GB2312" pitchFamily="49" charset="-122"/>
            </a:endParaRPr>
          </a:p>
        </p:txBody>
      </p:sp>
      <p:sp>
        <p:nvSpPr>
          <p:cNvPr id="55299" name="Rectangle 7"/>
          <p:cNvSpPr>
            <a:spLocks noChangeArrowheads="1"/>
          </p:cNvSpPr>
          <p:nvPr/>
        </p:nvSpPr>
        <p:spPr bwMode="auto">
          <a:xfrm>
            <a:off x="0" y="2792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55300" name="Picture 6"/>
          <p:cNvPicPr>
            <a:picLocks noChangeAspect="1" noChangeArrowheads="1"/>
          </p:cNvPicPr>
          <p:nvPr/>
        </p:nvPicPr>
        <p:blipFill>
          <a:blip r:embed="rId1">
            <a:extLst>
              <a:ext uri="{28A0092B-C50C-407E-A947-70E740481C1C}">
                <a14:useLocalDpi xmlns:a14="http://schemas.microsoft.com/office/drawing/2010/main" val="0"/>
              </a:ext>
            </a:extLst>
          </a:blip>
          <a:srcRect l="9067" t="14854" r="9818" b="11140"/>
          <a:stretch>
            <a:fillRect/>
          </a:stretch>
        </p:blipFill>
        <p:spPr bwMode="auto">
          <a:xfrm>
            <a:off x="1692275" y="3429000"/>
            <a:ext cx="1446213"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Rectangle 8"/>
          <p:cNvSpPr>
            <a:spLocks noChangeArrowheads="1"/>
          </p:cNvSpPr>
          <p:nvPr/>
        </p:nvSpPr>
        <p:spPr bwMode="auto">
          <a:xfrm>
            <a:off x="0" y="382111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55302" name="Rectangle 10"/>
          <p:cNvSpPr>
            <a:spLocks noChangeArrowheads="1"/>
          </p:cNvSpPr>
          <p:nvPr/>
        </p:nvSpPr>
        <p:spPr bwMode="auto">
          <a:xfrm>
            <a:off x="4014788" y="2740025"/>
            <a:ext cx="279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pic>
        <p:nvPicPr>
          <p:cNvPr id="55303" name="Picture 9"/>
          <p:cNvPicPr>
            <a:picLocks noChangeAspect="1" noChangeArrowheads="1"/>
          </p:cNvPicPr>
          <p:nvPr/>
        </p:nvPicPr>
        <p:blipFill>
          <a:blip r:embed="rId2">
            <a:extLst>
              <a:ext uri="{28A0092B-C50C-407E-A947-70E740481C1C}">
                <a14:useLocalDpi xmlns:a14="http://schemas.microsoft.com/office/drawing/2010/main" val="0"/>
              </a:ext>
            </a:extLst>
          </a:blip>
          <a:srcRect l="11237" t="7820" r="5618" b="4858"/>
          <a:stretch>
            <a:fillRect/>
          </a:stretch>
        </p:blipFill>
        <p:spPr bwMode="auto">
          <a:xfrm>
            <a:off x="3276600" y="3284538"/>
            <a:ext cx="16795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Rectangle 12"/>
          <p:cNvSpPr>
            <a:spLocks noChangeArrowheads="1"/>
          </p:cNvSpPr>
          <p:nvPr/>
        </p:nvSpPr>
        <p:spPr bwMode="auto">
          <a:xfrm>
            <a:off x="3357563" y="2425700"/>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pic>
        <p:nvPicPr>
          <p:cNvPr id="5530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852738"/>
            <a:ext cx="3527425"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6" name="Rectangle 13"/>
          <p:cNvSpPr>
            <a:spLocks noChangeArrowheads="1"/>
          </p:cNvSpPr>
          <p:nvPr/>
        </p:nvSpPr>
        <p:spPr bwMode="auto">
          <a:xfrm>
            <a:off x="1835150" y="5475288"/>
            <a:ext cx="247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楷体_GB2312" pitchFamily="49" charset="-122"/>
                <a:ea typeface="楷体_GB2312" pitchFamily="49" charset="-122"/>
              </a:rPr>
              <a:t>图</a:t>
            </a:r>
            <a:r>
              <a:rPr lang="en-US" altLang="zh-CN" sz="2000">
                <a:latin typeface="楷体_GB2312" pitchFamily="49" charset="-122"/>
                <a:ea typeface="楷体_GB2312" pitchFamily="49" charset="-122"/>
              </a:rPr>
              <a:t>4-44 </a:t>
            </a:r>
            <a:r>
              <a:rPr lang="zh-CN" altLang="en-US" sz="2000">
                <a:latin typeface="楷体_GB2312" pitchFamily="49" charset="-122"/>
                <a:ea typeface="楷体_GB2312" pitchFamily="49" charset="-122"/>
              </a:rPr>
              <a:t>填充正方形 </a:t>
            </a:r>
            <a:endParaRPr lang="zh-CN" altLang="en-US" sz="2000">
              <a:latin typeface="楷体_GB2312" pitchFamily="49" charset="-122"/>
              <a:ea typeface="楷体_GB2312" pitchFamily="49" charset="-122"/>
            </a:endParaRPr>
          </a:p>
        </p:txBody>
      </p:sp>
      <p:sp>
        <p:nvSpPr>
          <p:cNvPr id="55307" name="Rectangle 14"/>
          <p:cNvSpPr>
            <a:spLocks noChangeArrowheads="1"/>
          </p:cNvSpPr>
          <p:nvPr/>
        </p:nvSpPr>
        <p:spPr bwMode="auto">
          <a:xfrm>
            <a:off x="5003800" y="5734050"/>
            <a:ext cx="3867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楷体_GB2312" pitchFamily="49" charset="-122"/>
                <a:ea typeface="楷体_GB2312" pitchFamily="49" charset="-122"/>
              </a:rPr>
              <a:t>     图</a:t>
            </a:r>
            <a:r>
              <a:rPr lang="en-US" altLang="zh-CN" sz="2000">
                <a:latin typeface="楷体_GB2312" pitchFamily="49" charset="-122"/>
                <a:ea typeface="楷体_GB2312" pitchFamily="49" charset="-122"/>
              </a:rPr>
              <a:t>4-45 </a:t>
            </a:r>
            <a:r>
              <a:rPr lang="zh-CN" altLang="en-US" sz="2000">
                <a:latin typeface="楷体_GB2312" pitchFamily="49" charset="-122"/>
                <a:ea typeface="楷体_GB2312" pitchFamily="49" charset="-122"/>
              </a:rPr>
              <a:t>正方形填充效果图 </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ChangeArrowheads="1"/>
          </p:cNvSpPr>
          <p:nvPr/>
        </p:nvSpPr>
        <p:spPr bwMode="auto">
          <a:xfrm>
            <a:off x="1258888" y="333375"/>
            <a:ext cx="75501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图</a:t>
            </a:r>
            <a:r>
              <a:rPr lang="en-US" altLang="zh-CN">
                <a:latin typeface="楷体_GB2312" pitchFamily="49" charset="-122"/>
                <a:ea typeface="楷体_GB2312" pitchFamily="49" charset="-122"/>
              </a:rPr>
              <a:t>4-46</a:t>
            </a:r>
            <a:r>
              <a:rPr lang="zh-CN" altLang="en-US">
                <a:latin typeface="楷体_GB2312" pitchFamily="49" charset="-122"/>
                <a:ea typeface="楷体_GB2312" pitchFamily="49" charset="-122"/>
              </a:rPr>
              <a:t>所示的每个正方形由两个三角形面片组成，可以通过填充三角形面片完成正方形的填充任务，填充效果如图</a:t>
            </a:r>
            <a:r>
              <a:rPr lang="en-US" altLang="zh-CN">
                <a:latin typeface="楷体_GB2312" pitchFamily="49" charset="-122"/>
                <a:ea typeface="楷体_GB2312" pitchFamily="49" charset="-122"/>
              </a:rPr>
              <a:t>4-47</a:t>
            </a:r>
            <a:r>
              <a:rPr lang="zh-CN" altLang="en-US">
                <a:latin typeface="楷体_GB2312" pitchFamily="49" charset="-122"/>
                <a:ea typeface="楷体_GB2312" pitchFamily="49" charset="-122"/>
              </a:rPr>
              <a:t>所示。请编程实现并观察在每个正方形的三角形面片连接处是否填充完整。</a:t>
            </a:r>
            <a:endParaRPr lang="zh-CN" altLang="en-US">
              <a:latin typeface="楷体_GB2312" pitchFamily="49" charset="-122"/>
              <a:ea typeface="楷体_GB2312" pitchFamily="49" charset="-122"/>
            </a:endParaRPr>
          </a:p>
        </p:txBody>
      </p:sp>
      <p:sp>
        <p:nvSpPr>
          <p:cNvPr id="56323" name="Rectangle 5"/>
          <p:cNvSpPr>
            <a:spLocks noChangeArrowheads="1"/>
          </p:cNvSpPr>
          <p:nvPr/>
        </p:nvSpPr>
        <p:spPr bwMode="auto">
          <a:xfrm>
            <a:off x="0" y="2773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563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3644900"/>
            <a:ext cx="1620837"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Rectangle 6"/>
          <p:cNvSpPr>
            <a:spLocks noChangeArrowheads="1"/>
          </p:cNvSpPr>
          <p:nvPr/>
        </p:nvSpPr>
        <p:spPr bwMode="auto">
          <a:xfrm>
            <a:off x="0" y="384016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000">
                <a:latin typeface="Arial" panose="020B0604020202020204" pitchFamily="34" charset="0"/>
              </a:rPr>
              <a:t> </a:t>
            </a:r>
            <a:r>
              <a:rPr lang="zh-CN" altLang="en-US" sz="800">
                <a:latin typeface="Arial" panose="020B0604020202020204" pitchFamily="34" charset="0"/>
              </a:rPr>
              <a:t> </a:t>
            </a:r>
            <a:endParaRPr lang="zh-CN" altLang="en-US">
              <a:latin typeface="Arial" panose="020B0604020202020204" pitchFamily="34" charset="0"/>
            </a:endParaRPr>
          </a:p>
        </p:txBody>
      </p:sp>
      <p:sp>
        <p:nvSpPr>
          <p:cNvPr id="56326" name="Rectangle 8"/>
          <p:cNvSpPr>
            <a:spLocks noChangeArrowheads="1"/>
          </p:cNvSpPr>
          <p:nvPr/>
        </p:nvSpPr>
        <p:spPr bwMode="auto">
          <a:xfrm>
            <a:off x="4014788" y="2622550"/>
            <a:ext cx="2190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000">
                <a:latin typeface="Arial" panose="020B0604020202020204" pitchFamily="34" charset="0"/>
              </a:rPr>
              <a:t> </a:t>
            </a:r>
            <a:endParaRPr lang="zh-CN" altLang="en-US">
              <a:latin typeface="Arial" panose="020B0604020202020204" pitchFamily="34" charset="0"/>
            </a:endParaRPr>
          </a:p>
        </p:txBody>
      </p:sp>
      <p:pic>
        <p:nvPicPr>
          <p:cNvPr id="5632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0" y="3716338"/>
            <a:ext cx="1543050"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8" name="Rectangle 9"/>
          <p:cNvSpPr>
            <a:spLocks noChangeArrowheads="1"/>
          </p:cNvSpPr>
          <p:nvPr/>
        </p:nvSpPr>
        <p:spPr bwMode="auto">
          <a:xfrm>
            <a:off x="4014788" y="399097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000">
                <a:latin typeface="Arial" panose="020B0604020202020204" pitchFamily="34" charset="0"/>
              </a:rPr>
              <a:t> </a:t>
            </a:r>
            <a:r>
              <a:rPr lang="zh-CN" altLang="en-US" sz="800">
                <a:latin typeface="Arial" panose="020B0604020202020204" pitchFamily="34" charset="0"/>
              </a:rPr>
              <a:t> </a:t>
            </a:r>
            <a:endParaRPr lang="zh-CN" altLang="en-US">
              <a:latin typeface="Arial" panose="020B0604020202020204" pitchFamily="34" charset="0"/>
            </a:endParaRPr>
          </a:p>
        </p:txBody>
      </p:sp>
      <p:sp>
        <p:nvSpPr>
          <p:cNvPr id="56329" name="Rectangle 11"/>
          <p:cNvSpPr>
            <a:spLocks noChangeArrowheads="1"/>
          </p:cNvSpPr>
          <p:nvPr/>
        </p:nvSpPr>
        <p:spPr bwMode="auto">
          <a:xfrm>
            <a:off x="6672263" y="2635250"/>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宋体" panose="02010600030101010101" pitchFamily="2" charset="-122"/>
              </a:rPr>
              <a:t> </a:t>
            </a:r>
            <a:endParaRPr lang="zh-CN" altLang="en-US">
              <a:latin typeface="Arial" panose="020B0604020202020204" pitchFamily="34" charset="0"/>
            </a:endParaRPr>
          </a:p>
        </p:txBody>
      </p:sp>
      <p:pic>
        <p:nvPicPr>
          <p:cNvPr id="5633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924175"/>
            <a:ext cx="3635375"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1" name="Rectangle 12"/>
          <p:cNvSpPr>
            <a:spLocks noChangeArrowheads="1"/>
          </p:cNvSpPr>
          <p:nvPr/>
        </p:nvSpPr>
        <p:spPr bwMode="auto">
          <a:xfrm>
            <a:off x="1187450" y="5876925"/>
            <a:ext cx="3889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楷体_GB2312" pitchFamily="49" charset="-122"/>
                <a:ea typeface="楷体_GB2312" pitchFamily="49" charset="-122"/>
              </a:rPr>
              <a:t>图</a:t>
            </a:r>
            <a:r>
              <a:rPr lang="en-US" altLang="zh-CN" sz="2000">
                <a:latin typeface="楷体_GB2312" pitchFamily="49" charset="-122"/>
                <a:ea typeface="楷体_GB2312" pitchFamily="49" charset="-122"/>
              </a:rPr>
              <a:t>4-46 </a:t>
            </a:r>
            <a:r>
              <a:rPr lang="zh-CN" altLang="en-US" sz="2000">
                <a:latin typeface="楷体_GB2312" pitchFamily="49" charset="-122"/>
                <a:ea typeface="楷体_GB2312" pitchFamily="49" charset="-122"/>
              </a:rPr>
              <a:t>三角形面片填充正方形 </a:t>
            </a:r>
            <a:endParaRPr lang="zh-CN" altLang="en-US" sz="2000">
              <a:latin typeface="楷体_GB2312" pitchFamily="49" charset="-122"/>
              <a:ea typeface="楷体_GB2312" pitchFamily="49" charset="-122"/>
            </a:endParaRPr>
          </a:p>
        </p:txBody>
      </p:sp>
      <p:sp>
        <p:nvSpPr>
          <p:cNvPr id="56332" name="Rectangle 13"/>
          <p:cNvSpPr>
            <a:spLocks noChangeArrowheads="1"/>
          </p:cNvSpPr>
          <p:nvPr/>
        </p:nvSpPr>
        <p:spPr bwMode="auto">
          <a:xfrm>
            <a:off x="5508625" y="5876925"/>
            <a:ext cx="335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楷体_GB2312" pitchFamily="49" charset="-122"/>
                <a:ea typeface="楷体_GB2312" pitchFamily="49" charset="-122"/>
              </a:rPr>
              <a:t> 图</a:t>
            </a:r>
            <a:r>
              <a:rPr lang="en-US" altLang="zh-CN" sz="2000">
                <a:latin typeface="楷体_GB2312" pitchFamily="49" charset="-122"/>
                <a:ea typeface="楷体_GB2312" pitchFamily="49" charset="-122"/>
              </a:rPr>
              <a:t>4-47 </a:t>
            </a:r>
            <a:r>
              <a:rPr lang="zh-CN" altLang="en-US" sz="2000">
                <a:latin typeface="楷体_GB2312" pitchFamily="49" charset="-122"/>
                <a:ea typeface="楷体_GB2312" pitchFamily="49" charset="-122"/>
              </a:rPr>
              <a:t>正方形填充效果图 </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ChangeArrowheads="1"/>
          </p:cNvSpPr>
          <p:nvPr/>
        </p:nvSpPr>
        <p:spPr bwMode="auto">
          <a:xfrm>
            <a:off x="1331913" y="333375"/>
            <a:ext cx="75247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楷体_GB2312" pitchFamily="49" charset="-122"/>
                <a:ea typeface="楷体_GB2312" pitchFamily="49" charset="-122"/>
              </a:rPr>
              <a:t>4.</a:t>
            </a:r>
            <a:r>
              <a:rPr lang="zh-CN" altLang="en-US" sz="2800">
                <a:latin typeface="楷体_GB2312" pitchFamily="49" charset="-122"/>
                <a:ea typeface="楷体_GB2312" pitchFamily="49" charset="-122"/>
              </a:rPr>
              <a:t>图</a:t>
            </a:r>
            <a:r>
              <a:rPr lang="en-US" altLang="zh-CN" sz="2800">
                <a:latin typeface="楷体_GB2312" pitchFamily="49" charset="-122"/>
                <a:ea typeface="楷体_GB2312" pitchFamily="49" charset="-122"/>
              </a:rPr>
              <a:t>4-48</a:t>
            </a:r>
            <a:r>
              <a:rPr lang="zh-CN" altLang="en-US" sz="2800">
                <a:latin typeface="楷体_GB2312" pitchFamily="49" charset="-122"/>
                <a:ea typeface="楷体_GB2312" pitchFamily="49" charset="-122"/>
              </a:rPr>
              <a:t>所示的每个正方形由两个三角形面片组成，可以通过填充三角形面片完成正方形的填充任务，填充效果如图</a:t>
            </a:r>
            <a:r>
              <a:rPr lang="en-US" altLang="zh-CN" sz="2800">
                <a:latin typeface="楷体_GB2312" pitchFamily="49" charset="-122"/>
                <a:ea typeface="楷体_GB2312" pitchFamily="49" charset="-122"/>
              </a:rPr>
              <a:t>4-49</a:t>
            </a:r>
            <a:r>
              <a:rPr lang="zh-CN" altLang="en-US" sz="2800">
                <a:latin typeface="楷体_GB2312" pitchFamily="49" charset="-122"/>
                <a:ea typeface="楷体_GB2312" pitchFamily="49" charset="-122"/>
              </a:rPr>
              <a:t>所示。请修改上题的三角形定义编程实现。</a:t>
            </a:r>
            <a:endParaRPr lang="zh-CN" altLang="en-US" sz="2800">
              <a:latin typeface="楷体_GB2312" pitchFamily="49" charset="-122"/>
              <a:ea typeface="楷体_GB2312" pitchFamily="49" charset="-122"/>
            </a:endParaRPr>
          </a:p>
        </p:txBody>
      </p:sp>
      <p:pic>
        <p:nvPicPr>
          <p:cNvPr id="5734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3357563"/>
            <a:ext cx="1655762" cy="163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3357563"/>
            <a:ext cx="1655762"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Rectangle 6"/>
          <p:cNvSpPr>
            <a:spLocks noChangeArrowheads="1"/>
          </p:cNvSpPr>
          <p:nvPr/>
        </p:nvSpPr>
        <p:spPr bwMode="auto">
          <a:xfrm>
            <a:off x="0" y="1995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5735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2997200"/>
            <a:ext cx="3313113"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Rectangle 8"/>
          <p:cNvSpPr>
            <a:spLocks noChangeArrowheads="1"/>
          </p:cNvSpPr>
          <p:nvPr/>
        </p:nvSpPr>
        <p:spPr bwMode="auto">
          <a:xfrm>
            <a:off x="1619250" y="5846763"/>
            <a:ext cx="374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楷体_GB2312" pitchFamily="49" charset="-122"/>
                <a:ea typeface="楷体_GB2312" pitchFamily="49" charset="-122"/>
              </a:rPr>
              <a:t>图</a:t>
            </a:r>
            <a:r>
              <a:rPr lang="en-US" altLang="zh-CN" sz="2000">
                <a:latin typeface="楷体_GB2312" pitchFamily="49" charset="-122"/>
                <a:ea typeface="楷体_GB2312" pitchFamily="49" charset="-122"/>
              </a:rPr>
              <a:t>4-48 </a:t>
            </a:r>
            <a:r>
              <a:rPr lang="zh-CN" altLang="en-US" sz="2000">
                <a:latin typeface="楷体_GB2312" pitchFamily="49" charset="-122"/>
                <a:ea typeface="楷体_GB2312" pitchFamily="49" charset="-122"/>
              </a:rPr>
              <a:t>三角形面片填充正方形 </a:t>
            </a:r>
            <a:endParaRPr lang="zh-CN" altLang="en-US" sz="2000">
              <a:latin typeface="楷体_GB2312" pitchFamily="49" charset="-122"/>
              <a:ea typeface="楷体_GB2312" pitchFamily="49" charset="-122"/>
            </a:endParaRPr>
          </a:p>
        </p:txBody>
      </p:sp>
      <p:sp>
        <p:nvSpPr>
          <p:cNvPr id="57352" name="Rectangle 9"/>
          <p:cNvSpPr>
            <a:spLocks noChangeArrowheads="1"/>
          </p:cNvSpPr>
          <p:nvPr/>
        </p:nvSpPr>
        <p:spPr bwMode="auto">
          <a:xfrm>
            <a:off x="5292725" y="5846763"/>
            <a:ext cx="3851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a:latin typeface="楷体_GB2312" pitchFamily="49" charset="-122"/>
                <a:ea typeface="楷体_GB2312" pitchFamily="49" charset="-122"/>
              </a:rPr>
              <a:t>  图</a:t>
            </a:r>
            <a:r>
              <a:rPr lang="en-US" altLang="zh-CN" sz="2000">
                <a:latin typeface="楷体_GB2312" pitchFamily="49" charset="-122"/>
                <a:ea typeface="楷体_GB2312" pitchFamily="49" charset="-122"/>
              </a:rPr>
              <a:t>4-49 </a:t>
            </a:r>
            <a:r>
              <a:rPr lang="zh-CN" altLang="en-US" sz="2000">
                <a:latin typeface="楷体_GB2312" pitchFamily="49" charset="-122"/>
                <a:ea typeface="楷体_GB2312" pitchFamily="49" charset="-122"/>
              </a:rPr>
              <a:t>正方形填充效果图 </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ChangeArrowheads="1"/>
          </p:cNvSpPr>
          <p:nvPr/>
        </p:nvSpPr>
        <p:spPr bwMode="auto">
          <a:xfrm>
            <a:off x="1258888" y="404813"/>
            <a:ext cx="7696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5.</a:t>
            </a:r>
            <a:r>
              <a:rPr lang="zh-CN" altLang="en-US">
                <a:latin typeface="楷体_GB2312" pitchFamily="49" charset="-122"/>
                <a:ea typeface="楷体_GB2312" pitchFamily="49" charset="-122"/>
              </a:rPr>
              <a:t>图</a:t>
            </a:r>
            <a:r>
              <a:rPr lang="en-US" altLang="zh-CN">
                <a:latin typeface="楷体_GB2312" pitchFamily="49" charset="-122"/>
                <a:ea typeface="楷体_GB2312" pitchFamily="49" charset="-122"/>
              </a:rPr>
              <a:t>4-50</a:t>
            </a:r>
            <a:r>
              <a:rPr lang="zh-CN" altLang="en-US">
                <a:latin typeface="楷体_GB2312" pitchFamily="49" charset="-122"/>
                <a:ea typeface="楷体_GB2312" pitchFamily="49" charset="-122"/>
              </a:rPr>
              <a:t>所示正方形由</a:t>
            </a:r>
            <a:r>
              <a:rPr lang="en-US" altLang="zh-CN">
                <a:latin typeface="楷体_GB2312" pitchFamily="49" charset="-122"/>
                <a:ea typeface="楷体_GB2312" pitchFamily="49" charset="-122"/>
              </a:rPr>
              <a:t>4</a:t>
            </a:r>
            <a:r>
              <a:rPr lang="zh-CN" altLang="en-US">
                <a:latin typeface="楷体_GB2312" pitchFamily="49" charset="-122"/>
                <a:ea typeface="楷体_GB2312" pitchFamily="49" charset="-122"/>
              </a:rPr>
              <a:t>个三角形面片组成，可以通过填充三角形面片完成正方形的填充任务。使用有效边表算法编程实现，填充效果如图</a:t>
            </a:r>
            <a:r>
              <a:rPr lang="en-US" altLang="zh-CN">
                <a:latin typeface="楷体_GB2312" pitchFamily="49" charset="-122"/>
                <a:ea typeface="楷体_GB2312" pitchFamily="49" charset="-122"/>
              </a:rPr>
              <a:t>4-51</a:t>
            </a:r>
            <a:r>
              <a:rPr lang="zh-CN" altLang="en-US">
                <a:latin typeface="楷体_GB2312" pitchFamily="49" charset="-122"/>
                <a:ea typeface="楷体_GB2312" pitchFamily="49" charset="-122"/>
              </a:rPr>
              <a:t>所示。请观察在每个正方形的三角形连接处是否有没有填充到的线段。</a:t>
            </a:r>
            <a:endParaRPr lang="zh-CN" altLang="en-US">
              <a:latin typeface="楷体_GB2312" pitchFamily="49" charset="-122"/>
              <a:ea typeface="楷体_GB2312" pitchFamily="49" charset="-122"/>
            </a:endParaRPr>
          </a:p>
        </p:txBody>
      </p:sp>
      <p:pic>
        <p:nvPicPr>
          <p:cNvPr id="5837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9250" y="3141663"/>
            <a:ext cx="2160588"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2565400"/>
            <a:ext cx="3744913"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Rectangle 6"/>
          <p:cNvSpPr>
            <a:spLocks noChangeArrowheads="1"/>
          </p:cNvSpPr>
          <p:nvPr/>
        </p:nvSpPr>
        <p:spPr bwMode="auto">
          <a:xfrm>
            <a:off x="0" y="1568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8374" name="Rectangle 7"/>
          <p:cNvSpPr>
            <a:spLocks noChangeArrowheads="1"/>
          </p:cNvSpPr>
          <p:nvPr/>
        </p:nvSpPr>
        <p:spPr bwMode="auto">
          <a:xfrm>
            <a:off x="4430713" y="3330575"/>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宋体" panose="02010600030101010101" pitchFamily="2" charset="-122"/>
              </a:rPr>
              <a:t>  </a:t>
            </a:r>
            <a:endParaRPr lang="zh-CN" altLang="en-US">
              <a:latin typeface="Arial" panose="020B0604020202020204" pitchFamily="34" charset="0"/>
            </a:endParaRPr>
          </a:p>
        </p:txBody>
      </p:sp>
      <p:sp>
        <p:nvSpPr>
          <p:cNvPr id="58375" name="Rectangle 8"/>
          <p:cNvSpPr>
            <a:spLocks noChangeArrowheads="1"/>
          </p:cNvSpPr>
          <p:nvPr/>
        </p:nvSpPr>
        <p:spPr bwMode="auto">
          <a:xfrm>
            <a:off x="1663700" y="5703888"/>
            <a:ext cx="704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楷体_GB2312" pitchFamily="49" charset="-122"/>
                <a:ea typeface="楷体_GB2312" pitchFamily="49" charset="-122"/>
              </a:rPr>
              <a:t>图</a:t>
            </a:r>
            <a:r>
              <a:rPr lang="en-US" altLang="zh-CN" sz="2000">
                <a:latin typeface="楷体_GB2312" pitchFamily="49" charset="-122"/>
                <a:ea typeface="楷体_GB2312" pitchFamily="49" charset="-122"/>
              </a:rPr>
              <a:t>4-50</a:t>
            </a:r>
            <a:r>
              <a:rPr lang="zh-CN" altLang="en-US" sz="2000">
                <a:latin typeface="楷体_GB2312" pitchFamily="49" charset="-122"/>
                <a:ea typeface="楷体_GB2312" pitchFamily="49" charset="-122"/>
              </a:rPr>
              <a:t>三角形面片填充正方形       图</a:t>
            </a:r>
            <a:r>
              <a:rPr lang="en-US" altLang="zh-CN" sz="2000">
                <a:latin typeface="楷体_GB2312" pitchFamily="49" charset="-122"/>
                <a:ea typeface="楷体_GB2312" pitchFamily="49" charset="-122"/>
              </a:rPr>
              <a:t>4-51 </a:t>
            </a:r>
            <a:r>
              <a:rPr lang="zh-CN" altLang="en-US" sz="2000">
                <a:latin typeface="楷体_GB2312" pitchFamily="49" charset="-122"/>
                <a:ea typeface="楷体_GB2312" pitchFamily="49" charset="-122"/>
              </a:rPr>
              <a:t>正方形填充效果</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ChangeArrowheads="1"/>
          </p:cNvSpPr>
          <p:nvPr/>
        </p:nvSpPr>
        <p:spPr bwMode="auto">
          <a:xfrm>
            <a:off x="1331913" y="333375"/>
            <a:ext cx="74517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6.</a:t>
            </a:r>
            <a:r>
              <a:rPr lang="zh-CN" altLang="en-US">
                <a:latin typeface="楷体_GB2312" pitchFamily="49" charset="-122"/>
                <a:ea typeface="楷体_GB2312" pitchFamily="49" charset="-122"/>
              </a:rPr>
              <a:t>绘制一个正方形，把正方形四等分，如图</a:t>
            </a:r>
            <a:r>
              <a:rPr lang="en-US" altLang="zh-CN">
                <a:latin typeface="楷体_GB2312" pitchFamily="49" charset="-122"/>
                <a:ea typeface="楷体_GB2312" pitchFamily="49" charset="-122"/>
              </a:rPr>
              <a:t>4-52</a:t>
            </a:r>
            <a:r>
              <a:rPr lang="zh-CN" altLang="en-US">
                <a:latin typeface="楷体_GB2312" pitchFamily="49" charset="-122"/>
                <a:ea typeface="楷体_GB2312" pitchFamily="49" charset="-122"/>
              </a:rPr>
              <a:t>所示，使用红、绿、黄、蓝四种颜色填充每个小四边形面片，如图</a:t>
            </a:r>
            <a:r>
              <a:rPr lang="en-US" altLang="zh-CN">
                <a:latin typeface="楷体_GB2312" pitchFamily="49" charset="-122"/>
                <a:ea typeface="楷体_GB2312" pitchFamily="49" charset="-122"/>
              </a:rPr>
              <a:t>4-53</a:t>
            </a:r>
            <a:r>
              <a:rPr lang="zh-CN" altLang="en-US">
                <a:latin typeface="楷体_GB2312" pitchFamily="49" charset="-122"/>
                <a:ea typeface="楷体_GB2312" pitchFamily="49" charset="-122"/>
              </a:rPr>
              <a:t>所示，请使用有效边表算法编程实现。</a:t>
            </a:r>
            <a:endParaRPr lang="zh-CN" altLang="en-US">
              <a:latin typeface="楷体_GB2312" pitchFamily="49" charset="-122"/>
              <a:ea typeface="楷体_GB2312" pitchFamily="49" charset="-122"/>
            </a:endParaRPr>
          </a:p>
        </p:txBody>
      </p:sp>
      <p:pic>
        <p:nvPicPr>
          <p:cNvPr id="5939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8175" y="2781300"/>
            <a:ext cx="2016125"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00563" y="2349500"/>
            <a:ext cx="4176712"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Rectangle 6"/>
          <p:cNvSpPr>
            <a:spLocks noChangeArrowheads="1"/>
          </p:cNvSpPr>
          <p:nvPr/>
        </p:nvSpPr>
        <p:spPr bwMode="auto">
          <a:xfrm>
            <a:off x="0" y="1582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9398" name="Rectangle 7"/>
          <p:cNvSpPr>
            <a:spLocks noChangeArrowheads="1"/>
          </p:cNvSpPr>
          <p:nvPr/>
        </p:nvSpPr>
        <p:spPr bwMode="auto">
          <a:xfrm>
            <a:off x="4398963" y="3287713"/>
            <a:ext cx="374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宋体" panose="02010600030101010101" pitchFamily="2" charset="-122"/>
              </a:rPr>
              <a:t>   </a:t>
            </a:r>
            <a:endParaRPr lang="zh-CN" altLang="en-US">
              <a:latin typeface="Arial" panose="020B0604020202020204" pitchFamily="34" charset="0"/>
            </a:endParaRPr>
          </a:p>
        </p:txBody>
      </p:sp>
      <p:sp>
        <p:nvSpPr>
          <p:cNvPr id="59399" name="Rectangle 8"/>
          <p:cNvSpPr>
            <a:spLocks noChangeArrowheads="1"/>
          </p:cNvSpPr>
          <p:nvPr/>
        </p:nvSpPr>
        <p:spPr bwMode="auto">
          <a:xfrm>
            <a:off x="1347788" y="6294438"/>
            <a:ext cx="729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楷体_GB2312" pitchFamily="49" charset="-122"/>
                <a:ea typeface="楷体_GB2312" pitchFamily="49" charset="-122"/>
              </a:rPr>
              <a:t>图</a:t>
            </a:r>
            <a:r>
              <a:rPr lang="en-US" altLang="zh-CN" sz="2000">
                <a:latin typeface="楷体_GB2312" pitchFamily="49" charset="-122"/>
                <a:ea typeface="楷体_GB2312" pitchFamily="49" charset="-122"/>
              </a:rPr>
              <a:t>4-52</a:t>
            </a:r>
            <a:r>
              <a:rPr lang="zh-CN" altLang="en-US" sz="2000">
                <a:latin typeface="楷体_GB2312" pitchFamily="49" charset="-122"/>
                <a:ea typeface="楷体_GB2312" pitchFamily="49" charset="-122"/>
              </a:rPr>
              <a:t>四边形面片填充正方形       图</a:t>
            </a:r>
            <a:r>
              <a:rPr lang="en-US" altLang="zh-CN" sz="2000">
                <a:latin typeface="楷体_GB2312" pitchFamily="49" charset="-122"/>
                <a:ea typeface="楷体_GB2312" pitchFamily="49" charset="-122"/>
              </a:rPr>
              <a:t>4-53 </a:t>
            </a:r>
            <a:r>
              <a:rPr lang="zh-CN" altLang="en-US" sz="2000">
                <a:latin typeface="楷体_GB2312" pitchFamily="49" charset="-122"/>
                <a:ea typeface="楷体_GB2312" pitchFamily="49" charset="-122"/>
              </a:rPr>
              <a:t>正方形填充效果图</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ChangeArrowheads="1"/>
          </p:cNvSpPr>
          <p:nvPr/>
        </p:nvSpPr>
        <p:spPr bwMode="auto">
          <a:xfrm>
            <a:off x="1258888" y="457200"/>
            <a:ext cx="77057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7.</a:t>
            </a:r>
            <a:r>
              <a:rPr lang="zh-CN" altLang="en-US">
                <a:latin typeface="楷体_GB2312" pitchFamily="49" charset="-122"/>
                <a:ea typeface="楷体_GB2312" pitchFamily="49" charset="-122"/>
              </a:rPr>
              <a:t>边缘填充算法中，像素的取补范围为每条边到屏幕整个客户区的右边界。请设置如图</a:t>
            </a:r>
            <a:r>
              <a:rPr lang="en-US" altLang="zh-CN">
                <a:latin typeface="楷体_GB2312" pitchFamily="49" charset="-122"/>
                <a:ea typeface="楷体_GB2312" pitchFamily="49" charset="-122"/>
              </a:rPr>
              <a:t>4-54</a:t>
            </a:r>
            <a:r>
              <a:rPr lang="zh-CN" altLang="en-US">
                <a:latin typeface="楷体_GB2312" pitchFamily="49" charset="-122"/>
                <a:ea typeface="楷体_GB2312" pitchFamily="49" charset="-122"/>
              </a:rPr>
              <a:t>所示的外接矩形，并使用边缘填充算法编程实现多边形的填充。填充效果如图</a:t>
            </a:r>
            <a:r>
              <a:rPr lang="en-US" altLang="zh-CN">
                <a:latin typeface="楷体_GB2312" pitchFamily="49" charset="-122"/>
                <a:ea typeface="楷体_GB2312" pitchFamily="49" charset="-122"/>
              </a:rPr>
              <a:t>4-55</a:t>
            </a:r>
            <a:r>
              <a:rPr lang="zh-CN" altLang="en-US">
                <a:latin typeface="楷体_GB2312" pitchFamily="49" charset="-122"/>
                <a:ea typeface="楷体_GB2312" pitchFamily="49" charset="-122"/>
              </a:rPr>
              <a:t>所示。</a:t>
            </a:r>
            <a:endParaRPr lang="zh-CN" altLang="en-US">
              <a:latin typeface="楷体_GB2312" pitchFamily="49" charset="-122"/>
              <a:ea typeface="楷体_GB2312" pitchFamily="49" charset="-122"/>
            </a:endParaRPr>
          </a:p>
        </p:txBody>
      </p:sp>
      <p:graphicFrame>
        <p:nvGraphicFramePr>
          <p:cNvPr id="60419" name="Object 5"/>
          <p:cNvGraphicFramePr>
            <a:graphicFrameLocks noChangeAspect="1"/>
          </p:cNvGraphicFramePr>
          <p:nvPr/>
        </p:nvGraphicFramePr>
        <p:xfrm>
          <a:off x="1835150" y="2708275"/>
          <a:ext cx="2305050" cy="2305050"/>
        </p:xfrm>
        <a:graphic>
          <a:graphicData uri="http://schemas.openxmlformats.org/presentationml/2006/ole">
            <mc:AlternateContent xmlns:mc="http://schemas.openxmlformats.org/markup-compatibility/2006">
              <mc:Choice xmlns:v="urn:schemas-microsoft-com:vml" Requires="v">
                <p:oleObj spid="_x0000_s60435" name="" r:id="rId1" imgW="6002655" imgH="6002655" progId="Visio.Drawing.11">
                  <p:embed/>
                </p:oleObj>
              </mc:Choice>
              <mc:Fallback>
                <p:oleObj name="" r:id="rId1" imgW="6002655" imgH="600265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2708275"/>
                        <a:ext cx="230505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6042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6463" y="2420938"/>
            <a:ext cx="3887787"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Rectangle 6"/>
          <p:cNvSpPr>
            <a:spLocks noChangeArrowheads="1"/>
          </p:cNvSpPr>
          <p:nvPr/>
        </p:nvSpPr>
        <p:spPr bwMode="auto">
          <a:xfrm>
            <a:off x="3175" y="1492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60422" name="Rectangle 7"/>
          <p:cNvSpPr>
            <a:spLocks noChangeArrowheads="1"/>
          </p:cNvSpPr>
          <p:nvPr/>
        </p:nvSpPr>
        <p:spPr bwMode="auto">
          <a:xfrm>
            <a:off x="4445000" y="3302000"/>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60423" name="Rectangle 8"/>
          <p:cNvSpPr>
            <a:spLocks noChangeArrowheads="1"/>
          </p:cNvSpPr>
          <p:nvPr/>
        </p:nvSpPr>
        <p:spPr bwMode="auto">
          <a:xfrm>
            <a:off x="-1588" y="5365750"/>
            <a:ext cx="914241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ndParaRPr>
          </a:p>
        </p:txBody>
      </p:sp>
      <p:sp>
        <p:nvSpPr>
          <p:cNvPr id="60424" name="Rectangle 9"/>
          <p:cNvSpPr>
            <a:spLocks noChangeArrowheads="1"/>
          </p:cNvSpPr>
          <p:nvPr/>
        </p:nvSpPr>
        <p:spPr bwMode="auto">
          <a:xfrm>
            <a:off x="1401763" y="5646738"/>
            <a:ext cx="7677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楷体_GB2312" pitchFamily="49" charset="-122"/>
                <a:ea typeface="楷体_GB2312" pitchFamily="49" charset="-122"/>
              </a:rPr>
              <a:t>图 </a:t>
            </a:r>
            <a:r>
              <a:rPr lang="en-US" altLang="zh-CN" sz="2000">
                <a:latin typeface="楷体_GB2312" pitchFamily="49" charset="-122"/>
                <a:ea typeface="楷体_GB2312" pitchFamily="49" charset="-122"/>
              </a:rPr>
              <a:t>4-54 </a:t>
            </a:r>
            <a:r>
              <a:rPr lang="zh-CN" altLang="en-US" sz="2000">
                <a:latin typeface="楷体_GB2312" pitchFamily="49" charset="-122"/>
                <a:ea typeface="楷体_GB2312" pitchFamily="49" charset="-122"/>
              </a:rPr>
              <a:t>带外接矩形的多边形 </a:t>
            </a:r>
            <a:r>
              <a:rPr lang="en-US" altLang="zh-CN" sz="2000">
                <a:latin typeface="楷体_GB2312" pitchFamily="49" charset="-122"/>
                <a:ea typeface="楷体_GB2312" pitchFamily="49" charset="-122"/>
              </a:rPr>
              <a:t>4-55</a:t>
            </a:r>
            <a:r>
              <a:rPr lang="zh-CN" altLang="en-US" sz="2000">
                <a:latin typeface="楷体_GB2312" pitchFamily="49" charset="-122"/>
                <a:ea typeface="楷体_GB2312" pitchFamily="49" charset="-122"/>
              </a:rPr>
              <a:t>带外接矩形的多边形填充效果图</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ChangeArrowheads="1"/>
          </p:cNvSpPr>
          <p:nvPr/>
        </p:nvSpPr>
        <p:spPr bwMode="auto">
          <a:xfrm>
            <a:off x="1187450" y="404813"/>
            <a:ext cx="774065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8.</a:t>
            </a:r>
            <a:r>
              <a:rPr lang="zh-CN" altLang="en-US">
                <a:latin typeface="楷体_GB2312" pitchFamily="49" charset="-122"/>
                <a:ea typeface="楷体_GB2312" pitchFamily="49" charset="-122"/>
              </a:rPr>
              <a:t>边缘填充算法的最大缺点是填充过程中，每一个像素可能被多次访问。为此，常在多边形外接矩形的中心设置栅栏，把多边形分成两部分，如图</a:t>
            </a:r>
            <a:r>
              <a:rPr lang="en-US" altLang="zh-CN">
                <a:latin typeface="楷体_GB2312" pitchFamily="49" charset="-122"/>
                <a:ea typeface="楷体_GB2312" pitchFamily="49" charset="-122"/>
              </a:rPr>
              <a:t>4-56</a:t>
            </a:r>
            <a:r>
              <a:rPr lang="zh-CN" altLang="en-US">
                <a:latin typeface="楷体_GB2312" pitchFamily="49" charset="-122"/>
                <a:ea typeface="楷体_GB2312" pitchFamily="49" charset="-122"/>
              </a:rPr>
              <a:t>所示。在处理每条扫描线时，只将交点与栅栏间的像素取补，请编程实现。填充效果如图</a:t>
            </a:r>
            <a:r>
              <a:rPr lang="en-US" altLang="zh-CN">
                <a:latin typeface="楷体_GB2312" pitchFamily="49" charset="-122"/>
                <a:ea typeface="楷体_GB2312" pitchFamily="49" charset="-122"/>
              </a:rPr>
              <a:t>4-57</a:t>
            </a:r>
            <a:r>
              <a:rPr lang="zh-CN" altLang="en-US">
                <a:latin typeface="楷体_GB2312" pitchFamily="49" charset="-122"/>
                <a:ea typeface="楷体_GB2312" pitchFamily="49" charset="-122"/>
              </a:rPr>
              <a:t>所示。</a:t>
            </a:r>
            <a:endParaRPr lang="zh-CN" altLang="en-US">
              <a:latin typeface="楷体_GB2312" pitchFamily="49" charset="-122"/>
              <a:ea typeface="楷体_GB2312" pitchFamily="49" charset="-122"/>
            </a:endParaRPr>
          </a:p>
        </p:txBody>
      </p:sp>
      <p:graphicFrame>
        <p:nvGraphicFramePr>
          <p:cNvPr id="61443" name="Object 5"/>
          <p:cNvGraphicFramePr>
            <a:graphicFrameLocks noChangeAspect="1"/>
          </p:cNvGraphicFramePr>
          <p:nvPr/>
        </p:nvGraphicFramePr>
        <p:xfrm>
          <a:off x="1835150" y="2924175"/>
          <a:ext cx="2089150" cy="2089150"/>
        </p:xfrm>
        <a:graphic>
          <a:graphicData uri="http://schemas.openxmlformats.org/presentationml/2006/ole">
            <mc:AlternateContent xmlns:mc="http://schemas.openxmlformats.org/markup-compatibility/2006">
              <mc:Choice xmlns:v="urn:schemas-microsoft-com:vml" Requires="v">
                <p:oleObj spid="_x0000_s61458" name="" r:id="rId1" imgW="6002655" imgH="6002655" progId="Visio.Drawing.11">
                  <p:embed/>
                </p:oleObj>
              </mc:Choice>
              <mc:Fallback>
                <p:oleObj name="" r:id="rId1" imgW="6002655" imgH="600265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2924175"/>
                        <a:ext cx="208915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6144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3800" y="2636838"/>
            <a:ext cx="3671888"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Rectangle 6"/>
          <p:cNvSpPr>
            <a:spLocks noChangeArrowheads="1"/>
          </p:cNvSpPr>
          <p:nvPr/>
        </p:nvSpPr>
        <p:spPr bwMode="auto">
          <a:xfrm>
            <a:off x="0" y="1763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61446" name="Rectangle 7"/>
          <p:cNvSpPr>
            <a:spLocks noChangeArrowheads="1"/>
          </p:cNvSpPr>
          <p:nvPr/>
        </p:nvSpPr>
        <p:spPr bwMode="auto">
          <a:xfrm>
            <a:off x="4414838" y="3297238"/>
            <a:ext cx="342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61447" name="Rectangle 8"/>
          <p:cNvSpPr>
            <a:spLocks noChangeArrowheads="1"/>
          </p:cNvSpPr>
          <p:nvPr/>
        </p:nvSpPr>
        <p:spPr bwMode="auto">
          <a:xfrm>
            <a:off x="1493838" y="5980113"/>
            <a:ext cx="742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楷体_GB2312" pitchFamily="49" charset="-122"/>
                <a:ea typeface="楷体_GB2312" pitchFamily="49" charset="-122"/>
              </a:rPr>
              <a:t>图 </a:t>
            </a:r>
            <a:r>
              <a:rPr lang="en-US" altLang="zh-CN" sz="2000">
                <a:latin typeface="楷体_GB2312" pitchFamily="49" charset="-122"/>
                <a:ea typeface="楷体_GB2312" pitchFamily="49" charset="-122"/>
              </a:rPr>
              <a:t>4-56 </a:t>
            </a:r>
            <a:r>
              <a:rPr lang="zh-CN" altLang="en-US" sz="2000">
                <a:latin typeface="楷体_GB2312" pitchFamily="49" charset="-122"/>
                <a:ea typeface="楷体_GB2312" pitchFamily="49" charset="-122"/>
              </a:rPr>
              <a:t>带栅栏的的多边形    </a:t>
            </a:r>
            <a:r>
              <a:rPr lang="en-US" altLang="zh-CN" sz="2000">
                <a:latin typeface="楷体_GB2312" pitchFamily="49" charset="-122"/>
                <a:ea typeface="楷体_GB2312" pitchFamily="49" charset="-122"/>
              </a:rPr>
              <a:t>4-57 </a:t>
            </a:r>
            <a:r>
              <a:rPr lang="zh-CN" altLang="en-US" sz="2000">
                <a:latin typeface="楷体_GB2312" pitchFamily="49" charset="-122"/>
                <a:ea typeface="楷体_GB2312" pitchFamily="49" charset="-122"/>
              </a:rPr>
              <a:t>带栅栏的多边形填充效果图</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ChangeArrowheads="1"/>
          </p:cNvSpPr>
          <p:nvPr/>
        </p:nvSpPr>
        <p:spPr bwMode="auto">
          <a:xfrm>
            <a:off x="1187450" y="260350"/>
            <a:ext cx="770413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9.</a:t>
            </a:r>
            <a:r>
              <a:rPr lang="zh-CN" altLang="en-US">
                <a:latin typeface="楷体_GB2312" pitchFamily="49" charset="-122"/>
                <a:ea typeface="楷体_GB2312" pitchFamily="49" charset="-122"/>
              </a:rPr>
              <a:t>设定图</a:t>
            </a:r>
            <a:r>
              <a:rPr lang="en-US" altLang="zh-CN">
                <a:latin typeface="楷体_GB2312" pitchFamily="49" charset="-122"/>
                <a:ea typeface="楷体_GB2312" pitchFamily="49" charset="-122"/>
              </a:rPr>
              <a:t>4-58</a:t>
            </a:r>
            <a:r>
              <a:rPr lang="zh-CN" altLang="en-US">
                <a:latin typeface="楷体_GB2312" pitchFamily="49" charset="-122"/>
                <a:ea typeface="楷体_GB2312" pitchFamily="49" charset="-122"/>
              </a:rPr>
              <a:t>所示的八连通区域边界色为黑色，填充色为蓝色，请使用八邻接点算法编程填充八连通域。请注意图中两个四边形区域的连接处的放大效果如图</a:t>
            </a:r>
            <a:r>
              <a:rPr lang="en-US" altLang="zh-CN">
                <a:latin typeface="楷体_GB2312" pitchFamily="49" charset="-122"/>
                <a:ea typeface="楷体_GB2312" pitchFamily="49" charset="-122"/>
              </a:rPr>
              <a:t>4-59</a:t>
            </a:r>
            <a:r>
              <a:rPr lang="zh-CN" altLang="en-US">
                <a:latin typeface="楷体_GB2312" pitchFamily="49" charset="-122"/>
                <a:ea typeface="楷体_GB2312" pitchFamily="49" charset="-122"/>
              </a:rPr>
              <a:t>所示。</a:t>
            </a:r>
            <a:endParaRPr lang="zh-CN" altLang="en-US">
              <a:latin typeface="楷体_GB2312" pitchFamily="49" charset="-122"/>
              <a:ea typeface="楷体_GB2312" pitchFamily="49" charset="-122"/>
            </a:endParaRPr>
          </a:p>
        </p:txBody>
      </p:sp>
      <p:pic>
        <p:nvPicPr>
          <p:cNvPr id="6246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2349500"/>
            <a:ext cx="2735263"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2133600"/>
            <a:ext cx="2808288"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Rectangle 7"/>
          <p:cNvSpPr>
            <a:spLocks noChangeArrowheads="1"/>
          </p:cNvSpPr>
          <p:nvPr/>
        </p:nvSpPr>
        <p:spPr bwMode="auto">
          <a:xfrm>
            <a:off x="4448175" y="3335338"/>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62470" name="Rectangle 8"/>
          <p:cNvSpPr>
            <a:spLocks noChangeArrowheads="1"/>
          </p:cNvSpPr>
          <p:nvPr/>
        </p:nvSpPr>
        <p:spPr bwMode="auto">
          <a:xfrm>
            <a:off x="1692275" y="5589588"/>
            <a:ext cx="691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楷体_GB2312" pitchFamily="49" charset="-122"/>
                <a:ea typeface="楷体_GB2312" pitchFamily="49" charset="-122"/>
              </a:rPr>
              <a:t>图 </a:t>
            </a:r>
            <a:r>
              <a:rPr lang="en-US" altLang="zh-CN" sz="2000">
                <a:latin typeface="楷体_GB2312" pitchFamily="49" charset="-122"/>
                <a:ea typeface="楷体_GB2312" pitchFamily="49" charset="-122"/>
              </a:rPr>
              <a:t>4-58</a:t>
            </a:r>
            <a:r>
              <a:rPr lang="zh-CN" altLang="en-US" sz="2000">
                <a:latin typeface="楷体_GB2312" pitchFamily="49" charset="-122"/>
                <a:ea typeface="楷体_GB2312" pitchFamily="49" charset="-122"/>
              </a:rPr>
              <a:t>八连通域       图 </a:t>
            </a:r>
            <a:r>
              <a:rPr lang="en-US" altLang="zh-CN" sz="2000">
                <a:latin typeface="楷体_GB2312" pitchFamily="49" charset="-122"/>
                <a:ea typeface="楷体_GB2312" pitchFamily="49" charset="-122"/>
              </a:rPr>
              <a:t>4-59</a:t>
            </a:r>
            <a:r>
              <a:rPr lang="zh-CN" altLang="en-US" sz="2000">
                <a:latin typeface="楷体_GB2312" pitchFamily="49" charset="-122"/>
                <a:ea typeface="楷体_GB2312" pitchFamily="49" charset="-122"/>
              </a:rPr>
              <a:t>八连通域连接点放大效果图</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ChangeArrowheads="1"/>
          </p:cNvSpPr>
          <p:nvPr/>
        </p:nvSpPr>
        <p:spPr bwMode="auto">
          <a:xfrm>
            <a:off x="1331913" y="404813"/>
            <a:ext cx="7488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10.*</a:t>
            </a:r>
            <a:r>
              <a:rPr lang="zh-CN" altLang="en-US">
                <a:latin typeface="楷体_GB2312" pitchFamily="49" charset="-122"/>
                <a:ea typeface="楷体_GB2312" pitchFamily="49" charset="-122"/>
              </a:rPr>
              <a:t>扫描线种子填充算法是通过扫描线来填充多边形内的水平像素段，处理每条扫描线时仅需将其最右端像素入栈，可以有效提高填充效率。请使用</a:t>
            </a:r>
            <a:r>
              <a:rPr lang="en-US" altLang="zh-CN">
                <a:latin typeface="楷体_GB2312" pitchFamily="49" charset="-122"/>
                <a:ea typeface="楷体_GB2312" pitchFamily="49" charset="-122"/>
              </a:rPr>
              <a:t>MFC</a:t>
            </a:r>
            <a:r>
              <a:rPr lang="zh-CN" altLang="en-US">
                <a:latin typeface="楷体_GB2312" pitchFamily="49" charset="-122"/>
                <a:ea typeface="楷体_GB2312" pitchFamily="49" charset="-122"/>
              </a:rPr>
              <a:t>编程填充图</a:t>
            </a:r>
            <a:r>
              <a:rPr lang="en-US" altLang="zh-CN">
                <a:latin typeface="楷体_GB2312" pitchFamily="49" charset="-122"/>
                <a:ea typeface="楷体_GB2312" pitchFamily="49" charset="-122"/>
              </a:rPr>
              <a:t>4-60</a:t>
            </a:r>
            <a:r>
              <a:rPr lang="zh-CN" altLang="en-US">
                <a:latin typeface="楷体_GB2312" pitchFamily="49" charset="-122"/>
                <a:ea typeface="楷体_GB2312" pitchFamily="49" charset="-122"/>
              </a:rPr>
              <a:t>所示的空心体汉字（四连通），填充效果如图</a:t>
            </a:r>
            <a:r>
              <a:rPr lang="en-US" altLang="zh-CN">
                <a:latin typeface="楷体_GB2312" pitchFamily="49" charset="-122"/>
                <a:ea typeface="楷体_GB2312" pitchFamily="49" charset="-122"/>
              </a:rPr>
              <a:t>4-61</a:t>
            </a:r>
            <a:r>
              <a:rPr lang="zh-CN" altLang="en-US">
                <a:latin typeface="楷体_GB2312" pitchFamily="49" charset="-122"/>
                <a:ea typeface="楷体_GB2312" pitchFamily="49" charset="-122"/>
              </a:rPr>
              <a:t>所示。</a:t>
            </a:r>
            <a:endParaRPr lang="zh-CN" altLang="en-US">
              <a:latin typeface="楷体_GB2312" pitchFamily="49" charset="-122"/>
              <a:ea typeface="楷体_GB2312" pitchFamily="49" charset="-122"/>
            </a:endParaRPr>
          </a:p>
        </p:txBody>
      </p:sp>
      <p:pic>
        <p:nvPicPr>
          <p:cNvPr id="63491"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19250" y="2852738"/>
            <a:ext cx="3240088"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725" y="2781300"/>
            <a:ext cx="316706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Rectangle 6"/>
          <p:cNvSpPr>
            <a:spLocks noChangeArrowheads="1"/>
          </p:cNvSpPr>
          <p:nvPr/>
        </p:nvSpPr>
        <p:spPr bwMode="auto">
          <a:xfrm>
            <a:off x="0" y="1830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63494" name="Rectangle 7"/>
          <p:cNvSpPr>
            <a:spLocks noChangeArrowheads="1"/>
          </p:cNvSpPr>
          <p:nvPr/>
        </p:nvSpPr>
        <p:spPr bwMode="auto">
          <a:xfrm>
            <a:off x="4398963" y="3297238"/>
            <a:ext cx="342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     </a:t>
            </a:r>
            <a:endParaRPr lang="zh-CN" altLang="en-US">
              <a:latin typeface="Arial" panose="020B0604020202020204" pitchFamily="34" charset="0"/>
            </a:endParaRPr>
          </a:p>
        </p:txBody>
      </p:sp>
      <p:sp>
        <p:nvSpPr>
          <p:cNvPr id="63495" name="Rectangle 8"/>
          <p:cNvSpPr>
            <a:spLocks noChangeArrowheads="1"/>
          </p:cNvSpPr>
          <p:nvPr/>
        </p:nvSpPr>
        <p:spPr bwMode="auto">
          <a:xfrm>
            <a:off x="1619250" y="5949950"/>
            <a:ext cx="729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楷体_GB2312" pitchFamily="49" charset="-122"/>
                <a:ea typeface="楷体_GB2312" pitchFamily="49" charset="-122"/>
              </a:rPr>
              <a:t>图 </a:t>
            </a:r>
            <a:r>
              <a:rPr lang="en-US" altLang="zh-CN" sz="2000">
                <a:latin typeface="楷体_GB2312" pitchFamily="49" charset="-122"/>
                <a:ea typeface="楷体_GB2312" pitchFamily="49" charset="-122"/>
              </a:rPr>
              <a:t>4-60 </a:t>
            </a:r>
            <a:r>
              <a:rPr lang="zh-CN" altLang="en-US" sz="2000">
                <a:latin typeface="楷体_GB2312" pitchFamily="49" charset="-122"/>
                <a:ea typeface="楷体_GB2312" pitchFamily="49" charset="-122"/>
              </a:rPr>
              <a:t>四连通空心汉字        图 </a:t>
            </a:r>
            <a:r>
              <a:rPr lang="en-US" altLang="zh-CN" sz="2000">
                <a:latin typeface="楷体_GB2312" pitchFamily="49" charset="-122"/>
                <a:ea typeface="楷体_GB2312" pitchFamily="49" charset="-122"/>
              </a:rPr>
              <a:t>4-61</a:t>
            </a:r>
            <a:r>
              <a:rPr lang="zh-CN" altLang="en-US" sz="2000">
                <a:latin typeface="楷体_GB2312" pitchFamily="49" charset="-122"/>
                <a:ea typeface="楷体_GB2312" pitchFamily="49" charset="-122"/>
              </a:rPr>
              <a:t>填充效果图</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ChangeArrowheads="1"/>
          </p:cNvSpPr>
          <p:nvPr/>
        </p:nvSpPr>
        <p:spPr bwMode="auto">
          <a:xfrm>
            <a:off x="1403350" y="404813"/>
            <a:ext cx="74898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1620" algn="l"/>
              </a:tabLs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楷体_GB2312" pitchFamily="49" charset="-122"/>
                <a:ea typeface="楷体_GB2312" pitchFamily="49" charset="-122"/>
              </a:rPr>
              <a:t>11.*</a:t>
            </a:r>
            <a:r>
              <a:rPr lang="zh-CN" altLang="en-US">
                <a:latin typeface="楷体_GB2312" pitchFamily="49" charset="-122"/>
                <a:ea typeface="楷体_GB2312" pitchFamily="49" charset="-122"/>
              </a:rPr>
              <a:t>使用鼠标在屏幕上绘制任意顶点数的封闭多边形并填充，填充效果如图</a:t>
            </a:r>
            <a:r>
              <a:rPr lang="en-US" altLang="zh-CN">
                <a:latin typeface="楷体_GB2312" pitchFamily="49" charset="-122"/>
                <a:ea typeface="楷体_GB2312" pitchFamily="49" charset="-122"/>
              </a:rPr>
              <a:t>4-62</a:t>
            </a:r>
            <a:r>
              <a:rPr lang="zh-CN" altLang="en-US">
                <a:latin typeface="楷体_GB2312" pitchFamily="49" charset="-122"/>
                <a:ea typeface="楷体_GB2312" pitchFamily="49" charset="-122"/>
              </a:rPr>
              <a:t>所示，请编程实现。编程要求：⑴多边形的顶点数不受限制；⑵按下鼠标左键，拖动鼠标绘制多边形，同时按下</a:t>
            </a:r>
            <a:r>
              <a:rPr lang="en-US" altLang="zh-CN">
                <a:latin typeface="楷体_GB2312" pitchFamily="49" charset="-122"/>
                <a:ea typeface="楷体_GB2312" pitchFamily="49" charset="-122"/>
              </a:rPr>
              <a:t>Shift</a:t>
            </a:r>
            <a:r>
              <a:rPr lang="zh-CN" altLang="en-US">
                <a:latin typeface="楷体_GB2312" pitchFamily="49" charset="-122"/>
                <a:ea typeface="楷体_GB2312" pitchFamily="49" charset="-122"/>
              </a:rPr>
              <a:t>键可以绘制水平边或垂直边；⑶单击鼠标右键闭合多边形；⑷使用边缘填充算法填充多边形。</a:t>
            </a:r>
            <a:endParaRPr lang="zh-CN" altLang="en-US">
              <a:latin typeface="楷体_GB2312" pitchFamily="49" charset="-122"/>
              <a:ea typeface="楷体_GB2312" pitchFamily="49" charset="-122"/>
            </a:endParaRPr>
          </a:p>
        </p:txBody>
      </p:sp>
      <p:pic>
        <p:nvPicPr>
          <p:cNvPr id="64515"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132138" y="2997200"/>
            <a:ext cx="3744912"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Rectangle 5"/>
          <p:cNvSpPr>
            <a:spLocks noChangeArrowheads="1"/>
          </p:cNvSpPr>
          <p:nvPr/>
        </p:nvSpPr>
        <p:spPr bwMode="auto">
          <a:xfrm>
            <a:off x="3143250" y="6308725"/>
            <a:ext cx="335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latin typeface="楷体_GB2312" pitchFamily="49" charset="-122"/>
                <a:ea typeface="楷体_GB2312" pitchFamily="49" charset="-122"/>
              </a:rPr>
              <a:t>图 </a:t>
            </a:r>
            <a:r>
              <a:rPr lang="en-US" altLang="zh-CN" sz="2000">
                <a:latin typeface="楷体_GB2312" pitchFamily="49" charset="-122"/>
                <a:ea typeface="楷体_GB2312" pitchFamily="49" charset="-122"/>
              </a:rPr>
              <a:t>4-62</a:t>
            </a:r>
            <a:r>
              <a:rPr lang="zh-CN" altLang="en-US" sz="2000">
                <a:latin typeface="楷体_GB2312" pitchFamily="49" charset="-122"/>
                <a:ea typeface="楷体_GB2312" pitchFamily="49" charset="-122"/>
              </a:rPr>
              <a:t>任意多边形填充算法</a:t>
            </a:r>
            <a:endParaRPr lang="zh-CN" altLang="en-US" sz="2000">
              <a:latin typeface="楷体_GB2312" pitchFamily="49" charset="-122"/>
              <a:ea typeface="楷体_GB2312" pitchFamily="49"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5"/>
          <p:cNvSpPr>
            <a:spLocks noChangeArrowheads="1"/>
          </p:cNvSpPr>
          <p:nvPr/>
        </p:nvSpPr>
        <p:spPr bwMode="auto">
          <a:xfrm>
            <a:off x="0" y="2271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65539" name="Object 4"/>
          <p:cNvGraphicFramePr>
            <a:graphicFrameLocks noChangeAspect="1"/>
          </p:cNvGraphicFramePr>
          <p:nvPr/>
        </p:nvGraphicFramePr>
        <p:xfrm>
          <a:off x="1908175" y="404813"/>
          <a:ext cx="6480175" cy="5524500"/>
        </p:xfrm>
        <a:graphic>
          <a:graphicData uri="http://schemas.openxmlformats.org/presentationml/2006/ole">
            <mc:AlternateContent xmlns:mc="http://schemas.openxmlformats.org/markup-compatibility/2006">
              <mc:Choice xmlns:v="urn:schemas-microsoft-com:vml" Requires="v">
                <p:oleObj spid="_x0000_s65552" name="" r:id="rId1" imgW="8579485" imgH="7315200" progId="Visio.Drawing.11">
                  <p:embed/>
                </p:oleObj>
              </mc:Choice>
              <mc:Fallback>
                <p:oleObj name="" r:id="rId1" imgW="8579485" imgH="731520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404813"/>
                        <a:ext cx="6480175"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0" name="Text Box 6"/>
          <p:cNvSpPr txBox="1">
            <a:spLocks noChangeArrowheads="1"/>
          </p:cNvSpPr>
          <p:nvPr/>
        </p:nvSpPr>
        <p:spPr bwMode="auto">
          <a:xfrm>
            <a:off x="3779838" y="6092825"/>
            <a:ext cx="280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lang="zh-CN" altLang="en-US">
                <a:ea typeface="楷体_GB2312" pitchFamily="49" charset="-122"/>
              </a:rPr>
              <a:t>示例多边形</a:t>
            </a:r>
            <a:endParaRPr lang="zh-CN" altLang="en-US">
              <a:ea typeface="楷体_GB2312" pitchFamily="49" charset="-122"/>
            </a:endParaRPr>
          </a:p>
        </p:txBody>
      </p:sp>
      <p:sp>
        <p:nvSpPr>
          <p:cNvPr id="65541" name="AutoShape 7">
            <a:hlinkClick r:id="" action="ppaction://hlinkshowjump?jump=lastslideviewed" highlightClick="1"/>
          </p:cNvPr>
          <p:cNvSpPr>
            <a:spLocks noChangeArrowheads="1"/>
          </p:cNvSpPr>
          <p:nvPr/>
        </p:nvSpPr>
        <p:spPr bwMode="auto">
          <a:xfrm>
            <a:off x="7667625" y="6165850"/>
            <a:ext cx="1152525" cy="576263"/>
          </a:xfrm>
          <a:prstGeom prst="actionButtonBlank">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a:ea typeface="楷体_GB2312" pitchFamily="49" charset="-122"/>
              </a:rPr>
              <a:t>返回</a:t>
            </a:r>
            <a:endParaRPr lang="zh-CN" altLang="en-US">
              <a:ea typeface="楷体_GB2312" pitchFamily="49" charset="-122"/>
            </a:endParaRPr>
          </a:p>
        </p:txBody>
      </p:sp>
    </p:spTree>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C:\WINDOWS\Application Data\Microsoft\Templates\oa_9_p2.pot</Template>
  <TotalTime>0</TotalTime>
  <Words>9012</Words>
  <Application>WPS 演示</Application>
  <PresentationFormat>全屏显示(4:3)</PresentationFormat>
  <Paragraphs>555</Paragraphs>
  <Slides>44</Slides>
  <Notes>2</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34</vt:i4>
      </vt:variant>
      <vt:variant>
        <vt:lpstr>幻灯片标题</vt:lpstr>
      </vt:variant>
      <vt:variant>
        <vt:i4>44</vt:i4>
      </vt:variant>
    </vt:vector>
  </HeadingPairs>
  <TitlesOfParts>
    <vt:vector size="98" baseType="lpstr">
      <vt:lpstr>Arial</vt:lpstr>
      <vt:lpstr>宋体</vt:lpstr>
      <vt:lpstr>Wingdings</vt:lpstr>
      <vt:lpstr>Tahoma</vt:lpstr>
      <vt:lpstr>等线 Light</vt:lpstr>
      <vt:lpstr>Calibri Light</vt:lpstr>
      <vt:lpstr>Times New Roman</vt:lpstr>
      <vt:lpstr>楷体_GB2312</vt:lpstr>
      <vt:lpstr>新宋体</vt:lpstr>
      <vt:lpstr>幼圆</vt:lpstr>
      <vt:lpstr>方正粗黑宋简体</vt:lpstr>
      <vt:lpstr>隶书</vt:lpstr>
      <vt:lpstr>黑体</vt:lpstr>
      <vt:lpstr>Cambria Math</vt:lpstr>
      <vt:lpstr>微软雅黑</vt:lpstr>
      <vt:lpstr>Arial Unicode MS</vt:lpstr>
      <vt:lpstr>等线</vt:lpstr>
      <vt:lpstr>Calibri</vt:lpstr>
      <vt:lpstr>Office 主题​​</vt:lpstr>
      <vt:lpstr>Office Theme</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4.1　多边形的扫描转换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 边缘填充算法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4.5 本章小结</vt:lpstr>
      <vt:lpstr>习题4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LZQ</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dc:title>
  <dc:creator>孔令德</dc:creator>
  <dc:subject>太原工业学院</dc:subject>
  <cp:lastModifiedBy>北笙</cp:lastModifiedBy>
  <cp:revision>322</cp:revision>
  <dcterms:created xsi:type="dcterms:W3CDTF">2001-04-17T13:25:00Z</dcterms:created>
  <dcterms:modified xsi:type="dcterms:W3CDTF">2025-10-18T07:27:33Z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2052-12.1.0.22089</vt:lpwstr>
  </property>
  <property fmtid="{D5CDD505-2E9C-101B-9397-08002B2CF9AE}" pid="3" name="ICV">
    <vt:lpwstr>5D083B28D90D48E08E3E630C486B2415_12</vt:lpwstr>
  </property>
</Properties>
</file>